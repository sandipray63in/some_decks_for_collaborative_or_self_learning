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notesSlides/notesSlide1.xml" ContentType="application/vnd.openxmlformats-officedocument.presentationml.notesSlide+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diagrams/data69.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diagrams/data70.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diagrams/data71.xml" ContentType="application/vnd.openxmlformats-officedocument.drawingml.diagramData+xml"/>
  <Override PartName="/ppt/diagrams/layout71.xml" ContentType="application/vnd.openxmlformats-officedocument.drawingml.diagramLayout+xml"/>
  <Override PartName="/ppt/diagrams/quickStyle71.xml" ContentType="application/vnd.openxmlformats-officedocument.drawingml.diagramStyle+xml"/>
  <Override PartName="/ppt/diagrams/colors71.xml" ContentType="application/vnd.openxmlformats-officedocument.drawingml.diagramColors+xml"/>
  <Override PartName="/ppt/diagrams/drawing71.xml" ContentType="application/vnd.ms-office.drawingml.diagramDrawing+xml"/>
  <Override PartName="/ppt/diagrams/data72.xml" ContentType="application/vnd.openxmlformats-officedocument.drawingml.diagramData+xml"/>
  <Override PartName="/ppt/diagrams/layout72.xml" ContentType="application/vnd.openxmlformats-officedocument.drawingml.diagramLayout+xml"/>
  <Override PartName="/ppt/diagrams/quickStyle72.xml" ContentType="application/vnd.openxmlformats-officedocument.drawingml.diagramStyle+xml"/>
  <Override PartName="/ppt/diagrams/colors72.xml" ContentType="application/vnd.openxmlformats-officedocument.drawingml.diagramColors+xml"/>
  <Override PartName="/ppt/diagrams/drawing72.xml" ContentType="application/vnd.ms-office.drawingml.diagramDrawing+xml"/>
  <Override PartName="/ppt/diagrams/data73.xml" ContentType="application/vnd.openxmlformats-officedocument.drawingml.diagramData+xml"/>
  <Override PartName="/ppt/diagrams/layout73.xml" ContentType="application/vnd.openxmlformats-officedocument.drawingml.diagramLayout+xml"/>
  <Override PartName="/ppt/diagrams/quickStyle73.xml" ContentType="application/vnd.openxmlformats-officedocument.drawingml.diagramStyle+xml"/>
  <Override PartName="/ppt/diagrams/colors73.xml" ContentType="application/vnd.openxmlformats-officedocument.drawingml.diagramColors+xml"/>
  <Override PartName="/ppt/diagrams/drawing73.xml" ContentType="application/vnd.ms-office.drawingml.diagramDrawing+xml"/>
  <Override PartName="/ppt/diagrams/data74.xml" ContentType="application/vnd.openxmlformats-officedocument.drawingml.diagramData+xml"/>
  <Override PartName="/ppt/diagrams/layout74.xml" ContentType="application/vnd.openxmlformats-officedocument.drawingml.diagramLayout+xml"/>
  <Override PartName="/ppt/diagrams/quickStyle74.xml" ContentType="application/vnd.openxmlformats-officedocument.drawingml.diagramStyle+xml"/>
  <Override PartName="/ppt/diagrams/colors74.xml" ContentType="application/vnd.openxmlformats-officedocument.drawingml.diagramColors+xml"/>
  <Override PartName="/ppt/diagrams/drawing74.xml" ContentType="application/vnd.ms-office.drawingml.diagramDrawing+xml"/>
  <Override PartName="/ppt/diagrams/data75.xml" ContentType="application/vnd.openxmlformats-officedocument.drawingml.diagramData+xml"/>
  <Override PartName="/ppt/diagrams/layout75.xml" ContentType="application/vnd.openxmlformats-officedocument.drawingml.diagramLayout+xml"/>
  <Override PartName="/ppt/diagrams/quickStyle75.xml" ContentType="application/vnd.openxmlformats-officedocument.drawingml.diagramStyle+xml"/>
  <Override PartName="/ppt/diagrams/colors75.xml" ContentType="application/vnd.openxmlformats-officedocument.drawingml.diagramColors+xml"/>
  <Override PartName="/ppt/diagrams/drawing75.xml" ContentType="application/vnd.ms-office.drawingml.diagramDrawing+xml"/>
  <Override PartName="/ppt/diagrams/data76.xml" ContentType="application/vnd.openxmlformats-officedocument.drawingml.diagramData+xml"/>
  <Override PartName="/ppt/diagrams/layout76.xml" ContentType="application/vnd.openxmlformats-officedocument.drawingml.diagramLayout+xml"/>
  <Override PartName="/ppt/diagrams/quickStyle76.xml" ContentType="application/vnd.openxmlformats-officedocument.drawingml.diagramStyle+xml"/>
  <Override PartName="/ppt/diagrams/colors76.xml" ContentType="application/vnd.openxmlformats-officedocument.drawingml.diagramColors+xml"/>
  <Override PartName="/ppt/diagrams/drawing76.xml" ContentType="application/vnd.ms-office.drawingml.diagramDrawing+xml"/>
  <Override PartName="/ppt/diagrams/data77.xml" ContentType="application/vnd.openxmlformats-officedocument.drawingml.diagramData+xml"/>
  <Override PartName="/ppt/diagrams/layout77.xml" ContentType="application/vnd.openxmlformats-officedocument.drawingml.diagramLayout+xml"/>
  <Override PartName="/ppt/diagrams/quickStyle77.xml" ContentType="application/vnd.openxmlformats-officedocument.drawingml.diagramStyle+xml"/>
  <Override PartName="/ppt/diagrams/colors77.xml" ContentType="application/vnd.openxmlformats-officedocument.drawingml.diagramColors+xml"/>
  <Override PartName="/ppt/diagrams/drawing77.xml" ContentType="application/vnd.ms-office.drawingml.diagramDrawing+xml"/>
  <Override PartName="/ppt/diagrams/data78.xml" ContentType="application/vnd.openxmlformats-officedocument.drawingml.diagramData+xml"/>
  <Override PartName="/ppt/diagrams/layout78.xml" ContentType="application/vnd.openxmlformats-officedocument.drawingml.diagramLayout+xml"/>
  <Override PartName="/ppt/diagrams/quickStyle78.xml" ContentType="application/vnd.openxmlformats-officedocument.drawingml.diagramStyle+xml"/>
  <Override PartName="/ppt/diagrams/colors78.xml" ContentType="application/vnd.openxmlformats-officedocument.drawingml.diagramColors+xml"/>
  <Override PartName="/ppt/diagrams/drawing78.xml" ContentType="application/vnd.ms-office.drawingml.diagramDrawing+xml"/>
  <Override PartName="/ppt/diagrams/data79.xml" ContentType="application/vnd.openxmlformats-officedocument.drawingml.diagramData+xml"/>
  <Override PartName="/ppt/diagrams/layout79.xml" ContentType="application/vnd.openxmlformats-officedocument.drawingml.diagramLayout+xml"/>
  <Override PartName="/ppt/diagrams/quickStyle79.xml" ContentType="application/vnd.openxmlformats-officedocument.drawingml.diagramStyle+xml"/>
  <Override PartName="/ppt/diagrams/colors79.xml" ContentType="application/vnd.openxmlformats-officedocument.drawingml.diagramColors+xml"/>
  <Override PartName="/ppt/diagrams/drawing79.xml" ContentType="application/vnd.ms-office.drawingml.diagramDrawing+xml"/>
  <Override PartName="/ppt/diagrams/data80.xml" ContentType="application/vnd.openxmlformats-officedocument.drawingml.diagramData+xml"/>
  <Override PartName="/ppt/diagrams/layout80.xml" ContentType="application/vnd.openxmlformats-officedocument.drawingml.diagramLayout+xml"/>
  <Override PartName="/ppt/diagrams/quickStyle80.xml" ContentType="application/vnd.openxmlformats-officedocument.drawingml.diagramStyle+xml"/>
  <Override PartName="/ppt/diagrams/colors80.xml" ContentType="application/vnd.openxmlformats-officedocument.drawingml.diagramColors+xml"/>
  <Override PartName="/ppt/diagrams/drawing80.xml" ContentType="application/vnd.ms-office.drawingml.diagramDrawing+xml"/>
  <Override PartName="/ppt/diagrams/data81.xml" ContentType="application/vnd.openxmlformats-officedocument.drawingml.diagramData+xml"/>
  <Override PartName="/ppt/diagrams/layout81.xml" ContentType="application/vnd.openxmlformats-officedocument.drawingml.diagramLayout+xml"/>
  <Override PartName="/ppt/diagrams/quickStyle81.xml" ContentType="application/vnd.openxmlformats-officedocument.drawingml.diagramStyle+xml"/>
  <Override PartName="/ppt/diagrams/colors81.xml" ContentType="application/vnd.openxmlformats-officedocument.drawingml.diagramColors+xml"/>
  <Override PartName="/ppt/diagrams/drawing81.xml" ContentType="application/vnd.ms-office.drawingml.diagramDrawing+xml"/>
  <Override PartName="/ppt/diagrams/data82.xml" ContentType="application/vnd.openxmlformats-officedocument.drawingml.diagramData+xml"/>
  <Override PartName="/ppt/diagrams/layout82.xml" ContentType="application/vnd.openxmlformats-officedocument.drawingml.diagramLayout+xml"/>
  <Override PartName="/ppt/diagrams/quickStyle82.xml" ContentType="application/vnd.openxmlformats-officedocument.drawingml.diagramStyle+xml"/>
  <Override PartName="/ppt/diagrams/colors82.xml" ContentType="application/vnd.openxmlformats-officedocument.drawingml.diagramColors+xml"/>
  <Override PartName="/ppt/diagrams/drawing82.xml" ContentType="application/vnd.ms-office.drawingml.diagramDrawing+xml"/>
  <Override PartName="/ppt/diagrams/data83.xml" ContentType="application/vnd.openxmlformats-officedocument.drawingml.diagramData+xml"/>
  <Override PartName="/ppt/diagrams/layout83.xml" ContentType="application/vnd.openxmlformats-officedocument.drawingml.diagramLayout+xml"/>
  <Override PartName="/ppt/diagrams/quickStyle83.xml" ContentType="application/vnd.openxmlformats-officedocument.drawingml.diagramStyle+xml"/>
  <Override PartName="/ppt/diagrams/colors83.xml" ContentType="application/vnd.openxmlformats-officedocument.drawingml.diagramColors+xml"/>
  <Override PartName="/ppt/diagrams/drawing83.xml" ContentType="application/vnd.ms-office.drawingml.diagramDrawing+xml"/>
  <Override PartName="/ppt/diagrams/data84.xml" ContentType="application/vnd.openxmlformats-officedocument.drawingml.diagramData+xml"/>
  <Override PartName="/ppt/diagrams/layout84.xml" ContentType="application/vnd.openxmlformats-officedocument.drawingml.diagramLayout+xml"/>
  <Override PartName="/ppt/diagrams/quickStyle84.xml" ContentType="application/vnd.openxmlformats-officedocument.drawingml.diagramStyle+xml"/>
  <Override PartName="/ppt/diagrams/colors84.xml" ContentType="application/vnd.openxmlformats-officedocument.drawingml.diagramColors+xml"/>
  <Override PartName="/ppt/diagrams/drawing84.xml" ContentType="application/vnd.ms-office.drawingml.diagramDrawing+xml"/>
  <Override PartName="/ppt/diagrams/data85.xml" ContentType="application/vnd.openxmlformats-officedocument.drawingml.diagramData+xml"/>
  <Override PartName="/ppt/diagrams/layout85.xml" ContentType="application/vnd.openxmlformats-officedocument.drawingml.diagramLayout+xml"/>
  <Override PartName="/ppt/diagrams/quickStyle85.xml" ContentType="application/vnd.openxmlformats-officedocument.drawingml.diagramStyle+xml"/>
  <Override PartName="/ppt/diagrams/colors85.xml" ContentType="application/vnd.openxmlformats-officedocument.drawingml.diagramColors+xml"/>
  <Override PartName="/ppt/diagrams/drawing85.xml" ContentType="application/vnd.ms-office.drawingml.diagramDrawing+xml"/>
  <Override PartName="/ppt/diagrams/data86.xml" ContentType="application/vnd.openxmlformats-officedocument.drawingml.diagramData+xml"/>
  <Override PartName="/ppt/diagrams/layout86.xml" ContentType="application/vnd.openxmlformats-officedocument.drawingml.diagramLayout+xml"/>
  <Override PartName="/ppt/diagrams/quickStyle86.xml" ContentType="application/vnd.openxmlformats-officedocument.drawingml.diagramStyle+xml"/>
  <Override PartName="/ppt/diagrams/colors86.xml" ContentType="application/vnd.openxmlformats-officedocument.drawingml.diagramColors+xml"/>
  <Override PartName="/ppt/diagrams/drawing86.xml" ContentType="application/vnd.ms-office.drawingml.diagramDrawing+xml"/>
  <Override PartName="/ppt/diagrams/data87.xml" ContentType="application/vnd.openxmlformats-officedocument.drawingml.diagramData+xml"/>
  <Override PartName="/ppt/diagrams/layout87.xml" ContentType="application/vnd.openxmlformats-officedocument.drawingml.diagramLayout+xml"/>
  <Override PartName="/ppt/diagrams/quickStyle87.xml" ContentType="application/vnd.openxmlformats-officedocument.drawingml.diagramStyle+xml"/>
  <Override PartName="/ppt/diagrams/colors87.xml" ContentType="application/vnd.openxmlformats-officedocument.drawingml.diagramColors+xml"/>
  <Override PartName="/ppt/diagrams/drawing87.xml" ContentType="application/vnd.ms-office.drawingml.diagramDrawing+xml"/>
  <Override PartName="/ppt/diagrams/data88.xml" ContentType="application/vnd.openxmlformats-officedocument.drawingml.diagramData+xml"/>
  <Override PartName="/ppt/diagrams/layout88.xml" ContentType="application/vnd.openxmlformats-officedocument.drawingml.diagramLayout+xml"/>
  <Override PartName="/ppt/diagrams/quickStyle88.xml" ContentType="application/vnd.openxmlformats-officedocument.drawingml.diagramStyle+xml"/>
  <Override PartName="/ppt/diagrams/colors88.xml" ContentType="application/vnd.openxmlformats-officedocument.drawingml.diagramColors+xml"/>
  <Override PartName="/ppt/diagrams/drawing88.xml" ContentType="application/vnd.ms-office.drawingml.diagramDrawing+xml"/>
  <Override PartName="/ppt/diagrams/data89.xml" ContentType="application/vnd.openxmlformats-officedocument.drawingml.diagramData+xml"/>
  <Override PartName="/ppt/diagrams/layout89.xml" ContentType="application/vnd.openxmlformats-officedocument.drawingml.diagramLayout+xml"/>
  <Override PartName="/ppt/diagrams/quickStyle89.xml" ContentType="application/vnd.openxmlformats-officedocument.drawingml.diagramStyle+xml"/>
  <Override PartName="/ppt/diagrams/colors89.xml" ContentType="application/vnd.openxmlformats-officedocument.drawingml.diagramColors+xml"/>
  <Override PartName="/ppt/diagrams/drawing89.xml" ContentType="application/vnd.ms-office.drawingml.diagramDrawing+xml"/>
  <Override PartName="/ppt/diagrams/data90.xml" ContentType="application/vnd.openxmlformats-officedocument.drawingml.diagramData+xml"/>
  <Override PartName="/ppt/diagrams/layout90.xml" ContentType="application/vnd.openxmlformats-officedocument.drawingml.diagramLayout+xml"/>
  <Override PartName="/ppt/diagrams/quickStyle90.xml" ContentType="application/vnd.openxmlformats-officedocument.drawingml.diagramStyle+xml"/>
  <Override PartName="/ppt/diagrams/colors90.xml" ContentType="application/vnd.openxmlformats-officedocument.drawingml.diagramColors+xml"/>
  <Override PartName="/ppt/diagrams/drawing90.xml" ContentType="application/vnd.ms-office.drawingml.diagramDrawing+xml"/>
  <Override PartName="/ppt/diagrams/data91.xml" ContentType="application/vnd.openxmlformats-officedocument.drawingml.diagramData+xml"/>
  <Override PartName="/ppt/diagrams/layout91.xml" ContentType="application/vnd.openxmlformats-officedocument.drawingml.diagramLayout+xml"/>
  <Override PartName="/ppt/diagrams/quickStyle91.xml" ContentType="application/vnd.openxmlformats-officedocument.drawingml.diagramStyle+xml"/>
  <Override PartName="/ppt/diagrams/colors91.xml" ContentType="application/vnd.openxmlformats-officedocument.drawingml.diagramColors+xml"/>
  <Override PartName="/ppt/diagrams/drawing91.xml" ContentType="application/vnd.ms-office.drawingml.diagramDrawing+xml"/>
  <Override PartName="/ppt/diagrams/data92.xml" ContentType="application/vnd.openxmlformats-officedocument.drawingml.diagramData+xml"/>
  <Override PartName="/ppt/diagrams/layout92.xml" ContentType="application/vnd.openxmlformats-officedocument.drawingml.diagramLayout+xml"/>
  <Override PartName="/ppt/diagrams/quickStyle92.xml" ContentType="application/vnd.openxmlformats-officedocument.drawingml.diagramStyle+xml"/>
  <Override PartName="/ppt/diagrams/colors92.xml" ContentType="application/vnd.openxmlformats-officedocument.drawingml.diagramColors+xml"/>
  <Override PartName="/ppt/diagrams/drawing92.xml" ContentType="application/vnd.ms-office.drawingml.diagramDrawing+xml"/>
  <Override PartName="/ppt/diagrams/data93.xml" ContentType="application/vnd.openxmlformats-officedocument.drawingml.diagramData+xml"/>
  <Override PartName="/ppt/diagrams/layout93.xml" ContentType="application/vnd.openxmlformats-officedocument.drawingml.diagramLayout+xml"/>
  <Override PartName="/ppt/diagrams/quickStyle93.xml" ContentType="application/vnd.openxmlformats-officedocument.drawingml.diagramStyle+xml"/>
  <Override PartName="/ppt/diagrams/colors93.xml" ContentType="application/vnd.openxmlformats-officedocument.drawingml.diagramColors+xml"/>
  <Override PartName="/ppt/diagrams/drawing93.xml" ContentType="application/vnd.ms-office.drawingml.diagramDrawing+xml"/>
  <Override PartName="/ppt/diagrams/data94.xml" ContentType="application/vnd.openxmlformats-officedocument.drawingml.diagramData+xml"/>
  <Override PartName="/ppt/diagrams/layout94.xml" ContentType="application/vnd.openxmlformats-officedocument.drawingml.diagramLayout+xml"/>
  <Override PartName="/ppt/diagrams/quickStyle94.xml" ContentType="application/vnd.openxmlformats-officedocument.drawingml.diagramStyle+xml"/>
  <Override PartName="/ppt/diagrams/colors94.xml" ContentType="application/vnd.openxmlformats-officedocument.drawingml.diagramColors+xml"/>
  <Override PartName="/ppt/diagrams/drawing94.xml" ContentType="application/vnd.ms-office.drawingml.diagramDrawing+xml"/>
  <Override PartName="/ppt/diagrams/data95.xml" ContentType="application/vnd.openxmlformats-officedocument.drawingml.diagramData+xml"/>
  <Override PartName="/ppt/diagrams/layout95.xml" ContentType="application/vnd.openxmlformats-officedocument.drawingml.diagramLayout+xml"/>
  <Override PartName="/ppt/diagrams/quickStyle95.xml" ContentType="application/vnd.openxmlformats-officedocument.drawingml.diagramStyle+xml"/>
  <Override PartName="/ppt/diagrams/colors95.xml" ContentType="application/vnd.openxmlformats-officedocument.drawingml.diagramColors+xml"/>
  <Override PartName="/ppt/diagrams/drawing95.xml" ContentType="application/vnd.ms-office.drawingml.diagramDrawing+xml"/>
  <Override PartName="/ppt/diagrams/data96.xml" ContentType="application/vnd.openxmlformats-officedocument.drawingml.diagramData+xml"/>
  <Override PartName="/ppt/diagrams/layout96.xml" ContentType="application/vnd.openxmlformats-officedocument.drawingml.diagramLayout+xml"/>
  <Override PartName="/ppt/diagrams/quickStyle96.xml" ContentType="application/vnd.openxmlformats-officedocument.drawingml.diagramStyle+xml"/>
  <Override PartName="/ppt/diagrams/colors96.xml" ContentType="application/vnd.openxmlformats-officedocument.drawingml.diagramColors+xml"/>
  <Override PartName="/ppt/diagrams/drawing96.xml" ContentType="application/vnd.ms-office.drawingml.diagramDrawing+xml"/>
  <Override PartName="/ppt/diagrams/data97.xml" ContentType="application/vnd.openxmlformats-officedocument.drawingml.diagramData+xml"/>
  <Override PartName="/ppt/diagrams/layout97.xml" ContentType="application/vnd.openxmlformats-officedocument.drawingml.diagramLayout+xml"/>
  <Override PartName="/ppt/diagrams/quickStyle97.xml" ContentType="application/vnd.openxmlformats-officedocument.drawingml.diagramStyle+xml"/>
  <Override PartName="/ppt/diagrams/colors97.xml" ContentType="application/vnd.openxmlformats-officedocument.drawingml.diagramColors+xml"/>
  <Override PartName="/ppt/diagrams/drawing97.xml" ContentType="application/vnd.ms-office.drawingml.diagramDrawing+xml"/>
  <Override PartName="/ppt/diagrams/data98.xml" ContentType="application/vnd.openxmlformats-officedocument.drawingml.diagramData+xml"/>
  <Override PartName="/ppt/diagrams/layout98.xml" ContentType="application/vnd.openxmlformats-officedocument.drawingml.diagramLayout+xml"/>
  <Override PartName="/ppt/diagrams/quickStyle98.xml" ContentType="application/vnd.openxmlformats-officedocument.drawingml.diagramStyle+xml"/>
  <Override PartName="/ppt/diagrams/colors98.xml" ContentType="application/vnd.openxmlformats-officedocument.drawingml.diagramColors+xml"/>
  <Override PartName="/ppt/diagrams/drawing98.xml" ContentType="application/vnd.ms-office.drawingml.diagramDrawing+xml"/>
  <Override PartName="/ppt/diagrams/data99.xml" ContentType="application/vnd.openxmlformats-officedocument.drawingml.diagramData+xml"/>
  <Override PartName="/ppt/diagrams/layout99.xml" ContentType="application/vnd.openxmlformats-officedocument.drawingml.diagramLayout+xml"/>
  <Override PartName="/ppt/diagrams/quickStyle99.xml" ContentType="application/vnd.openxmlformats-officedocument.drawingml.diagramStyle+xml"/>
  <Override PartName="/ppt/diagrams/colors99.xml" ContentType="application/vnd.openxmlformats-officedocument.drawingml.diagramColors+xml"/>
  <Override PartName="/ppt/diagrams/drawing99.xml" ContentType="application/vnd.ms-office.drawingml.diagramDrawing+xml"/>
  <Override PartName="/ppt/diagrams/data100.xml" ContentType="application/vnd.openxmlformats-officedocument.drawingml.diagramData+xml"/>
  <Override PartName="/ppt/diagrams/layout100.xml" ContentType="application/vnd.openxmlformats-officedocument.drawingml.diagramLayout+xml"/>
  <Override PartName="/ppt/diagrams/quickStyle100.xml" ContentType="application/vnd.openxmlformats-officedocument.drawingml.diagramStyle+xml"/>
  <Override PartName="/ppt/diagrams/colors100.xml" ContentType="application/vnd.openxmlformats-officedocument.drawingml.diagramColors+xml"/>
  <Override PartName="/ppt/diagrams/drawing100.xml" ContentType="application/vnd.ms-office.drawingml.diagramDrawing+xml"/>
  <Override PartName="/ppt/diagrams/data101.xml" ContentType="application/vnd.openxmlformats-officedocument.drawingml.diagramData+xml"/>
  <Override PartName="/ppt/diagrams/layout101.xml" ContentType="application/vnd.openxmlformats-officedocument.drawingml.diagramLayout+xml"/>
  <Override PartName="/ppt/diagrams/quickStyle101.xml" ContentType="application/vnd.openxmlformats-officedocument.drawingml.diagramStyle+xml"/>
  <Override PartName="/ppt/diagrams/colors101.xml" ContentType="application/vnd.openxmlformats-officedocument.drawingml.diagramColors+xml"/>
  <Override PartName="/ppt/diagrams/drawing101.xml" ContentType="application/vnd.ms-office.drawingml.diagramDrawing+xml"/>
  <Override PartName="/ppt/diagrams/data102.xml" ContentType="application/vnd.openxmlformats-officedocument.drawingml.diagramData+xml"/>
  <Override PartName="/ppt/diagrams/layout102.xml" ContentType="application/vnd.openxmlformats-officedocument.drawingml.diagramLayout+xml"/>
  <Override PartName="/ppt/diagrams/quickStyle102.xml" ContentType="application/vnd.openxmlformats-officedocument.drawingml.diagramStyle+xml"/>
  <Override PartName="/ppt/diagrams/colors102.xml" ContentType="application/vnd.openxmlformats-officedocument.drawingml.diagramColors+xml"/>
  <Override PartName="/ppt/diagrams/drawing102.xml" ContentType="application/vnd.ms-office.drawingml.diagramDrawing+xml"/>
  <Override PartName="/ppt/diagrams/data103.xml" ContentType="application/vnd.openxmlformats-officedocument.drawingml.diagramData+xml"/>
  <Override PartName="/ppt/diagrams/layout103.xml" ContentType="application/vnd.openxmlformats-officedocument.drawingml.diagramLayout+xml"/>
  <Override PartName="/ppt/diagrams/quickStyle103.xml" ContentType="application/vnd.openxmlformats-officedocument.drawingml.diagramStyle+xml"/>
  <Override PartName="/ppt/diagrams/colors103.xml" ContentType="application/vnd.openxmlformats-officedocument.drawingml.diagramColors+xml"/>
  <Override PartName="/ppt/diagrams/drawing103.xml" ContentType="application/vnd.ms-office.drawingml.diagramDrawing+xml"/>
  <Override PartName="/ppt/diagrams/data104.xml" ContentType="application/vnd.openxmlformats-officedocument.drawingml.diagramData+xml"/>
  <Override PartName="/ppt/diagrams/layout104.xml" ContentType="application/vnd.openxmlformats-officedocument.drawingml.diagramLayout+xml"/>
  <Override PartName="/ppt/diagrams/quickStyle104.xml" ContentType="application/vnd.openxmlformats-officedocument.drawingml.diagramStyle+xml"/>
  <Override PartName="/ppt/diagrams/colors104.xml" ContentType="application/vnd.openxmlformats-officedocument.drawingml.diagramColors+xml"/>
  <Override PartName="/ppt/diagrams/drawing104.xml" ContentType="application/vnd.ms-office.drawingml.diagramDrawing+xml"/>
  <Override PartName="/ppt/diagrams/data105.xml" ContentType="application/vnd.openxmlformats-officedocument.drawingml.diagramData+xml"/>
  <Override PartName="/ppt/diagrams/layout105.xml" ContentType="application/vnd.openxmlformats-officedocument.drawingml.diagramLayout+xml"/>
  <Override PartName="/ppt/diagrams/quickStyle105.xml" ContentType="application/vnd.openxmlformats-officedocument.drawingml.diagramStyle+xml"/>
  <Override PartName="/ppt/diagrams/colors105.xml" ContentType="application/vnd.openxmlformats-officedocument.drawingml.diagramColors+xml"/>
  <Override PartName="/ppt/diagrams/drawing105.xml" ContentType="application/vnd.ms-office.drawingml.diagramDrawing+xml"/>
  <Override PartName="/ppt/diagrams/data106.xml" ContentType="application/vnd.openxmlformats-officedocument.drawingml.diagramData+xml"/>
  <Override PartName="/ppt/diagrams/layout106.xml" ContentType="application/vnd.openxmlformats-officedocument.drawingml.diagramLayout+xml"/>
  <Override PartName="/ppt/diagrams/quickStyle106.xml" ContentType="application/vnd.openxmlformats-officedocument.drawingml.diagramStyle+xml"/>
  <Override PartName="/ppt/diagrams/colors106.xml" ContentType="application/vnd.openxmlformats-officedocument.drawingml.diagramColors+xml"/>
  <Override PartName="/ppt/diagrams/drawing106.xml" ContentType="application/vnd.ms-office.drawingml.diagramDrawing+xml"/>
  <Override PartName="/ppt/diagrams/data107.xml" ContentType="application/vnd.openxmlformats-officedocument.drawingml.diagramData+xml"/>
  <Override PartName="/ppt/diagrams/layout107.xml" ContentType="application/vnd.openxmlformats-officedocument.drawingml.diagramLayout+xml"/>
  <Override PartName="/ppt/diagrams/quickStyle107.xml" ContentType="application/vnd.openxmlformats-officedocument.drawingml.diagramStyle+xml"/>
  <Override PartName="/ppt/diagrams/colors107.xml" ContentType="application/vnd.openxmlformats-officedocument.drawingml.diagramColors+xml"/>
  <Override PartName="/ppt/diagrams/drawing107.xml" ContentType="application/vnd.ms-office.drawingml.diagramDrawing+xml"/>
  <Override PartName="/ppt/diagrams/data108.xml" ContentType="application/vnd.openxmlformats-officedocument.drawingml.diagramData+xml"/>
  <Override PartName="/ppt/diagrams/layout108.xml" ContentType="application/vnd.openxmlformats-officedocument.drawingml.diagramLayout+xml"/>
  <Override PartName="/ppt/diagrams/quickStyle108.xml" ContentType="application/vnd.openxmlformats-officedocument.drawingml.diagramStyle+xml"/>
  <Override PartName="/ppt/diagrams/colors108.xml" ContentType="application/vnd.openxmlformats-officedocument.drawingml.diagramColors+xml"/>
  <Override PartName="/ppt/diagrams/drawing108.xml" ContentType="application/vnd.ms-office.drawingml.diagramDrawing+xml"/>
  <Override PartName="/ppt/diagrams/data109.xml" ContentType="application/vnd.openxmlformats-officedocument.drawingml.diagramData+xml"/>
  <Override PartName="/ppt/diagrams/layout109.xml" ContentType="application/vnd.openxmlformats-officedocument.drawingml.diagramLayout+xml"/>
  <Override PartName="/ppt/diagrams/quickStyle109.xml" ContentType="application/vnd.openxmlformats-officedocument.drawingml.diagramStyle+xml"/>
  <Override PartName="/ppt/diagrams/colors109.xml" ContentType="application/vnd.openxmlformats-officedocument.drawingml.diagramColors+xml"/>
  <Override PartName="/ppt/diagrams/drawing109.xml" ContentType="application/vnd.ms-office.drawingml.diagramDrawing+xml"/>
  <Override PartName="/ppt/diagrams/data110.xml" ContentType="application/vnd.openxmlformats-officedocument.drawingml.diagramData+xml"/>
  <Override PartName="/ppt/diagrams/layout110.xml" ContentType="application/vnd.openxmlformats-officedocument.drawingml.diagramLayout+xml"/>
  <Override PartName="/ppt/diagrams/quickStyle110.xml" ContentType="application/vnd.openxmlformats-officedocument.drawingml.diagramStyle+xml"/>
  <Override PartName="/ppt/diagrams/colors110.xml" ContentType="application/vnd.openxmlformats-officedocument.drawingml.diagramColors+xml"/>
  <Override PartName="/ppt/diagrams/drawing110.xml" ContentType="application/vnd.ms-office.drawingml.diagramDrawing+xml"/>
  <Override PartName="/ppt/diagrams/data111.xml" ContentType="application/vnd.openxmlformats-officedocument.drawingml.diagramData+xml"/>
  <Override PartName="/ppt/diagrams/layout111.xml" ContentType="application/vnd.openxmlformats-officedocument.drawingml.diagramLayout+xml"/>
  <Override PartName="/ppt/diagrams/quickStyle111.xml" ContentType="application/vnd.openxmlformats-officedocument.drawingml.diagramStyle+xml"/>
  <Override PartName="/ppt/diagrams/colors111.xml" ContentType="application/vnd.openxmlformats-officedocument.drawingml.diagramColors+xml"/>
  <Override PartName="/ppt/diagrams/drawing111.xml" ContentType="application/vnd.ms-office.drawingml.diagramDrawing+xml"/>
  <Override PartName="/ppt/diagrams/data112.xml" ContentType="application/vnd.openxmlformats-officedocument.drawingml.diagramData+xml"/>
  <Override PartName="/ppt/diagrams/layout112.xml" ContentType="application/vnd.openxmlformats-officedocument.drawingml.diagramLayout+xml"/>
  <Override PartName="/ppt/diagrams/quickStyle112.xml" ContentType="application/vnd.openxmlformats-officedocument.drawingml.diagramStyle+xml"/>
  <Override PartName="/ppt/diagrams/colors112.xml" ContentType="application/vnd.openxmlformats-officedocument.drawingml.diagramColors+xml"/>
  <Override PartName="/ppt/diagrams/drawing112.xml" ContentType="application/vnd.ms-office.drawingml.diagramDrawing+xml"/>
  <Override PartName="/ppt/diagrams/data113.xml" ContentType="application/vnd.openxmlformats-officedocument.drawingml.diagramData+xml"/>
  <Override PartName="/ppt/diagrams/layout113.xml" ContentType="application/vnd.openxmlformats-officedocument.drawingml.diagramLayout+xml"/>
  <Override PartName="/ppt/diagrams/quickStyle113.xml" ContentType="application/vnd.openxmlformats-officedocument.drawingml.diagramStyle+xml"/>
  <Override PartName="/ppt/diagrams/colors113.xml" ContentType="application/vnd.openxmlformats-officedocument.drawingml.diagramColors+xml"/>
  <Override PartName="/ppt/diagrams/drawing113.xml" ContentType="application/vnd.ms-office.drawingml.diagramDrawing+xml"/>
  <Override PartName="/ppt/diagrams/data114.xml" ContentType="application/vnd.openxmlformats-officedocument.drawingml.diagramData+xml"/>
  <Override PartName="/ppt/diagrams/layout114.xml" ContentType="application/vnd.openxmlformats-officedocument.drawingml.diagramLayout+xml"/>
  <Override PartName="/ppt/diagrams/quickStyle114.xml" ContentType="application/vnd.openxmlformats-officedocument.drawingml.diagramStyle+xml"/>
  <Override PartName="/ppt/diagrams/colors114.xml" ContentType="application/vnd.openxmlformats-officedocument.drawingml.diagramColors+xml"/>
  <Override PartName="/ppt/diagrams/drawing114.xml" ContentType="application/vnd.ms-office.drawingml.diagramDrawing+xml"/>
  <Override PartName="/ppt/diagrams/data115.xml" ContentType="application/vnd.openxmlformats-officedocument.drawingml.diagramData+xml"/>
  <Override PartName="/ppt/diagrams/layout115.xml" ContentType="application/vnd.openxmlformats-officedocument.drawingml.diagramLayout+xml"/>
  <Override PartName="/ppt/diagrams/quickStyle115.xml" ContentType="application/vnd.openxmlformats-officedocument.drawingml.diagramStyle+xml"/>
  <Override PartName="/ppt/diagrams/colors115.xml" ContentType="application/vnd.openxmlformats-officedocument.drawingml.diagramColors+xml"/>
  <Override PartName="/ppt/diagrams/drawing115.xml" ContentType="application/vnd.ms-office.drawingml.diagramDrawing+xml"/>
  <Override PartName="/ppt/diagrams/data116.xml" ContentType="application/vnd.openxmlformats-officedocument.drawingml.diagramData+xml"/>
  <Override PartName="/ppt/diagrams/layout116.xml" ContentType="application/vnd.openxmlformats-officedocument.drawingml.diagramLayout+xml"/>
  <Override PartName="/ppt/diagrams/quickStyle116.xml" ContentType="application/vnd.openxmlformats-officedocument.drawingml.diagramStyle+xml"/>
  <Override PartName="/ppt/diagrams/colors116.xml" ContentType="application/vnd.openxmlformats-officedocument.drawingml.diagramColors+xml"/>
  <Override PartName="/ppt/diagrams/drawing116.xml" ContentType="application/vnd.ms-office.drawingml.diagramDrawing+xml"/>
  <Override PartName="/ppt/diagrams/data117.xml" ContentType="application/vnd.openxmlformats-officedocument.drawingml.diagramData+xml"/>
  <Override PartName="/ppt/diagrams/layout117.xml" ContentType="application/vnd.openxmlformats-officedocument.drawingml.diagramLayout+xml"/>
  <Override PartName="/ppt/diagrams/quickStyle117.xml" ContentType="application/vnd.openxmlformats-officedocument.drawingml.diagramStyle+xml"/>
  <Override PartName="/ppt/diagrams/colors117.xml" ContentType="application/vnd.openxmlformats-officedocument.drawingml.diagramColors+xml"/>
  <Override PartName="/ppt/diagrams/drawing117.xml" ContentType="application/vnd.ms-office.drawingml.diagramDrawing+xml"/>
  <Override PartName="/ppt/diagrams/data118.xml" ContentType="application/vnd.openxmlformats-officedocument.drawingml.diagramData+xml"/>
  <Override PartName="/ppt/diagrams/layout118.xml" ContentType="application/vnd.openxmlformats-officedocument.drawingml.diagramLayout+xml"/>
  <Override PartName="/ppt/diagrams/quickStyle118.xml" ContentType="application/vnd.openxmlformats-officedocument.drawingml.diagramStyle+xml"/>
  <Override PartName="/ppt/diagrams/colors118.xml" ContentType="application/vnd.openxmlformats-officedocument.drawingml.diagramColors+xml"/>
  <Override PartName="/ppt/diagrams/drawing118.xml" ContentType="application/vnd.ms-office.drawingml.diagramDrawing+xml"/>
  <Override PartName="/ppt/diagrams/data119.xml" ContentType="application/vnd.openxmlformats-officedocument.drawingml.diagramData+xml"/>
  <Override PartName="/ppt/diagrams/layout119.xml" ContentType="application/vnd.openxmlformats-officedocument.drawingml.diagramLayout+xml"/>
  <Override PartName="/ppt/diagrams/quickStyle119.xml" ContentType="application/vnd.openxmlformats-officedocument.drawingml.diagramStyle+xml"/>
  <Override PartName="/ppt/diagrams/colors119.xml" ContentType="application/vnd.openxmlformats-officedocument.drawingml.diagramColors+xml"/>
  <Override PartName="/ppt/diagrams/drawing119.xml" ContentType="application/vnd.ms-office.drawingml.diagramDrawing+xml"/>
  <Override PartName="/ppt/diagrams/data120.xml" ContentType="application/vnd.openxmlformats-officedocument.drawingml.diagramData+xml"/>
  <Override PartName="/ppt/diagrams/layout120.xml" ContentType="application/vnd.openxmlformats-officedocument.drawingml.diagramLayout+xml"/>
  <Override PartName="/ppt/diagrams/quickStyle120.xml" ContentType="application/vnd.openxmlformats-officedocument.drawingml.diagramStyle+xml"/>
  <Override PartName="/ppt/diagrams/colors120.xml" ContentType="application/vnd.openxmlformats-officedocument.drawingml.diagramColors+xml"/>
  <Override PartName="/ppt/diagrams/drawing120.xml" ContentType="application/vnd.ms-office.drawingml.diagramDrawing+xml"/>
  <Override PartName="/ppt/diagrams/data121.xml" ContentType="application/vnd.openxmlformats-officedocument.drawingml.diagramData+xml"/>
  <Override PartName="/ppt/diagrams/layout121.xml" ContentType="application/vnd.openxmlformats-officedocument.drawingml.diagramLayout+xml"/>
  <Override PartName="/ppt/diagrams/quickStyle121.xml" ContentType="application/vnd.openxmlformats-officedocument.drawingml.diagramStyle+xml"/>
  <Override PartName="/ppt/diagrams/colors121.xml" ContentType="application/vnd.openxmlformats-officedocument.drawingml.diagramColors+xml"/>
  <Override PartName="/ppt/diagrams/drawing121.xml" ContentType="application/vnd.ms-office.drawingml.diagramDrawing+xml"/>
  <Override PartName="/ppt/diagrams/data122.xml" ContentType="application/vnd.openxmlformats-officedocument.drawingml.diagramData+xml"/>
  <Override PartName="/ppt/diagrams/layout122.xml" ContentType="application/vnd.openxmlformats-officedocument.drawingml.diagramLayout+xml"/>
  <Override PartName="/ppt/diagrams/quickStyle122.xml" ContentType="application/vnd.openxmlformats-officedocument.drawingml.diagramStyle+xml"/>
  <Override PartName="/ppt/diagrams/colors122.xml" ContentType="application/vnd.openxmlformats-officedocument.drawingml.diagramColors+xml"/>
  <Override PartName="/ppt/diagrams/drawing122.xml" ContentType="application/vnd.ms-office.drawingml.diagramDrawing+xml"/>
  <Override PartName="/ppt/diagrams/data123.xml" ContentType="application/vnd.openxmlformats-officedocument.drawingml.diagramData+xml"/>
  <Override PartName="/ppt/diagrams/layout123.xml" ContentType="application/vnd.openxmlformats-officedocument.drawingml.diagramLayout+xml"/>
  <Override PartName="/ppt/diagrams/quickStyle123.xml" ContentType="application/vnd.openxmlformats-officedocument.drawingml.diagramStyle+xml"/>
  <Override PartName="/ppt/diagrams/colors123.xml" ContentType="application/vnd.openxmlformats-officedocument.drawingml.diagramColors+xml"/>
  <Override PartName="/ppt/diagrams/drawing123.xml" ContentType="application/vnd.ms-office.drawingml.diagramDrawing+xml"/>
  <Override PartName="/ppt/diagrams/data124.xml" ContentType="application/vnd.openxmlformats-officedocument.drawingml.diagramData+xml"/>
  <Override PartName="/ppt/diagrams/layout124.xml" ContentType="application/vnd.openxmlformats-officedocument.drawingml.diagramLayout+xml"/>
  <Override PartName="/ppt/diagrams/quickStyle124.xml" ContentType="application/vnd.openxmlformats-officedocument.drawingml.diagramStyle+xml"/>
  <Override PartName="/ppt/diagrams/colors124.xml" ContentType="application/vnd.openxmlformats-officedocument.drawingml.diagramColors+xml"/>
  <Override PartName="/ppt/diagrams/drawing124.xml" ContentType="application/vnd.ms-office.drawingml.diagramDrawing+xml"/>
  <Override PartName="/ppt/diagrams/data125.xml" ContentType="application/vnd.openxmlformats-officedocument.drawingml.diagramData+xml"/>
  <Override PartName="/ppt/diagrams/layout125.xml" ContentType="application/vnd.openxmlformats-officedocument.drawingml.diagramLayout+xml"/>
  <Override PartName="/ppt/diagrams/quickStyle125.xml" ContentType="application/vnd.openxmlformats-officedocument.drawingml.diagramStyle+xml"/>
  <Override PartName="/ppt/diagrams/colors125.xml" ContentType="application/vnd.openxmlformats-officedocument.drawingml.diagramColors+xml"/>
  <Override PartName="/ppt/diagrams/drawing125.xml" ContentType="application/vnd.ms-office.drawingml.diagramDrawing+xml"/>
  <Override PartName="/ppt/diagrams/data126.xml" ContentType="application/vnd.openxmlformats-officedocument.drawingml.diagramData+xml"/>
  <Override PartName="/ppt/diagrams/layout126.xml" ContentType="application/vnd.openxmlformats-officedocument.drawingml.diagramLayout+xml"/>
  <Override PartName="/ppt/diagrams/quickStyle126.xml" ContentType="application/vnd.openxmlformats-officedocument.drawingml.diagramStyle+xml"/>
  <Override PartName="/ppt/diagrams/colors126.xml" ContentType="application/vnd.openxmlformats-officedocument.drawingml.diagramColors+xml"/>
  <Override PartName="/ppt/diagrams/drawing126.xml" ContentType="application/vnd.ms-office.drawingml.diagramDrawing+xml"/>
  <Override PartName="/ppt/diagrams/data127.xml" ContentType="application/vnd.openxmlformats-officedocument.drawingml.diagramData+xml"/>
  <Override PartName="/ppt/diagrams/layout127.xml" ContentType="application/vnd.openxmlformats-officedocument.drawingml.diagramLayout+xml"/>
  <Override PartName="/ppt/diagrams/quickStyle127.xml" ContentType="application/vnd.openxmlformats-officedocument.drawingml.diagramStyle+xml"/>
  <Override PartName="/ppt/diagrams/colors127.xml" ContentType="application/vnd.openxmlformats-officedocument.drawingml.diagramColors+xml"/>
  <Override PartName="/ppt/diagrams/drawing127.xml" ContentType="application/vnd.ms-office.drawingml.diagramDrawing+xml"/>
  <Override PartName="/ppt/diagrams/data128.xml" ContentType="application/vnd.openxmlformats-officedocument.drawingml.diagramData+xml"/>
  <Override PartName="/ppt/diagrams/layout128.xml" ContentType="application/vnd.openxmlformats-officedocument.drawingml.diagramLayout+xml"/>
  <Override PartName="/ppt/diagrams/quickStyle128.xml" ContentType="application/vnd.openxmlformats-officedocument.drawingml.diagramStyle+xml"/>
  <Override PartName="/ppt/diagrams/colors128.xml" ContentType="application/vnd.openxmlformats-officedocument.drawingml.diagramColors+xml"/>
  <Override PartName="/ppt/diagrams/drawing128.xml" ContentType="application/vnd.ms-office.drawingml.diagramDrawing+xml"/>
  <Override PartName="/ppt/diagrams/data129.xml" ContentType="application/vnd.openxmlformats-officedocument.drawingml.diagramData+xml"/>
  <Override PartName="/ppt/diagrams/layout129.xml" ContentType="application/vnd.openxmlformats-officedocument.drawingml.diagramLayout+xml"/>
  <Override PartName="/ppt/diagrams/quickStyle129.xml" ContentType="application/vnd.openxmlformats-officedocument.drawingml.diagramStyle+xml"/>
  <Override PartName="/ppt/diagrams/colors129.xml" ContentType="application/vnd.openxmlformats-officedocument.drawingml.diagramColors+xml"/>
  <Override PartName="/ppt/diagrams/drawing129.xml" ContentType="application/vnd.ms-office.drawingml.diagramDrawing+xml"/>
  <Override PartName="/ppt/diagrams/data130.xml" ContentType="application/vnd.openxmlformats-officedocument.drawingml.diagramData+xml"/>
  <Override PartName="/ppt/diagrams/layout130.xml" ContentType="application/vnd.openxmlformats-officedocument.drawingml.diagramLayout+xml"/>
  <Override PartName="/ppt/diagrams/quickStyle130.xml" ContentType="application/vnd.openxmlformats-officedocument.drawingml.diagramStyle+xml"/>
  <Override PartName="/ppt/diagrams/colors130.xml" ContentType="application/vnd.openxmlformats-officedocument.drawingml.diagramColors+xml"/>
  <Override PartName="/ppt/diagrams/drawing130.xml" ContentType="application/vnd.ms-office.drawingml.diagramDrawing+xml"/>
  <Override PartName="/ppt/diagrams/data131.xml" ContentType="application/vnd.openxmlformats-officedocument.drawingml.diagramData+xml"/>
  <Override PartName="/ppt/diagrams/layout131.xml" ContentType="application/vnd.openxmlformats-officedocument.drawingml.diagramLayout+xml"/>
  <Override PartName="/ppt/diagrams/quickStyle131.xml" ContentType="application/vnd.openxmlformats-officedocument.drawingml.diagramStyle+xml"/>
  <Override PartName="/ppt/diagrams/colors131.xml" ContentType="application/vnd.openxmlformats-officedocument.drawingml.diagramColors+xml"/>
  <Override PartName="/ppt/diagrams/drawing131.xml" ContentType="application/vnd.ms-office.drawingml.diagramDrawing+xml"/>
  <Override PartName="/ppt/diagrams/data132.xml" ContentType="application/vnd.openxmlformats-officedocument.drawingml.diagramData+xml"/>
  <Override PartName="/ppt/diagrams/layout132.xml" ContentType="application/vnd.openxmlformats-officedocument.drawingml.diagramLayout+xml"/>
  <Override PartName="/ppt/diagrams/quickStyle132.xml" ContentType="application/vnd.openxmlformats-officedocument.drawingml.diagramStyle+xml"/>
  <Override PartName="/ppt/diagrams/colors132.xml" ContentType="application/vnd.openxmlformats-officedocument.drawingml.diagramColors+xml"/>
  <Override PartName="/ppt/diagrams/drawing132.xml" ContentType="application/vnd.ms-office.drawingml.diagramDrawing+xml"/>
  <Override PartName="/ppt/diagrams/data133.xml" ContentType="application/vnd.openxmlformats-officedocument.drawingml.diagramData+xml"/>
  <Override PartName="/ppt/diagrams/layout133.xml" ContentType="application/vnd.openxmlformats-officedocument.drawingml.diagramLayout+xml"/>
  <Override PartName="/ppt/diagrams/quickStyle133.xml" ContentType="application/vnd.openxmlformats-officedocument.drawingml.diagramStyle+xml"/>
  <Override PartName="/ppt/diagrams/colors133.xml" ContentType="application/vnd.openxmlformats-officedocument.drawingml.diagramColors+xml"/>
  <Override PartName="/ppt/diagrams/drawing133.xml" ContentType="application/vnd.ms-office.drawingml.diagramDrawing+xml"/>
  <Override PartName="/ppt/diagrams/data134.xml" ContentType="application/vnd.openxmlformats-officedocument.drawingml.diagramData+xml"/>
  <Override PartName="/ppt/diagrams/layout134.xml" ContentType="application/vnd.openxmlformats-officedocument.drawingml.diagramLayout+xml"/>
  <Override PartName="/ppt/diagrams/quickStyle134.xml" ContentType="application/vnd.openxmlformats-officedocument.drawingml.diagramStyle+xml"/>
  <Override PartName="/ppt/diagrams/colors134.xml" ContentType="application/vnd.openxmlformats-officedocument.drawingml.diagramColors+xml"/>
  <Override PartName="/ppt/diagrams/drawing134.xml" ContentType="application/vnd.ms-office.drawingml.diagramDrawing+xml"/>
  <Override PartName="/ppt/diagrams/data135.xml" ContentType="application/vnd.openxmlformats-officedocument.drawingml.diagramData+xml"/>
  <Override PartName="/ppt/diagrams/layout135.xml" ContentType="application/vnd.openxmlformats-officedocument.drawingml.diagramLayout+xml"/>
  <Override PartName="/ppt/diagrams/quickStyle135.xml" ContentType="application/vnd.openxmlformats-officedocument.drawingml.diagramStyle+xml"/>
  <Override PartName="/ppt/diagrams/colors135.xml" ContentType="application/vnd.openxmlformats-officedocument.drawingml.diagramColors+xml"/>
  <Override PartName="/ppt/diagrams/drawing135.xml" ContentType="application/vnd.ms-office.drawingml.diagramDrawing+xml"/>
  <Override PartName="/ppt/diagrams/data136.xml" ContentType="application/vnd.openxmlformats-officedocument.drawingml.diagramData+xml"/>
  <Override PartName="/ppt/diagrams/layout136.xml" ContentType="application/vnd.openxmlformats-officedocument.drawingml.diagramLayout+xml"/>
  <Override PartName="/ppt/diagrams/quickStyle136.xml" ContentType="application/vnd.openxmlformats-officedocument.drawingml.diagramStyle+xml"/>
  <Override PartName="/ppt/diagrams/colors136.xml" ContentType="application/vnd.openxmlformats-officedocument.drawingml.diagramColors+xml"/>
  <Override PartName="/ppt/diagrams/drawing136.xml" ContentType="application/vnd.ms-office.drawingml.diagramDrawing+xml"/>
  <Override PartName="/ppt/diagrams/data137.xml" ContentType="application/vnd.openxmlformats-officedocument.drawingml.diagramData+xml"/>
  <Override PartName="/ppt/diagrams/layout137.xml" ContentType="application/vnd.openxmlformats-officedocument.drawingml.diagramLayout+xml"/>
  <Override PartName="/ppt/diagrams/quickStyle137.xml" ContentType="application/vnd.openxmlformats-officedocument.drawingml.diagramStyle+xml"/>
  <Override PartName="/ppt/diagrams/colors137.xml" ContentType="application/vnd.openxmlformats-officedocument.drawingml.diagramColors+xml"/>
  <Override PartName="/ppt/diagrams/drawing137.xml" ContentType="application/vnd.ms-office.drawingml.diagramDrawing+xml"/>
  <Override PartName="/ppt/diagrams/data138.xml" ContentType="application/vnd.openxmlformats-officedocument.drawingml.diagramData+xml"/>
  <Override PartName="/ppt/diagrams/layout138.xml" ContentType="application/vnd.openxmlformats-officedocument.drawingml.diagramLayout+xml"/>
  <Override PartName="/ppt/diagrams/quickStyle138.xml" ContentType="application/vnd.openxmlformats-officedocument.drawingml.diagramStyle+xml"/>
  <Override PartName="/ppt/diagrams/colors138.xml" ContentType="application/vnd.openxmlformats-officedocument.drawingml.diagramColors+xml"/>
  <Override PartName="/ppt/diagrams/drawing138.xml" ContentType="application/vnd.ms-office.drawingml.diagramDrawing+xml"/>
  <Override PartName="/ppt/diagrams/data139.xml" ContentType="application/vnd.openxmlformats-officedocument.drawingml.diagramData+xml"/>
  <Override PartName="/ppt/diagrams/layout139.xml" ContentType="application/vnd.openxmlformats-officedocument.drawingml.diagramLayout+xml"/>
  <Override PartName="/ppt/diagrams/quickStyle139.xml" ContentType="application/vnd.openxmlformats-officedocument.drawingml.diagramStyle+xml"/>
  <Override PartName="/ppt/diagrams/colors139.xml" ContentType="application/vnd.openxmlformats-officedocument.drawingml.diagramColors+xml"/>
  <Override PartName="/ppt/diagrams/drawing139.xml" ContentType="application/vnd.ms-office.drawingml.diagramDrawing+xml"/>
  <Override PartName="/ppt/diagrams/data140.xml" ContentType="application/vnd.openxmlformats-officedocument.drawingml.diagramData+xml"/>
  <Override PartName="/ppt/diagrams/layout140.xml" ContentType="application/vnd.openxmlformats-officedocument.drawingml.diagramLayout+xml"/>
  <Override PartName="/ppt/diagrams/quickStyle140.xml" ContentType="application/vnd.openxmlformats-officedocument.drawingml.diagramStyle+xml"/>
  <Override PartName="/ppt/diagrams/colors140.xml" ContentType="application/vnd.openxmlformats-officedocument.drawingml.diagramColors+xml"/>
  <Override PartName="/ppt/diagrams/drawing140.xml" ContentType="application/vnd.ms-office.drawingml.diagramDrawing+xml"/>
  <Override PartName="/ppt/diagrams/data141.xml" ContentType="application/vnd.openxmlformats-officedocument.drawingml.diagramData+xml"/>
  <Override PartName="/ppt/diagrams/layout141.xml" ContentType="application/vnd.openxmlformats-officedocument.drawingml.diagramLayout+xml"/>
  <Override PartName="/ppt/diagrams/quickStyle141.xml" ContentType="application/vnd.openxmlformats-officedocument.drawingml.diagramStyle+xml"/>
  <Override PartName="/ppt/diagrams/colors141.xml" ContentType="application/vnd.openxmlformats-officedocument.drawingml.diagramColors+xml"/>
  <Override PartName="/ppt/diagrams/drawing141.xml" ContentType="application/vnd.ms-office.drawingml.diagramDrawing+xml"/>
  <Override PartName="/ppt/diagrams/data142.xml" ContentType="application/vnd.openxmlformats-officedocument.drawingml.diagramData+xml"/>
  <Override PartName="/ppt/diagrams/layout142.xml" ContentType="application/vnd.openxmlformats-officedocument.drawingml.diagramLayout+xml"/>
  <Override PartName="/ppt/diagrams/quickStyle142.xml" ContentType="application/vnd.openxmlformats-officedocument.drawingml.diagramStyle+xml"/>
  <Override PartName="/ppt/diagrams/colors142.xml" ContentType="application/vnd.openxmlformats-officedocument.drawingml.diagramColors+xml"/>
  <Override PartName="/ppt/diagrams/drawing142.xml" ContentType="application/vnd.ms-office.drawingml.diagramDrawing+xml"/>
  <Override PartName="/ppt/diagrams/data143.xml" ContentType="application/vnd.openxmlformats-officedocument.drawingml.diagramData+xml"/>
  <Override PartName="/ppt/diagrams/layout143.xml" ContentType="application/vnd.openxmlformats-officedocument.drawingml.diagramLayout+xml"/>
  <Override PartName="/ppt/diagrams/quickStyle143.xml" ContentType="application/vnd.openxmlformats-officedocument.drawingml.diagramStyle+xml"/>
  <Override PartName="/ppt/diagrams/colors143.xml" ContentType="application/vnd.openxmlformats-officedocument.drawingml.diagramColors+xml"/>
  <Override PartName="/ppt/diagrams/drawing143.xml" ContentType="application/vnd.ms-office.drawingml.diagramDrawing+xml"/>
  <Override PartName="/ppt/diagrams/data144.xml" ContentType="application/vnd.openxmlformats-officedocument.drawingml.diagramData+xml"/>
  <Override PartName="/ppt/diagrams/layout144.xml" ContentType="application/vnd.openxmlformats-officedocument.drawingml.diagramLayout+xml"/>
  <Override PartName="/ppt/diagrams/quickStyle144.xml" ContentType="application/vnd.openxmlformats-officedocument.drawingml.diagramStyle+xml"/>
  <Override PartName="/ppt/diagrams/colors144.xml" ContentType="application/vnd.openxmlformats-officedocument.drawingml.diagramColors+xml"/>
  <Override PartName="/ppt/diagrams/drawing144.xml" ContentType="application/vnd.ms-office.drawingml.diagramDrawing+xml"/>
  <Override PartName="/ppt/diagrams/data145.xml" ContentType="application/vnd.openxmlformats-officedocument.drawingml.diagramData+xml"/>
  <Override PartName="/ppt/diagrams/layout145.xml" ContentType="application/vnd.openxmlformats-officedocument.drawingml.diagramLayout+xml"/>
  <Override PartName="/ppt/diagrams/quickStyle145.xml" ContentType="application/vnd.openxmlformats-officedocument.drawingml.diagramStyle+xml"/>
  <Override PartName="/ppt/diagrams/colors145.xml" ContentType="application/vnd.openxmlformats-officedocument.drawingml.diagramColors+xml"/>
  <Override PartName="/ppt/diagrams/drawing145.xml" ContentType="application/vnd.ms-office.drawingml.diagramDrawing+xml"/>
  <Override PartName="/ppt/diagrams/data146.xml" ContentType="application/vnd.openxmlformats-officedocument.drawingml.diagramData+xml"/>
  <Override PartName="/ppt/diagrams/layout146.xml" ContentType="application/vnd.openxmlformats-officedocument.drawingml.diagramLayout+xml"/>
  <Override PartName="/ppt/diagrams/quickStyle146.xml" ContentType="application/vnd.openxmlformats-officedocument.drawingml.diagramStyle+xml"/>
  <Override PartName="/ppt/diagrams/colors146.xml" ContentType="application/vnd.openxmlformats-officedocument.drawingml.diagramColors+xml"/>
  <Override PartName="/ppt/diagrams/drawing146.xml" ContentType="application/vnd.ms-office.drawingml.diagramDrawing+xml"/>
  <Override PartName="/ppt/diagrams/data147.xml" ContentType="application/vnd.openxmlformats-officedocument.drawingml.diagramData+xml"/>
  <Override PartName="/ppt/diagrams/layout147.xml" ContentType="application/vnd.openxmlformats-officedocument.drawingml.diagramLayout+xml"/>
  <Override PartName="/ppt/diagrams/quickStyle147.xml" ContentType="application/vnd.openxmlformats-officedocument.drawingml.diagramStyle+xml"/>
  <Override PartName="/ppt/diagrams/colors147.xml" ContentType="application/vnd.openxmlformats-officedocument.drawingml.diagramColors+xml"/>
  <Override PartName="/ppt/diagrams/drawing147.xml" ContentType="application/vnd.ms-office.drawingml.diagramDrawing+xml"/>
  <Override PartName="/ppt/diagrams/data148.xml" ContentType="application/vnd.openxmlformats-officedocument.drawingml.diagramData+xml"/>
  <Override PartName="/ppt/diagrams/layout148.xml" ContentType="application/vnd.openxmlformats-officedocument.drawingml.diagramLayout+xml"/>
  <Override PartName="/ppt/diagrams/quickStyle148.xml" ContentType="application/vnd.openxmlformats-officedocument.drawingml.diagramStyle+xml"/>
  <Override PartName="/ppt/diagrams/colors148.xml" ContentType="application/vnd.openxmlformats-officedocument.drawingml.diagramColors+xml"/>
  <Override PartName="/ppt/diagrams/drawing148.xml" ContentType="application/vnd.ms-office.drawingml.diagramDrawing+xml"/>
  <Override PartName="/ppt/diagrams/data149.xml" ContentType="application/vnd.openxmlformats-officedocument.drawingml.diagramData+xml"/>
  <Override PartName="/ppt/diagrams/layout149.xml" ContentType="application/vnd.openxmlformats-officedocument.drawingml.diagramLayout+xml"/>
  <Override PartName="/ppt/diagrams/quickStyle149.xml" ContentType="application/vnd.openxmlformats-officedocument.drawingml.diagramStyle+xml"/>
  <Override PartName="/ppt/diagrams/colors149.xml" ContentType="application/vnd.openxmlformats-officedocument.drawingml.diagramColors+xml"/>
  <Override PartName="/ppt/diagrams/drawing149.xml" ContentType="application/vnd.ms-office.drawingml.diagramDrawing+xml"/>
  <Override PartName="/ppt/diagrams/data150.xml" ContentType="application/vnd.openxmlformats-officedocument.drawingml.diagramData+xml"/>
  <Override PartName="/ppt/diagrams/layout150.xml" ContentType="application/vnd.openxmlformats-officedocument.drawingml.diagramLayout+xml"/>
  <Override PartName="/ppt/diagrams/quickStyle150.xml" ContentType="application/vnd.openxmlformats-officedocument.drawingml.diagramStyle+xml"/>
  <Override PartName="/ppt/diagrams/colors150.xml" ContentType="application/vnd.openxmlformats-officedocument.drawingml.diagramColors+xml"/>
  <Override PartName="/ppt/diagrams/drawing150.xml" ContentType="application/vnd.ms-office.drawingml.diagramDrawing+xml"/>
  <Override PartName="/ppt/diagrams/data151.xml" ContentType="application/vnd.openxmlformats-officedocument.drawingml.diagramData+xml"/>
  <Override PartName="/ppt/diagrams/layout151.xml" ContentType="application/vnd.openxmlformats-officedocument.drawingml.diagramLayout+xml"/>
  <Override PartName="/ppt/diagrams/quickStyle151.xml" ContentType="application/vnd.openxmlformats-officedocument.drawingml.diagramStyle+xml"/>
  <Override PartName="/ppt/diagrams/colors151.xml" ContentType="application/vnd.openxmlformats-officedocument.drawingml.diagramColors+xml"/>
  <Override PartName="/ppt/diagrams/drawing151.xml" ContentType="application/vnd.ms-office.drawingml.diagramDrawing+xml"/>
  <Override PartName="/ppt/diagrams/data152.xml" ContentType="application/vnd.openxmlformats-officedocument.drawingml.diagramData+xml"/>
  <Override PartName="/ppt/diagrams/layout152.xml" ContentType="application/vnd.openxmlformats-officedocument.drawingml.diagramLayout+xml"/>
  <Override PartName="/ppt/diagrams/quickStyle152.xml" ContentType="application/vnd.openxmlformats-officedocument.drawingml.diagramStyle+xml"/>
  <Override PartName="/ppt/diagrams/colors152.xml" ContentType="application/vnd.openxmlformats-officedocument.drawingml.diagramColors+xml"/>
  <Override PartName="/ppt/diagrams/drawing152.xml" ContentType="application/vnd.ms-office.drawingml.diagramDrawing+xml"/>
  <Override PartName="/ppt/diagrams/data153.xml" ContentType="application/vnd.openxmlformats-officedocument.drawingml.diagramData+xml"/>
  <Override PartName="/ppt/diagrams/layout153.xml" ContentType="application/vnd.openxmlformats-officedocument.drawingml.diagramLayout+xml"/>
  <Override PartName="/ppt/diagrams/quickStyle153.xml" ContentType="application/vnd.openxmlformats-officedocument.drawingml.diagramStyle+xml"/>
  <Override PartName="/ppt/diagrams/colors153.xml" ContentType="application/vnd.openxmlformats-officedocument.drawingml.diagramColors+xml"/>
  <Override PartName="/ppt/diagrams/drawing153.xml" ContentType="application/vnd.ms-office.drawingml.diagramDrawing+xml"/>
  <Override PartName="/ppt/diagrams/data154.xml" ContentType="application/vnd.openxmlformats-officedocument.drawingml.diagramData+xml"/>
  <Override PartName="/ppt/diagrams/layout154.xml" ContentType="application/vnd.openxmlformats-officedocument.drawingml.diagramLayout+xml"/>
  <Override PartName="/ppt/diagrams/quickStyle154.xml" ContentType="application/vnd.openxmlformats-officedocument.drawingml.diagramStyle+xml"/>
  <Override PartName="/ppt/diagrams/colors154.xml" ContentType="application/vnd.openxmlformats-officedocument.drawingml.diagramColors+xml"/>
  <Override PartName="/ppt/diagrams/drawing154.xml" ContentType="application/vnd.ms-office.drawingml.diagramDrawing+xml"/>
  <Override PartName="/ppt/diagrams/data155.xml" ContentType="application/vnd.openxmlformats-officedocument.drawingml.diagramData+xml"/>
  <Override PartName="/ppt/diagrams/layout155.xml" ContentType="application/vnd.openxmlformats-officedocument.drawingml.diagramLayout+xml"/>
  <Override PartName="/ppt/diagrams/quickStyle155.xml" ContentType="application/vnd.openxmlformats-officedocument.drawingml.diagramStyle+xml"/>
  <Override PartName="/ppt/diagrams/colors155.xml" ContentType="application/vnd.openxmlformats-officedocument.drawingml.diagramColors+xml"/>
  <Override PartName="/ppt/diagrams/drawing155.xml" ContentType="application/vnd.ms-office.drawingml.diagramDrawing+xml"/>
  <Override PartName="/ppt/diagrams/data156.xml" ContentType="application/vnd.openxmlformats-officedocument.drawingml.diagramData+xml"/>
  <Override PartName="/ppt/diagrams/layout156.xml" ContentType="application/vnd.openxmlformats-officedocument.drawingml.diagramLayout+xml"/>
  <Override PartName="/ppt/diagrams/quickStyle156.xml" ContentType="application/vnd.openxmlformats-officedocument.drawingml.diagramStyle+xml"/>
  <Override PartName="/ppt/diagrams/colors156.xml" ContentType="application/vnd.openxmlformats-officedocument.drawingml.diagramColors+xml"/>
  <Override PartName="/ppt/diagrams/drawing156.xml" ContentType="application/vnd.ms-office.drawingml.diagramDrawing+xml"/>
  <Override PartName="/ppt/diagrams/data157.xml" ContentType="application/vnd.openxmlformats-officedocument.drawingml.diagramData+xml"/>
  <Override PartName="/ppt/diagrams/layout157.xml" ContentType="application/vnd.openxmlformats-officedocument.drawingml.diagramLayout+xml"/>
  <Override PartName="/ppt/diagrams/quickStyle157.xml" ContentType="application/vnd.openxmlformats-officedocument.drawingml.diagramStyle+xml"/>
  <Override PartName="/ppt/diagrams/colors157.xml" ContentType="application/vnd.openxmlformats-officedocument.drawingml.diagramColors+xml"/>
  <Override PartName="/ppt/diagrams/drawing157.xml" ContentType="application/vnd.ms-office.drawingml.diagramDrawing+xml"/>
  <Override PartName="/ppt/diagrams/data158.xml" ContentType="application/vnd.openxmlformats-officedocument.drawingml.diagramData+xml"/>
  <Override PartName="/ppt/diagrams/layout158.xml" ContentType="application/vnd.openxmlformats-officedocument.drawingml.diagramLayout+xml"/>
  <Override PartName="/ppt/diagrams/quickStyle158.xml" ContentType="application/vnd.openxmlformats-officedocument.drawingml.diagramStyle+xml"/>
  <Override PartName="/ppt/diagrams/colors158.xml" ContentType="application/vnd.openxmlformats-officedocument.drawingml.diagramColors+xml"/>
  <Override PartName="/ppt/diagrams/drawing158.xml" ContentType="application/vnd.ms-office.drawingml.diagramDrawing+xml"/>
  <Override PartName="/ppt/diagrams/data159.xml" ContentType="application/vnd.openxmlformats-officedocument.drawingml.diagramData+xml"/>
  <Override PartName="/ppt/diagrams/layout159.xml" ContentType="application/vnd.openxmlformats-officedocument.drawingml.diagramLayout+xml"/>
  <Override PartName="/ppt/diagrams/quickStyle159.xml" ContentType="application/vnd.openxmlformats-officedocument.drawingml.diagramStyle+xml"/>
  <Override PartName="/ppt/diagrams/colors159.xml" ContentType="application/vnd.openxmlformats-officedocument.drawingml.diagramColors+xml"/>
  <Override PartName="/ppt/diagrams/drawing159.xml" ContentType="application/vnd.ms-office.drawingml.diagramDrawing+xml"/>
  <Override PartName="/ppt/diagrams/data160.xml" ContentType="application/vnd.openxmlformats-officedocument.drawingml.diagramData+xml"/>
  <Override PartName="/ppt/diagrams/layout160.xml" ContentType="application/vnd.openxmlformats-officedocument.drawingml.diagramLayout+xml"/>
  <Override PartName="/ppt/diagrams/quickStyle160.xml" ContentType="application/vnd.openxmlformats-officedocument.drawingml.diagramStyle+xml"/>
  <Override PartName="/ppt/diagrams/colors160.xml" ContentType="application/vnd.openxmlformats-officedocument.drawingml.diagramColors+xml"/>
  <Override PartName="/ppt/diagrams/drawing160.xml" ContentType="application/vnd.ms-office.drawingml.diagramDrawing+xml"/>
  <Override PartName="/ppt/diagrams/data161.xml" ContentType="application/vnd.openxmlformats-officedocument.drawingml.diagramData+xml"/>
  <Override PartName="/ppt/diagrams/layout161.xml" ContentType="application/vnd.openxmlformats-officedocument.drawingml.diagramLayout+xml"/>
  <Override PartName="/ppt/diagrams/quickStyle161.xml" ContentType="application/vnd.openxmlformats-officedocument.drawingml.diagramStyle+xml"/>
  <Override PartName="/ppt/diagrams/colors161.xml" ContentType="application/vnd.openxmlformats-officedocument.drawingml.diagramColors+xml"/>
  <Override PartName="/ppt/diagrams/drawing161.xml" ContentType="application/vnd.ms-office.drawingml.diagramDrawing+xml"/>
  <Override PartName="/ppt/diagrams/data162.xml" ContentType="application/vnd.openxmlformats-officedocument.drawingml.diagramData+xml"/>
  <Override PartName="/ppt/diagrams/layout162.xml" ContentType="application/vnd.openxmlformats-officedocument.drawingml.diagramLayout+xml"/>
  <Override PartName="/ppt/diagrams/quickStyle162.xml" ContentType="application/vnd.openxmlformats-officedocument.drawingml.diagramStyle+xml"/>
  <Override PartName="/ppt/diagrams/colors162.xml" ContentType="application/vnd.openxmlformats-officedocument.drawingml.diagramColors+xml"/>
  <Override PartName="/ppt/diagrams/drawing162.xml" ContentType="application/vnd.ms-office.drawingml.diagramDrawing+xml"/>
  <Override PartName="/ppt/diagrams/data163.xml" ContentType="application/vnd.openxmlformats-officedocument.drawingml.diagramData+xml"/>
  <Override PartName="/ppt/diagrams/layout163.xml" ContentType="application/vnd.openxmlformats-officedocument.drawingml.diagramLayout+xml"/>
  <Override PartName="/ppt/diagrams/quickStyle163.xml" ContentType="application/vnd.openxmlformats-officedocument.drawingml.diagramStyle+xml"/>
  <Override PartName="/ppt/diagrams/colors163.xml" ContentType="application/vnd.openxmlformats-officedocument.drawingml.diagramColors+xml"/>
  <Override PartName="/ppt/diagrams/drawing163.xml" ContentType="application/vnd.ms-office.drawingml.diagramDrawing+xml"/>
  <Override PartName="/ppt/diagrams/data164.xml" ContentType="application/vnd.openxmlformats-officedocument.drawingml.diagramData+xml"/>
  <Override PartName="/ppt/diagrams/layout164.xml" ContentType="application/vnd.openxmlformats-officedocument.drawingml.diagramLayout+xml"/>
  <Override PartName="/ppt/diagrams/quickStyle164.xml" ContentType="application/vnd.openxmlformats-officedocument.drawingml.diagramStyle+xml"/>
  <Override PartName="/ppt/diagrams/colors164.xml" ContentType="application/vnd.openxmlformats-officedocument.drawingml.diagramColors+xml"/>
  <Override PartName="/ppt/diagrams/drawing164.xml" ContentType="application/vnd.ms-office.drawingml.diagramDrawing+xml"/>
  <Override PartName="/ppt/diagrams/data165.xml" ContentType="application/vnd.openxmlformats-officedocument.drawingml.diagramData+xml"/>
  <Override PartName="/ppt/diagrams/layout165.xml" ContentType="application/vnd.openxmlformats-officedocument.drawingml.diagramLayout+xml"/>
  <Override PartName="/ppt/diagrams/quickStyle165.xml" ContentType="application/vnd.openxmlformats-officedocument.drawingml.diagramStyle+xml"/>
  <Override PartName="/ppt/diagrams/colors165.xml" ContentType="application/vnd.openxmlformats-officedocument.drawingml.diagramColors+xml"/>
  <Override PartName="/ppt/diagrams/drawing165.xml" ContentType="application/vnd.ms-office.drawingml.diagramDrawing+xml"/>
  <Override PartName="/ppt/diagrams/data166.xml" ContentType="application/vnd.openxmlformats-officedocument.drawingml.diagramData+xml"/>
  <Override PartName="/ppt/diagrams/layout166.xml" ContentType="application/vnd.openxmlformats-officedocument.drawingml.diagramLayout+xml"/>
  <Override PartName="/ppt/diagrams/quickStyle166.xml" ContentType="application/vnd.openxmlformats-officedocument.drawingml.diagramStyle+xml"/>
  <Override PartName="/ppt/diagrams/colors166.xml" ContentType="application/vnd.openxmlformats-officedocument.drawingml.diagramColors+xml"/>
  <Override PartName="/ppt/diagrams/drawing166.xml" ContentType="application/vnd.ms-office.drawingml.diagramDrawing+xml"/>
  <Override PartName="/ppt/diagrams/data167.xml" ContentType="application/vnd.openxmlformats-officedocument.drawingml.diagramData+xml"/>
  <Override PartName="/ppt/diagrams/layout167.xml" ContentType="application/vnd.openxmlformats-officedocument.drawingml.diagramLayout+xml"/>
  <Override PartName="/ppt/diagrams/quickStyle167.xml" ContentType="application/vnd.openxmlformats-officedocument.drawingml.diagramStyle+xml"/>
  <Override PartName="/ppt/diagrams/colors167.xml" ContentType="application/vnd.openxmlformats-officedocument.drawingml.diagramColors+xml"/>
  <Override PartName="/ppt/diagrams/drawing167.xml" ContentType="application/vnd.ms-office.drawingml.diagramDrawing+xml"/>
  <Override PartName="/ppt/diagrams/data168.xml" ContentType="application/vnd.openxmlformats-officedocument.drawingml.diagramData+xml"/>
  <Override PartName="/ppt/diagrams/layout168.xml" ContentType="application/vnd.openxmlformats-officedocument.drawingml.diagramLayout+xml"/>
  <Override PartName="/ppt/diagrams/quickStyle168.xml" ContentType="application/vnd.openxmlformats-officedocument.drawingml.diagramStyle+xml"/>
  <Override PartName="/ppt/diagrams/colors168.xml" ContentType="application/vnd.openxmlformats-officedocument.drawingml.diagramColors+xml"/>
  <Override PartName="/ppt/diagrams/drawing168.xml" ContentType="application/vnd.ms-office.drawingml.diagramDrawing+xml"/>
  <Override PartName="/ppt/diagrams/data169.xml" ContentType="application/vnd.openxmlformats-officedocument.drawingml.diagramData+xml"/>
  <Override PartName="/ppt/diagrams/layout169.xml" ContentType="application/vnd.openxmlformats-officedocument.drawingml.diagramLayout+xml"/>
  <Override PartName="/ppt/diagrams/quickStyle169.xml" ContentType="application/vnd.openxmlformats-officedocument.drawingml.diagramStyle+xml"/>
  <Override PartName="/ppt/diagrams/colors169.xml" ContentType="application/vnd.openxmlformats-officedocument.drawingml.diagramColors+xml"/>
  <Override PartName="/ppt/diagrams/drawing169.xml" ContentType="application/vnd.ms-office.drawingml.diagramDrawing+xml"/>
  <Override PartName="/ppt/diagrams/data170.xml" ContentType="application/vnd.openxmlformats-officedocument.drawingml.diagramData+xml"/>
  <Override PartName="/ppt/diagrams/layout170.xml" ContentType="application/vnd.openxmlformats-officedocument.drawingml.diagramLayout+xml"/>
  <Override PartName="/ppt/diagrams/quickStyle170.xml" ContentType="application/vnd.openxmlformats-officedocument.drawingml.diagramStyle+xml"/>
  <Override PartName="/ppt/diagrams/colors170.xml" ContentType="application/vnd.openxmlformats-officedocument.drawingml.diagramColors+xml"/>
  <Override PartName="/ppt/diagrams/drawing170.xml" ContentType="application/vnd.ms-office.drawingml.diagramDrawing+xml"/>
  <Override PartName="/ppt/diagrams/data171.xml" ContentType="application/vnd.openxmlformats-officedocument.drawingml.diagramData+xml"/>
  <Override PartName="/ppt/diagrams/layout171.xml" ContentType="application/vnd.openxmlformats-officedocument.drawingml.diagramLayout+xml"/>
  <Override PartName="/ppt/diagrams/quickStyle171.xml" ContentType="application/vnd.openxmlformats-officedocument.drawingml.diagramStyle+xml"/>
  <Override PartName="/ppt/diagrams/colors171.xml" ContentType="application/vnd.openxmlformats-officedocument.drawingml.diagramColors+xml"/>
  <Override PartName="/ppt/diagrams/drawing171.xml" ContentType="application/vnd.ms-office.drawingml.diagramDrawing+xml"/>
  <Override PartName="/ppt/diagrams/data172.xml" ContentType="application/vnd.openxmlformats-officedocument.drawingml.diagramData+xml"/>
  <Override PartName="/ppt/diagrams/layout172.xml" ContentType="application/vnd.openxmlformats-officedocument.drawingml.diagramLayout+xml"/>
  <Override PartName="/ppt/diagrams/quickStyle172.xml" ContentType="application/vnd.openxmlformats-officedocument.drawingml.diagramStyle+xml"/>
  <Override PartName="/ppt/diagrams/colors172.xml" ContentType="application/vnd.openxmlformats-officedocument.drawingml.diagramColors+xml"/>
  <Override PartName="/ppt/diagrams/drawing172.xml" ContentType="application/vnd.ms-office.drawingml.diagramDrawing+xml"/>
  <Override PartName="/ppt/diagrams/data173.xml" ContentType="application/vnd.openxmlformats-officedocument.drawingml.diagramData+xml"/>
  <Override PartName="/ppt/diagrams/layout173.xml" ContentType="application/vnd.openxmlformats-officedocument.drawingml.diagramLayout+xml"/>
  <Override PartName="/ppt/diagrams/quickStyle173.xml" ContentType="application/vnd.openxmlformats-officedocument.drawingml.diagramStyle+xml"/>
  <Override PartName="/ppt/diagrams/colors173.xml" ContentType="application/vnd.openxmlformats-officedocument.drawingml.diagramColors+xml"/>
  <Override PartName="/ppt/diagrams/drawing173.xml" ContentType="application/vnd.ms-office.drawingml.diagramDrawing+xml"/>
  <Override PartName="/ppt/diagrams/data174.xml" ContentType="application/vnd.openxmlformats-officedocument.drawingml.diagramData+xml"/>
  <Override PartName="/ppt/diagrams/layout174.xml" ContentType="application/vnd.openxmlformats-officedocument.drawingml.diagramLayout+xml"/>
  <Override PartName="/ppt/diagrams/quickStyle174.xml" ContentType="application/vnd.openxmlformats-officedocument.drawingml.diagramStyle+xml"/>
  <Override PartName="/ppt/diagrams/colors174.xml" ContentType="application/vnd.openxmlformats-officedocument.drawingml.diagramColors+xml"/>
  <Override PartName="/ppt/diagrams/drawing174.xml" ContentType="application/vnd.ms-office.drawingml.diagramDrawing+xml"/>
  <Override PartName="/ppt/diagrams/data175.xml" ContentType="application/vnd.openxmlformats-officedocument.drawingml.diagramData+xml"/>
  <Override PartName="/ppt/diagrams/layout175.xml" ContentType="application/vnd.openxmlformats-officedocument.drawingml.diagramLayout+xml"/>
  <Override PartName="/ppt/diagrams/quickStyle175.xml" ContentType="application/vnd.openxmlformats-officedocument.drawingml.diagramStyle+xml"/>
  <Override PartName="/ppt/diagrams/colors175.xml" ContentType="application/vnd.openxmlformats-officedocument.drawingml.diagramColors+xml"/>
  <Override PartName="/ppt/diagrams/drawing175.xml" ContentType="application/vnd.ms-office.drawingml.diagramDrawing+xml"/>
  <Override PartName="/ppt/diagrams/data176.xml" ContentType="application/vnd.openxmlformats-officedocument.drawingml.diagramData+xml"/>
  <Override PartName="/ppt/diagrams/layout176.xml" ContentType="application/vnd.openxmlformats-officedocument.drawingml.diagramLayout+xml"/>
  <Override PartName="/ppt/diagrams/quickStyle176.xml" ContentType="application/vnd.openxmlformats-officedocument.drawingml.diagramStyle+xml"/>
  <Override PartName="/ppt/diagrams/colors176.xml" ContentType="application/vnd.openxmlformats-officedocument.drawingml.diagramColors+xml"/>
  <Override PartName="/ppt/diagrams/drawing176.xml" ContentType="application/vnd.ms-office.drawingml.diagramDrawing+xml"/>
  <Override PartName="/ppt/diagrams/data177.xml" ContentType="application/vnd.openxmlformats-officedocument.drawingml.diagramData+xml"/>
  <Override PartName="/ppt/diagrams/layout177.xml" ContentType="application/vnd.openxmlformats-officedocument.drawingml.diagramLayout+xml"/>
  <Override PartName="/ppt/diagrams/quickStyle177.xml" ContentType="application/vnd.openxmlformats-officedocument.drawingml.diagramStyle+xml"/>
  <Override PartName="/ppt/diagrams/colors177.xml" ContentType="application/vnd.openxmlformats-officedocument.drawingml.diagramColors+xml"/>
  <Override PartName="/ppt/diagrams/drawing177.xml" ContentType="application/vnd.ms-office.drawingml.diagramDrawing+xml"/>
  <Override PartName="/ppt/diagrams/data178.xml" ContentType="application/vnd.openxmlformats-officedocument.drawingml.diagramData+xml"/>
  <Override PartName="/ppt/diagrams/layout178.xml" ContentType="application/vnd.openxmlformats-officedocument.drawingml.diagramLayout+xml"/>
  <Override PartName="/ppt/diagrams/quickStyle178.xml" ContentType="application/vnd.openxmlformats-officedocument.drawingml.diagramStyle+xml"/>
  <Override PartName="/ppt/diagrams/colors178.xml" ContentType="application/vnd.openxmlformats-officedocument.drawingml.diagramColors+xml"/>
  <Override PartName="/ppt/diagrams/drawing178.xml" ContentType="application/vnd.ms-office.drawingml.diagramDrawing+xml"/>
  <Override PartName="/ppt/diagrams/data179.xml" ContentType="application/vnd.openxmlformats-officedocument.drawingml.diagramData+xml"/>
  <Override PartName="/ppt/diagrams/layout179.xml" ContentType="application/vnd.openxmlformats-officedocument.drawingml.diagramLayout+xml"/>
  <Override PartName="/ppt/diagrams/quickStyle179.xml" ContentType="application/vnd.openxmlformats-officedocument.drawingml.diagramStyle+xml"/>
  <Override PartName="/ppt/diagrams/colors179.xml" ContentType="application/vnd.openxmlformats-officedocument.drawingml.diagramColors+xml"/>
  <Override PartName="/ppt/diagrams/drawing179.xml" ContentType="application/vnd.ms-office.drawingml.diagramDrawing+xml"/>
  <Override PartName="/ppt/diagrams/data180.xml" ContentType="application/vnd.openxmlformats-officedocument.drawingml.diagramData+xml"/>
  <Override PartName="/ppt/diagrams/layout180.xml" ContentType="application/vnd.openxmlformats-officedocument.drawingml.diagramLayout+xml"/>
  <Override PartName="/ppt/diagrams/quickStyle180.xml" ContentType="application/vnd.openxmlformats-officedocument.drawingml.diagramStyle+xml"/>
  <Override PartName="/ppt/diagrams/colors180.xml" ContentType="application/vnd.openxmlformats-officedocument.drawingml.diagramColors+xml"/>
  <Override PartName="/ppt/diagrams/drawing180.xml" ContentType="application/vnd.ms-office.drawingml.diagramDrawing+xml"/>
  <Override PartName="/ppt/diagrams/data181.xml" ContentType="application/vnd.openxmlformats-officedocument.drawingml.diagramData+xml"/>
  <Override PartName="/ppt/diagrams/layout181.xml" ContentType="application/vnd.openxmlformats-officedocument.drawingml.diagramLayout+xml"/>
  <Override PartName="/ppt/diagrams/quickStyle181.xml" ContentType="application/vnd.openxmlformats-officedocument.drawingml.diagramStyle+xml"/>
  <Override PartName="/ppt/diagrams/colors181.xml" ContentType="application/vnd.openxmlformats-officedocument.drawingml.diagramColors+xml"/>
  <Override PartName="/ppt/diagrams/drawing181.xml" ContentType="application/vnd.ms-office.drawingml.diagramDrawing+xml"/>
  <Override PartName="/ppt/diagrams/data182.xml" ContentType="application/vnd.openxmlformats-officedocument.drawingml.diagramData+xml"/>
  <Override PartName="/ppt/diagrams/layout182.xml" ContentType="application/vnd.openxmlformats-officedocument.drawingml.diagramLayout+xml"/>
  <Override PartName="/ppt/diagrams/quickStyle182.xml" ContentType="application/vnd.openxmlformats-officedocument.drawingml.diagramStyle+xml"/>
  <Override PartName="/ppt/diagrams/colors182.xml" ContentType="application/vnd.openxmlformats-officedocument.drawingml.diagramColors+xml"/>
  <Override PartName="/ppt/diagrams/drawing182.xml" ContentType="application/vnd.ms-office.drawingml.diagramDrawing+xml"/>
  <Override PartName="/ppt/diagrams/data183.xml" ContentType="application/vnd.openxmlformats-officedocument.drawingml.diagramData+xml"/>
  <Override PartName="/ppt/diagrams/layout183.xml" ContentType="application/vnd.openxmlformats-officedocument.drawingml.diagramLayout+xml"/>
  <Override PartName="/ppt/diagrams/quickStyle183.xml" ContentType="application/vnd.openxmlformats-officedocument.drawingml.diagramStyle+xml"/>
  <Override PartName="/ppt/diagrams/colors183.xml" ContentType="application/vnd.openxmlformats-officedocument.drawingml.diagramColors+xml"/>
  <Override PartName="/ppt/diagrams/drawing18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6"/>
  </p:notesMasterIdLst>
  <p:sldIdLst>
    <p:sldId id="565" r:id="rId5"/>
    <p:sldId id="408" r:id="rId6"/>
    <p:sldId id="406" r:id="rId7"/>
    <p:sldId id="407" r:id="rId8"/>
    <p:sldId id="409" r:id="rId9"/>
    <p:sldId id="410" r:id="rId10"/>
    <p:sldId id="414" r:id="rId11"/>
    <p:sldId id="416" r:id="rId12"/>
    <p:sldId id="417" r:id="rId13"/>
    <p:sldId id="418" r:id="rId14"/>
    <p:sldId id="770" r:id="rId15"/>
    <p:sldId id="422" r:id="rId16"/>
    <p:sldId id="873" r:id="rId17"/>
    <p:sldId id="874" r:id="rId18"/>
    <p:sldId id="875" r:id="rId19"/>
    <p:sldId id="876" r:id="rId20"/>
    <p:sldId id="877" r:id="rId21"/>
    <p:sldId id="878" r:id="rId22"/>
    <p:sldId id="880" r:id="rId23"/>
    <p:sldId id="879" r:id="rId24"/>
    <p:sldId id="881" r:id="rId25"/>
    <p:sldId id="882" r:id="rId26"/>
    <p:sldId id="883" r:id="rId27"/>
    <p:sldId id="419" r:id="rId28"/>
    <p:sldId id="444" r:id="rId29"/>
    <p:sldId id="420" r:id="rId30"/>
    <p:sldId id="421" r:id="rId31"/>
    <p:sldId id="529" r:id="rId32"/>
    <p:sldId id="530" r:id="rId33"/>
    <p:sldId id="432" r:id="rId34"/>
    <p:sldId id="821" r:id="rId35"/>
    <p:sldId id="822" r:id="rId36"/>
    <p:sldId id="427" r:id="rId37"/>
    <p:sldId id="423" r:id="rId38"/>
    <p:sldId id="424" r:id="rId39"/>
    <p:sldId id="433" r:id="rId40"/>
    <p:sldId id="426" r:id="rId41"/>
    <p:sldId id="749" r:id="rId42"/>
    <p:sldId id="757" r:id="rId43"/>
    <p:sldId id="754" r:id="rId44"/>
    <p:sldId id="756" r:id="rId45"/>
    <p:sldId id="431" r:id="rId46"/>
    <p:sldId id="528" r:id="rId47"/>
    <p:sldId id="769" r:id="rId48"/>
    <p:sldId id="429" r:id="rId49"/>
    <p:sldId id="430" r:id="rId50"/>
    <p:sldId id="460" r:id="rId51"/>
    <p:sldId id="461" r:id="rId52"/>
    <p:sldId id="462" r:id="rId53"/>
    <p:sldId id="463" r:id="rId54"/>
    <p:sldId id="464" r:id="rId55"/>
    <p:sldId id="466" r:id="rId56"/>
    <p:sldId id="468" r:id="rId57"/>
    <p:sldId id="467" r:id="rId58"/>
    <p:sldId id="473" r:id="rId59"/>
    <p:sldId id="471" r:id="rId60"/>
    <p:sldId id="470" r:id="rId61"/>
    <p:sldId id="472" r:id="rId62"/>
    <p:sldId id="751" r:id="rId63"/>
    <p:sldId id="750" r:id="rId64"/>
    <p:sldId id="465" r:id="rId65"/>
    <p:sldId id="481" r:id="rId66"/>
    <p:sldId id="474" r:id="rId67"/>
    <p:sldId id="475" r:id="rId68"/>
    <p:sldId id="476" r:id="rId69"/>
    <p:sldId id="482" r:id="rId70"/>
    <p:sldId id="483" r:id="rId71"/>
    <p:sldId id="496" r:id="rId72"/>
    <p:sldId id="497" r:id="rId73"/>
    <p:sldId id="490" r:id="rId74"/>
    <p:sldId id="489" r:id="rId75"/>
    <p:sldId id="485" r:id="rId76"/>
    <p:sldId id="477" r:id="rId77"/>
    <p:sldId id="478" r:id="rId78"/>
    <p:sldId id="495" r:id="rId79"/>
    <p:sldId id="492" r:id="rId80"/>
    <p:sldId id="493" r:id="rId81"/>
    <p:sldId id="494" r:id="rId82"/>
    <p:sldId id="823" r:id="rId83"/>
    <p:sldId id="824" r:id="rId84"/>
    <p:sldId id="844" r:id="rId85"/>
    <p:sldId id="852" r:id="rId86"/>
    <p:sldId id="853" r:id="rId87"/>
    <p:sldId id="854" r:id="rId88"/>
    <p:sldId id="855" r:id="rId89"/>
    <p:sldId id="856" r:id="rId90"/>
    <p:sldId id="857" r:id="rId91"/>
    <p:sldId id="859" r:id="rId92"/>
    <p:sldId id="858" r:id="rId93"/>
    <p:sldId id="860" r:id="rId94"/>
    <p:sldId id="861" r:id="rId95"/>
    <p:sldId id="862" r:id="rId96"/>
    <p:sldId id="479" r:id="rId97"/>
    <p:sldId id="480" r:id="rId98"/>
    <p:sldId id="846" r:id="rId99"/>
    <p:sldId id="845" r:id="rId100"/>
    <p:sldId id="847" r:id="rId101"/>
    <p:sldId id="848" r:id="rId102"/>
    <p:sldId id="863" r:id="rId103"/>
    <p:sldId id="864" r:id="rId104"/>
    <p:sldId id="865" r:id="rId105"/>
    <p:sldId id="866" r:id="rId106"/>
    <p:sldId id="867" r:id="rId107"/>
    <p:sldId id="868" r:id="rId108"/>
    <p:sldId id="469" r:id="rId109"/>
    <p:sldId id="320" r:id="rId110"/>
    <p:sldId id="321" r:id="rId111"/>
    <p:sldId id="776" r:id="rId112"/>
    <p:sldId id="582" r:id="rId113"/>
    <p:sldId id="778" r:id="rId114"/>
    <p:sldId id="777" r:id="rId115"/>
    <p:sldId id="787" r:id="rId116"/>
    <p:sldId id="884" r:id="rId117"/>
    <p:sldId id="885" r:id="rId118"/>
    <p:sldId id="886" r:id="rId119"/>
    <p:sldId id="887" r:id="rId120"/>
    <p:sldId id="888" r:id="rId121"/>
    <p:sldId id="889" r:id="rId122"/>
    <p:sldId id="890" r:id="rId123"/>
    <p:sldId id="891" r:id="rId124"/>
    <p:sldId id="892" r:id="rId125"/>
    <p:sldId id="893" r:id="rId126"/>
    <p:sldId id="869" r:id="rId127"/>
    <p:sldId id="870" r:id="rId128"/>
    <p:sldId id="872" r:id="rId129"/>
    <p:sldId id="871" r:id="rId130"/>
    <p:sldId id="740" r:id="rId131"/>
    <p:sldId id="894" r:id="rId132"/>
    <p:sldId id="895" r:id="rId133"/>
    <p:sldId id="897" r:id="rId134"/>
    <p:sldId id="898" r:id="rId135"/>
    <p:sldId id="899" r:id="rId136"/>
    <p:sldId id="900" r:id="rId137"/>
    <p:sldId id="901" r:id="rId138"/>
    <p:sldId id="902" r:id="rId139"/>
    <p:sldId id="903" r:id="rId140"/>
    <p:sldId id="738" r:id="rId141"/>
    <p:sldId id="779" r:id="rId142"/>
    <p:sldId id="780" r:id="rId143"/>
    <p:sldId id="781" r:id="rId144"/>
    <p:sldId id="782" r:id="rId145"/>
    <p:sldId id="783" r:id="rId146"/>
    <p:sldId id="520" r:id="rId147"/>
    <p:sldId id="784" r:id="rId148"/>
    <p:sldId id="747" r:id="rId149"/>
    <p:sldId id="785" r:id="rId150"/>
    <p:sldId id="733" r:id="rId151"/>
    <p:sldId id="773" r:id="rId152"/>
    <p:sldId id="772" r:id="rId153"/>
    <p:sldId id="739" r:id="rId154"/>
    <p:sldId id="775" r:id="rId155"/>
    <p:sldId id="774" r:id="rId156"/>
    <p:sldId id="788" r:id="rId157"/>
    <p:sldId id="789" r:id="rId158"/>
    <p:sldId id="797" r:id="rId159"/>
    <p:sldId id="799" r:id="rId160"/>
    <p:sldId id="800" r:id="rId161"/>
    <p:sldId id="802" r:id="rId162"/>
    <p:sldId id="807" r:id="rId163"/>
    <p:sldId id="808" r:id="rId164"/>
    <p:sldId id="795" r:id="rId165"/>
    <p:sldId id="794" r:id="rId166"/>
    <p:sldId id="796" r:id="rId167"/>
    <p:sldId id="832" r:id="rId168"/>
    <p:sldId id="833" r:id="rId169"/>
    <p:sldId id="834" r:id="rId170"/>
    <p:sldId id="835" r:id="rId171"/>
    <p:sldId id="836" r:id="rId172"/>
    <p:sldId id="838" r:id="rId173"/>
    <p:sldId id="839" r:id="rId174"/>
    <p:sldId id="786" r:id="rId175"/>
    <p:sldId id="801" r:id="rId176"/>
    <p:sldId id="803" r:id="rId177"/>
    <p:sldId id="804" r:id="rId178"/>
    <p:sldId id="805" r:id="rId179"/>
    <p:sldId id="806" r:id="rId180"/>
    <p:sldId id="746" r:id="rId181"/>
    <p:sldId id="573" r:id="rId182"/>
    <p:sldId id="574" r:id="rId183"/>
    <p:sldId id="531" r:id="rId184"/>
    <p:sldId id="294" r:id="rId185"/>
  </p:sldIdLst>
  <p:sldSz cx="9144000" cy="5943600"/>
  <p:notesSz cx="9144000" cy="5943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16" userDrawn="1">
          <p15:clr>
            <a:srgbClr val="A4A3A4"/>
          </p15:clr>
        </p15:guide>
        <p15:guide id="2" pos="2160">
          <p15:clr>
            <a:srgbClr val="A4A3A4"/>
          </p15:clr>
        </p15:guide>
        <p15:guide id="3" pos="960" userDrawn="1">
          <p15:clr>
            <a:srgbClr val="A4A3A4"/>
          </p15:clr>
        </p15:guide>
        <p15:guide id="4" pos="3696" userDrawn="1">
          <p15:clr>
            <a:srgbClr val="A4A3A4"/>
          </p15:clr>
        </p15:guide>
        <p15:guide id="5" orient="horz" pos="244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el J McMahan" initials="MJM" lastIdx="43" clrIdx="0">
    <p:extLst>
      <p:ext uri="{19B8F6BF-5375-455C-9EA6-DF929625EA0E}">
        <p15:presenceInfo xmlns:p15="http://schemas.microsoft.com/office/powerpoint/2012/main" userId="S::o004618@ofgbancorp.com::f5de8ce0-42e9-4038-a990-3facc77dc678" providerId="AD"/>
      </p:ext>
    </p:extLst>
  </p:cmAuthor>
  <p:cmAuthor id="2" name="Alvarez Holgado, Raquel (Cognizant)" initials="AHR(" lastIdx="2" clrIdx="1">
    <p:extLst>
      <p:ext uri="{19B8F6BF-5375-455C-9EA6-DF929625EA0E}">
        <p15:presenceInfo xmlns:p15="http://schemas.microsoft.com/office/powerpoint/2012/main" userId="S-1-5-21-1178368992-402679808-390482200-3157283" providerId="AD"/>
      </p:ext>
    </p:extLst>
  </p:cmAuthor>
  <p:cmAuthor id="3" name="david martin" initials="dm" lastIdx="1" clrIdx="2">
    <p:extLst>
      <p:ext uri="{19B8F6BF-5375-455C-9EA6-DF929625EA0E}">
        <p15:presenceInfo xmlns:p15="http://schemas.microsoft.com/office/powerpoint/2012/main" userId="david mart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322F2"/>
    <a:srgbClr val="1E1A20"/>
    <a:srgbClr val="727272"/>
    <a:srgbClr val="DFF7F1"/>
    <a:srgbClr val="F1EAFF"/>
    <a:srgbClr val="64597A"/>
    <a:srgbClr val="F8DBFD"/>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57" autoAdjust="0"/>
    <p:restoredTop sz="92877" autoAdjust="0"/>
  </p:normalViewPr>
  <p:slideViewPr>
    <p:cSldViewPr>
      <p:cViewPr varScale="1">
        <p:scale>
          <a:sx n="67" d="100"/>
          <a:sy n="67" d="100"/>
        </p:scale>
        <p:origin x="1144" y="76"/>
      </p:cViewPr>
      <p:guideLst>
        <p:guide orient="horz" pos="2016"/>
        <p:guide pos="2160"/>
        <p:guide pos="960"/>
        <p:guide pos="3696"/>
        <p:guide orient="horz" pos="244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91" Type="http://schemas.openxmlformats.org/officeDocument/2006/relationships/tableStyles" Target="tableStyles.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92" Type="http://schemas.microsoft.com/office/2016/11/relationships/changesInfo" Target="changesInfos/changesInfo1.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6" Type="http://schemas.openxmlformats.org/officeDocument/2006/relationships/slide" Target="slides/slide2.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slide" Target="slides/slide158.xml"/><Relationship Id="rId183" Type="http://schemas.openxmlformats.org/officeDocument/2006/relationships/slide" Target="slides/slide179.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73" Type="http://schemas.openxmlformats.org/officeDocument/2006/relationships/slide" Target="slides/slide169.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189" Type="http://schemas.openxmlformats.org/officeDocument/2006/relationships/viewProps" Target="viewProps.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79" Type="http://schemas.openxmlformats.org/officeDocument/2006/relationships/slide" Target="slides/slide175.xml"/><Relationship Id="rId190" Type="http://schemas.openxmlformats.org/officeDocument/2006/relationships/theme" Target="theme/theme1.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slide" Target="slides/slide181.xml"/><Relationship Id="rId4" Type="http://schemas.openxmlformats.org/officeDocument/2006/relationships/slideMaster" Target="slideMasters/slideMaster1.xml"/><Relationship Id="rId9" Type="http://schemas.openxmlformats.org/officeDocument/2006/relationships/slide" Target="slides/slide5.xml"/><Relationship Id="rId180" Type="http://schemas.openxmlformats.org/officeDocument/2006/relationships/slide" Target="slides/slide176.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notesMaster" Target="notesMasters/notesMaster1.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commentAuthors" Target="commentAuthors.xml"/><Relationship Id="rId1" Type="http://schemas.openxmlformats.org/officeDocument/2006/relationships/customXml" Target="../customXml/item1.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 Sandip (Cognizant)" userId="5f7625ad-98d9-4890-9d14-c521d7d0e727" providerId="ADAL" clId="{C2AB7451-CC97-4FB3-8B68-F5313FB7DC79}"/>
    <pc:docChg chg="modSld">
      <pc:chgData name="Ray, Sandip (Cognizant)" userId="5f7625ad-98d9-4890-9d14-c521d7d0e727" providerId="ADAL" clId="{C2AB7451-CC97-4FB3-8B68-F5313FB7DC79}" dt="2023-04-06T04:09:00.980" v="256" actId="20577"/>
      <pc:docMkLst>
        <pc:docMk/>
      </pc:docMkLst>
      <pc:sldChg chg="modSp mod">
        <pc:chgData name="Ray, Sandip (Cognizant)" userId="5f7625ad-98d9-4890-9d14-c521d7d0e727" providerId="ADAL" clId="{C2AB7451-CC97-4FB3-8B68-F5313FB7DC79}" dt="2023-04-06T03:59:36.364" v="161" actId="20577"/>
        <pc:sldMkLst>
          <pc:docMk/>
          <pc:sldMk cId="0" sldId="260"/>
        </pc:sldMkLst>
        <pc:spChg chg="mod">
          <ac:chgData name="Ray, Sandip (Cognizant)" userId="5f7625ad-98d9-4890-9d14-c521d7d0e727" providerId="ADAL" clId="{C2AB7451-CC97-4FB3-8B68-F5313FB7DC79}" dt="2023-04-06T03:59:36.364" v="161" actId="20577"/>
          <ac:spMkLst>
            <pc:docMk/>
            <pc:sldMk cId="0" sldId="260"/>
            <ac:spMk id="6" creationId="{6F1A71D4-B0E2-03B4-6EE7-DB07A3C27BD4}"/>
          </ac:spMkLst>
        </pc:spChg>
      </pc:sldChg>
      <pc:sldChg chg="modSp mod">
        <pc:chgData name="Ray, Sandip (Cognizant)" userId="5f7625ad-98d9-4890-9d14-c521d7d0e727" providerId="ADAL" clId="{C2AB7451-CC97-4FB3-8B68-F5313FB7DC79}" dt="2023-04-06T03:48:53.533" v="73" actId="20577"/>
        <pc:sldMkLst>
          <pc:docMk/>
          <pc:sldMk cId="4047161330" sldId="286"/>
        </pc:sldMkLst>
        <pc:spChg chg="mod">
          <ac:chgData name="Ray, Sandip (Cognizant)" userId="5f7625ad-98d9-4890-9d14-c521d7d0e727" providerId="ADAL" clId="{C2AB7451-CC97-4FB3-8B68-F5313FB7DC79}" dt="2023-04-06T03:45:56.046" v="16" actId="20577"/>
          <ac:spMkLst>
            <pc:docMk/>
            <pc:sldMk cId="4047161330" sldId="286"/>
            <ac:spMk id="10" creationId="{00000000-0000-0000-0000-000000000000}"/>
          </ac:spMkLst>
        </pc:spChg>
        <pc:spChg chg="mod">
          <ac:chgData name="Ray, Sandip (Cognizant)" userId="5f7625ad-98d9-4890-9d14-c521d7d0e727" providerId="ADAL" clId="{C2AB7451-CC97-4FB3-8B68-F5313FB7DC79}" dt="2023-04-06T03:48:53.533" v="73" actId="20577"/>
          <ac:spMkLst>
            <pc:docMk/>
            <pc:sldMk cId="4047161330" sldId="286"/>
            <ac:spMk id="22" creationId="{2C359A52-6812-58BA-7F74-5756C76E8AAB}"/>
          </ac:spMkLst>
        </pc:spChg>
      </pc:sldChg>
      <pc:sldChg chg="modSp mod">
        <pc:chgData name="Ray, Sandip (Cognizant)" userId="5f7625ad-98d9-4890-9d14-c521d7d0e727" providerId="ADAL" clId="{C2AB7451-CC97-4FB3-8B68-F5313FB7DC79}" dt="2023-04-06T03:50:55.737" v="137" actId="20577"/>
        <pc:sldMkLst>
          <pc:docMk/>
          <pc:sldMk cId="1704172639" sldId="287"/>
        </pc:sldMkLst>
        <pc:spChg chg="mod">
          <ac:chgData name="Ray, Sandip (Cognizant)" userId="5f7625ad-98d9-4890-9d14-c521d7d0e727" providerId="ADAL" clId="{C2AB7451-CC97-4FB3-8B68-F5313FB7DC79}" dt="2023-04-06T03:50:55.737" v="137" actId="20577"/>
          <ac:spMkLst>
            <pc:docMk/>
            <pc:sldMk cId="1704172639" sldId="287"/>
            <ac:spMk id="10" creationId="{00000000-0000-0000-0000-000000000000}"/>
          </ac:spMkLst>
        </pc:spChg>
      </pc:sldChg>
      <pc:sldChg chg="modSp mod">
        <pc:chgData name="Ray, Sandip (Cognizant)" userId="5f7625ad-98d9-4890-9d14-c521d7d0e727" providerId="ADAL" clId="{C2AB7451-CC97-4FB3-8B68-F5313FB7DC79}" dt="2023-04-06T03:52:41.549" v="147" actId="20577"/>
        <pc:sldMkLst>
          <pc:docMk/>
          <pc:sldMk cId="4018458971" sldId="288"/>
        </pc:sldMkLst>
        <pc:spChg chg="mod">
          <ac:chgData name="Ray, Sandip (Cognizant)" userId="5f7625ad-98d9-4890-9d14-c521d7d0e727" providerId="ADAL" clId="{C2AB7451-CC97-4FB3-8B68-F5313FB7DC79}" dt="2023-04-06T03:52:41.549" v="147" actId="20577"/>
          <ac:spMkLst>
            <pc:docMk/>
            <pc:sldMk cId="4018458971" sldId="288"/>
            <ac:spMk id="10" creationId="{00000000-0000-0000-0000-000000000000}"/>
          </ac:spMkLst>
        </pc:spChg>
      </pc:sldChg>
      <pc:sldChg chg="modSp mod">
        <pc:chgData name="Ray, Sandip (Cognizant)" userId="5f7625ad-98d9-4890-9d14-c521d7d0e727" providerId="ADAL" clId="{C2AB7451-CC97-4FB3-8B68-F5313FB7DC79}" dt="2023-04-06T03:56:47.733" v="149" actId="20577"/>
        <pc:sldMkLst>
          <pc:docMk/>
          <pc:sldMk cId="1223559503" sldId="291"/>
        </pc:sldMkLst>
        <pc:spChg chg="mod">
          <ac:chgData name="Ray, Sandip (Cognizant)" userId="5f7625ad-98d9-4890-9d14-c521d7d0e727" providerId="ADAL" clId="{C2AB7451-CC97-4FB3-8B68-F5313FB7DC79}" dt="2023-04-06T03:56:47.733" v="149" actId="20577"/>
          <ac:spMkLst>
            <pc:docMk/>
            <pc:sldMk cId="1223559503" sldId="291"/>
            <ac:spMk id="10" creationId="{00000000-0000-0000-0000-000000000000}"/>
          </ac:spMkLst>
        </pc:spChg>
      </pc:sldChg>
      <pc:sldChg chg="modSp mod">
        <pc:chgData name="Ray, Sandip (Cognizant)" userId="5f7625ad-98d9-4890-9d14-c521d7d0e727" providerId="ADAL" clId="{C2AB7451-CC97-4FB3-8B68-F5313FB7DC79}" dt="2023-04-06T04:09:00.980" v="256" actId="20577"/>
        <pc:sldMkLst>
          <pc:docMk/>
          <pc:sldMk cId="785725705" sldId="292"/>
        </pc:sldMkLst>
        <pc:spChg chg="mod">
          <ac:chgData name="Ray, Sandip (Cognizant)" userId="5f7625ad-98d9-4890-9d14-c521d7d0e727" providerId="ADAL" clId="{C2AB7451-CC97-4FB3-8B68-F5313FB7DC79}" dt="2023-04-06T04:09:00.980" v="256" actId="20577"/>
          <ac:spMkLst>
            <pc:docMk/>
            <pc:sldMk cId="785725705" sldId="292"/>
            <ac:spMk id="10" creationId="{00000000-0000-0000-0000-000000000000}"/>
          </ac:spMkLst>
        </pc:spChg>
      </pc:sldChg>
      <pc:sldChg chg="modSp mod">
        <pc:chgData name="Ray, Sandip (Cognizant)" userId="5f7625ad-98d9-4890-9d14-c521d7d0e727" providerId="ADAL" clId="{C2AB7451-CC97-4FB3-8B68-F5313FB7DC79}" dt="2023-04-06T03:55:08.024" v="148" actId="6549"/>
        <pc:sldMkLst>
          <pc:docMk/>
          <pc:sldMk cId="1456905060" sldId="293"/>
        </pc:sldMkLst>
        <pc:spChg chg="mod">
          <ac:chgData name="Ray, Sandip (Cognizant)" userId="5f7625ad-98d9-4890-9d14-c521d7d0e727" providerId="ADAL" clId="{C2AB7451-CC97-4FB3-8B68-F5313FB7DC79}" dt="2023-04-06T03:55:08.024" v="148" actId="6549"/>
          <ac:spMkLst>
            <pc:docMk/>
            <pc:sldMk cId="1456905060" sldId="293"/>
            <ac:spMk id="10" creationId="{00000000-0000-0000-0000-000000000000}"/>
          </ac:spMkLst>
        </pc:spChg>
      </pc:sldChg>
    </pc:docChg>
  </pc:docChgLst>
  <pc:docChgLst>
    <pc:chgData name="Kumar, Harendra (Cognizant)" userId="8b8433c2-3ce6-4e38-9e1b-c8afb18e9057" providerId="ADAL" clId="{9C4CD99B-EF1B-4C81-94B0-0A1924216EBF}"/>
    <pc:docChg chg="undo custSel addSld delSld modSld sldOrd addSection delSection">
      <pc:chgData name="Kumar, Harendra (Cognizant)" userId="8b8433c2-3ce6-4e38-9e1b-c8afb18e9057" providerId="ADAL" clId="{9C4CD99B-EF1B-4C81-94B0-0A1924216EBF}" dt="2023-04-03T10:14:33.691" v="8675" actId="1035"/>
      <pc:docMkLst>
        <pc:docMk/>
      </pc:docMkLst>
      <pc:sldChg chg="addSp delSp modSp mod">
        <pc:chgData name="Kumar, Harendra (Cognizant)" userId="8b8433c2-3ce6-4e38-9e1b-c8afb18e9057" providerId="ADAL" clId="{9C4CD99B-EF1B-4C81-94B0-0A1924216EBF}" dt="2023-04-03T07:22:34.979" v="3882" actId="1037"/>
        <pc:sldMkLst>
          <pc:docMk/>
          <pc:sldMk cId="0" sldId="256"/>
        </pc:sldMkLst>
        <pc:spChg chg="del mod">
          <ac:chgData name="Kumar, Harendra (Cognizant)" userId="8b8433c2-3ce6-4e38-9e1b-c8afb18e9057" providerId="ADAL" clId="{9C4CD99B-EF1B-4C81-94B0-0A1924216EBF}" dt="2023-04-03T05:55:28.094" v="18" actId="12084"/>
          <ac:spMkLst>
            <pc:docMk/>
            <pc:sldMk cId="0" sldId="256"/>
            <ac:spMk id="2" creationId="{00000000-0000-0000-0000-000000000000}"/>
          </ac:spMkLst>
        </pc:spChg>
        <pc:spChg chg="mod">
          <ac:chgData name="Kumar, Harendra (Cognizant)" userId="8b8433c2-3ce6-4e38-9e1b-c8afb18e9057" providerId="ADAL" clId="{9C4CD99B-EF1B-4C81-94B0-0A1924216EBF}" dt="2023-04-03T07:22:34.979" v="3882" actId="1037"/>
          <ac:spMkLst>
            <pc:docMk/>
            <pc:sldMk cId="0" sldId="256"/>
            <ac:spMk id="3" creationId="{00000000-0000-0000-0000-000000000000}"/>
          </ac:spMkLst>
        </pc:spChg>
        <pc:graphicFrameChg chg="add mod">
          <ac:chgData name="Kumar, Harendra (Cognizant)" userId="8b8433c2-3ce6-4e38-9e1b-c8afb18e9057" providerId="ADAL" clId="{9C4CD99B-EF1B-4C81-94B0-0A1924216EBF}" dt="2023-04-03T07:22:25.842" v="3873" actId="12100"/>
          <ac:graphicFrameMkLst>
            <pc:docMk/>
            <pc:sldMk cId="0" sldId="256"/>
            <ac:graphicFrameMk id="6" creationId="{226DC635-E9B3-0133-0548-37B556605D82}"/>
          </ac:graphicFrameMkLst>
        </pc:graphicFrameChg>
      </pc:sldChg>
      <pc:sldChg chg="addSp delSp modSp mod">
        <pc:chgData name="Kumar, Harendra (Cognizant)" userId="8b8433c2-3ce6-4e38-9e1b-c8afb18e9057" providerId="ADAL" clId="{9C4CD99B-EF1B-4C81-94B0-0A1924216EBF}" dt="2023-04-03T09:52:43.219" v="7266" actId="2"/>
        <pc:sldMkLst>
          <pc:docMk/>
          <pc:sldMk cId="0" sldId="258"/>
        </pc:sldMkLst>
        <pc:spChg chg="mod">
          <ac:chgData name="Kumar, Harendra (Cognizant)" userId="8b8433c2-3ce6-4e38-9e1b-c8afb18e9057" providerId="ADAL" clId="{9C4CD99B-EF1B-4C81-94B0-0A1924216EBF}" dt="2023-04-03T07:17:59.233" v="3847" actId="255"/>
          <ac:spMkLst>
            <pc:docMk/>
            <pc:sldMk cId="0" sldId="258"/>
            <ac:spMk id="2" creationId="{00000000-0000-0000-0000-000000000000}"/>
          </ac:spMkLst>
        </pc:spChg>
        <pc:spChg chg="del mod">
          <ac:chgData name="Kumar, Harendra (Cognizant)" userId="8b8433c2-3ce6-4e38-9e1b-c8afb18e9057" providerId="ADAL" clId="{9C4CD99B-EF1B-4C81-94B0-0A1924216EBF}" dt="2023-04-03T06:39:27.761" v="1746" actId="21"/>
          <ac:spMkLst>
            <pc:docMk/>
            <pc:sldMk cId="0" sldId="258"/>
            <ac:spMk id="4" creationId="{00000000-0000-0000-0000-000000000000}"/>
          </ac:spMkLst>
        </pc:spChg>
        <pc:spChg chg="mod">
          <ac:chgData name="Kumar, Harendra (Cognizant)" userId="8b8433c2-3ce6-4e38-9e1b-c8afb18e9057" providerId="ADAL" clId="{9C4CD99B-EF1B-4C81-94B0-0A1924216EBF}" dt="2023-04-03T09:52:41.695" v="7265" actId="2"/>
          <ac:spMkLst>
            <pc:docMk/>
            <pc:sldMk cId="0" sldId="258"/>
            <ac:spMk id="5" creationId="{00000000-0000-0000-0000-000000000000}"/>
          </ac:spMkLst>
        </pc:spChg>
        <pc:spChg chg="del">
          <ac:chgData name="Kumar, Harendra (Cognizant)" userId="8b8433c2-3ce6-4e38-9e1b-c8afb18e9057" providerId="ADAL" clId="{9C4CD99B-EF1B-4C81-94B0-0A1924216EBF}" dt="2023-04-03T06:39:11.928" v="1740" actId="478"/>
          <ac:spMkLst>
            <pc:docMk/>
            <pc:sldMk cId="0" sldId="258"/>
            <ac:spMk id="7" creationId="{00000000-0000-0000-0000-000000000000}"/>
          </ac:spMkLst>
        </pc:spChg>
        <pc:spChg chg="del">
          <ac:chgData name="Kumar, Harendra (Cognizant)" userId="8b8433c2-3ce6-4e38-9e1b-c8afb18e9057" providerId="ADAL" clId="{9C4CD99B-EF1B-4C81-94B0-0A1924216EBF}" dt="2023-04-03T06:39:09.787" v="1739" actId="478"/>
          <ac:spMkLst>
            <pc:docMk/>
            <pc:sldMk cId="0" sldId="258"/>
            <ac:spMk id="8" creationId="{00000000-0000-0000-0000-000000000000}"/>
          </ac:spMkLst>
        </pc:spChg>
        <pc:spChg chg="add mod">
          <ac:chgData name="Kumar, Harendra (Cognizant)" userId="8b8433c2-3ce6-4e38-9e1b-c8afb18e9057" providerId="ADAL" clId="{9C4CD99B-EF1B-4C81-94B0-0A1924216EBF}" dt="2023-04-03T09:52:43.219" v="7266" actId="2"/>
          <ac:spMkLst>
            <pc:docMk/>
            <pc:sldMk cId="0" sldId="258"/>
            <ac:spMk id="9" creationId="{E2B73E12-784C-7F90-DA48-6D0006E2601C}"/>
          </ac:spMkLst>
        </pc:spChg>
        <pc:picChg chg="add mod">
          <ac:chgData name="Kumar, Harendra (Cognizant)" userId="8b8433c2-3ce6-4e38-9e1b-c8afb18e9057" providerId="ADAL" clId="{9C4CD99B-EF1B-4C81-94B0-0A1924216EBF}" dt="2023-04-03T07:21:03.506" v="3870" actId="14100"/>
          <ac:picMkLst>
            <pc:docMk/>
            <pc:sldMk cId="0" sldId="258"/>
            <ac:picMk id="6" creationId="{7F0752E5-7035-0C32-C92B-70020742F100}"/>
          </ac:picMkLst>
        </pc:picChg>
        <pc:picChg chg="add mod">
          <ac:chgData name="Kumar, Harendra (Cognizant)" userId="8b8433c2-3ce6-4e38-9e1b-c8afb18e9057" providerId="ADAL" clId="{9C4CD99B-EF1B-4C81-94B0-0A1924216EBF}" dt="2023-04-03T07:20:50.567" v="3868" actId="14100"/>
          <ac:picMkLst>
            <pc:docMk/>
            <pc:sldMk cId="0" sldId="258"/>
            <ac:picMk id="11" creationId="{FEB3C8A0-8B7A-23A2-EC4D-3EEE1C72A435}"/>
          </ac:picMkLst>
        </pc:picChg>
      </pc:sldChg>
      <pc:sldChg chg="addSp delSp modSp mod">
        <pc:chgData name="Kumar, Harendra (Cognizant)" userId="8b8433c2-3ce6-4e38-9e1b-c8afb18e9057" providerId="ADAL" clId="{9C4CD99B-EF1B-4C81-94B0-0A1924216EBF}" dt="2023-04-03T09:54:11.475" v="7276" actId="2711"/>
        <pc:sldMkLst>
          <pc:docMk/>
          <pc:sldMk cId="0" sldId="260"/>
        </pc:sldMkLst>
        <pc:spChg chg="del">
          <ac:chgData name="Kumar, Harendra (Cognizant)" userId="8b8433c2-3ce6-4e38-9e1b-c8afb18e9057" providerId="ADAL" clId="{9C4CD99B-EF1B-4C81-94B0-0A1924216EBF}" dt="2023-04-03T06:54:56.237" v="2383" actId="478"/>
          <ac:spMkLst>
            <pc:docMk/>
            <pc:sldMk cId="0" sldId="260"/>
            <ac:spMk id="2" creationId="{00000000-0000-0000-0000-000000000000}"/>
          </ac:spMkLst>
        </pc:spChg>
        <pc:spChg chg="del">
          <ac:chgData name="Kumar, Harendra (Cognizant)" userId="8b8433c2-3ce6-4e38-9e1b-c8afb18e9057" providerId="ADAL" clId="{9C4CD99B-EF1B-4C81-94B0-0A1924216EBF}" dt="2023-04-03T06:54:54.953" v="2382" actId="478"/>
          <ac:spMkLst>
            <pc:docMk/>
            <pc:sldMk cId="0" sldId="260"/>
            <ac:spMk id="3" creationId="{00000000-0000-0000-0000-000000000000}"/>
          </ac:spMkLst>
        </pc:spChg>
        <pc:spChg chg="add mod">
          <ac:chgData name="Kumar, Harendra (Cognizant)" userId="8b8433c2-3ce6-4e38-9e1b-c8afb18e9057" providerId="ADAL" clId="{9C4CD99B-EF1B-4C81-94B0-0A1924216EBF}" dt="2023-04-03T09:54:11.475" v="7276" actId="2711"/>
          <ac:spMkLst>
            <pc:docMk/>
            <pc:sldMk cId="0" sldId="260"/>
            <ac:spMk id="4" creationId="{93A0F582-DCEC-D980-FFA8-A6F1ED88539A}"/>
          </ac:spMkLst>
        </pc:spChg>
        <pc:spChg chg="del mod">
          <ac:chgData name="Kumar, Harendra (Cognizant)" userId="8b8433c2-3ce6-4e38-9e1b-c8afb18e9057" providerId="ADAL" clId="{9C4CD99B-EF1B-4C81-94B0-0A1924216EBF}" dt="2023-04-03T06:54:57.808" v="2385" actId="478"/>
          <ac:spMkLst>
            <pc:docMk/>
            <pc:sldMk cId="0" sldId="260"/>
            <ac:spMk id="5" creationId="{00000000-0000-0000-0000-000000000000}"/>
          </ac:spMkLst>
        </pc:spChg>
        <pc:spChg chg="add mod">
          <ac:chgData name="Kumar, Harendra (Cognizant)" userId="8b8433c2-3ce6-4e38-9e1b-c8afb18e9057" providerId="ADAL" clId="{9C4CD99B-EF1B-4C81-94B0-0A1924216EBF}" dt="2023-04-03T09:53:42.213" v="7275" actId="2711"/>
          <ac:spMkLst>
            <pc:docMk/>
            <pc:sldMk cId="0" sldId="260"/>
            <ac:spMk id="6" creationId="{6F1A71D4-B0E2-03B4-6EE7-DB07A3C27BD4}"/>
          </ac:spMkLst>
        </pc:spChg>
        <pc:spChg chg="del mod">
          <ac:chgData name="Kumar, Harendra (Cognizant)" userId="8b8433c2-3ce6-4e38-9e1b-c8afb18e9057" providerId="ADAL" clId="{9C4CD99B-EF1B-4C81-94B0-0A1924216EBF}" dt="2023-04-03T06:54:53.249" v="2381" actId="478"/>
          <ac:spMkLst>
            <pc:docMk/>
            <pc:sldMk cId="0" sldId="260"/>
            <ac:spMk id="7"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0" sldId="269"/>
        </pc:sldMkLst>
        <pc:spChg chg="mod">
          <ac:chgData name="Kumar, Harendra (Cognizant)" userId="8b8433c2-3ce6-4e38-9e1b-c8afb18e9057" providerId="ADAL" clId="{9C4CD99B-EF1B-4C81-94B0-0A1924216EBF}" dt="2023-04-03T05:56:19.037" v="24"/>
          <ac:spMkLst>
            <pc:docMk/>
            <pc:sldMk cId="0" sldId="269"/>
            <ac:spMk id="14" creationId="{00000000-0000-0000-0000-000000000000}"/>
          </ac:spMkLst>
        </pc:spChg>
        <pc:spChg chg="mod">
          <ac:chgData name="Kumar, Harendra (Cognizant)" userId="8b8433c2-3ce6-4e38-9e1b-c8afb18e9057" providerId="ADAL" clId="{9C4CD99B-EF1B-4C81-94B0-0A1924216EBF}" dt="2023-04-03T05:56:19.037" v="24"/>
          <ac:spMkLst>
            <pc:docMk/>
            <pc:sldMk cId="0" sldId="269"/>
            <ac:spMk id="15" creationId="{00000000-0000-0000-0000-000000000000}"/>
          </ac:spMkLst>
        </pc:spChg>
        <pc:spChg chg="mod">
          <ac:chgData name="Kumar, Harendra (Cognizant)" userId="8b8433c2-3ce6-4e38-9e1b-c8afb18e9057" providerId="ADAL" clId="{9C4CD99B-EF1B-4C81-94B0-0A1924216EBF}" dt="2023-04-03T05:56:19.037" v="24"/>
          <ac:spMkLst>
            <pc:docMk/>
            <pc:sldMk cId="0" sldId="269"/>
            <ac:spMk id="16" creationId="{00000000-0000-0000-0000-000000000000}"/>
          </ac:spMkLst>
        </pc:spChg>
      </pc:sldChg>
      <pc:sldChg chg="del">
        <pc:chgData name="Kumar, Harendra (Cognizant)" userId="8b8433c2-3ce6-4e38-9e1b-c8afb18e9057" providerId="ADAL" clId="{9C4CD99B-EF1B-4C81-94B0-0A1924216EBF}" dt="2023-04-03T07:22:56.532" v="3883" actId="47"/>
        <pc:sldMkLst>
          <pc:docMk/>
          <pc:sldMk cId="0" sldId="270"/>
        </pc:sldMkLst>
      </pc:sldChg>
      <pc:sldChg chg="del">
        <pc:chgData name="Kumar, Harendra (Cognizant)" userId="8b8433c2-3ce6-4e38-9e1b-c8afb18e9057" providerId="ADAL" clId="{9C4CD99B-EF1B-4C81-94B0-0A1924216EBF}" dt="2023-04-03T07:22:56.532" v="3883" actId="47"/>
        <pc:sldMkLst>
          <pc:docMk/>
          <pc:sldMk cId="0" sldId="275"/>
        </pc:sldMkLst>
      </pc:sldChg>
      <pc:sldChg chg="del">
        <pc:chgData name="Kumar, Harendra (Cognizant)" userId="8b8433c2-3ce6-4e38-9e1b-c8afb18e9057" providerId="ADAL" clId="{9C4CD99B-EF1B-4C81-94B0-0A1924216EBF}" dt="2023-04-03T07:22:56.532" v="3883" actId="47"/>
        <pc:sldMkLst>
          <pc:docMk/>
          <pc:sldMk cId="3766500295" sldId="276"/>
        </pc:sldMkLst>
      </pc:sldChg>
      <pc:sldChg chg="del">
        <pc:chgData name="Kumar, Harendra (Cognizant)" userId="8b8433c2-3ce6-4e38-9e1b-c8afb18e9057" providerId="ADAL" clId="{9C4CD99B-EF1B-4C81-94B0-0A1924216EBF}" dt="2023-04-03T07:22:56.532" v="3883" actId="47"/>
        <pc:sldMkLst>
          <pc:docMk/>
          <pc:sldMk cId="3958584192" sldId="277"/>
        </pc:sldMkLst>
      </pc:sldChg>
      <pc:sldChg chg="modSp del">
        <pc:chgData name="Kumar, Harendra (Cognizant)" userId="8b8433c2-3ce6-4e38-9e1b-c8afb18e9057" providerId="ADAL" clId="{9C4CD99B-EF1B-4C81-94B0-0A1924216EBF}" dt="2023-04-03T07:22:56.532" v="3883" actId="47"/>
        <pc:sldMkLst>
          <pc:docMk/>
          <pc:sldMk cId="3888009725" sldId="278"/>
        </pc:sldMkLst>
        <pc:spChg chg="mod">
          <ac:chgData name="Kumar, Harendra (Cognizant)" userId="8b8433c2-3ce6-4e38-9e1b-c8afb18e9057" providerId="ADAL" clId="{9C4CD99B-EF1B-4C81-94B0-0A1924216EBF}" dt="2023-04-03T05:56:19.037" v="24"/>
          <ac:spMkLst>
            <pc:docMk/>
            <pc:sldMk cId="3888009725" sldId="278"/>
            <ac:spMk id="25"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1415307865" sldId="279"/>
        </pc:sldMkLst>
        <pc:spChg chg="mod">
          <ac:chgData name="Kumar, Harendra (Cognizant)" userId="8b8433c2-3ce6-4e38-9e1b-c8afb18e9057" providerId="ADAL" clId="{9C4CD99B-EF1B-4C81-94B0-0A1924216EBF}" dt="2023-04-03T05:56:19.037" v="24"/>
          <ac:spMkLst>
            <pc:docMk/>
            <pc:sldMk cId="1415307865" sldId="279"/>
            <ac:spMk id="13"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299004302" sldId="280"/>
        </pc:sldMkLst>
        <pc:spChg chg="mod">
          <ac:chgData name="Kumar, Harendra (Cognizant)" userId="8b8433c2-3ce6-4e38-9e1b-c8afb18e9057" providerId="ADAL" clId="{9C4CD99B-EF1B-4C81-94B0-0A1924216EBF}" dt="2023-04-03T05:56:19.037" v="24"/>
          <ac:spMkLst>
            <pc:docMk/>
            <pc:sldMk cId="299004302" sldId="280"/>
            <ac:spMk id="21" creationId="{00000000-0000-0000-0000-000000000000}"/>
          </ac:spMkLst>
        </pc:spChg>
      </pc:sldChg>
      <pc:sldChg chg="del">
        <pc:chgData name="Kumar, Harendra (Cognizant)" userId="8b8433c2-3ce6-4e38-9e1b-c8afb18e9057" providerId="ADAL" clId="{9C4CD99B-EF1B-4C81-94B0-0A1924216EBF}" dt="2023-04-03T07:22:56.532" v="3883" actId="47"/>
        <pc:sldMkLst>
          <pc:docMk/>
          <pc:sldMk cId="3040225914" sldId="281"/>
        </pc:sldMkLst>
      </pc:sldChg>
      <pc:sldChg chg="del">
        <pc:chgData name="Kumar, Harendra (Cognizant)" userId="8b8433c2-3ce6-4e38-9e1b-c8afb18e9057" providerId="ADAL" clId="{9C4CD99B-EF1B-4C81-94B0-0A1924216EBF}" dt="2023-04-03T07:22:56.532" v="3883" actId="47"/>
        <pc:sldMkLst>
          <pc:docMk/>
          <pc:sldMk cId="2805173323" sldId="282"/>
        </pc:sldMkLst>
      </pc:sldChg>
      <pc:sldChg chg="del">
        <pc:chgData name="Kumar, Harendra (Cognizant)" userId="8b8433c2-3ce6-4e38-9e1b-c8afb18e9057" providerId="ADAL" clId="{9C4CD99B-EF1B-4C81-94B0-0A1924216EBF}" dt="2023-04-03T07:22:56.532" v="3883" actId="47"/>
        <pc:sldMkLst>
          <pc:docMk/>
          <pc:sldMk cId="2680098498" sldId="283"/>
        </pc:sldMkLst>
      </pc:sldChg>
      <pc:sldChg chg="addSp delSp modSp mod">
        <pc:chgData name="Kumar, Harendra (Cognizant)" userId="8b8433c2-3ce6-4e38-9e1b-c8afb18e9057" providerId="ADAL" clId="{9C4CD99B-EF1B-4C81-94B0-0A1924216EBF}" dt="2023-04-03T07:24:11.475" v="3885" actId="207"/>
        <pc:sldMkLst>
          <pc:docMk/>
          <pc:sldMk cId="4047161330" sldId="286"/>
        </pc:sldMkLst>
        <pc:spChg chg="add del mod">
          <ac:chgData name="Kumar, Harendra (Cognizant)" userId="8b8433c2-3ce6-4e38-9e1b-c8afb18e9057" providerId="ADAL" clId="{9C4CD99B-EF1B-4C81-94B0-0A1924216EBF}" dt="2023-04-03T06:34:01.733" v="1679" actId="767"/>
          <ac:spMkLst>
            <pc:docMk/>
            <pc:sldMk cId="4047161330" sldId="286"/>
            <ac:spMk id="4" creationId="{A412336A-1D81-041F-9B56-742FB28DC2EE}"/>
          </ac:spMkLst>
        </pc:spChg>
        <pc:spChg chg="mod">
          <ac:chgData name="Kumar, Harendra (Cognizant)" userId="8b8433c2-3ce6-4e38-9e1b-c8afb18e9057" providerId="ADAL" clId="{9C4CD99B-EF1B-4C81-94B0-0A1924216EBF}" dt="2023-04-03T06:36:10.730" v="1694" actId="21"/>
          <ac:spMkLst>
            <pc:docMk/>
            <pc:sldMk cId="4047161330" sldId="286"/>
            <ac:spMk id="10" creationId="{00000000-0000-0000-0000-000000000000}"/>
          </ac:spMkLst>
        </pc:spChg>
        <pc:spChg chg="del">
          <ac:chgData name="Kumar, Harendra (Cognizant)" userId="8b8433c2-3ce6-4e38-9e1b-c8afb18e9057" providerId="ADAL" clId="{9C4CD99B-EF1B-4C81-94B0-0A1924216EBF}" dt="2023-04-03T05:55:53.265" v="22" actId="478"/>
          <ac:spMkLst>
            <pc:docMk/>
            <pc:sldMk cId="4047161330" sldId="286"/>
            <ac:spMk id="15" creationId="{00000000-0000-0000-0000-000000000000}"/>
          </ac:spMkLst>
        </pc:spChg>
        <pc:spChg chg="del">
          <ac:chgData name="Kumar, Harendra (Cognizant)" userId="8b8433c2-3ce6-4e38-9e1b-c8afb18e9057" providerId="ADAL" clId="{9C4CD99B-EF1B-4C81-94B0-0A1924216EBF}" dt="2023-04-03T05:55:56.104" v="23" actId="478"/>
          <ac:spMkLst>
            <pc:docMk/>
            <pc:sldMk cId="4047161330" sldId="286"/>
            <ac:spMk id="16" creationId="{00000000-0000-0000-0000-000000000000}"/>
          </ac:spMkLst>
        </pc:spChg>
        <pc:spChg chg="mod">
          <ac:chgData name="Kumar, Harendra (Cognizant)" userId="8b8433c2-3ce6-4e38-9e1b-c8afb18e9057" providerId="ADAL" clId="{9C4CD99B-EF1B-4C81-94B0-0A1924216EBF}" dt="2023-04-03T07:24:11.475" v="3885" actId="207"/>
          <ac:spMkLst>
            <pc:docMk/>
            <pc:sldMk cId="4047161330" sldId="286"/>
            <ac:spMk id="17" creationId="{00000000-0000-0000-0000-000000000000}"/>
          </ac:spMkLst>
        </pc:spChg>
        <pc:spChg chg="add mod">
          <ac:chgData name="Kumar, Harendra (Cognizant)" userId="8b8433c2-3ce6-4e38-9e1b-c8afb18e9057" providerId="ADAL" clId="{9C4CD99B-EF1B-4C81-94B0-0A1924216EBF}" dt="2023-04-03T06:37:59.503" v="1718" actId="14100"/>
          <ac:spMkLst>
            <pc:docMk/>
            <pc:sldMk cId="4047161330" sldId="286"/>
            <ac:spMk id="22" creationId="{2C359A52-6812-58BA-7F74-5756C76E8AAB}"/>
          </ac:spMkLst>
        </pc:spChg>
        <pc:grpChg chg="del">
          <ac:chgData name="Kumar, Harendra (Cognizant)" userId="8b8433c2-3ce6-4e38-9e1b-c8afb18e9057" providerId="ADAL" clId="{9C4CD99B-EF1B-4C81-94B0-0A1924216EBF}" dt="2023-04-03T05:55:50.662" v="21" actId="478"/>
          <ac:grpSpMkLst>
            <pc:docMk/>
            <pc:sldMk cId="4047161330" sldId="286"/>
            <ac:grpSpMk id="3" creationId="{00000000-0000-0000-0000-000000000000}"/>
          </ac:grpSpMkLst>
        </pc:grpChg>
        <pc:grpChg chg="del">
          <ac:chgData name="Kumar, Harendra (Cognizant)" userId="8b8433c2-3ce6-4e38-9e1b-c8afb18e9057" providerId="ADAL" clId="{9C4CD99B-EF1B-4C81-94B0-0A1924216EBF}" dt="2023-04-03T05:55:42.479" v="19" actId="478"/>
          <ac:grpSpMkLst>
            <pc:docMk/>
            <pc:sldMk cId="4047161330" sldId="286"/>
            <ac:grpSpMk id="6" creationId="{00000000-0000-0000-0000-000000000000}"/>
          </ac:grpSpMkLst>
        </pc:grpChg>
        <pc:grpChg chg="del">
          <ac:chgData name="Kumar, Harendra (Cognizant)" userId="8b8433c2-3ce6-4e38-9e1b-c8afb18e9057" providerId="ADAL" clId="{9C4CD99B-EF1B-4C81-94B0-0A1924216EBF}" dt="2023-04-03T05:55:48.650" v="20" actId="478"/>
          <ac:grpSpMkLst>
            <pc:docMk/>
            <pc:sldMk cId="4047161330" sldId="286"/>
            <ac:grpSpMk id="19" creationId="{00000000-0000-0000-0000-000000000000}"/>
          </ac:grpSpMkLst>
        </pc:grpChg>
        <pc:picChg chg="add del mod">
          <ac:chgData name="Kumar, Harendra (Cognizant)" userId="8b8433c2-3ce6-4e38-9e1b-c8afb18e9057" providerId="ADAL" clId="{9C4CD99B-EF1B-4C81-94B0-0A1924216EBF}" dt="2023-04-03T06:34:00.625" v="1677" actId="22"/>
          <ac:picMkLst>
            <pc:docMk/>
            <pc:sldMk cId="4047161330" sldId="286"/>
            <ac:picMk id="7" creationId="{4BDB3BD7-FCAC-998F-2189-4D4512E8B244}"/>
          </ac:picMkLst>
        </pc:picChg>
        <pc:picChg chg="add mod">
          <ac:chgData name="Kumar, Harendra (Cognizant)" userId="8b8433c2-3ce6-4e38-9e1b-c8afb18e9057" providerId="ADAL" clId="{9C4CD99B-EF1B-4C81-94B0-0A1924216EBF}" dt="2023-04-03T06:37:37.142" v="1715" actId="14100"/>
          <ac:picMkLst>
            <pc:docMk/>
            <pc:sldMk cId="4047161330" sldId="286"/>
            <ac:picMk id="9" creationId="{2720219B-D876-535C-5076-9CD15E0C9272}"/>
          </ac:picMkLst>
        </pc:picChg>
      </pc:sldChg>
      <pc:sldChg chg="modSp del">
        <pc:chgData name="Kumar, Harendra (Cognizant)" userId="8b8433c2-3ce6-4e38-9e1b-c8afb18e9057" providerId="ADAL" clId="{9C4CD99B-EF1B-4C81-94B0-0A1924216EBF}" dt="2023-04-03T07:22:56.532" v="3883" actId="47"/>
        <pc:sldMkLst>
          <pc:docMk/>
          <pc:sldMk cId="1522341275" sldId="287"/>
        </pc:sldMkLst>
        <pc:spChg chg="mod">
          <ac:chgData name="Kumar, Harendra (Cognizant)" userId="8b8433c2-3ce6-4e38-9e1b-c8afb18e9057" providerId="ADAL" clId="{9C4CD99B-EF1B-4C81-94B0-0A1924216EBF}" dt="2023-04-03T05:56:19.037" v="24"/>
          <ac:spMkLst>
            <pc:docMk/>
            <pc:sldMk cId="1522341275" sldId="287"/>
            <ac:spMk id="19" creationId="{00000000-0000-0000-0000-000000000000}"/>
          </ac:spMkLst>
        </pc:spChg>
      </pc:sldChg>
      <pc:sldChg chg="addSp delSp modSp add mod">
        <pc:chgData name="Kumar, Harendra (Cognizant)" userId="8b8433c2-3ce6-4e38-9e1b-c8afb18e9057" providerId="ADAL" clId="{9C4CD99B-EF1B-4C81-94B0-0A1924216EBF}" dt="2023-04-03T10:03:39.898" v="7844" actId="14100"/>
        <pc:sldMkLst>
          <pc:docMk/>
          <pc:sldMk cId="1704172639" sldId="287"/>
        </pc:sldMkLst>
        <pc:spChg chg="add del mod">
          <ac:chgData name="Kumar, Harendra (Cognizant)" userId="8b8433c2-3ce6-4e38-9e1b-c8afb18e9057" providerId="ADAL" clId="{9C4CD99B-EF1B-4C81-94B0-0A1924216EBF}" dt="2023-04-03T07:59:02.079" v="4283"/>
          <ac:spMkLst>
            <pc:docMk/>
            <pc:sldMk cId="1704172639" sldId="287"/>
            <ac:spMk id="8" creationId="{BC64A90C-8B92-0B87-54E9-00E89581B42F}"/>
          </ac:spMkLst>
        </pc:spChg>
        <pc:spChg chg="mod">
          <ac:chgData name="Kumar, Harendra (Cognizant)" userId="8b8433c2-3ce6-4e38-9e1b-c8afb18e9057" providerId="ADAL" clId="{9C4CD99B-EF1B-4C81-94B0-0A1924216EBF}" dt="2023-04-03T10:03:21.279" v="7838" actId="1036"/>
          <ac:spMkLst>
            <pc:docMk/>
            <pc:sldMk cId="1704172639" sldId="287"/>
            <ac:spMk id="10" creationId="{00000000-0000-0000-0000-000000000000}"/>
          </ac:spMkLst>
        </pc:spChg>
        <pc:spChg chg="add mod">
          <ac:chgData name="Kumar, Harendra (Cognizant)" userId="8b8433c2-3ce6-4e38-9e1b-c8afb18e9057" providerId="ADAL" clId="{9C4CD99B-EF1B-4C81-94B0-0A1924216EBF}" dt="2023-04-03T10:02:09.227" v="7721" actId="1037"/>
          <ac:spMkLst>
            <pc:docMk/>
            <pc:sldMk cId="1704172639" sldId="287"/>
            <ac:spMk id="13" creationId="{EFA37FE9-227B-4C1C-6280-8E2D16CFFD48}"/>
          </ac:spMkLst>
        </pc:spChg>
        <pc:spChg chg="mod">
          <ac:chgData name="Kumar, Harendra (Cognizant)" userId="8b8433c2-3ce6-4e38-9e1b-c8afb18e9057" providerId="ADAL" clId="{9C4CD99B-EF1B-4C81-94B0-0A1924216EBF}" dt="2023-04-03T10:03:16.187" v="7837" actId="20577"/>
          <ac:spMkLst>
            <pc:docMk/>
            <pc:sldMk cId="1704172639" sldId="287"/>
            <ac:spMk id="17" creationId="{00000000-0000-0000-0000-000000000000}"/>
          </ac:spMkLst>
        </pc:spChg>
        <pc:spChg chg="del mod">
          <ac:chgData name="Kumar, Harendra (Cognizant)" userId="8b8433c2-3ce6-4e38-9e1b-c8afb18e9057" providerId="ADAL" clId="{9C4CD99B-EF1B-4C81-94B0-0A1924216EBF}" dt="2023-04-03T08:06:30.934" v="4562" actId="21"/>
          <ac:spMkLst>
            <pc:docMk/>
            <pc:sldMk cId="1704172639" sldId="287"/>
            <ac:spMk id="22" creationId="{2C359A52-6812-58BA-7F74-5756C76E8AAB}"/>
          </ac:spMkLst>
        </pc:spChg>
        <pc:picChg chg="add del mod">
          <ac:chgData name="Kumar, Harendra (Cognizant)" userId="8b8433c2-3ce6-4e38-9e1b-c8afb18e9057" providerId="ADAL" clId="{9C4CD99B-EF1B-4C81-94B0-0A1924216EBF}" dt="2023-04-03T07:54:48.109" v="4143" actId="22"/>
          <ac:picMkLst>
            <pc:docMk/>
            <pc:sldMk cId="1704172639" sldId="287"/>
            <ac:picMk id="3" creationId="{EBCD9881-B8EB-CAEF-6BE8-457225B40691}"/>
          </ac:picMkLst>
        </pc:picChg>
        <pc:picChg chg="add del mod">
          <ac:chgData name="Kumar, Harendra (Cognizant)" userId="8b8433c2-3ce6-4e38-9e1b-c8afb18e9057" providerId="ADAL" clId="{9C4CD99B-EF1B-4C81-94B0-0A1924216EBF}" dt="2023-04-03T07:55:50.120" v="4152" actId="931"/>
          <ac:picMkLst>
            <pc:docMk/>
            <pc:sldMk cId="1704172639" sldId="287"/>
            <ac:picMk id="5" creationId="{6B79AB95-8E3E-0E8C-72AD-E23E6AF67DC1}"/>
          </ac:picMkLst>
        </pc:picChg>
        <pc:picChg chg="add del mod">
          <ac:chgData name="Kumar, Harendra (Cognizant)" userId="8b8433c2-3ce6-4e38-9e1b-c8afb18e9057" providerId="ADAL" clId="{9C4CD99B-EF1B-4C81-94B0-0A1924216EBF}" dt="2023-04-03T10:01:55.565" v="7715" actId="21"/>
          <ac:picMkLst>
            <pc:docMk/>
            <pc:sldMk cId="1704172639" sldId="287"/>
            <ac:picMk id="7" creationId="{C7905C8B-45C2-7E9F-D08D-AE1B48727475}"/>
          </ac:picMkLst>
        </pc:picChg>
        <pc:picChg chg="del">
          <ac:chgData name="Kumar, Harendra (Cognizant)" userId="8b8433c2-3ce6-4e38-9e1b-c8afb18e9057" providerId="ADAL" clId="{9C4CD99B-EF1B-4C81-94B0-0A1924216EBF}" dt="2023-04-03T07:24:32.173" v="3894" actId="478"/>
          <ac:picMkLst>
            <pc:docMk/>
            <pc:sldMk cId="1704172639" sldId="287"/>
            <ac:picMk id="9" creationId="{2720219B-D876-535C-5076-9CD15E0C9272}"/>
          </ac:picMkLst>
        </pc:picChg>
        <pc:picChg chg="add mod">
          <ac:chgData name="Kumar, Harendra (Cognizant)" userId="8b8433c2-3ce6-4e38-9e1b-c8afb18e9057" providerId="ADAL" clId="{9C4CD99B-EF1B-4C81-94B0-0A1924216EBF}" dt="2023-04-03T10:03:33.200" v="7842" actId="14100"/>
          <ac:picMkLst>
            <pc:docMk/>
            <pc:sldMk cId="1704172639" sldId="287"/>
            <ac:picMk id="12" creationId="{723F3FE9-59C9-408D-1BEB-95D6FEE240A3}"/>
          </ac:picMkLst>
        </pc:picChg>
        <pc:picChg chg="add del mod">
          <ac:chgData name="Kumar, Harendra (Cognizant)" userId="8b8433c2-3ce6-4e38-9e1b-c8afb18e9057" providerId="ADAL" clId="{9C4CD99B-EF1B-4C81-94B0-0A1924216EBF}" dt="2023-04-03T08:06:05.880" v="4551" actId="478"/>
          <ac:picMkLst>
            <pc:docMk/>
            <pc:sldMk cId="1704172639" sldId="287"/>
            <ac:picMk id="15" creationId="{A32BDC4F-6687-E003-29CD-AFCA0D507C7B}"/>
          </ac:picMkLst>
        </pc:picChg>
        <pc:picChg chg="add mod">
          <ac:chgData name="Kumar, Harendra (Cognizant)" userId="8b8433c2-3ce6-4e38-9e1b-c8afb18e9057" providerId="ADAL" clId="{9C4CD99B-EF1B-4C81-94B0-0A1924216EBF}" dt="2023-04-03T10:03:39.898" v="7844" actId="14100"/>
          <ac:picMkLst>
            <pc:docMk/>
            <pc:sldMk cId="1704172639" sldId="287"/>
            <ac:picMk id="18" creationId="{531221BF-6E63-CAAE-6926-9A7265ED5230}"/>
          </ac:picMkLst>
        </pc:picChg>
      </pc:sldChg>
      <pc:sldChg chg="del">
        <pc:chgData name="Kumar, Harendra (Cognizant)" userId="8b8433c2-3ce6-4e38-9e1b-c8afb18e9057" providerId="ADAL" clId="{9C4CD99B-EF1B-4C81-94B0-0A1924216EBF}" dt="2023-04-03T07:22:56.532" v="3883" actId="47"/>
        <pc:sldMkLst>
          <pc:docMk/>
          <pc:sldMk cId="428928714" sldId="288"/>
        </pc:sldMkLst>
      </pc:sldChg>
      <pc:sldChg chg="addSp delSp modSp add mod">
        <pc:chgData name="Kumar, Harendra (Cognizant)" userId="8b8433c2-3ce6-4e38-9e1b-c8afb18e9057" providerId="ADAL" clId="{9C4CD99B-EF1B-4C81-94B0-0A1924216EBF}" dt="2023-04-03T09:52:21.679" v="7259" actId="2"/>
        <pc:sldMkLst>
          <pc:docMk/>
          <pc:sldMk cId="4018458971" sldId="288"/>
        </pc:sldMkLst>
        <pc:spChg chg="add del">
          <ac:chgData name="Kumar, Harendra (Cognizant)" userId="8b8433c2-3ce6-4e38-9e1b-c8afb18e9057" providerId="ADAL" clId="{9C4CD99B-EF1B-4C81-94B0-0A1924216EBF}" dt="2023-04-03T09:50:10.296" v="7255" actId="478"/>
          <ac:spMkLst>
            <pc:docMk/>
            <pc:sldMk cId="4018458971" sldId="288"/>
            <ac:spMk id="6" creationId="{36C18FB9-59E7-96B5-9936-83F3B55F38E2}"/>
          </ac:spMkLst>
        </pc:spChg>
        <pc:spChg chg="mod">
          <ac:chgData name="Kumar, Harendra (Cognizant)" userId="8b8433c2-3ce6-4e38-9e1b-c8afb18e9057" providerId="ADAL" clId="{9C4CD99B-EF1B-4C81-94B0-0A1924216EBF}" dt="2023-04-03T09:52:21.679" v="7259" actId="2"/>
          <ac:spMkLst>
            <pc:docMk/>
            <pc:sldMk cId="4018458971" sldId="288"/>
            <ac:spMk id="10" creationId="{00000000-0000-0000-0000-000000000000}"/>
          </ac:spMkLst>
        </pc:spChg>
        <pc:spChg chg="del mod">
          <ac:chgData name="Kumar, Harendra (Cognizant)" userId="8b8433c2-3ce6-4e38-9e1b-c8afb18e9057" providerId="ADAL" clId="{9C4CD99B-EF1B-4C81-94B0-0A1924216EBF}" dt="2023-04-03T08:08:21.550" v="4666" actId="21"/>
          <ac:spMkLst>
            <pc:docMk/>
            <pc:sldMk cId="4018458971" sldId="288"/>
            <ac:spMk id="13" creationId="{EFA37FE9-227B-4C1C-6280-8E2D16CFFD48}"/>
          </ac:spMkLst>
        </pc:spChg>
        <pc:spChg chg="mod">
          <ac:chgData name="Kumar, Harendra (Cognizant)" userId="8b8433c2-3ce6-4e38-9e1b-c8afb18e9057" providerId="ADAL" clId="{9C4CD99B-EF1B-4C81-94B0-0A1924216EBF}" dt="2023-04-03T08:08:01.030" v="4646" actId="5793"/>
          <ac:spMkLst>
            <pc:docMk/>
            <pc:sldMk cId="4018458971" sldId="288"/>
            <ac:spMk id="17" creationId="{00000000-0000-0000-0000-000000000000}"/>
          </ac:spMkLst>
        </pc:spChg>
        <pc:picChg chg="add del mod">
          <ac:chgData name="Kumar, Harendra (Cognizant)" userId="8b8433c2-3ce6-4e38-9e1b-c8afb18e9057" providerId="ADAL" clId="{9C4CD99B-EF1B-4C81-94B0-0A1924216EBF}" dt="2023-04-03T08:37:12.883" v="5853" actId="478"/>
          <ac:picMkLst>
            <pc:docMk/>
            <pc:sldMk cId="4018458971" sldId="288"/>
            <ac:picMk id="3" creationId="{88F30A0D-D46C-FEFC-19F4-CD063CF77750}"/>
          </ac:picMkLst>
        </pc:picChg>
        <pc:picChg chg="add mod">
          <ac:chgData name="Kumar, Harendra (Cognizant)" userId="8b8433c2-3ce6-4e38-9e1b-c8afb18e9057" providerId="ADAL" clId="{9C4CD99B-EF1B-4C81-94B0-0A1924216EBF}" dt="2023-04-03T08:37:32.858" v="5863" actId="14100"/>
          <ac:picMkLst>
            <pc:docMk/>
            <pc:sldMk cId="4018458971" sldId="288"/>
            <ac:picMk id="5" creationId="{746E00E2-3F5D-7BF9-8FED-6FAD3C400887}"/>
          </ac:picMkLst>
        </pc:picChg>
        <pc:picChg chg="del">
          <ac:chgData name="Kumar, Harendra (Cognizant)" userId="8b8433c2-3ce6-4e38-9e1b-c8afb18e9057" providerId="ADAL" clId="{9C4CD99B-EF1B-4C81-94B0-0A1924216EBF}" dt="2023-04-03T08:08:14.235" v="4662" actId="478"/>
          <ac:picMkLst>
            <pc:docMk/>
            <pc:sldMk cId="4018458971" sldId="288"/>
            <ac:picMk id="7" creationId="{C7905C8B-45C2-7E9F-D08D-AE1B48727475}"/>
          </ac:picMkLst>
        </pc:picChg>
        <pc:picChg chg="del mod">
          <ac:chgData name="Kumar, Harendra (Cognizant)" userId="8b8433c2-3ce6-4e38-9e1b-c8afb18e9057" providerId="ADAL" clId="{9C4CD99B-EF1B-4C81-94B0-0A1924216EBF}" dt="2023-04-03T08:08:15.915" v="4664" actId="478"/>
          <ac:picMkLst>
            <pc:docMk/>
            <pc:sldMk cId="4018458971" sldId="288"/>
            <ac:picMk id="12" creationId="{723F3FE9-59C9-408D-1BEB-95D6FEE240A3}"/>
          </ac:picMkLst>
        </pc:picChg>
        <pc:picChg chg="del">
          <ac:chgData name="Kumar, Harendra (Cognizant)" userId="8b8433c2-3ce6-4e38-9e1b-c8afb18e9057" providerId="ADAL" clId="{9C4CD99B-EF1B-4C81-94B0-0A1924216EBF}" dt="2023-04-03T08:08:11.781" v="4661" actId="478"/>
          <ac:picMkLst>
            <pc:docMk/>
            <pc:sldMk cId="4018458971" sldId="288"/>
            <ac:picMk id="18" creationId="{531221BF-6E63-CAAE-6926-9A7265ED5230}"/>
          </ac:picMkLst>
        </pc:picChg>
      </pc:sldChg>
      <pc:sldChg chg="modSp del">
        <pc:chgData name="Kumar, Harendra (Cognizant)" userId="8b8433c2-3ce6-4e38-9e1b-c8afb18e9057" providerId="ADAL" clId="{9C4CD99B-EF1B-4C81-94B0-0A1924216EBF}" dt="2023-04-03T07:22:56.532" v="3883" actId="47"/>
        <pc:sldMkLst>
          <pc:docMk/>
          <pc:sldMk cId="452766161" sldId="289"/>
        </pc:sldMkLst>
        <pc:spChg chg="mod">
          <ac:chgData name="Kumar, Harendra (Cognizant)" userId="8b8433c2-3ce6-4e38-9e1b-c8afb18e9057" providerId="ADAL" clId="{9C4CD99B-EF1B-4C81-94B0-0A1924216EBF}" dt="2023-04-03T05:56:19.037" v="24"/>
          <ac:spMkLst>
            <pc:docMk/>
            <pc:sldMk cId="452766161" sldId="289"/>
            <ac:spMk id="52" creationId="{00000000-0000-0000-0000-000000000000}"/>
          </ac:spMkLst>
        </pc:spChg>
      </pc:sldChg>
      <pc:sldChg chg="addSp delSp modSp add mod">
        <pc:chgData name="Kumar, Harendra (Cognizant)" userId="8b8433c2-3ce6-4e38-9e1b-c8afb18e9057" providerId="ADAL" clId="{9C4CD99B-EF1B-4C81-94B0-0A1924216EBF}" dt="2023-04-03T09:52:27.788" v="7260" actId="313"/>
        <pc:sldMkLst>
          <pc:docMk/>
          <pc:sldMk cId="2064697556" sldId="289"/>
        </pc:sldMkLst>
        <pc:spChg chg="mod">
          <ac:chgData name="Kumar, Harendra (Cognizant)" userId="8b8433c2-3ce6-4e38-9e1b-c8afb18e9057" providerId="ADAL" clId="{9C4CD99B-EF1B-4C81-94B0-0A1924216EBF}" dt="2023-04-03T09:52:27.788" v="7260" actId="313"/>
          <ac:spMkLst>
            <pc:docMk/>
            <pc:sldMk cId="2064697556" sldId="289"/>
            <ac:spMk id="10" creationId="{00000000-0000-0000-0000-000000000000}"/>
          </ac:spMkLst>
        </pc:spChg>
        <pc:spChg chg="mod">
          <ac:chgData name="Kumar, Harendra (Cognizant)" userId="8b8433c2-3ce6-4e38-9e1b-c8afb18e9057" providerId="ADAL" clId="{9C4CD99B-EF1B-4C81-94B0-0A1924216EBF}" dt="2023-04-03T08:37:52.602" v="5906" actId="6549"/>
          <ac:spMkLst>
            <pc:docMk/>
            <pc:sldMk cId="2064697556" sldId="289"/>
            <ac:spMk id="17" creationId="{00000000-0000-0000-0000-000000000000}"/>
          </ac:spMkLst>
        </pc:spChg>
        <pc:picChg chg="mod">
          <ac:chgData name="Kumar, Harendra (Cognizant)" userId="8b8433c2-3ce6-4e38-9e1b-c8afb18e9057" providerId="ADAL" clId="{9C4CD99B-EF1B-4C81-94B0-0A1924216EBF}" dt="2023-04-03T08:41:47.745" v="6103" actId="14100"/>
          <ac:picMkLst>
            <pc:docMk/>
            <pc:sldMk cId="2064697556" sldId="289"/>
            <ac:picMk id="3" creationId="{88F30A0D-D46C-FEFC-19F4-CD063CF77750}"/>
          </ac:picMkLst>
        </pc:picChg>
        <pc:picChg chg="add mod">
          <ac:chgData name="Kumar, Harendra (Cognizant)" userId="8b8433c2-3ce6-4e38-9e1b-c8afb18e9057" providerId="ADAL" clId="{9C4CD99B-EF1B-4C81-94B0-0A1924216EBF}" dt="2023-04-03T08:41:54.805" v="6105" actId="14100"/>
          <ac:picMkLst>
            <pc:docMk/>
            <pc:sldMk cId="2064697556" sldId="289"/>
            <ac:picMk id="4" creationId="{40E263CA-FFBD-B3F3-AE30-7D8EFF0A12D8}"/>
          </ac:picMkLst>
        </pc:picChg>
        <pc:picChg chg="del">
          <ac:chgData name="Kumar, Harendra (Cognizant)" userId="8b8433c2-3ce6-4e38-9e1b-c8afb18e9057" providerId="ADAL" clId="{9C4CD99B-EF1B-4C81-94B0-0A1924216EBF}" dt="2023-04-03T08:40:28.735" v="6096" actId="478"/>
          <ac:picMkLst>
            <pc:docMk/>
            <pc:sldMk cId="2064697556" sldId="289"/>
            <ac:picMk id="5" creationId="{746E00E2-3F5D-7BF9-8FED-6FAD3C400887}"/>
          </ac:picMkLst>
        </pc:picChg>
      </pc:sldChg>
      <pc:sldChg chg="modSp del">
        <pc:chgData name="Kumar, Harendra (Cognizant)" userId="8b8433c2-3ce6-4e38-9e1b-c8afb18e9057" providerId="ADAL" clId="{9C4CD99B-EF1B-4C81-94B0-0A1924216EBF}" dt="2023-04-03T07:22:56.532" v="3883" actId="47"/>
        <pc:sldMkLst>
          <pc:docMk/>
          <pc:sldMk cId="3369816941" sldId="290"/>
        </pc:sldMkLst>
        <pc:spChg chg="mod">
          <ac:chgData name="Kumar, Harendra (Cognizant)" userId="8b8433c2-3ce6-4e38-9e1b-c8afb18e9057" providerId="ADAL" clId="{9C4CD99B-EF1B-4C81-94B0-0A1924216EBF}" dt="2023-04-03T05:56:19.037" v="24"/>
          <ac:spMkLst>
            <pc:docMk/>
            <pc:sldMk cId="3369816941" sldId="290"/>
            <ac:spMk id="51" creationId="{BF5627D9-3BE8-43E5-ACEA-B86C93214EB2}"/>
          </ac:spMkLst>
        </pc:spChg>
        <pc:spChg chg="mod">
          <ac:chgData name="Kumar, Harendra (Cognizant)" userId="8b8433c2-3ce6-4e38-9e1b-c8afb18e9057" providerId="ADAL" clId="{9C4CD99B-EF1B-4C81-94B0-0A1924216EBF}" dt="2023-04-03T05:56:19.037" v="24"/>
          <ac:spMkLst>
            <pc:docMk/>
            <pc:sldMk cId="3369816941" sldId="290"/>
            <ac:spMk id="82" creationId="{00000000-0000-0000-0000-000000000000}"/>
          </ac:spMkLst>
        </pc:spChg>
      </pc:sldChg>
      <pc:sldChg chg="addSp delSp modSp add mod">
        <pc:chgData name="Kumar, Harendra (Cognizant)" userId="8b8433c2-3ce6-4e38-9e1b-c8afb18e9057" providerId="ADAL" clId="{9C4CD99B-EF1B-4C81-94B0-0A1924216EBF}" dt="2023-04-03T09:52:37.071" v="7262" actId="2"/>
        <pc:sldMkLst>
          <pc:docMk/>
          <pc:sldMk cId="3516052301" sldId="290"/>
        </pc:sldMkLst>
        <pc:spChg chg="add mod">
          <ac:chgData name="Kumar, Harendra (Cognizant)" userId="8b8433c2-3ce6-4e38-9e1b-c8afb18e9057" providerId="ADAL" clId="{9C4CD99B-EF1B-4C81-94B0-0A1924216EBF}" dt="2023-04-03T09:52:37.071" v="7262" actId="2"/>
          <ac:spMkLst>
            <pc:docMk/>
            <pc:sldMk cId="3516052301" sldId="290"/>
            <ac:spMk id="7" creationId="{FECB05A3-091C-BB4C-293C-D91F24FAD8F1}"/>
          </ac:spMkLst>
        </pc:spChg>
        <pc:spChg chg="add del mod">
          <ac:chgData name="Kumar, Harendra (Cognizant)" userId="8b8433c2-3ce6-4e38-9e1b-c8afb18e9057" providerId="ADAL" clId="{9C4CD99B-EF1B-4C81-94B0-0A1924216EBF}" dt="2023-04-03T09:52:34.737" v="7261" actId="2"/>
          <ac:spMkLst>
            <pc:docMk/>
            <pc:sldMk cId="3516052301" sldId="290"/>
            <ac:spMk id="10" creationId="{00000000-0000-0000-0000-000000000000}"/>
          </ac:spMkLst>
        </pc:spChg>
        <pc:spChg chg="mod">
          <ac:chgData name="Kumar, Harendra (Cognizant)" userId="8b8433c2-3ce6-4e38-9e1b-c8afb18e9057" providerId="ADAL" clId="{9C4CD99B-EF1B-4C81-94B0-0A1924216EBF}" dt="2023-04-03T08:42:49.245" v="6181" actId="5793"/>
          <ac:spMkLst>
            <pc:docMk/>
            <pc:sldMk cId="3516052301" sldId="290"/>
            <ac:spMk id="17" creationId="{00000000-0000-0000-0000-000000000000}"/>
          </ac:spMkLst>
        </pc:spChg>
        <pc:picChg chg="del">
          <ac:chgData name="Kumar, Harendra (Cognizant)" userId="8b8433c2-3ce6-4e38-9e1b-c8afb18e9057" providerId="ADAL" clId="{9C4CD99B-EF1B-4C81-94B0-0A1924216EBF}" dt="2023-04-03T08:43:37.080" v="6272" actId="478"/>
          <ac:picMkLst>
            <pc:docMk/>
            <pc:sldMk cId="3516052301" sldId="290"/>
            <ac:picMk id="3" creationId="{88F30A0D-D46C-FEFC-19F4-CD063CF77750}"/>
          </ac:picMkLst>
        </pc:picChg>
        <pc:picChg chg="del">
          <ac:chgData name="Kumar, Harendra (Cognizant)" userId="8b8433c2-3ce6-4e38-9e1b-c8afb18e9057" providerId="ADAL" clId="{9C4CD99B-EF1B-4C81-94B0-0A1924216EBF}" dt="2023-04-03T08:43:38.320" v="6273" actId="478"/>
          <ac:picMkLst>
            <pc:docMk/>
            <pc:sldMk cId="3516052301" sldId="290"/>
            <ac:picMk id="4" creationId="{40E263CA-FFBD-B3F3-AE30-7D8EFF0A12D8}"/>
          </ac:picMkLst>
        </pc:picChg>
        <pc:picChg chg="add mod">
          <ac:chgData name="Kumar, Harendra (Cognizant)" userId="8b8433c2-3ce6-4e38-9e1b-c8afb18e9057" providerId="ADAL" clId="{9C4CD99B-EF1B-4C81-94B0-0A1924216EBF}" dt="2023-04-03T08:54:40.242" v="7114" actId="1038"/>
          <ac:picMkLst>
            <pc:docMk/>
            <pc:sldMk cId="3516052301" sldId="290"/>
            <ac:picMk id="5" creationId="{8B45853E-0110-E1D0-9122-748124353568}"/>
          </ac:picMkLst>
        </pc:picChg>
        <pc:picChg chg="add mod">
          <ac:chgData name="Kumar, Harendra (Cognizant)" userId="8b8433c2-3ce6-4e38-9e1b-c8afb18e9057" providerId="ADAL" clId="{9C4CD99B-EF1B-4C81-94B0-0A1924216EBF}" dt="2023-04-03T08:57:07.945" v="7173" actId="1038"/>
          <ac:picMkLst>
            <pc:docMk/>
            <pc:sldMk cId="3516052301" sldId="290"/>
            <ac:picMk id="9" creationId="{77677CE2-7EB1-EA27-ECBB-DA6DDB641771}"/>
          </ac:picMkLst>
        </pc:picChg>
      </pc:sldChg>
      <pc:sldChg chg="modSp del">
        <pc:chgData name="Kumar, Harendra (Cognizant)" userId="8b8433c2-3ce6-4e38-9e1b-c8afb18e9057" providerId="ADAL" clId="{9C4CD99B-EF1B-4C81-94B0-0A1924216EBF}" dt="2023-04-03T07:22:56.532" v="3883" actId="47"/>
        <pc:sldMkLst>
          <pc:docMk/>
          <pc:sldMk cId="956773638" sldId="291"/>
        </pc:sldMkLst>
        <pc:spChg chg="mod">
          <ac:chgData name="Kumar, Harendra (Cognizant)" userId="8b8433c2-3ce6-4e38-9e1b-c8afb18e9057" providerId="ADAL" clId="{9C4CD99B-EF1B-4C81-94B0-0A1924216EBF}" dt="2023-04-03T05:56:19.037" v="24"/>
          <ac:spMkLst>
            <pc:docMk/>
            <pc:sldMk cId="956773638" sldId="291"/>
            <ac:spMk id="52"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1"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2"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3"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4" creationId="{00000000-0000-0000-0000-000000000000}"/>
          </ac:spMkLst>
        </pc:spChg>
      </pc:sldChg>
      <pc:sldChg chg="addSp delSp modSp add mod ord">
        <pc:chgData name="Kumar, Harendra (Cognizant)" userId="8b8433c2-3ce6-4e38-9e1b-c8afb18e9057" providerId="ADAL" clId="{9C4CD99B-EF1B-4C81-94B0-0A1924216EBF}" dt="2023-04-03T10:14:33.691" v="8675" actId="1035"/>
        <pc:sldMkLst>
          <pc:docMk/>
          <pc:sldMk cId="1223559503" sldId="291"/>
        </pc:sldMkLst>
        <pc:spChg chg="add del mod">
          <ac:chgData name="Kumar, Harendra (Cognizant)" userId="8b8433c2-3ce6-4e38-9e1b-c8afb18e9057" providerId="ADAL" clId="{9C4CD99B-EF1B-4C81-94B0-0A1924216EBF}" dt="2023-04-03T10:06:53.999" v="7936" actId="767"/>
          <ac:spMkLst>
            <pc:docMk/>
            <pc:sldMk cId="1223559503" sldId="291"/>
            <ac:spMk id="4" creationId="{94FC8D60-BDBB-9C2F-E5B2-6027A878C655}"/>
          </ac:spMkLst>
        </pc:spChg>
        <pc:spChg chg="add del mod">
          <ac:chgData name="Kumar, Harendra (Cognizant)" userId="8b8433c2-3ce6-4e38-9e1b-c8afb18e9057" providerId="ADAL" clId="{9C4CD99B-EF1B-4C81-94B0-0A1924216EBF}" dt="2023-04-03T10:07:13.319" v="7942" actId="767"/>
          <ac:spMkLst>
            <pc:docMk/>
            <pc:sldMk cId="1223559503" sldId="291"/>
            <ac:spMk id="5" creationId="{53FE68A1-663A-4DEC-DF40-85C7B5B84B7E}"/>
          </ac:spMkLst>
        </pc:spChg>
        <pc:spChg chg="del">
          <ac:chgData name="Kumar, Harendra (Cognizant)" userId="8b8433c2-3ce6-4e38-9e1b-c8afb18e9057" providerId="ADAL" clId="{9C4CD99B-EF1B-4C81-94B0-0A1924216EBF}" dt="2023-04-03T08:58:01.192" v="7191" actId="478"/>
          <ac:spMkLst>
            <pc:docMk/>
            <pc:sldMk cId="1223559503" sldId="291"/>
            <ac:spMk id="6" creationId="{36C18FB9-59E7-96B5-9936-83F3B55F38E2}"/>
          </ac:spMkLst>
        </pc:spChg>
        <pc:spChg chg="add mod">
          <ac:chgData name="Kumar, Harendra (Cognizant)" userId="8b8433c2-3ce6-4e38-9e1b-c8afb18e9057" providerId="ADAL" clId="{9C4CD99B-EF1B-4C81-94B0-0A1924216EBF}" dt="2023-04-03T10:14:33.691" v="8675" actId="1035"/>
          <ac:spMkLst>
            <pc:docMk/>
            <pc:sldMk cId="1223559503" sldId="291"/>
            <ac:spMk id="6" creationId="{B4AA0405-CA4D-CA6B-047B-9822B03F17F5}"/>
          </ac:spMkLst>
        </pc:spChg>
        <pc:spChg chg="add del mod">
          <ac:chgData name="Kumar, Harendra (Cognizant)" userId="8b8433c2-3ce6-4e38-9e1b-c8afb18e9057" providerId="ADAL" clId="{9C4CD99B-EF1B-4C81-94B0-0A1924216EBF}" dt="2023-04-03T10:10:53.415" v="8239"/>
          <ac:spMkLst>
            <pc:docMk/>
            <pc:sldMk cId="1223559503" sldId="291"/>
            <ac:spMk id="7" creationId="{A855D9BF-4CE1-B980-BA13-8039EF8CEF08}"/>
          </ac:spMkLst>
        </pc:spChg>
        <pc:spChg chg="mod">
          <ac:chgData name="Kumar, Harendra (Cognizant)" userId="8b8433c2-3ce6-4e38-9e1b-c8afb18e9057" providerId="ADAL" clId="{9C4CD99B-EF1B-4C81-94B0-0A1924216EBF}" dt="2023-04-03T10:14:33.691" v="8675" actId="1035"/>
          <ac:spMkLst>
            <pc:docMk/>
            <pc:sldMk cId="1223559503" sldId="291"/>
            <ac:spMk id="10" creationId="{00000000-0000-0000-0000-000000000000}"/>
          </ac:spMkLst>
        </pc:spChg>
        <pc:spChg chg="mod">
          <ac:chgData name="Kumar, Harendra (Cognizant)" userId="8b8433c2-3ce6-4e38-9e1b-c8afb18e9057" providerId="ADAL" clId="{9C4CD99B-EF1B-4C81-94B0-0A1924216EBF}" dt="2023-04-03T10:14:33.691" v="8675" actId="1035"/>
          <ac:spMkLst>
            <pc:docMk/>
            <pc:sldMk cId="1223559503" sldId="291"/>
            <ac:spMk id="17" creationId="{00000000-0000-0000-0000-000000000000}"/>
          </ac:spMkLst>
        </pc:spChg>
        <pc:picChg chg="add mod">
          <ac:chgData name="Kumar, Harendra (Cognizant)" userId="8b8433c2-3ce6-4e38-9e1b-c8afb18e9057" providerId="ADAL" clId="{9C4CD99B-EF1B-4C81-94B0-0A1924216EBF}" dt="2023-04-03T10:14:33.691" v="8675" actId="1035"/>
          <ac:picMkLst>
            <pc:docMk/>
            <pc:sldMk cId="1223559503" sldId="291"/>
            <ac:picMk id="2" creationId="{BD2BA625-28D8-D1DD-D9C4-19A175FC7279}"/>
          </ac:picMkLst>
        </pc:picChg>
        <pc:picChg chg="add mod">
          <ac:chgData name="Kumar, Harendra (Cognizant)" userId="8b8433c2-3ce6-4e38-9e1b-c8afb18e9057" providerId="ADAL" clId="{9C4CD99B-EF1B-4C81-94B0-0A1924216EBF}" dt="2023-04-03T10:14:33.691" v="8675" actId="1035"/>
          <ac:picMkLst>
            <pc:docMk/>
            <pc:sldMk cId="1223559503" sldId="291"/>
            <ac:picMk id="3" creationId="{3A52B991-812D-36F8-572E-E63FC7DF49DE}"/>
          </ac:picMkLst>
        </pc:picChg>
        <pc:picChg chg="del">
          <ac:chgData name="Kumar, Harendra (Cognizant)" userId="8b8433c2-3ce6-4e38-9e1b-c8afb18e9057" providerId="ADAL" clId="{9C4CD99B-EF1B-4C81-94B0-0A1924216EBF}" dt="2023-04-03T08:57:56.929" v="7190" actId="478"/>
          <ac:picMkLst>
            <pc:docMk/>
            <pc:sldMk cId="1223559503" sldId="291"/>
            <ac:picMk id="3" creationId="{88F30A0D-D46C-FEFC-19F4-CD063CF77750}"/>
          </ac:picMkLst>
        </pc:picChg>
        <pc:picChg chg="del mod">
          <ac:chgData name="Kumar, Harendra (Cognizant)" userId="8b8433c2-3ce6-4e38-9e1b-c8afb18e9057" providerId="ADAL" clId="{9C4CD99B-EF1B-4C81-94B0-0A1924216EBF}" dt="2023-04-03T08:57:55.374" v="7189" actId="478"/>
          <ac:picMkLst>
            <pc:docMk/>
            <pc:sldMk cId="1223559503" sldId="291"/>
            <ac:picMk id="4" creationId="{40E263CA-FFBD-B3F3-AE30-7D8EFF0A12D8}"/>
          </ac:picMkLst>
        </pc:picChg>
      </pc:sldChg>
      <pc:sldChg chg="modSp add mod ord">
        <pc:chgData name="Kumar, Harendra (Cognizant)" userId="8b8433c2-3ce6-4e38-9e1b-c8afb18e9057" providerId="ADAL" clId="{9C4CD99B-EF1B-4C81-94B0-0A1924216EBF}" dt="2023-04-03T09:00:17.848" v="7254" actId="20577"/>
        <pc:sldMkLst>
          <pc:docMk/>
          <pc:sldMk cId="785725705" sldId="292"/>
        </pc:sldMkLst>
        <pc:spChg chg="mod">
          <ac:chgData name="Kumar, Harendra (Cognizant)" userId="8b8433c2-3ce6-4e38-9e1b-c8afb18e9057" providerId="ADAL" clId="{9C4CD99B-EF1B-4C81-94B0-0A1924216EBF}" dt="2023-04-03T09:00:17.848" v="7254" actId="20577"/>
          <ac:spMkLst>
            <pc:docMk/>
            <pc:sldMk cId="785725705" sldId="292"/>
            <ac:spMk id="10" creationId="{00000000-0000-0000-0000-000000000000}"/>
          </ac:spMkLst>
        </pc:spChg>
        <pc:spChg chg="mod">
          <ac:chgData name="Kumar, Harendra (Cognizant)" userId="8b8433c2-3ce6-4e38-9e1b-c8afb18e9057" providerId="ADAL" clId="{9C4CD99B-EF1B-4C81-94B0-0A1924216EBF}" dt="2023-04-03T09:00:08.222" v="7242" actId="20577"/>
          <ac:spMkLst>
            <pc:docMk/>
            <pc:sldMk cId="785725705" sldId="292"/>
            <ac:spMk id="17"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2983598549" sldId="292"/>
        </pc:sldMkLst>
        <pc:spChg chg="mod">
          <ac:chgData name="Kumar, Harendra (Cognizant)" userId="8b8433c2-3ce6-4e38-9e1b-c8afb18e9057" providerId="ADAL" clId="{9C4CD99B-EF1B-4C81-94B0-0A1924216EBF}" dt="2023-04-03T05:56:19.037" v="24"/>
          <ac:spMkLst>
            <pc:docMk/>
            <pc:sldMk cId="2983598549" sldId="292"/>
            <ac:spMk id="28" creationId="{00000000-0000-0000-0000-000000000000}"/>
          </ac:spMkLst>
        </pc:spChg>
      </pc:sldChg>
      <pc:sldMasterChg chg="delSldLayout">
        <pc:chgData name="Kumar, Harendra (Cognizant)" userId="8b8433c2-3ce6-4e38-9e1b-c8afb18e9057" providerId="ADAL" clId="{9C4CD99B-EF1B-4C81-94B0-0A1924216EBF}" dt="2023-04-03T07:22:56.532" v="3883" actId="47"/>
        <pc:sldMasterMkLst>
          <pc:docMk/>
          <pc:sldMasterMk cId="0" sldId="2147483648"/>
        </pc:sldMasterMkLst>
        <pc:sldLayoutChg chg="del">
          <pc:chgData name="Kumar, Harendra (Cognizant)" userId="8b8433c2-3ce6-4e38-9e1b-c8afb18e9057" providerId="ADAL" clId="{9C4CD99B-EF1B-4C81-94B0-0A1924216EBF}" dt="2023-04-03T07:22:56.532" v="3883" actId="47"/>
          <pc:sldLayoutMkLst>
            <pc:docMk/>
            <pc:sldMasterMk cId="0" sldId="2147483648"/>
            <pc:sldLayoutMk cId="4086406886" sldId="2147483666"/>
          </pc:sldLayoutMkLst>
        </pc:sldLayoutChg>
      </pc:sldMasterChg>
    </pc:docChg>
  </pc:docChgLst>
  <pc:docChgLst>
    <pc:chgData name="Kumar, Harendra (Cognizant)" userId="8b8433c2-3ce6-4e38-9e1b-c8afb18e9057" providerId="ADAL" clId="{1A8CCD16-2660-4488-985E-3D0D747599E1}"/>
    <pc:docChg chg="custSel addSld modSld">
      <pc:chgData name="Kumar, Harendra (Cognizant)" userId="8b8433c2-3ce6-4e38-9e1b-c8afb18e9057" providerId="ADAL" clId="{1A8CCD16-2660-4488-985E-3D0D747599E1}" dt="2023-04-04T05:52:01.534" v="2124" actId="2"/>
      <pc:docMkLst>
        <pc:docMk/>
      </pc:docMkLst>
      <pc:sldChg chg="modSp mod">
        <pc:chgData name="Kumar, Harendra (Cognizant)" userId="8b8433c2-3ce6-4e38-9e1b-c8afb18e9057" providerId="ADAL" clId="{1A8CCD16-2660-4488-985E-3D0D747599E1}" dt="2023-04-03T10:22:42.237" v="84" actId="20577"/>
        <pc:sldMkLst>
          <pc:docMk/>
          <pc:sldMk cId="0" sldId="258"/>
        </pc:sldMkLst>
        <pc:spChg chg="mod">
          <ac:chgData name="Kumar, Harendra (Cognizant)" userId="8b8433c2-3ce6-4e38-9e1b-c8afb18e9057" providerId="ADAL" clId="{1A8CCD16-2660-4488-985E-3D0D747599E1}" dt="2023-04-03T10:22:42.237" v="84" actId="20577"/>
          <ac:spMkLst>
            <pc:docMk/>
            <pc:sldMk cId="0" sldId="258"/>
            <ac:spMk id="5" creationId="{00000000-0000-0000-0000-000000000000}"/>
          </ac:spMkLst>
        </pc:spChg>
        <pc:spChg chg="mod">
          <ac:chgData name="Kumar, Harendra (Cognizant)" userId="8b8433c2-3ce6-4e38-9e1b-c8afb18e9057" providerId="ADAL" clId="{1A8CCD16-2660-4488-985E-3D0D747599E1}" dt="2023-04-03T10:22:28.354" v="81" actId="255"/>
          <ac:spMkLst>
            <pc:docMk/>
            <pc:sldMk cId="0" sldId="258"/>
            <ac:spMk id="9" creationId="{E2B73E12-784C-7F90-DA48-6D0006E2601C}"/>
          </ac:spMkLst>
        </pc:spChg>
        <pc:picChg chg="mod">
          <ac:chgData name="Kumar, Harendra (Cognizant)" userId="8b8433c2-3ce6-4e38-9e1b-c8afb18e9057" providerId="ADAL" clId="{1A8CCD16-2660-4488-985E-3D0D747599E1}" dt="2023-04-03T10:21:37.538" v="0" actId="1076"/>
          <ac:picMkLst>
            <pc:docMk/>
            <pc:sldMk cId="0" sldId="258"/>
            <ac:picMk id="6" creationId="{7F0752E5-7035-0C32-C92B-70020742F100}"/>
          </ac:picMkLst>
        </pc:picChg>
      </pc:sldChg>
      <pc:sldChg chg="modSp mod">
        <pc:chgData name="Kumar, Harendra (Cognizant)" userId="8b8433c2-3ce6-4e38-9e1b-c8afb18e9057" providerId="ADAL" clId="{1A8CCD16-2660-4488-985E-3D0D747599E1}" dt="2023-04-03T10:23:34.344" v="86" actId="2711"/>
        <pc:sldMkLst>
          <pc:docMk/>
          <pc:sldMk cId="0" sldId="260"/>
        </pc:sldMkLst>
        <pc:spChg chg="mod">
          <ac:chgData name="Kumar, Harendra (Cognizant)" userId="8b8433c2-3ce6-4e38-9e1b-c8afb18e9057" providerId="ADAL" clId="{1A8CCD16-2660-4488-985E-3D0D747599E1}" dt="2023-04-03T10:23:34.344" v="86" actId="2711"/>
          <ac:spMkLst>
            <pc:docMk/>
            <pc:sldMk cId="0" sldId="260"/>
            <ac:spMk id="4" creationId="{93A0F582-DCEC-D980-FFA8-A6F1ED88539A}"/>
          </ac:spMkLst>
        </pc:spChg>
      </pc:sldChg>
      <pc:sldChg chg="modSp mod">
        <pc:chgData name="Kumar, Harendra (Cognizant)" userId="8b8433c2-3ce6-4e38-9e1b-c8afb18e9057" providerId="ADAL" clId="{1A8CCD16-2660-4488-985E-3D0D747599E1}" dt="2023-04-03T10:39:20.183" v="130" actId="20577"/>
        <pc:sldMkLst>
          <pc:docMk/>
          <pc:sldMk cId="4047161330" sldId="286"/>
        </pc:sldMkLst>
        <pc:spChg chg="mod">
          <ac:chgData name="Kumar, Harendra (Cognizant)" userId="8b8433c2-3ce6-4e38-9e1b-c8afb18e9057" providerId="ADAL" clId="{1A8CCD16-2660-4488-985E-3D0D747599E1}" dt="2023-04-03T10:39:20.183" v="130" actId="20577"/>
          <ac:spMkLst>
            <pc:docMk/>
            <pc:sldMk cId="4047161330" sldId="286"/>
            <ac:spMk id="10" creationId="{00000000-0000-0000-0000-000000000000}"/>
          </ac:spMkLst>
        </pc:spChg>
      </pc:sldChg>
      <pc:sldChg chg="modSp mod">
        <pc:chgData name="Kumar, Harendra (Cognizant)" userId="8b8433c2-3ce6-4e38-9e1b-c8afb18e9057" providerId="ADAL" clId="{1A8CCD16-2660-4488-985E-3D0D747599E1}" dt="2023-04-03T10:40:22.750" v="146" actId="20577"/>
        <pc:sldMkLst>
          <pc:docMk/>
          <pc:sldMk cId="2064697556" sldId="289"/>
        </pc:sldMkLst>
        <pc:spChg chg="mod">
          <ac:chgData name="Kumar, Harendra (Cognizant)" userId="8b8433c2-3ce6-4e38-9e1b-c8afb18e9057" providerId="ADAL" clId="{1A8CCD16-2660-4488-985E-3D0D747599E1}" dt="2023-04-03T10:40:22.750" v="146" actId="20577"/>
          <ac:spMkLst>
            <pc:docMk/>
            <pc:sldMk cId="2064697556" sldId="289"/>
            <ac:spMk id="17" creationId="{00000000-0000-0000-0000-000000000000}"/>
          </ac:spMkLst>
        </pc:spChg>
      </pc:sldChg>
      <pc:sldChg chg="addSp delSp modSp mod">
        <pc:chgData name="Kumar, Harendra (Cognizant)" userId="8b8433c2-3ce6-4e38-9e1b-c8afb18e9057" providerId="ADAL" clId="{1A8CCD16-2660-4488-985E-3D0D747599E1}" dt="2023-04-04T05:51:47.877" v="2121" actId="2"/>
        <pc:sldMkLst>
          <pc:docMk/>
          <pc:sldMk cId="3516052301" sldId="290"/>
        </pc:sldMkLst>
        <pc:spChg chg="mod">
          <ac:chgData name="Kumar, Harendra (Cognizant)" userId="8b8433c2-3ce6-4e38-9e1b-c8afb18e9057" providerId="ADAL" clId="{1A8CCD16-2660-4488-985E-3D0D747599E1}" dt="2023-04-04T05:51:47.877" v="2121" actId="2"/>
          <ac:spMkLst>
            <pc:docMk/>
            <pc:sldMk cId="3516052301" sldId="290"/>
            <ac:spMk id="7" creationId="{FECB05A3-091C-BB4C-293C-D91F24FAD8F1}"/>
          </ac:spMkLst>
        </pc:spChg>
        <pc:spChg chg="del mod">
          <ac:chgData name="Kumar, Harendra (Cognizant)" userId="8b8433c2-3ce6-4e38-9e1b-c8afb18e9057" providerId="ADAL" clId="{1A8CCD16-2660-4488-985E-3D0D747599E1}" dt="2023-04-03T10:43:45.136" v="188" actId="21"/>
          <ac:spMkLst>
            <pc:docMk/>
            <pc:sldMk cId="3516052301" sldId="290"/>
            <ac:spMk id="10" creationId="{00000000-0000-0000-0000-000000000000}"/>
          </ac:spMkLst>
        </pc:spChg>
        <pc:picChg chg="add mod">
          <ac:chgData name="Kumar, Harendra (Cognizant)" userId="8b8433c2-3ce6-4e38-9e1b-c8afb18e9057" providerId="ADAL" clId="{1A8CCD16-2660-4488-985E-3D0D747599E1}" dt="2023-04-03T10:51:38.830" v="355" actId="14100"/>
          <ac:picMkLst>
            <pc:docMk/>
            <pc:sldMk cId="3516052301" sldId="290"/>
            <ac:picMk id="3" creationId="{7BD2D7E6-917A-6160-90C4-2F4024D5B37B}"/>
          </ac:picMkLst>
        </pc:picChg>
        <pc:picChg chg="mod">
          <ac:chgData name="Kumar, Harendra (Cognizant)" userId="8b8433c2-3ce6-4e38-9e1b-c8afb18e9057" providerId="ADAL" clId="{1A8CCD16-2660-4488-985E-3D0D747599E1}" dt="2023-04-03T10:51:34.847" v="354" actId="14100"/>
          <ac:picMkLst>
            <pc:docMk/>
            <pc:sldMk cId="3516052301" sldId="290"/>
            <ac:picMk id="5" creationId="{8B45853E-0110-E1D0-9122-748124353568}"/>
          </ac:picMkLst>
        </pc:picChg>
        <pc:picChg chg="del">
          <ac:chgData name="Kumar, Harendra (Cognizant)" userId="8b8433c2-3ce6-4e38-9e1b-c8afb18e9057" providerId="ADAL" clId="{1A8CCD16-2660-4488-985E-3D0D747599E1}" dt="2023-04-03T10:43:40.804" v="186" actId="21"/>
          <ac:picMkLst>
            <pc:docMk/>
            <pc:sldMk cId="3516052301" sldId="290"/>
            <ac:picMk id="9" creationId="{77677CE2-7EB1-EA27-ECBB-DA6DDB641771}"/>
          </ac:picMkLst>
        </pc:picChg>
      </pc:sldChg>
      <pc:sldChg chg="modSp mod">
        <pc:chgData name="Kumar, Harendra (Cognizant)" userId="8b8433c2-3ce6-4e38-9e1b-c8afb18e9057" providerId="ADAL" clId="{1A8CCD16-2660-4488-985E-3D0D747599E1}" dt="2023-04-04T05:51:59.990" v="2123" actId="2"/>
        <pc:sldMkLst>
          <pc:docMk/>
          <pc:sldMk cId="1223559503" sldId="291"/>
        </pc:sldMkLst>
        <pc:spChg chg="mod">
          <ac:chgData name="Kumar, Harendra (Cognizant)" userId="8b8433c2-3ce6-4e38-9e1b-c8afb18e9057" providerId="ADAL" clId="{1A8CCD16-2660-4488-985E-3D0D747599E1}" dt="2023-04-04T05:51:59.990" v="2123" actId="2"/>
          <ac:spMkLst>
            <pc:docMk/>
            <pc:sldMk cId="1223559503" sldId="291"/>
            <ac:spMk id="6" creationId="{B4AA0405-CA4D-CA6B-047B-9822B03F17F5}"/>
          </ac:spMkLst>
        </pc:spChg>
        <pc:spChg chg="mod">
          <ac:chgData name="Kumar, Harendra (Cognizant)" userId="8b8433c2-3ce6-4e38-9e1b-c8afb18e9057" providerId="ADAL" clId="{1A8CCD16-2660-4488-985E-3D0D747599E1}" dt="2023-04-04T05:51:58.430" v="2122" actId="2"/>
          <ac:spMkLst>
            <pc:docMk/>
            <pc:sldMk cId="1223559503" sldId="291"/>
            <ac:spMk id="10" creationId="{00000000-0000-0000-0000-000000000000}"/>
          </ac:spMkLst>
        </pc:spChg>
        <pc:picChg chg="mod">
          <ac:chgData name="Kumar, Harendra (Cognizant)" userId="8b8433c2-3ce6-4e38-9e1b-c8afb18e9057" providerId="ADAL" clId="{1A8CCD16-2660-4488-985E-3D0D747599E1}" dt="2023-04-04T05:49:40.613" v="2117" actId="1036"/>
          <ac:picMkLst>
            <pc:docMk/>
            <pc:sldMk cId="1223559503" sldId="291"/>
            <ac:picMk id="2" creationId="{BD2BA625-28D8-D1DD-D9C4-19A175FC7279}"/>
          </ac:picMkLst>
        </pc:picChg>
        <pc:picChg chg="mod">
          <ac:chgData name="Kumar, Harendra (Cognizant)" userId="8b8433c2-3ce6-4e38-9e1b-c8afb18e9057" providerId="ADAL" clId="{1A8CCD16-2660-4488-985E-3D0D747599E1}" dt="2023-04-04T05:49:42.490" v="2120" actId="1036"/>
          <ac:picMkLst>
            <pc:docMk/>
            <pc:sldMk cId="1223559503" sldId="291"/>
            <ac:picMk id="3" creationId="{3A52B991-812D-36F8-572E-E63FC7DF49DE}"/>
          </ac:picMkLst>
        </pc:picChg>
      </pc:sldChg>
      <pc:sldChg chg="modSp mod">
        <pc:chgData name="Kumar, Harendra (Cognizant)" userId="8b8433c2-3ce6-4e38-9e1b-c8afb18e9057" providerId="ADAL" clId="{1A8CCD16-2660-4488-985E-3D0D747599E1}" dt="2023-04-04T05:52:01.534" v="2124" actId="2"/>
        <pc:sldMkLst>
          <pc:docMk/>
          <pc:sldMk cId="785725705" sldId="292"/>
        </pc:sldMkLst>
        <pc:spChg chg="mod">
          <ac:chgData name="Kumar, Harendra (Cognizant)" userId="8b8433c2-3ce6-4e38-9e1b-c8afb18e9057" providerId="ADAL" clId="{1A8CCD16-2660-4488-985E-3D0D747599E1}" dt="2023-04-04T05:52:01.534" v="2124" actId="2"/>
          <ac:spMkLst>
            <pc:docMk/>
            <pc:sldMk cId="785725705" sldId="292"/>
            <ac:spMk id="10" creationId="{00000000-0000-0000-0000-000000000000}"/>
          </ac:spMkLst>
        </pc:spChg>
        <pc:spChg chg="mod">
          <ac:chgData name="Kumar, Harendra (Cognizant)" userId="8b8433c2-3ce6-4e38-9e1b-c8afb18e9057" providerId="ADAL" clId="{1A8CCD16-2660-4488-985E-3D0D747599E1}" dt="2023-04-03T10:53:26.252" v="367" actId="20577"/>
          <ac:spMkLst>
            <pc:docMk/>
            <pc:sldMk cId="785725705" sldId="292"/>
            <ac:spMk id="17" creationId="{00000000-0000-0000-0000-000000000000}"/>
          </ac:spMkLst>
        </pc:spChg>
      </pc:sldChg>
      <pc:sldChg chg="delSp modSp add mod">
        <pc:chgData name="Kumar, Harendra (Cognizant)" userId="8b8433c2-3ce6-4e38-9e1b-c8afb18e9057" providerId="ADAL" clId="{1A8CCD16-2660-4488-985E-3D0D747599E1}" dt="2023-04-03T10:51:59.412" v="357" actId="115"/>
        <pc:sldMkLst>
          <pc:docMk/>
          <pc:sldMk cId="1456905060" sldId="293"/>
        </pc:sldMkLst>
        <pc:spChg chg="del">
          <ac:chgData name="Kumar, Harendra (Cognizant)" userId="8b8433c2-3ce6-4e38-9e1b-c8afb18e9057" providerId="ADAL" clId="{1A8CCD16-2660-4488-985E-3D0D747599E1}" dt="2023-04-03T10:43:05.747" v="174" actId="21"/>
          <ac:spMkLst>
            <pc:docMk/>
            <pc:sldMk cId="1456905060" sldId="293"/>
            <ac:spMk id="6" creationId="{36C18FB9-59E7-96B5-9936-83F3B55F38E2}"/>
          </ac:spMkLst>
        </pc:spChg>
        <pc:spChg chg="del mod">
          <ac:chgData name="Kumar, Harendra (Cognizant)" userId="8b8433c2-3ce6-4e38-9e1b-c8afb18e9057" providerId="ADAL" clId="{1A8CCD16-2660-4488-985E-3D0D747599E1}" dt="2023-04-03T10:43:02.425" v="173" actId="21"/>
          <ac:spMkLst>
            <pc:docMk/>
            <pc:sldMk cId="1456905060" sldId="293"/>
            <ac:spMk id="7" creationId="{FECB05A3-091C-BB4C-293C-D91F24FAD8F1}"/>
          </ac:spMkLst>
        </pc:spChg>
        <pc:spChg chg="mod">
          <ac:chgData name="Kumar, Harendra (Cognizant)" userId="8b8433c2-3ce6-4e38-9e1b-c8afb18e9057" providerId="ADAL" clId="{1A8CCD16-2660-4488-985E-3D0D747599E1}" dt="2023-04-03T10:51:59.412" v="357" actId="115"/>
          <ac:spMkLst>
            <pc:docMk/>
            <pc:sldMk cId="1456905060" sldId="293"/>
            <ac:spMk id="10" creationId="{00000000-0000-0000-0000-000000000000}"/>
          </ac:spMkLst>
        </pc:spChg>
        <pc:picChg chg="del">
          <ac:chgData name="Kumar, Harendra (Cognizant)" userId="8b8433c2-3ce6-4e38-9e1b-c8afb18e9057" providerId="ADAL" clId="{1A8CCD16-2660-4488-985E-3D0D747599E1}" dt="2023-04-03T10:42:59.412" v="171" actId="21"/>
          <ac:picMkLst>
            <pc:docMk/>
            <pc:sldMk cId="1456905060" sldId="293"/>
            <ac:picMk id="5" creationId="{8B45853E-0110-E1D0-9122-748124353568}"/>
          </ac:picMkLst>
        </pc:picChg>
        <pc:picChg chg="mod">
          <ac:chgData name="Kumar, Harendra (Cognizant)" userId="8b8433c2-3ce6-4e38-9e1b-c8afb18e9057" providerId="ADAL" clId="{1A8CCD16-2660-4488-985E-3D0D747599E1}" dt="2023-04-03T10:43:32.985" v="185" actId="1035"/>
          <ac:picMkLst>
            <pc:docMk/>
            <pc:sldMk cId="1456905060" sldId="293"/>
            <ac:picMk id="9" creationId="{77677CE2-7EB1-EA27-ECBB-DA6DDB641771}"/>
          </ac:picMkLst>
        </pc:picChg>
      </pc:sldChg>
      <pc:sldChg chg="delSp modSp add mod">
        <pc:chgData name="Kumar, Harendra (Cognizant)" userId="8b8433c2-3ce6-4e38-9e1b-c8afb18e9057" providerId="ADAL" clId="{1A8CCD16-2660-4488-985E-3D0D747599E1}" dt="2023-04-03T11:01:11.658" v="733" actId="1036"/>
        <pc:sldMkLst>
          <pc:docMk/>
          <pc:sldMk cId="367818717" sldId="294"/>
        </pc:sldMkLst>
        <pc:spChg chg="del mod">
          <ac:chgData name="Kumar, Harendra (Cognizant)" userId="8b8433c2-3ce6-4e38-9e1b-c8afb18e9057" providerId="ADAL" clId="{1A8CCD16-2660-4488-985E-3D0D747599E1}" dt="2023-04-03T11:00:17.287" v="714" actId="21"/>
          <ac:spMkLst>
            <pc:docMk/>
            <pc:sldMk cId="367818717" sldId="294"/>
            <ac:spMk id="10" creationId="{00000000-0000-0000-0000-000000000000}"/>
          </ac:spMkLst>
        </pc:spChg>
        <pc:spChg chg="mod">
          <ac:chgData name="Kumar, Harendra (Cognizant)" userId="8b8433c2-3ce6-4e38-9e1b-c8afb18e9057" providerId="ADAL" clId="{1A8CCD16-2660-4488-985E-3D0D747599E1}" dt="2023-04-03T11:01:11.658" v="733" actId="1036"/>
          <ac:spMkLst>
            <pc:docMk/>
            <pc:sldMk cId="367818717" sldId="294"/>
            <ac:spMk id="17"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Lst>
  <dgm:cxnLst>
    <dgm:cxn modelId="{84B12825-B80A-4803-9B0C-8B2B98F6F13B}" type="presOf" srcId="{3D18ECC6-4C07-4ED0-B457-A8875E161891}" destId="{372D3855-33CE-4AA6-B521-95368CEBF30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Lst>
  <dgm:cxnLst>
    <dgm:cxn modelId="{84B12825-B80A-4803-9B0C-8B2B98F6F13B}" type="presOf" srcId="{3D18ECC6-4C07-4ED0-B457-A8875E161891}" destId="{372D3855-33CE-4AA6-B521-95368CEBF30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Lst>
  <dgm:cxnLst>
    <dgm:cxn modelId="{84B12825-B80A-4803-9B0C-8B2B98F6F13B}" type="presOf" srcId="{3D18ECC6-4C07-4ED0-B457-A8875E161891}" destId="{372D3855-33CE-4AA6-B521-95368CEBF30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Development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SRE(Site Reliability Engineering)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SRE(Site Reliability Engineering)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SRE(Site Reliability Engineering)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SRE(Site Reliability Engineering)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SRE(Site Reliability Engineering)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SRE(Site Reliability Engineering)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SRE(Site Reliability Engineering)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SRE(Site Reliability Engineering)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SRE(Site Reliability Engineering)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SRE(Site Reliability Engineering)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SRE(Site Reliability Engineering)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SRE(Site Reliability Engineering)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SRE(Site Reliability Engineering)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SRE(Site Reliability Engineering)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Cloud Computing</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047"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047"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047" custLinFactNeighborX="-1937" custLinFactNeighborY="-5804">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047" custLinFactNeighborX="-1937" custLinFactNeighborY="-5804">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X="-4238" custLinFactNeighborY="-1541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X="-4238" custLinFactNeighborY="-1541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X="-4238" custLinFactNeighborY="-1541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Some Reference Architectures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73883"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Some Agile (&amp; Other) Resources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Katas &amp; Beyond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Architectural Katas &amp; Beyond </a:t>
          </a:r>
          <a:r>
            <a:rPr lang="en-US" sz="2800" kern="1200" dirty="0" err="1">
              <a:solidFill>
                <a:prstClr val="white"/>
              </a:solidFill>
              <a:latin typeface="Calibri"/>
              <a:ea typeface="+mn-ea"/>
              <a:cs typeface="+mn-cs"/>
            </a:rPr>
            <a:t>contd</a:t>
          </a:r>
          <a:r>
            <a:rPr lang="en-US" sz="2800" kern="1200" dirty="0">
              <a:solidFill>
                <a:prstClr val="white"/>
              </a:solidFill>
              <a:latin typeface="Calibri"/>
              <a:ea typeface="+mn-ea"/>
              <a:cs typeface="+mn-cs"/>
            </a:rPr>
            <a:t>…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a:solidFill>
                <a:prstClr val="white"/>
              </a:solidFill>
              <a:latin typeface="Calibri"/>
              <a:ea typeface="+mn-ea"/>
              <a:cs typeface="+mn-cs"/>
            </a:rPr>
            <a:t>Topics </a:t>
          </a:r>
          <a:r>
            <a:rPr lang="en-US" sz="2800" kern="1200" dirty="0">
              <a:solidFill>
                <a:prstClr val="white"/>
              </a:solidFill>
              <a:latin typeface="Calibri"/>
              <a:ea typeface="+mn-ea"/>
              <a:cs typeface="+mn-cs"/>
            </a:rPr>
            <a:t>Not Covered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7149976" cy="391189"/>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8873074" cy="391189"/>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3563"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Development Architecture</a:t>
          </a:r>
        </a:p>
      </dsp:txBody>
      <dsp:txXfrm>
        <a:off x="21162" y="21162"/>
        <a:ext cx="8871239" cy="391189"/>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SRE(Site Reliability Engineering)</a:t>
          </a:r>
        </a:p>
      </dsp:txBody>
      <dsp:txXfrm>
        <a:off x="21162" y="21162"/>
        <a:ext cx="7149976" cy="391189"/>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SRE(Site Reliability Engineering)</a:t>
          </a:r>
        </a:p>
      </dsp:txBody>
      <dsp:txXfrm>
        <a:off x="21162" y="21162"/>
        <a:ext cx="7149976" cy="391189"/>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8"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SRE(Site Reliability Engineering)</a:t>
          </a:r>
        </a:p>
      </dsp:txBody>
      <dsp:txXfrm>
        <a:off x="21162" y="21162"/>
        <a:ext cx="8873074" cy="391189"/>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SRE(Site Reliability Engineering)</a:t>
          </a:r>
        </a:p>
      </dsp:txBody>
      <dsp:txXfrm>
        <a:off x="21162" y="21162"/>
        <a:ext cx="7149976" cy="391189"/>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SRE(Site Reliability Engineering)</a:t>
          </a:r>
        </a:p>
      </dsp:txBody>
      <dsp:txXfrm>
        <a:off x="21162" y="21162"/>
        <a:ext cx="7149976" cy="391189"/>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SRE(Site Reliability Engineering)</a:t>
          </a:r>
        </a:p>
      </dsp:txBody>
      <dsp:txXfrm>
        <a:off x="21162" y="21162"/>
        <a:ext cx="7149976" cy="391189"/>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SRE(Site Reliability Engineering)</a:t>
          </a:r>
        </a:p>
      </dsp:txBody>
      <dsp:txXfrm>
        <a:off x="21162" y="21162"/>
        <a:ext cx="7149976" cy="391189"/>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SRE(Site Reliability Engineering)</a:t>
          </a:r>
        </a:p>
      </dsp:txBody>
      <dsp:txXfrm>
        <a:off x="21162" y="21162"/>
        <a:ext cx="7149976" cy="391189"/>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SRE(Site Reliability Engineering)</a:t>
          </a:r>
        </a:p>
      </dsp:txBody>
      <dsp:txXfrm>
        <a:off x="21162" y="21162"/>
        <a:ext cx="7149976" cy="391189"/>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SRE(Site Reliability Engineering)</a:t>
          </a:r>
        </a:p>
      </dsp:txBody>
      <dsp:txXfrm>
        <a:off x="21162" y="21162"/>
        <a:ext cx="7149976" cy="391189"/>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SRE(Site Reliability Engineering)</a:t>
          </a:r>
        </a:p>
      </dsp:txBody>
      <dsp:txXfrm>
        <a:off x="21162" y="21162"/>
        <a:ext cx="7149976" cy="391189"/>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SRE(Site Reliability Engineering)</a:t>
          </a:r>
        </a:p>
      </dsp:txBody>
      <dsp:txXfrm>
        <a:off x="21162" y="21162"/>
        <a:ext cx="7149976" cy="391189"/>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SRE(Site Reliability Engineering) </a:t>
          </a:r>
        </a:p>
      </dsp:txBody>
      <dsp:txXfrm>
        <a:off x="21162" y="21162"/>
        <a:ext cx="7149976" cy="391189"/>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SRE(Site Reliability Engineering)</a:t>
          </a:r>
        </a:p>
      </dsp:txBody>
      <dsp:txXfrm>
        <a:off x="21162" y="21162"/>
        <a:ext cx="7149976" cy="391189"/>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8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8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8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9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9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   </a:t>
          </a:r>
        </a:p>
      </dsp:txBody>
      <dsp:txXfrm>
        <a:off x="21162" y="21162"/>
        <a:ext cx="7149976" cy="391189"/>
      </dsp:txXfrm>
    </dsp:sp>
  </dsp:spTree>
</dsp:drawing>
</file>

<file path=ppt/diagrams/drawing9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 </a:t>
          </a:r>
        </a:p>
      </dsp:txBody>
      <dsp:txXfrm>
        <a:off x="21162" y="21162"/>
        <a:ext cx="7149976" cy="391189"/>
      </dsp:txXfrm>
    </dsp:sp>
  </dsp:spTree>
</dsp:drawing>
</file>

<file path=ppt/diagrams/drawing9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  </a:t>
          </a:r>
        </a:p>
      </dsp:txBody>
      <dsp:txXfrm>
        <a:off x="21162" y="21162"/>
        <a:ext cx="7149976" cy="391189"/>
      </dsp:txXfrm>
    </dsp:sp>
  </dsp:spTree>
</dsp:drawing>
</file>

<file path=ppt/diagrams/drawing9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  </a:t>
          </a:r>
        </a:p>
      </dsp:txBody>
      <dsp:txXfrm>
        <a:off x="21162" y="21162"/>
        <a:ext cx="7149976" cy="391189"/>
      </dsp:txXfrm>
    </dsp:sp>
  </dsp:spTree>
</dsp:drawing>
</file>

<file path=ppt/diagrams/drawing9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9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9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  </a:t>
          </a:r>
        </a:p>
      </dsp:txBody>
      <dsp:txXfrm>
        <a:off x="21162" y="21162"/>
        <a:ext cx="7149976" cy="391189"/>
      </dsp:txXfrm>
    </dsp:sp>
  </dsp:spTree>
</dsp:drawing>
</file>

<file path=ppt/diagrams/drawing9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9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0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0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0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0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0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0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0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0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0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Cloud Computing</a:t>
          </a:r>
        </a:p>
      </dsp:txBody>
      <dsp:txXfrm>
        <a:off x="21162" y="21162"/>
        <a:ext cx="7149976" cy="391189"/>
      </dsp:txXfrm>
    </dsp:sp>
  </dsp:spTree>
</dsp:drawing>
</file>

<file path=ppt/diagrams/drawing10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8487"/>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538" y="36538"/>
        <a:ext cx="7119224" cy="675411"/>
      </dsp:txXfrm>
    </dsp:sp>
  </dsp:spTree>
</dsp:drawing>
</file>

<file path=ppt/diagrams/drawing1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358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Some Reference Architectures</a:t>
          </a:r>
        </a:p>
      </dsp:txBody>
      <dsp:txXfrm>
        <a:off x="35921" y="35921"/>
        <a:ext cx="7120458" cy="664011"/>
      </dsp:txXfrm>
    </dsp:sp>
  </dsp:spTree>
</dsp:drawing>
</file>

<file path=ppt/diagrams/drawing1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358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Some Reference Architectures</a:t>
          </a:r>
        </a:p>
      </dsp:txBody>
      <dsp:txXfrm>
        <a:off x="35921" y="35921"/>
        <a:ext cx="7120458" cy="664011"/>
      </dsp:txXfrm>
    </dsp:sp>
  </dsp:spTree>
</dsp:drawing>
</file>

<file path=ppt/diagrams/drawing1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5337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777" y="36777"/>
        <a:ext cx="7118746" cy="679819"/>
      </dsp:txXfrm>
    </dsp:sp>
  </dsp:spTree>
</dsp:drawing>
</file>

<file path=ppt/diagrams/drawing1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358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Some Reference Architectures</a:t>
          </a:r>
        </a:p>
      </dsp:txBody>
      <dsp:txXfrm>
        <a:off x="35921" y="35921"/>
        <a:ext cx="7120458" cy="664011"/>
      </dsp:txXfrm>
    </dsp:sp>
  </dsp:spTree>
</dsp:drawing>
</file>

<file path=ppt/diagrams/drawing1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4427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6333" y="36333"/>
        <a:ext cx="7119634" cy="671609"/>
      </dsp:txXfrm>
    </dsp:sp>
  </dsp:spTree>
</dsp:drawing>
</file>

<file path=ppt/diagrams/drawing1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761996"/>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Some Reference Architectures</a:t>
          </a:r>
        </a:p>
      </dsp:txBody>
      <dsp:txXfrm>
        <a:off x="37198" y="37198"/>
        <a:ext cx="7117904" cy="687600"/>
      </dsp:txXfrm>
    </dsp:sp>
  </dsp:spTree>
</dsp:drawing>
</file>

<file path=ppt/diagrams/drawing1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Some Agile (&amp; Other) Resources  </a:t>
          </a:r>
        </a:p>
      </dsp:txBody>
      <dsp:txXfrm>
        <a:off x="21162" y="21162"/>
        <a:ext cx="7149976" cy="391189"/>
      </dsp:txXfrm>
    </dsp:sp>
  </dsp:spTree>
</dsp:drawing>
</file>

<file path=ppt/diagrams/drawing1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Katas &amp; Beyond  </a:t>
          </a:r>
        </a:p>
      </dsp:txBody>
      <dsp:txXfrm>
        <a:off x="21162" y="21162"/>
        <a:ext cx="7149976" cy="391189"/>
      </dsp:txXfrm>
    </dsp:sp>
  </dsp:spTree>
</dsp:drawing>
</file>

<file path=ppt/diagrams/drawing1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Architectural Katas &amp; Beyond </a:t>
          </a:r>
          <a:r>
            <a:rPr lang="en-US" sz="2800" kern="1200" dirty="0" err="1">
              <a:solidFill>
                <a:prstClr val="white"/>
              </a:solidFill>
              <a:latin typeface="Calibri"/>
              <a:ea typeface="+mn-ea"/>
              <a:cs typeface="+mn-cs"/>
            </a:rPr>
            <a:t>contd</a:t>
          </a:r>
          <a:r>
            <a:rPr lang="en-US" sz="2800" kern="1200" dirty="0">
              <a:solidFill>
                <a:prstClr val="white"/>
              </a:solidFill>
              <a:latin typeface="Calibri"/>
              <a:ea typeface="+mn-ea"/>
              <a:cs typeface="+mn-cs"/>
            </a:rPr>
            <a:t>…  </a:t>
          </a:r>
        </a:p>
      </dsp:txBody>
      <dsp:txXfrm>
        <a:off x="21162" y="21162"/>
        <a:ext cx="7149976" cy="391189"/>
      </dsp:txXfrm>
    </dsp:sp>
  </dsp:spTree>
</dsp:drawing>
</file>

<file path=ppt/diagrams/drawing1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solidFill>
                <a:prstClr val="white"/>
              </a:solidFill>
              <a:latin typeface="Calibri"/>
              <a:ea typeface="+mn-ea"/>
              <a:cs typeface="+mn-cs"/>
            </a:rPr>
            <a:t>Topics </a:t>
          </a:r>
          <a:r>
            <a:rPr lang="en-US" sz="2800" kern="1200" dirty="0">
              <a:solidFill>
                <a:prstClr val="white"/>
              </a:solidFill>
              <a:latin typeface="Calibri"/>
              <a:ea typeface="+mn-ea"/>
              <a:cs typeface="+mn-cs"/>
            </a:rPr>
            <a:t>Not Covered  </a:t>
          </a:r>
        </a:p>
      </dsp:txBody>
      <dsp:txXfrm>
        <a:off x="21162" y="21162"/>
        <a:ext cx="7149976" cy="39118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9845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80013" y="0"/>
            <a:ext cx="3962400" cy="298450"/>
          </a:xfrm>
          <a:prstGeom prst="rect">
            <a:avLst/>
          </a:prstGeom>
        </p:spPr>
        <p:txBody>
          <a:bodyPr vert="horz" lIns="91440" tIns="45720" rIns="91440" bIns="45720" rtlCol="0"/>
          <a:lstStyle>
            <a:lvl1pPr algn="r">
              <a:defRPr sz="1200"/>
            </a:lvl1pPr>
          </a:lstStyle>
          <a:p>
            <a:fld id="{9AE750B3-386C-4233-BFC3-7F4AC971F92C}" type="datetimeFigureOut">
              <a:rPr lang="en-US" smtClean="0"/>
              <a:t>11/26/2025</a:t>
            </a:fld>
            <a:endParaRPr lang="en-US" dirty="0"/>
          </a:p>
        </p:txBody>
      </p:sp>
      <p:sp>
        <p:nvSpPr>
          <p:cNvPr id="4" name="Slide Image Placeholder 3"/>
          <p:cNvSpPr>
            <a:spLocks noGrp="1" noRot="1" noChangeAspect="1"/>
          </p:cNvSpPr>
          <p:nvPr>
            <p:ph type="sldImg" idx="2"/>
          </p:nvPr>
        </p:nvSpPr>
        <p:spPr>
          <a:xfrm>
            <a:off x="3028950" y="742950"/>
            <a:ext cx="3086100" cy="20066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2860675"/>
            <a:ext cx="7315200" cy="23399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5645150"/>
            <a:ext cx="3962400" cy="29845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80013" y="5645150"/>
            <a:ext cx="3962400" cy="298450"/>
          </a:xfrm>
          <a:prstGeom prst="rect">
            <a:avLst/>
          </a:prstGeom>
        </p:spPr>
        <p:txBody>
          <a:bodyPr vert="horz" lIns="91440" tIns="45720" rIns="91440" bIns="45720" rtlCol="0" anchor="b"/>
          <a:lstStyle>
            <a:lvl1pPr algn="r">
              <a:defRPr sz="1200"/>
            </a:lvl1pPr>
          </a:lstStyle>
          <a:p>
            <a:fld id="{0C49AC16-2221-4935-809C-2A72A26F729C}" type="slidenum">
              <a:rPr lang="en-US" smtClean="0"/>
              <a:t>‹#›</a:t>
            </a:fld>
            <a:endParaRPr lang="en-US" dirty="0"/>
          </a:p>
        </p:txBody>
      </p:sp>
    </p:spTree>
    <p:extLst>
      <p:ext uri="{BB962C8B-B14F-4D97-AF65-F5344CB8AC3E}">
        <p14:creationId xmlns:p14="http://schemas.microsoft.com/office/powerpoint/2010/main" val="4081582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49AC16-2221-4935-809C-2A72A26F729C}" type="slidenum">
              <a:rPr lang="en-US" smtClean="0"/>
              <a:t>60</a:t>
            </a:fld>
            <a:endParaRPr lang="en-US" dirty="0"/>
          </a:p>
        </p:txBody>
      </p:sp>
    </p:spTree>
    <p:extLst>
      <p:ext uri="{BB962C8B-B14F-4D97-AF65-F5344CB8AC3E}">
        <p14:creationId xmlns:p14="http://schemas.microsoft.com/office/powerpoint/2010/main" val="31302734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5943600"/>
          </a:xfrm>
          <a:prstGeom prst="rect">
            <a:avLst/>
          </a:prstGeom>
          <a:blipFill>
            <a:blip r:embed="rId2" cstate="print"/>
            <a:stretch>
              <a:fillRect/>
            </a:stretch>
          </a:blipFill>
        </p:spPr>
        <p:txBody>
          <a:bodyPr wrap="square" lIns="0" tIns="0" rIns="0" bIns="0" rtlCol="0"/>
          <a:lstStyle/>
          <a:p>
            <a:endParaRPr dirty="0"/>
          </a:p>
        </p:txBody>
      </p:sp>
      <p:sp>
        <p:nvSpPr>
          <p:cNvPr id="17" name="bk object 17"/>
          <p:cNvSpPr/>
          <p:nvPr/>
        </p:nvSpPr>
        <p:spPr>
          <a:xfrm>
            <a:off x="3079584" y="2139810"/>
            <a:ext cx="3027045" cy="1153795"/>
          </a:xfrm>
          <a:custGeom>
            <a:avLst/>
            <a:gdLst/>
            <a:ahLst/>
            <a:cxnLst/>
            <a:rect l="l" t="t" r="r" b="b"/>
            <a:pathLst>
              <a:path w="3027045" h="1153795">
                <a:moveTo>
                  <a:pt x="0" y="1153236"/>
                </a:moveTo>
                <a:lnTo>
                  <a:pt x="3026829" y="1153236"/>
                </a:lnTo>
                <a:lnTo>
                  <a:pt x="3026829" y="0"/>
                </a:lnTo>
                <a:lnTo>
                  <a:pt x="0" y="0"/>
                </a:lnTo>
                <a:lnTo>
                  <a:pt x="0" y="1153236"/>
                </a:lnTo>
                <a:close/>
              </a:path>
            </a:pathLst>
          </a:custGeom>
          <a:solidFill>
            <a:srgbClr val="FFFFFF"/>
          </a:solidFill>
        </p:spPr>
        <p:txBody>
          <a:bodyPr wrap="square" lIns="0" tIns="0" rIns="0" bIns="0" rtlCol="0"/>
          <a:lstStyle/>
          <a:p>
            <a:endParaRPr dirty="0"/>
          </a:p>
        </p:txBody>
      </p:sp>
      <p:sp>
        <p:nvSpPr>
          <p:cNvPr id="18" name="bk object 18"/>
          <p:cNvSpPr/>
          <p:nvPr/>
        </p:nvSpPr>
        <p:spPr>
          <a:xfrm>
            <a:off x="3186950" y="2836551"/>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19" name="bk object 19"/>
          <p:cNvSpPr/>
          <p:nvPr/>
        </p:nvSpPr>
        <p:spPr>
          <a:xfrm>
            <a:off x="3186950" y="2781966"/>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2" name="Holder 2"/>
          <p:cNvSpPr>
            <a:spLocks noGrp="1"/>
          </p:cNvSpPr>
          <p:nvPr>
            <p:ph type="ctrTitle"/>
          </p:nvPr>
        </p:nvSpPr>
        <p:spPr>
          <a:xfrm>
            <a:off x="3174246" y="2190333"/>
            <a:ext cx="2415540" cy="354964"/>
          </a:xfrm>
          <a:prstGeom prst="rect">
            <a:avLst/>
          </a:prstGeom>
        </p:spPr>
        <p:txBody>
          <a:bodyPr wrap="square" lIns="0" tIns="0" rIns="0" bIns="0">
            <a:spAutoFit/>
          </a:bodyPr>
          <a:lstStyle>
            <a:lvl1pPr>
              <a:defRPr sz="2150" b="1" i="0">
                <a:solidFill>
                  <a:srgbClr val="231F20"/>
                </a:solidFill>
                <a:latin typeface="Arial"/>
                <a:cs typeface="Arial"/>
              </a:defRPr>
            </a:lvl1pPr>
          </a:lstStyle>
          <a:p>
            <a:endParaRPr/>
          </a:p>
        </p:txBody>
      </p:sp>
      <p:sp>
        <p:nvSpPr>
          <p:cNvPr id="3" name="Holder 3"/>
          <p:cNvSpPr>
            <a:spLocks noGrp="1"/>
          </p:cNvSpPr>
          <p:nvPr>
            <p:ph type="subTitle" idx="4"/>
          </p:nvPr>
        </p:nvSpPr>
        <p:spPr>
          <a:xfrm>
            <a:off x="1371600" y="3328416"/>
            <a:ext cx="6400800" cy="14859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p:txBody>
          <a:bodyPr lIns="0" tIns="0" rIns="0" bIns="0"/>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sz="half" idx="2"/>
          </p:nvPr>
        </p:nvSpPr>
        <p:spPr>
          <a:xfrm>
            <a:off x="457200" y="1367028"/>
            <a:ext cx="3977640" cy="39227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367028"/>
            <a:ext cx="3977640" cy="39227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75300" y="830562"/>
            <a:ext cx="2907665" cy="995044"/>
          </a:xfrm>
          <a:prstGeom prst="rect">
            <a:avLst/>
          </a:prstGeom>
        </p:spPr>
        <p:txBody>
          <a:bodyPr wrap="square" lIns="0" tIns="0" rIns="0" bIns="0">
            <a:spAutoFit/>
          </a:bodyPr>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a:xfrm>
            <a:off x="1217940" y="1414945"/>
            <a:ext cx="6708119" cy="1580514"/>
          </a:xfrm>
          <a:prstGeom prst="rect">
            <a:avLst/>
          </a:prstGeom>
        </p:spPr>
        <p:txBody>
          <a:bodyPr wrap="square" lIns="0" tIns="0" rIns="0" bIns="0">
            <a:spAutoFit/>
          </a:bodyPr>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a:xfrm>
            <a:off x="3108960" y="5527548"/>
            <a:ext cx="2926080" cy="29718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457200" y="5527548"/>
            <a:ext cx="2103120" cy="2971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11/26/2025</a:t>
            </a:fld>
            <a:endParaRPr lang="en-US" dirty="0"/>
          </a:p>
        </p:txBody>
      </p:sp>
      <p:sp>
        <p:nvSpPr>
          <p:cNvPr id="6" name="Holder 6"/>
          <p:cNvSpPr>
            <a:spLocks noGrp="1"/>
          </p:cNvSpPr>
          <p:nvPr>
            <p:ph type="sldNum" sz="quarter" idx="7"/>
          </p:nvPr>
        </p:nvSpPr>
        <p:spPr>
          <a:xfrm>
            <a:off x="6583680" y="5527548"/>
            <a:ext cx="2103120" cy="2971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cloudificationzone.com/2020/06/15/12-factor-apps-15-factor-apps/" TargetMode="External"/><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hyperlink" Target="https://www.handsonarchitect.com/2022/08/cloud-native-fifteen-factor-apps.html" TargetMode="External"/></Relationships>
</file>

<file path=ppt/slides/_rels/slide2.xml.rels><?xml version="1.0" encoding="UTF-8" standalone="yes"?>
<Relationships xmlns="http://schemas.openxmlformats.org/package/2006/relationships"><Relationship Id="rId8" Type="http://schemas.openxmlformats.org/officeDocument/2006/relationships/hyperlink" Target="https://learn.microsoft.com/en-us/dotnet/core/porting/project-structure" TargetMode="External"/><Relationship Id="rId3" Type="http://schemas.openxmlformats.org/officeDocument/2006/relationships/diagramLayout" Target="../diagrams/layout2.xml"/><Relationship Id="rId7" Type="http://schemas.openxmlformats.org/officeDocument/2006/relationships/image" Target="../media/image3.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hyperlink" Target="https://builtin.com/software-engineering-perspectives/package-managers" TargetMode="Externa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4.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8" Type="http://schemas.openxmlformats.org/officeDocument/2006/relationships/hyperlink" Target="https://www.blackduck.com/glossary/what-is-software-composition-analysis.html" TargetMode="External"/><Relationship Id="rId3" Type="http://schemas.openxmlformats.org/officeDocument/2006/relationships/diagramLayout" Target="../diagrams/layout5.xml"/><Relationship Id="rId7" Type="http://schemas.openxmlformats.org/officeDocument/2006/relationships/image" Target="../media/image5.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8" Type="http://schemas.openxmlformats.org/officeDocument/2006/relationships/hyperlink" Target="https://learn.microsoft.com/en-us/visualstudio/msbuild/msbuild?view=vs-2022" TargetMode="External"/><Relationship Id="rId3" Type="http://schemas.openxmlformats.org/officeDocument/2006/relationships/diagramLayout" Target="../diagrams/layout6.xml"/><Relationship Id="rId7" Type="http://schemas.openxmlformats.org/officeDocument/2006/relationships/hyperlink" Target="https://www.devopsschool.com/blog/top-5-build-management-tool/" TargetMode="Externa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 Id="rId9" Type="http://schemas.openxmlformats.org/officeDocument/2006/relationships/image" Target="../media/image6.jpeg"/></Relationships>
</file>

<file path=ppt/slides/_rels/slide7.xml.rels><?xml version="1.0" encoding="UTF-8" standalone="yes"?>
<Relationships xmlns="http://schemas.openxmlformats.org/package/2006/relationships"><Relationship Id="rId8" Type="http://schemas.openxmlformats.org/officeDocument/2006/relationships/hyperlink" Target="https://about.gitlab.com/topics/devops/" TargetMode="External"/><Relationship Id="rId13" Type="http://schemas.openxmlformats.org/officeDocument/2006/relationships/hyperlink" Target="https://docs.aws.amazon.com/wellarchitected/latest/devops-guidance/everything-as-code.html" TargetMode="External"/><Relationship Id="rId18" Type="http://schemas.openxmlformats.org/officeDocument/2006/relationships/hyperlink" Target="https://www.packtpub.com/en-dk/product/hands-on-security-in-devops-9781788995504" TargetMode="External"/><Relationship Id="rId3" Type="http://schemas.openxmlformats.org/officeDocument/2006/relationships/diagramLayout" Target="../diagrams/layout7.xml"/><Relationship Id="rId7" Type="http://schemas.openxmlformats.org/officeDocument/2006/relationships/image" Target="../media/image7.jpeg"/><Relationship Id="rId12" Type="http://schemas.openxmlformats.org/officeDocument/2006/relationships/hyperlink" Target="https://qualityclouds.com/quality-gates-devops-pipeline/" TargetMode="External"/><Relationship Id="rId17" Type="http://schemas.openxmlformats.org/officeDocument/2006/relationships/hyperlink" Target="https://www.practical-devsecops.com/e-books/" TargetMode="External"/><Relationship Id="rId2" Type="http://schemas.openxmlformats.org/officeDocument/2006/relationships/diagramData" Target="../diagrams/data7.xml"/><Relationship Id="rId16" Type="http://schemas.openxmlformats.org/officeDocument/2006/relationships/hyperlink" Target="https://developers.redhat.com/e-books/devops-culture-and-practice-openshift" TargetMode="External"/><Relationship Id="rId1" Type="http://schemas.openxmlformats.org/officeDocument/2006/relationships/slideLayout" Target="../slideLayouts/slideLayout2.xml"/><Relationship Id="rId6" Type="http://schemas.microsoft.com/office/2007/relationships/diagramDrawing" Target="../diagrams/drawing7.xml"/><Relationship Id="rId11" Type="http://schemas.openxmlformats.org/officeDocument/2006/relationships/hyperlink" Target="https://www.pgadmin.org/" TargetMode="External"/><Relationship Id="rId5" Type="http://schemas.openxmlformats.org/officeDocument/2006/relationships/diagramColors" Target="../diagrams/colors7.xml"/><Relationship Id="rId15" Type="http://schemas.openxmlformats.org/officeDocument/2006/relationships/hyperlink" Target="https://developers.redhat.com/e-books/getting-gitops-practical-platform-openshift-argo-cd-and-tekton" TargetMode="External"/><Relationship Id="rId10" Type="http://schemas.openxmlformats.org/officeDocument/2006/relationships/hyperlink" Target="https://www.mssqltips.com/sqlservertip/6130/automating-sample-database-dacpac-and-setup-script-availability-for-database-development-testing/" TargetMode="External"/><Relationship Id="rId19" Type="http://schemas.openxmlformats.org/officeDocument/2006/relationships/hyperlink" Target="https://www.dynatrace.com/news/blog/what-is-shift-left-and-what-is-shift-right/" TargetMode="External"/><Relationship Id="rId4" Type="http://schemas.openxmlformats.org/officeDocument/2006/relationships/diagramQuickStyle" Target="../diagrams/quickStyle7.xml"/><Relationship Id="rId9" Type="http://schemas.openxmlformats.org/officeDocument/2006/relationships/hyperlink" Target="https://www.linkedin.com/posts/brijpandeyji_cicd-gitops-cicd-activity-7128026853541322754-i645/?trk=public_profile_share_view" TargetMode="External"/><Relationship Id="rId14" Type="http://schemas.openxmlformats.org/officeDocument/2006/relationships/hyperlink" Target="https://www.redhat.com/en/technologies/cloud-computing/openshift/features"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www.hashicorp.com/resources/what-is-mutable-vs-immutable-infrastructure" TargetMode="External"/><Relationship Id="rId3" Type="http://schemas.openxmlformats.org/officeDocument/2006/relationships/diagramLayout" Target="../diagrams/layout8.xml"/><Relationship Id="rId7" Type="http://schemas.openxmlformats.org/officeDocument/2006/relationships/image" Target="../media/image8.pn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9.xml.rels><?xml version="1.0" encoding="UTF-8" standalone="yes"?>
<Relationships xmlns="http://schemas.openxmlformats.org/package/2006/relationships"><Relationship Id="rId8" Type="http://schemas.openxmlformats.org/officeDocument/2006/relationships/hyperlink" Target="https://www.cloudbees.com/blog/configuration-as-code-everything-need-know" TargetMode="External"/><Relationship Id="rId13" Type="http://schemas.openxmlformats.org/officeDocument/2006/relationships/hyperlink" Target="https://github.com/PacktPublishing/Infrastructure-as-Code-for-Beginners" TargetMode="External"/><Relationship Id="rId18" Type="http://schemas.openxmlformats.org/officeDocument/2006/relationships/hyperlink" Target="https://github.com/PacktPublishing/Infrastructure-as-Code-with-Azure-Bicep" TargetMode="External"/><Relationship Id="rId3" Type="http://schemas.openxmlformats.org/officeDocument/2006/relationships/diagramLayout" Target="../diagrams/layout9.xml"/><Relationship Id="rId7" Type="http://schemas.openxmlformats.org/officeDocument/2006/relationships/hyperlink" Target="https://medium.com/@cloudhacks_/infrastructure-as-code-iac-vs-configuration-as-code-cac-unraveling-the-differences-24fbce05ae25" TargetMode="External"/><Relationship Id="rId12" Type="http://schemas.openxmlformats.org/officeDocument/2006/relationships/hyperlink" Target="https://www.udemy.com/course/terraform-and-ansible/?kw=Terraform+with+Ansible&amp;src=sac&amp;couponCode=MT180825C" TargetMode="External"/><Relationship Id="rId17" Type="http://schemas.openxmlformats.org/officeDocument/2006/relationships/hyperlink" Target="https://www.udemy.com/course/azure-bicep-mastering-infrastructure-as-code-with-bicep/?couponCode=MT180825C" TargetMode="External"/><Relationship Id="rId2" Type="http://schemas.openxmlformats.org/officeDocument/2006/relationships/diagramData" Target="../diagrams/data9.xml"/><Relationship Id="rId16" Type="http://schemas.openxmlformats.org/officeDocument/2006/relationships/hyperlink" Target="https://www.udemy.com/course/master-azure-bicep/?couponCode=MT180825C" TargetMode="External"/><Relationship Id="rId1" Type="http://schemas.openxmlformats.org/officeDocument/2006/relationships/slideLayout" Target="../slideLayouts/slideLayout2.xml"/><Relationship Id="rId6" Type="http://schemas.microsoft.com/office/2007/relationships/diagramDrawing" Target="../diagrams/drawing9.xml"/><Relationship Id="rId11" Type="http://schemas.openxmlformats.org/officeDocument/2006/relationships/hyperlink" Target="https://learn.microsoft.com/en-us/azure/developer/terraform/comparing-terraform-and-bicep?tabs=comparing-bicep-terraform-integration-features" TargetMode="External"/><Relationship Id="rId5" Type="http://schemas.openxmlformats.org/officeDocument/2006/relationships/diagramColors" Target="../diagrams/colors9.xml"/><Relationship Id="rId15" Type="http://schemas.openxmlformats.org/officeDocument/2006/relationships/hyperlink" Target="https://github.com/PacktPublishing/Terraform-Cookbook-Second-Edition" TargetMode="External"/><Relationship Id="rId10" Type="http://schemas.openxmlformats.org/officeDocument/2006/relationships/hyperlink" Target="https://www.warpbuild.com/" TargetMode="External"/><Relationship Id="rId19" Type="http://schemas.openxmlformats.org/officeDocument/2006/relationships/image" Target="../media/image9.png"/><Relationship Id="rId4" Type="http://schemas.openxmlformats.org/officeDocument/2006/relationships/diagramQuickStyle" Target="../diagrams/quickStyle9.xml"/><Relationship Id="rId9" Type="http://schemas.openxmlformats.org/officeDocument/2006/relationships/hyperlink" Target="https://elisabethirgens.github.io/notes/2021/06/gitops/" TargetMode="External"/><Relationship Id="rId14" Type="http://schemas.openxmlformats.org/officeDocument/2006/relationships/hyperlink" Target="https://github.com/PacktPublishing/Mastering-Terraform" TargetMode="Externa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0.xml"/><Relationship Id="rId7" Type="http://schemas.openxmlformats.org/officeDocument/2006/relationships/image" Target="../media/image10.png"/><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1.xml.rels><?xml version="1.0" encoding="UTF-8" standalone="yes"?>
<Relationships xmlns="http://schemas.openxmlformats.org/package/2006/relationships"><Relationship Id="rId8" Type="http://schemas.openxmlformats.org/officeDocument/2006/relationships/hyperlink" Target="https://techcommunity.microsoft.com/blog/coreinfrastructureandsecurityblog/infrastructure-as-code-testing-with-azure-policy/3921765" TargetMode="External"/><Relationship Id="rId3" Type="http://schemas.openxmlformats.org/officeDocument/2006/relationships/diagramLayout" Target="../diagrams/layout11.xml"/><Relationship Id="rId7" Type="http://schemas.openxmlformats.org/officeDocument/2006/relationships/hyperlink" Target="https://sysdig.com/learn-cloud-native/what-is-policy-as-code/" TargetMode="Externa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 Id="rId9" Type="http://schemas.openxmlformats.org/officeDocument/2006/relationships/hyperlink" Target="https://www.packtpub.com/en-us/product/policy-design-in-the-age-of-digital-adoption-9781801811743"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inapp.com/blog/how-to-achieve-zero-downtime-deployment-a-journey-towards-uninterrupted-software-updates/" TargetMode="External"/><Relationship Id="rId3" Type="http://schemas.openxmlformats.org/officeDocument/2006/relationships/diagramLayout" Target="../diagrams/layout12.xml"/><Relationship Id="rId7" Type="http://schemas.openxmlformats.org/officeDocument/2006/relationships/image" Target="../media/image11.png"/><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10" Type="http://schemas.openxmlformats.org/officeDocument/2006/relationships/hyperlink" Target="https://learn.microsoft.com/en-us/answers/questions/1000007/azure-apim-arm-deployment-and-ongoing-traffic" TargetMode="External"/><Relationship Id="rId4" Type="http://schemas.openxmlformats.org/officeDocument/2006/relationships/diagramQuickStyle" Target="../diagrams/quickStyle12.xml"/><Relationship Id="rId9" Type="http://schemas.openxmlformats.org/officeDocument/2006/relationships/hyperlink" Target="https://spring.io/blog/2016/05/31/zero-downtime-deployment-with-a-database" TargetMode="Externa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9.xml"/><Relationship Id="rId7" Type="http://schemas.openxmlformats.org/officeDocument/2006/relationships/image" Target="../media/image12.png"/><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0.xml.rels><?xml version="1.0" encoding="UTF-8" standalone="yes"?>
<Relationships xmlns="http://schemas.openxmlformats.org/package/2006/relationships"><Relationship Id="rId8" Type="http://schemas.openxmlformats.org/officeDocument/2006/relationships/hyperlink" Target="https://konghq.com/resources/e-book/unlock-apis-potential-with-apiops" TargetMode="External"/><Relationship Id="rId3" Type="http://schemas.openxmlformats.org/officeDocument/2006/relationships/diagramLayout" Target="../diagrams/layout20.xml"/><Relationship Id="rId7" Type="http://schemas.openxmlformats.org/officeDocument/2006/relationships/hyperlink" Target="https://www.veritis.com/blog/a-guide-to-apiops-the-collaborative-approach-for-api-production/" TargetMode="External"/><Relationship Id="rId12" Type="http://schemas.openxmlformats.org/officeDocument/2006/relationships/hyperlink" Target="https://apiquality.io/" TargetMode="Externa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11" Type="http://schemas.openxmlformats.org/officeDocument/2006/relationships/hyperlink" Target="https://github.com/Kong/apiops-lab" TargetMode="External"/><Relationship Id="rId5" Type="http://schemas.openxmlformats.org/officeDocument/2006/relationships/diagramColors" Target="../diagrams/colors20.xml"/><Relationship Id="rId10" Type="http://schemas.openxmlformats.org/officeDocument/2006/relationships/hyperlink" Target="https://azure.github.io/apiops/" TargetMode="External"/><Relationship Id="rId4" Type="http://schemas.openxmlformats.org/officeDocument/2006/relationships/diagramQuickStyle" Target="../diagrams/quickStyle20.xml"/><Relationship Id="rId9" Type="http://schemas.openxmlformats.org/officeDocument/2006/relationships/hyperlink" Target="https://learn.microsoft.com/en-us/azure/architecture/example-scenario/devops/automated-api-deployments-apiops" TargetMode="Externa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24.xml.rels><?xml version="1.0" encoding="UTF-8" standalone="yes"?>
<Relationships xmlns="http://schemas.openxmlformats.org/package/2006/relationships"><Relationship Id="rId8" Type="http://schemas.openxmlformats.org/officeDocument/2006/relationships/hyperlink" Target="https://learning.postman.com/docs/designing-and-developing-your-api/mocking-data/setting-up-mock/" TargetMode="External"/><Relationship Id="rId3" Type="http://schemas.openxmlformats.org/officeDocument/2006/relationships/diagramLayout" Target="../diagrams/layout24.xml"/><Relationship Id="rId7" Type="http://schemas.openxmlformats.org/officeDocument/2006/relationships/hyperlink" Target="https://paddy-krischa.medium.com/service-virtualization-dc384fd83f0a" TargetMode="Externa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 Id="rId9" Type="http://schemas.openxmlformats.org/officeDocument/2006/relationships/image" Target="../media/image13.png"/></Relationships>
</file>

<file path=ppt/slides/_rels/slide25.xml.rels><?xml version="1.0" encoding="UTF-8" standalone="yes"?>
<Relationships xmlns="http://schemas.openxmlformats.org/package/2006/relationships"><Relationship Id="rId8" Type="http://schemas.openxmlformats.org/officeDocument/2006/relationships/hyperlink" Target="https://www.atlassian.com/devops/devops-tools/test-automation" TargetMode="External"/><Relationship Id="rId13" Type="http://schemas.openxmlformats.org/officeDocument/2006/relationships/hyperlink" Target="https://www.linkedin.com/advice/1/how-do-you-test-apis-use-asynchronous-communication-k4zif" TargetMode="External"/><Relationship Id="rId18" Type="http://schemas.openxmlformats.org/officeDocument/2006/relationships/hyperlink" Target="https://zephyrdocs.atlassian.net/wiki/spaces/ZE61/pages/263587713/Test+Execution" TargetMode="External"/><Relationship Id="rId3" Type="http://schemas.openxmlformats.org/officeDocument/2006/relationships/diagramLayout" Target="../diagrams/layout25.xml"/><Relationship Id="rId21" Type="http://schemas.openxmlformats.org/officeDocument/2006/relationships/image" Target="../media/image14.png"/><Relationship Id="rId7" Type="http://schemas.openxmlformats.org/officeDocument/2006/relationships/hyperlink" Target="https://www.amazon.in/Full-Stack-Testing-Gayathri-Mohan-ebook/dp/B0B3C15DR8/ref=tmm_kin_swatch_0" TargetMode="External"/><Relationship Id="rId12" Type="http://schemas.openxmlformats.org/officeDocument/2006/relationships/hyperlink" Target="https://medium.com/@sebas.viquez/challenging-the-page-object-model-e9045ee92ca7" TargetMode="External"/><Relationship Id="rId17" Type="http://schemas.openxmlformats.org/officeDocument/2006/relationships/hyperlink" Target="https://www.packtpub.com/en-us/product/hands-on-test-management-with-jira-9781789954876?srsltid=AfmBOorl5iSdlBrbj66xHuDQ9naadst1whuOocsOL9Tci9VE5BNOTohf" TargetMode="External"/><Relationship Id="rId2" Type="http://schemas.openxmlformats.org/officeDocument/2006/relationships/diagramData" Target="../diagrams/data25.xml"/><Relationship Id="rId16" Type="http://schemas.openxmlformats.org/officeDocument/2006/relationships/hyperlink" Target="https://github.com/PacktPublishing/Playwright-Python-and-Pytest-for-Web-Automation-Testing" TargetMode="External"/><Relationship Id="rId20" Type="http://schemas.openxmlformats.org/officeDocument/2006/relationships/hyperlink" Target="https://allurereport.org/" TargetMode="External"/><Relationship Id="rId1" Type="http://schemas.openxmlformats.org/officeDocument/2006/relationships/slideLayout" Target="../slideLayouts/slideLayout2.xml"/><Relationship Id="rId6" Type="http://schemas.microsoft.com/office/2007/relationships/diagramDrawing" Target="../diagrams/drawing25.xml"/><Relationship Id="rId11" Type="http://schemas.openxmlformats.org/officeDocument/2006/relationships/hyperlink" Target="https://www.linkedin.com/advice/0/what-common-challenges-pitfalls-using-page-object" TargetMode="External"/><Relationship Id="rId5" Type="http://schemas.openxmlformats.org/officeDocument/2006/relationships/diagramColors" Target="../diagrams/colors25.xml"/><Relationship Id="rId15" Type="http://schemas.openxmlformats.org/officeDocument/2006/relationships/hyperlink" Target="https://github.com/microsoft/playwright" TargetMode="External"/><Relationship Id="rId10" Type="http://schemas.openxmlformats.org/officeDocument/2006/relationships/hyperlink" Target="https://www.browserstack.com/guide/page-object-model-in-selenium" TargetMode="External"/><Relationship Id="rId19" Type="http://schemas.openxmlformats.org/officeDocument/2006/relationships/hyperlink" Target="https://learning.postman.com/docs/tests-and-scripts/write-scripts/intro-to-scripts/" TargetMode="External"/><Relationship Id="rId4" Type="http://schemas.openxmlformats.org/officeDocument/2006/relationships/diagramQuickStyle" Target="../diagrams/quickStyle25.xml"/><Relationship Id="rId9" Type="http://schemas.openxmlformats.org/officeDocument/2006/relationships/hyperlink" Target="https://www.packtpub.com/en-in/product/software-testing-strategies-9781837637850" TargetMode="External"/><Relationship Id="rId14" Type="http://schemas.openxmlformats.org/officeDocument/2006/relationships/hyperlink" Target="https://microsoft.github.io/code-with-engineering-playbook/automated-testing/cdc-testing/" TargetMode="External"/></Relationships>
</file>

<file path=ppt/slides/_rels/slide26.xml.rels><?xml version="1.0" encoding="UTF-8" standalone="yes"?>
<Relationships xmlns="http://schemas.openxmlformats.org/package/2006/relationships"><Relationship Id="rId8" Type="http://schemas.openxmlformats.org/officeDocument/2006/relationships/hyperlink" Target="https://quickstarts.postman.com/guide/load-testing/index.html?index=..%2F..index#0" TargetMode="External"/><Relationship Id="rId13" Type="http://schemas.openxmlformats.org/officeDocument/2006/relationships/hyperlink" Target="https://github.com/dotnet/BenchmarkDotNet" TargetMode="External"/><Relationship Id="rId3" Type="http://schemas.openxmlformats.org/officeDocument/2006/relationships/diagramLayout" Target="../diagrams/layout26.xml"/><Relationship Id="rId7" Type="http://schemas.openxmlformats.org/officeDocument/2006/relationships/hyperlink" Target="https://www.dynatrace.com/news/blog/why-averages-suck-and-percentiles-are-great/" TargetMode="External"/><Relationship Id="rId12" Type="http://schemas.openxmlformats.org/officeDocument/2006/relationships/hyperlink" Target="https://blog.octoperf.com/asynchronous-api-performance-testing-with-jmeter/" TargetMode="Externa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11" Type="http://schemas.openxmlformats.org/officeDocument/2006/relationships/hyperlink" Target="https://www.microsoft.com/en-gb/industry/blog/technetuk/2023/02/16/how-you-should-be-load-testing-your-background-services/" TargetMode="External"/><Relationship Id="rId5" Type="http://schemas.openxmlformats.org/officeDocument/2006/relationships/diagramColors" Target="../diagrams/colors26.xml"/><Relationship Id="rId10" Type="http://schemas.openxmlformats.org/officeDocument/2006/relationships/hyperlink" Target="https://www.simplilearn.com/tutorials/jmeter-tutorial" TargetMode="External"/><Relationship Id="rId4" Type="http://schemas.openxmlformats.org/officeDocument/2006/relationships/diagramQuickStyle" Target="../diagrams/quickStyle26.xml"/><Relationship Id="rId9" Type="http://schemas.openxmlformats.org/officeDocument/2006/relationships/hyperlink" Target="https://learn.microsoft.com/en-us/visualstudio/profiling/?view=vs-2022" TargetMode="External"/><Relationship Id="rId14" Type="http://schemas.openxmlformats.org/officeDocument/2006/relationships/image" Target="../media/image15.png"/></Relationships>
</file>

<file path=ppt/slides/_rels/slide27.xml.rels><?xml version="1.0" encoding="UTF-8" standalone="yes"?>
<Relationships xmlns="http://schemas.openxmlformats.org/package/2006/relationships"><Relationship Id="rId8" Type="http://schemas.openxmlformats.org/officeDocument/2006/relationships/hyperlink" Target="https://insights.sei.cmu.edu/blog/10-types-of-application-security-testing-tools-when-and-how-to-use-them/" TargetMode="External"/><Relationship Id="rId3" Type="http://schemas.openxmlformats.org/officeDocument/2006/relationships/diagramLayout" Target="../diagrams/layout27.xml"/><Relationship Id="rId7" Type="http://schemas.openxmlformats.org/officeDocument/2006/relationships/hyperlink" Target="https://www.softwaretestinghelp.com/differences-between-sast-dast-iast-and-rasp/" TargetMode="Externa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11" Type="http://schemas.openxmlformats.org/officeDocument/2006/relationships/image" Target="../media/image16.jpeg"/><Relationship Id="rId5" Type="http://schemas.openxmlformats.org/officeDocument/2006/relationships/diagramColors" Target="../diagrams/colors27.xml"/><Relationship Id="rId10" Type="http://schemas.openxmlformats.org/officeDocument/2006/relationships/hyperlink" Target="https://www.deepfactor.io/security-scanning-tools-defined-sast-iac-sca-dast-iast-rasp-container-runtime-security-and-runtime-sca/" TargetMode="External"/><Relationship Id="rId4" Type="http://schemas.openxmlformats.org/officeDocument/2006/relationships/diagramQuickStyle" Target="../diagrams/quickStyle27.xml"/><Relationship Id="rId9" Type="http://schemas.openxmlformats.org/officeDocument/2006/relationships/hyperlink" Target="https://github.com/iriusrisk/bdd-security" TargetMode="External"/></Relationships>
</file>

<file path=ppt/slides/_rels/slide28.xml.rels><?xml version="1.0" encoding="UTF-8" standalone="yes"?>
<Relationships xmlns="http://schemas.openxmlformats.org/package/2006/relationships"><Relationship Id="rId8" Type="http://schemas.openxmlformats.org/officeDocument/2006/relationships/diagramLayout" Target="../diagrams/layout29.xml"/><Relationship Id="rId3" Type="http://schemas.openxmlformats.org/officeDocument/2006/relationships/diagramLayout" Target="../diagrams/layout28.xml"/><Relationship Id="rId7" Type="http://schemas.openxmlformats.org/officeDocument/2006/relationships/diagramData" Target="../diagrams/data29.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11" Type="http://schemas.microsoft.com/office/2007/relationships/diagramDrawing" Target="../diagrams/drawing29.xml"/><Relationship Id="rId5" Type="http://schemas.openxmlformats.org/officeDocument/2006/relationships/diagramColors" Target="../diagrams/colors28.xml"/><Relationship Id="rId10" Type="http://schemas.openxmlformats.org/officeDocument/2006/relationships/diagramColors" Target="../diagrams/colors29.xml"/><Relationship Id="rId4" Type="http://schemas.openxmlformats.org/officeDocument/2006/relationships/diagramQuickStyle" Target="../diagrams/quickStyle28.xml"/><Relationship Id="rId9" Type="http://schemas.openxmlformats.org/officeDocument/2006/relationships/diagramQuickStyle" Target="../diagrams/quickStyle29.xml"/></Relationships>
</file>

<file path=ppt/slides/_rels/slide29.xml.rels><?xml version="1.0" encoding="UTF-8" standalone="yes"?>
<Relationships xmlns="http://schemas.openxmlformats.org/package/2006/relationships"><Relationship Id="rId8" Type="http://schemas.openxmlformats.org/officeDocument/2006/relationships/diagramData" Target="../diagrams/data31.xml"/><Relationship Id="rId3" Type="http://schemas.openxmlformats.org/officeDocument/2006/relationships/diagramLayout" Target="../diagrams/layout30.xml"/><Relationship Id="rId7" Type="http://schemas.openxmlformats.org/officeDocument/2006/relationships/image" Target="../media/image17.png"/><Relationship Id="rId12" Type="http://schemas.microsoft.com/office/2007/relationships/diagramDrawing" Target="../diagrams/drawing31.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11" Type="http://schemas.openxmlformats.org/officeDocument/2006/relationships/diagramColors" Target="../diagrams/colors31.xml"/><Relationship Id="rId5" Type="http://schemas.openxmlformats.org/officeDocument/2006/relationships/diagramColors" Target="../diagrams/colors30.xml"/><Relationship Id="rId10" Type="http://schemas.openxmlformats.org/officeDocument/2006/relationships/diagramQuickStyle" Target="../diagrams/quickStyle31.xml"/><Relationship Id="rId4" Type="http://schemas.openxmlformats.org/officeDocument/2006/relationships/diagramQuickStyle" Target="../diagrams/quickStyle30.xml"/><Relationship Id="rId9" Type="http://schemas.openxmlformats.org/officeDocument/2006/relationships/diagramLayout" Target="../diagrams/layout31.xml"/></Relationships>
</file>

<file path=ppt/slides/_rels/slide30.xml.rels><?xml version="1.0" encoding="UTF-8" standalone="yes"?>
<Relationships xmlns="http://schemas.openxmlformats.org/package/2006/relationships"><Relationship Id="rId8" Type="http://schemas.openxmlformats.org/officeDocument/2006/relationships/hyperlink" Target="https://www.thoughtworks.com/en-au/insights/blog/agile-engineering-practices/building-resiliency-chaos-engineering" TargetMode="External"/><Relationship Id="rId13" Type="http://schemas.openxmlformats.org/officeDocument/2006/relationships/hyperlink" Target="https://www.udemy.com/course/chaos-engineering-studio/?srsltid=AfmBOopaqH8rpGPnhIUneUcz-daqLxm-ug0dge-Sfgu9o1TtkLM9lTMK&amp;couponCode=ST20MT111124A" TargetMode="External"/><Relationship Id="rId18" Type="http://schemas.openxmlformats.org/officeDocument/2006/relationships/hyperlink" Target="https://medium.com/@jeroenverhaeghe/starting-with-chaos-engineering-in-net-pt-1-31405c5d3001" TargetMode="External"/><Relationship Id="rId3" Type="http://schemas.openxmlformats.org/officeDocument/2006/relationships/diagramLayout" Target="../diagrams/layout32.xml"/><Relationship Id="rId21" Type="http://schemas.openxmlformats.org/officeDocument/2006/relationships/diagramLayout" Target="../diagrams/layout33.xml"/><Relationship Id="rId7" Type="http://schemas.openxmlformats.org/officeDocument/2006/relationships/hyperlink" Target="https://www.gremlin.com/community/tutorials/chaos-engineering-the-history-principles-and-practice" TargetMode="External"/><Relationship Id="rId12" Type="http://schemas.openxmlformats.org/officeDocument/2006/relationships/hyperlink" Target="https://azure.microsoft.com/en-us/products/chaos-studio" TargetMode="External"/><Relationship Id="rId17" Type="http://schemas.openxmlformats.org/officeDocument/2006/relationships/hyperlink" Target="https://devblogs.microsoft.com/dotnet/resilience-and-chaos-engineering/" TargetMode="External"/><Relationship Id="rId2" Type="http://schemas.openxmlformats.org/officeDocument/2006/relationships/diagramData" Target="../diagrams/data32.xml"/><Relationship Id="rId16" Type="http://schemas.openxmlformats.org/officeDocument/2006/relationships/hyperlink" Target="https://www.udemy.com/course/chaos-engineering-with-chaos-toolkit/?utm_source=adwords&amp;utm_medium=udemyads&amp;utm_campaign=Search_DSA_Alpha_Prof_la.EN_cc.India&amp;campaigntype=Search&amp;portfolio=India&amp;language=EN&amp;product=Course&amp;test=&amp;audience=DSA&amp;topic=Kubernetes&amp;priority=Alpha&amp;utm_content=deal4584&amp;utm_term=_._ag_160270534465_._ad_696202838130_._kw__._de_c_._dm__._pl__._ti_dsa-1676636557879_._li_9061836_._pd__._&amp;matchtype=&amp;gad_source=1&amp;gad_campaignid=21178559971&amp;gbraid=0AAAAADROdO26GhBlmhGrkgrIYoKSXOtDP&amp;gclid=EAIaIQobChMI0L3koIDDjgMVN6VmAh0qTwDJEAAYASAAEgIjqPD_BwE&amp;couponCode=PMNVD2025" TargetMode="External"/><Relationship Id="rId20" Type="http://schemas.openxmlformats.org/officeDocument/2006/relationships/diagramData" Target="../diagrams/data33.xml"/><Relationship Id="rId1" Type="http://schemas.openxmlformats.org/officeDocument/2006/relationships/slideLayout" Target="../slideLayouts/slideLayout2.xml"/><Relationship Id="rId6" Type="http://schemas.microsoft.com/office/2007/relationships/diagramDrawing" Target="../diagrams/drawing32.xml"/><Relationship Id="rId11" Type="http://schemas.openxmlformats.org/officeDocument/2006/relationships/hyperlink" Target="https://www.infoq.com/presentations/fault-isolation-cloud/" TargetMode="External"/><Relationship Id="rId24" Type="http://schemas.microsoft.com/office/2007/relationships/diagramDrawing" Target="../diagrams/drawing33.xml"/><Relationship Id="rId5" Type="http://schemas.openxmlformats.org/officeDocument/2006/relationships/diagramColors" Target="../diagrams/colors32.xml"/><Relationship Id="rId15" Type="http://schemas.openxmlformats.org/officeDocument/2006/relationships/hyperlink" Target="https://learn.microsoft.com/en-us/azure/chaos-studio/chaos-studio-tutorial-aks-portal" TargetMode="External"/><Relationship Id="rId23" Type="http://schemas.openxmlformats.org/officeDocument/2006/relationships/diagramColors" Target="../diagrams/colors33.xml"/><Relationship Id="rId10" Type="http://schemas.openxmlformats.org/officeDocument/2006/relationships/hyperlink" Target="https://dev.to/litmus-chaos/introducing-litmus-2-0-simplify-chaos-engineering-4g5e" TargetMode="External"/><Relationship Id="rId19" Type="http://schemas.openxmlformats.org/officeDocument/2006/relationships/hyperlink" Target="https://github.com/unmeshjoshi/tickloom" TargetMode="External"/><Relationship Id="rId4" Type="http://schemas.openxmlformats.org/officeDocument/2006/relationships/diagramQuickStyle" Target="../diagrams/quickStyle32.xml"/><Relationship Id="rId9" Type="http://schemas.openxmlformats.org/officeDocument/2006/relationships/hyperlink" Target="https://www.harness.io/resources/the-chaos-engineering-maturity-model" TargetMode="External"/><Relationship Id="rId14" Type="http://schemas.openxmlformats.org/officeDocument/2006/relationships/hyperlink" Target="https://github.com/asobti/kube-monkey" TargetMode="External"/><Relationship Id="rId22" Type="http://schemas.openxmlformats.org/officeDocument/2006/relationships/diagramQuickStyle" Target="../diagrams/quickStyle33.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32.xml.rels><?xml version="1.0" encoding="UTF-8" standalone="yes"?>
<Relationships xmlns="http://schemas.openxmlformats.org/package/2006/relationships"><Relationship Id="rId8" Type="http://schemas.openxmlformats.org/officeDocument/2006/relationships/hyperlink" Target="https://www.youtube.com/watch?v=1MBpK_PxEnU" TargetMode="External"/><Relationship Id="rId3" Type="http://schemas.openxmlformats.org/officeDocument/2006/relationships/diagramLayout" Target="../diagrams/layout35.xml"/><Relationship Id="rId7" Type="http://schemas.openxmlformats.org/officeDocument/2006/relationships/hyperlink" Target="https://www.youtube.com/watch?v=ukgmp6uxQJc" TargetMode="External"/><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33.xml.rels><?xml version="1.0" encoding="UTF-8" standalone="yes"?>
<Relationships xmlns="http://schemas.openxmlformats.org/package/2006/relationships"><Relationship Id="rId8" Type="http://schemas.openxmlformats.org/officeDocument/2006/relationships/hyperlink" Target="https://www.googlecloudcommunity.com/gc/Community-Blogs/Site-Reliability-Engineering-SRE-Fundamentals/ba-p/472590" TargetMode="External"/><Relationship Id="rId13" Type="http://schemas.openxmlformats.org/officeDocument/2006/relationships/hyperlink" Target="https://www.udemy.com/course/sre-fundamentals-mastering-site-reliability-engineering/?couponCode=MT180825C" TargetMode="External"/><Relationship Id="rId3" Type="http://schemas.openxmlformats.org/officeDocument/2006/relationships/diagramLayout" Target="../diagrams/layout36.xml"/><Relationship Id="rId7" Type="http://schemas.openxmlformats.org/officeDocument/2006/relationships/image" Target="../media/image18.png"/><Relationship Id="rId12" Type="http://schemas.openxmlformats.org/officeDocument/2006/relationships/hyperlink" Target="https://github.com/MicrosoftDocs/azure-docs/blob/main/articles/automation/automation-runbook-gallery.md" TargetMode="External"/><Relationship Id="rId2" Type="http://schemas.openxmlformats.org/officeDocument/2006/relationships/diagramData" Target="../diagrams/data36.xml"/><Relationship Id="rId1" Type="http://schemas.openxmlformats.org/officeDocument/2006/relationships/slideLayout" Target="../slideLayouts/slideLayout2.xml"/><Relationship Id="rId6" Type="http://schemas.microsoft.com/office/2007/relationships/diagramDrawing" Target="../diagrams/drawing36.xml"/><Relationship Id="rId11" Type="http://schemas.openxmlformats.org/officeDocument/2006/relationships/hyperlink" Target="https://learn.microsoft.com/en-us/azure/automation/automation-runbook-execution" TargetMode="External"/><Relationship Id="rId5" Type="http://schemas.openxmlformats.org/officeDocument/2006/relationships/diagramColors" Target="../diagrams/colors36.xml"/><Relationship Id="rId15" Type="http://schemas.openxmlformats.org/officeDocument/2006/relationships/hyperlink" Target="https://github.com/PacktPublishing/Real-World-SRE" TargetMode="External"/><Relationship Id="rId10" Type="http://schemas.openxmlformats.org/officeDocument/2006/relationships/hyperlink" Target="https://university.pagerduty.com/" TargetMode="External"/><Relationship Id="rId4" Type="http://schemas.openxmlformats.org/officeDocument/2006/relationships/diagramQuickStyle" Target="../diagrams/quickStyle36.xml"/><Relationship Id="rId9" Type="http://schemas.openxmlformats.org/officeDocument/2006/relationships/hyperlink" Target="https://www.pagerduty.com/resources/learn/what-is-a-runbook/" TargetMode="External"/><Relationship Id="rId14" Type="http://schemas.openxmlformats.org/officeDocument/2006/relationships/hyperlink" Target="https://github.com/PacktPublishing/Becoming-a-Rockstar-SRE" TargetMode="External"/></Relationships>
</file>

<file path=ppt/slides/_rels/slide34.xml.rels><?xml version="1.0" encoding="UTF-8" standalone="yes"?>
<Relationships xmlns="http://schemas.openxmlformats.org/package/2006/relationships"><Relationship Id="rId8" Type="http://schemas.openxmlformats.org/officeDocument/2006/relationships/hyperlink" Target="https://markosrendell.wordpress.com/2019/06/05/slis-and-slos-versus-nfrs/" TargetMode="External"/><Relationship Id="rId13" Type="http://schemas.openxmlformats.org/officeDocument/2006/relationships/hyperlink" Target="https://newrelic.com/blog/best-practices/what-are-slos-slis-slas" TargetMode="External"/><Relationship Id="rId3" Type="http://schemas.openxmlformats.org/officeDocument/2006/relationships/diagramLayout" Target="../diagrams/layout37.xml"/><Relationship Id="rId7" Type="http://schemas.openxmlformats.org/officeDocument/2006/relationships/image" Target="../media/image19.png"/><Relationship Id="rId12" Type="http://schemas.openxmlformats.org/officeDocument/2006/relationships/hyperlink" Target="https://www.cortex.io/post/building-reliable-services-a-guide-to-setting-slos" TargetMode="External"/><Relationship Id="rId2" Type="http://schemas.openxmlformats.org/officeDocument/2006/relationships/diagramData" Target="../diagrams/data37.xml"/><Relationship Id="rId1" Type="http://schemas.openxmlformats.org/officeDocument/2006/relationships/slideLayout" Target="../slideLayouts/slideLayout2.xml"/><Relationship Id="rId6" Type="http://schemas.microsoft.com/office/2007/relationships/diagramDrawing" Target="../diagrams/drawing37.xml"/><Relationship Id="rId11" Type="http://schemas.openxmlformats.org/officeDocument/2006/relationships/hyperlink" Target="https://www.blameless.com/blog/service-level-objectives" TargetMode="External"/><Relationship Id="rId5" Type="http://schemas.openxmlformats.org/officeDocument/2006/relationships/diagramColors" Target="../diagrams/colors37.xml"/><Relationship Id="rId15" Type="http://schemas.openxmlformats.org/officeDocument/2006/relationships/hyperlink" Target="https://www.squadcast.com/blog/introducing-our-open-source-slo-tracker-a-simple-tool-to-track-slos-and-error-budget" TargetMode="External"/><Relationship Id="rId10" Type="http://schemas.openxmlformats.org/officeDocument/2006/relationships/hyperlink" Target="https://last9.io/blog/a-practical-guide-to-implementing-slos/" TargetMode="External"/><Relationship Id="rId4" Type="http://schemas.openxmlformats.org/officeDocument/2006/relationships/diagramQuickStyle" Target="../diagrams/quickStyle37.xml"/><Relationship Id="rId9" Type="http://schemas.openxmlformats.org/officeDocument/2006/relationships/hyperlink" Target="https://cloud.google.com/stackdriver/docs/solutions/slo-monitoring" TargetMode="External"/><Relationship Id="rId14" Type="http://schemas.openxmlformats.org/officeDocument/2006/relationships/hyperlink" Target="https://www.oreilly.com/library/view/implementing-service-level/9781492076803/" TargetMode="Externa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8.xml"/><Relationship Id="rId7" Type="http://schemas.openxmlformats.org/officeDocument/2006/relationships/image" Target="../media/image20.png"/><Relationship Id="rId2" Type="http://schemas.openxmlformats.org/officeDocument/2006/relationships/diagramData" Target="../diagrams/data38.xml"/><Relationship Id="rId1" Type="http://schemas.openxmlformats.org/officeDocument/2006/relationships/slideLayout" Target="../slideLayouts/slideLayout2.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36.xml.rels><?xml version="1.0" encoding="UTF-8" standalone="yes"?>
<Relationships xmlns="http://schemas.openxmlformats.org/package/2006/relationships"><Relationship Id="rId8" Type="http://schemas.openxmlformats.org/officeDocument/2006/relationships/hyperlink" Target="https://www.linkedin.com/pulse/point-view-devsecops-sre-key-asks-considerations-balaji-ramarajan-rbb8c/" TargetMode="External"/><Relationship Id="rId3" Type="http://schemas.openxmlformats.org/officeDocument/2006/relationships/diagramLayout" Target="../diagrams/layout39.xml"/><Relationship Id="rId7" Type="http://schemas.openxmlformats.org/officeDocument/2006/relationships/hyperlink" Target="https://www.purestorage.com/au/knowledge/what-is-aiops.html" TargetMode="External"/><Relationship Id="rId2" Type="http://schemas.openxmlformats.org/officeDocument/2006/relationships/diagramData" Target="../diagrams/data39.xml"/><Relationship Id="rId1" Type="http://schemas.openxmlformats.org/officeDocument/2006/relationships/slideLayout" Target="../slideLayouts/slideLayout2.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 Id="rId9" Type="http://schemas.openxmlformats.org/officeDocument/2006/relationships/image" Target="../media/image21.png"/></Relationships>
</file>

<file path=ppt/slides/_rels/slide37.xml.rels><?xml version="1.0" encoding="UTF-8" standalone="yes"?>
<Relationships xmlns="http://schemas.openxmlformats.org/package/2006/relationships"><Relationship Id="rId8" Type="http://schemas.openxmlformats.org/officeDocument/2006/relationships/hyperlink" Target="https://www.udemy.com/course/opentelemetry-foundations/?srsltid=AfmBOooPYWRSAzj-xsXuoIFk1TfmV574_ZxdXRB0OIUK9dOYr9Wx2EAl&amp;couponCode=MT40825C" TargetMode="External"/><Relationship Id="rId13" Type="http://schemas.openxmlformats.org/officeDocument/2006/relationships/hyperlink" Target="https://github.com/magsther/awesome-opentelemetry" TargetMode="External"/><Relationship Id="rId18" Type="http://schemas.openxmlformats.org/officeDocument/2006/relationships/hyperlink" Target="https://github.com/microsoft/Kusto-Query-Language" TargetMode="External"/><Relationship Id="rId26" Type="http://schemas.openxmlformats.org/officeDocument/2006/relationships/hyperlink" Target="https://learn.microsoft.com/en-us/dotnet/api/overview/azure/kusto?view=azure-dotnet" TargetMode="External"/><Relationship Id="rId3" Type="http://schemas.openxmlformats.org/officeDocument/2006/relationships/diagramLayout" Target="../diagrams/layout40.xml"/><Relationship Id="rId21" Type="http://schemas.openxmlformats.org/officeDocument/2006/relationships/hyperlink" Target="https://learn.microsoft.com/en-us/kusto/query/window-functions?view=microsoft-fabric" TargetMode="External"/><Relationship Id="rId7" Type="http://schemas.openxmlformats.org/officeDocument/2006/relationships/hyperlink" Target="https://www.udemy.com/course/microservices-observability-resilience-monitoring-on-net/?couponCode=MT180825C" TargetMode="External"/><Relationship Id="rId12" Type="http://schemas.openxmlformats.org/officeDocument/2006/relationships/hyperlink" Target="https://www.oreilly.com/library/view/learning-opentelemetry/9781098147174/" TargetMode="External"/><Relationship Id="rId17" Type="http://schemas.openxmlformats.org/officeDocument/2006/relationships/hyperlink" Target="https://learn.microsoft.com/en-us/dotnet/core/diagnostics/distributed-tracing" TargetMode="External"/><Relationship Id="rId25" Type="http://schemas.openxmlformats.org/officeDocument/2006/relationships/hyperlink" Target="https://learn.microsoft.com/en-us/dotnet/api/overview/azure/monitor.query-readme?view=azure-dotnet" TargetMode="External"/><Relationship Id="rId2" Type="http://schemas.openxmlformats.org/officeDocument/2006/relationships/diagramData" Target="../diagrams/data40.xml"/><Relationship Id="rId16" Type="http://schemas.openxmlformats.org/officeDocument/2006/relationships/hyperlink" Target="https://learn.microsoft.com/en-us/dotnet/core/diagnostics/metrics" TargetMode="External"/><Relationship Id="rId20" Type="http://schemas.openxmlformats.org/officeDocument/2006/relationships/hyperlink" Target="https://rodtrent.substack.com/p/mastering-aggregation-functions-in" TargetMode="External"/><Relationship Id="rId29" Type="http://schemas.openxmlformats.org/officeDocument/2006/relationships/hyperlink" Target="https://learn.microsoft.com/en-us/azure/azure-monitor/fundamentals/service-limits" TargetMode="External"/><Relationship Id="rId1" Type="http://schemas.openxmlformats.org/officeDocument/2006/relationships/slideLayout" Target="../slideLayouts/slideLayout2.xml"/><Relationship Id="rId6" Type="http://schemas.microsoft.com/office/2007/relationships/diagramDrawing" Target="../diagrams/drawing40.xml"/><Relationship Id="rId11" Type="http://schemas.openxmlformats.org/officeDocument/2006/relationships/hyperlink" Target="https://github.com/PacktPublishing/Cloud-Native-Observability" TargetMode="External"/><Relationship Id="rId24" Type="http://schemas.openxmlformats.org/officeDocument/2006/relationships/hyperlink" Target="https://www.syncfusion.com/succinctly-free-ebooks/application-insights-succinctly" TargetMode="External"/><Relationship Id="rId5" Type="http://schemas.openxmlformats.org/officeDocument/2006/relationships/diagramColors" Target="../diagrams/colors40.xml"/><Relationship Id="rId15" Type="http://schemas.openxmlformats.org/officeDocument/2006/relationships/hyperlink" Target="https://learn.microsoft.com/en-us/dotnet/core/extensions/logging?tabs=command-line" TargetMode="External"/><Relationship Id="rId23" Type="http://schemas.openxmlformats.org/officeDocument/2006/relationships/hyperlink" Target="https://medium.com/asos-techblog/setting-up-alerts-using-application-insights-the-new-ones-3a625df6e3c7" TargetMode="External"/><Relationship Id="rId28" Type="http://schemas.openxmlformats.org/officeDocument/2006/relationships/hyperlink" Target="https://learn.microsoft.com/en-us/azure/azure-resource-manager/bicep/scenarios-monitoring" TargetMode="External"/><Relationship Id="rId10" Type="http://schemas.openxmlformats.org/officeDocument/2006/relationships/hyperlink" Target="https://learn.microsoft.com/en-us/dotnet/api/overview/azure/monitor.opentelemetry.aspnetcore-readme?view=azure-dotnet" TargetMode="External"/><Relationship Id="rId19" Type="http://schemas.openxmlformats.org/officeDocument/2006/relationships/hyperlink" Target="https://learn.microsoft.com/en-us/kusto/query/join-operator?view=microsoft-fabric" TargetMode="External"/><Relationship Id="rId31" Type="http://schemas.openxmlformats.org/officeDocument/2006/relationships/hyperlink" Target="https://logz.io/blog/fluentd-vs-fluent-bit/" TargetMode="External"/><Relationship Id="rId4" Type="http://schemas.openxmlformats.org/officeDocument/2006/relationships/diagramQuickStyle" Target="../diagrams/quickStyle40.xml"/><Relationship Id="rId9" Type="http://schemas.openxmlformats.org/officeDocument/2006/relationships/hyperlink" Target="https://learn.microsoft.com/en-us/dotnet/core/diagnostics/observability-with-otel" TargetMode="External"/><Relationship Id="rId14" Type="http://schemas.openxmlformats.org/officeDocument/2006/relationships/hyperlink" Target="https://github.com/SigNoz/Awesome-OpenTelemetry" TargetMode="External"/><Relationship Id="rId22" Type="http://schemas.openxmlformats.org/officeDocument/2006/relationships/hyperlink" Target="https://github.com/KQLMSPress/definitive-guide-kql/tree/main" TargetMode="External"/><Relationship Id="rId27" Type="http://schemas.openxmlformats.org/officeDocument/2006/relationships/hyperlink" Target="https://davidgiard.com/building-an-application-insights-dashboard" TargetMode="External"/><Relationship Id="rId30" Type="http://schemas.openxmlformats.org/officeDocument/2006/relationships/hyperlink" Target="https://en.wikipedia.org/wiki/Synthetic_monitoring" TargetMode="External"/></Relationships>
</file>

<file path=ppt/slides/_rels/slide38.xml.rels><?xml version="1.0" encoding="UTF-8" standalone="yes"?>
<Relationships xmlns="http://schemas.openxmlformats.org/package/2006/relationships"><Relationship Id="rId13" Type="http://schemas.openxmlformats.org/officeDocument/2006/relationships/hyperlink" Target="https://www.oreilly.com/library/view/open-source-observability/9798341622135/" TargetMode="External"/><Relationship Id="rId18" Type="http://schemas.openxmlformats.org/officeDocument/2006/relationships/hyperlink" Target="https://www.amazon.in/Implementing-Enterprise-Observability-Success-Strategically-ebook/dp/B0C3CQDYHS/ref=tmm_kin_swatch_0" TargetMode="External"/><Relationship Id="rId26" Type="http://schemas.openxmlformats.org/officeDocument/2006/relationships/hyperlink" Target="https://github.com/tiger-seo/awesome-grafana" TargetMode="External"/><Relationship Id="rId3" Type="http://schemas.openxmlformats.org/officeDocument/2006/relationships/diagramLayout" Target="../diagrams/layout41.xml"/><Relationship Id="rId21" Type="http://schemas.openxmlformats.org/officeDocument/2006/relationships/hyperlink" Target="https://github.com/PacktPublishing/Observability-with-Grafana" TargetMode="External"/><Relationship Id="rId34" Type="http://schemas.openxmlformats.org/officeDocument/2006/relationships/hyperlink" Target="https://aws.amazon.com/what-is/elk-stack/" TargetMode="External"/><Relationship Id="rId7" Type="http://schemas.openxmlformats.org/officeDocument/2006/relationships/hyperlink" Target="https://www.manning.com/books/logs-and-telemetry" TargetMode="External"/><Relationship Id="rId12" Type="http://schemas.openxmlformats.org/officeDocument/2006/relationships/hyperlink" Target="https://info.honeycomb.io/observability-engineering-oreilly-book-2022" TargetMode="External"/><Relationship Id="rId17" Type="http://schemas.openxmlformats.org/officeDocument/2006/relationships/hyperlink" Target="https://www.udemy.com/course/grafana-latest/?couponCode=MT180825C" TargetMode="External"/><Relationship Id="rId25" Type="http://schemas.openxmlformats.org/officeDocument/2006/relationships/hyperlink" Target="https://github.com/FlxPeters/awsome-grafana" TargetMode="External"/><Relationship Id="rId33" Type="http://schemas.openxmlformats.org/officeDocument/2006/relationships/hyperlink" Target="https://turbo360.com/blog/azure-service-bus-monitoring" TargetMode="External"/><Relationship Id="rId2" Type="http://schemas.openxmlformats.org/officeDocument/2006/relationships/diagramData" Target="../diagrams/data41.xml"/><Relationship Id="rId16" Type="http://schemas.openxmlformats.org/officeDocument/2006/relationships/hyperlink" Target="https://www.udemy.com/course/grafana-prometheus-loki-alloy-tempo/?couponCode=MT180825C" TargetMode="External"/><Relationship Id="rId20" Type="http://schemas.openxmlformats.org/officeDocument/2006/relationships/hyperlink" Target="https://github.com/PacktPublishing/Learn-Grafana-10" TargetMode="External"/><Relationship Id="rId29" Type="http://schemas.openxmlformats.org/officeDocument/2006/relationships/hyperlink" Target="https://github.com/PacktPublishing/Hands-On-Infrastructure-Monitoring-with-Prometheus" TargetMode="External"/><Relationship Id="rId1" Type="http://schemas.openxmlformats.org/officeDocument/2006/relationships/slideLayout" Target="../slideLayouts/slideLayout2.xml"/><Relationship Id="rId6" Type="http://schemas.microsoft.com/office/2007/relationships/diagramDrawing" Target="../diagrams/drawing41.xml"/><Relationship Id="rId11" Type="http://schemas.openxmlformats.org/officeDocument/2006/relationships/hyperlink" Target="https://www.oreilly.com/library/view/understanding-log-analytics/9781098104269/" TargetMode="External"/><Relationship Id="rId24" Type="http://schemas.openxmlformats.org/officeDocument/2006/relationships/hyperlink" Target="https://github.com/zuchka/grafana-awesome" TargetMode="External"/><Relationship Id="rId32" Type="http://schemas.openxmlformats.org/officeDocument/2006/relationships/hyperlink" Target="https://www.sysdig.com/blog/monitor-istio" TargetMode="External"/><Relationship Id="rId5" Type="http://schemas.openxmlformats.org/officeDocument/2006/relationships/diagramColors" Target="../diagrams/colors41.xml"/><Relationship Id="rId15" Type="http://schemas.openxmlformats.org/officeDocument/2006/relationships/hyperlink" Target="https://www.udemy.com/course/grafana-tutorial/?couponCode=MT180825C" TargetMode="External"/><Relationship Id="rId23" Type="http://schemas.openxmlformats.org/officeDocument/2006/relationships/hyperlink" Target="https://www.amazon.in/End-End-Observability-Grafana-comprehensive-ebook/dp/B0CBQ3SNRZ/" TargetMode="External"/><Relationship Id="rId28" Type="http://schemas.openxmlformats.org/officeDocument/2006/relationships/hyperlink" Target="https://github.com/PacktPublishing/Mastering-Prometheus" TargetMode="External"/><Relationship Id="rId10" Type="http://schemas.openxmlformats.org/officeDocument/2006/relationships/hyperlink" Target="https://giedrius.blog/2019/05/11/push-vs-pull-in-monitoring-systems/" TargetMode="External"/><Relationship Id="rId19" Type="http://schemas.openxmlformats.org/officeDocument/2006/relationships/hyperlink" Target="https://www.udemy.com/course/grafana-masterclass-observability-monitoring-alerts/?couponCode=IND21PM" TargetMode="External"/><Relationship Id="rId31" Type="http://schemas.openxmlformats.org/officeDocument/2006/relationships/hyperlink" Target="https://github.com/warpnet/awesome-prometheus" TargetMode="External"/><Relationship Id="rId4" Type="http://schemas.openxmlformats.org/officeDocument/2006/relationships/diagramQuickStyle" Target="../diagrams/quickStyle41.xml"/><Relationship Id="rId9" Type="http://schemas.openxmlformats.org/officeDocument/2006/relationships/hyperlink" Target="https://prometheus.io/blog/2016/07/23/pull-does-not-scale-or-does-it/" TargetMode="External"/><Relationship Id="rId14" Type="http://schemas.openxmlformats.org/officeDocument/2006/relationships/hyperlink" Target="https://www.ibm.com/solutions/observability?utm_content=SRCWW&amp;p1=Search&amp;p4=406136347198&amp;p5=p&amp;p9=172834356175&amp;gad_source=1&amp;gad_campaignid=22048227729&amp;gbraid=0AAAAAD-_QsTCLKn9Yi0hDp-SRurWBldCc&amp;gclid=CjwKCAjwk7DFBhBAEiwAeYbJsZiYL0mg8fA4vrguX6RqRRwWEmGFloYy9i13WPwHwjUYvfokstTjkhoCbcEQAvD_BwE&amp;gclsrc=aw.ds" TargetMode="External"/><Relationship Id="rId22" Type="http://schemas.openxmlformats.org/officeDocument/2006/relationships/hyperlink" Target="https://www.packtpub.com/en-TR/product/building-iot-visualizations-using-grafana-9781803231938?srsltid=AfmBOorKpZ3lewKuPnrnxduDQmHyOroPm4Ym30coks-wqijDZ4m8V_Hz" TargetMode="External"/><Relationship Id="rId27" Type="http://schemas.openxmlformats.org/officeDocument/2006/relationships/hyperlink" Target="https://www.udemy.com/course/prometheus-course/?couponCode=IND21PM" TargetMode="External"/><Relationship Id="rId30" Type="http://schemas.openxmlformats.org/officeDocument/2006/relationships/hyperlink" Target="https://github.com/PacktPublishing/Modern-Network-Observability" TargetMode="External"/><Relationship Id="rId8" Type="http://schemas.openxmlformats.org/officeDocument/2006/relationships/hyperlink" Target="https://jeremymorrell.dev/blog/a-practitioners-guide-to-wide-events/" TargetMode="External"/></Relationships>
</file>

<file path=ppt/slides/_rels/slide39.xml.rels><?xml version="1.0" encoding="UTF-8" standalone="yes"?>
<Relationships xmlns="http://schemas.openxmlformats.org/package/2006/relationships"><Relationship Id="rId8" Type="http://schemas.openxmlformats.org/officeDocument/2006/relationships/hyperlink" Target="https://last9.io/blog/understanding-metrics-events-logs-traces-key-pillars-of-observability/" TargetMode="External"/><Relationship Id="rId13" Type="http://schemas.openxmlformats.org/officeDocument/2006/relationships/hyperlink" Target="https://azure.microsoft.com/en-us/blog/observability-from-cloud-to-edge-in-azure/" TargetMode="External"/><Relationship Id="rId18" Type="http://schemas.openxmlformats.org/officeDocument/2006/relationships/hyperlink" Target="https://grafana.com/blog/2023/04/04/how-to-track-development-metrics-with-vscode-exporter-grafana-agent-and-grafana-cloud/" TargetMode="External"/><Relationship Id="rId3" Type="http://schemas.openxmlformats.org/officeDocument/2006/relationships/diagramLayout" Target="../diagrams/layout42.xml"/><Relationship Id="rId7" Type="http://schemas.openxmlformats.org/officeDocument/2006/relationships/hyperlink" Target="https://last9.io/blog/observability-vs-telemetry-vs-monitoring/" TargetMode="External"/><Relationship Id="rId12" Type="http://schemas.openxmlformats.org/officeDocument/2006/relationships/hyperlink" Target="https://www.elastic.co/blog/elastic-observability-sre-incident-response" TargetMode="External"/><Relationship Id="rId17" Type="http://schemas.openxmlformats.org/officeDocument/2006/relationships/hyperlink" Target="https://www.amazon.in/Fundamentals-Trace-Log-Analysis-Pattern-Oriented-ebook/dp/B0CJ1WKM5G/ref=tmm_kin_swatch_0?_encoding=UTF8&amp;dib_tag=se&amp;dib=eyJ2IjoiMSJ9.Wqtg3IYE0cGz6BhXIKhxaA2thsKSeTpRAtUt0NLTkjl0wTaE855fClZ7kIs2oQFm5bWoA8HlOmlKQLbxdE9gkUslmG9tthi0fxOGrM73Ua1SUkthsLpyznhlkuFqvHa3cdZAEMWcPkOOjvQSWmN18sbLB-krv4PfLDGWIjZE5Gb06B3QX76GpjMvpkNj-8iGax53Qk7FdRpU-fFmcZBQJb0VOC8qkJjjUyKebZ8Jla4.vL0EbPiEI7Fwk1_LW4_EvQ95zrkjE-DJK_gvNEWTFaM&amp;qid=1751617329&amp;sr=8-1" TargetMode="External"/><Relationship Id="rId2" Type="http://schemas.openxmlformats.org/officeDocument/2006/relationships/diagramData" Target="../diagrams/data42.xml"/><Relationship Id="rId16" Type="http://schemas.openxmlformats.org/officeDocument/2006/relationships/hyperlink" Target="https://www.amazon.in/Art-Monitoring-James-Turnbull-ebook/dp/B01GU387MS/" TargetMode="External"/><Relationship Id="rId1" Type="http://schemas.openxmlformats.org/officeDocument/2006/relationships/slideLayout" Target="../slideLayouts/slideLayout2.xml"/><Relationship Id="rId6" Type="http://schemas.microsoft.com/office/2007/relationships/diagramDrawing" Target="../diagrams/drawing42.xml"/><Relationship Id="rId11" Type="http://schemas.openxmlformats.org/officeDocument/2006/relationships/hyperlink" Target="https://ernesenorelus.medium.com/building-sre-from-scratch-485e23985bbd" TargetMode="External"/><Relationship Id="rId5" Type="http://schemas.openxmlformats.org/officeDocument/2006/relationships/diagramColors" Target="../diagrams/colors42.xml"/><Relationship Id="rId15" Type="http://schemas.openxmlformats.org/officeDocument/2006/relationships/hyperlink" Target="https://dzone.com/refcardz/observability-maturity-model" TargetMode="External"/><Relationship Id="rId10" Type="http://schemas.openxmlformats.org/officeDocument/2006/relationships/hyperlink" Target="https://github.com/PacktPublishing/Cloud-Observability-with-Azure-Monitor" TargetMode="External"/><Relationship Id="rId4" Type="http://schemas.openxmlformats.org/officeDocument/2006/relationships/diagramQuickStyle" Target="../diagrams/quickStyle42.xml"/><Relationship Id="rId9" Type="http://schemas.openxmlformats.org/officeDocument/2006/relationships/hyperlink" Target="https://turbo360.com/guide/microsoft-azure-monitoring" TargetMode="External"/><Relationship Id="rId14" Type="http://schemas.openxmlformats.org/officeDocument/2006/relationships/hyperlink" Target="https://aws.amazon.com/solutions/guidance/deep-application-observability-on-aws/" TargetMode="External"/></Relationships>
</file>

<file path=ppt/slides/_rels/slide40.xml.rels><?xml version="1.0" encoding="UTF-8" standalone="yes"?>
<Relationships xmlns="http://schemas.openxmlformats.org/package/2006/relationships"><Relationship Id="rId8" Type="http://schemas.openxmlformats.org/officeDocument/2006/relationships/hyperlink" Target="https://www.getorchestra.io/guides/data-observability-book-your-essential-guide-to-understanding-and-implementing-data-observability" TargetMode="External"/><Relationship Id="rId13" Type="http://schemas.openxmlformats.org/officeDocument/2006/relationships/hyperlink" Target="https://github.com/open-metadata/OpenMetadata" TargetMode="External"/><Relationship Id="rId3" Type="http://schemas.openxmlformats.org/officeDocument/2006/relationships/diagramLayout" Target="../diagrams/layout43.xml"/><Relationship Id="rId7" Type="http://schemas.openxmlformats.org/officeDocument/2006/relationships/hyperlink" Target="https://www.montecarlodata.com/blog-what-is-data-observability/" TargetMode="External"/><Relationship Id="rId12" Type="http://schemas.openxmlformats.org/officeDocument/2006/relationships/hyperlink" Target="https://www.udemy.com/course/free-datadog-observability-monitoring/?kw=Data+Observability&amp;src=sac" TargetMode="External"/><Relationship Id="rId2" Type="http://schemas.openxmlformats.org/officeDocument/2006/relationships/diagramData" Target="../diagrams/data43.xml"/><Relationship Id="rId1" Type="http://schemas.openxmlformats.org/officeDocument/2006/relationships/slideLayout" Target="../slideLayouts/slideLayout2.xml"/><Relationship Id="rId6" Type="http://schemas.microsoft.com/office/2007/relationships/diagramDrawing" Target="../diagrams/drawing43.xml"/><Relationship Id="rId11" Type="http://schemas.openxmlformats.org/officeDocument/2006/relationships/hyperlink" Target="https://www.udemy.com/course/datadog-observability-monitoring-logging-in-kubernetes-aws-eks/?kw=Data+Observability&amp;src=sac&amp;couponCode=MT260825G2" TargetMode="External"/><Relationship Id="rId5" Type="http://schemas.openxmlformats.org/officeDocument/2006/relationships/diagramColors" Target="../diagrams/colors43.xml"/><Relationship Id="rId10" Type="http://schemas.openxmlformats.org/officeDocument/2006/relationships/hyperlink" Target="https://github.com/PacktPublishing/Data-Observability-for-Data-Engineering" TargetMode="External"/><Relationship Id="rId4" Type="http://schemas.openxmlformats.org/officeDocument/2006/relationships/diagramQuickStyle" Target="../diagrams/quickStyle43.xml"/><Relationship Id="rId9" Type="http://schemas.openxmlformats.org/officeDocument/2006/relationships/hyperlink" Target="https://github.com/Fundamentals-of-Data-Observability/oreilly-fodo-source-code" TargetMode="External"/></Relationships>
</file>

<file path=ppt/slides/_rels/slide41.xml.rels><?xml version="1.0" encoding="UTF-8" standalone="yes"?>
<Relationships xmlns="http://schemas.openxmlformats.org/package/2006/relationships"><Relationship Id="rId8" Type="http://schemas.openxmlformats.org/officeDocument/2006/relationships/hyperlink" Target="https://edgedelta.com/company/blog/observability-as-code" TargetMode="External"/><Relationship Id="rId3" Type="http://schemas.openxmlformats.org/officeDocument/2006/relationships/diagramLayout" Target="../diagrams/layout44.xml"/><Relationship Id="rId7" Type="http://schemas.openxmlformats.org/officeDocument/2006/relationships/hyperlink" Target="https://www.checklyhq.com/blog/observability-as-code/" TargetMode="External"/><Relationship Id="rId2" Type="http://schemas.openxmlformats.org/officeDocument/2006/relationships/diagramData" Target="../diagrams/data44.xml"/><Relationship Id="rId1" Type="http://schemas.openxmlformats.org/officeDocument/2006/relationships/slideLayout" Target="../slideLayouts/slideLayout2.xml"/><Relationship Id="rId6" Type="http://schemas.microsoft.com/office/2007/relationships/diagramDrawing" Target="../diagrams/drawing44.xml"/><Relationship Id="rId5" Type="http://schemas.openxmlformats.org/officeDocument/2006/relationships/diagramColors" Target="../diagrams/colors44.xml"/><Relationship Id="rId10" Type="http://schemas.openxmlformats.org/officeDocument/2006/relationships/hyperlink" Target="https://grafana.com/docs/grafana/latest/observability-as-code/" TargetMode="External"/><Relationship Id="rId4" Type="http://schemas.openxmlformats.org/officeDocument/2006/relationships/diagramQuickStyle" Target="../diagrams/quickStyle44.xml"/><Relationship Id="rId9" Type="http://schemas.openxmlformats.org/officeDocument/2006/relationships/hyperlink" Target="https://microsoft.github.io/code-with-engineering-playbook/observability/observability-as-code/" TargetMode="External"/></Relationships>
</file>

<file path=ppt/slides/_rels/slide4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diagramLayout" Target="../diagrams/layout45.xml"/><Relationship Id="rId7" Type="http://schemas.openxmlformats.org/officeDocument/2006/relationships/image" Target="../media/image22.png"/><Relationship Id="rId2" Type="http://schemas.openxmlformats.org/officeDocument/2006/relationships/diagramData" Target="../diagrams/data45.xml"/><Relationship Id="rId1" Type="http://schemas.openxmlformats.org/officeDocument/2006/relationships/slideLayout" Target="../slideLayouts/slideLayout2.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43.xml.rels><?xml version="1.0" encoding="UTF-8" standalone="yes"?>
<Relationships xmlns="http://schemas.openxmlformats.org/package/2006/relationships"><Relationship Id="rId8" Type="http://schemas.openxmlformats.org/officeDocument/2006/relationships/hyperlink" Target="https://www.linkedin.com/advice/1/what-best-practices-ensuring-your-application" TargetMode="External"/><Relationship Id="rId3" Type="http://schemas.openxmlformats.org/officeDocument/2006/relationships/diagramLayout" Target="../diagrams/layout46.xml"/><Relationship Id="rId7" Type="http://schemas.openxmlformats.org/officeDocument/2006/relationships/hyperlink" Target="https://kemptechnologies.com/blog/mitigate-outages-kemp" TargetMode="External"/><Relationship Id="rId2" Type="http://schemas.openxmlformats.org/officeDocument/2006/relationships/diagramData" Target="../diagrams/data46.xml"/><Relationship Id="rId1" Type="http://schemas.openxmlformats.org/officeDocument/2006/relationships/slideLayout" Target="../slideLayouts/slideLayout2.xml"/><Relationship Id="rId6" Type="http://schemas.microsoft.com/office/2007/relationships/diagramDrawing" Target="../diagrams/drawing46.xml"/><Relationship Id="rId11" Type="http://schemas.openxmlformats.org/officeDocument/2006/relationships/hyperlink" Target="https://www.linkedin.com/posts/codewithramaa_systemdesign-spikesandbursts-distributedsystems-activity-7347973680204816384-kndb/?utm_source=share&amp;utm_medium=member_desktop&amp;rcm=ACoAADEs2XAB8-7TelfobrMhA9_jxB71Dn4BtW4" TargetMode="External"/><Relationship Id="rId5" Type="http://schemas.openxmlformats.org/officeDocument/2006/relationships/diagramColors" Target="../diagrams/colors46.xml"/><Relationship Id="rId10" Type="http://schemas.openxmlformats.org/officeDocument/2006/relationships/hyperlink" Target="https://sarahnothling.wordpress.com/2019/05/12/load-series-throttling-vs-loadshedding/" TargetMode="External"/><Relationship Id="rId4" Type="http://schemas.openxmlformats.org/officeDocument/2006/relationships/diagramQuickStyle" Target="../diagrams/quickStyle46.xml"/><Relationship Id="rId9" Type="http://schemas.openxmlformats.org/officeDocument/2006/relationships/hyperlink" Target="https://highscalability.com/4-strategies-for-punching-down-traffic-spikes/" TargetMode="External"/></Relationships>
</file>

<file path=ppt/slides/_rels/slide44.xml.rels><?xml version="1.0" encoding="UTF-8" standalone="yes"?>
<Relationships xmlns="http://schemas.openxmlformats.org/package/2006/relationships"><Relationship Id="rId8" Type="http://schemas.openxmlformats.org/officeDocument/2006/relationships/hyperlink" Target="https://www.xenonstack.com/blog/automation-incident-triage" TargetMode="External"/><Relationship Id="rId3" Type="http://schemas.openxmlformats.org/officeDocument/2006/relationships/diagramLayout" Target="../diagrams/layout47.xml"/><Relationship Id="rId7" Type="http://schemas.openxmlformats.org/officeDocument/2006/relationships/hyperlink" Target="https://blog.invgate.com/ticket-triage" TargetMode="External"/><Relationship Id="rId2" Type="http://schemas.openxmlformats.org/officeDocument/2006/relationships/diagramData" Target="../diagrams/data47.xml"/><Relationship Id="rId1" Type="http://schemas.openxmlformats.org/officeDocument/2006/relationships/slideLayout" Target="../slideLayouts/slideLayout2.xml"/><Relationship Id="rId6" Type="http://schemas.microsoft.com/office/2007/relationships/diagramDrawing" Target="../diagrams/drawing47.xml"/><Relationship Id="rId5" Type="http://schemas.openxmlformats.org/officeDocument/2006/relationships/diagramColors" Target="../diagrams/colors47.xml"/><Relationship Id="rId4" Type="http://schemas.openxmlformats.org/officeDocument/2006/relationships/diagramQuickStyle" Target="../diagrams/quickStyle47.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48.xml"/><Relationship Id="rId7" Type="http://schemas.openxmlformats.org/officeDocument/2006/relationships/image" Target="../media/image24.png"/><Relationship Id="rId2" Type="http://schemas.openxmlformats.org/officeDocument/2006/relationships/diagramData" Target="../diagrams/data48.xml"/><Relationship Id="rId1" Type="http://schemas.openxmlformats.org/officeDocument/2006/relationships/slideLayout" Target="../slideLayouts/slideLayout2.xml"/><Relationship Id="rId6" Type="http://schemas.microsoft.com/office/2007/relationships/diagramDrawing" Target="../diagrams/drawing48.xml"/><Relationship Id="rId5" Type="http://schemas.openxmlformats.org/officeDocument/2006/relationships/diagramColors" Target="../diagrams/colors48.xml"/><Relationship Id="rId4" Type="http://schemas.openxmlformats.org/officeDocument/2006/relationships/diagramQuickStyle" Target="../diagrams/quickStyle48.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49.xml"/><Relationship Id="rId7" Type="http://schemas.openxmlformats.org/officeDocument/2006/relationships/image" Target="../media/image25.png"/><Relationship Id="rId2" Type="http://schemas.openxmlformats.org/officeDocument/2006/relationships/diagramData" Target="../diagrams/data49.xml"/><Relationship Id="rId1" Type="http://schemas.openxmlformats.org/officeDocument/2006/relationships/slideLayout" Target="../slideLayouts/slideLayout2.xml"/><Relationship Id="rId6" Type="http://schemas.microsoft.com/office/2007/relationships/diagramDrawing" Target="../diagrams/drawing49.xml"/><Relationship Id="rId5" Type="http://schemas.openxmlformats.org/officeDocument/2006/relationships/diagramColors" Target="../diagrams/colors49.xml"/><Relationship Id="rId4" Type="http://schemas.openxmlformats.org/officeDocument/2006/relationships/diagramQuickStyle" Target="../diagrams/quickStyle49.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50.xml"/><Relationship Id="rId7" Type="http://schemas.openxmlformats.org/officeDocument/2006/relationships/image" Target="../media/image26.png"/><Relationship Id="rId2" Type="http://schemas.openxmlformats.org/officeDocument/2006/relationships/diagramData" Target="../diagrams/data50.xml"/><Relationship Id="rId1" Type="http://schemas.openxmlformats.org/officeDocument/2006/relationships/slideLayout" Target="../slideLayouts/slideLayout2.xml"/><Relationship Id="rId6" Type="http://schemas.microsoft.com/office/2007/relationships/diagramDrawing" Target="../diagrams/drawing50.xml"/><Relationship Id="rId5" Type="http://schemas.openxmlformats.org/officeDocument/2006/relationships/diagramColors" Target="../diagrams/colors50.xml"/><Relationship Id="rId4" Type="http://schemas.openxmlformats.org/officeDocument/2006/relationships/diagramQuickStyle" Target="../diagrams/quickStyle50.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51.xml"/><Relationship Id="rId7" Type="http://schemas.openxmlformats.org/officeDocument/2006/relationships/image" Target="../media/image27.png"/><Relationship Id="rId2" Type="http://schemas.openxmlformats.org/officeDocument/2006/relationships/diagramData" Target="../diagrams/data51.xml"/><Relationship Id="rId1" Type="http://schemas.openxmlformats.org/officeDocument/2006/relationships/slideLayout" Target="../slideLayouts/slideLayout2.xml"/><Relationship Id="rId6" Type="http://schemas.microsoft.com/office/2007/relationships/diagramDrawing" Target="../diagrams/drawing51.xml"/><Relationship Id="rId5" Type="http://schemas.openxmlformats.org/officeDocument/2006/relationships/diagramColors" Target="../diagrams/colors51.xml"/><Relationship Id="rId4" Type="http://schemas.openxmlformats.org/officeDocument/2006/relationships/diagramQuickStyle" Target="../diagrams/quickStyle51.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52.xml"/><Relationship Id="rId7" Type="http://schemas.openxmlformats.org/officeDocument/2006/relationships/image" Target="../media/image28.jpeg"/><Relationship Id="rId2" Type="http://schemas.openxmlformats.org/officeDocument/2006/relationships/diagramData" Target="../diagrams/data52.xml"/><Relationship Id="rId1" Type="http://schemas.openxmlformats.org/officeDocument/2006/relationships/slideLayout" Target="../slideLayouts/slideLayout2.xml"/><Relationship Id="rId6" Type="http://schemas.microsoft.com/office/2007/relationships/diagramDrawing" Target="../diagrams/drawing52.xml"/><Relationship Id="rId5" Type="http://schemas.openxmlformats.org/officeDocument/2006/relationships/diagramColors" Target="../diagrams/colors52.xml"/><Relationship Id="rId4" Type="http://schemas.openxmlformats.org/officeDocument/2006/relationships/diagramQuickStyle" Target="../diagrams/quickStyle52.xml"/></Relationships>
</file>

<file path=ppt/slides/_rels/slide5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diagramLayout" Target="../diagrams/layout53.xml"/><Relationship Id="rId7" Type="http://schemas.openxmlformats.org/officeDocument/2006/relationships/image" Target="../media/image29.png"/><Relationship Id="rId2" Type="http://schemas.openxmlformats.org/officeDocument/2006/relationships/diagramData" Target="../diagrams/data53.xml"/><Relationship Id="rId1" Type="http://schemas.openxmlformats.org/officeDocument/2006/relationships/slideLayout" Target="../slideLayouts/slideLayout2.xml"/><Relationship Id="rId6" Type="http://schemas.microsoft.com/office/2007/relationships/diagramDrawing" Target="../diagrams/drawing53.xml"/><Relationship Id="rId5" Type="http://schemas.openxmlformats.org/officeDocument/2006/relationships/diagramColors" Target="../diagrams/colors53.xml"/><Relationship Id="rId4" Type="http://schemas.openxmlformats.org/officeDocument/2006/relationships/diagramQuickStyle" Target="../diagrams/quickStyle53.xml"/></Relationships>
</file>

<file path=ppt/slides/_rels/slide5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diagramLayout" Target="../diagrams/layout54.xml"/><Relationship Id="rId7" Type="http://schemas.openxmlformats.org/officeDocument/2006/relationships/image" Target="../media/image29.png"/><Relationship Id="rId2" Type="http://schemas.openxmlformats.org/officeDocument/2006/relationships/diagramData" Target="../diagrams/data54.xml"/><Relationship Id="rId1" Type="http://schemas.openxmlformats.org/officeDocument/2006/relationships/slideLayout" Target="../slideLayouts/slideLayout2.xml"/><Relationship Id="rId6" Type="http://schemas.microsoft.com/office/2007/relationships/diagramDrawing" Target="../diagrams/drawing54.xml"/><Relationship Id="rId11" Type="http://schemas.openxmlformats.org/officeDocument/2006/relationships/hyperlink" Target="https://github.com/linkedin/ambry" TargetMode="External"/><Relationship Id="rId5" Type="http://schemas.openxmlformats.org/officeDocument/2006/relationships/diagramColors" Target="../diagrams/colors54.xml"/><Relationship Id="rId10" Type="http://schemas.openxmlformats.org/officeDocument/2006/relationships/hyperlink" Target="https://docs.aws.amazon.com/transfer/" TargetMode="External"/><Relationship Id="rId4" Type="http://schemas.openxmlformats.org/officeDocument/2006/relationships/diagramQuickStyle" Target="../diagrams/quickStyle54.xml"/><Relationship Id="rId9" Type="http://schemas.openxmlformats.org/officeDocument/2006/relationships/hyperlink" Target="https://dataakkadian.medium.com/learn-the-differences-between-block-file-and-object-storage-93c67ef4e163" TargetMode="External"/></Relationships>
</file>

<file path=ppt/slides/_rels/slide5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diagramLayout" Target="../diagrams/layout55.xml"/><Relationship Id="rId7" Type="http://schemas.openxmlformats.org/officeDocument/2006/relationships/image" Target="../media/image29.png"/><Relationship Id="rId2" Type="http://schemas.openxmlformats.org/officeDocument/2006/relationships/diagramData" Target="../diagrams/data55.xml"/><Relationship Id="rId1" Type="http://schemas.openxmlformats.org/officeDocument/2006/relationships/slideLayout" Target="../slideLayouts/slideLayout2.xml"/><Relationship Id="rId6" Type="http://schemas.microsoft.com/office/2007/relationships/diagramDrawing" Target="../diagrams/drawing55.xml"/><Relationship Id="rId5" Type="http://schemas.openxmlformats.org/officeDocument/2006/relationships/diagramColors" Target="../diagrams/colors55.xml"/><Relationship Id="rId4" Type="http://schemas.openxmlformats.org/officeDocument/2006/relationships/diagramQuickStyle" Target="../diagrams/quickStyle55.xml"/></Relationships>
</file>

<file path=ppt/slides/_rels/slide5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diagramLayout" Target="../diagrams/layout56.xml"/><Relationship Id="rId7" Type="http://schemas.openxmlformats.org/officeDocument/2006/relationships/image" Target="../media/image29.png"/><Relationship Id="rId2" Type="http://schemas.openxmlformats.org/officeDocument/2006/relationships/diagramData" Target="../diagrams/data56.xml"/><Relationship Id="rId1" Type="http://schemas.openxmlformats.org/officeDocument/2006/relationships/slideLayout" Target="../slideLayouts/slideLayout2.xml"/><Relationship Id="rId6" Type="http://schemas.microsoft.com/office/2007/relationships/diagramDrawing" Target="../diagrams/drawing56.xml"/><Relationship Id="rId5" Type="http://schemas.openxmlformats.org/officeDocument/2006/relationships/diagramColors" Target="../diagrams/colors56.xml"/><Relationship Id="rId4" Type="http://schemas.openxmlformats.org/officeDocument/2006/relationships/diagramQuickStyle" Target="../diagrams/quickStyle56.xml"/><Relationship Id="rId9" Type="http://schemas.openxmlformats.org/officeDocument/2006/relationships/hyperlink" Target="https://www.openfaas.com/blog/asp-net-core/" TargetMode="External"/></Relationships>
</file>

<file path=ppt/slides/_rels/slide5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diagramLayout" Target="../diagrams/layout57.xml"/><Relationship Id="rId7" Type="http://schemas.openxmlformats.org/officeDocument/2006/relationships/image" Target="../media/image29.png"/><Relationship Id="rId2" Type="http://schemas.openxmlformats.org/officeDocument/2006/relationships/diagramData" Target="../diagrams/data57.xml"/><Relationship Id="rId1" Type="http://schemas.openxmlformats.org/officeDocument/2006/relationships/slideLayout" Target="../slideLayouts/slideLayout2.xml"/><Relationship Id="rId6" Type="http://schemas.microsoft.com/office/2007/relationships/diagramDrawing" Target="../diagrams/drawing57.xml"/><Relationship Id="rId5" Type="http://schemas.openxmlformats.org/officeDocument/2006/relationships/diagramColors" Target="../diagrams/colors57.xml"/><Relationship Id="rId4" Type="http://schemas.openxmlformats.org/officeDocument/2006/relationships/diagramQuickStyle" Target="../diagrams/quickStyle57.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58.xml"/><Relationship Id="rId7" Type="http://schemas.openxmlformats.org/officeDocument/2006/relationships/image" Target="../media/image35.png"/><Relationship Id="rId2" Type="http://schemas.openxmlformats.org/officeDocument/2006/relationships/diagramData" Target="../diagrams/data58.xml"/><Relationship Id="rId1" Type="http://schemas.openxmlformats.org/officeDocument/2006/relationships/slideLayout" Target="../slideLayouts/slideLayout2.xml"/><Relationship Id="rId6" Type="http://schemas.microsoft.com/office/2007/relationships/diagramDrawing" Target="../diagrams/drawing58.xml"/><Relationship Id="rId5" Type="http://schemas.openxmlformats.org/officeDocument/2006/relationships/diagramColors" Target="../diagrams/colors58.xml"/><Relationship Id="rId4" Type="http://schemas.openxmlformats.org/officeDocument/2006/relationships/diagramQuickStyle" Target="../diagrams/quickStyle58.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59.xml"/><Relationship Id="rId7" Type="http://schemas.openxmlformats.org/officeDocument/2006/relationships/image" Target="../media/image36.png"/><Relationship Id="rId2" Type="http://schemas.openxmlformats.org/officeDocument/2006/relationships/diagramData" Target="../diagrams/data59.xml"/><Relationship Id="rId1" Type="http://schemas.openxmlformats.org/officeDocument/2006/relationships/slideLayout" Target="../slideLayouts/slideLayout2.xml"/><Relationship Id="rId6" Type="http://schemas.microsoft.com/office/2007/relationships/diagramDrawing" Target="../diagrams/drawing59.xml"/><Relationship Id="rId5" Type="http://schemas.openxmlformats.org/officeDocument/2006/relationships/diagramColors" Target="../diagrams/colors59.xml"/><Relationship Id="rId4" Type="http://schemas.openxmlformats.org/officeDocument/2006/relationships/diagramQuickStyle" Target="../diagrams/quickStyle59.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60.xml"/><Relationship Id="rId7" Type="http://schemas.openxmlformats.org/officeDocument/2006/relationships/image" Target="../media/image37.png"/><Relationship Id="rId2" Type="http://schemas.openxmlformats.org/officeDocument/2006/relationships/diagramData" Target="../diagrams/data60.xml"/><Relationship Id="rId1" Type="http://schemas.openxmlformats.org/officeDocument/2006/relationships/slideLayout" Target="../slideLayouts/slideLayout2.xml"/><Relationship Id="rId6" Type="http://schemas.microsoft.com/office/2007/relationships/diagramDrawing" Target="../diagrams/drawing60.xml"/><Relationship Id="rId5" Type="http://schemas.openxmlformats.org/officeDocument/2006/relationships/diagramColors" Target="../diagrams/colors60.xml"/><Relationship Id="rId4" Type="http://schemas.openxmlformats.org/officeDocument/2006/relationships/diagramQuickStyle" Target="../diagrams/quickStyle60.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61.xml"/><Relationship Id="rId7" Type="http://schemas.openxmlformats.org/officeDocument/2006/relationships/image" Target="../media/image38.png"/><Relationship Id="rId2" Type="http://schemas.openxmlformats.org/officeDocument/2006/relationships/diagramData" Target="../diagrams/data61.xml"/><Relationship Id="rId1" Type="http://schemas.openxmlformats.org/officeDocument/2006/relationships/slideLayout" Target="../slideLayouts/slideLayout2.xml"/><Relationship Id="rId6" Type="http://schemas.microsoft.com/office/2007/relationships/diagramDrawing" Target="../diagrams/drawing61.xml"/><Relationship Id="rId5" Type="http://schemas.openxmlformats.org/officeDocument/2006/relationships/diagramColors" Target="../diagrams/colors61.xml"/><Relationship Id="rId4" Type="http://schemas.openxmlformats.org/officeDocument/2006/relationships/diagramQuickStyle" Target="../diagrams/quickStyle61.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62.xml"/><Relationship Id="rId7" Type="http://schemas.openxmlformats.org/officeDocument/2006/relationships/image" Target="../media/image39.png"/><Relationship Id="rId2" Type="http://schemas.openxmlformats.org/officeDocument/2006/relationships/diagramData" Target="../diagrams/data62.xml"/><Relationship Id="rId1" Type="http://schemas.openxmlformats.org/officeDocument/2006/relationships/slideLayout" Target="../slideLayouts/slideLayout2.xml"/><Relationship Id="rId6" Type="http://schemas.microsoft.com/office/2007/relationships/diagramDrawing" Target="../diagrams/drawing62.xml"/><Relationship Id="rId5" Type="http://schemas.openxmlformats.org/officeDocument/2006/relationships/diagramColors" Target="../diagrams/colors62.xml"/><Relationship Id="rId4" Type="http://schemas.openxmlformats.org/officeDocument/2006/relationships/diagramQuickStyle" Target="../diagrams/quickStyle62.xml"/></Relationships>
</file>

<file path=ppt/slides/_rels/slide60.xml.rels><?xml version="1.0" encoding="UTF-8" standalone="yes"?>
<Relationships xmlns="http://schemas.openxmlformats.org/package/2006/relationships"><Relationship Id="rId8" Type="http://schemas.openxmlformats.org/officeDocument/2006/relationships/hyperlink" Target="https://cloud.google.com/discover/what-is-container-orchestration?hl=en" TargetMode="External"/><Relationship Id="rId13" Type="http://schemas.openxmlformats.org/officeDocument/2006/relationships/hyperlink" Target="https://www.udemy.com/course/docker-kubernetes-the-practical-guide/?couponCode=MT180825C" TargetMode="External"/><Relationship Id="rId18" Type="http://schemas.openxmlformats.org/officeDocument/2006/relationships/hyperlink" Target="https://github.com/PacktPublishing/Edge-Computing-Systems-with-Kubernetes" TargetMode="External"/><Relationship Id="rId26" Type="http://schemas.openxmlformats.org/officeDocument/2006/relationships/hyperlink" Target="https://github.com/kocierik/cube" TargetMode="External"/><Relationship Id="rId3" Type="http://schemas.openxmlformats.org/officeDocument/2006/relationships/diagramData" Target="../diagrams/data63.xml"/><Relationship Id="rId21" Type="http://schemas.openxmlformats.org/officeDocument/2006/relationships/hyperlink" Target="https://github.com/anksos/awesome-knative" TargetMode="External"/><Relationship Id="rId7" Type="http://schemas.microsoft.com/office/2007/relationships/diagramDrawing" Target="../diagrams/drawing63.xml"/><Relationship Id="rId12" Type="http://schemas.openxmlformats.org/officeDocument/2006/relationships/hyperlink" Target="https://www.udemy.com/course/complete-docker-kubernetes/?couponCode=MT180825C" TargetMode="External"/><Relationship Id="rId17" Type="http://schemas.openxmlformats.org/officeDocument/2006/relationships/hyperlink" Target="https://github.com/PacktPublishing/The-Kubernetes-Bible-Second-Edition" TargetMode="External"/><Relationship Id="rId25" Type="http://schemas.openxmlformats.org/officeDocument/2006/relationships/hyperlink" Target="https://thenewstack.io/does-kubernetes-really-perform-better-on-bare-metal-vs-vms/" TargetMode="External"/><Relationship Id="rId2" Type="http://schemas.openxmlformats.org/officeDocument/2006/relationships/notesSlide" Target="../notesSlides/notesSlide1.xml"/><Relationship Id="rId16" Type="http://schemas.openxmlformats.org/officeDocument/2006/relationships/hyperlink" Target="https://github.com/PacktPublishing/Mastering-Kubernetes-4th-Edition" TargetMode="External"/><Relationship Id="rId20" Type="http://schemas.openxmlformats.org/officeDocument/2006/relationships/hyperlink" Target="https://developers.redhat.com/e-books/kubernetes-patterns" TargetMode="External"/><Relationship Id="rId29" Type="http://schemas.openxmlformats.org/officeDocument/2006/relationships/hyperlink" Target="https://www.milanjovanovic.tech/blog/dotnet-aspire-a-game-changer-for-cloud-native-development" TargetMode="External"/><Relationship Id="rId1" Type="http://schemas.openxmlformats.org/officeDocument/2006/relationships/slideLayout" Target="../slideLayouts/slideLayout2.xml"/><Relationship Id="rId6" Type="http://schemas.openxmlformats.org/officeDocument/2006/relationships/diagramColors" Target="../diagrams/colors63.xml"/><Relationship Id="rId11" Type="http://schemas.openxmlformats.org/officeDocument/2006/relationships/hyperlink" Target="https://learn.microsoft.com/en-us/azure/architecture/reference-architectures/containers/aks/baseline-aks" TargetMode="External"/><Relationship Id="rId24" Type="http://schemas.openxmlformats.org/officeDocument/2006/relationships/hyperlink" Target="https://www.reddit.com/r/kubernetes/comments/15eq3rc/lens_vs_komodor_vs_rancher/?rdt=59129" TargetMode="External"/><Relationship Id="rId5" Type="http://schemas.openxmlformats.org/officeDocument/2006/relationships/diagramQuickStyle" Target="../diagrams/quickStyle63.xml"/><Relationship Id="rId15" Type="http://schemas.openxmlformats.org/officeDocument/2006/relationships/hyperlink" Target="https://github.com/PacktPublishing/Kubernetes-An-Enterprise-Guide-Third-Edition" TargetMode="External"/><Relationship Id="rId23" Type="http://schemas.openxmlformats.org/officeDocument/2006/relationships/hyperlink" Target="https://www.youtube.com/watch?v=IsM4bnJ-8Gw" TargetMode="External"/><Relationship Id="rId28" Type="http://schemas.openxmlformats.org/officeDocument/2006/relationships/hyperlink" Target="https://mehmetozkaya.medium.com/net-aspire-concepts-orchestration-integrations-and-service-discovery-257036cb50b3" TargetMode="External"/><Relationship Id="rId10" Type="http://schemas.openxmlformats.org/officeDocument/2006/relationships/hyperlink" Target="https://learn.microsoft.com/en-us/azure/aks/core-aks-concepts" TargetMode="External"/><Relationship Id="rId19" Type="http://schemas.openxmlformats.org/officeDocument/2006/relationships/hyperlink" Target="https://github.com/PacktPublishing/IoT-Edge-Computing-with-MicroK8s" TargetMode="External"/><Relationship Id="rId4" Type="http://schemas.openxmlformats.org/officeDocument/2006/relationships/diagramLayout" Target="../diagrams/layout63.xml"/><Relationship Id="rId9" Type="http://schemas.openxmlformats.org/officeDocument/2006/relationships/hyperlink" Target="https://learn.microsoft.com/en-us/azure/architecture/microservices/design/orchestration" TargetMode="External"/><Relationship Id="rId14" Type="http://schemas.openxmlformats.org/officeDocument/2006/relationships/hyperlink" Target="https://www.udemy.com/course/master-docker-kubernetes/?couponCode=MT180825C" TargetMode="External"/><Relationship Id="rId22" Type="http://schemas.openxmlformats.org/officeDocument/2006/relationships/hyperlink" Target="https://stackoverflow.com/questions/59451056/differences-between-sidecar-and-ambassador-and-adapter-pattern" TargetMode="External"/><Relationship Id="rId27" Type="http://schemas.openxmlformats.org/officeDocument/2006/relationships/hyperlink" Target="https://learn.microsoft.com/en-us/shows/dotnet-aspire-2024/what-is-dev-time-orchestration" TargetMode="External"/></Relationships>
</file>

<file path=ppt/slides/_rels/slide61.xml.rels><?xml version="1.0" encoding="UTF-8" standalone="yes"?>
<Relationships xmlns="http://schemas.openxmlformats.org/package/2006/relationships"><Relationship Id="rId8" Type="http://schemas.openxmlformats.org/officeDocument/2006/relationships/hyperlink" Target="https://aws.amazon.com/what-is/cidr/" TargetMode="External"/><Relationship Id="rId3" Type="http://schemas.openxmlformats.org/officeDocument/2006/relationships/diagramLayout" Target="../diagrams/layout64.xml"/><Relationship Id="rId7" Type="http://schemas.openxmlformats.org/officeDocument/2006/relationships/hyperlink" Target="https://www.javatpoint.com/ip-address-format-and-table" TargetMode="External"/><Relationship Id="rId2" Type="http://schemas.openxmlformats.org/officeDocument/2006/relationships/diagramData" Target="../diagrams/data64.xml"/><Relationship Id="rId1" Type="http://schemas.openxmlformats.org/officeDocument/2006/relationships/slideLayout" Target="../slideLayouts/slideLayout2.xml"/><Relationship Id="rId6" Type="http://schemas.microsoft.com/office/2007/relationships/diagramDrawing" Target="../diagrams/drawing64.xml"/><Relationship Id="rId5" Type="http://schemas.openxmlformats.org/officeDocument/2006/relationships/diagramColors" Target="../diagrams/colors64.xml"/><Relationship Id="rId10" Type="http://schemas.openxmlformats.org/officeDocument/2006/relationships/image" Target="../media/image40.png"/><Relationship Id="rId4" Type="http://schemas.openxmlformats.org/officeDocument/2006/relationships/diagramQuickStyle" Target="../diagrams/quickStyle64.xml"/><Relationship Id="rId9" Type="http://schemas.openxmlformats.org/officeDocument/2006/relationships/hyperlink" Target="https://dev.to/aws-builders/aws-networking-aws-vpc-subnets-security-groups-nat-gateway-ip-addresses-4p8c" TargetMode="Externa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65.xml"/><Relationship Id="rId7" Type="http://schemas.openxmlformats.org/officeDocument/2006/relationships/image" Target="../media/image41.png"/><Relationship Id="rId2" Type="http://schemas.openxmlformats.org/officeDocument/2006/relationships/diagramData" Target="../diagrams/data65.xml"/><Relationship Id="rId1" Type="http://schemas.openxmlformats.org/officeDocument/2006/relationships/slideLayout" Target="../slideLayouts/slideLayout2.xml"/><Relationship Id="rId6" Type="http://schemas.microsoft.com/office/2007/relationships/diagramDrawing" Target="../diagrams/drawing65.xml"/><Relationship Id="rId5" Type="http://schemas.openxmlformats.org/officeDocument/2006/relationships/diagramColors" Target="../diagrams/colors65.xml"/><Relationship Id="rId4" Type="http://schemas.openxmlformats.org/officeDocument/2006/relationships/diagramQuickStyle" Target="../diagrams/quickStyle65.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66.xml"/><Relationship Id="rId7" Type="http://schemas.openxmlformats.org/officeDocument/2006/relationships/image" Target="../media/image42.png"/><Relationship Id="rId2" Type="http://schemas.openxmlformats.org/officeDocument/2006/relationships/diagramData" Target="../diagrams/data66.xml"/><Relationship Id="rId1" Type="http://schemas.openxmlformats.org/officeDocument/2006/relationships/slideLayout" Target="../slideLayouts/slideLayout2.xml"/><Relationship Id="rId6" Type="http://schemas.microsoft.com/office/2007/relationships/diagramDrawing" Target="../diagrams/drawing66.xml"/><Relationship Id="rId5" Type="http://schemas.openxmlformats.org/officeDocument/2006/relationships/diagramColors" Target="../diagrams/colors66.xml"/><Relationship Id="rId4" Type="http://schemas.openxmlformats.org/officeDocument/2006/relationships/diagramQuickStyle" Target="../diagrams/quickStyle66.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67.xml"/><Relationship Id="rId7" Type="http://schemas.openxmlformats.org/officeDocument/2006/relationships/image" Target="../media/image43.png"/><Relationship Id="rId2" Type="http://schemas.openxmlformats.org/officeDocument/2006/relationships/diagramData" Target="../diagrams/data67.xml"/><Relationship Id="rId1" Type="http://schemas.openxmlformats.org/officeDocument/2006/relationships/slideLayout" Target="../slideLayouts/slideLayout2.xml"/><Relationship Id="rId6" Type="http://schemas.microsoft.com/office/2007/relationships/diagramDrawing" Target="../diagrams/drawing67.xml"/><Relationship Id="rId5" Type="http://schemas.openxmlformats.org/officeDocument/2006/relationships/diagramColors" Target="../diagrams/colors67.xml"/><Relationship Id="rId4" Type="http://schemas.openxmlformats.org/officeDocument/2006/relationships/diagramQuickStyle" Target="../diagrams/quickStyle67.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68.xml"/><Relationship Id="rId7" Type="http://schemas.openxmlformats.org/officeDocument/2006/relationships/image" Target="../media/image44.png"/><Relationship Id="rId2" Type="http://schemas.openxmlformats.org/officeDocument/2006/relationships/diagramData" Target="../diagrams/data68.xml"/><Relationship Id="rId1" Type="http://schemas.openxmlformats.org/officeDocument/2006/relationships/slideLayout" Target="../slideLayouts/slideLayout2.xml"/><Relationship Id="rId6" Type="http://schemas.microsoft.com/office/2007/relationships/diagramDrawing" Target="../diagrams/drawing68.xml"/><Relationship Id="rId5" Type="http://schemas.openxmlformats.org/officeDocument/2006/relationships/diagramColors" Target="../diagrams/colors68.xml"/><Relationship Id="rId4" Type="http://schemas.openxmlformats.org/officeDocument/2006/relationships/diagramQuickStyle" Target="../diagrams/quickStyle68.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69.xml"/><Relationship Id="rId7" Type="http://schemas.openxmlformats.org/officeDocument/2006/relationships/image" Target="../media/image45.png"/><Relationship Id="rId2" Type="http://schemas.openxmlformats.org/officeDocument/2006/relationships/diagramData" Target="../diagrams/data69.xml"/><Relationship Id="rId1" Type="http://schemas.openxmlformats.org/officeDocument/2006/relationships/slideLayout" Target="../slideLayouts/slideLayout2.xml"/><Relationship Id="rId6" Type="http://schemas.microsoft.com/office/2007/relationships/diagramDrawing" Target="../diagrams/drawing69.xml"/><Relationship Id="rId5" Type="http://schemas.openxmlformats.org/officeDocument/2006/relationships/diagramColors" Target="../diagrams/colors69.xml"/><Relationship Id="rId4" Type="http://schemas.openxmlformats.org/officeDocument/2006/relationships/diagramQuickStyle" Target="../diagrams/quickStyle69.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70.xml"/><Relationship Id="rId7" Type="http://schemas.openxmlformats.org/officeDocument/2006/relationships/image" Target="../media/image46.png"/><Relationship Id="rId2" Type="http://schemas.openxmlformats.org/officeDocument/2006/relationships/diagramData" Target="../diagrams/data70.xml"/><Relationship Id="rId1" Type="http://schemas.openxmlformats.org/officeDocument/2006/relationships/slideLayout" Target="../slideLayouts/slideLayout2.xml"/><Relationship Id="rId6" Type="http://schemas.microsoft.com/office/2007/relationships/diagramDrawing" Target="../diagrams/drawing70.xml"/><Relationship Id="rId5" Type="http://schemas.openxmlformats.org/officeDocument/2006/relationships/diagramColors" Target="../diagrams/colors70.xml"/><Relationship Id="rId4" Type="http://schemas.openxmlformats.org/officeDocument/2006/relationships/diagramQuickStyle" Target="../diagrams/quickStyle70.xml"/></Relationships>
</file>

<file path=ppt/slides/_rels/slide68.xml.rels><?xml version="1.0" encoding="UTF-8" standalone="yes"?>
<Relationships xmlns="http://schemas.openxmlformats.org/package/2006/relationships"><Relationship Id="rId8" Type="http://schemas.openxmlformats.org/officeDocument/2006/relationships/hyperlink" Target="https://learn.microsoft.com/en-us/azure/cloud-adoption-framework/ready/azure-setup-guide/organize-resources" TargetMode="External"/><Relationship Id="rId3" Type="http://schemas.openxmlformats.org/officeDocument/2006/relationships/diagramLayout" Target="../diagrams/layout71.xml"/><Relationship Id="rId7" Type="http://schemas.openxmlformats.org/officeDocument/2006/relationships/image" Target="../media/image47.png"/><Relationship Id="rId2" Type="http://schemas.openxmlformats.org/officeDocument/2006/relationships/diagramData" Target="../diagrams/data71.xml"/><Relationship Id="rId1" Type="http://schemas.openxmlformats.org/officeDocument/2006/relationships/slideLayout" Target="../slideLayouts/slideLayout2.xml"/><Relationship Id="rId6" Type="http://schemas.microsoft.com/office/2007/relationships/diagramDrawing" Target="../diagrams/drawing71.xml"/><Relationship Id="rId5" Type="http://schemas.openxmlformats.org/officeDocument/2006/relationships/diagramColors" Target="../diagrams/colors71.xml"/><Relationship Id="rId4" Type="http://schemas.openxmlformats.org/officeDocument/2006/relationships/diagramQuickStyle" Target="../diagrams/quickStyle71.xml"/></Relationships>
</file>

<file path=ppt/slides/_rels/slide69.xml.rels><?xml version="1.0" encoding="UTF-8" standalone="yes"?>
<Relationships xmlns="http://schemas.openxmlformats.org/package/2006/relationships"><Relationship Id="rId8" Type="http://schemas.openxmlformats.org/officeDocument/2006/relationships/hyperlink" Target="https://www.tenable.com/blog/aws-azure-and-gcp-the-ultimate-iam-comparison" TargetMode="External"/><Relationship Id="rId3" Type="http://schemas.openxmlformats.org/officeDocument/2006/relationships/diagramLayout" Target="../diagrams/layout72.xml"/><Relationship Id="rId7" Type="http://schemas.openxmlformats.org/officeDocument/2006/relationships/image" Target="../media/image48.png"/><Relationship Id="rId2" Type="http://schemas.openxmlformats.org/officeDocument/2006/relationships/diagramData" Target="../diagrams/data72.xml"/><Relationship Id="rId1" Type="http://schemas.openxmlformats.org/officeDocument/2006/relationships/slideLayout" Target="../slideLayouts/slideLayout2.xml"/><Relationship Id="rId6" Type="http://schemas.microsoft.com/office/2007/relationships/diagramDrawing" Target="../diagrams/drawing72.xml"/><Relationship Id="rId11" Type="http://schemas.openxmlformats.org/officeDocument/2006/relationships/hyperlink" Target="https://learn.microsoft.com/en-us/azure/security/fundamentals/identity-management-best-practices" TargetMode="External"/><Relationship Id="rId5" Type="http://schemas.openxmlformats.org/officeDocument/2006/relationships/diagramColors" Target="../diagrams/colors72.xml"/><Relationship Id="rId10" Type="http://schemas.openxmlformats.org/officeDocument/2006/relationships/hyperlink" Target="https://learn.microsoft.com/en-us/azure/well-architected/security/identity-access" TargetMode="External"/><Relationship Id="rId4" Type="http://schemas.openxmlformats.org/officeDocument/2006/relationships/diagramQuickStyle" Target="../diagrams/quickStyle72.xml"/><Relationship Id="rId9" Type="http://schemas.openxmlformats.org/officeDocument/2006/relationships/hyperlink" Target="https://learn.microsoft.com/en-us/entra/id-governance/privileged-identity-management/pim-configure" TargetMode="Externa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73.xml"/><Relationship Id="rId7" Type="http://schemas.openxmlformats.org/officeDocument/2006/relationships/image" Target="../media/image49.png"/><Relationship Id="rId2" Type="http://schemas.openxmlformats.org/officeDocument/2006/relationships/diagramData" Target="../diagrams/data73.xml"/><Relationship Id="rId1" Type="http://schemas.openxmlformats.org/officeDocument/2006/relationships/slideLayout" Target="../slideLayouts/slideLayout2.xml"/><Relationship Id="rId6" Type="http://schemas.microsoft.com/office/2007/relationships/diagramDrawing" Target="../diagrams/drawing73.xml"/><Relationship Id="rId5" Type="http://schemas.openxmlformats.org/officeDocument/2006/relationships/diagramColors" Target="../diagrams/colors73.xml"/><Relationship Id="rId4" Type="http://schemas.openxmlformats.org/officeDocument/2006/relationships/diagramQuickStyle" Target="../diagrams/quickStyle73.xml"/></Relationships>
</file>

<file path=ppt/slides/_rels/slide7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diagramLayout" Target="../diagrams/layout74.xml"/><Relationship Id="rId7" Type="http://schemas.openxmlformats.org/officeDocument/2006/relationships/image" Target="../media/image50.png"/><Relationship Id="rId2" Type="http://schemas.openxmlformats.org/officeDocument/2006/relationships/diagramData" Target="../diagrams/data74.xml"/><Relationship Id="rId1" Type="http://schemas.openxmlformats.org/officeDocument/2006/relationships/slideLayout" Target="../slideLayouts/slideLayout2.xml"/><Relationship Id="rId6" Type="http://schemas.microsoft.com/office/2007/relationships/diagramDrawing" Target="../diagrams/drawing74.xml"/><Relationship Id="rId5" Type="http://schemas.openxmlformats.org/officeDocument/2006/relationships/diagramColors" Target="../diagrams/colors74.xml"/><Relationship Id="rId4" Type="http://schemas.openxmlformats.org/officeDocument/2006/relationships/diagramQuickStyle" Target="../diagrams/quickStyle74.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75.xml"/><Relationship Id="rId7" Type="http://schemas.openxmlformats.org/officeDocument/2006/relationships/image" Target="../media/image52.png"/><Relationship Id="rId2" Type="http://schemas.openxmlformats.org/officeDocument/2006/relationships/diagramData" Target="../diagrams/data75.xml"/><Relationship Id="rId1" Type="http://schemas.openxmlformats.org/officeDocument/2006/relationships/slideLayout" Target="../slideLayouts/slideLayout2.xml"/><Relationship Id="rId6" Type="http://schemas.microsoft.com/office/2007/relationships/diagramDrawing" Target="../diagrams/drawing75.xml"/><Relationship Id="rId5" Type="http://schemas.openxmlformats.org/officeDocument/2006/relationships/diagramColors" Target="../diagrams/colors75.xml"/><Relationship Id="rId4" Type="http://schemas.openxmlformats.org/officeDocument/2006/relationships/diagramQuickStyle" Target="../diagrams/quickStyle75.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76.xml"/><Relationship Id="rId7" Type="http://schemas.openxmlformats.org/officeDocument/2006/relationships/image" Target="../media/image53.png"/><Relationship Id="rId2" Type="http://schemas.openxmlformats.org/officeDocument/2006/relationships/diagramData" Target="../diagrams/data76.xml"/><Relationship Id="rId1" Type="http://schemas.openxmlformats.org/officeDocument/2006/relationships/slideLayout" Target="../slideLayouts/slideLayout2.xml"/><Relationship Id="rId6" Type="http://schemas.microsoft.com/office/2007/relationships/diagramDrawing" Target="../diagrams/drawing76.xml"/><Relationship Id="rId5" Type="http://schemas.openxmlformats.org/officeDocument/2006/relationships/diagramColors" Target="../diagrams/colors76.xml"/><Relationship Id="rId4" Type="http://schemas.openxmlformats.org/officeDocument/2006/relationships/diagramQuickStyle" Target="../diagrams/quickStyle76.xml"/></Relationships>
</file>

<file path=ppt/slides/_rels/slide74.xml.rels><?xml version="1.0" encoding="UTF-8" standalone="yes"?>
<Relationships xmlns="http://schemas.openxmlformats.org/package/2006/relationships"><Relationship Id="rId8" Type="http://schemas.openxmlformats.org/officeDocument/2006/relationships/hyperlink" Target="https://www.cloud4c.com/blogs/cloud-adoption-framework-versus-well-architected-framework" TargetMode="External"/><Relationship Id="rId3" Type="http://schemas.openxmlformats.org/officeDocument/2006/relationships/diagramLayout" Target="../diagrams/layout77.xml"/><Relationship Id="rId7" Type="http://schemas.openxmlformats.org/officeDocument/2006/relationships/image" Target="../media/image54.png"/><Relationship Id="rId2" Type="http://schemas.openxmlformats.org/officeDocument/2006/relationships/diagramData" Target="../diagrams/data77.xml"/><Relationship Id="rId1" Type="http://schemas.openxmlformats.org/officeDocument/2006/relationships/slideLayout" Target="../slideLayouts/slideLayout2.xml"/><Relationship Id="rId6" Type="http://schemas.microsoft.com/office/2007/relationships/diagramDrawing" Target="../diagrams/drawing77.xml"/><Relationship Id="rId5" Type="http://schemas.openxmlformats.org/officeDocument/2006/relationships/diagramColors" Target="../diagrams/colors77.xml"/><Relationship Id="rId4" Type="http://schemas.openxmlformats.org/officeDocument/2006/relationships/diagramQuickStyle" Target="../diagrams/quickStyle77.xml"/><Relationship Id="rId9" Type="http://schemas.openxmlformats.org/officeDocument/2006/relationships/hyperlink" Target="https://www.syncfusion.com/succinctly-free-ebooks/app-modernization-on-azure-succinctly" TargetMode="External"/></Relationships>
</file>

<file path=ppt/slides/_rels/slide75.xml.rels><?xml version="1.0" encoding="UTF-8" standalone="yes"?>
<Relationships xmlns="http://schemas.openxmlformats.org/package/2006/relationships"><Relationship Id="rId8" Type="http://schemas.openxmlformats.org/officeDocument/2006/relationships/hyperlink" Target="https://www.linkedin.com/pulse/how-build-cloud-agnostic-enterprise-web-applications-sandeep-kaushal/" TargetMode="External"/><Relationship Id="rId3" Type="http://schemas.openxmlformats.org/officeDocument/2006/relationships/diagramLayout" Target="../diagrams/layout78.xml"/><Relationship Id="rId7" Type="http://schemas.openxmlformats.org/officeDocument/2006/relationships/image" Target="../media/image55.png"/><Relationship Id="rId2" Type="http://schemas.openxmlformats.org/officeDocument/2006/relationships/diagramData" Target="../diagrams/data78.xml"/><Relationship Id="rId1" Type="http://schemas.openxmlformats.org/officeDocument/2006/relationships/slideLayout" Target="../slideLayouts/slideLayout2.xml"/><Relationship Id="rId6" Type="http://schemas.microsoft.com/office/2007/relationships/diagramDrawing" Target="../diagrams/drawing78.xml"/><Relationship Id="rId5" Type="http://schemas.openxmlformats.org/officeDocument/2006/relationships/diagramColors" Target="../diagrams/colors78.xml"/><Relationship Id="rId4" Type="http://schemas.openxmlformats.org/officeDocument/2006/relationships/diagramQuickStyle" Target="../diagrams/quickStyle78.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79.xml"/><Relationship Id="rId2" Type="http://schemas.openxmlformats.org/officeDocument/2006/relationships/diagramData" Target="../diagrams/data79.xml"/><Relationship Id="rId1" Type="http://schemas.openxmlformats.org/officeDocument/2006/relationships/slideLayout" Target="../slideLayouts/slideLayout2.xml"/><Relationship Id="rId6" Type="http://schemas.microsoft.com/office/2007/relationships/diagramDrawing" Target="../diagrams/drawing79.xml"/><Relationship Id="rId5" Type="http://schemas.openxmlformats.org/officeDocument/2006/relationships/diagramColors" Target="../diagrams/colors79.xml"/><Relationship Id="rId4" Type="http://schemas.openxmlformats.org/officeDocument/2006/relationships/diagramQuickStyle" Target="../diagrams/quickStyle79.xml"/></Relationships>
</file>

<file path=ppt/slides/_rels/slide77.xml.rels><?xml version="1.0" encoding="UTF-8" standalone="yes"?>
<Relationships xmlns="http://schemas.openxmlformats.org/package/2006/relationships"><Relationship Id="rId3" Type="http://schemas.openxmlformats.org/officeDocument/2006/relationships/diagramLayout" Target="../diagrams/layout80.xml"/><Relationship Id="rId2" Type="http://schemas.openxmlformats.org/officeDocument/2006/relationships/diagramData" Target="../diagrams/data80.xml"/><Relationship Id="rId1" Type="http://schemas.openxmlformats.org/officeDocument/2006/relationships/slideLayout" Target="../slideLayouts/slideLayout2.xml"/><Relationship Id="rId6" Type="http://schemas.microsoft.com/office/2007/relationships/diagramDrawing" Target="../diagrams/drawing80.xml"/><Relationship Id="rId5" Type="http://schemas.openxmlformats.org/officeDocument/2006/relationships/diagramColors" Target="../diagrams/colors80.xml"/><Relationship Id="rId4" Type="http://schemas.openxmlformats.org/officeDocument/2006/relationships/diagramQuickStyle" Target="../diagrams/quickStyle80.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81.xml"/><Relationship Id="rId2" Type="http://schemas.openxmlformats.org/officeDocument/2006/relationships/diagramData" Target="../diagrams/data81.xml"/><Relationship Id="rId1" Type="http://schemas.openxmlformats.org/officeDocument/2006/relationships/slideLayout" Target="../slideLayouts/slideLayout2.xml"/><Relationship Id="rId6" Type="http://schemas.microsoft.com/office/2007/relationships/diagramDrawing" Target="../diagrams/drawing81.xml"/><Relationship Id="rId5" Type="http://schemas.openxmlformats.org/officeDocument/2006/relationships/diagramColors" Target="../diagrams/colors81.xml"/><Relationship Id="rId4" Type="http://schemas.openxmlformats.org/officeDocument/2006/relationships/diagramQuickStyle" Target="../diagrams/quickStyle81.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82.xml"/><Relationship Id="rId2" Type="http://schemas.openxmlformats.org/officeDocument/2006/relationships/diagramData" Target="../diagrams/data82.xml"/><Relationship Id="rId1" Type="http://schemas.openxmlformats.org/officeDocument/2006/relationships/slideLayout" Target="../slideLayouts/slideLayout2.xml"/><Relationship Id="rId6" Type="http://schemas.microsoft.com/office/2007/relationships/diagramDrawing" Target="../diagrams/drawing82.xml"/><Relationship Id="rId5" Type="http://schemas.openxmlformats.org/officeDocument/2006/relationships/diagramColors" Target="../diagrams/colors82.xml"/><Relationship Id="rId4" Type="http://schemas.openxmlformats.org/officeDocument/2006/relationships/diagramQuickStyle" Target="../diagrams/quickStyle82.xml"/></Relationships>
</file>

<file path=ppt/slides/_rels/slide80.xml.rels><?xml version="1.0" encoding="UTF-8" standalone="yes"?>
<Relationships xmlns="http://schemas.openxmlformats.org/package/2006/relationships"><Relationship Id="rId8" Type="http://schemas.openxmlformats.org/officeDocument/2006/relationships/hyperlink" Target="https://learn.microsoft.com/en-us/azure/cloud-adoption-framework/ready/landing-zone/" TargetMode="External"/><Relationship Id="rId3" Type="http://schemas.openxmlformats.org/officeDocument/2006/relationships/diagramLayout" Target="../diagrams/layout83.xml"/><Relationship Id="rId7" Type="http://schemas.openxmlformats.org/officeDocument/2006/relationships/hyperlink" Target="https://docs.aws.amazon.com/prescriptive-guidance/latest/strategy-migration/aws-landing-zone.html#:~:text=A%20landing%20zone%20is%20a,%2C%20network%20design%2C%20and%20logging." TargetMode="External"/><Relationship Id="rId2" Type="http://schemas.openxmlformats.org/officeDocument/2006/relationships/diagramData" Target="../diagrams/data83.xml"/><Relationship Id="rId1" Type="http://schemas.openxmlformats.org/officeDocument/2006/relationships/slideLayout" Target="../slideLayouts/slideLayout2.xml"/><Relationship Id="rId6" Type="http://schemas.microsoft.com/office/2007/relationships/diagramDrawing" Target="../diagrams/drawing83.xml"/><Relationship Id="rId5" Type="http://schemas.openxmlformats.org/officeDocument/2006/relationships/diagramColors" Target="../diagrams/colors83.xml"/><Relationship Id="rId4" Type="http://schemas.openxmlformats.org/officeDocument/2006/relationships/diagramQuickStyle" Target="../diagrams/quickStyle83.xml"/><Relationship Id="rId9" Type="http://schemas.openxmlformats.org/officeDocument/2006/relationships/hyperlink" Target="https://cloud.google.com/architecture/landing-zones" TargetMode="Externa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84.xml"/><Relationship Id="rId7" Type="http://schemas.openxmlformats.org/officeDocument/2006/relationships/image" Target="../media/image56.png"/><Relationship Id="rId2" Type="http://schemas.openxmlformats.org/officeDocument/2006/relationships/diagramData" Target="../diagrams/data84.xml"/><Relationship Id="rId1" Type="http://schemas.openxmlformats.org/officeDocument/2006/relationships/slideLayout" Target="../slideLayouts/slideLayout2.xml"/><Relationship Id="rId6" Type="http://schemas.microsoft.com/office/2007/relationships/diagramDrawing" Target="../diagrams/drawing84.xml"/><Relationship Id="rId5" Type="http://schemas.openxmlformats.org/officeDocument/2006/relationships/diagramColors" Target="../diagrams/colors84.xml"/><Relationship Id="rId4" Type="http://schemas.openxmlformats.org/officeDocument/2006/relationships/diagramQuickStyle" Target="../diagrams/quickStyle84.xml"/></Relationships>
</file>

<file path=ppt/slides/_rels/slide82.xml.rels><?xml version="1.0" encoding="UTF-8" standalone="yes"?>
<Relationships xmlns="http://schemas.openxmlformats.org/package/2006/relationships"><Relationship Id="rId3" Type="http://schemas.openxmlformats.org/officeDocument/2006/relationships/diagramLayout" Target="../diagrams/layout85.xml"/><Relationship Id="rId7" Type="http://schemas.openxmlformats.org/officeDocument/2006/relationships/image" Target="../media/image57.png"/><Relationship Id="rId2" Type="http://schemas.openxmlformats.org/officeDocument/2006/relationships/diagramData" Target="../diagrams/data85.xml"/><Relationship Id="rId1" Type="http://schemas.openxmlformats.org/officeDocument/2006/relationships/slideLayout" Target="../slideLayouts/slideLayout2.xml"/><Relationship Id="rId6" Type="http://schemas.microsoft.com/office/2007/relationships/diagramDrawing" Target="../diagrams/drawing85.xml"/><Relationship Id="rId5" Type="http://schemas.openxmlformats.org/officeDocument/2006/relationships/diagramColors" Target="../diagrams/colors85.xml"/><Relationship Id="rId4" Type="http://schemas.openxmlformats.org/officeDocument/2006/relationships/diagramQuickStyle" Target="../diagrams/quickStyle85.xml"/></Relationships>
</file>

<file path=ppt/slides/_rels/slide83.xml.rels><?xml version="1.0" encoding="UTF-8" standalone="yes"?>
<Relationships xmlns="http://schemas.openxmlformats.org/package/2006/relationships"><Relationship Id="rId3" Type="http://schemas.openxmlformats.org/officeDocument/2006/relationships/diagramLayout" Target="../diagrams/layout86.xml"/><Relationship Id="rId7" Type="http://schemas.openxmlformats.org/officeDocument/2006/relationships/image" Target="../media/image58.png"/><Relationship Id="rId2" Type="http://schemas.openxmlformats.org/officeDocument/2006/relationships/diagramData" Target="../diagrams/data86.xml"/><Relationship Id="rId1" Type="http://schemas.openxmlformats.org/officeDocument/2006/relationships/slideLayout" Target="../slideLayouts/slideLayout2.xml"/><Relationship Id="rId6" Type="http://schemas.microsoft.com/office/2007/relationships/diagramDrawing" Target="../diagrams/drawing86.xml"/><Relationship Id="rId5" Type="http://schemas.openxmlformats.org/officeDocument/2006/relationships/diagramColors" Target="../diagrams/colors86.xml"/><Relationship Id="rId4" Type="http://schemas.openxmlformats.org/officeDocument/2006/relationships/diagramQuickStyle" Target="../diagrams/quickStyle86.xml"/></Relationships>
</file>

<file path=ppt/slides/_rels/slide84.xml.rels><?xml version="1.0" encoding="UTF-8" standalone="yes"?>
<Relationships xmlns="http://schemas.openxmlformats.org/package/2006/relationships"><Relationship Id="rId3" Type="http://schemas.openxmlformats.org/officeDocument/2006/relationships/diagramLayout" Target="../diagrams/layout87.xml"/><Relationship Id="rId7" Type="http://schemas.openxmlformats.org/officeDocument/2006/relationships/image" Target="../media/image59.png"/><Relationship Id="rId2" Type="http://schemas.openxmlformats.org/officeDocument/2006/relationships/diagramData" Target="../diagrams/data87.xml"/><Relationship Id="rId1" Type="http://schemas.openxmlformats.org/officeDocument/2006/relationships/slideLayout" Target="../slideLayouts/slideLayout2.xml"/><Relationship Id="rId6" Type="http://schemas.microsoft.com/office/2007/relationships/diagramDrawing" Target="../diagrams/drawing87.xml"/><Relationship Id="rId5" Type="http://schemas.openxmlformats.org/officeDocument/2006/relationships/diagramColors" Target="../diagrams/colors87.xml"/><Relationship Id="rId4" Type="http://schemas.openxmlformats.org/officeDocument/2006/relationships/diagramQuickStyle" Target="../diagrams/quickStyle87.xml"/></Relationships>
</file>

<file path=ppt/slides/_rels/slide85.xml.rels><?xml version="1.0" encoding="UTF-8" standalone="yes"?>
<Relationships xmlns="http://schemas.openxmlformats.org/package/2006/relationships"><Relationship Id="rId3" Type="http://schemas.openxmlformats.org/officeDocument/2006/relationships/diagramLayout" Target="../diagrams/layout88.xml"/><Relationship Id="rId7" Type="http://schemas.openxmlformats.org/officeDocument/2006/relationships/image" Target="../media/image60.png"/><Relationship Id="rId2" Type="http://schemas.openxmlformats.org/officeDocument/2006/relationships/diagramData" Target="../diagrams/data88.xml"/><Relationship Id="rId1" Type="http://schemas.openxmlformats.org/officeDocument/2006/relationships/slideLayout" Target="../slideLayouts/slideLayout2.xml"/><Relationship Id="rId6" Type="http://schemas.microsoft.com/office/2007/relationships/diagramDrawing" Target="../diagrams/drawing88.xml"/><Relationship Id="rId5" Type="http://schemas.openxmlformats.org/officeDocument/2006/relationships/diagramColors" Target="../diagrams/colors88.xml"/><Relationship Id="rId4" Type="http://schemas.openxmlformats.org/officeDocument/2006/relationships/diagramQuickStyle" Target="../diagrams/quickStyle88.xml"/></Relationships>
</file>

<file path=ppt/slides/_rels/slide86.xml.rels><?xml version="1.0" encoding="UTF-8" standalone="yes"?>
<Relationships xmlns="http://schemas.openxmlformats.org/package/2006/relationships"><Relationship Id="rId3" Type="http://schemas.openxmlformats.org/officeDocument/2006/relationships/diagramLayout" Target="../diagrams/layout89.xml"/><Relationship Id="rId7" Type="http://schemas.openxmlformats.org/officeDocument/2006/relationships/image" Target="../media/image61.png"/><Relationship Id="rId2" Type="http://schemas.openxmlformats.org/officeDocument/2006/relationships/diagramData" Target="../diagrams/data89.xml"/><Relationship Id="rId1" Type="http://schemas.openxmlformats.org/officeDocument/2006/relationships/slideLayout" Target="../slideLayouts/slideLayout2.xml"/><Relationship Id="rId6" Type="http://schemas.microsoft.com/office/2007/relationships/diagramDrawing" Target="../diagrams/drawing89.xml"/><Relationship Id="rId5" Type="http://schemas.openxmlformats.org/officeDocument/2006/relationships/diagramColors" Target="../diagrams/colors89.xml"/><Relationship Id="rId4" Type="http://schemas.openxmlformats.org/officeDocument/2006/relationships/diagramQuickStyle" Target="../diagrams/quickStyle89.xml"/></Relationships>
</file>

<file path=ppt/slides/_rels/slide87.xml.rels><?xml version="1.0" encoding="UTF-8" standalone="yes"?>
<Relationships xmlns="http://schemas.openxmlformats.org/package/2006/relationships"><Relationship Id="rId3" Type="http://schemas.openxmlformats.org/officeDocument/2006/relationships/diagramLayout" Target="../diagrams/layout90.xml"/><Relationship Id="rId7" Type="http://schemas.openxmlformats.org/officeDocument/2006/relationships/image" Target="../media/image62.png"/><Relationship Id="rId2" Type="http://schemas.openxmlformats.org/officeDocument/2006/relationships/diagramData" Target="../diagrams/data90.xml"/><Relationship Id="rId1" Type="http://schemas.openxmlformats.org/officeDocument/2006/relationships/slideLayout" Target="../slideLayouts/slideLayout2.xml"/><Relationship Id="rId6" Type="http://schemas.microsoft.com/office/2007/relationships/diagramDrawing" Target="../diagrams/drawing90.xml"/><Relationship Id="rId5" Type="http://schemas.openxmlformats.org/officeDocument/2006/relationships/diagramColors" Target="../diagrams/colors90.xml"/><Relationship Id="rId4" Type="http://schemas.openxmlformats.org/officeDocument/2006/relationships/diagramQuickStyle" Target="../diagrams/quickStyle90.xml"/></Relationships>
</file>

<file path=ppt/slides/_rels/slide88.xml.rels><?xml version="1.0" encoding="UTF-8" standalone="yes"?>
<Relationships xmlns="http://schemas.openxmlformats.org/package/2006/relationships"><Relationship Id="rId3" Type="http://schemas.openxmlformats.org/officeDocument/2006/relationships/diagramLayout" Target="../diagrams/layout91.xml"/><Relationship Id="rId7" Type="http://schemas.openxmlformats.org/officeDocument/2006/relationships/image" Target="../media/image63.png"/><Relationship Id="rId2" Type="http://schemas.openxmlformats.org/officeDocument/2006/relationships/diagramData" Target="../diagrams/data91.xml"/><Relationship Id="rId1" Type="http://schemas.openxmlformats.org/officeDocument/2006/relationships/slideLayout" Target="../slideLayouts/slideLayout2.xml"/><Relationship Id="rId6" Type="http://schemas.microsoft.com/office/2007/relationships/diagramDrawing" Target="../diagrams/drawing91.xml"/><Relationship Id="rId5" Type="http://schemas.openxmlformats.org/officeDocument/2006/relationships/diagramColors" Target="../diagrams/colors91.xml"/><Relationship Id="rId4" Type="http://schemas.openxmlformats.org/officeDocument/2006/relationships/diagramQuickStyle" Target="../diagrams/quickStyle91.xml"/></Relationships>
</file>

<file path=ppt/slides/_rels/slide89.xml.rels><?xml version="1.0" encoding="UTF-8" standalone="yes"?>
<Relationships xmlns="http://schemas.openxmlformats.org/package/2006/relationships"><Relationship Id="rId3" Type="http://schemas.openxmlformats.org/officeDocument/2006/relationships/diagramLayout" Target="../diagrams/layout92.xml"/><Relationship Id="rId7" Type="http://schemas.openxmlformats.org/officeDocument/2006/relationships/image" Target="../media/image64.png"/><Relationship Id="rId2" Type="http://schemas.openxmlformats.org/officeDocument/2006/relationships/diagramData" Target="../diagrams/data92.xml"/><Relationship Id="rId1" Type="http://schemas.openxmlformats.org/officeDocument/2006/relationships/slideLayout" Target="../slideLayouts/slideLayout2.xml"/><Relationship Id="rId6" Type="http://schemas.microsoft.com/office/2007/relationships/diagramDrawing" Target="../diagrams/drawing92.xml"/><Relationship Id="rId5" Type="http://schemas.openxmlformats.org/officeDocument/2006/relationships/diagramColors" Target="../diagrams/colors92.xml"/><Relationship Id="rId4" Type="http://schemas.openxmlformats.org/officeDocument/2006/relationships/diagramQuickStyle" Target="../diagrams/quickStyle92.xml"/></Relationships>
</file>

<file path=ppt/slides/_rels/slide90.xml.rels><?xml version="1.0" encoding="UTF-8" standalone="yes"?>
<Relationships xmlns="http://schemas.openxmlformats.org/package/2006/relationships"><Relationship Id="rId3" Type="http://schemas.openxmlformats.org/officeDocument/2006/relationships/diagramLayout" Target="../diagrams/layout93.xml"/><Relationship Id="rId7" Type="http://schemas.openxmlformats.org/officeDocument/2006/relationships/image" Target="../media/image65.png"/><Relationship Id="rId2" Type="http://schemas.openxmlformats.org/officeDocument/2006/relationships/diagramData" Target="../diagrams/data93.xml"/><Relationship Id="rId1" Type="http://schemas.openxmlformats.org/officeDocument/2006/relationships/slideLayout" Target="../slideLayouts/slideLayout2.xml"/><Relationship Id="rId6" Type="http://schemas.microsoft.com/office/2007/relationships/diagramDrawing" Target="../diagrams/drawing93.xml"/><Relationship Id="rId5" Type="http://schemas.openxmlformats.org/officeDocument/2006/relationships/diagramColors" Target="../diagrams/colors93.xml"/><Relationship Id="rId4" Type="http://schemas.openxmlformats.org/officeDocument/2006/relationships/diagramQuickStyle" Target="../diagrams/quickStyle93.xml"/></Relationships>
</file>

<file path=ppt/slides/_rels/slide91.xml.rels><?xml version="1.0" encoding="UTF-8" standalone="yes"?>
<Relationships xmlns="http://schemas.openxmlformats.org/package/2006/relationships"><Relationship Id="rId3" Type="http://schemas.openxmlformats.org/officeDocument/2006/relationships/diagramLayout" Target="../diagrams/layout94.xml"/><Relationship Id="rId7" Type="http://schemas.openxmlformats.org/officeDocument/2006/relationships/image" Target="../media/image66.png"/><Relationship Id="rId2" Type="http://schemas.openxmlformats.org/officeDocument/2006/relationships/diagramData" Target="../diagrams/data94.xml"/><Relationship Id="rId1" Type="http://schemas.openxmlformats.org/officeDocument/2006/relationships/slideLayout" Target="../slideLayouts/slideLayout2.xml"/><Relationship Id="rId6" Type="http://schemas.microsoft.com/office/2007/relationships/diagramDrawing" Target="../diagrams/drawing94.xml"/><Relationship Id="rId5" Type="http://schemas.openxmlformats.org/officeDocument/2006/relationships/diagramColors" Target="../diagrams/colors94.xml"/><Relationship Id="rId4" Type="http://schemas.openxmlformats.org/officeDocument/2006/relationships/diagramQuickStyle" Target="../diagrams/quickStyle94.xml"/></Relationships>
</file>

<file path=ppt/slides/_rels/slide92.xml.rels><?xml version="1.0" encoding="UTF-8" standalone="yes"?>
<Relationships xmlns="http://schemas.openxmlformats.org/package/2006/relationships"><Relationship Id="rId3" Type="http://schemas.openxmlformats.org/officeDocument/2006/relationships/diagramLayout" Target="../diagrams/layout95.xml"/><Relationship Id="rId2" Type="http://schemas.openxmlformats.org/officeDocument/2006/relationships/diagramData" Target="../diagrams/data95.xml"/><Relationship Id="rId1" Type="http://schemas.openxmlformats.org/officeDocument/2006/relationships/slideLayout" Target="../slideLayouts/slideLayout2.xml"/><Relationship Id="rId6" Type="http://schemas.microsoft.com/office/2007/relationships/diagramDrawing" Target="../diagrams/drawing95.xml"/><Relationship Id="rId5" Type="http://schemas.openxmlformats.org/officeDocument/2006/relationships/diagramColors" Target="../diagrams/colors95.xml"/><Relationship Id="rId4" Type="http://schemas.openxmlformats.org/officeDocument/2006/relationships/diagramQuickStyle" Target="../diagrams/quickStyle95.xml"/></Relationships>
</file>

<file path=ppt/slides/_rels/slide93.xml.rels><?xml version="1.0" encoding="UTF-8" standalone="yes"?>
<Relationships xmlns="http://schemas.openxmlformats.org/package/2006/relationships"><Relationship Id="rId8" Type="http://schemas.openxmlformats.org/officeDocument/2006/relationships/hyperlink" Target="https://github.com/PacktPublishing/Hybrid-Cloud-Security-Patterns" TargetMode="External"/><Relationship Id="rId3" Type="http://schemas.openxmlformats.org/officeDocument/2006/relationships/diagramLayout" Target="../diagrams/layout96.xml"/><Relationship Id="rId7" Type="http://schemas.openxmlformats.org/officeDocument/2006/relationships/hyperlink" Target="https://www.packtpub.com/en-us/product/achieving-digital-transformation-using-hybrid-cloud-9781837633692" TargetMode="External"/><Relationship Id="rId2" Type="http://schemas.openxmlformats.org/officeDocument/2006/relationships/diagramData" Target="../diagrams/data96.xml"/><Relationship Id="rId1" Type="http://schemas.openxmlformats.org/officeDocument/2006/relationships/slideLayout" Target="../slideLayouts/slideLayout2.xml"/><Relationship Id="rId6" Type="http://schemas.microsoft.com/office/2007/relationships/diagramDrawing" Target="../diagrams/drawing96.xml"/><Relationship Id="rId5" Type="http://schemas.openxmlformats.org/officeDocument/2006/relationships/diagramColors" Target="../diagrams/colors96.xml"/><Relationship Id="rId4" Type="http://schemas.openxmlformats.org/officeDocument/2006/relationships/diagramQuickStyle" Target="../diagrams/quickStyle96.xml"/></Relationships>
</file>

<file path=ppt/slides/_rels/slide94.xml.rels><?xml version="1.0" encoding="UTF-8" standalone="yes"?>
<Relationships xmlns="http://schemas.openxmlformats.org/package/2006/relationships"><Relationship Id="rId3" Type="http://schemas.openxmlformats.org/officeDocument/2006/relationships/diagramLayout" Target="../diagrams/layout97.xml"/><Relationship Id="rId2" Type="http://schemas.openxmlformats.org/officeDocument/2006/relationships/diagramData" Target="../diagrams/data97.xml"/><Relationship Id="rId1" Type="http://schemas.openxmlformats.org/officeDocument/2006/relationships/slideLayout" Target="../slideLayouts/slideLayout2.xml"/><Relationship Id="rId6" Type="http://schemas.microsoft.com/office/2007/relationships/diagramDrawing" Target="../diagrams/drawing97.xml"/><Relationship Id="rId5" Type="http://schemas.openxmlformats.org/officeDocument/2006/relationships/diagramColors" Target="../diagrams/colors97.xml"/><Relationship Id="rId4" Type="http://schemas.openxmlformats.org/officeDocument/2006/relationships/diagramQuickStyle" Target="../diagrams/quickStyle97.xml"/></Relationships>
</file>

<file path=ppt/slides/_rels/slide95.xml.rels><?xml version="1.0" encoding="UTF-8" standalone="yes"?>
<Relationships xmlns="http://schemas.openxmlformats.org/package/2006/relationships"><Relationship Id="rId3" Type="http://schemas.openxmlformats.org/officeDocument/2006/relationships/diagramLayout" Target="../diagrams/layout98.xml"/><Relationship Id="rId2" Type="http://schemas.openxmlformats.org/officeDocument/2006/relationships/diagramData" Target="../diagrams/data98.xml"/><Relationship Id="rId1" Type="http://schemas.openxmlformats.org/officeDocument/2006/relationships/slideLayout" Target="../slideLayouts/slideLayout2.xml"/><Relationship Id="rId6" Type="http://schemas.microsoft.com/office/2007/relationships/diagramDrawing" Target="../diagrams/drawing98.xml"/><Relationship Id="rId5" Type="http://schemas.openxmlformats.org/officeDocument/2006/relationships/diagramColors" Target="../diagrams/colors98.xml"/><Relationship Id="rId4" Type="http://schemas.openxmlformats.org/officeDocument/2006/relationships/diagramQuickStyle" Target="../diagrams/quickStyle98.xml"/></Relationships>
</file>

<file path=ppt/slides/_rels/slide96.xml.rels><?xml version="1.0" encoding="UTF-8" standalone="yes"?>
<Relationships xmlns="http://schemas.openxmlformats.org/package/2006/relationships"><Relationship Id="rId3" Type="http://schemas.openxmlformats.org/officeDocument/2006/relationships/diagramLayout" Target="../diagrams/layout99.xml"/><Relationship Id="rId2" Type="http://schemas.openxmlformats.org/officeDocument/2006/relationships/diagramData" Target="../diagrams/data99.xml"/><Relationship Id="rId1" Type="http://schemas.openxmlformats.org/officeDocument/2006/relationships/slideLayout" Target="../slideLayouts/slideLayout2.xml"/><Relationship Id="rId6" Type="http://schemas.microsoft.com/office/2007/relationships/diagramDrawing" Target="../diagrams/drawing99.xml"/><Relationship Id="rId5" Type="http://schemas.openxmlformats.org/officeDocument/2006/relationships/diagramColors" Target="../diagrams/colors99.xml"/><Relationship Id="rId4" Type="http://schemas.openxmlformats.org/officeDocument/2006/relationships/diagramQuickStyle" Target="../diagrams/quickStyle99.xml"/></Relationships>
</file>

<file path=ppt/slides/_rels/slide97.xml.rels><?xml version="1.0" encoding="UTF-8" standalone="yes"?>
<Relationships xmlns="http://schemas.openxmlformats.org/package/2006/relationships"><Relationship Id="rId3" Type="http://schemas.openxmlformats.org/officeDocument/2006/relationships/diagramLayout" Target="../diagrams/layout100.xml"/><Relationship Id="rId2" Type="http://schemas.openxmlformats.org/officeDocument/2006/relationships/diagramData" Target="../diagrams/data100.xml"/><Relationship Id="rId1" Type="http://schemas.openxmlformats.org/officeDocument/2006/relationships/slideLayout" Target="../slideLayouts/slideLayout2.xml"/><Relationship Id="rId6" Type="http://schemas.microsoft.com/office/2007/relationships/diagramDrawing" Target="../diagrams/drawing100.xml"/><Relationship Id="rId5" Type="http://schemas.openxmlformats.org/officeDocument/2006/relationships/diagramColors" Target="../diagrams/colors100.xml"/><Relationship Id="rId4" Type="http://schemas.openxmlformats.org/officeDocument/2006/relationships/diagramQuickStyle" Target="../diagrams/quickStyle100.xml"/></Relationships>
</file>

<file path=ppt/slides/_rels/slide98.xml.rels><?xml version="1.0" encoding="UTF-8" standalone="yes"?>
<Relationships xmlns="http://schemas.openxmlformats.org/package/2006/relationships"><Relationship Id="rId8" Type="http://schemas.openxmlformats.org/officeDocument/2006/relationships/hyperlink" Target="https://www.simform.com/blog/multi-cloud-management/" TargetMode="External"/><Relationship Id="rId13" Type="http://schemas.openxmlformats.org/officeDocument/2006/relationships/hyperlink" Target="https://content.akka.io/guide/principles-and-patterns-for-distributed-application-architecture" TargetMode="External"/><Relationship Id="rId3" Type="http://schemas.openxmlformats.org/officeDocument/2006/relationships/diagramLayout" Target="../diagrams/layout101.xml"/><Relationship Id="rId7" Type="http://schemas.openxmlformats.org/officeDocument/2006/relationships/hyperlink" Target="https://www.esparkinfo.com/blog/multi-cloud-architecture.html" TargetMode="External"/><Relationship Id="rId12" Type="http://schemas.openxmlformats.org/officeDocument/2006/relationships/hyperlink" Target="https://www.packtpub.com/en-in/product/enterprise-grade-hybrid-and-multi-cloud-strategies-9781804615119" TargetMode="External"/><Relationship Id="rId2" Type="http://schemas.openxmlformats.org/officeDocument/2006/relationships/diagramData" Target="../diagrams/data101.xml"/><Relationship Id="rId1" Type="http://schemas.openxmlformats.org/officeDocument/2006/relationships/slideLayout" Target="../slideLayouts/slideLayout2.xml"/><Relationship Id="rId6" Type="http://schemas.microsoft.com/office/2007/relationships/diagramDrawing" Target="../diagrams/drawing101.xml"/><Relationship Id="rId11" Type="http://schemas.openxmlformats.org/officeDocument/2006/relationships/hyperlink" Target="https://github.com/PacktPublishing/Multi-Cloud-Strategy-for-Cloud-Architects" TargetMode="External"/><Relationship Id="rId5" Type="http://schemas.openxmlformats.org/officeDocument/2006/relationships/diagramColors" Target="../diagrams/colors101.xml"/><Relationship Id="rId10" Type="http://schemas.openxmlformats.org/officeDocument/2006/relationships/hyperlink" Target="https://github.com/PacktPublishing/Multi-Cloud-Handbook-for-Developers" TargetMode="External"/><Relationship Id="rId4" Type="http://schemas.openxmlformats.org/officeDocument/2006/relationships/diagramQuickStyle" Target="../diagrams/quickStyle101.xml"/><Relationship Id="rId9" Type="http://schemas.openxmlformats.org/officeDocument/2006/relationships/hyperlink" Target="https://cloud.google.com/architecture/hybrid-multicloud-patterns-and-practices/one-page-view" TargetMode="External"/></Relationships>
</file>

<file path=ppt/slides/_rels/slide99.xml.rels><?xml version="1.0" encoding="UTF-8" standalone="yes"?>
<Relationships xmlns="http://schemas.openxmlformats.org/package/2006/relationships"><Relationship Id="rId3" Type="http://schemas.openxmlformats.org/officeDocument/2006/relationships/diagramLayout" Target="../diagrams/layout102.xml"/><Relationship Id="rId2" Type="http://schemas.openxmlformats.org/officeDocument/2006/relationships/diagramData" Target="../diagrams/data102.xml"/><Relationship Id="rId1" Type="http://schemas.openxmlformats.org/officeDocument/2006/relationships/slideLayout" Target="../slideLayouts/slideLayout2.xml"/><Relationship Id="rId6" Type="http://schemas.microsoft.com/office/2007/relationships/diagramDrawing" Target="../diagrams/drawing102.xml"/><Relationship Id="rId5" Type="http://schemas.openxmlformats.org/officeDocument/2006/relationships/diagramColors" Target="../diagrams/colors102.xml"/><Relationship Id="rId4" Type="http://schemas.openxmlformats.org/officeDocument/2006/relationships/diagramQuickStyle" Target="../diagrams/quickStyle102.xml"/></Relationships>
</file>

<file path=ppt/slides/_rels/slide100.xml.rels><?xml version="1.0" encoding="UTF-8" standalone="yes"?>
<Relationships xmlns="http://schemas.openxmlformats.org/package/2006/relationships"><Relationship Id="rId3" Type="http://schemas.openxmlformats.org/officeDocument/2006/relationships/diagramLayout" Target="../diagrams/layout103.xml"/><Relationship Id="rId2" Type="http://schemas.openxmlformats.org/officeDocument/2006/relationships/diagramData" Target="../diagrams/data103.xml"/><Relationship Id="rId1" Type="http://schemas.openxmlformats.org/officeDocument/2006/relationships/slideLayout" Target="../slideLayouts/slideLayout2.xml"/><Relationship Id="rId6" Type="http://schemas.microsoft.com/office/2007/relationships/diagramDrawing" Target="../diagrams/drawing103.xml"/><Relationship Id="rId5" Type="http://schemas.openxmlformats.org/officeDocument/2006/relationships/diagramColors" Target="../diagrams/colors103.xml"/><Relationship Id="rId4" Type="http://schemas.openxmlformats.org/officeDocument/2006/relationships/diagramQuickStyle" Target="../diagrams/quickStyle103.xml"/></Relationships>
</file>

<file path=ppt/slides/_rels/slide101.xml.rels><?xml version="1.0" encoding="UTF-8" standalone="yes"?>
<Relationships xmlns="http://schemas.openxmlformats.org/package/2006/relationships"><Relationship Id="rId3" Type="http://schemas.openxmlformats.org/officeDocument/2006/relationships/diagramLayout" Target="../diagrams/layout104.xml"/><Relationship Id="rId2" Type="http://schemas.openxmlformats.org/officeDocument/2006/relationships/diagramData" Target="../diagrams/data104.xml"/><Relationship Id="rId1" Type="http://schemas.openxmlformats.org/officeDocument/2006/relationships/slideLayout" Target="../slideLayouts/slideLayout2.xml"/><Relationship Id="rId6" Type="http://schemas.microsoft.com/office/2007/relationships/diagramDrawing" Target="../diagrams/drawing104.xml"/><Relationship Id="rId5" Type="http://schemas.openxmlformats.org/officeDocument/2006/relationships/diagramColors" Target="../diagrams/colors104.xml"/><Relationship Id="rId4" Type="http://schemas.openxmlformats.org/officeDocument/2006/relationships/diagramQuickStyle" Target="../diagrams/quickStyle104.xml"/></Relationships>
</file>

<file path=ppt/slides/_rels/slide102.xml.rels><?xml version="1.0" encoding="UTF-8" standalone="yes"?>
<Relationships xmlns="http://schemas.openxmlformats.org/package/2006/relationships"><Relationship Id="rId3" Type="http://schemas.openxmlformats.org/officeDocument/2006/relationships/diagramLayout" Target="../diagrams/layout105.xml"/><Relationship Id="rId2" Type="http://schemas.openxmlformats.org/officeDocument/2006/relationships/diagramData" Target="../diagrams/data105.xml"/><Relationship Id="rId1" Type="http://schemas.openxmlformats.org/officeDocument/2006/relationships/slideLayout" Target="../slideLayouts/slideLayout2.xml"/><Relationship Id="rId6" Type="http://schemas.microsoft.com/office/2007/relationships/diagramDrawing" Target="../diagrams/drawing105.xml"/><Relationship Id="rId5" Type="http://schemas.openxmlformats.org/officeDocument/2006/relationships/diagramColors" Target="../diagrams/colors105.xml"/><Relationship Id="rId4" Type="http://schemas.openxmlformats.org/officeDocument/2006/relationships/diagramQuickStyle" Target="../diagrams/quickStyle105.xml"/></Relationships>
</file>

<file path=ppt/slides/_rels/slide103.xml.rels><?xml version="1.0" encoding="UTF-8" standalone="yes"?>
<Relationships xmlns="http://schemas.openxmlformats.org/package/2006/relationships"><Relationship Id="rId3" Type="http://schemas.openxmlformats.org/officeDocument/2006/relationships/diagramLayout" Target="../diagrams/layout106.xml"/><Relationship Id="rId2" Type="http://schemas.openxmlformats.org/officeDocument/2006/relationships/diagramData" Target="../diagrams/data106.xml"/><Relationship Id="rId1" Type="http://schemas.openxmlformats.org/officeDocument/2006/relationships/slideLayout" Target="../slideLayouts/slideLayout2.xml"/><Relationship Id="rId6" Type="http://schemas.microsoft.com/office/2007/relationships/diagramDrawing" Target="../diagrams/drawing106.xml"/><Relationship Id="rId5" Type="http://schemas.openxmlformats.org/officeDocument/2006/relationships/diagramColors" Target="../diagrams/colors106.xml"/><Relationship Id="rId4" Type="http://schemas.openxmlformats.org/officeDocument/2006/relationships/diagramQuickStyle" Target="../diagrams/quickStyle106.xml"/></Relationships>
</file>

<file path=ppt/slides/_rels/slide104.xml.rels><?xml version="1.0" encoding="UTF-8" standalone="yes"?>
<Relationships xmlns="http://schemas.openxmlformats.org/package/2006/relationships"><Relationship Id="rId8" Type="http://schemas.openxmlformats.org/officeDocument/2006/relationships/hyperlink" Target="https://learn.microsoft.com/en-us/training/educator-center/instructor-materials/datacenter-academy/introduction-to-datacenter" TargetMode="External"/><Relationship Id="rId3" Type="http://schemas.openxmlformats.org/officeDocument/2006/relationships/diagramLayout" Target="../diagrams/layout107.xml"/><Relationship Id="rId7" Type="http://schemas.openxmlformats.org/officeDocument/2006/relationships/hyperlink" Target="https://www.databank.com/resources/blogs/data-centers-101-a-beginners-guide-to-understanding-core-concepts/" TargetMode="External"/><Relationship Id="rId2" Type="http://schemas.openxmlformats.org/officeDocument/2006/relationships/diagramData" Target="../diagrams/data107.xml"/><Relationship Id="rId1" Type="http://schemas.openxmlformats.org/officeDocument/2006/relationships/slideLayout" Target="../slideLayouts/slideLayout2.xml"/><Relationship Id="rId6" Type="http://schemas.microsoft.com/office/2007/relationships/diagramDrawing" Target="../diagrams/drawing107.xml"/><Relationship Id="rId5" Type="http://schemas.openxmlformats.org/officeDocument/2006/relationships/diagramColors" Target="../diagrams/colors107.xml"/><Relationship Id="rId10" Type="http://schemas.openxmlformats.org/officeDocument/2006/relationships/hyperlink" Target="https://www.ashrae.org/technical-resources/bookstore/datacom-series" TargetMode="External"/><Relationship Id="rId4" Type="http://schemas.openxmlformats.org/officeDocument/2006/relationships/diagramQuickStyle" Target="../diagrams/quickStyle107.xml"/><Relationship Id="rId9" Type="http://schemas.openxmlformats.org/officeDocument/2006/relationships/hyperlink" Target="https://www.cisco.com/c/en/us/solutions/design-zone/data-center-design-guides/data-center-design-guides-all.html" TargetMode="External"/></Relationships>
</file>

<file path=ppt/slides/_rels/slide105.xml.rels><?xml version="1.0" encoding="UTF-8" standalone="yes"?>
<Relationships xmlns="http://schemas.openxmlformats.org/package/2006/relationships"><Relationship Id="rId8" Type="http://schemas.openxmlformats.org/officeDocument/2006/relationships/hyperlink" Target="https://www.veritis.com/blog/aws-vs-azure-vs-gcp-the-cloud-platform-of-your-choice/" TargetMode="External"/><Relationship Id="rId13" Type="http://schemas.openxmlformats.org/officeDocument/2006/relationships/hyperlink" Target="https://www.amazon.in/gp/product/032194318X" TargetMode="External"/><Relationship Id="rId3" Type="http://schemas.openxmlformats.org/officeDocument/2006/relationships/diagramLayout" Target="../diagrams/layout108.xml"/><Relationship Id="rId7" Type="http://schemas.openxmlformats.org/officeDocument/2006/relationships/hyperlink" Target="https://comparecloud.in/" TargetMode="External"/><Relationship Id="rId12" Type="http://schemas.openxmlformats.org/officeDocument/2006/relationships/hyperlink" Target="https://query.prod.cms.rt.microsoft.com/cms/api/am/binary/RE2PjDI" TargetMode="External"/><Relationship Id="rId2" Type="http://schemas.openxmlformats.org/officeDocument/2006/relationships/diagramData" Target="../diagrams/data108.xml"/><Relationship Id="rId1" Type="http://schemas.openxmlformats.org/officeDocument/2006/relationships/slideLayout" Target="../slideLayouts/slideLayout2.xml"/><Relationship Id="rId6" Type="http://schemas.microsoft.com/office/2007/relationships/diagramDrawing" Target="../diagrams/drawing108.xml"/><Relationship Id="rId11" Type="http://schemas.openxmlformats.org/officeDocument/2006/relationships/hyperlink" Target="https://analogiescloud.com/" TargetMode="External"/><Relationship Id="rId5" Type="http://schemas.openxmlformats.org/officeDocument/2006/relationships/diagramColors" Target="../diagrams/colors108.xml"/><Relationship Id="rId10" Type="http://schemas.openxmlformats.org/officeDocument/2006/relationships/hyperlink" Target="https://learn.microsoft.com/en-us/azure/architecture/guide/" TargetMode="External"/><Relationship Id="rId4" Type="http://schemas.openxmlformats.org/officeDocument/2006/relationships/diagramQuickStyle" Target="../diagrams/quickStyle108.xml"/><Relationship Id="rId9" Type="http://schemas.openxmlformats.org/officeDocument/2006/relationships/hyperlink" Target="https://roadmap.sh/aws" TargetMode="External"/></Relationships>
</file>

<file path=ppt/slides/_rels/slide106.xml.rels><?xml version="1.0" encoding="UTF-8" standalone="yes"?>
<Relationships xmlns="http://schemas.openxmlformats.org/package/2006/relationships"><Relationship Id="rId8" Type="http://schemas.openxmlformats.org/officeDocument/2006/relationships/hyperlink" Target="https://www.linkedin.com/posts/maheshma_engineering-systemdesign-interview-activity-7157922929328943104-1A7d/" TargetMode="External"/><Relationship Id="rId3" Type="http://schemas.openxmlformats.org/officeDocument/2006/relationships/diagramLayout" Target="../diagrams/layout109.xml"/><Relationship Id="rId7" Type="http://schemas.openxmlformats.org/officeDocument/2006/relationships/image" Target="../media/image67.png"/><Relationship Id="rId2" Type="http://schemas.openxmlformats.org/officeDocument/2006/relationships/diagramData" Target="../diagrams/data109.xml"/><Relationship Id="rId1" Type="http://schemas.openxmlformats.org/officeDocument/2006/relationships/slideLayout" Target="../slideLayouts/slideLayout2.xml"/><Relationship Id="rId6" Type="http://schemas.microsoft.com/office/2007/relationships/diagramDrawing" Target="../diagrams/drawing109.xml"/><Relationship Id="rId5" Type="http://schemas.openxmlformats.org/officeDocument/2006/relationships/diagramColors" Target="../diagrams/colors109.xml"/><Relationship Id="rId4" Type="http://schemas.openxmlformats.org/officeDocument/2006/relationships/diagramQuickStyle" Target="../diagrams/quickStyle109.xml"/></Relationships>
</file>

<file path=ppt/slides/_rels/slide107.xml.rels><?xml version="1.0" encoding="UTF-8" standalone="yes"?>
<Relationships xmlns="http://schemas.openxmlformats.org/package/2006/relationships"><Relationship Id="rId3" Type="http://schemas.openxmlformats.org/officeDocument/2006/relationships/diagramLayout" Target="../diagrams/layout110.xml"/><Relationship Id="rId7" Type="http://schemas.openxmlformats.org/officeDocument/2006/relationships/image" Target="../media/image68.gif"/><Relationship Id="rId2" Type="http://schemas.openxmlformats.org/officeDocument/2006/relationships/diagramData" Target="../diagrams/data110.xml"/><Relationship Id="rId1" Type="http://schemas.openxmlformats.org/officeDocument/2006/relationships/slideLayout" Target="../slideLayouts/slideLayout2.xml"/><Relationship Id="rId6" Type="http://schemas.microsoft.com/office/2007/relationships/diagramDrawing" Target="../diagrams/drawing110.xml"/><Relationship Id="rId5" Type="http://schemas.openxmlformats.org/officeDocument/2006/relationships/diagramColors" Target="../diagrams/colors110.xml"/><Relationship Id="rId4" Type="http://schemas.openxmlformats.org/officeDocument/2006/relationships/diagramQuickStyle" Target="../diagrams/quickStyle110.xml"/></Relationships>
</file>

<file path=ppt/slides/_rels/slide108.xml.rels><?xml version="1.0" encoding="UTF-8" standalone="yes"?>
<Relationships xmlns="http://schemas.openxmlformats.org/package/2006/relationships"><Relationship Id="rId3" Type="http://schemas.openxmlformats.org/officeDocument/2006/relationships/diagramLayout" Target="../diagrams/layout111.xml"/><Relationship Id="rId2" Type="http://schemas.openxmlformats.org/officeDocument/2006/relationships/diagramData" Target="../diagrams/data111.xml"/><Relationship Id="rId1" Type="http://schemas.openxmlformats.org/officeDocument/2006/relationships/slideLayout" Target="../slideLayouts/slideLayout2.xml"/><Relationship Id="rId6" Type="http://schemas.microsoft.com/office/2007/relationships/diagramDrawing" Target="../diagrams/drawing111.xml"/><Relationship Id="rId5" Type="http://schemas.openxmlformats.org/officeDocument/2006/relationships/diagramColors" Target="../diagrams/colors111.xml"/><Relationship Id="rId4" Type="http://schemas.openxmlformats.org/officeDocument/2006/relationships/diagramQuickStyle" Target="../diagrams/quickStyle111.xml"/></Relationships>
</file>

<file path=ppt/slides/_rels/slide109.xml.rels><?xml version="1.0" encoding="UTF-8" standalone="yes"?>
<Relationships xmlns="http://schemas.openxmlformats.org/package/2006/relationships"><Relationship Id="rId3" Type="http://schemas.openxmlformats.org/officeDocument/2006/relationships/diagramLayout" Target="../diagrams/layout112.xml"/><Relationship Id="rId7" Type="http://schemas.openxmlformats.org/officeDocument/2006/relationships/image" Target="../media/image69.png"/><Relationship Id="rId2" Type="http://schemas.openxmlformats.org/officeDocument/2006/relationships/diagramData" Target="../diagrams/data112.xml"/><Relationship Id="rId1" Type="http://schemas.openxmlformats.org/officeDocument/2006/relationships/slideLayout" Target="../slideLayouts/slideLayout2.xml"/><Relationship Id="rId6" Type="http://schemas.microsoft.com/office/2007/relationships/diagramDrawing" Target="../diagrams/drawing112.xml"/><Relationship Id="rId5" Type="http://schemas.openxmlformats.org/officeDocument/2006/relationships/diagramColors" Target="../diagrams/colors112.xml"/><Relationship Id="rId4" Type="http://schemas.openxmlformats.org/officeDocument/2006/relationships/diagramQuickStyle" Target="../diagrams/quickStyle112.xml"/></Relationships>
</file>

<file path=ppt/slides/_rels/slide110.xml.rels><?xml version="1.0" encoding="UTF-8" standalone="yes"?>
<Relationships xmlns="http://schemas.openxmlformats.org/package/2006/relationships"><Relationship Id="rId3" Type="http://schemas.openxmlformats.org/officeDocument/2006/relationships/diagramLayout" Target="../diagrams/layout113.xml"/><Relationship Id="rId2" Type="http://schemas.openxmlformats.org/officeDocument/2006/relationships/diagramData" Target="../diagrams/data113.xml"/><Relationship Id="rId1" Type="http://schemas.openxmlformats.org/officeDocument/2006/relationships/slideLayout" Target="../slideLayouts/slideLayout2.xml"/><Relationship Id="rId6" Type="http://schemas.microsoft.com/office/2007/relationships/diagramDrawing" Target="../diagrams/drawing113.xml"/><Relationship Id="rId5" Type="http://schemas.openxmlformats.org/officeDocument/2006/relationships/diagramColors" Target="../diagrams/colors113.xml"/><Relationship Id="rId4" Type="http://schemas.openxmlformats.org/officeDocument/2006/relationships/diagramQuickStyle" Target="../diagrams/quickStyle113.xml"/></Relationships>
</file>

<file path=ppt/slides/_rels/slide111.xml.rels><?xml version="1.0" encoding="UTF-8" standalone="yes"?>
<Relationships xmlns="http://schemas.openxmlformats.org/package/2006/relationships"><Relationship Id="rId3" Type="http://schemas.openxmlformats.org/officeDocument/2006/relationships/diagramLayout" Target="../diagrams/layout114.xml"/><Relationship Id="rId2" Type="http://schemas.openxmlformats.org/officeDocument/2006/relationships/diagramData" Target="../diagrams/data114.xml"/><Relationship Id="rId1" Type="http://schemas.openxmlformats.org/officeDocument/2006/relationships/slideLayout" Target="../slideLayouts/slideLayout2.xml"/><Relationship Id="rId6" Type="http://schemas.microsoft.com/office/2007/relationships/diagramDrawing" Target="../diagrams/drawing114.xml"/><Relationship Id="rId5" Type="http://schemas.openxmlformats.org/officeDocument/2006/relationships/diagramColors" Target="../diagrams/colors114.xml"/><Relationship Id="rId4" Type="http://schemas.openxmlformats.org/officeDocument/2006/relationships/diagramQuickStyle" Target="../diagrams/quickStyle114.xml"/></Relationships>
</file>

<file path=ppt/slides/_rels/slide112.xml.rels><?xml version="1.0" encoding="UTF-8" standalone="yes"?>
<Relationships xmlns="http://schemas.openxmlformats.org/package/2006/relationships"><Relationship Id="rId8" Type="http://schemas.openxmlformats.org/officeDocument/2006/relationships/hyperlink" Target="https://github.com/backstage/backstage" TargetMode="External"/><Relationship Id="rId13" Type="http://schemas.openxmlformats.org/officeDocument/2006/relationships/hyperlink" Target="https://github.com/salaboy/platforms-on-k8s" TargetMode="External"/><Relationship Id="rId3" Type="http://schemas.openxmlformats.org/officeDocument/2006/relationships/diagramLayout" Target="../diagrams/layout115.xml"/><Relationship Id="rId7" Type="http://schemas.openxmlformats.org/officeDocument/2006/relationships/hyperlink" Target="https://pronovix.com/blog/components-developer-portal" TargetMode="External"/><Relationship Id="rId12" Type="http://schemas.openxmlformats.org/officeDocument/2006/relationships/hyperlink" Target="https://www.packtpub.com/en-in/product/the-platform-engineering-playbook-9781837632695?srsltid=AfmBOoq0lB41293CSpZKEhz3XQhReu8vN_xVRXlUDoDFtVI9A4Q5L3PO" TargetMode="External"/><Relationship Id="rId2" Type="http://schemas.openxmlformats.org/officeDocument/2006/relationships/diagramData" Target="../diagrams/data115.xml"/><Relationship Id="rId1" Type="http://schemas.openxmlformats.org/officeDocument/2006/relationships/slideLayout" Target="../slideLayouts/slideLayout2.xml"/><Relationship Id="rId6" Type="http://schemas.microsoft.com/office/2007/relationships/diagramDrawing" Target="../diagrams/drawing115.xml"/><Relationship Id="rId11" Type="http://schemas.openxmlformats.org/officeDocument/2006/relationships/hyperlink" Target="https://www.packtpub.com/en-in/product/mastering-enterprise-platform-engineering-9781835880494" TargetMode="External"/><Relationship Id="rId5" Type="http://schemas.openxmlformats.org/officeDocument/2006/relationships/diagramColors" Target="../diagrams/colors115.xml"/><Relationship Id="rId10" Type="http://schemas.openxmlformats.org/officeDocument/2006/relationships/hyperlink" Target="https://github.com/PacktPublishing/Platform-Engineer-s-Handbook" TargetMode="External"/><Relationship Id="rId4" Type="http://schemas.openxmlformats.org/officeDocument/2006/relationships/diagramQuickStyle" Target="../diagrams/quickStyle115.xml"/><Relationship Id="rId9" Type="http://schemas.openxmlformats.org/officeDocument/2006/relationships/hyperlink" Target="https://github.com/PacktPublishing/Platform-Engineering-for-Architects" TargetMode="External"/></Relationships>
</file>

<file path=ppt/slides/_rels/slide113.xml.rels><?xml version="1.0" encoding="UTF-8" standalone="yes"?>
<Relationships xmlns="http://schemas.openxmlformats.org/package/2006/relationships"><Relationship Id="rId3" Type="http://schemas.openxmlformats.org/officeDocument/2006/relationships/diagramLayout" Target="../diagrams/layout116.xml"/><Relationship Id="rId2" Type="http://schemas.openxmlformats.org/officeDocument/2006/relationships/diagramData" Target="../diagrams/data116.xml"/><Relationship Id="rId1" Type="http://schemas.openxmlformats.org/officeDocument/2006/relationships/slideLayout" Target="../slideLayouts/slideLayout2.xml"/><Relationship Id="rId6" Type="http://schemas.microsoft.com/office/2007/relationships/diagramDrawing" Target="../diagrams/drawing116.xml"/><Relationship Id="rId5" Type="http://schemas.openxmlformats.org/officeDocument/2006/relationships/diagramColors" Target="../diagrams/colors116.xml"/><Relationship Id="rId4" Type="http://schemas.openxmlformats.org/officeDocument/2006/relationships/diagramQuickStyle" Target="../diagrams/quickStyle116.xml"/></Relationships>
</file>

<file path=ppt/slides/_rels/slide114.xml.rels><?xml version="1.0" encoding="UTF-8" standalone="yes"?>
<Relationships xmlns="http://schemas.openxmlformats.org/package/2006/relationships"><Relationship Id="rId3" Type="http://schemas.openxmlformats.org/officeDocument/2006/relationships/diagramLayout" Target="../diagrams/layout117.xml"/><Relationship Id="rId2" Type="http://schemas.openxmlformats.org/officeDocument/2006/relationships/diagramData" Target="../diagrams/data117.xml"/><Relationship Id="rId1" Type="http://schemas.openxmlformats.org/officeDocument/2006/relationships/slideLayout" Target="../slideLayouts/slideLayout2.xml"/><Relationship Id="rId6" Type="http://schemas.microsoft.com/office/2007/relationships/diagramDrawing" Target="../diagrams/drawing117.xml"/><Relationship Id="rId5" Type="http://schemas.openxmlformats.org/officeDocument/2006/relationships/diagramColors" Target="../diagrams/colors117.xml"/><Relationship Id="rId4" Type="http://schemas.openxmlformats.org/officeDocument/2006/relationships/diagramQuickStyle" Target="../diagrams/quickStyle117.xml"/></Relationships>
</file>

<file path=ppt/slides/_rels/slide115.xml.rels><?xml version="1.0" encoding="UTF-8" standalone="yes"?>
<Relationships xmlns="http://schemas.openxmlformats.org/package/2006/relationships"><Relationship Id="rId3" Type="http://schemas.openxmlformats.org/officeDocument/2006/relationships/diagramLayout" Target="../diagrams/layout118.xml"/><Relationship Id="rId2" Type="http://schemas.openxmlformats.org/officeDocument/2006/relationships/diagramData" Target="../diagrams/data118.xml"/><Relationship Id="rId1" Type="http://schemas.openxmlformats.org/officeDocument/2006/relationships/slideLayout" Target="../slideLayouts/slideLayout2.xml"/><Relationship Id="rId6" Type="http://schemas.microsoft.com/office/2007/relationships/diagramDrawing" Target="../diagrams/drawing118.xml"/><Relationship Id="rId5" Type="http://schemas.openxmlformats.org/officeDocument/2006/relationships/diagramColors" Target="../diagrams/colors118.xml"/><Relationship Id="rId4" Type="http://schemas.openxmlformats.org/officeDocument/2006/relationships/diagramQuickStyle" Target="../diagrams/quickStyle118.xml"/></Relationships>
</file>

<file path=ppt/slides/_rels/slide116.xml.rels><?xml version="1.0" encoding="UTF-8" standalone="yes"?>
<Relationships xmlns="http://schemas.openxmlformats.org/package/2006/relationships"><Relationship Id="rId3" Type="http://schemas.openxmlformats.org/officeDocument/2006/relationships/diagramLayout" Target="../diagrams/layout119.xml"/><Relationship Id="rId2" Type="http://schemas.openxmlformats.org/officeDocument/2006/relationships/diagramData" Target="../diagrams/data119.xml"/><Relationship Id="rId1" Type="http://schemas.openxmlformats.org/officeDocument/2006/relationships/slideLayout" Target="../slideLayouts/slideLayout2.xml"/><Relationship Id="rId6" Type="http://schemas.microsoft.com/office/2007/relationships/diagramDrawing" Target="../diagrams/drawing119.xml"/><Relationship Id="rId5" Type="http://schemas.openxmlformats.org/officeDocument/2006/relationships/diagramColors" Target="../diagrams/colors119.xml"/><Relationship Id="rId4" Type="http://schemas.openxmlformats.org/officeDocument/2006/relationships/diagramQuickStyle" Target="../diagrams/quickStyle119.xml"/></Relationships>
</file>

<file path=ppt/slides/_rels/slide117.xml.rels><?xml version="1.0" encoding="UTF-8" standalone="yes"?>
<Relationships xmlns="http://schemas.openxmlformats.org/package/2006/relationships"><Relationship Id="rId3" Type="http://schemas.openxmlformats.org/officeDocument/2006/relationships/diagramLayout" Target="../diagrams/layout120.xml"/><Relationship Id="rId2" Type="http://schemas.openxmlformats.org/officeDocument/2006/relationships/diagramData" Target="../diagrams/data120.xml"/><Relationship Id="rId1" Type="http://schemas.openxmlformats.org/officeDocument/2006/relationships/slideLayout" Target="../slideLayouts/slideLayout2.xml"/><Relationship Id="rId6" Type="http://schemas.microsoft.com/office/2007/relationships/diagramDrawing" Target="../diagrams/drawing120.xml"/><Relationship Id="rId5" Type="http://schemas.openxmlformats.org/officeDocument/2006/relationships/diagramColors" Target="../diagrams/colors120.xml"/><Relationship Id="rId4" Type="http://schemas.openxmlformats.org/officeDocument/2006/relationships/diagramQuickStyle" Target="../diagrams/quickStyle120.xml"/></Relationships>
</file>

<file path=ppt/slides/_rels/slide118.xml.rels><?xml version="1.0" encoding="UTF-8" standalone="yes"?>
<Relationships xmlns="http://schemas.openxmlformats.org/package/2006/relationships"><Relationship Id="rId3" Type="http://schemas.openxmlformats.org/officeDocument/2006/relationships/diagramLayout" Target="../diagrams/layout121.xml"/><Relationship Id="rId2" Type="http://schemas.openxmlformats.org/officeDocument/2006/relationships/diagramData" Target="../diagrams/data121.xml"/><Relationship Id="rId1" Type="http://schemas.openxmlformats.org/officeDocument/2006/relationships/slideLayout" Target="../slideLayouts/slideLayout2.xml"/><Relationship Id="rId6" Type="http://schemas.microsoft.com/office/2007/relationships/diagramDrawing" Target="../diagrams/drawing121.xml"/><Relationship Id="rId5" Type="http://schemas.openxmlformats.org/officeDocument/2006/relationships/diagramColors" Target="../diagrams/colors121.xml"/><Relationship Id="rId4" Type="http://schemas.openxmlformats.org/officeDocument/2006/relationships/diagramQuickStyle" Target="../diagrams/quickStyle121.xml"/></Relationships>
</file>

<file path=ppt/slides/_rels/slide119.xml.rels><?xml version="1.0" encoding="UTF-8" standalone="yes"?>
<Relationships xmlns="http://schemas.openxmlformats.org/package/2006/relationships"><Relationship Id="rId3" Type="http://schemas.openxmlformats.org/officeDocument/2006/relationships/diagramLayout" Target="../diagrams/layout122.xml"/><Relationship Id="rId2" Type="http://schemas.openxmlformats.org/officeDocument/2006/relationships/diagramData" Target="../diagrams/data122.xml"/><Relationship Id="rId1" Type="http://schemas.openxmlformats.org/officeDocument/2006/relationships/slideLayout" Target="../slideLayouts/slideLayout2.xml"/><Relationship Id="rId6" Type="http://schemas.microsoft.com/office/2007/relationships/diagramDrawing" Target="../diagrams/drawing122.xml"/><Relationship Id="rId5" Type="http://schemas.openxmlformats.org/officeDocument/2006/relationships/diagramColors" Target="../diagrams/colors122.xml"/><Relationship Id="rId4" Type="http://schemas.openxmlformats.org/officeDocument/2006/relationships/diagramQuickStyle" Target="../diagrams/quickStyle122.xml"/></Relationships>
</file>

<file path=ppt/slides/_rels/slide120.xml.rels><?xml version="1.0" encoding="UTF-8" standalone="yes"?>
<Relationships xmlns="http://schemas.openxmlformats.org/package/2006/relationships"><Relationship Id="rId3" Type="http://schemas.openxmlformats.org/officeDocument/2006/relationships/diagramLayout" Target="../diagrams/layout123.xml"/><Relationship Id="rId2" Type="http://schemas.openxmlformats.org/officeDocument/2006/relationships/diagramData" Target="../diagrams/data123.xml"/><Relationship Id="rId1" Type="http://schemas.openxmlformats.org/officeDocument/2006/relationships/slideLayout" Target="../slideLayouts/slideLayout2.xml"/><Relationship Id="rId6" Type="http://schemas.microsoft.com/office/2007/relationships/diagramDrawing" Target="../diagrams/drawing123.xml"/><Relationship Id="rId5" Type="http://schemas.openxmlformats.org/officeDocument/2006/relationships/diagramColors" Target="../diagrams/colors123.xml"/><Relationship Id="rId4" Type="http://schemas.openxmlformats.org/officeDocument/2006/relationships/diagramQuickStyle" Target="../diagrams/quickStyle123.xml"/></Relationships>
</file>

<file path=ppt/slides/_rels/slide121.xml.rels><?xml version="1.0" encoding="UTF-8" standalone="yes"?>
<Relationships xmlns="http://schemas.openxmlformats.org/package/2006/relationships"><Relationship Id="rId3" Type="http://schemas.openxmlformats.org/officeDocument/2006/relationships/diagramLayout" Target="../diagrams/layout124.xml"/><Relationship Id="rId2" Type="http://schemas.openxmlformats.org/officeDocument/2006/relationships/diagramData" Target="../diagrams/data124.xml"/><Relationship Id="rId1" Type="http://schemas.openxmlformats.org/officeDocument/2006/relationships/slideLayout" Target="../slideLayouts/slideLayout2.xml"/><Relationship Id="rId6" Type="http://schemas.microsoft.com/office/2007/relationships/diagramDrawing" Target="../diagrams/drawing124.xml"/><Relationship Id="rId5" Type="http://schemas.openxmlformats.org/officeDocument/2006/relationships/diagramColors" Target="../diagrams/colors124.xml"/><Relationship Id="rId4" Type="http://schemas.openxmlformats.org/officeDocument/2006/relationships/diagramQuickStyle" Target="../diagrams/quickStyle124.xml"/></Relationships>
</file>

<file path=ppt/slides/_rels/slide122.xml.rels><?xml version="1.0" encoding="UTF-8" standalone="yes"?>
<Relationships xmlns="http://schemas.openxmlformats.org/package/2006/relationships"><Relationship Id="rId3" Type="http://schemas.openxmlformats.org/officeDocument/2006/relationships/diagramLayout" Target="../diagrams/layout125.xml"/><Relationship Id="rId2" Type="http://schemas.openxmlformats.org/officeDocument/2006/relationships/diagramData" Target="../diagrams/data125.xml"/><Relationship Id="rId1" Type="http://schemas.openxmlformats.org/officeDocument/2006/relationships/slideLayout" Target="../slideLayouts/slideLayout2.xml"/><Relationship Id="rId6" Type="http://schemas.microsoft.com/office/2007/relationships/diagramDrawing" Target="../diagrams/drawing125.xml"/><Relationship Id="rId5" Type="http://schemas.openxmlformats.org/officeDocument/2006/relationships/diagramColors" Target="../diagrams/colors125.xml"/><Relationship Id="rId4" Type="http://schemas.openxmlformats.org/officeDocument/2006/relationships/diagramQuickStyle" Target="../diagrams/quickStyle125.xml"/></Relationships>
</file>

<file path=ppt/slides/_rels/slide123.xml.rels><?xml version="1.0" encoding="UTF-8" standalone="yes"?>
<Relationships xmlns="http://schemas.openxmlformats.org/package/2006/relationships"><Relationship Id="rId3" Type="http://schemas.openxmlformats.org/officeDocument/2006/relationships/diagramLayout" Target="../diagrams/layout126.xml"/><Relationship Id="rId7" Type="http://schemas.openxmlformats.org/officeDocument/2006/relationships/image" Target="../media/image70.png"/><Relationship Id="rId2" Type="http://schemas.openxmlformats.org/officeDocument/2006/relationships/diagramData" Target="../diagrams/data126.xml"/><Relationship Id="rId1" Type="http://schemas.openxmlformats.org/officeDocument/2006/relationships/slideLayout" Target="../slideLayouts/slideLayout2.xml"/><Relationship Id="rId6" Type="http://schemas.microsoft.com/office/2007/relationships/diagramDrawing" Target="../diagrams/drawing126.xml"/><Relationship Id="rId5" Type="http://schemas.openxmlformats.org/officeDocument/2006/relationships/diagramColors" Target="../diagrams/colors126.xml"/><Relationship Id="rId4" Type="http://schemas.openxmlformats.org/officeDocument/2006/relationships/diagramQuickStyle" Target="../diagrams/quickStyle126.xml"/></Relationships>
</file>

<file path=ppt/slides/_rels/slide124.xml.rels><?xml version="1.0" encoding="UTF-8" standalone="yes"?>
<Relationships xmlns="http://schemas.openxmlformats.org/package/2006/relationships"><Relationship Id="rId3" Type="http://schemas.openxmlformats.org/officeDocument/2006/relationships/diagramLayout" Target="../diagrams/layout127.xml"/><Relationship Id="rId2" Type="http://schemas.openxmlformats.org/officeDocument/2006/relationships/diagramData" Target="../diagrams/data127.xml"/><Relationship Id="rId1" Type="http://schemas.openxmlformats.org/officeDocument/2006/relationships/slideLayout" Target="../slideLayouts/slideLayout2.xml"/><Relationship Id="rId6" Type="http://schemas.microsoft.com/office/2007/relationships/diagramDrawing" Target="../diagrams/drawing127.xml"/><Relationship Id="rId5" Type="http://schemas.openxmlformats.org/officeDocument/2006/relationships/diagramColors" Target="../diagrams/colors127.xml"/><Relationship Id="rId4" Type="http://schemas.openxmlformats.org/officeDocument/2006/relationships/diagramQuickStyle" Target="../diagrams/quickStyle127.xml"/></Relationships>
</file>

<file path=ppt/slides/_rels/slide125.xml.rels><?xml version="1.0" encoding="UTF-8" standalone="yes"?>
<Relationships xmlns="http://schemas.openxmlformats.org/package/2006/relationships"><Relationship Id="rId3" Type="http://schemas.openxmlformats.org/officeDocument/2006/relationships/diagramLayout" Target="../diagrams/layout128.xml"/><Relationship Id="rId2" Type="http://schemas.openxmlformats.org/officeDocument/2006/relationships/diagramData" Target="../diagrams/data128.xml"/><Relationship Id="rId1" Type="http://schemas.openxmlformats.org/officeDocument/2006/relationships/slideLayout" Target="../slideLayouts/slideLayout2.xml"/><Relationship Id="rId6" Type="http://schemas.microsoft.com/office/2007/relationships/diagramDrawing" Target="../diagrams/drawing128.xml"/><Relationship Id="rId5" Type="http://schemas.openxmlformats.org/officeDocument/2006/relationships/diagramColors" Target="../diagrams/colors128.xml"/><Relationship Id="rId4" Type="http://schemas.openxmlformats.org/officeDocument/2006/relationships/diagramQuickStyle" Target="../diagrams/quickStyle128.xml"/></Relationships>
</file>

<file path=ppt/slides/_rels/slide126.xml.rels><?xml version="1.0" encoding="UTF-8" standalone="yes"?>
<Relationships xmlns="http://schemas.openxmlformats.org/package/2006/relationships"><Relationship Id="rId8" Type="http://schemas.openxmlformats.org/officeDocument/2006/relationships/hyperlink" Target="https://www.innovatefinance.com/blogs/how-to-build-an-open-banking-architecture-that-scales/" TargetMode="External"/><Relationship Id="rId13" Type="http://schemas.openxmlformats.org/officeDocument/2006/relationships/hyperlink" Target="https://fintechcircle.com/paytech-book/" TargetMode="External"/><Relationship Id="rId3" Type="http://schemas.openxmlformats.org/officeDocument/2006/relationships/diagramLayout" Target="../diagrams/layout129.xml"/><Relationship Id="rId7" Type="http://schemas.openxmlformats.org/officeDocument/2006/relationships/hyperlink" Target="https://www.softwareag.com/en_corporate/resources/api/article/open-banking.html" TargetMode="External"/><Relationship Id="rId12" Type="http://schemas.openxmlformats.org/officeDocument/2006/relationships/hyperlink" Target="https://learn.microsoft.com/en-us/entra/identity/enterprise-apps/manage-consent-requests" TargetMode="External"/><Relationship Id="rId2" Type="http://schemas.openxmlformats.org/officeDocument/2006/relationships/diagramData" Target="../diagrams/data129.xml"/><Relationship Id="rId1" Type="http://schemas.openxmlformats.org/officeDocument/2006/relationships/slideLayout" Target="../slideLayouts/slideLayout2.xml"/><Relationship Id="rId6" Type="http://schemas.microsoft.com/office/2007/relationships/diagramDrawing" Target="../diagrams/drawing129.xml"/><Relationship Id="rId11" Type="http://schemas.openxmlformats.org/officeDocument/2006/relationships/hyperlink" Target="https://learn.microsoft.com/en-us/entra/identity-platform/permissions-consent-overview" TargetMode="External"/><Relationship Id="rId5" Type="http://schemas.openxmlformats.org/officeDocument/2006/relationships/diagramColors" Target="../diagrams/colors129.xml"/><Relationship Id="rId10" Type="http://schemas.openxmlformats.org/officeDocument/2006/relationships/hyperlink" Target="https://www.pwc.in/assets/pdfs/consulting/technology/data-and-analytics/govern-your-data/insights/a-blueprint-for-robust-consent-management.pdf" TargetMode="External"/><Relationship Id="rId4" Type="http://schemas.openxmlformats.org/officeDocument/2006/relationships/diagramQuickStyle" Target="../diagrams/quickStyle129.xml"/><Relationship Id="rId9" Type="http://schemas.openxmlformats.org/officeDocument/2006/relationships/hyperlink" Target="https://gocardless.com/guides/posts/what-is-tpp-in-open-banking/" TargetMode="External"/></Relationships>
</file>

<file path=ppt/slides/_rels/slide127.xml.rels><?xml version="1.0" encoding="UTF-8" standalone="yes"?>
<Relationships xmlns="http://schemas.openxmlformats.org/package/2006/relationships"><Relationship Id="rId8" Type="http://schemas.openxmlformats.org/officeDocument/2006/relationships/hyperlink" Target="https://www.businessarchitecture.info/insurance-business-architecture-reference-framework" TargetMode="External"/><Relationship Id="rId13" Type="http://schemas.openxmlformats.org/officeDocument/2006/relationships/hyperlink" Target="https://d-nb.info/1288718373/34" TargetMode="External"/><Relationship Id="rId3" Type="http://schemas.openxmlformats.org/officeDocument/2006/relationships/diagramLayout" Target="../diagrams/layout130.xml"/><Relationship Id="rId7" Type="http://schemas.openxmlformats.org/officeDocument/2006/relationships/hyperlink" Target="https://cloud.ibm.com/docs/industry-ref-arch?topic=industry-ref-arch-insurance" TargetMode="External"/><Relationship Id="rId12" Type="http://schemas.openxmlformats.org/officeDocument/2006/relationships/hyperlink" Target="https://www.linkedin.com/pulse/importance-enterprise-reference-architecture-kishore-ramchandani/" TargetMode="External"/><Relationship Id="rId2" Type="http://schemas.openxmlformats.org/officeDocument/2006/relationships/diagramData" Target="../diagrams/data130.xml"/><Relationship Id="rId1" Type="http://schemas.openxmlformats.org/officeDocument/2006/relationships/slideLayout" Target="../slideLayouts/slideLayout2.xml"/><Relationship Id="rId6" Type="http://schemas.microsoft.com/office/2007/relationships/diagramDrawing" Target="../diagrams/drawing130.xml"/><Relationship Id="rId11" Type="http://schemas.openxmlformats.org/officeDocument/2006/relationships/hyperlink" Target="https://www.acord.org/standards-architecture/reference-architecture" TargetMode="External"/><Relationship Id="rId5" Type="http://schemas.openxmlformats.org/officeDocument/2006/relationships/diagramColors" Target="../diagrams/colors130.xml"/><Relationship Id="rId15" Type="http://schemas.openxmlformats.org/officeDocument/2006/relationships/image" Target="../media/image71.png"/><Relationship Id="rId10" Type="http://schemas.openxmlformats.org/officeDocument/2006/relationships/hyperlink" Target="https://www.infotech.com/research/ss/life-and-annuity-insurance-industry-business-reference-architecture" TargetMode="External"/><Relationship Id="rId4" Type="http://schemas.openxmlformats.org/officeDocument/2006/relationships/diagramQuickStyle" Target="../diagrams/quickStyle130.xml"/><Relationship Id="rId9" Type="http://schemas.openxmlformats.org/officeDocument/2006/relationships/hyperlink" Target="https://cloud.google.com/blog/topics/financial-services/insurance-claim-processing-reference-architecture" TargetMode="External"/><Relationship Id="rId14" Type="http://schemas.openxmlformats.org/officeDocument/2006/relationships/hyperlink" Target="https://www.cognizant.com/us/en/industries/insurance-digital-transformation/life-annuities" TargetMode="External"/></Relationships>
</file>

<file path=ppt/slides/_rels/slide128.xml.rels><?xml version="1.0" encoding="UTF-8" standalone="yes"?>
<Relationships xmlns="http://schemas.openxmlformats.org/package/2006/relationships"><Relationship Id="rId3" Type="http://schemas.openxmlformats.org/officeDocument/2006/relationships/diagramLayout" Target="../diagrams/layout131.xml"/><Relationship Id="rId2" Type="http://schemas.openxmlformats.org/officeDocument/2006/relationships/diagramData" Target="../diagrams/data131.xml"/><Relationship Id="rId1" Type="http://schemas.openxmlformats.org/officeDocument/2006/relationships/slideLayout" Target="../slideLayouts/slideLayout2.xml"/><Relationship Id="rId6" Type="http://schemas.microsoft.com/office/2007/relationships/diagramDrawing" Target="../diagrams/drawing131.xml"/><Relationship Id="rId5" Type="http://schemas.openxmlformats.org/officeDocument/2006/relationships/diagramColors" Target="../diagrams/colors131.xml"/><Relationship Id="rId4" Type="http://schemas.openxmlformats.org/officeDocument/2006/relationships/diagramQuickStyle" Target="../diagrams/quickStyle131.xml"/></Relationships>
</file>

<file path=ppt/slides/_rels/slide129.xml.rels><?xml version="1.0" encoding="UTF-8" standalone="yes"?>
<Relationships xmlns="http://schemas.openxmlformats.org/package/2006/relationships"><Relationship Id="rId3" Type="http://schemas.openxmlformats.org/officeDocument/2006/relationships/diagramLayout" Target="../diagrams/layout132.xml"/><Relationship Id="rId2" Type="http://schemas.openxmlformats.org/officeDocument/2006/relationships/diagramData" Target="../diagrams/data132.xml"/><Relationship Id="rId1" Type="http://schemas.openxmlformats.org/officeDocument/2006/relationships/slideLayout" Target="../slideLayouts/slideLayout2.xml"/><Relationship Id="rId6" Type="http://schemas.microsoft.com/office/2007/relationships/diagramDrawing" Target="../diagrams/drawing132.xml"/><Relationship Id="rId5" Type="http://schemas.openxmlformats.org/officeDocument/2006/relationships/diagramColors" Target="../diagrams/colors132.xml"/><Relationship Id="rId4" Type="http://schemas.openxmlformats.org/officeDocument/2006/relationships/diagramQuickStyle" Target="../diagrams/quickStyle132.xml"/></Relationships>
</file>

<file path=ppt/slides/_rels/slide130.xml.rels><?xml version="1.0" encoding="UTF-8" standalone="yes"?>
<Relationships xmlns="http://schemas.openxmlformats.org/package/2006/relationships"><Relationship Id="rId3" Type="http://schemas.openxmlformats.org/officeDocument/2006/relationships/diagramLayout" Target="../diagrams/layout133.xml"/><Relationship Id="rId2" Type="http://schemas.openxmlformats.org/officeDocument/2006/relationships/diagramData" Target="../diagrams/data133.xml"/><Relationship Id="rId1" Type="http://schemas.openxmlformats.org/officeDocument/2006/relationships/slideLayout" Target="../slideLayouts/slideLayout2.xml"/><Relationship Id="rId6" Type="http://schemas.microsoft.com/office/2007/relationships/diagramDrawing" Target="../diagrams/drawing133.xml"/><Relationship Id="rId5" Type="http://schemas.openxmlformats.org/officeDocument/2006/relationships/diagramColors" Target="../diagrams/colors133.xml"/><Relationship Id="rId4" Type="http://schemas.openxmlformats.org/officeDocument/2006/relationships/diagramQuickStyle" Target="../diagrams/quickStyle133.xml"/></Relationships>
</file>

<file path=ppt/slides/_rels/slide131.xml.rels><?xml version="1.0" encoding="UTF-8" standalone="yes"?>
<Relationships xmlns="http://schemas.openxmlformats.org/package/2006/relationships"><Relationship Id="rId3" Type="http://schemas.openxmlformats.org/officeDocument/2006/relationships/diagramLayout" Target="../diagrams/layout134.xml"/><Relationship Id="rId2" Type="http://schemas.openxmlformats.org/officeDocument/2006/relationships/diagramData" Target="../diagrams/data134.xml"/><Relationship Id="rId1" Type="http://schemas.openxmlformats.org/officeDocument/2006/relationships/slideLayout" Target="../slideLayouts/slideLayout2.xml"/><Relationship Id="rId6" Type="http://schemas.microsoft.com/office/2007/relationships/diagramDrawing" Target="../diagrams/drawing134.xml"/><Relationship Id="rId5" Type="http://schemas.openxmlformats.org/officeDocument/2006/relationships/diagramColors" Target="../diagrams/colors134.xml"/><Relationship Id="rId4" Type="http://schemas.openxmlformats.org/officeDocument/2006/relationships/diagramQuickStyle" Target="../diagrams/quickStyle134.xml"/></Relationships>
</file>

<file path=ppt/slides/_rels/slide132.xml.rels><?xml version="1.0" encoding="UTF-8" standalone="yes"?>
<Relationships xmlns="http://schemas.openxmlformats.org/package/2006/relationships"><Relationship Id="rId3" Type="http://schemas.openxmlformats.org/officeDocument/2006/relationships/diagramLayout" Target="../diagrams/layout135.xml"/><Relationship Id="rId2" Type="http://schemas.openxmlformats.org/officeDocument/2006/relationships/diagramData" Target="../diagrams/data135.xml"/><Relationship Id="rId1" Type="http://schemas.openxmlformats.org/officeDocument/2006/relationships/slideLayout" Target="../slideLayouts/slideLayout2.xml"/><Relationship Id="rId6" Type="http://schemas.microsoft.com/office/2007/relationships/diagramDrawing" Target="../diagrams/drawing135.xml"/><Relationship Id="rId5" Type="http://schemas.openxmlformats.org/officeDocument/2006/relationships/diagramColors" Target="../diagrams/colors135.xml"/><Relationship Id="rId4" Type="http://schemas.openxmlformats.org/officeDocument/2006/relationships/diagramQuickStyle" Target="../diagrams/quickStyle135.xml"/></Relationships>
</file>

<file path=ppt/slides/_rels/slide133.xml.rels><?xml version="1.0" encoding="UTF-8" standalone="yes"?>
<Relationships xmlns="http://schemas.openxmlformats.org/package/2006/relationships"><Relationship Id="rId3" Type="http://schemas.openxmlformats.org/officeDocument/2006/relationships/diagramLayout" Target="../diagrams/layout136.xml"/><Relationship Id="rId2" Type="http://schemas.openxmlformats.org/officeDocument/2006/relationships/diagramData" Target="../diagrams/data136.xml"/><Relationship Id="rId1" Type="http://schemas.openxmlformats.org/officeDocument/2006/relationships/slideLayout" Target="../slideLayouts/slideLayout2.xml"/><Relationship Id="rId6" Type="http://schemas.microsoft.com/office/2007/relationships/diagramDrawing" Target="../diagrams/drawing136.xml"/><Relationship Id="rId5" Type="http://schemas.openxmlformats.org/officeDocument/2006/relationships/diagramColors" Target="../diagrams/colors136.xml"/><Relationship Id="rId4" Type="http://schemas.openxmlformats.org/officeDocument/2006/relationships/diagramQuickStyle" Target="../diagrams/quickStyle136.xml"/></Relationships>
</file>

<file path=ppt/slides/_rels/slide134.xml.rels><?xml version="1.0" encoding="UTF-8" standalone="yes"?>
<Relationships xmlns="http://schemas.openxmlformats.org/package/2006/relationships"><Relationship Id="rId3" Type="http://schemas.openxmlformats.org/officeDocument/2006/relationships/diagramLayout" Target="../diagrams/layout137.xml"/><Relationship Id="rId2" Type="http://schemas.openxmlformats.org/officeDocument/2006/relationships/diagramData" Target="../diagrams/data137.xml"/><Relationship Id="rId1" Type="http://schemas.openxmlformats.org/officeDocument/2006/relationships/slideLayout" Target="../slideLayouts/slideLayout2.xml"/><Relationship Id="rId6" Type="http://schemas.microsoft.com/office/2007/relationships/diagramDrawing" Target="../diagrams/drawing137.xml"/><Relationship Id="rId5" Type="http://schemas.openxmlformats.org/officeDocument/2006/relationships/diagramColors" Target="../diagrams/colors137.xml"/><Relationship Id="rId4" Type="http://schemas.openxmlformats.org/officeDocument/2006/relationships/diagramQuickStyle" Target="../diagrams/quickStyle137.xml"/></Relationships>
</file>

<file path=ppt/slides/_rels/slide135.xml.rels><?xml version="1.0" encoding="UTF-8" standalone="yes"?>
<Relationships xmlns="http://schemas.openxmlformats.org/package/2006/relationships"><Relationship Id="rId3" Type="http://schemas.openxmlformats.org/officeDocument/2006/relationships/diagramLayout" Target="../diagrams/layout138.xml"/><Relationship Id="rId2" Type="http://schemas.openxmlformats.org/officeDocument/2006/relationships/diagramData" Target="../diagrams/data138.xml"/><Relationship Id="rId1" Type="http://schemas.openxmlformats.org/officeDocument/2006/relationships/slideLayout" Target="../slideLayouts/slideLayout2.xml"/><Relationship Id="rId6" Type="http://schemas.microsoft.com/office/2007/relationships/diagramDrawing" Target="../diagrams/drawing138.xml"/><Relationship Id="rId5" Type="http://schemas.openxmlformats.org/officeDocument/2006/relationships/diagramColors" Target="../diagrams/colors138.xml"/><Relationship Id="rId4" Type="http://schemas.openxmlformats.org/officeDocument/2006/relationships/diagramQuickStyle" Target="../diagrams/quickStyle138.xml"/></Relationships>
</file>

<file path=ppt/slides/_rels/slide136.xml.rels><?xml version="1.0" encoding="UTF-8" standalone="yes"?>
<Relationships xmlns="http://schemas.openxmlformats.org/package/2006/relationships"><Relationship Id="rId3" Type="http://schemas.openxmlformats.org/officeDocument/2006/relationships/diagramLayout" Target="../diagrams/layout139.xml"/><Relationship Id="rId2" Type="http://schemas.openxmlformats.org/officeDocument/2006/relationships/diagramData" Target="../diagrams/data139.xml"/><Relationship Id="rId1" Type="http://schemas.openxmlformats.org/officeDocument/2006/relationships/slideLayout" Target="../slideLayouts/slideLayout2.xml"/><Relationship Id="rId6" Type="http://schemas.microsoft.com/office/2007/relationships/diagramDrawing" Target="../diagrams/drawing139.xml"/><Relationship Id="rId5" Type="http://schemas.openxmlformats.org/officeDocument/2006/relationships/diagramColors" Target="../diagrams/colors139.xml"/><Relationship Id="rId4" Type="http://schemas.openxmlformats.org/officeDocument/2006/relationships/diagramQuickStyle" Target="../diagrams/quickStyle139.xml"/></Relationships>
</file>

<file path=ppt/slides/_rels/slide137.xml.rels><?xml version="1.0" encoding="UTF-8" standalone="yes"?>
<Relationships xmlns="http://schemas.openxmlformats.org/package/2006/relationships"><Relationship Id="rId3" Type="http://schemas.openxmlformats.org/officeDocument/2006/relationships/diagramLayout" Target="../diagrams/layout140.xml"/><Relationship Id="rId7" Type="http://schemas.openxmlformats.org/officeDocument/2006/relationships/image" Target="../media/image72.png"/><Relationship Id="rId2" Type="http://schemas.openxmlformats.org/officeDocument/2006/relationships/diagramData" Target="../diagrams/data140.xml"/><Relationship Id="rId1" Type="http://schemas.openxmlformats.org/officeDocument/2006/relationships/slideLayout" Target="../slideLayouts/slideLayout2.xml"/><Relationship Id="rId6" Type="http://schemas.microsoft.com/office/2007/relationships/diagramDrawing" Target="../diagrams/drawing140.xml"/><Relationship Id="rId5" Type="http://schemas.openxmlformats.org/officeDocument/2006/relationships/diagramColors" Target="../diagrams/colors140.xml"/><Relationship Id="rId4" Type="http://schemas.openxmlformats.org/officeDocument/2006/relationships/diagramQuickStyle" Target="../diagrams/quickStyle140.xml"/></Relationships>
</file>

<file path=ppt/slides/_rels/slide138.xml.rels><?xml version="1.0" encoding="UTF-8" standalone="yes"?>
<Relationships xmlns="http://schemas.openxmlformats.org/package/2006/relationships"><Relationship Id="rId8" Type="http://schemas.openxmlformats.org/officeDocument/2006/relationships/hyperlink" Target="https://handbook.gitlab.com/handbook/marketing/" TargetMode="External"/><Relationship Id="rId13" Type="http://schemas.openxmlformats.org/officeDocument/2006/relationships/hyperlink" Target="https://experienceleague.adobe.com/en/docs/blueprints-learn/architecture/audience-activation/known-customer-audience-activation/known" TargetMode="External"/><Relationship Id="rId3" Type="http://schemas.openxmlformats.org/officeDocument/2006/relationships/diagramLayout" Target="../diagrams/layout141.xml"/><Relationship Id="rId7" Type="http://schemas.openxmlformats.org/officeDocument/2006/relationships/hyperlink" Target="https://www.credera.com/en-us/insights/crederas-martech-reference-architecture-part-1-overview-works" TargetMode="External"/><Relationship Id="rId12" Type="http://schemas.openxmlformats.org/officeDocument/2006/relationships/hyperlink" Target="https://business.adobe.com/resources/ebooks/6-steps-to-design-the-ideal-martech-stack.html" TargetMode="External"/><Relationship Id="rId2" Type="http://schemas.openxmlformats.org/officeDocument/2006/relationships/diagramData" Target="../diagrams/data141.xml"/><Relationship Id="rId1" Type="http://schemas.openxmlformats.org/officeDocument/2006/relationships/slideLayout" Target="../slideLayouts/slideLayout2.xml"/><Relationship Id="rId6" Type="http://schemas.microsoft.com/office/2007/relationships/diagramDrawing" Target="../diagrams/drawing141.xml"/><Relationship Id="rId11" Type="http://schemas.openxmlformats.org/officeDocument/2006/relationships/hyperlink" Target="https://www.transfunnel.com/ebooks/the-ultimate-martech-stack-handbook" TargetMode="External"/><Relationship Id="rId5" Type="http://schemas.openxmlformats.org/officeDocument/2006/relationships/diagramColors" Target="../diagrams/colors141.xml"/><Relationship Id="rId10" Type="http://schemas.openxmlformats.org/officeDocument/2006/relationships/hyperlink" Target="https://www.m8l.com/blog/book-summary-the-martech-handbook" TargetMode="External"/><Relationship Id="rId4" Type="http://schemas.openxmlformats.org/officeDocument/2006/relationships/diagramQuickStyle" Target="../diagrams/quickStyle141.xml"/><Relationship Id="rId9" Type="http://schemas.openxmlformats.org/officeDocument/2006/relationships/hyperlink" Target="https://handbook.teamsimmer.com/" TargetMode="External"/><Relationship Id="rId14" Type="http://schemas.openxmlformats.org/officeDocument/2006/relationships/hyperlink" Target="https://learn.microsoft.com/en-us/dynamics365/guidance/#main" TargetMode="External"/></Relationships>
</file>

<file path=ppt/slides/_rels/slide139.xml.rels><?xml version="1.0" encoding="UTF-8" standalone="yes"?>
<Relationships xmlns="http://schemas.openxmlformats.org/package/2006/relationships"><Relationship Id="rId3" Type="http://schemas.openxmlformats.org/officeDocument/2006/relationships/diagramLayout" Target="../diagrams/layout142.xml"/><Relationship Id="rId7" Type="http://schemas.openxmlformats.org/officeDocument/2006/relationships/image" Target="../media/image73.png"/><Relationship Id="rId2" Type="http://schemas.openxmlformats.org/officeDocument/2006/relationships/diagramData" Target="../diagrams/data142.xml"/><Relationship Id="rId1" Type="http://schemas.openxmlformats.org/officeDocument/2006/relationships/slideLayout" Target="../slideLayouts/slideLayout2.xml"/><Relationship Id="rId6" Type="http://schemas.microsoft.com/office/2007/relationships/diagramDrawing" Target="../diagrams/drawing142.xml"/><Relationship Id="rId5" Type="http://schemas.openxmlformats.org/officeDocument/2006/relationships/diagramColors" Target="../diagrams/colors142.xml"/><Relationship Id="rId4" Type="http://schemas.openxmlformats.org/officeDocument/2006/relationships/diagramQuickStyle" Target="../diagrams/quickStyle142.xml"/></Relationships>
</file>

<file path=ppt/slides/_rels/slide140.xml.rels><?xml version="1.0" encoding="UTF-8" standalone="yes"?>
<Relationships xmlns="http://schemas.openxmlformats.org/package/2006/relationships"><Relationship Id="rId3" Type="http://schemas.openxmlformats.org/officeDocument/2006/relationships/diagramLayout" Target="../diagrams/layout143.xml"/><Relationship Id="rId2" Type="http://schemas.openxmlformats.org/officeDocument/2006/relationships/diagramData" Target="../diagrams/data143.xml"/><Relationship Id="rId1" Type="http://schemas.openxmlformats.org/officeDocument/2006/relationships/slideLayout" Target="../slideLayouts/slideLayout2.xml"/><Relationship Id="rId6" Type="http://schemas.microsoft.com/office/2007/relationships/diagramDrawing" Target="../diagrams/drawing143.xml"/><Relationship Id="rId5" Type="http://schemas.openxmlformats.org/officeDocument/2006/relationships/diagramColors" Target="../diagrams/colors143.xml"/><Relationship Id="rId4" Type="http://schemas.openxmlformats.org/officeDocument/2006/relationships/diagramQuickStyle" Target="../diagrams/quickStyle143.xml"/></Relationships>
</file>

<file path=ppt/slides/_rels/slide141.xml.rels><?xml version="1.0" encoding="UTF-8" standalone="yes"?>
<Relationships xmlns="http://schemas.openxmlformats.org/package/2006/relationships"><Relationship Id="rId3" Type="http://schemas.openxmlformats.org/officeDocument/2006/relationships/diagramLayout" Target="../diagrams/layout144.xml"/><Relationship Id="rId2" Type="http://schemas.openxmlformats.org/officeDocument/2006/relationships/diagramData" Target="../diagrams/data144.xml"/><Relationship Id="rId1" Type="http://schemas.openxmlformats.org/officeDocument/2006/relationships/slideLayout" Target="../slideLayouts/slideLayout2.xml"/><Relationship Id="rId6" Type="http://schemas.microsoft.com/office/2007/relationships/diagramDrawing" Target="../diagrams/drawing144.xml"/><Relationship Id="rId5" Type="http://schemas.openxmlformats.org/officeDocument/2006/relationships/diagramColors" Target="../diagrams/colors144.xml"/><Relationship Id="rId4" Type="http://schemas.openxmlformats.org/officeDocument/2006/relationships/diagramQuickStyle" Target="../diagrams/quickStyle144.xml"/></Relationships>
</file>

<file path=ppt/slides/_rels/slide142.xml.rels><?xml version="1.0" encoding="UTF-8" standalone="yes"?>
<Relationships xmlns="http://schemas.openxmlformats.org/package/2006/relationships"><Relationship Id="rId8" Type="http://schemas.openxmlformats.org/officeDocument/2006/relationships/hyperlink" Target="https://advertising.amazon.com/blog/programmatic-advertising" TargetMode="External"/><Relationship Id="rId13" Type="http://schemas.openxmlformats.org/officeDocument/2006/relationships/hyperlink" Target="https://business.adobe.com/in/resources/main.html" TargetMode="External"/><Relationship Id="rId18" Type="http://schemas.openxmlformats.org/officeDocument/2006/relationships/hyperlink" Target="https://u-next.com/blogs/career/4-must-read-web-analytics-books-that-will-help-your-career/" TargetMode="External"/><Relationship Id="rId3" Type="http://schemas.openxmlformats.org/officeDocument/2006/relationships/diagramLayout" Target="../diagrams/layout145.xml"/><Relationship Id="rId7" Type="http://schemas.openxmlformats.org/officeDocument/2006/relationships/hyperlink" Target="https://aerospike.com/files/white-papers/adtech-reference-architecture-whitepaper.pdf" TargetMode="External"/><Relationship Id="rId12" Type="http://schemas.openxmlformats.org/officeDocument/2006/relationships/hyperlink" Target="https://clearcode.cc/resources/" TargetMode="External"/><Relationship Id="rId17" Type="http://schemas.openxmlformats.org/officeDocument/2006/relationships/hyperlink" Target="https://medium.com/airbnb-engineering/airbnbs-promotions-and-communications-platform-6266f1ffe2bd" TargetMode="External"/><Relationship Id="rId2" Type="http://schemas.openxmlformats.org/officeDocument/2006/relationships/diagramData" Target="../diagrams/data145.xml"/><Relationship Id="rId16" Type="http://schemas.openxmlformats.org/officeDocument/2006/relationships/hyperlink" Target="https://www.iab.com/guidelines/openrtb/" TargetMode="External"/><Relationship Id="rId1" Type="http://schemas.openxmlformats.org/officeDocument/2006/relationships/slideLayout" Target="../slideLayouts/slideLayout2.xml"/><Relationship Id="rId6" Type="http://schemas.microsoft.com/office/2007/relationships/diagramDrawing" Target="../diagrams/drawing145.xml"/><Relationship Id="rId11" Type="http://schemas.openxmlformats.org/officeDocument/2006/relationships/hyperlink" Target="https://adtechbook.clearcode.cc/" TargetMode="External"/><Relationship Id="rId5" Type="http://schemas.openxmlformats.org/officeDocument/2006/relationships/diagramColors" Target="../diagrams/colors145.xml"/><Relationship Id="rId15" Type="http://schemas.openxmlformats.org/officeDocument/2006/relationships/hyperlink" Target="https://www.redpanda.com/blog/reference-architecture-demand-side-platform-adtech" TargetMode="External"/><Relationship Id="rId10" Type="http://schemas.openxmlformats.org/officeDocument/2006/relationships/hyperlink" Target="https://www.unboundb2b.com/ebook/programmatic-advertising-ebook/" TargetMode="External"/><Relationship Id="rId4" Type="http://schemas.openxmlformats.org/officeDocument/2006/relationships/diagramQuickStyle" Target="../diagrams/quickStyle145.xml"/><Relationship Id="rId9" Type="http://schemas.openxmlformats.org/officeDocument/2006/relationships/hyperlink" Target="https://aws.amazon.com/solutions/guidance/adtech-private-network-on-aws/" TargetMode="External"/><Relationship Id="rId14" Type="http://schemas.openxmlformats.org/officeDocument/2006/relationships/hyperlink" Target="https://www.udemy.com/course/programmatic-advertising-master-course/" TargetMode="External"/></Relationships>
</file>

<file path=ppt/slides/_rels/slide143.xml.rels><?xml version="1.0" encoding="UTF-8" standalone="yes"?>
<Relationships xmlns="http://schemas.openxmlformats.org/package/2006/relationships"><Relationship Id="rId3" Type="http://schemas.openxmlformats.org/officeDocument/2006/relationships/diagramLayout" Target="../diagrams/layout146.xml"/><Relationship Id="rId7" Type="http://schemas.openxmlformats.org/officeDocument/2006/relationships/image" Target="../media/image74.png"/><Relationship Id="rId2" Type="http://schemas.openxmlformats.org/officeDocument/2006/relationships/diagramData" Target="../diagrams/data146.xml"/><Relationship Id="rId1" Type="http://schemas.openxmlformats.org/officeDocument/2006/relationships/slideLayout" Target="../slideLayouts/slideLayout2.xml"/><Relationship Id="rId6" Type="http://schemas.microsoft.com/office/2007/relationships/diagramDrawing" Target="../diagrams/drawing146.xml"/><Relationship Id="rId5" Type="http://schemas.openxmlformats.org/officeDocument/2006/relationships/diagramColors" Target="../diagrams/colors146.xml"/><Relationship Id="rId4" Type="http://schemas.openxmlformats.org/officeDocument/2006/relationships/diagramQuickStyle" Target="../diagrams/quickStyle146.xml"/></Relationships>
</file>

<file path=ppt/slides/_rels/slide144.xml.rels><?xml version="1.0" encoding="UTF-8" standalone="yes"?>
<Relationships xmlns="http://schemas.openxmlformats.org/package/2006/relationships"><Relationship Id="rId3" Type="http://schemas.openxmlformats.org/officeDocument/2006/relationships/diagramLayout" Target="../diagrams/layout147.xml"/><Relationship Id="rId7" Type="http://schemas.openxmlformats.org/officeDocument/2006/relationships/hyperlink" Target="https://www.comarch.com/trade-and-services/loyalty-marketing/blog/discover-livelos-latest-successes-revealed-on-lets-talk-loyalty/" TargetMode="External"/><Relationship Id="rId2" Type="http://schemas.openxmlformats.org/officeDocument/2006/relationships/diagramData" Target="../diagrams/data147.xml"/><Relationship Id="rId1" Type="http://schemas.openxmlformats.org/officeDocument/2006/relationships/slideLayout" Target="../slideLayouts/slideLayout2.xml"/><Relationship Id="rId6" Type="http://schemas.microsoft.com/office/2007/relationships/diagramDrawing" Target="../diagrams/drawing147.xml"/><Relationship Id="rId5" Type="http://schemas.openxmlformats.org/officeDocument/2006/relationships/diagramColors" Target="../diagrams/colors147.xml"/><Relationship Id="rId4" Type="http://schemas.openxmlformats.org/officeDocument/2006/relationships/diagramQuickStyle" Target="../diagrams/quickStyle147.xml"/></Relationships>
</file>

<file path=ppt/slides/_rels/slide145.xml.rels><?xml version="1.0" encoding="UTF-8" standalone="yes"?>
<Relationships xmlns="http://schemas.openxmlformats.org/package/2006/relationships"><Relationship Id="rId3" Type="http://schemas.openxmlformats.org/officeDocument/2006/relationships/diagramLayout" Target="../diagrams/layout148.xml"/><Relationship Id="rId7" Type="http://schemas.openxmlformats.org/officeDocument/2006/relationships/image" Target="../media/image75.png"/><Relationship Id="rId2" Type="http://schemas.openxmlformats.org/officeDocument/2006/relationships/diagramData" Target="../diagrams/data148.xml"/><Relationship Id="rId1" Type="http://schemas.openxmlformats.org/officeDocument/2006/relationships/slideLayout" Target="../slideLayouts/slideLayout2.xml"/><Relationship Id="rId6" Type="http://schemas.microsoft.com/office/2007/relationships/diagramDrawing" Target="../diagrams/drawing148.xml"/><Relationship Id="rId5" Type="http://schemas.openxmlformats.org/officeDocument/2006/relationships/diagramColors" Target="../diagrams/colors148.xml"/><Relationship Id="rId4" Type="http://schemas.openxmlformats.org/officeDocument/2006/relationships/diagramQuickStyle" Target="../diagrams/quickStyle148.xml"/></Relationships>
</file>

<file path=ppt/slides/_rels/slide146.xml.rels><?xml version="1.0" encoding="UTF-8" standalone="yes"?>
<Relationships xmlns="http://schemas.openxmlformats.org/package/2006/relationships"><Relationship Id="rId8" Type="http://schemas.openxmlformats.org/officeDocument/2006/relationships/hyperlink" Target="https://theleanmarketplace.com/" TargetMode="External"/><Relationship Id="rId3" Type="http://schemas.openxmlformats.org/officeDocument/2006/relationships/diagramLayout" Target="../diagrams/layout149.xml"/><Relationship Id="rId7" Type="http://schemas.openxmlformats.org/officeDocument/2006/relationships/hyperlink" Target="https://marketplacebestpractices.com/" TargetMode="External"/><Relationship Id="rId2" Type="http://schemas.openxmlformats.org/officeDocument/2006/relationships/diagramData" Target="../diagrams/data149.xml"/><Relationship Id="rId1" Type="http://schemas.openxmlformats.org/officeDocument/2006/relationships/slideLayout" Target="../slideLayouts/slideLayout2.xml"/><Relationship Id="rId6" Type="http://schemas.microsoft.com/office/2007/relationships/diagramDrawing" Target="../diagrams/drawing149.xml"/><Relationship Id="rId5" Type="http://schemas.openxmlformats.org/officeDocument/2006/relationships/diagramColors" Target="../diagrams/colors149.xml"/><Relationship Id="rId4" Type="http://schemas.openxmlformats.org/officeDocument/2006/relationships/diagramQuickStyle" Target="../diagrams/quickStyle149.xml"/></Relationships>
</file>

<file path=ppt/slides/_rels/slide147.xml.rels><?xml version="1.0" encoding="UTF-8" standalone="yes"?>
<Relationships xmlns="http://schemas.openxmlformats.org/package/2006/relationships"><Relationship Id="rId3" Type="http://schemas.openxmlformats.org/officeDocument/2006/relationships/diagramLayout" Target="../diagrams/layout150.xml"/><Relationship Id="rId7" Type="http://schemas.openxmlformats.org/officeDocument/2006/relationships/image" Target="../media/image76.png"/><Relationship Id="rId2" Type="http://schemas.openxmlformats.org/officeDocument/2006/relationships/diagramData" Target="../diagrams/data150.xml"/><Relationship Id="rId1" Type="http://schemas.openxmlformats.org/officeDocument/2006/relationships/slideLayout" Target="../slideLayouts/slideLayout2.xml"/><Relationship Id="rId6" Type="http://schemas.microsoft.com/office/2007/relationships/diagramDrawing" Target="../diagrams/drawing150.xml"/><Relationship Id="rId5" Type="http://schemas.openxmlformats.org/officeDocument/2006/relationships/diagramColors" Target="../diagrams/colors150.xml"/><Relationship Id="rId4" Type="http://schemas.openxmlformats.org/officeDocument/2006/relationships/diagramQuickStyle" Target="../diagrams/quickStyle150.xml"/></Relationships>
</file>

<file path=ppt/slides/_rels/slide148.xml.rels><?xml version="1.0" encoding="UTF-8" standalone="yes"?>
<Relationships xmlns="http://schemas.openxmlformats.org/package/2006/relationships"><Relationship Id="rId3" Type="http://schemas.openxmlformats.org/officeDocument/2006/relationships/diagramLayout" Target="../diagrams/layout151.xml"/><Relationship Id="rId2" Type="http://schemas.openxmlformats.org/officeDocument/2006/relationships/diagramData" Target="../diagrams/data151.xml"/><Relationship Id="rId1" Type="http://schemas.openxmlformats.org/officeDocument/2006/relationships/slideLayout" Target="../slideLayouts/slideLayout2.xml"/><Relationship Id="rId6" Type="http://schemas.microsoft.com/office/2007/relationships/diagramDrawing" Target="../diagrams/drawing151.xml"/><Relationship Id="rId5" Type="http://schemas.openxmlformats.org/officeDocument/2006/relationships/diagramColors" Target="../diagrams/colors151.xml"/><Relationship Id="rId4" Type="http://schemas.openxmlformats.org/officeDocument/2006/relationships/diagramQuickStyle" Target="../diagrams/quickStyle151.xml"/></Relationships>
</file>

<file path=ppt/slides/_rels/slide149.xml.rels><?xml version="1.0" encoding="UTF-8" standalone="yes"?>
<Relationships xmlns="http://schemas.openxmlformats.org/package/2006/relationships"><Relationship Id="rId8" Type="http://schemas.openxmlformats.org/officeDocument/2006/relationships/hyperlink" Target="https://www.nseindia.com/products-services/equity-market-trading-system" TargetMode="External"/><Relationship Id="rId13" Type="http://schemas.openxmlformats.org/officeDocument/2006/relationships/hyperlink" Target="https://github.com/tigeryant/order-matching-engine" TargetMode="External"/><Relationship Id="rId18" Type="http://schemas.openxmlformats.org/officeDocument/2006/relationships/hyperlink" Target="https://github.com/thomdixon/SaltwaterTaffy" TargetMode="External"/><Relationship Id="rId3" Type="http://schemas.openxmlformats.org/officeDocument/2006/relationships/diagramLayout" Target="../diagrams/layout152.xml"/><Relationship Id="rId21" Type="http://schemas.openxmlformats.org/officeDocument/2006/relationships/hyperlink" Target="https://github.com/disruptor-net/Disruptor-net" TargetMode="External"/><Relationship Id="rId7" Type="http://schemas.openxmlformats.org/officeDocument/2006/relationships/hyperlink" Target="https://medium.com/@sanchety.deepak/exchange-architecture-fbec72643df6" TargetMode="External"/><Relationship Id="rId12" Type="http://schemas.openxmlformats.org/officeDocument/2006/relationships/hyperlink" Target="https://gist.github.com/halfelf/db1ae032dc34278968f8bf31ee999a25" TargetMode="External"/><Relationship Id="rId17" Type="http://schemas.openxmlformats.org/officeDocument/2006/relationships/hyperlink" Target="https://www.fool.com/investing/how-to-invest/stocks/how-are-stock-prices-determined/" TargetMode="External"/><Relationship Id="rId2" Type="http://schemas.openxmlformats.org/officeDocument/2006/relationships/diagramData" Target="../diagrams/data152.xml"/><Relationship Id="rId16" Type="http://schemas.openxmlformats.org/officeDocument/2006/relationships/hyperlink" Target="https://www.angelone.in/knowledge-center/share-market/how-share-price-is-calculated" TargetMode="External"/><Relationship Id="rId20" Type="http://schemas.openxmlformats.org/officeDocument/2006/relationships/hyperlink" Target="https://martinfowler.com/articles/lmax.html?ref=wellarchitected" TargetMode="External"/><Relationship Id="rId1" Type="http://schemas.openxmlformats.org/officeDocument/2006/relationships/slideLayout" Target="../slideLayouts/slideLayout2.xml"/><Relationship Id="rId6" Type="http://schemas.microsoft.com/office/2007/relationships/diagramDrawing" Target="../diagrams/drawing152.xml"/><Relationship Id="rId11" Type="http://schemas.openxmlformats.org/officeDocument/2006/relationships/hyperlink" Target="https://www.alwin.io/order-matching-algorithms-in-crypto-exchange" TargetMode="External"/><Relationship Id="rId5" Type="http://schemas.openxmlformats.org/officeDocument/2006/relationships/diagramColors" Target="../diagrams/colors152.xml"/><Relationship Id="rId15" Type="http://schemas.openxmlformats.org/officeDocument/2006/relationships/hyperlink" Target="https://www.5paisa.com/blog/how-are-stock-prices-determined" TargetMode="External"/><Relationship Id="rId10" Type="http://schemas.openxmlformats.org/officeDocument/2006/relationships/hyperlink" Target="https://www.nseindia.com/trade/platform-services-co-location-facility" TargetMode="External"/><Relationship Id="rId19" Type="http://schemas.openxmlformats.org/officeDocument/2006/relationships/hyperlink" Target="https://code.kx.com/q/" TargetMode="External"/><Relationship Id="rId4" Type="http://schemas.openxmlformats.org/officeDocument/2006/relationships/diagramQuickStyle" Target="../diagrams/quickStyle152.xml"/><Relationship Id="rId9" Type="http://schemas.openxmlformats.org/officeDocument/2006/relationships/hyperlink" Target="https://www.nseindia.com/trade/platform-services-neat-trading-system" TargetMode="External"/><Relationship Id="rId14" Type="http://schemas.openxmlformats.org/officeDocument/2006/relationships/hyperlink" Target="https://www.stash.com/learn/understanding-stock-price/" TargetMode="External"/></Relationships>
</file>

<file path=ppt/slides/_rels/slide150.xml.rels><?xml version="1.0" encoding="UTF-8" standalone="yes"?>
<Relationships xmlns="http://schemas.openxmlformats.org/package/2006/relationships"><Relationship Id="rId3" Type="http://schemas.openxmlformats.org/officeDocument/2006/relationships/diagramLayout" Target="../diagrams/layout153.xml"/><Relationship Id="rId7" Type="http://schemas.openxmlformats.org/officeDocument/2006/relationships/image" Target="../media/image77.png"/><Relationship Id="rId2" Type="http://schemas.openxmlformats.org/officeDocument/2006/relationships/diagramData" Target="../diagrams/data153.xml"/><Relationship Id="rId1" Type="http://schemas.openxmlformats.org/officeDocument/2006/relationships/slideLayout" Target="../slideLayouts/slideLayout2.xml"/><Relationship Id="rId6" Type="http://schemas.microsoft.com/office/2007/relationships/diagramDrawing" Target="../diagrams/drawing153.xml"/><Relationship Id="rId5" Type="http://schemas.openxmlformats.org/officeDocument/2006/relationships/diagramColors" Target="../diagrams/colors153.xml"/><Relationship Id="rId4" Type="http://schemas.openxmlformats.org/officeDocument/2006/relationships/diagramQuickStyle" Target="../diagrams/quickStyle153.xml"/></Relationships>
</file>

<file path=ppt/slides/_rels/slide151.xml.rels><?xml version="1.0" encoding="UTF-8" standalone="yes"?>
<Relationships xmlns="http://schemas.openxmlformats.org/package/2006/relationships"><Relationship Id="rId3" Type="http://schemas.openxmlformats.org/officeDocument/2006/relationships/diagramLayout" Target="../diagrams/layout154.xml"/><Relationship Id="rId2" Type="http://schemas.openxmlformats.org/officeDocument/2006/relationships/diagramData" Target="../diagrams/data154.xml"/><Relationship Id="rId1" Type="http://schemas.openxmlformats.org/officeDocument/2006/relationships/slideLayout" Target="../slideLayouts/slideLayout2.xml"/><Relationship Id="rId6" Type="http://schemas.microsoft.com/office/2007/relationships/diagramDrawing" Target="../diagrams/drawing154.xml"/><Relationship Id="rId5" Type="http://schemas.openxmlformats.org/officeDocument/2006/relationships/diagramColors" Target="../diagrams/colors154.xml"/><Relationship Id="rId4" Type="http://schemas.openxmlformats.org/officeDocument/2006/relationships/diagramQuickStyle" Target="../diagrams/quickStyle154.xml"/></Relationships>
</file>

<file path=ppt/slides/_rels/slide152.xml.rels><?xml version="1.0" encoding="UTF-8" standalone="yes"?>
<Relationships xmlns="http://schemas.openxmlformats.org/package/2006/relationships"><Relationship Id="rId8" Type="http://schemas.openxmlformats.org/officeDocument/2006/relationships/hyperlink" Target="https://www.turingfinance.com/algorithmic-trading-system-architecture-post/" TargetMode="External"/><Relationship Id="rId13" Type="http://schemas.openxmlformats.org/officeDocument/2006/relationships/hyperlink" Target="https://github.com/Marketcetera/marketcetera" TargetMode="External"/><Relationship Id="rId3" Type="http://schemas.openxmlformats.org/officeDocument/2006/relationships/diagramLayout" Target="../diagrams/layout155.xml"/><Relationship Id="rId7" Type="http://schemas.openxmlformats.org/officeDocument/2006/relationships/hyperlink" Target="https://blog.quantinsti.com/automated-trading-system/" TargetMode="External"/><Relationship Id="rId12" Type="http://schemas.openxmlformats.org/officeDocument/2006/relationships/hyperlink" Target="https://github.com/StockSharp/StockSharp" TargetMode="External"/><Relationship Id="rId2" Type="http://schemas.openxmlformats.org/officeDocument/2006/relationships/diagramData" Target="../diagrams/data155.xml"/><Relationship Id="rId1" Type="http://schemas.openxmlformats.org/officeDocument/2006/relationships/slideLayout" Target="../slideLayouts/slideLayout2.xml"/><Relationship Id="rId6" Type="http://schemas.microsoft.com/office/2007/relationships/diagramDrawing" Target="../diagrams/drawing155.xml"/><Relationship Id="rId11" Type="http://schemas.openxmlformats.org/officeDocument/2006/relationships/hyperlink" Target="https://github.com/aws-samples/algorithmic-trading/" TargetMode="External"/><Relationship Id="rId5" Type="http://schemas.openxmlformats.org/officeDocument/2006/relationships/diagramColors" Target="../diagrams/colors155.xml"/><Relationship Id="rId10" Type="http://schemas.openxmlformats.org/officeDocument/2006/relationships/hyperlink" Target="https://medium.com/prooftrading/proof-engineering-the-algorithmic-trading-platform-b9c2f195433d" TargetMode="External"/><Relationship Id="rId4" Type="http://schemas.openxmlformats.org/officeDocument/2006/relationships/diagramQuickStyle" Target="../diagrams/quickStyle155.xml"/><Relationship Id="rId9" Type="http://schemas.openxmlformats.org/officeDocument/2006/relationships/hyperlink" Target="https://www.vamsitalkstech.com/architecture/design-and-architecture-of-a-real-world-trading-platform-23/" TargetMode="External"/><Relationship Id="rId14" Type="http://schemas.openxmlformats.org/officeDocument/2006/relationships/hyperlink" Target="https://modulusglobal.com/" TargetMode="External"/></Relationships>
</file>

<file path=ppt/slides/_rels/slide153.xml.rels><?xml version="1.0" encoding="UTF-8" standalone="yes"?>
<Relationships xmlns="http://schemas.openxmlformats.org/package/2006/relationships"><Relationship Id="rId8" Type="http://schemas.openxmlformats.org/officeDocument/2006/relationships/hyperlink" Target="https://www.google.com/search?safe=active&amp;rlz=1C1GCEW_enIN1075IN1075&amp;cs=0&amp;sca_esv=cba1f4f3559086d0&amp;sxsrf=AE3TifNGB6ludsHQVuewuoyAnnuQZpdyxw%3A1758868653232&amp;q=Graphics%2FGUI&amp;sa=X&amp;ved=2ahUKEwj_s_mp6PWPAxUoU2wGHbSiGIQQxccNegQIKRAB&amp;mstk=AUtExfBk0NI6Esu6KtLVe3jY0XI9O3WFDZ1D3aFdqSOWI6yo09ZO_Xkmfk7BIkVIP6vNKqs_wWDbHI-MUFtzv8f4SfhLCmK1qD-eZDfPPQrf4iTez507T0hdQ4ZcplHeiAasWhzhYOgqiO6cQpRmPm1fwsOYgvOXtABh7x6Y8C_ver3foZk&amp;csui=3" TargetMode="External"/><Relationship Id="rId3" Type="http://schemas.openxmlformats.org/officeDocument/2006/relationships/diagramLayout" Target="../diagrams/layout156.xml"/><Relationship Id="rId7" Type="http://schemas.openxmlformats.org/officeDocument/2006/relationships/hyperlink" Target="https://www.google.com/search?safe=active&amp;rlz=1C1GCEW_enIN1075IN1075&amp;cs=0&amp;sca_esv=cba1f4f3559086d0&amp;sxsrf=AE3TifNGB6ludsHQVuewuoyAnnuQZpdyxw%3A1758868653232&amp;q=Networking&amp;sa=X&amp;ved=2ahUKEwj_s_mp6PWPAxUoU2wGHbSiGIQQxccNegQIKBAB&amp;mstk=AUtExfBk0NI6Esu6KtLVe3jY0XI9O3WFDZ1D3aFdqSOWI6yo09ZO_Xkmfk7BIkVIP6vNKqs_wWDbHI-MUFtzv8f4SfhLCmK1qD-eZDfPPQrf4iTez507T0hdQ4ZcplHeiAasWhzhYOgqiO6cQpRmPm1fwsOYgvOXtABh7x6Y8C_ver3foZk&amp;csui=3" TargetMode="External"/><Relationship Id="rId2" Type="http://schemas.openxmlformats.org/officeDocument/2006/relationships/diagramData" Target="../diagrams/data156.xml"/><Relationship Id="rId1" Type="http://schemas.openxmlformats.org/officeDocument/2006/relationships/slideLayout" Target="../slideLayouts/slideLayout2.xml"/><Relationship Id="rId6" Type="http://schemas.microsoft.com/office/2007/relationships/diagramDrawing" Target="../diagrams/drawing156.xml"/><Relationship Id="rId11" Type="http://schemas.openxmlformats.org/officeDocument/2006/relationships/image" Target="../media/image78.png"/><Relationship Id="rId5" Type="http://schemas.openxmlformats.org/officeDocument/2006/relationships/diagramColors" Target="../diagrams/colors156.xml"/><Relationship Id="rId10" Type="http://schemas.openxmlformats.org/officeDocument/2006/relationships/hyperlink" Target="https://www.google.com/search?safe=active&amp;rlz=1C1GCEW_enIN1075IN1075&amp;cs=0&amp;sca_esv=cba1f4f3559086d0&amp;sxsrf=AE3TifNGB6ludsHQVuewuoyAnnuQZpdyxw%3A1758868653232&amp;q=Artificial+Intelligence&amp;sa=X&amp;ved=2ahUKEwj_s_mp6PWPAxUoU2wGHbSiGIQQxccNegQIKhAB&amp;mstk=AUtExfBk0NI6Esu6KtLVe3jY0XI9O3WFDZ1D3aFdqSOWI6yo09ZO_Xkmfk7BIkVIP6vNKqs_wWDbHI-MUFtzv8f4SfhLCmK1qD-eZDfPPQrf4iTez507T0hdQ4ZcplHeiAasWhzhYOgqiO6cQpRmPm1fwsOYgvOXtABh7x6Y8C_ver3foZk&amp;csui=3" TargetMode="External"/><Relationship Id="rId4" Type="http://schemas.openxmlformats.org/officeDocument/2006/relationships/diagramQuickStyle" Target="../diagrams/quickStyle156.xml"/><Relationship Id="rId9" Type="http://schemas.openxmlformats.org/officeDocument/2006/relationships/hyperlink" Target="https://www.google.com/search?safe=active&amp;rlz=1C1GCEW_enIN1075IN1075&amp;cs=0&amp;sca_esv=cba1f4f3559086d0&amp;sxsrf=AE3TifNGB6ludsHQVuewuoyAnnuQZpdyxw%3A1758868653232&amp;q=Physics&amp;sa=X&amp;ved=2ahUKEwj_s_mp6PWPAxUoU2wGHbSiGIQQxccNegQIMBAB&amp;mstk=AUtExfBk0NI6Esu6KtLVe3jY0XI9O3WFDZ1D3aFdqSOWI6yo09ZO_Xkmfk7BIkVIP6vNKqs_wWDbHI-MUFtzv8f4SfhLCmK1qD-eZDfPPQrf4iTez507T0hdQ4ZcplHeiAasWhzhYOgqiO6cQpRmPm1fwsOYgvOXtABh7x6Y8C_ver3foZk&amp;csui=3" TargetMode="External"/></Relationships>
</file>

<file path=ppt/slides/_rels/slide154.xml.rels><?xml version="1.0" encoding="UTF-8" standalone="yes"?>
<Relationships xmlns="http://schemas.openxmlformats.org/package/2006/relationships"><Relationship Id="rId8" Type="http://schemas.openxmlformats.org/officeDocument/2006/relationships/hyperlink" Target="https://www.google.com/search?safe=active&amp;rlz=1C1GCEW_enIN1075IN1075&amp;cs=0&amp;sca_esv=cba1f4f3559086d0&amp;sxsrf=AE3TifNGB6ludsHQVuewuoyAnnuQZpdyxw%3A1758868653232&amp;q=Player+Authentication&amp;sa=X&amp;ved=2ahUKEwj_s_mp6PWPAxUoU2wGHbSiGIQQxccNegQITBAB&amp;mstk=AUtExfBk0NI6Esu6KtLVe3jY0XI9O3WFDZ1D3aFdqSOWI6yo09ZO_Xkmfk7BIkVIP6vNKqs_wWDbHI-MUFtzv8f4SfhLCmK1qD-eZDfPPQrf4iTez507T0hdQ4ZcplHeiAasWhzhYOgqiO6cQpRmPm1fwsOYgvOXtABh7x6Y8C_ver3foZk&amp;csui=3" TargetMode="External"/><Relationship Id="rId13" Type="http://schemas.openxmlformats.org/officeDocument/2006/relationships/hyperlink" Target="https://docs.aws.amazon.com/wellarchitected/latest/games-industry-lens/container-based-backend.html" TargetMode="External"/><Relationship Id="rId18" Type="http://schemas.openxmlformats.org/officeDocument/2006/relationships/hyperlink" Target="https://www.haroldserrano.com/blog/books-i-used-to-develop-a-game-engine" TargetMode="External"/><Relationship Id="rId3" Type="http://schemas.openxmlformats.org/officeDocument/2006/relationships/diagramLayout" Target="../diagrams/layout157.xml"/><Relationship Id="rId21" Type="http://schemas.openxmlformats.org/officeDocument/2006/relationships/hyperlink" Target="https://github.com/Apress/ar-vr-using-webxr-api" TargetMode="External"/><Relationship Id="rId7" Type="http://schemas.openxmlformats.org/officeDocument/2006/relationships/hyperlink" Target="https://www.google.com/search?safe=active&amp;rlz=1C1GCEW_enIN1075IN1075&amp;cs=0&amp;sca_esv=cba1f4f3559086d0&amp;sxsrf=AE3TifNGB6ludsHQVuewuoyAnnuQZpdyxw%3A1758868653232&amp;q=Content+Delivery+Network+%28CDN%29&amp;sa=X&amp;ved=2ahUKEwj_s_mp6PWPAxUoU2wGHbSiGIQQxccNegQIRBAB&amp;mstk=AUtExfBk0NI6Esu6KtLVe3jY0XI9O3WFDZ1D3aFdqSOWI6yo09ZO_Xkmfk7BIkVIP6vNKqs_wWDbHI-MUFtzv8f4SfhLCmK1qD-eZDfPPQrf4iTez507T0hdQ4ZcplHeiAasWhzhYOgqiO6cQpRmPm1fwsOYgvOXtABh7x6Y8C_ver3foZk&amp;csui=3" TargetMode="External"/><Relationship Id="rId12" Type="http://schemas.openxmlformats.org/officeDocument/2006/relationships/hyperlink" Target="https://docs.aws.amazon.com/wellarchitected/latest/games-industry-lens/serverless-backend.html" TargetMode="External"/><Relationship Id="rId17" Type="http://schemas.openxmlformats.org/officeDocument/2006/relationships/hyperlink" Target="https://github.com/2DGD-F0TH/2DGD_F0TH/blob/master/chapters/001_Introduction/001_Introduction.md" TargetMode="External"/><Relationship Id="rId2" Type="http://schemas.openxmlformats.org/officeDocument/2006/relationships/diagramData" Target="../diagrams/data157.xml"/><Relationship Id="rId16" Type="http://schemas.openxmlformats.org/officeDocument/2006/relationships/hyperlink" Target="https://gabrielgambetta.com/computer-graphics-from-scratch/" TargetMode="External"/><Relationship Id="rId20" Type="http://schemas.openxmlformats.org/officeDocument/2006/relationships/hyperlink" Target="https://geometricalgebra.org/" TargetMode="External"/><Relationship Id="rId1" Type="http://schemas.openxmlformats.org/officeDocument/2006/relationships/slideLayout" Target="../slideLayouts/slideLayout2.xml"/><Relationship Id="rId6" Type="http://schemas.microsoft.com/office/2007/relationships/diagramDrawing" Target="../diagrams/drawing157.xml"/><Relationship Id="rId11" Type="http://schemas.openxmlformats.org/officeDocument/2006/relationships/hyperlink" Target="https://www.alibabacloud.com/blog/alibaba-cloud-gaming-architecture-for-infrastructure-whitepaper_598322" TargetMode="External"/><Relationship Id="rId5" Type="http://schemas.openxmlformats.org/officeDocument/2006/relationships/diagramColors" Target="../diagrams/colors157.xml"/><Relationship Id="rId15" Type="http://schemas.openxmlformats.org/officeDocument/2006/relationships/hyperlink" Target="https://roadmap.sh/game-developer" TargetMode="External"/><Relationship Id="rId10" Type="http://schemas.openxmlformats.org/officeDocument/2006/relationships/hyperlink" Target="https://www.researchgate.net/figure/Functional-reference-architecture-for-online-gaming-with-main-topics-1-level-of-depth_fig3_323217259" TargetMode="External"/><Relationship Id="rId19" Type="http://schemas.openxmlformats.org/officeDocument/2006/relationships/hyperlink" Target="https://www.geometrictools.com/Books/GeometricTools/AboutTheBook.html" TargetMode="External"/><Relationship Id="rId4" Type="http://schemas.openxmlformats.org/officeDocument/2006/relationships/diagramQuickStyle" Target="../diagrams/quickStyle157.xml"/><Relationship Id="rId9" Type="http://schemas.openxmlformats.org/officeDocument/2006/relationships/hyperlink" Target="https://www.google.com/search?safe=active&amp;rlz=1C1GCEW_enIN1075IN1075&amp;cs=0&amp;sca_esv=cba1f4f3559086d0&amp;sxsrf=AE3TifNGB6ludsHQVuewuoyAnnuQZpdyxw%3A1758868653232&amp;q=Social+Platforms&amp;sa=X&amp;ved=2ahUKEwj_s_mp6PWPAxUoU2wGHbSiGIQQxccNegQIRhAB&amp;mstk=AUtExfBk0NI6Esu6KtLVe3jY0XI9O3WFDZ1D3aFdqSOWI6yo09ZO_Xkmfk7BIkVIP6vNKqs_wWDbHI-MUFtzv8f4SfhLCmK1qD-eZDfPPQrf4iTez507T0hdQ4ZcplHeiAasWhzhYOgqiO6cQpRmPm1fwsOYgvOXtABh7x6Y8C_ver3foZk&amp;csui=3" TargetMode="External"/><Relationship Id="rId14" Type="http://schemas.openxmlformats.org/officeDocument/2006/relationships/hyperlink" Target="https://roadmap.sh/server-side-game-developer" TargetMode="External"/></Relationships>
</file>

<file path=ppt/slides/_rels/slide155.xml.rels><?xml version="1.0" encoding="UTF-8" standalone="yes"?>
<Relationships xmlns="http://schemas.openxmlformats.org/package/2006/relationships"><Relationship Id="rId3" Type="http://schemas.openxmlformats.org/officeDocument/2006/relationships/diagramLayout" Target="../diagrams/layout158.xml"/><Relationship Id="rId7" Type="http://schemas.openxmlformats.org/officeDocument/2006/relationships/image" Target="../media/image79.jpeg"/><Relationship Id="rId2" Type="http://schemas.openxmlformats.org/officeDocument/2006/relationships/diagramData" Target="../diagrams/data158.xml"/><Relationship Id="rId1" Type="http://schemas.openxmlformats.org/officeDocument/2006/relationships/slideLayout" Target="../slideLayouts/slideLayout2.xml"/><Relationship Id="rId6" Type="http://schemas.microsoft.com/office/2007/relationships/diagramDrawing" Target="../diagrams/drawing158.xml"/><Relationship Id="rId5" Type="http://schemas.openxmlformats.org/officeDocument/2006/relationships/diagramColors" Target="../diagrams/colors158.xml"/><Relationship Id="rId4" Type="http://schemas.openxmlformats.org/officeDocument/2006/relationships/diagramQuickStyle" Target="../diagrams/quickStyle158.xml"/></Relationships>
</file>

<file path=ppt/slides/_rels/slide156.xml.rels><?xml version="1.0" encoding="UTF-8" standalone="yes"?>
<Relationships xmlns="http://schemas.openxmlformats.org/package/2006/relationships"><Relationship Id="rId8" Type="http://schemas.openxmlformats.org/officeDocument/2006/relationships/hyperlink" Target="https://standards.ieee.org/ieee/2413/6226/" TargetMode="External"/><Relationship Id="rId3" Type="http://schemas.openxmlformats.org/officeDocument/2006/relationships/diagramLayout" Target="../diagrams/layout159.xml"/><Relationship Id="rId7" Type="http://schemas.openxmlformats.org/officeDocument/2006/relationships/hyperlink" Target="https://www.iot-a.eu/" TargetMode="External"/><Relationship Id="rId2" Type="http://schemas.openxmlformats.org/officeDocument/2006/relationships/diagramData" Target="../diagrams/data159.xml"/><Relationship Id="rId1" Type="http://schemas.openxmlformats.org/officeDocument/2006/relationships/slideLayout" Target="../slideLayouts/slideLayout2.xml"/><Relationship Id="rId6" Type="http://schemas.microsoft.com/office/2007/relationships/diagramDrawing" Target="../diagrams/drawing159.xml"/><Relationship Id="rId11" Type="http://schemas.openxmlformats.org/officeDocument/2006/relationships/hyperlink" Target="https://github.com/Apress/ar-vr-using-webxr-api" TargetMode="External"/><Relationship Id="rId5" Type="http://schemas.openxmlformats.org/officeDocument/2006/relationships/diagramColors" Target="../diagrams/colors159.xml"/><Relationship Id="rId10" Type="http://schemas.openxmlformats.org/officeDocument/2006/relationships/hyperlink" Target="https://www.iso.org/standard/88800.html" TargetMode="External"/><Relationship Id="rId4" Type="http://schemas.openxmlformats.org/officeDocument/2006/relationships/diagramQuickStyle" Target="../diagrams/quickStyle159.xml"/><Relationship Id="rId9" Type="http://schemas.openxmlformats.org/officeDocument/2006/relationships/hyperlink" Target="https://www.iiconsortium.org/iira/" TargetMode="External"/></Relationships>
</file>

<file path=ppt/slides/_rels/slide157.xml.rels><?xml version="1.0" encoding="UTF-8" standalone="yes"?>
<Relationships xmlns="http://schemas.openxmlformats.org/package/2006/relationships"><Relationship Id="rId8" Type="http://schemas.openxmlformats.org/officeDocument/2006/relationships/hyperlink" Target="https://www.alibabacloud.com/blog/alibaba-cloud-gaming-architecture-for-infrastructure-whitepaper_598322" TargetMode="External"/><Relationship Id="rId13" Type="http://schemas.openxmlformats.org/officeDocument/2006/relationships/hyperlink" Target="https://gist.github.com/sandipray63in/19e4a48e6a30de846e740ebfa906ef23" TargetMode="External"/><Relationship Id="rId18" Type="http://schemas.openxmlformats.org/officeDocument/2006/relationships/hyperlink" Target="https://github.com/PacktPublishing/Industrial-IoT-for-Architects-and-Engineers" TargetMode="External"/><Relationship Id="rId3" Type="http://schemas.openxmlformats.org/officeDocument/2006/relationships/diagramLayout" Target="../diagrams/layout160.xml"/><Relationship Id="rId21" Type="http://schemas.openxmlformats.org/officeDocument/2006/relationships/hyperlink" Target="https://subscription.packtpub.com/expert-reading-lists/advanced-embedded-architectures-and-socs" TargetMode="External"/><Relationship Id="rId7" Type="http://schemas.openxmlformats.org/officeDocument/2006/relationships/hyperlink" Target="https://www.geeksforgeeks.org/computer-networks/architecture-of-internet-of-things-iot/" TargetMode="External"/><Relationship Id="rId12" Type="http://schemas.openxmlformats.org/officeDocument/2006/relationships/hyperlink" Target="https://gist.github.com/sandipray63in/48e6bdcf77d512b8db0e12732db5a358" TargetMode="External"/><Relationship Id="rId17" Type="http://schemas.openxmlformats.org/officeDocument/2006/relationships/hyperlink" Target="https://www.packtpub.com/en-in/product/architectural-patterns-and-techniques-for-developing-iot-solutions-9781803247632" TargetMode="External"/><Relationship Id="rId2" Type="http://schemas.openxmlformats.org/officeDocument/2006/relationships/diagramData" Target="../diagrams/data160.xml"/><Relationship Id="rId16" Type="http://schemas.openxmlformats.org/officeDocument/2006/relationships/hyperlink" Target="https://www.packtpub.com/en-in/product/iot-and-edge-computing-for-architects-9781803237336" TargetMode="External"/><Relationship Id="rId20" Type="http://schemas.openxmlformats.org/officeDocument/2006/relationships/hyperlink" Target="https://github.com/PacktPublishing/IoT-Edge-Computing-with-MicroK8s" TargetMode="External"/><Relationship Id="rId1" Type="http://schemas.openxmlformats.org/officeDocument/2006/relationships/slideLayout" Target="../slideLayouts/slideLayout2.xml"/><Relationship Id="rId6" Type="http://schemas.microsoft.com/office/2007/relationships/diagramDrawing" Target="../diagrams/drawing160.xml"/><Relationship Id="rId11" Type="http://schemas.openxmlformats.org/officeDocument/2006/relationships/hyperlink" Target="https://gist.github.com/sandipray63in/514cf0d4449b29b65b39e0f8225ada63" TargetMode="External"/><Relationship Id="rId5" Type="http://schemas.openxmlformats.org/officeDocument/2006/relationships/diagramColors" Target="../diagrams/colors160.xml"/><Relationship Id="rId15" Type="http://schemas.openxmlformats.org/officeDocument/2006/relationships/hyperlink" Target="https://gist.github.com/sandipray63in/f72b3fb23ab938ae3710008fc16c48d1" TargetMode="External"/><Relationship Id="rId10" Type="http://schemas.openxmlformats.org/officeDocument/2006/relationships/hyperlink" Target="https://gist.github.com/sandipray63in/c64e2c586aaf0c66d33f4e8f994975d3" TargetMode="External"/><Relationship Id="rId19" Type="http://schemas.openxmlformats.org/officeDocument/2006/relationships/hyperlink" Target="https://github.com/PacktPublishing/Edge-Computing-Patterns-for-Solution-Architects" TargetMode="External"/><Relationship Id="rId4" Type="http://schemas.openxmlformats.org/officeDocument/2006/relationships/diagramQuickStyle" Target="../diagrams/quickStyle160.xml"/><Relationship Id="rId9" Type="http://schemas.openxmlformats.org/officeDocument/2006/relationships/hyperlink" Target="https://arxiv.org/pdf/2204.01872" TargetMode="External"/><Relationship Id="rId14" Type="http://schemas.openxmlformats.org/officeDocument/2006/relationships/hyperlink" Target="https://gist.github.com/sandipray63in/8c1d55cdab89222560dff2cb18ed8034" TargetMode="External"/></Relationships>
</file>

<file path=ppt/slides/_rels/slide158.xml.rels><?xml version="1.0" encoding="UTF-8" standalone="yes"?>
<Relationships xmlns="http://schemas.openxmlformats.org/package/2006/relationships"><Relationship Id="rId3" Type="http://schemas.openxmlformats.org/officeDocument/2006/relationships/diagramLayout" Target="../diagrams/layout161.xml"/><Relationship Id="rId7" Type="http://schemas.openxmlformats.org/officeDocument/2006/relationships/image" Target="../media/image80.png"/><Relationship Id="rId2" Type="http://schemas.openxmlformats.org/officeDocument/2006/relationships/diagramData" Target="../diagrams/data161.xml"/><Relationship Id="rId1" Type="http://schemas.openxmlformats.org/officeDocument/2006/relationships/slideLayout" Target="../slideLayouts/slideLayout2.xml"/><Relationship Id="rId6" Type="http://schemas.microsoft.com/office/2007/relationships/diagramDrawing" Target="../diagrams/drawing161.xml"/><Relationship Id="rId5" Type="http://schemas.openxmlformats.org/officeDocument/2006/relationships/diagramColors" Target="../diagrams/colors161.xml"/><Relationship Id="rId4" Type="http://schemas.openxmlformats.org/officeDocument/2006/relationships/diagramQuickStyle" Target="../diagrams/quickStyle161.xml"/></Relationships>
</file>

<file path=ppt/slides/_rels/slide159.xml.rels><?xml version="1.0" encoding="UTF-8" standalone="yes"?>
<Relationships xmlns="http://schemas.openxmlformats.org/package/2006/relationships"><Relationship Id="rId3" Type="http://schemas.openxmlformats.org/officeDocument/2006/relationships/diagramLayout" Target="../diagrams/layout162.xml"/><Relationship Id="rId2" Type="http://schemas.openxmlformats.org/officeDocument/2006/relationships/diagramData" Target="../diagrams/data162.xml"/><Relationship Id="rId1" Type="http://schemas.openxmlformats.org/officeDocument/2006/relationships/slideLayout" Target="../slideLayouts/slideLayout2.xml"/><Relationship Id="rId6" Type="http://schemas.microsoft.com/office/2007/relationships/diagramDrawing" Target="../diagrams/drawing162.xml"/><Relationship Id="rId5" Type="http://schemas.openxmlformats.org/officeDocument/2006/relationships/diagramColors" Target="../diagrams/colors162.xml"/><Relationship Id="rId4" Type="http://schemas.openxmlformats.org/officeDocument/2006/relationships/diagramQuickStyle" Target="../diagrams/quickStyle162.xml"/></Relationships>
</file>

<file path=ppt/slides/_rels/slide160.xml.rels><?xml version="1.0" encoding="UTF-8" standalone="yes"?>
<Relationships xmlns="http://schemas.openxmlformats.org/package/2006/relationships"><Relationship Id="rId8" Type="http://schemas.openxmlformats.org/officeDocument/2006/relationships/hyperlink" Target="https://developer.ibm.com/articles/what-are-digital-twins/" TargetMode="External"/><Relationship Id="rId13" Type="http://schemas.openxmlformats.org/officeDocument/2006/relationships/hyperlink" Target="https://github.com/PacktPublishing/Building-Industrial-Digital-Twin" TargetMode="External"/><Relationship Id="rId3" Type="http://schemas.openxmlformats.org/officeDocument/2006/relationships/diagramLayout" Target="../diagrams/layout163.xml"/><Relationship Id="rId7" Type="http://schemas.openxmlformats.org/officeDocument/2006/relationships/hyperlink" Target="https://learn.microsoft.com/en-us/azure/digital-twins/overview" TargetMode="External"/><Relationship Id="rId12" Type="http://schemas.openxmlformats.org/officeDocument/2006/relationships/hyperlink" Target="https://www.bentley.com/software/itwin-platform/" TargetMode="External"/><Relationship Id="rId2" Type="http://schemas.openxmlformats.org/officeDocument/2006/relationships/diagramData" Target="../diagrams/data163.xml"/><Relationship Id="rId1" Type="http://schemas.openxmlformats.org/officeDocument/2006/relationships/slideLayout" Target="../slideLayouts/slideLayout2.xml"/><Relationship Id="rId6" Type="http://schemas.microsoft.com/office/2007/relationships/diagramDrawing" Target="../diagrams/drawing163.xml"/><Relationship Id="rId11" Type="http://schemas.openxmlformats.org/officeDocument/2006/relationships/hyperlink" Target="https://resources.nvidia.com/l/en-us-digital-twin-reference-architecture" TargetMode="External"/><Relationship Id="rId5" Type="http://schemas.openxmlformats.org/officeDocument/2006/relationships/diagramColors" Target="../diagrams/colors163.xml"/><Relationship Id="rId15" Type="http://schemas.openxmlformats.org/officeDocument/2006/relationships/hyperlink" Target="https://www.manning.com/books/digital-twins-in-action" TargetMode="External"/><Relationship Id="rId10" Type="http://schemas.openxmlformats.org/officeDocument/2006/relationships/hyperlink" Target="https://www.digitaltwinconsortium.org/wp-content/uploads/sites/3/2023/07/Platform-Stack-Architectural-Framework-2023-07-11.pdf" TargetMode="External"/><Relationship Id="rId4" Type="http://schemas.openxmlformats.org/officeDocument/2006/relationships/diagramQuickStyle" Target="../diagrams/quickStyle163.xml"/><Relationship Id="rId9" Type="http://schemas.openxmlformats.org/officeDocument/2006/relationships/hyperlink" Target="https://arxiv.org/abs/2504.07530" TargetMode="External"/><Relationship Id="rId14" Type="http://schemas.openxmlformats.org/officeDocument/2006/relationships/hyperlink" Target="https://github.com/PacktPublishing/Hands-on-Azure-Digital-Twins" TargetMode="External"/></Relationships>
</file>

<file path=ppt/slides/_rels/slide161.xml.rels><?xml version="1.0" encoding="UTF-8" standalone="yes"?>
<Relationships xmlns="http://schemas.openxmlformats.org/package/2006/relationships"><Relationship Id="rId3" Type="http://schemas.openxmlformats.org/officeDocument/2006/relationships/diagramLayout" Target="../diagrams/layout164.xml"/><Relationship Id="rId7" Type="http://schemas.openxmlformats.org/officeDocument/2006/relationships/image" Target="../media/image81.png"/><Relationship Id="rId2" Type="http://schemas.openxmlformats.org/officeDocument/2006/relationships/diagramData" Target="../diagrams/data164.xml"/><Relationship Id="rId1" Type="http://schemas.openxmlformats.org/officeDocument/2006/relationships/slideLayout" Target="../slideLayouts/slideLayout2.xml"/><Relationship Id="rId6" Type="http://schemas.microsoft.com/office/2007/relationships/diagramDrawing" Target="../diagrams/drawing164.xml"/><Relationship Id="rId5" Type="http://schemas.openxmlformats.org/officeDocument/2006/relationships/diagramColors" Target="../diagrams/colors164.xml"/><Relationship Id="rId4" Type="http://schemas.openxmlformats.org/officeDocument/2006/relationships/diagramQuickStyle" Target="../diagrams/quickStyle164.xml"/></Relationships>
</file>

<file path=ppt/slides/_rels/slide162.xml.rels><?xml version="1.0" encoding="UTF-8" standalone="yes"?>
<Relationships xmlns="http://schemas.openxmlformats.org/package/2006/relationships"><Relationship Id="rId3" Type="http://schemas.openxmlformats.org/officeDocument/2006/relationships/diagramLayout" Target="../diagrams/layout165.xml"/><Relationship Id="rId2" Type="http://schemas.openxmlformats.org/officeDocument/2006/relationships/diagramData" Target="../diagrams/data165.xml"/><Relationship Id="rId1" Type="http://schemas.openxmlformats.org/officeDocument/2006/relationships/slideLayout" Target="../slideLayouts/slideLayout2.xml"/><Relationship Id="rId6" Type="http://schemas.microsoft.com/office/2007/relationships/diagramDrawing" Target="../diagrams/drawing165.xml"/><Relationship Id="rId5" Type="http://schemas.openxmlformats.org/officeDocument/2006/relationships/diagramColors" Target="../diagrams/colors165.xml"/><Relationship Id="rId4" Type="http://schemas.openxmlformats.org/officeDocument/2006/relationships/diagramQuickStyle" Target="../diagrams/quickStyle165.xml"/></Relationships>
</file>

<file path=ppt/slides/_rels/slide163.xml.rels><?xml version="1.0" encoding="UTF-8" standalone="yes"?>
<Relationships xmlns="http://schemas.openxmlformats.org/package/2006/relationships"><Relationship Id="rId8" Type="http://schemas.openxmlformats.org/officeDocument/2006/relationships/hyperlink" Target="https://arxiv.org/pdf/2308.10559" TargetMode="External"/><Relationship Id="rId13" Type="http://schemas.openxmlformats.org/officeDocument/2006/relationships/hyperlink" Target="https://www.amazon.in/Creating-Augmented-Virtual-Realities-Next-Generation-ebook/dp/B07PSL7NM4/ref=tmm_kin_swatch_0" TargetMode="External"/><Relationship Id="rId3" Type="http://schemas.openxmlformats.org/officeDocument/2006/relationships/diagramLayout" Target="../diagrams/layout166.xml"/><Relationship Id="rId7" Type="http://schemas.openxmlformats.org/officeDocument/2006/relationships/hyperlink" Target="https://www.mdpi.com/1999-5903/17/7/283" TargetMode="External"/><Relationship Id="rId12" Type="http://schemas.openxmlformats.org/officeDocument/2006/relationships/hyperlink" Target="https://www.amazon.in/Practical-Augmented-Reality-Technologies-Applications-ebook/dp/B01LQLIVFC/ref=tmm_kin_swatch_0" TargetMode="External"/><Relationship Id="rId2" Type="http://schemas.openxmlformats.org/officeDocument/2006/relationships/diagramData" Target="../diagrams/data166.xml"/><Relationship Id="rId1" Type="http://schemas.openxmlformats.org/officeDocument/2006/relationships/slideLayout" Target="../slideLayouts/slideLayout2.xml"/><Relationship Id="rId6" Type="http://schemas.microsoft.com/office/2007/relationships/diagramDrawing" Target="../diagrams/drawing166.xml"/><Relationship Id="rId11" Type="http://schemas.openxmlformats.org/officeDocument/2006/relationships/hyperlink" Target="https://www.amazon.in/Learning-Virtual-Reality-Tony-Parisi/dp/1491922834" TargetMode="External"/><Relationship Id="rId5" Type="http://schemas.openxmlformats.org/officeDocument/2006/relationships/diagramColors" Target="../diagrams/colors166.xml"/><Relationship Id="rId15" Type="http://schemas.openxmlformats.org/officeDocument/2006/relationships/hyperlink" Target="https://www.amazon.in/Handbook-Augmented-Virtual-Reality-Badotra-ebook/dp/B0CGPSWHTC?asin=B0CGPSWHTC&amp;revisionId=d573e034&amp;format=3&amp;depth=1" TargetMode="External"/><Relationship Id="rId10" Type="http://schemas.openxmlformats.org/officeDocument/2006/relationships/hyperlink" Target="https://github.com/Apress/ar-vr-using-webxr-api" TargetMode="External"/><Relationship Id="rId4" Type="http://schemas.openxmlformats.org/officeDocument/2006/relationships/diagramQuickStyle" Target="../diagrams/quickStyle166.xml"/><Relationship Id="rId9" Type="http://schemas.openxmlformats.org/officeDocument/2006/relationships/hyperlink" Target="https://www.udemy.com/course/metaverse-masterclass-learn-everything-about-the-metaverse/?srsltid=AfmBOoraFJtzD46yb59v8lhEfdsnT7AIkF2IB01TYfJMCNPE3arWXpN5" TargetMode="External"/><Relationship Id="rId14" Type="http://schemas.openxmlformats.org/officeDocument/2006/relationships/hyperlink" Target="https://www.amazon.in/UX-Experience-Strategies-Immersive-Technologies-ebook/dp/B0975JY3KQ/ref=tmm_kin_swatch_0" TargetMode="External"/></Relationships>
</file>

<file path=ppt/slides/_rels/slide164.xml.rels><?xml version="1.0" encoding="UTF-8" standalone="yes"?>
<Relationships xmlns="http://schemas.openxmlformats.org/package/2006/relationships"><Relationship Id="rId3" Type="http://schemas.openxmlformats.org/officeDocument/2006/relationships/diagramLayout" Target="../diagrams/layout167.xml"/><Relationship Id="rId7" Type="http://schemas.openxmlformats.org/officeDocument/2006/relationships/image" Target="../media/image82.png"/><Relationship Id="rId2" Type="http://schemas.openxmlformats.org/officeDocument/2006/relationships/diagramData" Target="../diagrams/data167.xml"/><Relationship Id="rId1" Type="http://schemas.openxmlformats.org/officeDocument/2006/relationships/slideLayout" Target="../slideLayouts/slideLayout2.xml"/><Relationship Id="rId6" Type="http://schemas.microsoft.com/office/2007/relationships/diagramDrawing" Target="../diagrams/drawing167.xml"/><Relationship Id="rId5" Type="http://schemas.openxmlformats.org/officeDocument/2006/relationships/diagramColors" Target="../diagrams/colors167.xml"/><Relationship Id="rId4" Type="http://schemas.openxmlformats.org/officeDocument/2006/relationships/diagramQuickStyle" Target="../diagrams/quickStyle167.xml"/></Relationships>
</file>

<file path=ppt/slides/_rels/slide165.xml.rels><?xml version="1.0" encoding="UTF-8" standalone="yes"?>
<Relationships xmlns="http://schemas.openxmlformats.org/package/2006/relationships"><Relationship Id="rId3" Type="http://schemas.openxmlformats.org/officeDocument/2006/relationships/diagramLayout" Target="../diagrams/layout168.xml"/><Relationship Id="rId2" Type="http://schemas.openxmlformats.org/officeDocument/2006/relationships/diagramData" Target="../diagrams/data168.xml"/><Relationship Id="rId1" Type="http://schemas.openxmlformats.org/officeDocument/2006/relationships/slideLayout" Target="../slideLayouts/slideLayout2.xml"/><Relationship Id="rId6" Type="http://schemas.microsoft.com/office/2007/relationships/diagramDrawing" Target="../diagrams/drawing168.xml"/><Relationship Id="rId5" Type="http://schemas.openxmlformats.org/officeDocument/2006/relationships/diagramColors" Target="../diagrams/colors168.xml"/><Relationship Id="rId4" Type="http://schemas.openxmlformats.org/officeDocument/2006/relationships/diagramQuickStyle" Target="../diagrams/quickStyle168.xml"/></Relationships>
</file>

<file path=ppt/slides/_rels/slide166.xml.rels><?xml version="1.0" encoding="UTF-8" standalone="yes"?>
<Relationships xmlns="http://schemas.openxmlformats.org/package/2006/relationships"><Relationship Id="rId3" Type="http://schemas.openxmlformats.org/officeDocument/2006/relationships/diagramLayout" Target="../diagrams/layout169.xml"/><Relationship Id="rId2" Type="http://schemas.openxmlformats.org/officeDocument/2006/relationships/diagramData" Target="../diagrams/data169.xml"/><Relationship Id="rId1" Type="http://schemas.openxmlformats.org/officeDocument/2006/relationships/slideLayout" Target="../slideLayouts/slideLayout2.xml"/><Relationship Id="rId6" Type="http://schemas.microsoft.com/office/2007/relationships/diagramDrawing" Target="../diagrams/drawing169.xml"/><Relationship Id="rId5" Type="http://schemas.openxmlformats.org/officeDocument/2006/relationships/diagramColors" Target="../diagrams/colors169.xml"/><Relationship Id="rId4" Type="http://schemas.openxmlformats.org/officeDocument/2006/relationships/diagramQuickStyle" Target="../diagrams/quickStyle169.xml"/></Relationships>
</file>

<file path=ppt/slides/_rels/slide167.xml.rels><?xml version="1.0" encoding="UTF-8" standalone="yes"?>
<Relationships xmlns="http://schemas.openxmlformats.org/package/2006/relationships"><Relationship Id="rId3" Type="http://schemas.openxmlformats.org/officeDocument/2006/relationships/diagramLayout" Target="../diagrams/layout170.xml"/><Relationship Id="rId2" Type="http://schemas.openxmlformats.org/officeDocument/2006/relationships/diagramData" Target="../diagrams/data170.xml"/><Relationship Id="rId1" Type="http://schemas.openxmlformats.org/officeDocument/2006/relationships/slideLayout" Target="../slideLayouts/slideLayout2.xml"/><Relationship Id="rId6" Type="http://schemas.microsoft.com/office/2007/relationships/diagramDrawing" Target="../diagrams/drawing170.xml"/><Relationship Id="rId5" Type="http://schemas.openxmlformats.org/officeDocument/2006/relationships/diagramColors" Target="../diagrams/colors170.xml"/><Relationship Id="rId4" Type="http://schemas.openxmlformats.org/officeDocument/2006/relationships/diagramQuickStyle" Target="../diagrams/quickStyle170.xml"/></Relationships>
</file>

<file path=ppt/slides/_rels/slide168.xml.rels><?xml version="1.0" encoding="UTF-8" standalone="yes"?>
<Relationships xmlns="http://schemas.openxmlformats.org/package/2006/relationships"><Relationship Id="rId3" Type="http://schemas.openxmlformats.org/officeDocument/2006/relationships/diagramLayout" Target="../diagrams/layout171.xml"/><Relationship Id="rId7" Type="http://schemas.openxmlformats.org/officeDocument/2006/relationships/image" Target="../media/image83.png"/><Relationship Id="rId2" Type="http://schemas.openxmlformats.org/officeDocument/2006/relationships/diagramData" Target="../diagrams/data171.xml"/><Relationship Id="rId1" Type="http://schemas.openxmlformats.org/officeDocument/2006/relationships/slideLayout" Target="../slideLayouts/slideLayout2.xml"/><Relationship Id="rId6" Type="http://schemas.microsoft.com/office/2007/relationships/diagramDrawing" Target="../diagrams/drawing171.xml"/><Relationship Id="rId5" Type="http://schemas.openxmlformats.org/officeDocument/2006/relationships/diagramColors" Target="../diagrams/colors171.xml"/><Relationship Id="rId4" Type="http://schemas.openxmlformats.org/officeDocument/2006/relationships/diagramQuickStyle" Target="../diagrams/quickStyle171.xml"/></Relationships>
</file>

<file path=ppt/slides/_rels/slide169.xml.rels><?xml version="1.0" encoding="UTF-8" standalone="yes"?>
<Relationships xmlns="http://schemas.openxmlformats.org/package/2006/relationships"><Relationship Id="rId3" Type="http://schemas.openxmlformats.org/officeDocument/2006/relationships/diagramLayout" Target="../diagrams/layout172.xml"/><Relationship Id="rId2" Type="http://schemas.openxmlformats.org/officeDocument/2006/relationships/diagramData" Target="../diagrams/data172.xml"/><Relationship Id="rId1" Type="http://schemas.openxmlformats.org/officeDocument/2006/relationships/slideLayout" Target="../slideLayouts/slideLayout2.xml"/><Relationship Id="rId6" Type="http://schemas.microsoft.com/office/2007/relationships/diagramDrawing" Target="../diagrams/drawing172.xml"/><Relationship Id="rId5" Type="http://schemas.openxmlformats.org/officeDocument/2006/relationships/diagramColors" Target="../diagrams/colors172.xml"/><Relationship Id="rId4" Type="http://schemas.openxmlformats.org/officeDocument/2006/relationships/diagramQuickStyle" Target="../diagrams/quickStyle172.xml"/></Relationships>
</file>

<file path=ppt/slides/_rels/slide170.xml.rels><?xml version="1.0" encoding="UTF-8" standalone="yes"?>
<Relationships xmlns="http://schemas.openxmlformats.org/package/2006/relationships"><Relationship Id="rId8" Type="http://schemas.openxmlformats.org/officeDocument/2006/relationships/hyperlink" Target="https://www.ibm.com/think/topics/intelligent-automation" TargetMode="External"/><Relationship Id="rId13" Type="http://schemas.openxmlformats.org/officeDocument/2006/relationships/hyperlink" Target="https://www.redhat.com/en/blog/automation-portfolio-architecture" TargetMode="External"/><Relationship Id="rId3" Type="http://schemas.openxmlformats.org/officeDocument/2006/relationships/diagramLayout" Target="../diagrams/layout173.xml"/><Relationship Id="rId7" Type="http://schemas.openxmlformats.org/officeDocument/2006/relationships/hyperlink" Target="https://www.automationanywhere.com/rpa/intelligent-automation" TargetMode="External"/><Relationship Id="rId12" Type="http://schemas.openxmlformats.org/officeDocument/2006/relationships/hyperlink" Target="https://intelligentautomationbook.com/" TargetMode="External"/><Relationship Id="rId2" Type="http://schemas.openxmlformats.org/officeDocument/2006/relationships/diagramData" Target="../diagrams/data173.xml"/><Relationship Id="rId1" Type="http://schemas.openxmlformats.org/officeDocument/2006/relationships/slideLayout" Target="../slideLayouts/slideLayout2.xml"/><Relationship Id="rId6" Type="http://schemas.microsoft.com/office/2007/relationships/diagramDrawing" Target="../diagrams/drawing173.xml"/><Relationship Id="rId11" Type="http://schemas.openxmlformats.org/officeDocument/2006/relationships/hyperlink" Target="https://konverge.co.in/blog-intelligent-automation/" TargetMode="External"/><Relationship Id="rId5" Type="http://schemas.openxmlformats.org/officeDocument/2006/relationships/diagramColors" Target="../diagrams/colors173.xml"/><Relationship Id="rId15" Type="http://schemas.openxmlformats.org/officeDocument/2006/relationships/hyperlink" Target="https://www.packtpub.com/en-in/product/intelligent-automation-with-ibm-cloud-pak-for-business-automation-9781801811125" TargetMode="External"/><Relationship Id="rId10" Type="http://schemas.openxmlformats.org/officeDocument/2006/relationships/hyperlink" Target="https://isg-one.com/articles/building-an-intelligent-automation-reference-architecture" TargetMode="External"/><Relationship Id="rId4" Type="http://schemas.openxmlformats.org/officeDocument/2006/relationships/diagramQuickStyle" Target="../diagrams/quickStyle173.xml"/><Relationship Id="rId9" Type="http://schemas.openxmlformats.org/officeDocument/2006/relationships/hyperlink" Target="https://www.uipath.com/automation/intelligent-automation" TargetMode="External"/><Relationship Id="rId14" Type="http://schemas.openxmlformats.org/officeDocument/2006/relationships/hyperlink" Target="https://learn.microsoft.com/en-us/power-platform/architecture/products/power-automate" TargetMode="External"/></Relationships>
</file>

<file path=ppt/slides/_rels/slide171.xml.rels><?xml version="1.0" encoding="UTF-8" standalone="yes"?>
<Relationships xmlns="http://schemas.openxmlformats.org/package/2006/relationships"><Relationship Id="rId8" Type="http://schemas.openxmlformats.org/officeDocument/2006/relationships/hyperlink" Target="https://cloud.ibm.com/docs/industry-ref-arch?topic=industry-ref-arch-supplychain" TargetMode="External"/><Relationship Id="rId3" Type="http://schemas.openxmlformats.org/officeDocument/2006/relationships/diagramLayout" Target="../diagrams/layout174.xml"/><Relationship Id="rId7" Type="http://schemas.openxmlformats.org/officeDocument/2006/relationships/image" Target="../media/image84.png"/><Relationship Id="rId12" Type="http://schemas.openxmlformats.org/officeDocument/2006/relationships/hyperlink" Target="https://arxiv.org/pdf/2302.06184" TargetMode="External"/><Relationship Id="rId2" Type="http://schemas.openxmlformats.org/officeDocument/2006/relationships/diagramData" Target="../diagrams/data174.xml"/><Relationship Id="rId1" Type="http://schemas.openxmlformats.org/officeDocument/2006/relationships/slideLayout" Target="../slideLayouts/slideLayout2.xml"/><Relationship Id="rId6" Type="http://schemas.microsoft.com/office/2007/relationships/diagramDrawing" Target="../diagrams/drawing174.xml"/><Relationship Id="rId11" Type="http://schemas.openxmlformats.org/officeDocument/2006/relationships/hyperlink" Target="https://throughput.world/blog/supply-chain-operations-reference-scor-model" TargetMode="External"/><Relationship Id="rId5" Type="http://schemas.openxmlformats.org/officeDocument/2006/relationships/diagramColors" Target="../diagrams/colors174.xml"/><Relationship Id="rId10" Type="http://schemas.openxmlformats.org/officeDocument/2006/relationships/hyperlink" Target="https://www.databricks.com/resources/architectures/manufacturing-digital-supply-chain-reference-architecture" TargetMode="External"/><Relationship Id="rId4" Type="http://schemas.openxmlformats.org/officeDocument/2006/relationships/diagramQuickStyle" Target="../diagrams/quickStyle174.xml"/><Relationship Id="rId9" Type="http://schemas.openxmlformats.org/officeDocument/2006/relationships/hyperlink" Target="https://learn.microsoft.com/en-us/industry/manufacturing/architecture/ra-overview" TargetMode="External"/></Relationships>
</file>

<file path=ppt/slides/_rels/slide172.xml.rels><?xml version="1.0" encoding="UTF-8" standalone="yes"?>
<Relationships xmlns="http://schemas.openxmlformats.org/package/2006/relationships"><Relationship Id="rId3" Type="http://schemas.openxmlformats.org/officeDocument/2006/relationships/diagramLayout" Target="../diagrams/layout175.xml"/><Relationship Id="rId7" Type="http://schemas.openxmlformats.org/officeDocument/2006/relationships/image" Target="../media/image85.png"/><Relationship Id="rId2" Type="http://schemas.openxmlformats.org/officeDocument/2006/relationships/diagramData" Target="../diagrams/data175.xml"/><Relationship Id="rId1" Type="http://schemas.openxmlformats.org/officeDocument/2006/relationships/slideLayout" Target="../slideLayouts/slideLayout2.xml"/><Relationship Id="rId6" Type="http://schemas.microsoft.com/office/2007/relationships/diagramDrawing" Target="../diagrams/drawing175.xml"/><Relationship Id="rId5" Type="http://schemas.openxmlformats.org/officeDocument/2006/relationships/diagramColors" Target="../diagrams/colors175.xml"/><Relationship Id="rId4" Type="http://schemas.openxmlformats.org/officeDocument/2006/relationships/diagramQuickStyle" Target="../diagrams/quickStyle175.xml"/></Relationships>
</file>

<file path=ppt/slides/_rels/slide173.xml.rels><?xml version="1.0" encoding="UTF-8" standalone="yes"?>
<Relationships xmlns="http://schemas.openxmlformats.org/package/2006/relationships"><Relationship Id="rId3" Type="http://schemas.openxmlformats.org/officeDocument/2006/relationships/diagramLayout" Target="../diagrams/layout176.xml"/><Relationship Id="rId2" Type="http://schemas.openxmlformats.org/officeDocument/2006/relationships/diagramData" Target="../diagrams/data176.xml"/><Relationship Id="rId1" Type="http://schemas.openxmlformats.org/officeDocument/2006/relationships/slideLayout" Target="../slideLayouts/slideLayout2.xml"/><Relationship Id="rId6" Type="http://schemas.microsoft.com/office/2007/relationships/diagramDrawing" Target="../diagrams/drawing176.xml"/><Relationship Id="rId5" Type="http://schemas.openxmlformats.org/officeDocument/2006/relationships/diagramColors" Target="../diagrams/colors176.xml"/><Relationship Id="rId4" Type="http://schemas.openxmlformats.org/officeDocument/2006/relationships/diagramQuickStyle" Target="../diagrams/quickStyle176.xml"/></Relationships>
</file>

<file path=ppt/slides/_rels/slide174.xml.rels><?xml version="1.0" encoding="UTF-8" standalone="yes"?>
<Relationships xmlns="http://schemas.openxmlformats.org/package/2006/relationships"><Relationship Id="rId3" Type="http://schemas.openxmlformats.org/officeDocument/2006/relationships/diagramLayout" Target="../diagrams/layout177.xml"/><Relationship Id="rId2" Type="http://schemas.openxmlformats.org/officeDocument/2006/relationships/diagramData" Target="../diagrams/data177.xml"/><Relationship Id="rId1" Type="http://schemas.openxmlformats.org/officeDocument/2006/relationships/slideLayout" Target="../slideLayouts/slideLayout2.xml"/><Relationship Id="rId6" Type="http://schemas.microsoft.com/office/2007/relationships/diagramDrawing" Target="../diagrams/drawing177.xml"/><Relationship Id="rId5" Type="http://schemas.openxmlformats.org/officeDocument/2006/relationships/diagramColors" Target="../diagrams/colors177.xml"/><Relationship Id="rId4" Type="http://schemas.openxmlformats.org/officeDocument/2006/relationships/diagramQuickStyle" Target="../diagrams/quickStyle177.xml"/></Relationships>
</file>

<file path=ppt/slides/_rels/slide175.xml.rels><?xml version="1.0" encoding="UTF-8" standalone="yes"?>
<Relationships xmlns="http://schemas.openxmlformats.org/package/2006/relationships"><Relationship Id="rId3" Type="http://schemas.openxmlformats.org/officeDocument/2006/relationships/diagramLayout" Target="../diagrams/layout178.xml"/><Relationship Id="rId2" Type="http://schemas.openxmlformats.org/officeDocument/2006/relationships/diagramData" Target="../diagrams/data178.xml"/><Relationship Id="rId1" Type="http://schemas.openxmlformats.org/officeDocument/2006/relationships/slideLayout" Target="../slideLayouts/slideLayout2.xml"/><Relationship Id="rId6" Type="http://schemas.microsoft.com/office/2007/relationships/diagramDrawing" Target="../diagrams/drawing178.xml"/><Relationship Id="rId5" Type="http://schemas.openxmlformats.org/officeDocument/2006/relationships/diagramColors" Target="../diagrams/colors178.xml"/><Relationship Id="rId4" Type="http://schemas.openxmlformats.org/officeDocument/2006/relationships/diagramQuickStyle" Target="../diagrams/quickStyle178.xml"/></Relationships>
</file>

<file path=ppt/slides/_rels/slide176.xml.rels><?xml version="1.0" encoding="UTF-8" standalone="yes"?>
<Relationships xmlns="http://schemas.openxmlformats.org/package/2006/relationships"><Relationship Id="rId3" Type="http://schemas.openxmlformats.org/officeDocument/2006/relationships/diagramLayout" Target="../diagrams/layout179.xml"/><Relationship Id="rId2" Type="http://schemas.openxmlformats.org/officeDocument/2006/relationships/diagramData" Target="../diagrams/data179.xml"/><Relationship Id="rId1" Type="http://schemas.openxmlformats.org/officeDocument/2006/relationships/slideLayout" Target="../slideLayouts/slideLayout2.xml"/><Relationship Id="rId6" Type="http://schemas.microsoft.com/office/2007/relationships/diagramDrawing" Target="../diagrams/drawing179.xml"/><Relationship Id="rId5" Type="http://schemas.openxmlformats.org/officeDocument/2006/relationships/diagramColors" Target="../diagrams/colors179.xml"/><Relationship Id="rId4" Type="http://schemas.openxmlformats.org/officeDocument/2006/relationships/diagramQuickStyle" Target="../diagrams/quickStyle179.xml"/></Relationships>
</file>

<file path=ppt/slides/_rels/slide177.xml.rels><?xml version="1.0" encoding="UTF-8" standalone="yes"?>
<Relationships xmlns="http://schemas.openxmlformats.org/package/2006/relationships"><Relationship Id="rId8" Type="http://schemas.openxmlformats.org/officeDocument/2006/relationships/hyperlink" Target="https://www.linkedin.com/posts/pradeep-gauda_agile-terminology-handbook-activity-7161291942062866432-pmUF/" TargetMode="External"/><Relationship Id="rId13" Type="http://schemas.openxmlformats.org/officeDocument/2006/relationships/hyperlink" Target="https://www.udemy.com/course/jira-confluence-masterclass-2025-for-users-projects/?couponCode=LETSLEARNNOW" TargetMode="External"/><Relationship Id="rId18" Type="http://schemas.openxmlformats.org/officeDocument/2006/relationships/hyperlink" Target="https://theleanstartup.com/" TargetMode="External"/><Relationship Id="rId26" Type="http://schemas.openxmlformats.org/officeDocument/2006/relationships/hyperlink" Target="https://www.atlassian.com/blog/loom/cross-functional-collaboration" TargetMode="External"/><Relationship Id="rId3" Type="http://schemas.openxmlformats.org/officeDocument/2006/relationships/diagramLayout" Target="../diagrams/layout180.xml"/><Relationship Id="rId21" Type="http://schemas.openxmlformats.org/officeDocument/2006/relationships/hyperlink" Target="https://readingraphics.com/book-summary-thinking-in-systems/" TargetMode="External"/><Relationship Id="rId7" Type="http://schemas.openxmlformats.org/officeDocument/2006/relationships/hyperlink" Target="https://www.linkedin.com/posts/shraddha-sahu-5b99b8142_they-say-the-secret-to-scrum-success-lies-activity-7340955607169945600-VJH7/" TargetMode="External"/><Relationship Id="rId12" Type="http://schemas.openxmlformats.org/officeDocument/2006/relationships/hyperlink" Target="https://www.udemy.com/course/the-complete-guide-to-jira-with-real-world-examples/?couponCode=KEEPLEARNING" TargetMode="External"/><Relationship Id="rId17" Type="http://schemas.openxmlformats.org/officeDocument/2006/relationships/hyperlink" Target="https://www.packtpub.com/en-in/product/jira-work-management-for-business-teams-9781803249148" TargetMode="External"/><Relationship Id="rId25" Type="http://schemas.openxmlformats.org/officeDocument/2006/relationships/hyperlink" Target="https://www.walkme.com/blog/change-management-techniques/" TargetMode="External"/><Relationship Id="rId2" Type="http://schemas.openxmlformats.org/officeDocument/2006/relationships/diagramData" Target="../diagrams/data180.xml"/><Relationship Id="rId16" Type="http://schemas.openxmlformats.org/officeDocument/2006/relationships/hyperlink" Target="https://www.packtpub.com/en-in/product/hands-on-agile-software-development-with-jira-9781789539622" TargetMode="External"/><Relationship Id="rId20" Type="http://schemas.openxmlformats.org/officeDocument/2006/relationships/hyperlink" Target="https://maa1.medium.com/book-review-inspired-how-to-create-tech-products-customers-love-4fc8e8f26739" TargetMode="External"/><Relationship Id="rId29" Type="http://schemas.openxmlformats.org/officeDocument/2006/relationships/hyperlink" Target="https://www.oreilly.com/library/view/beyond-software-architecture/0201775948/" TargetMode="External"/><Relationship Id="rId1" Type="http://schemas.openxmlformats.org/officeDocument/2006/relationships/slideLayout" Target="../slideLayouts/slideLayout2.xml"/><Relationship Id="rId6" Type="http://schemas.microsoft.com/office/2007/relationships/diagramDrawing" Target="../diagrams/drawing180.xml"/><Relationship Id="rId11" Type="http://schemas.openxmlformats.org/officeDocument/2006/relationships/hyperlink" Target="https://github.com/PacktPublishing/SAFe-Coaches-Handbook" TargetMode="External"/><Relationship Id="rId24" Type="http://schemas.openxmlformats.org/officeDocument/2006/relationships/hyperlink" Target="https://www.coursera.org/articles/conflict-management" TargetMode="External"/><Relationship Id="rId5" Type="http://schemas.openxmlformats.org/officeDocument/2006/relationships/diagramColors" Target="../diagrams/colors180.xml"/><Relationship Id="rId15" Type="http://schemas.openxmlformats.org/officeDocument/2006/relationships/hyperlink" Target="https://github.com/PacktPublishing/Automate-Everyday-Tasks-in-Jira" TargetMode="External"/><Relationship Id="rId23" Type="http://schemas.openxmlformats.org/officeDocument/2006/relationships/hyperlink" Target="https://asana.com/resources/communication-styles" TargetMode="External"/><Relationship Id="rId28" Type="http://schemas.openxmlformats.org/officeDocument/2006/relationships/hyperlink" Target="https://www.myperfectresume.com/career-center/resumes/how-to/star-method" TargetMode="External"/><Relationship Id="rId10" Type="http://schemas.openxmlformats.org/officeDocument/2006/relationships/hyperlink" Target="https://github.com/PacktPublishing/Agile-Project-Management" TargetMode="External"/><Relationship Id="rId19" Type="http://schemas.openxmlformats.org/officeDocument/2006/relationships/hyperlink" Target="https://alumni.lincolncollege.ac.uk/files/2016/11/The-Lean-Startup-by-Eric-Ries-Book-Summary.pdf" TargetMode="External"/><Relationship Id="rId4" Type="http://schemas.openxmlformats.org/officeDocument/2006/relationships/diagramQuickStyle" Target="../diagrams/quickStyle180.xml"/><Relationship Id="rId9" Type="http://schemas.openxmlformats.org/officeDocument/2006/relationships/hyperlink" Target="https://resources.scrumalliance.org/Article/definition-vs-ready" TargetMode="External"/><Relationship Id="rId14" Type="http://schemas.openxmlformats.org/officeDocument/2006/relationships/hyperlink" Target="https://www.udemy.com/course/agile-project-planning-with-jira-portfolio/?couponCode=PMNVD2025" TargetMode="External"/><Relationship Id="rId22" Type="http://schemas.openxmlformats.org/officeDocument/2006/relationships/hyperlink" Target="https://trainingmag.com/10-proven-team-building-strategies/" TargetMode="External"/><Relationship Id="rId27" Type="http://schemas.openxmlformats.org/officeDocument/2006/relationships/hyperlink" Target="https://www.indeed.com/career-advice/career-development/project-management-budgeting-methods" TargetMode="External"/></Relationships>
</file>

<file path=ppt/slides/_rels/slide178.xml.rels><?xml version="1.0" encoding="UTF-8" standalone="yes"?>
<Relationships xmlns="http://schemas.openxmlformats.org/package/2006/relationships"><Relationship Id="rId8" Type="http://schemas.openxmlformats.org/officeDocument/2006/relationships/hyperlink" Target="https://github.com/TheKataLog" TargetMode="External"/><Relationship Id="rId13" Type="http://schemas.openxmlformats.org/officeDocument/2006/relationships/hyperlink" Target="https://roadmap.sh/software-design-architecture" TargetMode="External"/><Relationship Id="rId18" Type="http://schemas.openxmlformats.org/officeDocument/2006/relationships/hyperlink" Target="https://www.amazon.com/dp/B087M96JTF?binding=kindle_edition&amp;ref=dbs_m_mng_rwt_sft_tkin_tpbk&amp;qid=1613933190&amp;sr=8-1-spons" TargetMode="External"/><Relationship Id="rId26" Type="http://schemas.openxmlformats.org/officeDocument/2006/relationships/hyperlink" Target="https://www.packtpub.com/en-in/product/solutions-architects-handbook-9781835084236?srsltid=AfmBOooFgWKN2eWG5Z3ux3g3vAyENwQqqCWRyyKOjlX7zFW6sTmeI36T" TargetMode="External"/><Relationship Id="rId3" Type="http://schemas.openxmlformats.org/officeDocument/2006/relationships/diagramLayout" Target="../diagrams/layout181.xml"/><Relationship Id="rId21" Type="http://schemas.openxmlformats.org/officeDocument/2006/relationships/hyperlink" Target="https://github.com/unlight/solution-architecture" TargetMode="External"/><Relationship Id="rId7" Type="http://schemas.openxmlformats.org/officeDocument/2006/relationships/hyperlink" Target="https://www.architecturalkatas.com/about.html" TargetMode="External"/><Relationship Id="rId12" Type="http://schemas.openxmlformats.org/officeDocument/2006/relationships/hyperlink" Target="https://github.com/microsoft/code-with-engineering-playbook" TargetMode="External"/><Relationship Id="rId17" Type="http://schemas.openxmlformats.org/officeDocument/2006/relationships/hyperlink" Target="https://github.com/NikAshanin/Solution-Architect-Road-Map" TargetMode="External"/><Relationship Id="rId25" Type="http://schemas.openxmlformats.org/officeDocument/2006/relationships/hyperlink" Target="https://www.fractionalarchitect.io/books/master-software-architecture" TargetMode="External"/><Relationship Id="rId2" Type="http://schemas.openxmlformats.org/officeDocument/2006/relationships/diagramData" Target="../diagrams/data181.xml"/><Relationship Id="rId16" Type="http://schemas.openxmlformats.org/officeDocument/2006/relationships/hyperlink" Target="https://roadmap.sh/software-architect" TargetMode="External"/><Relationship Id="rId20" Type="http://schemas.openxmlformats.org/officeDocument/2006/relationships/hyperlink" Target="https://github.com/gtonic/awesome-it-architect?tab=readme-ov-file" TargetMode="External"/><Relationship Id="rId29" Type="http://schemas.openxmlformats.org/officeDocument/2006/relationships/hyperlink" Target="https://www.amazon.in/dp/B09B511D47?binding=kindle_edition&amp;ref=dbs_m_mng_rwt_sft_tkin_tpbk&amp;qid=1722843955&amp;sr=8-1" TargetMode="External"/><Relationship Id="rId1" Type="http://schemas.openxmlformats.org/officeDocument/2006/relationships/slideLayout" Target="../slideLayouts/slideLayout2.xml"/><Relationship Id="rId6" Type="http://schemas.microsoft.com/office/2007/relationships/diagramDrawing" Target="../diagrams/drawing181.xml"/><Relationship Id="rId11" Type="http://schemas.openxmlformats.org/officeDocument/2006/relationships/hyperlink" Target="https://learn.microsoft.com/en-us/industry/playbook/cross-industry/" TargetMode="External"/><Relationship Id="rId24" Type="http://schemas.openxmlformats.org/officeDocument/2006/relationships/hyperlink" Target="https://github.com/alexpulver/awesome-architecture" TargetMode="External"/><Relationship Id="rId5" Type="http://schemas.openxmlformats.org/officeDocument/2006/relationships/diagramColors" Target="../diagrams/colors181.xml"/><Relationship Id="rId15" Type="http://schemas.openxmlformats.org/officeDocument/2006/relationships/hyperlink" Target="https://github.com/vvsevolodovich/solution-architect-roadmap?tab=readme-ov-file" TargetMode="External"/><Relationship Id="rId23" Type="http://schemas.openxmlformats.org/officeDocument/2006/relationships/hyperlink" Target="https://github.com/domrost/software-architecture-resources" TargetMode="External"/><Relationship Id="rId28" Type="http://schemas.openxmlformats.org/officeDocument/2006/relationships/hyperlink" Target="https://www.packtpub.com/en-in/product/architectural-patterns-9781787287495?srsltid=AfmBOooD9NWzME_8F8LO6cet9Gm5DGa-cRe50ZmJnArbJQrYNYdMlbC1" TargetMode="External"/><Relationship Id="rId10" Type="http://schemas.openxmlformats.org/officeDocument/2006/relationships/hyperlink" Target="https://github.com/DovAmir/awesome-design-patterns" TargetMode="External"/><Relationship Id="rId19" Type="http://schemas.openxmlformats.org/officeDocument/2006/relationships/hyperlink" Target="https://www.amazon.in/Practical-Guide-Software-Architecture-architecture-ebook/dp/B0CK8QWPYZ/ref=tmm_kin_swatch_0" TargetMode="External"/><Relationship Id="rId4" Type="http://schemas.openxmlformats.org/officeDocument/2006/relationships/diagramQuickStyle" Target="../diagrams/quickStyle181.xml"/><Relationship Id="rId9" Type="http://schemas.openxmlformats.org/officeDocument/2006/relationships/hyperlink" Target="https://www.planetgeek.ch/2019/09/12/clean-simple-flexible-evolvable-and-agile-architecture-cheat-sheet-update-v1-5/" TargetMode="External"/><Relationship Id="rId14" Type="http://schemas.openxmlformats.org/officeDocument/2006/relationships/hyperlink" Target="https://blog.bytebytego.com/archive?sort=new" TargetMode="External"/><Relationship Id="rId22" Type="http://schemas.openxmlformats.org/officeDocument/2006/relationships/hyperlink" Target="https://github.com/chanakaudaya/solution-architecture-patterns" TargetMode="External"/><Relationship Id="rId27" Type="http://schemas.openxmlformats.org/officeDocument/2006/relationships/hyperlink" Target="https://www.packtpub.com/en-us/product/software-architecture-patterns-for-serverless-systems-9781800207035?srsltid=AfmBOopK-Rxg4PUfTOelQJwPdHVFmyZ9QQHlnl-AEfJ-ZwRlzGe63Zze" TargetMode="External"/><Relationship Id="rId30" Type="http://schemas.openxmlformats.org/officeDocument/2006/relationships/hyperlink" Target="https://www.oreilly.com/library/view/beyond-software-architecture/0201775948/" TargetMode="External"/></Relationships>
</file>

<file path=ppt/slides/_rels/slide179.xml.rels><?xml version="1.0" encoding="UTF-8" standalone="yes"?>
<Relationships xmlns="http://schemas.openxmlformats.org/package/2006/relationships"><Relationship Id="rId13" Type="http://schemas.openxmlformats.org/officeDocument/2006/relationships/hyperlink" Target="https://medium.com/@techworldwithmilan/what-i-learned-from-the-software-architecture-the-hard-parts-0498c9eae88e" TargetMode="External"/><Relationship Id="rId18" Type="http://schemas.openxmlformats.org/officeDocument/2006/relationships/hyperlink" Target="https://www.linkedin.com/pulse/architecture-modernization-book-notes-hari-mallepally/" TargetMode="External"/><Relationship Id="rId26" Type="http://schemas.openxmlformats.org/officeDocument/2006/relationships/hyperlink" Target="https://www.manning.com/books/collaborative-software-design" TargetMode="External"/><Relationship Id="rId3" Type="http://schemas.openxmlformats.org/officeDocument/2006/relationships/diagramLayout" Target="../diagrams/layout182.xml"/><Relationship Id="rId21" Type="http://schemas.openxmlformats.org/officeDocument/2006/relationships/hyperlink" Target="https://www.udemy.com/course/enterprise-architecture-by-example/" TargetMode="External"/><Relationship Id="rId7" Type="http://schemas.openxmlformats.org/officeDocument/2006/relationships/hyperlink" Target="https://www.researchgate.net/publication/228883029_The_Process_of_Software_Architecting" TargetMode="External"/><Relationship Id="rId12" Type="http://schemas.openxmlformats.org/officeDocument/2006/relationships/hyperlink" Target="https://www.georgefairbanks.com/book/" TargetMode="External"/><Relationship Id="rId17" Type="http://schemas.openxmlformats.org/officeDocument/2006/relationships/hyperlink" Target="https://medium.com/@code.brain/key-learnings-from-the-book-the-software-architect-elevator-by-gregor-hohpe-b6a4944bf293" TargetMode="External"/><Relationship Id="rId25" Type="http://schemas.openxmlformats.org/officeDocument/2006/relationships/hyperlink" Target="https://martinfowler.com/articles/patterns-legacy-displacement/" TargetMode="External"/><Relationship Id="rId33" Type="http://schemas.openxmlformats.org/officeDocument/2006/relationships/hyperlink" Target="https://medium.com/@sujathamudadla1213/here-is-an-expanded-list-of-engineering-blogs-from-well-known-companies-edccca5d9530" TargetMode="External"/><Relationship Id="rId2" Type="http://schemas.openxmlformats.org/officeDocument/2006/relationships/diagramData" Target="../diagrams/data182.xml"/><Relationship Id="rId16" Type="http://schemas.openxmlformats.org/officeDocument/2006/relationships/hyperlink" Target="https://obren.io/tools/reading-notes-pro/notes/The%20Software%20Architect%20Elevator_%20Redefining%20the%20Architect's%20Role%20in%20the%20Digital%20Enterprise-Notebook.pdf" TargetMode="External"/><Relationship Id="rId20" Type="http://schemas.openxmlformats.org/officeDocument/2006/relationships/hyperlink" Target="https://leaddev.com/technical-direction/facilitating-software-architecture-andrew-harmel-law-conversation" TargetMode="External"/><Relationship Id="rId29" Type="http://schemas.openxmlformats.org/officeDocument/2006/relationships/hyperlink" Target="https://roadmap.sh/product-manager" TargetMode="External"/><Relationship Id="rId1" Type="http://schemas.openxmlformats.org/officeDocument/2006/relationships/slideLayout" Target="../slideLayouts/slideLayout2.xml"/><Relationship Id="rId6" Type="http://schemas.microsoft.com/office/2007/relationships/diagramDrawing" Target="../diagrams/drawing182.xml"/><Relationship Id="rId11" Type="http://schemas.openxmlformats.org/officeDocument/2006/relationships/hyperlink" Target="https://danlebrero.com/2022/03/30/software-architecture-the-hard-parts-book-summary/" TargetMode="External"/><Relationship Id="rId24" Type="http://schemas.openxmlformats.org/officeDocument/2006/relationships/hyperlink" Target="https://www.linkedin.com/posts/arpit-adlakha-30691a101_if-you-want-to-rock-your-software-engineering-activity-7201084788508614657--Ioa/" TargetMode="External"/><Relationship Id="rId32" Type="http://schemas.openxmlformats.org/officeDocument/2006/relationships/hyperlink" Target="https://github.com/ashishps1/awesome-behavioral-interviews" TargetMode="External"/><Relationship Id="rId5" Type="http://schemas.openxmlformats.org/officeDocument/2006/relationships/diagramColors" Target="../diagrams/colors182.xml"/><Relationship Id="rId15" Type="http://schemas.openxmlformats.org/officeDocument/2006/relationships/hyperlink" Target="https://kartick.substack.com/p/summary-of-the-software-architect" TargetMode="External"/><Relationship Id="rId23" Type="http://schemas.openxmlformats.org/officeDocument/2006/relationships/hyperlink" Target="https://hamvocke.com/blog/path-to-production/" TargetMode="External"/><Relationship Id="rId28" Type="http://schemas.openxmlformats.org/officeDocument/2006/relationships/hyperlink" Target="https://roadmap.sh/engineering-manager" TargetMode="External"/><Relationship Id="rId10" Type="http://schemas.openxmlformats.org/officeDocument/2006/relationships/hyperlink" Target="https://www.oreilly.com/library/view/beyond-software-architecture/0201775948/" TargetMode="External"/><Relationship Id="rId19" Type="http://schemas.openxmlformats.org/officeDocument/2006/relationships/hyperlink" Target="https://medium.com/@srinathperera/book-software-architecture-and-decision-making-0757fbc1c186" TargetMode="External"/><Relationship Id="rId31" Type="http://schemas.openxmlformats.org/officeDocument/2006/relationships/hyperlink" Target="https://roadmap.sh/devrel" TargetMode="External"/><Relationship Id="rId4" Type="http://schemas.openxmlformats.org/officeDocument/2006/relationships/diagramQuickStyle" Target="../diagrams/quickStyle182.xml"/><Relationship Id="rId9" Type="http://schemas.openxmlformats.org/officeDocument/2006/relationships/hyperlink" Target="https://insights.sei.cmu.edu/training/software-architecture-principles-practices/" TargetMode="External"/><Relationship Id="rId14" Type="http://schemas.openxmlformats.org/officeDocument/2006/relationships/hyperlink" Target="https://srihari-sridharan.medium.com/" TargetMode="External"/><Relationship Id="rId22" Type="http://schemas.openxmlformats.org/officeDocument/2006/relationships/hyperlink" Target="https://opensource.microsoft.com/blog/2018/03/26/new-oreilly-e-book-on-designing-distributed-systems-available-for-free-download/" TargetMode="External"/><Relationship Id="rId27" Type="http://schemas.openxmlformats.org/officeDocument/2006/relationships/hyperlink" Target="http://www.martinlippert.org/publications/review/LargeRefactoringsReviewVersion.pdf" TargetMode="External"/><Relationship Id="rId30" Type="http://schemas.openxmlformats.org/officeDocument/2006/relationships/hyperlink" Target="https://www.smartsheet.com/content/create-value-stream-map" TargetMode="External"/><Relationship Id="rId8" Type="http://schemas.openxmlformats.org/officeDocument/2006/relationships/hyperlink" Target="https://www.viewpoints-and-perspectives.info/" TargetMode="External"/></Relationships>
</file>

<file path=ppt/slides/_rels/slide180.xml.rels><?xml version="1.0" encoding="UTF-8" standalone="yes"?>
<Relationships xmlns="http://schemas.openxmlformats.org/package/2006/relationships"><Relationship Id="rId3" Type="http://schemas.openxmlformats.org/officeDocument/2006/relationships/diagramLayout" Target="../diagrams/layout183.xml"/><Relationship Id="rId2" Type="http://schemas.openxmlformats.org/officeDocument/2006/relationships/diagramData" Target="../diagrams/data183.xml"/><Relationship Id="rId1" Type="http://schemas.openxmlformats.org/officeDocument/2006/relationships/slideLayout" Target="../slideLayouts/slideLayout2.xml"/><Relationship Id="rId6" Type="http://schemas.microsoft.com/office/2007/relationships/diagramDrawing" Target="../diagrams/drawing183.xml"/><Relationship Id="rId5" Type="http://schemas.openxmlformats.org/officeDocument/2006/relationships/diagramColors" Target="../diagrams/colors183.xml"/><Relationship Id="rId4" Type="http://schemas.openxmlformats.org/officeDocument/2006/relationships/diagramQuickStyle" Target="../diagrams/quickStyle18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 y="671014"/>
            <a:ext cx="8762306"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15 Factors App</a:t>
            </a:r>
          </a:p>
        </p:txBody>
      </p:sp>
      <p:pic>
        <p:nvPicPr>
          <p:cNvPr id="24578" name="Picture 2" descr="12- Factor apps/15- Factor Apps of Modern Cloud Native application – Modern  Applications with Cloudification Zone">
            <a:extLst>
              <a:ext uri="{FF2B5EF4-FFF2-40B4-BE49-F238E27FC236}">
                <a16:creationId xmlns:a16="http://schemas.microsoft.com/office/drawing/2014/main" id="{E5847AC8-AB9F-3D7A-7060-905CD78F8EE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101759"/>
            <a:ext cx="9144000" cy="4079841"/>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2">
            <a:extLst>
              <a:ext uri="{FF2B5EF4-FFF2-40B4-BE49-F238E27FC236}">
                <a16:creationId xmlns:a16="http://schemas.microsoft.com/office/drawing/2014/main" id="{D844A7B1-E550-0B17-B5D4-E0FB5CF44D9B}"/>
              </a:ext>
            </a:extLst>
          </p:cNvPr>
          <p:cNvSpPr txBox="1">
            <a:spLocks/>
          </p:cNvSpPr>
          <p:nvPr/>
        </p:nvSpPr>
        <p:spPr>
          <a:xfrm>
            <a:off x="0" y="5112603"/>
            <a:ext cx="8624937" cy="8309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kern="0" spc="-80" dirty="0">
                <a:solidFill>
                  <a:schemeClr val="accent2"/>
                </a:solidFill>
              </a:rPr>
              <a:t> </a:t>
            </a:r>
            <a:r>
              <a:rPr lang="en-US" sz="1500" dirty="0">
                <a:hlinkClick r:id="rId8"/>
              </a:rPr>
              <a:t>12- Factor apps/15- Factor Apps of Modern Cloud Native application</a:t>
            </a:r>
            <a:endParaRPr lang="en-US" sz="1500" dirty="0"/>
          </a:p>
          <a:p>
            <a:pPr marL="12700" marR="5080"/>
            <a:r>
              <a:rPr lang="en-US" sz="1500" kern="0" spc="-80" dirty="0">
                <a:solidFill>
                  <a:schemeClr val="accent2"/>
                </a:solidFill>
              </a:rPr>
              <a:t> </a:t>
            </a:r>
            <a:r>
              <a:rPr lang="en-US" sz="1500" dirty="0">
                <a:hlinkClick r:id="rId9"/>
              </a:rPr>
              <a:t>Cloud native Fifteen Factor Apps - Nilesh Gule's Technical Blog</a:t>
            </a:r>
            <a:endParaRPr lang="en-US" sz="1500" kern="0" spc="-80" dirty="0">
              <a:solidFill>
                <a:schemeClr val="accent2"/>
              </a:solidFill>
            </a:endParaRPr>
          </a:p>
        </p:txBody>
      </p:sp>
    </p:spTree>
    <p:extLst>
      <p:ext uri="{BB962C8B-B14F-4D97-AF65-F5344CB8AC3E}">
        <p14:creationId xmlns:p14="http://schemas.microsoft.com/office/powerpoint/2010/main" val="2281078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 y="770215"/>
            <a:ext cx="8762306"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Project Structure</a:t>
            </a:r>
          </a:p>
        </p:txBody>
      </p:sp>
      <p:pic>
        <p:nvPicPr>
          <p:cNvPr id="27650" name="Picture 2" descr=".NET project with existing projects in a different folder diagram">
            <a:extLst>
              <a:ext uri="{FF2B5EF4-FFF2-40B4-BE49-F238E27FC236}">
                <a16:creationId xmlns:a16="http://schemas.microsoft.com/office/drawing/2014/main" id="{7296296B-597E-94A2-8E35-B41C214DD6F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295399"/>
            <a:ext cx="9144000" cy="4038601"/>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24B9F20F-F9B5-9667-450E-553994658182}"/>
              </a:ext>
            </a:extLst>
          </p:cNvPr>
          <p:cNvSpPr txBox="1">
            <a:spLocks/>
          </p:cNvSpPr>
          <p:nvPr/>
        </p:nvSpPr>
        <p:spPr>
          <a:xfrm>
            <a:off x="61863" y="5251847"/>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8"/>
              </a:rPr>
              <a:t>Organize projects for .NET Framework and .NET - .NET Core | Microsoft Learn</a:t>
            </a:r>
            <a:r>
              <a:rPr lang="en-US" sz="1600" kern="0" spc="-80" dirty="0">
                <a:solidFill>
                  <a:schemeClr val="accent2"/>
                </a:solidFill>
              </a:rPr>
              <a:t>   </a:t>
            </a:r>
          </a:p>
        </p:txBody>
      </p:sp>
    </p:spTree>
    <p:extLst>
      <p:ext uri="{BB962C8B-B14F-4D97-AF65-F5344CB8AC3E}">
        <p14:creationId xmlns:p14="http://schemas.microsoft.com/office/powerpoint/2010/main" val="2060969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 y="766354"/>
            <a:ext cx="8762306" cy="38779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Dependency Management Tools</a:t>
            </a:r>
          </a:p>
          <a:p>
            <a:pPr algn="l">
              <a:buFont typeface="Arial" panose="020B0604020202020204" pitchFamily="34" charset="0"/>
              <a:buChar char="•"/>
            </a:pPr>
            <a:r>
              <a:rPr lang="en-IN" sz="2400" kern="0" spc="-80" dirty="0">
                <a:solidFill>
                  <a:schemeClr val="accent2"/>
                </a:solidFill>
              </a:rPr>
              <a:t>Pip</a:t>
            </a:r>
            <a:r>
              <a:rPr lang="en-IN" sz="2000" kern="0" spc="-80" dirty="0">
                <a:solidFill>
                  <a:schemeClr val="accent6"/>
                </a:solidFill>
              </a:rPr>
              <a:t> installs system and project-level Python packages.</a:t>
            </a:r>
          </a:p>
          <a:p>
            <a:pPr algn="l">
              <a:buFont typeface="Arial" panose="020B0604020202020204" pitchFamily="34" charset="0"/>
              <a:buChar char="•"/>
            </a:pPr>
            <a:r>
              <a:rPr lang="en-IN" sz="2400" kern="0" spc="-80" dirty="0">
                <a:solidFill>
                  <a:schemeClr val="accent2"/>
                </a:solidFill>
              </a:rPr>
              <a:t>Maven</a:t>
            </a:r>
            <a:r>
              <a:rPr lang="en-IN" sz="2000" kern="0" spc="-80" dirty="0">
                <a:solidFill>
                  <a:schemeClr val="accent6"/>
                </a:solidFill>
              </a:rPr>
              <a:t> manages dependencies and the build process for Java projects.</a:t>
            </a:r>
          </a:p>
          <a:p>
            <a:pPr algn="l">
              <a:buFont typeface="Arial" panose="020B0604020202020204" pitchFamily="34" charset="0"/>
              <a:buChar char="•"/>
            </a:pPr>
            <a:r>
              <a:rPr lang="en-IN" sz="2400" kern="0" spc="-80" dirty="0">
                <a:solidFill>
                  <a:schemeClr val="accent2"/>
                </a:solidFill>
              </a:rPr>
              <a:t>Homebrew</a:t>
            </a:r>
            <a:r>
              <a:rPr lang="en-IN" sz="2000" kern="0" spc="-80" dirty="0">
                <a:solidFill>
                  <a:schemeClr val="accent6"/>
                </a:solidFill>
              </a:rPr>
              <a:t> simplifies package installation for Mac and Linux operating systems.</a:t>
            </a:r>
          </a:p>
          <a:p>
            <a:pPr algn="l">
              <a:buFont typeface="Arial" panose="020B0604020202020204" pitchFamily="34" charset="0"/>
              <a:buChar char="•"/>
            </a:pPr>
            <a:r>
              <a:rPr lang="en-IN" sz="2400" kern="0" spc="-80" dirty="0" err="1">
                <a:solidFill>
                  <a:schemeClr val="accent2"/>
                </a:solidFill>
              </a:rPr>
              <a:t>Npm</a:t>
            </a:r>
            <a:r>
              <a:rPr lang="en-IN" sz="2000" kern="0" spc="-80" dirty="0">
                <a:solidFill>
                  <a:schemeClr val="accent6"/>
                </a:solidFill>
              </a:rPr>
              <a:t> installs and tracks JavaScript dependencies.</a:t>
            </a:r>
          </a:p>
          <a:p>
            <a:pPr algn="l">
              <a:buFont typeface="Arial" panose="020B0604020202020204" pitchFamily="34" charset="0"/>
              <a:buChar char="•"/>
            </a:pPr>
            <a:r>
              <a:rPr lang="en-IN" sz="2400" kern="0" spc="-80" dirty="0">
                <a:solidFill>
                  <a:schemeClr val="accent2"/>
                </a:solidFill>
              </a:rPr>
              <a:t>NuGet</a:t>
            </a:r>
            <a:r>
              <a:rPr lang="en-IN" sz="2000" kern="0" spc="-80" dirty="0">
                <a:solidFill>
                  <a:schemeClr val="accent6"/>
                </a:solidFill>
              </a:rPr>
              <a:t> manages dependencies for .NET projects.</a:t>
            </a:r>
          </a:p>
          <a:p>
            <a:pPr algn="l">
              <a:buFont typeface="Arial" panose="020B0604020202020204" pitchFamily="34" charset="0"/>
              <a:buChar char="•"/>
            </a:pPr>
            <a:r>
              <a:rPr lang="en-IN" sz="2400" kern="0" spc="-80" dirty="0">
                <a:solidFill>
                  <a:schemeClr val="accent2"/>
                </a:solidFill>
              </a:rPr>
              <a:t>Gradle</a:t>
            </a:r>
            <a:r>
              <a:rPr lang="en-IN" sz="2000" kern="0" spc="-80" dirty="0">
                <a:solidFill>
                  <a:schemeClr val="accent6"/>
                </a:solidFill>
              </a:rPr>
              <a:t> manages dependencies and the build process for Java projects</a:t>
            </a:r>
            <a:r>
              <a:rPr lang="en-IN" sz="1400" b="0" i="0" dirty="0">
                <a:solidFill>
                  <a:srgbClr val="3A3B41"/>
                </a:solidFill>
                <a:effectLst/>
                <a:latin typeface="Georgia" panose="02040502050405020303" pitchFamily="18" charset="0"/>
              </a:rPr>
              <a:t>.</a:t>
            </a:r>
          </a:p>
          <a:p>
            <a:pPr marL="12700" marR="5080"/>
            <a:endParaRPr lang="en-US" sz="2400" kern="0" spc="-80" dirty="0">
              <a:solidFill>
                <a:schemeClr val="accent2"/>
              </a:solidFill>
            </a:endParaRP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7370" y="4566047"/>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7"/>
              </a:rPr>
              <a:t>How to Choose Between Package Managers: Maven, Gradle and More | Built In</a:t>
            </a:r>
            <a:endParaRPr lang="en-US" sz="1500" kern="0" spc="-80" dirty="0">
              <a:solidFill>
                <a:schemeClr val="accent2"/>
              </a:solidFill>
            </a:endParaRPr>
          </a:p>
        </p:txBody>
      </p:sp>
    </p:spTree>
    <p:extLst>
      <p:ext uri="{BB962C8B-B14F-4D97-AF65-F5344CB8AC3E}">
        <p14:creationId xmlns:p14="http://schemas.microsoft.com/office/powerpoint/2010/main" val="1035715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 y="770215"/>
            <a:ext cx="8762306"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Code Quality Tools</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pic>
        <p:nvPicPr>
          <p:cNvPr id="11" name="Picture 10">
            <a:extLst>
              <a:ext uri="{FF2B5EF4-FFF2-40B4-BE49-F238E27FC236}">
                <a16:creationId xmlns:a16="http://schemas.microsoft.com/office/drawing/2014/main" id="{191F733F-A4BF-EFF0-E673-954721A3F111}"/>
              </a:ext>
            </a:extLst>
          </p:cNvPr>
          <p:cNvPicPr>
            <a:picLocks noChangeAspect="1"/>
          </p:cNvPicPr>
          <p:nvPr/>
        </p:nvPicPr>
        <p:blipFill>
          <a:blip r:embed="rId7"/>
          <a:stretch>
            <a:fillRect/>
          </a:stretch>
        </p:blipFill>
        <p:spPr>
          <a:xfrm>
            <a:off x="138063" y="1295400"/>
            <a:ext cx="8715474" cy="4495800"/>
          </a:xfrm>
          <a:prstGeom prst="rect">
            <a:avLst/>
          </a:prstGeom>
        </p:spPr>
      </p:pic>
    </p:spTree>
    <p:extLst>
      <p:ext uri="{BB962C8B-B14F-4D97-AF65-F5344CB8AC3E}">
        <p14:creationId xmlns:p14="http://schemas.microsoft.com/office/powerpoint/2010/main" val="1817353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 y="685800"/>
            <a:ext cx="8762306"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SCA(Software Composition Analysis)</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pic>
        <p:nvPicPr>
          <p:cNvPr id="29698" name="Picture 2" descr="Software Composition Analysis: A Matter of Perspective (and Experience)">
            <a:extLst>
              <a:ext uri="{FF2B5EF4-FFF2-40B4-BE49-F238E27FC236}">
                <a16:creationId xmlns:a16="http://schemas.microsoft.com/office/drawing/2014/main" id="{A4876266-BD10-FB07-26B2-9EBAC0F990A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066800"/>
            <a:ext cx="9144000" cy="4121706"/>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B239A9DC-AA32-BDD4-4C63-962A7DA433DC}"/>
              </a:ext>
            </a:extLst>
          </p:cNvPr>
          <p:cNvSpPr txBox="1">
            <a:spLocks/>
          </p:cNvSpPr>
          <p:nvPr/>
        </p:nvSpPr>
        <p:spPr>
          <a:xfrm>
            <a:off x="137370" y="5257800"/>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8"/>
              </a:rPr>
              <a:t>What is Software Composition Analysis (SCA)? | Black Duck</a:t>
            </a:r>
            <a:endParaRPr lang="en-US" sz="1500" kern="0" spc="-80" dirty="0">
              <a:solidFill>
                <a:schemeClr val="accent2"/>
              </a:solidFill>
            </a:endParaRPr>
          </a:p>
        </p:txBody>
      </p:sp>
    </p:spTree>
    <p:extLst>
      <p:ext uri="{BB962C8B-B14F-4D97-AF65-F5344CB8AC3E}">
        <p14:creationId xmlns:p14="http://schemas.microsoft.com/office/powerpoint/2010/main" val="650662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 y="685800"/>
            <a:ext cx="8762306"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Build Tools</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B239A9DC-AA32-BDD4-4C63-962A7DA433DC}"/>
              </a:ext>
            </a:extLst>
          </p:cNvPr>
          <p:cNvSpPr txBox="1">
            <a:spLocks/>
          </p:cNvSpPr>
          <p:nvPr/>
        </p:nvSpPr>
        <p:spPr>
          <a:xfrm>
            <a:off x="137370" y="5029200"/>
            <a:ext cx="8624937" cy="8309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7"/>
              </a:rPr>
              <a:t>Top 10 Build Management Tools updated 2020 - DevOpsSchool.com</a:t>
            </a:r>
            <a:r>
              <a:rPr lang="en-US" sz="1500" kern="0" spc="-80" dirty="0">
                <a:solidFill>
                  <a:schemeClr val="accent2"/>
                </a:solidFill>
              </a:rPr>
              <a:t> </a:t>
            </a:r>
          </a:p>
          <a:p>
            <a:pPr marL="12700" marR="5080"/>
            <a:r>
              <a:rPr lang="en-US" sz="1500" dirty="0">
                <a:hlinkClick r:id="rId8"/>
              </a:rPr>
              <a:t>Use the </a:t>
            </a:r>
            <a:r>
              <a:rPr lang="en-US" sz="1500" dirty="0" err="1">
                <a:hlinkClick r:id="rId8"/>
              </a:rPr>
              <a:t>MSBuild</a:t>
            </a:r>
            <a:r>
              <a:rPr lang="en-US" sz="1500" dirty="0">
                <a:hlinkClick r:id="rId8"/>
              </a:rPr>
              <a:t> XML schema to control builds - </a:t>
            </a:r>
            <a:r>
              <a:rPr lang="en-US" sz="1500" dirty="0" err="1">
                <a:hlinkClick r:id="rId8"/>
              </a:rPr>
              <a:t>MSBuild</a:t>
            </a:r>
            <a:r>
              <a:rPr lang="en-US" sz="1500" dirty="0">
                <a:hlinkClick r:id="rId8"/>
              </a:rPr>
              <a:t> | Microsoft Learn</a:t>
            </a:r>
            <a:endParaRPr lang="en-US" sz="1500" kern="0" spc="-80" dirty="0">
              <a:solidFill>
                <a:schemeClr val="accent2"/>
              </a:solidFill>
            </a:endParaRPr>
          </a:p>
        </p:txBody>
      </p:sp>
      <p:pic>
        <p:nvPicPr>
          <p:cNvPr id="30722" name="Picture 2" descr="Build tools=Maven:Gradle:Ant:MSBuild">
            <a:extLst>
              <a:ext uri="{FF2B5EF4-FFF2-40B4-BE49-F238E27FC236}">
                <a16:creationId xmlns:a16="http://schemas.microsoft.com/office/drawing/2014/main" id="{C07094E7-58FF-D812-93C3-180D82FC249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0463" y="1066800"/>
            <a:ext cx="8563074" cy="3843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7044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 y="685800"/>
            <a:ext cx="8762306"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DevOps</a:t>
            </a:r>
          </a:p>
          <a:p>
            <a:pPr marL="12700" marR="5080"/>
            <a:r>
              <a:rPr lang="en-US" sz="2400" kern="0" spc="-80" dirty="0">
                <a:solidFill>
                  <a:schemeClr val="accent2"/>
                </a:solidFill>
              </a:rPr>
              <a:t> Pipeline -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pic>
        <p:nvPicPr>
          <p:cNvPr id="34820" name="Picture 4" descr="Las 10 herramientas imprescindibles de DevOps utilizadas por las empresas  más grandes del mundo">
            <a:extLst>
              <a:ext uri="{FF2B5EF4-FFF2-40B4-BE49-F238E27FC236}">
                <a16:creationId xmlns:a16="http://schemas.microsoft.com/office/drawing/2014/main" id="{BE406BB4-EC26-8CC7-91CA-FA2EEA527A0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063" y="1374578"/>
            <a:ext cx="8929737" cy="2249284"/>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1E6AE217-4CFE-2C5D-C5CA-0B9AA6163339}"/>
              </a:ext>
            </a:extLst>
          </p:cNvPr>
          <p:cNvSpPr txBox="1">
            <a:spLocks/>
          </p:cNvSpPr>
          <p:nvPr/>
        </p:nvSpPr>
        <p:spPr>
          <a:xfrm>
            <a:off x="51412" y="3568090"/>
            <a:ext cx="8624937" cy="28854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endParaRPr lang="en-US" sz="2400" kern="0" spc="-80" dirty="0">
              <a:solidFill>
                <a:schemeClr val="accent2"/>
              </a:solidFill>
            </a:endParaRPr>
          </a:p>
          <a:p>
            <a:pPr marL="12700" marR="5080"/>
            <a:r>
              <a:rPr lang="en-IN" sz="1200" dirty="0">
                <a:hlinkClick r:id="rId8"/>
              </a:rPr>
              <a:t>What is DevOps?? | GitLab</a:t>
            </a:r>
            <a:endParaRPr lang="en-IN" sz="1200" dirty="0"/>
          </a:p>
          <a:p>
            <a:pPr marL="12700" marR="5080"/>
            <a:r>
              <a:rPr lang="en-IN" sz="1200" dirty="0">
                <a:hlinkClick r:id="rId9"/>
              </a:rPr>
              <a:t>What is CI/CD | LinkedIn</a:t>
            </a:r>
            <a:endParaRPr lang="en-IN" sz="1200" dirty="0"/>
          </a:p>
          <a:p>
            <a:pPr marL="12700" marR="5080"/>
            <a:r>
              <a:rPr lang="en-US" sz="1200" dirty="0">
                <a:hlinkClick r:id="rId10"/>
              </a:rPr>
              <a:t>Automate DACPAC Creation and Setup Scripts for Database Development</a:t>
            </a:r>
            <a:endParaRPr lang="en-US" sz="1200" dirty="0"/>
          </a:p>
          <a:p>
            <a:pPr marL="12700" marR="5080"/>
            <a:r>
              <a:rPr lang="en-IN" sz="1200" dirty="0" err="1">
                <a:hlinkClick r:id="rId11"/>
              </a:rPr>
              <a:t>pgAdmin</a:t>
            </a:r>
            <a:r>
              <a:rPr lang="en-IN" sz="1200" dirty="0">
                <a:hlinkClick r:id="rId11"/>
              </a:rPr>
              <a:t> - PostgreSQL Tools</a:t>
            </a:r>
            <a:endParaRPr lang="en-US" sz="1200" dirty="0"/>
          </a:p>
          <a:p>
            <a:pPr marL="12700" marR="5080"/>
            <a:r>
              <a:rPr lang="en-US" sz="1200" dirty="0">
                <a:hlinkClick r:id="rId12"/>
              </a:rPr>
              <a:t>Quality Gates: Why your DevOps Pipeline needs them! - Quality Clouds</a:t>
            </a:r>
            <a:endParaRPr lang="en-US" sz="1200" dirty="0"/>
          </a:p>
          <a:p>
            <a:pPr marL="12700" marR="5080"/>
            <a:r>
              <a:rPr lang="en-US" sz="1200" dirty="0">
                <a:hlinkClick r:id="rId13"/>
              </a:rPr>
              <a:t>Everything as code - DevOps Guidance</a:t>
            </a:r>
            <a:endParaRPr lang="en-US" sz="1200" dirty="0"/>
          </a:p>
          <a:p>
            <a:pPr marL="12700" marR="5080"/>
            <a:r>
              <a:rPr lang="en-US" sz="1200" dirty="0">
                <a:hlinkClick r:id="rId14"/>
              </a:rPr>
              <a:t>Features and benefits of Red Hat OpenShift</a:t>
            </a:r>
            <a:endParaRPr lang="en-US" sz="1200" dirty="0"/>
          </a:p>
          <a:p>
            <a:pPr marL="12700" marR="5080"/>
            <a:r>
              <a:rPr lang="en-US" sz="1200" dirty="0">
                <a:hlinkClick r:id="rId15"/>
              </a:rPr>
              <a:t>Getting </a:t>
            </a:r>
            <a:r>
              <a:rPr lang="en-US" sz="1200" dirty="0" err="1">
                <a:hlinkClick r:id="rId15"/>
              </a:rPr>
              <a:t>GitOps</a:t>
            </a:r>
            <a:r>
              <a:rPr lang="en-US" sz="1200" dirty="0">
                <a:hlinkClick r:id="rId15"/>
              </a:rPr>
              <a:t>: A practical platform with OpenShift, Argo CD, and </a:t>
            </a:r>
            <a:r>
              <a:rPr lang="en-US" sz="1200" dirty="0" err="1">
                <a:hlinkClick r:id="rId15"/>
              </a:rPr>
              <a:t>Tekton</a:t>
            </a:r>
            <a:r>
              <a:rPr lang="en-US" sz="1200" dirty="0">
                <a:hlinkClick r:id="rId15"/>
              </a:rPr>
              <a:t> | Red Hat Developer</a:t>
            </a:r>
            <a:endParaRPr lang="en-US" sz="1200" dirty="0"/>
          </a:p>
          <a:p>
            <a:pPr marL="12700" marR="5080"/>
            <a:r>
              <a:rPr lang="en-US" sz="1200" dirty="0">
                <a:hlinkClick r:id="rId16"/>
              </a:rPr>
              <a:t>DevOps Culture and Practice with OpenShift | Red Hat Developer</a:t>
            </a:r>
            <a:endParaRPr lang="en-US" sz="1200" dirty="0"/>
          </a:p>
          <a:p>
            <a:pPr marL="12700" marR="5080"/>
            <a:r>
              <a:rPr lang="en-IN" sz="1200" dirty="0">
                <a:hlinkClick r:id="rId17"/>
              </a:rPr>
              <a:t>E-books - Practical </a:t>
            </a:r>
            <a:r>
              <a:rPr lang="en-IN" sz="1200" dirty="0" err="1">
                <a:hlinkClick r:id="rId17"/>
              </a:rPr>
              <a:t>DevSecOps</a:t>
            </a:r>
            <a:endParaRPr lang="en-US" sz="1200" dirty="0"/>
          </a:p>
          <a:p>
            <a:pPr marL="12700" marR="5080"/>
            <a:r>
              <a:rPr lang="en-US" sz="1200" dirty="0">
                <a:hlinkClick r:id="rId18"/>
              </a:rPr>
              <a:t>Hands-On Security in DevOps | Cloud &amp; Networking | Paperback</a:t>
            </a:r>
            <a:endParaRPr lang="en-US" sz="1200" dirty="0"/>
          </a:p>
          <a:p>
            <a:pPr marL="12700" marR="5080"/>
            <a:r>
              <a:rPr lang="en-US" sz="1200" dirty="0">
                <a:hlinkClick r:id="rId19"/>
              </a:rPr>
              <a:t>Shift left vs shift right: A DevOps mystery solved</a:t>
            </a:r>
            <a:endParaRPr lang="en-US" sz="1200" dirty="0"/>
          </a:p>
          <a:p>
            <a:pPr marL="12700" marR="5080"/>
            <a:endParaRPr lang="en-US" sz="1350" kern="0" spc="-80" dirty="0">
              <a:solidFill>
                <a:schemeClr val="accent2"/>
              </a:solidFill>
            </a:endParaRPr>
          </a:p>
          <a:p>
            <a:pPr marL="12700" marR="5080"/>
            <a:endParaRPr lang="en-US" sz="1500" kern="0" spc="-80" dirty="0">
              <a:solidFill>
                <a:schemeClr val="accent2"/>
              </a:solidFill>
            </a:endParaRPr>
          </a:p>
        </p:txBody>
      </p:sp>
    </p:spTree>
    <p:extLst>
      <p:ext uri="{BB962C8B-B14F-4D97-AF65-F5344CB8AC3E}">
        <p14:creationId xmlns:p14="http://schemas.microsoft.com/office/powerpoint/2010/main" val="3779846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1" y="685800"/>
            <a:ext cx="8762306"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DevOps</a:t>
            </a:r>
          </a:p>
          <a:p>
            <a:pPr marL="12700" marR="5080"/>
            <a:r>
              <a:rPr lang="en-US" sz="2400" kern="0" spc="-80" dirty="0">
                <a:solidFill>
                  <a:schemeClr val="accent2"/>
                </a:solidFill>
              </a:rPr>
              <a:t> Immutable Infrastructure -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pic>
        <p:nvPicPr>
          <p:cNvPr id="9" name="Picture 8">
            <a:extLst>
              <a:ext uri="{FF2B5EF4-FFF2-40B4-BE49-F238E27FC236}">
                <a16:creationId xmlns:a16="http://schemas.microsoft.com/office/drawing/2014/main" id="{9485A48B-597D-E5AC-1F25-584E15124DD6}"/>
              </a:ext>
            </a:extLst>
          </p:cNvPr>
          <p:cNvPicPr>
            <a:picLocks noChangeAspect="1"/>
          </p:cNvPicPr>
          <p:nvPr/>
        </p:nvPicPr>
        <p:blipFill>
          <a:blip r:embed="rId7"/>
          <a:stretch>
            <a:fillRect/>
          </a:stretch>
        </p:blipFill>
        <p:spPr>
          <a:xfrm>
            <a:off x="138062" y="1497682"/>
            <a:ext cx="8867875" cy="3830365"/>
          </a:xfrm>
          <a:prstGeom prst="rect">
            <a:avLst/>
          </a:prstGeom>
        </p:spPr>
      </p:pic>
      <p:sp>
        <p:nvSpPr>
          <p:cNvPr id="8" name="object 2">
            <a:extLst>
              <a:ext uri="{FF2B5EF4-FFF2-40B4-BE49-F238E27FC236}">
                <a16:creationId xmlns:a16="http://schemas.microsoft.com/office/drawing/2014/main" id="{AA392C04-10B5-BE84-F023-7493AE5351BF}"/>
              </a:ext>
            </a:extLst>
          </p:cNvPr>
          <p:cNvSpPr txBox="1">
            <a:spLocks/>
          </p:cNvSpPr>
          <p:nvPr/>
        </p:nvSpPr>
        <p:spPr>
          <a:xfrm>
            <a:off x="137369" y="5328047"/>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kern="0" spc="-80" dirty="0">
                <a:solidFill>
                  <a:schemeClr val="accent2"/>
                </a:solidFill>
              </a:rPr>
              <a:t> </a:t>
            </a:r>
            <a:r>
              <a:rPr lang="en-IN" sz="1500" dirty="0">
                <a:hlinkClick r:id="rId8"/>
              </a:rPr>
              <a:t>Immutable Infrastructure: Benefits, Comparisons &amp; More</a:t>
            </a:r>
            <a:endParaRPr lang="en-US" sz="1500" kern="0" spc="-80" dirty="0">
              <a:solidFill>
                <a:schemeClr val="accent2"/>
              </a:solidFill>
            </a:endParaRPr>
          </a:p>
        </p:txBody>
      </p:sp>
    </p:spTree>
    <p:extLst>
      <p:ext uri="{BB962C8B-B14F-4D97-AF65-F5344CB8AC3E}">
        <p14:creationId xmlns:p14="http://schemas.microsoft.com/office/powerpoint/2010/main" val="2832014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0" y="609600"/>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DevOps</a:t>
            </a:r>
          </a:p>
          <a:p>
            <a:pPr marL="12700" marR="5080"/>
            <a:r>
              <a:rPr lang="en-US" sz="2400" kern="0" spc="-80" dirty="0">
                <a:solidFill>
                  <a:schemeClr val="accent2"/>
                </a:solidFill>
              </a:rPr>
              <a:t> </a:t>
            </a:r>
            <a:r>
              <a:rPr lang="en-US" sz="2400" kern="0" spc="-80" dirty="0" err="1">
                <a:solidFill>
                  <a:schemeClr val="accent2"/>
                </a:solidFill>
              </a:rPr>
              <a:t>IaC</a:t>
            </a:r>
            <a:r>
              <a:rPr lang="en-US" sz="2400" kern="0" spc="-80" dirty="0">
                <a:solidFill>
                  <a:schemeClr val="accent2"/>
                </a:solidFill>
              </a:rPr>
              <a:t>(Infrastructure as Code) -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3102C7EC-7155-21AB-C7D8-BE8CCB5D0E31}"/>
              </a:ext>
            </a:extLst>
          </p:cNvPr>
          <p:cNvSpPr txBox="1">
            <a:spLocks/>
          </p:cNvSpPr>
          <p:nvPr/>
        </p:nvSpPr>
        <p:spPr>
          <a:xfrm>
            <a:off x="-8263" y="3635276"/>
            <a:ext cx="8624937" cy="23083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050" dirty="0">
                <a:hlinkClick r:id="rId7"/>
              </a:rPr>
              <a:t>Infrastructure as Code (</a:t>
            </a:r>
            <a:r>
              <a:rPr lang="en-US" sz="1050" dirty="0" err="1">
                <a:hlinkClick r:id="rId7"/>
              </a:rPr>
              <a:t>IaC</a:t>
            </a:r>
            <a:r>
              <a:rPr lang="en-US" sz="1050" dirty="0">
                <a:hlinkClick r:id="rId7"/>
              </a:rPr>
              <a:t>) vs. Configuration as Code (</a:t>
            </a:r>
            <a:r>
              <a:rPr lang="en-US" sz="1050" dirty="0" err="1">
                <a:hlinkClick r:id="rId7"/>
              </a:rPr>
              <a:t>CaC</a:t>
            </a:r>
            <a:r>
              <a:rPr lang="en-US" sz="1050" dirty="0">
                <a:hlinkClick r:id="rId7"/>
              </a:rPr>
              <a:t>)</a:t>
            </a:r>
            <a:endParaRPr lang="en-US" sz="1050" dirty="0"/>
          </a:p>
          <a:p>
            <a:pPr marL="12700" marR="5080"/>
            <a:r>
              <a:rPr lang="en-US" sz="1050" dirty="0">
                <a:hlinkClick r:id="rId8"/>
              </a:rPr>
              <a:t>Configuration as Code: Everything You Need to Know</a:t>
            </a:r>
            <a:endParaRPr lang="en-US" sz="1050" dirty="0"/>
          </a:p>
          <a:p>
            <a:pPr marL="12700" marR="5080"/>
            <a:r>
              <a:rPr lang="en-IN" sz="1050" dirty="0" err="1">
                <a:hlinkClick r:id="rId9"/>
              </a:rPr>
              <a:t>GitOps</a:t>
            </a:r>
            <a:r>
              <a:rPr lang="en-IN" sz="1050" dirty="0">
                <a:hlinkClick r:id="rId9"/>
              </a:rPr>
              <a:t> vs </a:t>
            </a:r>
            <a:r>
              <a:rPr lang="en-IN" sz="1050" dirty="0" err="1">
                <a:hlinkClick r:id="rId9"/>
              </a:rPr>
              <a:t>GitFlow</a:t>
            </a:r>
            <a:endParaRPr lang="fr-FR" sz="1050" dirty="0"/>
          </a:p>
          <a:p>
            <a:pPr marL="12700" marR="5080"/>
            <a:r>
              <a:rPr lang="en-US" sz="1050" dirty="0" err="1">
                <a:hlinkClick r:id="rId10"/>
              </a:rPr>
              <a:t>WarpBuild</a:t>
            </a:r>
            <a:r>
              <a:rPr lang="en-US" sz="1050" dirty="0">
                <a:hlinkClick r:id="rId10"/>
              </a:rPr>
              <a:t> - 10x faster, 90% cheaper </a:t>
            </a:r>
            <a:r>
              <a:rPr lang="en-US" sz="1050" dirty="0" err="1">
                <a:hlinkClick r:id="rId10"/>
              </a:rPr>
              <a:t>Github</a:t>
            </a:r>
            <a:r>
              <a:rPr lang="en-US" sz="1050" dirty="0">
                <a:hlinkClick r:id="rId10"/>
              </a:rPr>
              <a:t> Actions runners</a:t>
            </a:r>
            <a:endParaRPr lang="en-US" sz="1050" dirty="0"/>
          </a:p>
          <a:p>
            <a:pPr marL="12700" marR="5080"/>
            <a:r>
              <a:rPr lang="en-US" sz="1050" dirty="0">
                <a:hlinkClick r:id="rId11"/>
              </a:rPr>
              <a:t>Comparing Terraform and Bicep | Microsoft Learn</a:t>
            </a:r>
            <a:endParaRPr lang="en-US" sz="1050" dirty="0"/>
          </a:p>
          <a:p>
            <a:pPr marL="12700" marR="5080"/>
            <a:r>
              <a:rPr lang="en-US" sz="1050" dirty="0">
                <a:hlinkClick r:id="rId12"/>
              </a:rPr>
              <a:t>The Complete Terraform with Ansible Bootcamp 2025 | Udemy</a:t>
            </a:r>
            <a:endParaRPr lang="en-US" sz="1050" dirty="0"/>
          </a:p>
          <a:p>
            <a:pPr marL="12700" marR="5080"/>
            <a:r>
              <a:rPr lang="en-IN" sz="1050" dirty="0">
                <a:hlinkClick r:id="rId13"/>
              </a:rPr>
              <a:t>Infrastructure-as-Code-for-Beginners</a:t>
            </a:r>
            <a:endParaRPr lang="en-US" sz="1050" kern="0" spc="-80" dirty="0">
              <a:solidFill>
                <a:schemeClr val="accent2"/>
              </a:solidFill>
            </a:endParaRPr>
          </a:p>
          <a:p>
            <a:pPr marL="12700" marR="5080"/>
            <a:r>
              <a:rPr lang="en-US" sz="1050" dirty="0">
                <a:hlinkClick r:id="rId14"/>
              </a:rPr>
              <a:t>Mastering-Terraform:</a:t>
            </a:r>
            <a:endParaRPr lang="en-US" sz="1050" dirty="0"/>
          </a:p>
          <a:p>
            <a:pPr marL="12700" marR="5080"/>
            <a:r>
              <a:rPr lang="en-US" sz="1050" dirty="0">
                <a:hlinkClick r:id="rId15"/>
              </a:rPr>
              <a:t>Terraform-Cookbook</a:t>
            </a:r>
            <a:endParaRPr lang="en-US" sz="1050" dirty="0"/>
          </a:p>
          <a:p>
            <a:pPr marL="12700" marR="5080"/>
            <a:r>
              <a:rPr lang="en-US" sz="1050" dirty="0">
                <a:hlinkClick r:id="rId16"/>
              </a:rPr>
              <a:t>Master Azure Bicep: Explore Advanced Features and Techniques | Udemy</a:t>
            </a:r>
            <a:endParaRPr lang="en-US" sz="1050" dirty="0"/>
          </a:p>
          <a:p>
            <a:pPr marL="12700" marR="5080"/>
            <a:r>
              <a:rPr lang="en-US" sz="1050" dirty="0">
                <a:hlinkClick r:id="rId17"/>
              </a:rPr>
              <a:t>Azure Bicep: Mastering Infrastructure as Code with Bicep | Udemy</a:t>
            </a:r>
            <a:endParaRPr lang="en-US" sz="1050" dirty="0"/>
          </a:p>
          <a:p>
            <a:pPr marL="12700" marR="5080"/>
            <a:r>
              <a:rPr lang="en-US" sz="1050" dirty="0">
                <a:hlinkClick r:id="rId18"/>
              </a:rPr>
              <a:t>Infrastructure-as-Code-with-Azure-Bicep</a:t>
            </a:r>
            <a:endParaRPr lang="en-US" sz="1050" dirty="0"/>
          </a:p>
        </p:txBody>
      </p:sp>
      <p:pic>
        <p:nvPicPr>
          <p:cNvPr id="37896" name="Picture 8" descr="What is Infrastructure as Code?">
            <a:extLst>
              <a:ext uri="{FF2B5EF4-FFF2-40B4-BE49-F238E27FC236}">
                <a16:creationId xmlns:a16="http://schemas.microsoft.com/office/drawing/2014/main" id="{6B7F7B51-C2A9-B372-3FA8-A23AA5CDD264}"/>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36227" y="1348264"/>
            <a:ext cx="8533706" cy="2115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628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0" y="609600"/>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DevOps</a:t>
            </a:r>
          </a:p>
          <a:p>
            <a:pPr marL="12700" marR="5080"/>
            <a:r>
              <a:rPr lang="en-US" sz="2400" kern="0" spc="-80" dirty="0">
                <a:solidFill>
                  <a:schemeClr val="accent2"/>
                </a:solidFill>
              </a:rPr>
              <a:t> Policy as Code -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3102C7EC-7155-21AB-C7D8-BE8CCB5D0E31}"/>
              </a:ext>
            </a:extLst>
          </p:cNvPr>
          <p:cNvSpPr txBox="1">
            <a:spLocks/>
          </p:cNvSpPr>
          <p:nvPr/>
        </p:nvSpPr>
        <p:spPr>
          <a:xfrm>
            <a:off x="137369" y="4772561"/>
            <a:ext cx="8624937" cy="132343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6"/>
                </a:solidFill>
              </a:rPr>
              <a:t>Policy as code is not only used exclusively for AuthN and </a:t>
            </a:r>
            <a:r>
              <a:rPr lang="en-US" sz="1400" kern="0" spc="-80" dirty="0" err="1">
                <a:solidFill>
                  <a:schemeClr val="accent6"/>
                </a:solidFill>
              </a:rPr>
              <a:t>AuthZ</a:t>
            </a:r>
            <a:r>
              <a:rPr lang="en-US" sz="1400" kern="0" spc="-80" dirty="0">
                <a:solidFill>
                  <a:schemeClr val="accent6"/>
                </a:solidFill>
              </a:rPr>
              <a:t>; it is a broader concept applied to managing infrastructure and operations, including infrastructure provisioning, workload orchestration, and a wide range of other operational concerns beyond just security access controls. While it is a powerful tool for implementing complex AuthN and </a:t>
            </a:r>
            <a:r>
              <a:rPr lang="en-US" sz="1400" kern="0" spc="-80" dirty="0" err="1">
                <a:solidFill>
                  <a:schemeClr val="accent6"/>
                </a:solidFill>
              </a:rPr>
              <a:t>AuthZ</a:t>
            </a:r>
            <a:r>
              <a:rPr lang="en-US" sz="1400" kern="0" spc="-80" dirty="0">
                <a:solidFill>
                  <a:schemeClr val="accent6"/>
                </a:solidFill>
              </a:rPr>
              <a:t> policies, its primary purpose is to bring code-like management to any form of operational policy.</a:t>
            </a:r>
            <a:br>
              <a:rPr lang="en-US" sz="1400" kern="0" spc="-80" dirty="0">
                <a:solidFill>
                  <a:schemeClr val="accent6"/>
                </a:solidFill>
              </a:rPr>
            </a:br>
            <a:endParaRPr lang="en-US" sz="1400" kern="0" spc="-80" dirty="0">
              <a:solidFill>
                <a:schemeClr val="accent6"/>
              </a:solidFill>
            </a:endParaRPr>
          </a:p>
        </p:txBody>
      </p:sp>
      <p:pic>
        <p:nvPicPr>
          <p:cNvPr id="38914" name="Picture 2">
            <a:extLst>
              <a:ext uri="{FF2B5EF4-FFF2-40B4-BE49-F238E27FC236}">
                <a16:creationId xmlns:a16="http://schemas.microsoft.com/office/drawing/2014/main" id="{082CF192-4F18-22E3-6533-BB4E3E1C545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369" y="1371838"/>
            <a:ext cx="8716168" cy="3428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9907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67A5-CE18-0EC2-BA19-FC1F11BBAAE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8428826-C8C6-91FB-51B5-081BE2CDDF3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25D118D-2C4F-A709-886A-44B6CC0BB37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3A5DFD9-BD50-3A79-E45F-1E8E73CCE711}"/>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E5E9881-4547-8666-AC79-2375FB26399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49FABE1-EC1E-437B-8269-2CDD63C552C7}"/>
              </a:ext>
            </a:extLst>
          </p:cNvPr>
          <p:cNvSpPr txBox="1">
            <a:spLocks/>
          </p:cNvSpPr>
          <p:nvPr/>
        </p:nvSpPr>
        <p:spPr>
          <a:xfrm>
            <a:off x="0" y="609600"/>
            <a:ext cx="8915399" cy="433349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DevOps</a:t>
            </a:r>
          </a:p>
          <a:p>
            <a:pPr marL="12700" marR="5080"/>
            <a:r>
              <a:rPr lang="en-US" sz="2400" kern="0" spc="-80" dirty="0">
                <a:solidFill>
                  <a:schemeClr val="accent2"/>
                </a:solidFill>
              </a:rPr>
              <a:t> Policy as Code –</a:t>
            </a:r>
          </a:p>
          <a:p>
            <a:pPr marL="12700" marR="5080"/>
            <a:r>
              <a:rPr lang="en-US" sz="1460" kern="0" spc="-80" dirty="0">
                <a:solidFill>
                  <a:schemeClr val="accent2"/>
                </a:solidFill>
              </a:rPr>
              <a:t>How Policy as Code is Used:</a:t>
            </a:r>
            <a:br>
              <a:rPr lang="en-US" sz="1460" kern="0" spc="-80" dirty="0">
                <a:solidFill>
                  <a:schemeClr val="accent6"/>
                </a:solidFill>
              </a:rPr>
            </a:br>
            <a:r>
              <a:rPr lang="en-US" sz="1460" kern="0" spc="-80" dirty="0">
                <a:solidFill>
                  <a:schemeClr val="accent2"/>
                </a:solidFill>
              </a:rPr>
              <a:t>Infrastructure Management:</a:t>
            </a:r>
            <a:r>
              <a:rPr lang="en-US" sz="1460" kern="0" spc="-80" dirty="0">
                <a:solidFill>
                  <a:schemeClr val="accent6"/>
                </a:solidFill>
              </a:rPr>
              <a:t> Defining and enforcing policies for provisioning and configuring infrastructure resources.</a:t>
            </a:r>
            <a:br>
              <a:rPr lang="en-US" sz="1460" kern="0" spc="-80" dirty="0">
                <a:solidFill>
                  <a:schemeClr val="accent6"/>
                </a:solidFill>
              </a:rPr>
            </a:br>
            <a:r>
              <a:rPr lang="en-US" sz="1460" kern="0" spc="-80" dirty="0">
                <a:solidFill>
                  <a:schemeClr val="accent2"/>
                </a:solidFill>
              </a:rPr>
              <a:t>Workload Orchestration:</a:t>
            </a:r>
            <a:r>
              <a:rPr lang="en-US" sz="1460" kern="0" spc="-80" dirty="0">
                <a:solidFill>
                  <a:schemeClr val="accent6"/>
                </a:solidFill>
              </a:rPr>
              <a:t> Managing and governing the deployment and execution of workloads and applications.</a:t>
            </a:r>
            <a:br>
              <a:rPr lang="en-US" sz="1460" kern="0" spc="-80" dirty="0">
                <a:solidFill>
                  <a:schemeClr val="accent6"/>
                </a:solidFill>
              </a:rPr>
            </a:br>
            <a:r>
              <a:rPr lang="en-US" sz="1460" kern="0" spc="-80" dirty="0">
                <a:solidFill>
                  <a:schemeClr val="accent2"/>
                </a:solidFill>
              </a:rPr>
              <a:t>Security:</a:t>
            </a:r>
            <a:r>
              <a:rPr lang="en-US" sz="1460" kern="0" spc="-80" dirty="0">
                <a:solidFill>
                  <a:schemeClr val="accent6"/>
                </a:solidFill>
              </a:rPr>
              <a:t> Implementing AuthN and </a:t>
            </a:r>
            <a:r>
              <a:rPr lang="en-US" sz="1460" kern="0" spc="-80" dirty="0" err="1">
                <a:solidFill>
                  <a:schemeClr val="accent6"/>
                </a:solidFill>
              </a:rPr>
              <a:t>AuthZ</a:t>
            </a:r>
            <a:r>
              <a:rPr lang="en-US" sz="1460" kern="0" spc="-80" dirty="0">
                <a:solidFill>
                  <a:schemeClr val="accent6"/>
                </a:solidFill>
              </a:rPr>
              <a:t> policies to control access to resources and ensure compliance.</a:t>
            </a:r>
            <a:br>
              <a:rPr lang="en-US" sz="1460" kern="0" spc="-80" dirty="0">
                <a:solidFill>
                  <a:schemeClr val="accent6"/>
                </a:solidFill>
              </a:rPr>
            </a:br>
            <a:r>
              <a:rPr lang="en-US" sz="1460" kern="0" spc="-80" dirty="0">
                <a:solidFill>
                  <a:schemeClr val="accent2"/>
                </a:solidFill>
              </a:rPr>
              <a:t>Compliance:</a:t>
            </a:r>
            <a:r>
              <a:rPr lang="en-US" sz="1460" kern="0" spc="-80" dirty="0">
                <a:solidFill>
                  <a:schemeClr val="accent6"/>
                </a:solidFill>
              </a:rPr>
              <a:t> Automating the enforcement of regulatory and organizational compliance requirements.</a:t>
            </a:r>
            <a:br>
              <a:rPr lang="en-US" sz="1460" kern="0" spc="-80" dirty="0">
                <a:solidFill>
                  <a:schemeClr val="accent6"/>
                </a:solidFill>
              </a:rPr>
            </a:br>
            <a:r>
              <a:rPr lang="en-US" sz="1460" kern="0" spc="-80" dirty="0">
                <a:solidFill>
                  <a:schemeClr val="accent2"/>
                </a:solidFill>
              </a:rPr>
              <a:t>Cost Management:</a:t>
            </a:r>
            <a:r>
              <a:rPr lang="en-US" sz="1460" kern="0" spc="-80" dirty="0">
                <a:solidFill>
                  <a:schemeClr val="accent6"/>
                </a:solidFill>
              </a:rPr>
              <a:t> Setting policies to control cloud spending and resource utilization.</a:t>
            </a:r>
            <a:br>
              <a:rPr lang="en-US" sz="1460" kern="0" spc="-80" dirty="0">
                <a:solidFill>
                  <a:schemeClr val="accent6"/>
                </a:solidFill>
              </a:rPr>
            </a:br>
            <a:r>
              <a:rPr lang="en-US" sz="1460" kern="0" spc="-80" dirty="0">
                <a:solidFill>
                  <a:schemeClr val="accent2"/>
                </a:solidFill>
              </a:rPr>
              <a:t>Why it Extends Beyond Security:</a:t>
            </a:r>
            <a:br>
              <a:rPr lang="en-US" sz="1460" kern="0" spc="-80" dirty="0">
                <a:solidFill>
                  <a:schemeClr val="accent6"/>
                </a:solidFill>
              </a:rPr>
            </a:br>
            <a:r>
              <a:rPr lang="en-US" sz="1460" kern="0" spc="-80" dirty="0">
                <a:solidFill>
                  <a:schemeClr val="accent6"/>
                </a:solidFill>
              </a:rPr>
              <a:t>The term "policy as code" signifies the process of defining, managing, and versioning any kind of policy using code, similar to how software is developed. </a:t>
            </a:r>
          </a:p>
          <a:p>
            <a:pPr marL="12700" marR="5080"/>
            <a:r>
              <a:rPr lang="en-US" sz="1460" kern="0" spc="-80" dirty="0">
                <a:solidFill>
                  <a:schemeClr val="accent2"/>
                </a:solidFill>
              </a:rPr>
              <a:t>This allows for:</a:t>
            </a:r>
            <a:br>
              <a:rPr lang="en-US" sz="1460" kern="0" spc="-80" dirty="0">
                <a:solidFill>
                  <a:schemeClr val="accent6"/>
                </a:solidFill>
              </a:rPr>
            </a:br>
            <a:r>
              <a:rPr lang="en-US" sz="1460" kern="0" spc="-80" dirty="0">
                <a:solidFill>
                  <a:schemeClr val="accent2"/>
                </a:solidFill>
              </a:rPr>
              <a:t>Automation: </a:t>
            </a:r>
            <a:r>
              <a:rPr lang="en-US" sz="1460" kern="0" spc="-80" dirty="0">
                <a:solidFill>
                  <a:schemeClr val="accent6"/>
                </a:solidFill>
              </a:rPr>
              <a:t>Policies are automatically enforced, reducing manual effort and human error.</a:t>
            </a:r>
            <a:br>
              <a:rPr lang="en-US" sz="1460" kern="0" spc="-80" dirty="0">
                <a:solidFill>
                  <a:schemeClr val="accent6"/>
                </a:solidFill>
              </a:rPr>
            </a:br>
            <a:r>
              <a:rPr lang="en-US" sz="1460" kern="0" spc="-80" dirty="0">
                <a:solidFill>
                  <a:schemeClr val="accent2"/>
                </a:solidFill>
              </a:rPr>
              <a:t>Version Control: </a:t>
            </a:r>
            <a:r>
              <a:rPr lang="en-US" sz="1460" kern="0" spc="-80" dirty="0">
                <a:solidFill>
                  <a:schemeClr val="accent6"/>
                </a:solidFill>
              </a:rPr>
              <a:t>Policies can be tracked, audited, and rolled back to previous versions, just like code.</a:t>
            </a:r>
            <a:br>
              <a:rPr lang="en-US" sz="1460" kern="0" spc="-80" dirty="0">
                <a:solidFill>
                  <a:schemeClr val="accent6"/>
                </a:solidFill>
              </a:rPr>
            </a:br>
            <a:r>
              <a:rPr lang="en-US" sz="1460" kern="0" spc="-80" dirty="0">
                <a:solidFill>
                  <a:schemeClr val="accent2"/>
                </a:solidFill>
              </a:rPr>
              <a:t>Scalability:</a:t>
            </a:r>
            <a:r>
              <a:rPr lang="en-US" sz="1460" kern="0" spc="-80" dirty="0">
                <a:solidFill>
                  <a:schemeClr val="accent6"/>
                </a:solidFill>
              </a:rPr>
              <a:t> Policies can be applied consistently across large and complex infrastructures.</a:t>
            </a:r>
            <a:br>
              <a:rPr lang="en-US" sz="1460" kern="0" spc="-80" dirty="0">
                <a:solidFill>
                  <a:schemeClr val="accent6"/>
                </a:solidFill>
              </a:rPr>
            </a:br>
            <a:r>
              <a:rPr lang="en-US" sz="1460" kern="0" spc="-80" dirty="0">
                <a:solidFill>
                  <a:schemeClr val="accent2"/>
                </a:solidFill>
              </a:rPr>
              <a:t>Flexibility:</a:t>
            </a:r>
            <a:r>
              <a:rPr lang="en-US" sz="1460" kern="0" spc="-80" dirty="0">
                <a:solidFill>
                  <a:schemeClr val="accent6"/>
                </a:solidFill>
              </a:rPr>
              <a:t> The same framework can be used for various operational concerns, not just security.</a:t>
            </a:r>
          </a:p>
        </p:txBody>
      </p:sp>
      <p:sp>
        <p:nvSpPr>
          <p:cNvPr id="7" name="object 2">
            <a:extLst>
              <a:ext uri="{FF2B5EF4-FFF2-40B4-BE49-F238E27FC236}">
                <a16:creationId xmlns:a16="http://schemas.microsoft.com/office/drawing/2014/main" id="{4A26C91D-A50F-E8A9-A335-8E2D7835DA5D}"/>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42B385FC-0B5C-2E6F-44C4-EC1D1E709B50}"/>
              </a:ext>
            </a:extLst>
          </p:cNvPr>
          <p:cNvSpPr txBox="1">
            <a:spLocks/>
          </p:cNvSpPr>
          <p:nvPr/>
        </p:nvSpPr>
        <p:spPr>
          <a:xfrm>
            <a:off x="0" y="4881771"/>
            <a:ext cx="8624937" cy="10618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IN" sz="1500" dirty="0">
                <a:hlinkClick r:id="rId7"/>
              </a:rPr>
              <a:t>What is Policy-as-Code? | </a:t>
            </a:r>
            <a:r>
              <a:rPr lang="en-IN" sz="1500" dirty="0" err="1">
                <a:hlinkClick r:id="rId7"/>
              </a:rPr>
              <a:t>Sysdig</a:t>
            </a:r>
            <a:endParaRPr lang="en-IN" sz="1500" dirty="0"/>
          </a:p>
          <a:p>
            <a:pPr marL="12700" marR="5080"/>
            <a:r>
              <a:rPr lang="en-US" sz="1500" dirty="0">
                <a:hlinkClick r:id="rId8"/>
              </a:rPr>
              <a:t>Infrastructure as Code Testing with Azure Policy | Microsoft Community Hub</a:t>
            </a:r>
            <a:endParaRPr lang="en-US" sz="1500" dirty="0"/>
          </a:p>
          <a:p>
            <a:pPr marL="12700" marR="5080"/>
            <a:r>
              <a:rPr lang="en-US" sz="1500" dirty="0">
                <a:hlinkClick r:id="rId9"/>
              </a:rPr>
              <a:t>Policy Design in the Age of Digital Adoption | Cloud &amp; Networking | Print</a:t>
            </a:r>
            <a:endParaRPr lang="en-US" sz="1500" dirty="0"/>
          </a:p>
        </p:txBody>
      </p:sp>
    </p:spTree>
    <p:extLst>
      <p:ext uri="{BB962C8B-B14F-4D97-AF65-F5344CB8AC3E}">
        <p14:creationId xmlns:p14="http://schemas.microsoft.com/office/powerpoint/2010/main" val="307544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0" y="6096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DevOps</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pic>
        <p:nvPicPr>
          <p:cNvPr id="44034" name="Picture 2" descr="Popular Deployment Strategies &amp; Pattern - DevOpsSchool.com">
            <a:extLst>
              <a:ext uri="{FF2B5EF4-FFF2-40B4-BE49-F238E27FC236}">
                <a16:creationId xmlns:a16="http://schemas.microsoft.com/office/drawing/2014/main" id="{1C48B460-51B0-62B1-7040-349EEEB9C4D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575" y="954606"/>
            <a:ext cx="8996362" cy="3546909"/>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B0923AFF-DF9F-5E71-1B66-077E475D5C4C}"/>
              </a:ext>
            </a:extLst>
          </p:cNvPr>
          <p:cNvSpPr txBox="1">
            <a:spLocks/>
          </p:cNvSpPr>
          <p:nvPr/>
        </p:nvSpPr>
        <p:spPr>
          <a:xfrm>
            <a:off x="0" y="4604772"/>
            <a:ext cx="8624937" cy="13388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6"/>
                </a:solidFill>
              </a:rPr>
              <a:t>K8s supports most of the deployment strategies above.</a:t>
            </a:r>
          </a:p>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600" dirty="0">
                <a:hlinkClick r:id="rId8"/>
              </a:rPr>
              <a:t>Achieve Zero-Downtime Deployment: Strategies and Best Practices</a:t>
            </a:r>
            <a:endParaRPr lang="en-US" sz="1600" dirty="0"/>
          </a:p>
          <a:p>
            <a:pPr marL="12700" marR="5080"/>
            <a:r>
              <a:rPr lang="en-US" sz="1600" dirty="0">
                <a:hlinkClick r:id="rId9"/>
              </a:rPr>
              <a:t>Zero Downtime Deployment with a Database</a:t>
            </a:r>
            <a:endParaRPr lang="en-US" sz="1600" dirty="0"/>
          </a:p>
          <a:p>
            <a:pPr marL="12700" marR="5080"/>
            <a:r>
              <a:rPr lang="en-US" sz="1600" dirty="0">
                <a:hlinkClick r:id="rId10"/>
              </a:rPr>
              <a:t>Azure APIM ARM deployment and ongoing traffic - Microsoft Q&amp;A</a:t>
            </a:r>
            <a:endParaRPr lang="en-US" sz="1500" dirty="0"/>
          </a:p>
        </p:txBody>
      </p:sp>
    </p:spTree>
    <p:extLst>
      <p:ext uri="{BB962C8B-B14F-4D97-AF65-F5344CB8AC3E}">
        <p14:creationId xmlns:p14="http://schemas.microsoft.com/office/powerpoint/2010/main" val="2000489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7E7D5-72A0-DC18-9996-B75070FB36E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738706C-FA31-15E6-A84F-9090A5642DE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DB78D89-ACD4-5DBE-AE6D-5154D1259FE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3616153-5A3C-B5FD-95E1-F4AC4543674C}"/>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9963ECE-32DE-8715-B5A6-4E7C7EA6A5E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E9E6363-11F3-B484-5EFC-1E23C72872F3}"/>
              </a:ext>
            </a:extLst>
          </p:cNvPr>
          <p:cNvSpPr txBox="1">
            <a:spLocks/>
          </p:cNvSpPr>
          <p:nvPr/>
        </p:nvSpPr>
        <p:spPr>
          <a:xfrm>
            <a:off x="0" y="609600"/>
            <a:ext cx="8915399"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APIOps</a:t>
            </a:r>
            <a:endParaRPr lang="en-US" sz="2400" kern="0" spc="-80" dirty="0">
              <a:solidFill>
                <a:schemeClr val="accent2"/>
              </a:solidFill>
            </a:endParaRPr>
          </a:p>
          <a:p>
            <a:pPr marL="12700" marR="5080"/>
            <a:r>
              <a:rPr lang="en-US" sz="2400" kern="0" spc="-80" dirty="0">
                <a:solidFill>
                  <a:schemeClr val="accent2"/>
                </a:solidFill>
              </a:rPr>
              <a:t>✅ </a:t>
            </a:r>
            <a:r>
              <a:rPr lang="en-US" sz="1460" kern="0" spc="-80" dirty="0">
                <a:solidFill>
                  <a:schemeClr val="accent6"/>
                </a:solidFill>
              </a:rPr>
              <a:t>What is </a:t>
            </a:r>
            <a:r>
              <a:rPr lang="en-US" sz="1460" kern="0" spc="-80" dirty="0" err="1">
                <a:solidFill>
                  <a:schemeClr val="accent6"/>
                </a:solidFill>
              </a:rPr>
              <a:t>APIOps</a:t>
            </a:r>
            <a:r>
              <a:rPr lang="en-US" sz="1460" kern="0" spc="-80" dirty="0">
                <a:solidFill>
                  <a:schemeClr val="accent6"/>
                </a:solidFill>
              </a:rPr>
              <a:t>?</a:t>
            </a:r>
          </a:p>
          <a:p>
            <a:pPr marL="12700" marR="5080"/>
            <a:r>
              <a:rPr lang="en-US" sz="1460" kern="0" spc="-80" dirty="0" err="1">
                <a:solidFill>
                  <a:schemeClr val="accent6"/>
                </a:solidFill>
              </a:rPr>
              <a:t>APIOps</a:t>
            </a:r>
            <a:r>
              <a:rPr lang="en-US" sz="1460" kern="0" spc="-80" dirty="0">
                <a:solidFill>
                  <a:schemeClr val="accent6"/>
                </a:solidFill>
              </a:rPr>
              <a:t> is to APIs what DevOps is to software.</a:t>
            </a:r>
          </a:p>
          <a:p>
            <a:pPr marL="12700" marR="5080"/>
            <a:r>
              <a:rPr lang="en-US" sz="1460" kern="0" spc="-80" dirty="0">
                <a:solidFill>
                  <a:schemeClr val="accent6"/>
                </a:solidFill>
              </a:rPr>
              <a:t>DevOps = Automate building &amp; deploying code.</a:t>
            </a:r>
          </a:p>
          <a:p>
            <a:pPr marL="12700" marR="5080"/>
            <a:r>
              <a:rPr lang="en-US" sz="1460" kern="0" spc="-80" dirty="0" err="1">
                <a:solidFill>
                  <a:schemeClr val="accent6"/>
                </a:solidFill>
              </a:rPr>
              <a:t>APIOps</a:t>
            </a:r>
            <a:r>
              <a:rPr lang="en-US" sz="1460" kern="0" spc="-80" dirty="0">
                <a:solidFill>
                  <a:schemeClr val="accent6"/>
                </a:solidFill>
              </a:rPr>
              <a:t> = Automate designing, publishing &amp; managing APIs.</a:t>
            </a:r>
          </a:p>
          <a:p>
            <a:pPr marL="12700" marR="5080"/>
            <a:r>
              <a:rPr lang="en-US" sz="1460" kern="0" spc="-80" dirty="0">
                <a:solidFill>
                  <a:schemeClr val="accent2"/>
                </a:solidFill>
              </a:rPr>
              <a:t>Think of </a:t>
            </a:r>
            <a:r>
              <a:rPr lang="en-US" sz="1460" kern="0" spc="-80" dirty="0" err="1">
                <a:solidFill>
                  <a:schemeClr val="accent2"/>
                </a:solidFill>
              </a:rPr>
              <a:t>APIOps</a:t>
            </a:r>
            <a:r>
              <a:rPr lang="en-US" sz="1460" kern="0" spc="-80" dirty="0">
                <a:solidFill>
                  <a:schemeClr val="accent2"/>
                </a:solidFill>
              </a:rPr>
              <a:t> as:</a:t>
            </a:r>
          </a:p>
          <a:p>
            <a:pPr marL="12700" marR="5080"/>
            <a:r>
              <a:rPr lang="en-US" sz="1460" kern="0" spc="-80" dirty="0">
                <a:solidFill>
                  <a:schemeClr val="accent6"/>
                </a:solidFill>
              </a:rPr>
              <a:t>A repeatable, automated, version-controlled workflow to design, test, secure, deploy, and govern APIs.</a:t>
            </a:r>
          </a:p>
          <a:p>
            <a:pPr marL="12700" marR="5080"/>
            <a:endParaRPr lang="en-US" sz="1460" kern="0" spc="-80" dirty="0">
              <a:solidFill>
                <a:schemeClr val="accent6"/>
              </a:solidFill>
            </a:endParaRPr>
          </a:p>
          <a:p>
            <a:pPr marL="12700" marR="5080"/>
            <a:r>
              <a:rPr lang="en-US" sz="1460" kern="0" spc="-80" dirty="0">
                <a:solidFill>
                  <a:schemeClr val="accent2"/>
                </a:solidFill>
              </a:rPr>
              <a:t>🤔 Why Was </a:t>
            </a:r>
            <a:r>
              <a:rPr lang="en-US" sz="1460" kern="0" spc="-80" dirty="0" err="1">
                <a:solidFill>
                  <a:schemeClr val="accent2"/>
                </a:solidFill>
              </a:rPr>
              <a:t>APIOps</a:t>
            </a:r>
            <a:r>
              <a:rPr lang="en-US" sz="1460" kern="0" spc="-80" dirty="0">
                <a:solidFill>
                  <a:schemeClr val="accent2"/>
                </a:solidFill>
              </a:rPr>
              <a:t> Needed?</a:t>
            </a:r>
          </a:p>
          <a:p>
            <a:pPr marL="12700" marR="5080"/>
            <a:r>
              <a:rPr lang="en-US" sz="1460" kern="0" spc="-80" dirty="0">
                <a:solidFill>
                  <a:schemeClr val="accent2"/>
                </a:solidFill>
              </a:rPr>
              <a:t>Traditional APIs were deployed like this:</a:t>
            </a:r>
          </a:p>
          <a:p>
            <a:pPr marL="12700" marR="5080"/>
            <a:r>
              <a:rPr lang="en-US" sz="1460" kern="0" spc="-80" dirty="0">
                <a:solidFill>
                  <a:schemeClr val="accent6"/>
                </a:solidFill>
              </a:rPr>
              <a:t>Developer writes API code</a:t>
            </a:r>
          </a:p>
          <a:p>
            <a:pPr marL="12700" marR="5080"/>
            <a:r>
              <a:rPr lang="en-US" sz="1460" kern="0" spc="-80" dirty="0">
                <a:solidFill>
                  <a:schemeClr val="accent6"/>
                </a:solidFill>
              </a:rPr>
              <a:t>Writes documentation later (maybe 😅)</a:t>
            </a:r>
          </a:p>
          <a:p>
            <a:pPr marL="12700" marR="5080"/>
            <a:r>
              <a:rPr lang="en-US" sz="1460" kern="0" spc="-80" dirty="0">
                <a:solidFill>
                  <a:schemeClr val="accent6"/>
                </a:solidFill>
              </a:rPr>
              <a:t>Manually configures gateway policies</a:t>
            </a:r>
          </a:p>
          <a:p>
            <a:pPr marL="12700" marR="5080"/>
            <a:r>
              <a:rPr lang="en-US" sz="1460" kern="0" spc="-80" dirty="0">
                <a:solidFill>
                  <a:schemeClr val="accent6"/>
                </a:solidFill>
              </a:rPr>
              <a:t>Pushes to production</a:t>
            </a:r>
          </a:p>
          <a:p>
            <a:pPr marL="12700" marR="5080"/>
            <a:r>
              <a:rPr lang="en-US" sz="1460" kern="0" spc="-80" dirty="0">
                <a:solidFill>
                  <a:schemeClr val="accent6"/>
                </a:solidFill>
              </a:rPr>
              <a:t>Teams struggle to maintain consistency</a:t>
            </a:r>
          </a:p>
          <a:p>
            <a:pPr marL="12700" marR="5080"/>
            <a:r>
              <a:rPr lang="en-US" sz="1460" kern="0" spc="-80" dirty="0">
                <a:solidFill>
                  <a:schemeClr val="accent2"/>
                </a:solidFill>
              </a:rPr>
              <a:t>This causes:</a:t>
            </a:r>
          </a:p>
          <a:p>
            <a:pPr marL="12700" marR="5080"/>
            <a:r>
              <a:rPr lang="en-US" sz="1460" kern="0" spc="-80" dirty="0">
                <a:solidFill>
                  <a:schemeClr val="accent6"/>
                </a:solidFill>
              </a:rPr>
              <a:t>Different APIs behave differently</a:t>
            </a:r>
          </a:p>
          <a:p>
            <a:pPr marL="12700" marR="5080"/>
            <a:r>
              <a:rPr lang="en-US" sz="1460" kern="0" spc="-80" dirty="0">
                <a:solidFill>
                  <a:schemeClr val="accent6"/>
                </a:solidFill>
              </a:rPr>
              <a:t>Security policies are inconsistent</a:t>
            </a:r>
          </a:p>
          <a:p>
            <a:pPr marL="12700" marR="5080"/>
            <a:r>
              <a:rPr lang="en-US" sz="1460" kern="0" spc="-80" dirty="0">
                <a:solidFill>
                  <a:schemeClr val="accent6"/>
                </a:solidFill>
              </a:rPr>
              <a:t>Breaking changes happen silently</a:t>
            </a:r>
          </a:p>
          <a:p>
            <a:pPr marL="12700" marR="5080"/>
            <a:r>
              <a:rPr lang="en-US" sz="1460" kern="0" spc="-80" dirty="0">
                <a:solidFill>
                  <a:schemeClr val="accent6"/>
                </a:solidFill>
              </a:rPr>
              <a:t>Nobody knows which version does what</a:t>
            </a:r>
          </a:p>
          <a:p>
            <a:pPr marL="12700" marR="5080"/>
            <a:r>
              <a:rPr lang="en-US" sz="1460" kern="0" spc="-80" dirty="0">
                <a:solidFill>
                  <a:schemeClr val="accent6"/>
                </a:solidFill>
              </a:rPr>
              <a:t>Time to market is slow</a:t>
            </a:r>
          </a:p>
          <a:p>
            <a:pPr marL="12700" marR="5080"/>
            <a:r>
              <a:rPr lang="en-US" sz="1460" kern="0" spc="-80" dirty="0" err="1">
                <a:solidFill>
                  <a:schemeClr val="accent6"/>
                </a:solidFill>
              </a:rPr>
              <a:t>APIOps</a:t>
            </a:r>
            <a:r>
              <a:rPr lang="en-US" sz="1460" kern="0" spc="-80" dirty="0">
                <a:solidFill>
                  <a:schemeClr val="accent6"/>
                </a:solidFill>
              </a:rPr>
              <a:t> solves this by standardizing and automating the entire lifecycle.</a:t>
            </a:r>
          </a:p>
        </p:txBody>
      </p:sp>
      <p:sp>
        <p:nvSpPr>
          <p:cNvPr id="7" name="object 2">
            <a:extLst>
              <a:ext uri="{FF2B5EF4-FFF2-40B4-BE49-F238E27FC236}">
                <a16:creationId xmlns:a16="http://schemas.microsoft.com/office/drawing/2014/main" id="{0D92070D-D2C3-DDE2-3A76-38F5EC2EFBA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Tree>
    <p:extLst>
      <p:ext uri="{BB962C8B-B14F-4D97-AF65-F5344CB8AC3E}">
        <p14:creationId xmlns:p14="http://schemas.microsoft.com/office/powerpoint/2010/main" val="1328551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9AF0-C307-EAC3-BD9C-6B70E010762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613E2BA-F958-F759-3206-2FE7228DBC9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8D81C98-0038-E2EB-9236-FB46B7006DE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907778A-955C-2D2D-50E5-93A2E2FE117E}"/>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AC0D820-5AE8-12B2-2EBE-F09C6087E17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4EA447E-D5CE-0F51-B150-F650599AEB1B}"/>
              </a:ext>
            </a:extLst>
          </p:cNvPr>
          <p:cNvSpPr txBox="1">
            <a:spLocks/>
          </p:cNvSpPr>
          <p:nvPr/>
        </p:nvSpPr>
        <p:spPr>
          <a:xfrm>
            <a:off x="0" y="609600"/>
            <a:ext cx="8915399" cy="23914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APIOps</a:t>
            </a:r>
            <a:endParaRPr lang="en-US" sz="2400" kern="0" spc="-80" dirty="0">
              <a:solidFill>
                <a:schemeClr val="accent2"/>
              </a:solidFill>
            </a:endParaRPr>
          </a:p>
          <a:p>
            <a:pPr marL="12700" marR="5080"/>
            <a:r>
              <a:rPr lang="en-US" sz="1460" kern="0" spc="-80" dirty="0">
                <a:solidFill>
                  <a:schemeClr val="accent2"/>
                </a:solidFill>
              </a:rPr>
              <a:t>🧠 Core Mindset Behind </a:t>
            </a:r>
            <a:r>
              <a:rPr lang="en-US" sz="1460" kern="0" spc="-80" dirty="0" err="1">
                <a:solidFill>
                  <a:schemeClr val="accent2"/>
                </a:solidFill>
              </a:rPr>
              <a:t>APIOps</a:t>
            </a:r>
            <a:endParaRPr lang="en-US" sz="1460" kern="0" spc="-80" dirty="0">
              <a:solidFill>
                <a:schemeClr val="accent2"/>
              </a:solidFill>
            </a:endParaRPr>
          </a:p>
          <a:p>
            <a:pPr marL="12700" marR="5080"/>
            <a:r>
              <a:rPr lang="en-US" sz="1460" kern="0" spc="-80" dirty="0">
                <a:solidFill>
                  <a:schemeClr val="accent6"/>
                </a:solidFill>
              </a:rPr>
              <a:t>Traditional API Development	          </a:t>
            </a:r>
            <a:r>
              <a:rPr lang="en-US" sz="1460" kern="0" spc="-80" dirty="0" err="1">
                <a:solidFill>
                  <a:schemeClr val="accent6"/>
                </a:solidFill>
              </a:rPr>
              <a:t>APIOps</a:t>
            </a:r>
            <a:r>
              <a:rPr lang="en-US" sz="1460" kern="0" spc="-80" dirty="0">
                <a:solidFill>
                  <a:schemeClr val="accent6"/>
                </a:solidFill>
              </a:rPr>
              <a:t> Way</a:t>
            </a:r>
          </a:p>
          <a:p>
            <a:pPr marL="12700" marR="5080"/>
            <a:r>
              <a:rPr lang="en-US" sz="1460" kern="0" spc="-80" dirty="0">
                <a:solidFill>
                  <a:schemeClr val="accent6"/>
                </a:solidFill>
              </a:rPr>
              <a:t>Manual configuration	          Automated pipelines</a:t>
            </a:r>
          </a:p>
          <a:p>
            <a:pPr marL="12700" marR="5080"/>
            <a:r>
              <a:rPr lang="en-US" sz="1460" kern="0" spc="-80" dirty="0">
                <a:solidFill>
                  <a:schemeClr val="accent6"/>
                </a:solidFill>
              </a:rPr>
              <a:t>Docs are afterthought	          API design-first</a:t>
            </a:r>
          </a:p>
          <a:p>
            <a:pPr marL="12700" marR="5080"/>
            <a:r>
              <a:rPr lang="en-US" sz="1460" kern="0" spc="-80" dirty="0">
                <a:solidFill>
                  <a:schemeClr val="accent6"/>
                </a:solidFill>
              </a:rPr>
              <a:t>Inconsistent policies	                             Central policy enforcement</a:t>
            </a:r>
          </a:p>
          <a:p>
            <a:pPr marL="12700" marR="5080"/>
            <a:r>
              <a:rPr lang="en-US" sz="1460" kern="0" spc="-80" dirty="0">
                <a:solidFill>
                  <a:schemeClr val="accent6"/>
                </a:solidFill>
              </a:rPr>
              <a:t>Hard to track changes	          Version-controlled API definitions</a:t>
            </a:r>
          </a:p>
          <a:p>
            <a:pPr marL="12700" marR="5080"/>
            <a:r>
              <a:rPr lang="en-US" sz="1460" kern="0" spc="-80" dirty="0">
                <a:solidFill>
                  <a:schemeClr val="accent6"/>
                </a:solidFill>
              </a:rPr>
              <a:t>Deployment is risky	Incremental, tested releases</a:t>
            </a:r>
          </a:p>
          <a:p>
            <a:pPr marL="12700" marR="5080"/>
            <a:endParaRPr lang="en-US" sz="1460" kern="0" spc="-80" dirty="0">
              <a:solidFill>
                <a:schemeClr val="accent6"/>
              </a:solidFill>
            </a:endParaRPr>
          </a:p>
          <a:p>
            <a:pPr marL="12700" marR="5080"/>
            <a:r>
              <a:rPr lang="en-US" sz="1460" kern="0" spc="-80" dirty="0">
                <a:solidFill>
                  <a:schemeClr val="accent2"/>
                </a:solidFill>
              </a:rPr>
              <a:t>🧱 The Three Pillars of </a:t>
            </a:r>
            <a:r>
              <a:rPr lang="en-US" sz="1460" kern="0" spc="-80" dirty="0" err="1">
                <a:solidFill>
                  <a:schemeClr val="accent2"/>
                </a:solidFill>
              </a:rPr>
              <a:t>APIOps</a:t>
            </a:r>
            <a:endParaRPr lang="en-US" sz="1460" kern="0" spc="-80" dirty="0">
              <a:solidFill>
                <a:schemeClr val="accent2"/>
              </a:solidFill>
            </a:endParaRPr>
          </a:p>
        </p:txBody>
      </p:sp>
      <p:sp>
        <p:nvSpPr>
          <p:cNvPr id="7" name="object 2">
            <a:extLst>
              <a:ext uri="{FF2B5EF4-FFF2-40B4-BE49-F238E27FC236}">
                <a16:creationId xmlns:a16="http://schemas.microsoft.com/office/drawing/2014/main" id="{A63DC108-A9C9-6A61-59C1-27E1279993E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graphicFrame>
        <p:nvGraphicFramePr>
          <p:cNvPr id="8" name="Table 7">
            <a:extLst>
              <a:ext uri="{FF2B5EF4-FFF2-40B4-BE49-F238E27FC236}">
                <a16:creationId xmlns:a16="http://schemas.microsoft.com/office/drawing/2014/main" id="{58CAE305-4A92-7E46-0B15-687D897A2EDF}"/>
              </a:ext>
            </a:extLst>
          </p:cNvPr>
          <p:cNvGraphicFramePr>
            <a:graphicFrameLocks noGrp="1"/>
          </p:cNvGraphicFramePr>
          <p:nvPr>
            <p:extLst>
              <p:ext uri="{D42A27DB-BD31-4B8C-83A1-F6EECF244321}">
                <p14:modId xmlns:p14="http://schemas.microsoft.com/office/powerpoint/2010/main" val="798049427"/>
              </p:ext>
            </p:extLst>
          </p:nvPr>
        </p:nvGraphicFramePr>
        <p:xfrm>
          <a:off x="138063" y="3077224"/>
          <a:ext cx="8915400" cy="2790176"/>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1690969337"/>
                    </a:ext>
                  </a:extLst>
                </a:gridCol>
                <a:gridCol w="2971800">
                  <a:extLst>
                    <a:ext uri="{9D8B030D-6E8A-4147-A177-3AD203B41FA5}">
                      <a16:colId xmlns:a16="http://schemas.microsoft.com/office/drawing/2014/main" val="2386306598"/>
                    </a:ext>
                  </a:extLst>
                </a:gridCol>
                <a:gridCol w="2971800">
                  <a:extLst>
                    <a:ext uri="{9D8B030D-6E8A-4147-A177-3AD203B41FA5}">
                      <a16:colId xmlns:a16="http://schemas.microsoft.com/office/drawing/2014/main" val="66783500"/>
                    </a:ext>
                  </a:extLst>
                </a:gridCol>
              </a:tblGrid>
              <a:tr h="403332">
                <a:tc>
                  <a:txBody>
                    <a:bodyPr/>
                    <a:lstStyle/>
                    <a:p>
                      <a:r>
                        <a:rPr lang="en-IN" dirty="0"/>
                        <a:t>Pillar</a:t>
                      </a:r>
                    </a:p>
                  </a:txBody>
                  <a:tcPr/>
                </a:tc>
                <a:tc>
                  <a:txBody>
                    <a:bodyPr/>
                    <a:lstStyle/>
                    <a:p>
                      <a:r>
                        <a:rPr lang="en-IN" dirty="0"/>
                        <a:t>Meaning</a:t>
                      </a:r>
                    </a:p>
                  </a:txBody>
                  <a:tcPr/>
                </a:tc>
                <a:tc>
                  <a:txBody>
                    <a:bodyPr/>
                    <a:lstStyle/>
                    <a:p>
                      <a:r>
                        <a:rPr lang="en-IN" dirty="0"/>
                        <a:t>Example Tools</a:t>
                      </a:r>
                    </a:p>
                  </a:txBody>
                  <a:tcPr/>
                </a:tc>
                <a:extLst>
                  <a:ext uri="{0D108BD9-81ED-4DB2-BD59-A6C34878D82A}">
                    <a16:rowId xmlns:a16="http://schemas.microsoft.com/office/drawing/2014/main" val="174657277"/>
                  </a:ext>
                </a:extLst>
              </a:tr>
              <a:tr h="696163">
                <a:tc>
                  <a:txBody>
                    <a:bodyPr/>
                    <a:lstStyle/>
                    <a:p>
                      <a:r>
                        <a:rPr lang="en-IN" dirty="0"/>
                        <a:t>Design-First</a:t>
                      </a:r>
                    </a:p>
                  </a:txBody>
                  <a:tcPr/>
                </a:tc>
                <a:tc>
                  <a:txBody>
                    <a:bodyPr/>
                    <a:lstStyle/>
                    <a:p>
                      <a:r>
                        <a:rPr lang="en-US" dirty="0"/>
                        <a:t>API contract written before implementation</a:t>
                      </a:r>
                      <a:endParaRPr lang="en-IN" dirty="0"/>
                    </a:p>
                  </a:txBody>
                  <a:tcPr/>
                </a:tc>
                <a:tc>
                  <a:txBody>
                    <a:bodyPr/>
                    <a:lstStyle/>
                    <a:p>
                      <a:r>
                        <a:rPr lang="en-IN" dirty="0" err="1"/>
                        <a:t>OpenAPI</a:t>
                      </a:r>
                      <a:r>
                        <a:rPr lang="en-IN" dirty="0"/>
                        <a:t>, Swagger, Postman Collections</a:t>
                      </a:r>
                    </a:p>
                  </a:txBody>
                  <a:tcPr/>
                </a:tc>
                <a:extLst>
                  <a:ext uri="{0D108BD9-81ED-4DB2-BD59-A6C34878D82A}">
                    <a16:rowId xmlns:a16="http://schemas.microsoft.com/office/drawing/2014/main" val="3384934793"/>
                  </a:ext>
                </a:extLst>
              </a:tr>
              <a:tr h="696163">
                <a:tc>
                  <a:txBody>
                    <a:bodyPr/>
                    <a:lstStyle/>
                    <a:p>
                      <a:r>
                        <a:rPr lang="en-IN" dirty="0" err="1"/>
                        <a:t>GitOps</a:t>
                      </a:r>
                      <a:r>
                        <a:rPr lang="en-IN" dirty="0"/>
                        <a:t> for API Objects</a:t>
                      </a:r>
                    </a:p>
                  </a:txBody>
                  <a:tcPr/>
                </a:tc>
                <a:tc>
                  <a:txBody>
                    <a:bodyPr/>
                    <a:lstStyle/>
                    <a:p>
                      <a:r>
                        <a:rPr lang="en-US" dirty="0"/>
                        <a:t>Treat API definitions as code stored in Git</a:t>
                      </a:r>
                      <a:endParaRPr lang="en-IN" dirty="0"/>
                    </a:p>
                  </a:txBody>
                  <a:tcPr/>
                </a:tc>
                <a:tc>
                  <a:txBody>
                    <a:bodyPr/>
                    <a:lstStyle/>
                    <a:p>
                      <a:r>
                        <a:rPr lang="en-IN" dirty="0"/>
                        <a:t>GitHub, GitLab, Bitbucket</a:t>
                      </a:r>
                    </a:p>
                    <a:p>
                      <a:endParaRPr lang="en-IN" dirty="0"/>
                    </a:p>
                  </a:txBody>
                  <a:tcPr/>
                </a:tc>
                <a:extLst>
                  <a:ext uri="{0D108BD9-81ED-4DB2-BD59-A6C34878D82A}">
                    <a16:rowId xmlns:a16="http://schemas.microsoft.com/office/drawing/2014/main" val="3445748172"/>
                  </a:ext>
                </a:extLst>
              </a:tr>
              <a:tr h="994518">
                <a:tc>
                  <a:txBody>
                    <a:bodyPr/>
                    <a:lstStyle/>
                    <a:p>
                      <a:r>
                        <a:rPr lang="en-IN" dirty="0"/>
                        <a:t>Automated API Release Pipelines</a:t>
                      </a:r>
                    </a:p>
                  </a:txBody>
                  <a:tcPr/>
                </a:tc>
                <a:tc>
                  <a:txBody>
                    <a:bodyPr/>
                    <a:lstStyle/>
                    <a:p>
                      <a:r>
                        <a:rPr lang="en-US" dirty="0"/>
                        <a:t>Deploy APIs using CI/CD pipelines</a:t>
                      </a:r>
                      <a:endParaRPr lang="en-IN" dirty="0"/>
                    </a:p>
                  </a:txBody>
                  <a:tcPr/>
                </a:tc>
                <a:tc>
                  <a:txBody>
                    <a:bodyPr/>
                    <a:lstStyle/>
                    <a:p>
                      <a:r>
                        <a:rPr lang="en-IN" dirty="0"/>
                        <a:t>Azure DevOps, GitHub Actions, Jenkins</a:t>
                      </a:r>
                    </a:p>
                    <a:p>
                      <a:endParaRPr lang="en-IN" dirty="0"/>
                    </a:p>
                  </a:txBody>
                  <a:tcPr/>
                </a:tc>
                <a:extLst>
                  <a:ext uri="{0D108BD9-81ED-4DB2-BD59-A6C34878D82A}">
                    <a16:rowId xmlns:a16="http://schemas.microsoft.com/office/drawing/2014/main" val="4081212319"/>
                  </a:ext>
                </a:extLst>
              </a:tr>
            </a:tbl>
          </a:graphicData>
        </a:graphic>
      </p:graphicFrame>
    </p:spTree>
    <p:extLst>
      <p:ext uri="{BB962C8B-B14F-4D97-AF65-F5344CB8AC3E}">
        <p14:creationId xmlns:p14="http://schemas.microsoft.com/office/powerpoint/2010/main" val="677735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223F8-A943-D523-C9E5-2B837B9508B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8B69671-5AE3-3562-B6CE-F1F7042D666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C4F0B33-08DC-28EF-BFDC-2A7F55E78A3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6E7CACC-49A8-F1D8-FCBA-74900E4644B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B23F64F-3219-3FF2-3601-196DBBD7376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5A2B221-023C-9E8A-D56E-5A19D49FF6A7}"/>
              </a:ext>
            </a:extLst>
          </p:cNvPr>
          <p:cNvSpPr txBox="1">
            <a:spLocks/>
          </p:cNvSpPr>
          <p:nvPr/>
        </p:nvSpPr>
        <p:spPr>
          <a:xfrm>
            <a:off x="0" y="609600"/>
            <a:ext cx="8915399" cy="553690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APIOps</a:t>
            </a:r>
            <a:endParaRPr lang="en-US" sz="2400" kern="0" spc="-80" dirty="0">
              <a:solidFill>
                <a:schemeClr val="accent2"/>
              </a:solidFill>
            </a:endParaRPr>
          </a:p>
          <a:p>
            <a:pPr marL="12700" marR="5080"/>
            <a:r>
              <a:rPr lang="en-US" sz="1460" kern="0" spc="-80" dirty="0">
                <a:solidFill>
                  <a:schemeClr val="accent2"/>
                </a:solidFill>
              </a:rPr>
              <a:t>🚦 The </a:t>
            </a:r>
            <a:r>
              <a:rPr lang="en-US" sz="1460" kern="0" spc="-80" dirty="0" err="1">
                <a:solidFill>
                  <a:schemeClr val="accent2"/>
                </a:solidFill>
              </a:rPr>
              <a:t>APIOps</a:t>
            </a:r>
            <a:r>
              <a:rPr lang="en-US" sz="1460" kern="0" spc="-80" dirty="0">
                <a:solidFill>
                  <a:schemeClr val="accent2"/>
                </a:solidFill>
              </a:rPr>
              <a:t> Lifecycle (Very Important)</a:t>
            </a:r>
          </a:p>
          <a:p>
            <a:pPr marL="12700" marR="5080"/>
            <a:r>
              <a:rPr lang="en-US" sz="1460" kern="0" spc="-80" dirty="0">
                <a:solidFill>
                  <a:schemeClr val="accent6"/>
                </a:solidFill>
              </a:rPr>
              <a:t>Design → Validate → Secure → Test → Publish → Monitor → Improve → Version → Repeat</a:t>
            </a:r>
          </a:p>
          <a:p>
            <a:pPr marL="12700" marR="5080"/>
            <a:r>
              <a:rPr lang="en-US" sz="1460" kern="0" spc="-80" dirty="0">
                <a:solidFill>
                  <a:schemeClr val="accent2"/>
                </a:solidFill>
              </a:rPr>
              <a:t>1. Design</a:t>
            </a:r>
          </a:p>
          <a:p>
            <a:pPr marL="12700" marR="5080"/>
            <a:r>
              <a:rPr lang="en-US" sz="1460" kern="0" spc="-80" dirty="0">
                <a:solidFill>
                  <a:schemeClr val="accent6"/>
                </a:solidFill>
              </a:rPr>
              <a:t>Write API spec in </a:t>
            </a:r>
            <a:r>
              <a:rPr lang="en-US" sz="1460" kern="0" spc="-80" dirty="0" err="1">
                <a:solidFill>
                  <a:schemeClr val="accent6"/>
                </a:solidFill>
              </a:rPr>
              <a:t>OpenAPI</a:t>
            </a:r>
            <a:r>
              <a:rPr lang="en-US" sz="1460" kern="0" spc="-80" dirty="0">
                <a:solidFill>
                  <a:schemeClr val="accent6"/>
                </a:solidFill>
              </a:rPr>
              <a:t> (YAML/JSON)</a:t>
            </a:r>
          </a:p>
          <a:p>
            <a:pPr marL="12700" marR="5080"/>
            <a:r>
              <a:rPr lang="en-US" sz="1460" kern="0" spc="-80" dirty="0">
                <a:solidFill>
                  <a:schemeClr val="accent6"/>
                </a:solidFill>
              </a:rPr>
              <a:t>Define endpoints, request/response schemas, error codes</a:t>
            </a:r>
          </a:p>
          <a:p>
            <a:pPr marL="12700" marR="5080"/>
            <a:r>
              <a:rPr lang="en-US" sz="1460" kern="0" spc="-80" dirty="0">
                <a:solidFill>
                  <a:schemeClr val="accent2"/>
                </a:solidFill>
              </a:rPr>
              <a:t>2. Validate</a:t>
            </a:r>
          </a:p>
          <a:p>
            <a:pPr marL="12700" marR="5080"/>
            <a:r>
              <a:rPr lang="en-US" sz="1460" kern="0" spc="-80" dirty="0">
                <a:solidFill>
                  <a:schemeClr val="accent6"/>
                </a:solidFill>
              </a:rPr>
              <a:t>Check naming conventions</a:t>
            </a:r>
          </a:p>
          <a:p>
            <a:pPr marL="12700" marR="5080"/>
            <a:r>
              <a:rPr lang="en-US" sz="1460" kern="0" spc="-80" dirty="0">
                <a:solidFill>
                  <a:schemeClr val="accent6"/>
                </a:solidFill>
              </a:rPr>
              <a:t>Enforce versioning strategy</a:t>
            </a:r>
          </a:p>
          <a:p>
            <a:pPr marL="12700" marR="5080"/>
            <a:r>
              <a:rPr lang="en-US" sz="1460" kern="0" spc="-80" dirty="0">
                <a:solidFill>
                  <a:schemeClr val="accent6"/>
                </a:solidFill>
              </a:rPr>
              <a:t>Ensure proper status codes</a:t>
            </a:r>
          </a:p>
          <a:p>
            <a:pPr marL="12700" marR="5080"/>
            <a:r>
              <a:rPr lang="en-US" sz="1460" kern="0" spc="-80" dirty="0">
                <a:solidFill>
                  <a:schemeClr val="accent6"/>
                </a:solidFill>
              </a:rPr>
              <a:t>Validate API structure automatically</a:t>
            </a:r>
          </a:p>
          <a:p>
            <a:pPr marL="12700" marR="5080"/>
            <a:r>
              <a:rPr lang="en-US" sz="1460" kern="0" spc="-80" dirty="0">
                <a:solidFill>
                  <a:schemeClr val="accent2"/>
                </a:solidFill>
              </a:rPr>
              <a:t>3. Secure</a:t>
            </a:r>
          </a:p>
          <a:p>
            <a:pPr marL="12700" marR="5080"/>
            <a:r>
              <a:rPr lang="en-US" sz="1460" kern="0" spc="-80" dirty="0">
                <a:solidFill>
                  <a:schemeClr val="accent6"/>
                </a:solidFill>
              </a:rPr>
              <a:t>Apply API gateway policies:</a:t>
            </a:r>
          </a:p>
          <a:p>
            <a:pPr marL="12700" marR="5080"/>
            <a:r>
              <a:rPr lang="en-US" sz="1460" kern="0" spc="-80" dirty="0">
                <a:solidFill>
                  <a:schemeClr val="accent6"/>
                </a:solidFill>
              </a:rPr>
              <a:t>Rate limiting</a:t>
            </a:r>
          </a:p>
          <a:p>
            <a:pPr marL="12700" marR="5080"/>
            <a:r>
              <a:rPr lang="en-US" sz="1460" kern="0" spc="-80" dirty="0">
                <a:solidFill>
                  <a:schemeClr val="accent6"/>
                </a:solidFill>
              </a:rPr>
              <a:t>JWT validation</a:t>
            </a:r>
          </a:p>
          <a:p>
            <a:pPr marL="12700" marR="5080"/>
            <a:r>
              <a:rPr lang="en-US" sz="1460" kern="0" spc="-80" dirty="0">
                <a:solidFill>
                  <a:schemeClr val="accent6"/>
                </a:solidFill>
              </a:rPr>
              <a:t>OAuth2 token enforcement</a:t>
            </a:r>
          </a:p>
          <a:p>
            <a:pPr marL="12700" marR="5080"/>
            <a:r>
              <a:rPr lang="en-US" sz="1460" kern="0" spc="-80" dirty="0">
                <a:solidFill>
                  <a:schemeClr val="accent6"/>
                </a:solidFill>
              </a:rPr>
              <a:t>IP allow/deny</a:t>
            </a:r>
          </a:p>
          <a:p>
            <a:pPr marL="12700" marR="5080"/>
            <a:r>
              <a:rPr lang="en-US" sz="1460" kern="0" spc="-80" dirty="0">
                <a:solidFill>
                  <a:schemeClr val="accent6"/>
                </a:solidFill>
              </a:rPr>
              <a:t>WAF integration</a:t>
            </a:r>
          </a:p>
          <a:p>
            <a:pPr marL="12700" marR="5080"/>
            <a:r>
              <a:rPr lang="en-US" sz="1460" kern="0" spc="-80" dirty="0">
                <a:solidFill>
                  <a:schemeClr val="accent2"/>
                </a:solidFill>
              </a:rPr>
              <a:t>4. Test</a:t>
            </a:r>
          </a:p>
          <a:p>
            <a:pPr marL="12700" marR="5080"/>
            <a:r>
              <a:rPr lang="en-US" sz="1460" kern="0" spc="-80" dirty="0">
                <a:solidFill>
                  <a:schemeClr val="accent6"/>
                </a:solidFill>
              </a:rPr>
              <a:t>Contract tests (Does API follow spec?)</a:t>
            </a:r>
          </a:p>
          <a:p>
            <a:pPr marL="12700" marR="5080"/>
            <a:r>
              <a:rPr lang="en-US" sz="1460" kern="0" spc="-80" dirty="0">
                <a:solidFill>
                  <a:schemeClr val="accent6"/>
                </a:solidFill>
              </a:rPr>
              <a:t>Functional tests (Does it behave correctly?)</a:t>
            </a:r>
          </a:p>
          <a:p>
            <a:pPr marL="12700" marR="5080"/>
            <a:r>
              <a:rPr lang="en-US" sz="1460" kern="0" spc="-80" dirty="0">
                <a:solidFill>
                  <a:schemeClr val="accent6"/>
                </a:solidFill>
              </a:rPr>
              <a:t>Performance tests (Does it scale?)</a:t>
            </a:r>
          </a:p>
          <a:p>
            <a:pPr marL="12700" marR="5080"/>
            <a:r>
              <a:rPr lang="en-US" sz="1460" kern="0" spc="-80" dirty="0">
                <a:solidFill>
                  <a:schemeClr val="accent2"/>
                </a:solidFill>
              </a:rPr>
              <a:t>5. Publish</a:t>
            </a:r>
          </a:p>
          <a:p>
            <a:pPr marL="12700" marR="5080"/>
            <a:endParaRPr lang="en-US" sz="1460" kern="0" spc="-80" dirty="0">
              <a:solidFill>
                <a:schemeClr val="accent6"/>
              </a:solidFill>
            </a:endParaRPr>
          </a:p>
        </p:txBody>
      </p:sp>
      <p:sp>
        <p:nvSpPr>
          <p:cNvPr id="7" name="object 2">
            <a:extLst>
              <a:ext uri="{FF2B5EF4-FFF2-40B4-BE49-F238E27FC236}">
                <a16:creationId xmlns:a16="http://schemas.microsoft.com/office/drawing/2014/main" id="{A8EDDD5C-E810-4D4E-2EDA-F698F75ADFD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Tree>
    <p:extLst>
      <p:ext uri="{BB962C8B-B14F-4D97-AF65-F5344CB8AC3E}">
        <p14:creationId xmlns:p14="http://schemas.microsoft.com/office/powerpoint/2010/main" val="2343161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170DC-9112-AB65-DC15-A5B0FBE6DE2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20759F2-4BA9-1361-40FA-021FAA2E090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A80321E-5770-3CB7-7E11-81A258B32F1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2A873E0-CC93-FCE9-BD0A-14BDAFEAC370}"/>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53EC074-F5B6-A36E-45BA-84DF034A31E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95247AA-7344-E05A-86B6-5254476F74A0}"/>
              </a:ext>
            </a:extLst>
          </p:cNvPr>
          <p:cNvSpPr txBox="1">
            <a:spLocks/>
          </p:cNvSpPr>
          <p:nvPr/>
        </p:nvSpPr>
        <p:spPr>
          <a:xfrm>
            <a:off x="1" y="542925"/>
            <a:ext cx="8915399" cy="553690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APIOps</a:t>
            </a:r>
            <a:endParaRPr lang="en-US" sz="2400" kern="0" spc="-80" dirty="0">
              <a:solidFill>
                <a:schemeClr val="accent2"/>
              </a:solidFill>
            </a:endParaRPr>
          </a:p>
          <a:p>
            <a:pPr marL="12700" marR="5080"/>
            <a:r>
              <a:rPr lang="en-US" sz="1460" kern="0" spc="-80" dirty="0">
                <a:solidFill>
                  <a:schemeClr val="accent2"/>
                </a:solidFill>
              </a:rPr>
              <a:t>Deploy to:</a:t>
            </a:r>
          </a:p>
          <a:p>
            <a:pPr marL="12700" marR="5080"/>
            <a:r>
              <a:rPr lang="en-US" sz="1460" kern="0" spc="-80" dirty="0">
                <a:solidFill>
                  <a:schemeClr val="accent6"/>
                </a:solidFill>
              </a:rPr>
              <a:t>Gateway (Azure APIM, Kong, Apigee, Nginx)</a:t>
            </a:r>
          </a:p>
          <a:p>
            <a:pPr marL="12700" marR="5080"/>
            <a:r>
              <a:rPr lang="en-US" sz="1460" kern="0" spc="-80" dirty="0">
                <a:solidFill>
                  <a:schemeClr val="accent6"/>
                </a:solidFill>
              </a:rPr>
              <a:t>Developer Portal (Docs are auto-generated!)</a:t>
            </a:r>
          </a:p>
          <a:p>
            <a:pPr marL="12700" marR="5080"/>
            <a:r>
              <a:rPr lang="en-US" sz="1460" kern="0" spc="-80" dirty="0">
                <a:solidFill>
                  <a:schemeClr val="accent2"/>
                </a:solidFill>
              </a:rPr>
              <a:t>6. Monitor</a:t>
            </a:r>
          </a:p>
          <a:p>
            <a:pPr marL="12700" marR="5080"/>
            <a:r>
              <a:rPr lang="en-US" sz="1460" kern="0" spc="-80" dirty="0">
                <a:solidFill>
                  <a:schemeClr val="accent6"/>
                </a:solidFill>
              </a:rPr>
              <a:t>Latency</a:t>
            </a:r>
          </a:p>
          <a:p>
            <a:pPr marL="12700" marR="5080"/>
            <a:r>
              <a:rPr lang="en-US" sz="1460" kern="0" spc="-80" dirty="0">
                <a:solidFill>
                  <a:schemeClr val="accent6"/>
                </a:solidFill>
              </a:rPr>
              <a:t>Errors per endpoint</a:t>
            </a:r>
          </a:p>
          <a:p>
            <a:pPr marL="12700" marR="5080"/>
            <a:r>
              <a:rPr lang="en-US" sz="1460" kern="0" spc="-80" dirty="0">
                <a:solidFill>
                  <a:schemeClr val="accent6"/>
                </a:solidFill>
              </a:rPr>
              <a:t>Traffic patterns</a:t>
            </a:r>
          </a:p>
          <a:p>
            <a:pPr marL="12700" marR="5080"/>
            <a:r>
              <a:rPr lang="en-US" sz="1460" kern="0" spc="-80" dirty="0">
                <a:solidFill>
                  <a:schemeClr val="accent2"/>
                </a:solidFill>
              </a:rPr>
              <a:t>7. Improve</a:t>
            </a:r>
          </a:p>
          <a:p>
            <a:pPr marL="12700" marR="5080"/>
            <a:r>
              <a:rPr lang="en-US" sz="1460" kern="0" spc="-80" dirty="0">
                <a:solidFill>
                  <a:schemeClr val="accent6"/>
                </a:solidFill>
              </a:rPr>
              <a:t>Use metrics + logs to refine usage</a:t>
            </a:r>
          </a:p>
          <a:p>
            <a:pPr marL="12700" marR="5080"/>
            <a:r>
              <a:rPr lang="en-US" sz="1460" kern="0" spc="-80" dirty="0">
                <a:solidFill>
                  <a:schemeClr val="accent2"/>
                </a:solidFill>
              </a:rPr>
              <a:t>8. Version</a:t>
            </a:r>
          </a:p>
          <a:p>
            <a:pPr marL="12700" marR="5080"/>
            <a:r>
              <a:rPr lang="en-US" sz="1460" kern="0" spc="-80" dirty="0">
                <a:solidFill>
                  <a:schemeClr val="accent6"/>
                </a:solidFill>
              </a:rPr>
              <a:t>Support parallel versions when breaking changes happen</a:t>
            </a:r>
          </a:p>
          <a:p>
            <a:pPr marL="12700" marR="5080"/>
            <a:r>
              <a:rPr lang="en-US" sz="1460" kern="0" spc="-80" dirty="0">
                <a:solidFill>
                  <a:schemeClr val="accent2"/>
                </a:solidFill>
              </a:rPr>
              <a:t>🔁 A Typical </a:t>
            </a:r>
            <a:r>
              <a:rPr lang="en-US" sz="1460" kern="0" spc="-80" dirty="0" err="1">
                <a:solidFill>
                  <a:schemeClr val="accent2"/>
                </a:solidFill>
              </a:rPr>
              <a:t>APIOps</a:t>
            </a:r>
            <a:r>
              <a:rPr lang="en-US" sz="1460" kern="0" spc="-80" dirty="0">
                <a:solidFill>
                  <a:schemeClr val="accent2"/>
                </a:solidFill>
              </a:rPr>
              <a:t> Pipeline (Concrete Example)</a:t>
            </a:r>
          </a:p>
          <a:p>
            <a:pPr marL="12700" marR="5080"/>
            <a:r>
              <a:rPr lang="en-US" sz="1460" kern="0" spc="-80" dirty="0">
                <a:solidFill>
                  <a:schemeClr val="accent6"/>
                </a:solidFill>
              </a:rPr>
              <a:t>When a developer commits </a:t>
            </a:r>
            <a:r>
              <a:rPr lang="en-US" sz="1460" kern="0" spc="-80" dirty="0" err="1">
                <a:solidFill>
                  <a:schemeClr val="accent6"/>
                </a:solidFill>
              </a:rPr>
              <a:t>openapi.yaml</a:t>
            </a:r>
            <a:r>
              <a:rPr lang="en-US" sz="1460" kern="0" spc="-80" dirty="0">
                <a:solidFill>
                  <a:schemeClr val="accent6"/>
                </a:solidFill>
              </a:rPr>
              <a:t> to Git —</a:t>
            </a:r>
          </a:p>
          <a:p>
            <a:pPr marL="12700" marR="5080"/>
            <a:r>
              <a:rPr lang="en-US" sz="1460" kern="0" spc="-80" dirty="0">
                <a:solidFill>
                  <a:schemeClr val="accent2"/>
                </a:solidFill>
              </a:rPr>
              <a:t>Step	Action	                                                                            Tool</a:t>
            </a:r>
          </a:p>
          <a:p>
            <a:pPr marL="12700" marR="5080"/>
            <a:r>
              <a:rPr lang="en-US" sz="1460" kern="0" spc="-80" dirty="0">
                <a:solidFill>
                  <a:schemeClr val="accent6"/>
                </a:solidFill>
              </a:rPr>
              <a:t>1	Lint spec	                                                                            Spectral, </a:t>
            </a:r>
            <a:r>
              <a:rPr lang="en-US" sz="1460" kern="0" spc="-80" dirty="0" err="1">
                <a:solidFill>
                  <a:schemeClr val="accent6"/>
                </a:solidFill>
              </a:rPr>
              <a:t>Redocly</a:t>
            </a:r>
            <a:endParaRPr lang="en-US" sz="1460" kern="0" spc="-80" dirty="0">
              <a:solidFill>
                <a:schemeClr val="accent6"/>
              </a:solidFill>
            </a:endParaRPr>
          </a:p>
          <a:p>
            <a:pPr marL="12700" marR="5080"/>
            <a:r>
              <a:rPr lang="en-US" sz="1460" kern="0" spc="-80" dirty="0">
                <a:solidFill>
                  <a:schemeClr val="accent6"/>
                </a:solidFill>
              </a:rPr>
              <a:t>2	Generate mock APIs	                                                          Prism / </a:t>
            </a:r>
            <a:r>
              <a:rPr lang="en-US" sz="1460" kern="0" spc="-80" dirty="0" err="1">
                <a:solidFill>
                  <a:schemeClr val="accent6"/>
                </a:solidFill>
              </a:rPr>
              <a:t>WireMock</a:t>
            </a:r>
            <a:endParaRPr lang="en-US" sz="1460" kern="0" spc="-80" dirty="0">
              <a:solidFill>
                <a:schemeClr val="accent6"/>
              </a:solidFill>
            </a:endParaRPr>
          </a:p>
          <a:p>
            <a:pPr marL="12700" marR="5080"/>
            <a:r>
              <a:rPr lang="en-US" sz="1460" kern="0" spc="-80" dirty="0">
                <a:solidFill>
                  <a:schemeClr val="accent6"/>
                </a:solidFill>
              </a:rPr>
              <a:t>3	Run contract tests	                                                          Postman/Newman</a:t>
            </a:r>
          </a:p>
          <a:p>
            <a:pPr marL="12700" marR="5080"/>
            <a:r>
              <a:rPr lang="en-US" sz="1460" kern="0" spc="-80" dirty="0">
                <a:solidFill>
                  <a:schemeClr val="accent6"/>
                </a:solidFill>
              </a:rPr>
              <a:t>4	Deploy to dev gateway                                                       CI/CD Pipeline</a:t>
            </a:r>
          </a:p>
          <a:p>
            <a:pPr marL="12700" marR="5080"/>
            <a:r>
              <a:rPr lang="en-US" sz="1460" kern="0" spc="-80" dirty="0">
                <a:solidFill>
                  <a:schemeClr val="accent6"/>
                </a:solidFill>
              </a:rPr>
              <a:t>5	Apply security policies automatically	                    APIM / Kong</a:t>
            </a:r>
          </a:p>
          <a:p>
            <a:pPr marL="12700" marR="5080"/>
            <a:r>
              <a:rPr lang="en-US" sz="1460" kern="0" spc="-80" dirty="0">
                <a:solidFill>
                  <a:schemeClr val="accent6"/>
                </a:solidFill>
              </a:rPr>
              <a:t>6	Run end-to-end smoke tests	                                       K6 / JMeter</a:t>
            </a:r>
          </a:p>
          <a:p>
            <a:pPr marL="355600" marR="5080" indent="-342900">
              <a:buAutoNum type="arabicPlain" startAt="7"/>
            </a:pPr>
            <a:r>
              <a:rPr lang="en-US" sz="1460" kern="0" spc="-80" dirty="0">
                <a:solidFill>
                  <a:schemeClr val="accent6"/>
                </a:solidFill>
              </a:rPr>
              <a:t>           Promote to staging/production after approval	 </a:t>
            </a:r>
            <a:r>
              <a:rPr lang="en-US" sz="1460" kern="0" spc="-80" dirty="0" err="1">
                <a:solidFill>
                  <a:schemeClr val="accent6"/>
                </a:solidFill>
              </a:rPr>
              <a:t>GitOps</a:t>
            </a:r>
            <a:r>
              <a:rPr lang="en-US" sz="1460" kern="0" spc="-80" dirty="0">
                <a:solidFill>
                  <a:schemeClr val="accent6"/>
                </a:solidFill>
              </a:rPr>
              <a:t> deployment workflow</a:t>
            </a:r>
          </a:p>
          <a:p>
            <a:pPr marL="355600" marR="5080" indent="-342900">
              <a:buFontTx/>
              <a:buAutoNum type="arabicPlain" startAt="7"/>
            </a:pPr>
            <a:r>
              <a:rPr lang="en-US" sz="1460" kern="0" spc="-80" dirty="0">
                <a:solidFill>
                  <a:schemeClr val="accent6"/>
                </a:solidFill>
              </a:rPr>
              <a:t>           Everything happens automatically                                    Consistent every time.</a:t>
            </a:r>
          </a:p>
          <a:p>
            <a:pPr marL="355600" marR="5080" indent="-342900">
              <a:buAutoNum type="arabicPlain" startAt="7"/>
            </a:pPr>
            <a:endParaRPr lang="en-US" sz="1460" kern="0" spc="-80" dirty="0">
              <a:solidFill>
                <a:schemeClr val="accent6"/>
              </a:solidFill>
            </a:endParaRPr>
          </a:p>
        </p:txBody>
      </p:sp>
      <p:sp>
        <p:nvSpPr>
          <p:cNvPr id="7" name="object 2">
            <a:extLst>
              <a:ext uri="{FF2B5EF4-FFF2-40B4-BE49-F238E27FC236}">
                <a16:creationId xmlns:a16="http://schemas.microsoft.com/office/drawing/2014/main" id="{9C312944-19F9-039B-C188-1EA06268F39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Tree>
    <p:extLst>
      <p:ext uri="{BB962C8B-B14F-4D97-AF65-F5344CB8AC3E}">
        <p14:creationId xmlns:p14="http://schemas.microsoft.com/office/powerpoint/2010/main" val="10727753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019B0-357E-C1B3-5BCA-1AB6B96EEB6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5BF7D41-7D6B-72FC-9550-BAA5AF483BA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D3ECD83-455B-9730-5A05-AA7910ED242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23942CA-51C6-D193-4D81-0759AB87F798}"/>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A7AB5B2-B61A-46ED-ED7A-5F64FF822E4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3EF674D-21FF-D46C-9D60-CD6B0B3E4A52}"/>
              </a:ext>
            </a:extLst>
          </p:cNvPr>
          <p:cNvSpPr txBox="1">
            <a:spLocks/>
          </p:cNvSpPr>
          <p:nvPr/>
        </p:nvSpPr>
        <p:spPr>
          <a:xfrm>
            <a:off x="0" y="609600"/>
            <a:ext cx="8915399" cy="531222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APIOps</a:t>
            </a:r>
            <a:endParaRPr lang="en-US" sz="2400" kern="0" spc="-80" dirty="0">
              <a:solidFill>
                <a:schemeClr val="accent2"/>
              </a:solidFill>
            </a:endParaRPr>
          </a:p>
          <a:p>
            <a:pPr marL="12700" marR="5080"/>
            <a:r>
              <a:rPr lang="en-US" sz="1460" kern="0" spc="-80" dirty="0">
                <a:solidFill>
                  <a:schemeClr val="accent2"/>
                </a:solidFill>
              </a:rPr>
              <a:t>🏛️ Governance in </a:t>
            </a:r>
            <a:r>
              <a:rPr lang="en-US" sz="1460" kern="0" spc="-80" dirty="0" err="1">
                <a:solidFill>
                  <a:schemeClr val="accent2"/>
                </a:solidFill>
              </a:rPr>
              <a:t>APIOps</a:t>
            </a:r>
            <a:endParaRPr lang="en-US" sz="1460" kern="0" spc="-80" dirty="0">
              <a:solidFill>
                <a:schemeClr val="accent2"/>
              </a:solidFill>
            </a:endParaRPr>
          </a:p>
          <a:p>
            <a:pPr marL="12700" marR="5080"/>
            <a:r>
              <a:rPr lang="en-US" sz="1460" kern="0" spc="-80" dirty="0">
                <a:solidFill>
                  <a:schemeClr val="accent2"/>
                </a:solidFill>
              </a:rPr>
              <a:t>Governance ensures all APIs follow rules:</a:t>
            </a:r>
          </a:p>
          <a:p>
            <a:pPr marL="12700" marR="5080"/>
            <a:r>
              <a:rPr lang="en-US" sz="1460" kern="0" spc="-80" dirty="0">
                <a:solidFill>
                  <a:schemeClr val="accent2"/>
                </a:solidFill>
              </a:rPr>
              <a:t>Policy Category	                                     Examples</a:t>
            </a:r>
          </a:p>
          <a:p>
            <a:pPr marL="12700" marR="5080"/>
            <a:r>
              <a:rPr lang="en-US" sz="1460" kern="0" spc="-80" dirty="0">
                <a:solidFill>
                  <a:schemeClr val="accent6"/>
                </a:solidFill>
              </a:rPr>
              <a:t>Naming	                                                        /customers/{id} not /</a:t>
            </a:r>
            <a:r>
              <a:rPr lang="en-US" sz="1460" kern="0" spc="-80" dirty="0" err="1">
                <a:solidFill>
                  <a:schemeClr val="accent6"/>
                </a:solidFill>
              </a:rPr>
              <a:t>getCustomerData</a:t>
            </a:r>
            <a:endParaRPr lang="en-US" sz="1460" kern="0" spc="-80" dirty="0">
              <a:solidFill>
                <a:schemeClr val="accent6"/>
              </a:solidFill>
            </a:endParaRPr>
          </a:p>
          <a:p>
            <a:pPr marL="12700" marR="5080"/>
            <a:r>
              <a:rPr lang="en-US" sz="1460" kern="0" spc="-80" dirty="0">
                <a:solidFill>
                  <a:schemeClr val="accent6"/>
                </a:solidFill>
              </a:rPr>
              <a:t>Versioning	                                     /v1/, /v2/</a:t>
            </a:r>
          </a:p>
          <a:p>
            <a:pPr marL="12700" marR="5080"/>
            <a:r>
              <a:rPr lang="en-US" sz="1460" kern="0" spc="-80" dirty="0">
                <a:solidFill>
                  <a:schemeClr val="accent6"/>
                </a:solidFill>
              </a:rPr>
              <a:t>Security	                                                        OAuth2 required on all production APIs</a:t>
            </a:r>
          </a:p>
          <a:p>
            <a:pPr marL="12700" marR="5080"/>
            <a:r>
              <a:rPr lang="en-US" sz="1460" kern="0" spc="-80" dirty="0">
                <a:solidFill>
                  <a:schemeClr val="accent6"/>
                </a:solidFill>
              </a:rPr>
              <a:t>Error Format	                                     Standard JSON error bodies</a:t>
            </a:r>
          </a:p>
          <a:p>
            <a:pPr marL="12700" marR="5080"/>
            <a:r>
              <a:rPr lang="en-US" sz="1460" kern="0" spc="-80" dirty="0">
                <a:solidFill>
                  <a:schemeClr val="accent6"/>
                </a:solidFill>
              </a:rPr>
              <a:t>Documentation	                                     Must auto-generate</a:t>
            </a:r>
          </a:p>
          <a:p>
            <a:pPr marL="12700" marR="5080"/>
            <a:r>
              <a:rPr lang="en-US" sz="1460" kern="0" spc="-80" dirty="0">
                <a:solidFill>
                  <a:schemeClr val="accent6"/>
                </a:solidFill>
              </a:rPr>
              <a:t>Governance is enforced through tools + pipelines, not meetings.</a:t>
            </a:r>
          </a:p>
          <a:p>
            <a:pPr marL="12700" marR="5080"/>
            <a:r>
              <a:rPr lang="en-US" sz="1460" kern="0" spc="-80" dirty="0">
                <a:solidFill>
                  <a:schemeClr val="accent2"/>
                </a:solidFill>
              </a:rPr>
              <a:t>🧰 Reference Architecture for </a:t>
            </a:r>
            <a:r>
              <a:rPr lang="en-US" sz="1460" kern="0" spc="-80" dirty="0" err="1">
                <a:solidFill>
                  <a:schemeClr val="accent2"/>
                </a:solidFill>
              </a:rPr>
              <a:t>APIOps</a:t>
            </a:r>
            <a:endParaRPr lang="en-US" sz="1460" kern="0" spc="-80" dirty="0">
              <a:solidFill>
                <a:schemeClr val="accent2"/>
              </a:solidFill>
            </a:endParaRPr>
          </a:p>
          <a:p>
            <a:pPr marL="12700" marR="5080"/>
            <a:r>
              <a:rPr lang="en-US" sz="1460" kern="0" spc="-80" dirty="0">
                <a:solidFill>
                  <a:schemeClr val="accent6"/>
                </a:solidFill>
              </a:rPr>
              <a:t>Developers → Git (API Spec) → CI Pipeline → API Linter → Tests</a:t>
            </a:r>
          </a:p>
          <a:p>
            <a:pPr marL="12700" marR="5080"/>
            <a:r>
              <a:rPr lang="en-US" sz="1460" kern="0" spc="-80" dirty="0">
                <a:solidFill>
                  <a:schemeClr val="accent6"/>
                </a:solidFill>
              </a:rPr>
              <a:t>                                       ↓</a:t>
            </a:r>
          </a:p>
          <a:p>
            <a:pPr marL="12700" marR="5080"/>
            <a:r>
              <a:rPr lang="en-US" sz="1460" kern="0" spc="-80" dirty="0">
                <a:solidFill>
                  <a:schemeClr val="accent6"/>
                </a:solidFill>
              </a:rPr>
              <a:t>                             API Gateway (APIM/Kong/Apigee)</a:t>
            </a:r>
          </a:p>
          <a:p>
            <a:pPr marL="12700" marR="5080"/>
            <a:r>
              <a:rPr lang="en-US" sz="1460" kern="0" spc="-80" dirty="0">
                <a:solidFill>
                  <a:schemeClr val="accent6"/>
                </a:solidFill>
              </a:rPr>
              <a:t>                                       ↓</a:t>
            </a:r>
          </a:p>
          <a:p>
            <a:pPr marL="12700" marR="5080"/>
            <a:r>
              <a:rPr lang="en-US" sz="1460" kern="0" spc="-80" dirty="0">
                <a:solidFill>
                  <a:schemeClr val="accent6"/>
                </a:solidFill>
              </a:rPr>
              <a:t>                              Developer Portal + Monitoring</a:t>
            </a:r>
          </a:p>
          <a:p>
            <a:pPr marL="12700" marR="5080"/>
            <a:r>
              <a:rPr lang="en-US" sz="1460" kern="0" spc="-80" dirty="0">
                <a:solidFill>
                  <a:schemeClr val="accent2"/>
                </a:solidFill>
              </a:rPr>
              <a:t>🎯 Practical Tools You Will Actually Use</a:t>
            </a:r>
          </a:p>
          <a:p>
            <a:pPr marL="12700" marR="5080"/>
            <a:r>
              <a:rPr lang="en-US" sz="1460" kern="0" spc="-80" dirty="0">
                <a:solidFill>
                  <a:schemeClr val="accent2"/>
                </a:solidFill>
              </a:rPr>
              <a:t>Function	                   Tools</a:t>
            </a:r>
          </a:p>
          <a:p>
            <a:pPr marL="12700" marR="5080"/>
            <a:r>
              <a:rPr lang="en-US" sz="1460" kern="0" spc="-80" dirty="0">
                <a:solidFill>
                  <a:schemeClr val="accent6"/>
                </a:solidFill>
              </a:rPr>
              <a:t>API Design	</a:t>
            </a:r>
            <a:r>
              <a:rPr lang="en-US" sz="1460" kern="0" spc="-80" dirty="0" err="1">
                <a:solidFill>
                  <a:schemeClr val="accent6"/>
                </a:solidFill>
              </a:rPr>
              <a:t>SwaggerHub</a:t>
            </a:r>
            <a:r>
              <a:rPr lang="en-US" sz="1460" kern="0" spc="-80" dirty="0">
                <a:solidFill>
                  <a:schemeClr val="accent6"/>
                </a:solidFill>
              </a:rPr>
              <a:t>, Postman, Stoplight</a:t>
            </a:r>
          </a:p>
          <a:p>
            <a:pPr marL="12700" marR="5080"/>
            <a:r>
              <a:rPr lang="en-US" sz="1460" kern="0" spc="-80" dirty="0">
                <a:solidFill>
                  <a:schemeClr val="accent6"/>
                </a:solidFill>
              </a:rPr>
              <a:t>API Validation	Spectral, </a:t>
            </a:r>
            <a:r>
              <a:rPr lang="en-US" sz="1460" kern="0" spc="-80" dirty="0" err="1">
                <a:solidFill>
                  <a:schemeClr val="accent6"/>
                </a:solidFill>
              </a:rPr>
              <a:t>Redocly</a:t>
            </a:r>
            <a:r>
              <a:rPr lang="en-US" sz="1460" kern="0" spc="-80" dirty="0">
                <a:solidFill>
                  <a:schemeClr val="accent6"/>
                </a:solidFill>
              </a:rPr>
              <a:t>, </a:t>
            </a:r>
            <a:r>
              <a:rPr lang="en-US" sz="1460" kern="0" spc="-80" dirty="0" err="1">
                <a:solidFill>
                  <a:schemeClr val="accent6"/>
                </a:solidFill>
              </a:rPr>
              <a:t>Schemathesis</a:t>
            </a:r>
            <a:endParaRPr lang="en-US" sz="1460" kern="0" spc="-80" dirty="0">
              <a:solidFill>
                <a:schemeClr val="accent6"/>
              </a:solidFill>
            </a:endParaRPr>
          </a:p>
          <a:p>
            <a:pPr marL="12700" marR="5080"/>
            <a:r>
              <a:rPr lang="en-US" sz="1460" kern="0" spc="-80" dirty="0">
                <a:solidFill>
                  <a:schemeClr val="accent6"/>
                </a:solidFill>
              </a:rPr>
              <a:t>CI/CD	                   GitHub Actions, Azure DevOps, GitLab CI</a:t>
            </a:r>
          </a:p>
          <a:p>
            <a:pPr marL="12700" marR="5080"/>
            <a:r>
              <a:rPr lang="en-US" sz="1460" kern="0" spc="-80" dirty="0">
                <a:solidFill>
                  <a:schemeClr val="accent6"/>
                </a:solidFill>
              </a:rPr>
              <a:t>API Gateways	Azure API Management, Kong, Apigee, AWS API Gateway</a:t>
            </a:r>
          </a:p>
          <a:p>
            <a:pPr marL="12700" marR="5080"/>
            <a:r>
              <a:rPr lang="en-US" sz="1460" kern="0" spc="-80" dirty="0">
                <a:solidFill>
                  <a:schemeClr val="accent6"/>
                </a:solidFill>
              </a:rPr>
              <a:t>Observability	Prometheus, Grafana, Splunk, APIM Analytics</a:t>
            </a:r>
          </a:p>
        </p:txBody>
      </p:sp>
      <p:sp>
        <p:nvSpPr>
          <p:cNvPr id="7" name="object 2">
            <a:extLst>
              <a:ext uri="{FF2B5EF4-FFF2-40B4-BE49-F238E27FC236}">
                <a16:creationId xmlns:a16="http://schemas.microsoft.com/office/drawing/2014/main" id="{0E23B0CD-435E-A9D7-3924-2D9727242EB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Tree>
    <p:extLst>
      <p:ext uri="{BB962C8B-B14F-4D97-AF65-F5344CB8AC3E}">
        <p14:creationId xmlns:p14="http://schemas.microsoft.com/office/powerpoint/2010/main" val="647450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A07A9-7EC7-61D0-725A-50CB3BFC206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C88868F-3E7B-6DB0-E570-5BF662B2355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728254E-5D25-09AB-DFB6-366C71536CE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E6E57B0-9EE1-09F5-D79D-370C383C0526}"/>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6412C0F-9E21-B2A3-DB60-F95376AC8F6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F8A0ADA-A0C5-ABD9-55BF-14C45D5B26D6}"/>
              </a:ext>
            </a:extLst>
          </p:cNvPr>
          <p:cNvSpPr txBox="1">
            <a:spLocks/>
          </p:cNvSpPr>
          <p:nvPr/>
        </p:nvSpPr>
        <p:spPr>
          <a:xfrm>
            <a:off x="0" y="609600"/>
            <a:ext cx="8915399" cy="396416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APIOps</a:t>
            </a:r>
            <a:endParaRPr lang="en-US" sz="2400" kern="0" spc="-80" dirty="0">
              <a:solidFill>
                <a:schemeClr val="accent2"/>
              </a:solidFill>
            </a:endParaRPr>
          </a:p>
          <a:p>
            <a:pPr marL="12700" marR="5080"/>
            <a:r>
              <a:rPr lang="en-US" sz="1460" kern="0" spc="-80" dirty="0">
                <a:solidFill>
                  <a:schemeClr val="accent2"/>
                </a:solidFill>
              </a:rPr>
              <a:t>🌍 Real-World Example Scenario</a:t>
            </a:r>
          </a:p>
          <a:p>
            <a:pPr marL="12700" marR="5080"/>
            <a:r>
              <a:rPr lang="en-US" sz="1460" kern="0" spc="-80" dirty="0">
                <a:solidFill>
                  <a:schemeClr val="accent6"/>
                </a:solidFill>
              </a:rPr>
              <a:t>A bank exposes account lookup API to fintech partners.</a:t>
            </a:r>
          </a:p>
          <a:p>
            <a:pPr marL="12700" marR="5080"/>
            <a:r>
              <a:rPr lang="en-US" sz="1460" kern="0" spc="-80" dirty="0">
                <a:solidFill>
                  <a:schemeClr val="accent2"/>
                </a:solidFill>
              </a:rPr>
              <a:t>With </a:t>
            </a:r>
            <a:r>
              <a:rPr lang="en-US" sz="1460" kern="0" spc="-80" dirty="0" err="1">
                <a:solidFill>
                  <a:schemeClr val="accent2"/>
                </a:solidFill>
              </a:rPr>
              <a:t>APIOps</a:t>
            </a:r>
            <a:r>
              <a:rPr lang="en-US" sz="1460" kern="0" spc="-80" dirty="0">
                <a:solidFill>
                  <a:schemeClr val="accent2"/>
                </a:solidFill>
              </a:rPr>
              <a:t>:</a:t>
            </a:r>
          </a:p>
          <a:p>
            <a:pPr marL="12700" marR="5080"/>
            <a:r>
              <a:rPr lang="en-US" sz="1460" kern="0" spc="-80" dirty="0">
                <a:solidFill>
                  <a:schemeClr val="accent6"/>
                </a:solidFill>
              </a:rPr>
              <a:t>API spec is versioned in Git</a:t>
            </a:r>
          </a:p>
          <a:p>
            <a:pPr marL="12700" marR="5080"/>
            <a:r>
              <a:rPr lang="en-US" sz="1460" kern="0" spc="-80" dirty="0">
                <a:solidFill>
                  <a:schemeClr val="accent6"/>
                </a:solidFill>
              </a:rPr>
              <a:t>Every change triggers open API validation &amp; security review pipeline</a:t>
            </a:r>
          </a:p>
          <a:p>
            <a:pPr marL="12700" marR="5080"/>
            <a:r>
              <a:rPr lang="en-US" sz="1460" kern="0" spc="-80" dirty="0">
                <a:solidFill>
                  <a:schemeClr val="accent6"/>
                </a:solidFill>
              </a:rPr>
              <a:t>Published docs update automatically on the Partner Developer Portal</a:t>
            </a:r>
          </a:p>
          <a:p>
            <a:pPr marL="12700" marR="5080"/>
            <a:r>
              <a:rPr lang="en-US" sz="1460" kern="0" spc="-80" dirty="0">
                <a:solidFill>
                  <a:schemeClr val="accent6"/>
                </a:solidFill>
              </a:rPr>
              <a:t>Monitoring triggers alerts if latency spikes</a:t>
            </a:r>
          </a:p>
          <a:p>
            <a:pPr marL="12700" marR="5080"/>
            <a:r>
              <a:rPr lang="en-US" sz="1460" kern="0" spc="-80" dirty="0">
                <a:solidFill>
                  <a:schemeClr val="accent6"/>
                </a:solidFill>
              </a:rPr>
              <a:t>Breaking change? → Create /v2/ and deprecate /v1/ cleanly</a:t>
            </a:r>
          </a:p>
          <a:p>
            <a:pPr marL="12700" marR="5080"/>
            <a:r>
              <a:rPr lang="en-US" sz="1460" kern="0" spc="-80" dirty="0">
                <a:solidFill>
                  <a:schemeClr val="accent2"/>
                </a:solidFill>
              </a:rPr>
              <a:t>This improves:</a:t>
            </a:r>
          </a:p>
          <a:p>
            <a:pPr marL="12700" marR="5080"/>
            <a:r>
              <a:rPr lang="en-US" sz="1460" kern="0" spc="-80" dirty="0">
                <a:solidFill>
                  <a:schemeClr val="accent6"/>
                </a:solidFill>
              </a:rPr>
              <a:t>Security</a:t>
            </a:r>
          </a:p>
          <a:p>
            <a:pPr marL="12700" marR="5080"/>
            <a:r>
              <a:rPr lang="en-US" sz="1460" kern="0" spc="-80" dirty="0">
                <a:solidFill>
                  <a:schemeClr val="accent6"/>
                </a:solidFill>
              </a:rPr>
              <a:t>Compliance</a:t>
            </a:r>
          </a:p>
          <a:p>
            <a:pPr marL="12700" marR="5080"/>
            <a:r>
              <a:rPr lang="en-US" sz="1460" kern="0" spc="-80" dirty="0">
                <a:solidFill>
                  <a:schemeClr val="accent6"/>
                </a:solidFill>
              </a:rPr>
              <a:t>Time-to-market</a:t>
            </a:r>
          </a:p>
          <a:p>
            <a:pPr marL="12700" marR="5080"/>
            <a:r>
              <a:rPr lang="en-US" sz="1460" kern="0" spc="-80" dirty="0">
                <a:solidFill>
                  <a:schemeClr val="accent6"/>
                </a:solidFill>
              </a:rPr>
              <a:t>Developer trust</a:t>
            </a:r>
          </a:p>
          <a:p>
            <a:pPr marL="12700" marR="5080"/>
            <a:r>
              <a:rPr lang="en-US" sz="1460" kern="0" spc="-80" dirty="0">
                <a:solidFill>
                  <a:schemeClr val="accent2"/>
                </a:solidFill>
              </a:rPr>
              <a:t>🎁 Summary (Memory Shortcut)</a:t>
            </a:r>
          </a:p>
          <a:p>
            <a:pPr marL="12700" marR="5080"/>
            <a:r>
              <a:rPr lang="en-US" sz="1460" kern="0" spc="-80" dirty="0" err="1">
                <a:solidFill>
                  <a:schemeClr val="accent6"/>
                </a:solidFill>
              </a:rPr>
              <a:t>APIOps</a:t>
            </a:r>
            <a:r>
              <a:rPr lang="en-US" sz="1460" kern="0" spc="-80" dirty="0">
                <a:solidFill>
                  <a:schemeClr val="accent6"/>
                </a:solidFill>
              </a:rPr>
              <a:t> = </a:t>
            </a:r>
            <a:r>
              <a:rPr lang="en-US" sz="1460" kern="0" spc="-80" dirty="0" err="1">
                <a:solidFill>
                  <a:schemeClr val="accent6"/>
                </a:solidFill>
              </a:rPr>
              <a:t>OpenAPI</a:t>
            </a:r>
            <a:r>
              <a:rPr lang="en-US" sz="1460" kern="0" spc="-80" dirty="0">
                <a:solidFill>
                  <a:schemeClr val="accent6"/>
                </a:solidFill>
              </a:rPr>
              <a:t> + Git + CI/CD + API Gateway Policies + Automated Documentation + Monitoring</a:t>
            </a:r>
          </a:p>
          <a:p>
            <a:pPr marL="12700" marR="5080"/>
            <a:r>
              <a:rPr lang="en-US" sz="1460" kern="0" spc="-80" dirty="0">
                <a:solidFill>
                  <a:schemeClr val="accent6"/>
                </a:solidFill>
              </a:rPr>
              <a:t>If a process involving APIs is manual → automate it.</a:t>
            </a:r>
          </a:p>
        </p:txBody>
      </p:sp>
      <p:sp>
        <p:nvSpPr>
          <p:cNvPr id="7" name="object 2">
            <a:extLst>
              <a:ext uri="{FF2B5EF4-FFF2-40B4-BE49-F238E27FC236}">
                <a16:creationId xmlns:a16="http://schemas.microsoft.com/office/drawing/2014/main" id="{010D7606-400F-3C89-BF9B-23E6DC63F9F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Tree>
    <p:extLst>
      <p:ext uri="{BB962C8B-B14F-4D97-AF65-F5344CB8AC3E}">
        <p14:creationId xmlns:p14="http://schemas.microsoft.com/office/powerpoint/2010/main" val="170272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6C4AA-05A8-84D8-BCD0-331126CA63D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AB21BB4-3D64-4659-698E-23F09CC3830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24694C2-4209-2276-C27E-3F7376964B0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DC2D2E5-AB92-56D2-CA18-D5569058A80B}"/>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CFBEFE1-4DE8-E043-756B-57B91F84702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596D6A7-01F8-D339-D65E-56541E271BA1}"/>
              </a:ext>
            </a:extLst>
          </p:cNvPr>
          <p:cNvSpPr txBox="1">
            <a:spLocks/>
          </p:cNvSpPr>
          <p:nvPr/>
        </p:nvSpPr>
        <p:spPr>
          <a:xfrm>
            <a:off x="0" y="609600"/>
            <a:ext cx="8915399" cy="8186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APIOps</a:t>
            </a:r>
            <a:endParaRPr lang="en-US" sz="2400" kern="0" spc="-80" dirty="0">
              <a:solidFill>
                <a:schemeClr val="accent2"/>
              </a:solidFill>
            </a:endParaRPr>
          </a:p>
          <a:p>
            <a:pPr marL="12700" marR="5080"/>
            <a:r>
              <a:rPr lang="en-US" sz="1460" kern="0" spc="-80" dirty="0">
                <a:solidFill>
                  <a:schemeClr val="accent2"/>
                </a:solidFill>
              </a:rPr>
              <a:t>🚀 </a:t>
            </a:r>
            <a:r>
              <a:rPr lang="en-US" sz="1460" kern="0" spc="-80" dirty="0" err="1">
                <a:solidFill>
                  <a:schemeClr val="accent2"/>
                </a:solidFill>
              </a:rPr>
              <a:t>APIOps</a:t>
            </a:r>
            <a:r>
              <a:rPr lang="en-US" sz="1460" kern="0" spc="-80" dirty="0">
                <a:solidFill>
                  <a:schemeClr val="accent2"/>
                </a:solidFill>
              </a:rPr>
              <a:t> Maturity Roadmap (Enterprise-Ready)</a:t>
            </a:r>
          </a:p>
          <a:p>
            <a:pPr marL="12700" marR="5080"/>
            <a:r>
              <a:rPr lang="en-US" sz="1460" kern="0" spc="-80" dirty="0">
                <a:solidFill>
                  <a:schemeClr val="accent6"/>
                </a:solidFill>
              </a:rPr>
              <a:t>In general, 5 maturity levels:</a:t>
            </a:r>
          </a:p>
        </p:txBody>
      </p:sp>
      <p:sp>
        <p:nvSpPr>
          <p:cNvPr id="7" name="object 2">
            <a:extLst>
              <a:ext uri="{FF2B5EF4-FFF2-40B4-BE49-F238E27FC236}">
                <a16:creationId xmlns:a16="http://schemas.microsoft.com/office/drawing/2014/main" id="{F294B3FE-2D03-4833-509C-71068EDC68A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pic>
        <p:nvPicPr>
          <p:cNvPr id="11" name="Picture 10" descr="A screenshot of a computer&#10;&#10;AI-generated content may be incorrect.">
            <a:extLst>
              <a:ext uri="{FF2B5EF4-FFF2-40B4-BE49-F238E27FC236}">
                <a16:creationId xmlns:a16="http://schemas.microsoft.com/office/drawing/2014/main" id="{AA961B36-6B57-082C-F243-4835D8BD5F0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 y="1428286"/>
            <a:ext cx="8915399" cy="4515314"/>
          </a:xfrm>
          <a:prstGeom prst="rect">
            <a:avLst/>
          </a:prstGeom>
        </p:spPr>
      </p:pic>
    </p:spTree>
    <p:extLst>
      <p:ext uri="{BB962C8B-B14F-4D97-AF65-F5344CB8AC3E}">
        <p14:creationId xmlns:p14="http://schemas.microsoft.com/office/powerpoint/2010/main" val="19566143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586AA-0088-BFA2-32E4-16D3FCF8784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82BD1FF-C479-CB23-D7D0-F8A02A42541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1FDAF2E-1875-FDB2-7DC8-BD7FBCDD0FA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4D66423-C7A1-142F-1BF1-02C38C0228A7}"/>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32B8EC6-B507-D07F-9FDF-C356DEE1209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127DF7B-CE11-7EF0-F7AC-4AB45E7A25E8}"/>
              </a:ext>
            </a:extLst>
          </p:cNvPr>
          <p:cNvSpPr txBox="1">
            <a:spLocks/>
          </p:cNvSpPr>
          <p:nvPr/>
        </p:nvSpPr>
        <p:spPr>
          <a:xfrm>
            <a:off x="0" y="609600"/>
            <a:ext cx="8915399" cy="529991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APIOps</a:t>
            </a:r>
            <a:endParaRPr lang="en-US" sz="2400" kern="0" spc="-80" dirty="0">
              <a:solidFill>
                <a:schemeClr val="accent2"/>
              </a:solidFill>
            </a:endParaRPr>
          </a:p>
          <a:p>
            <a:pPr marL="12700" marR="5080"/>
            <a:r>
              <a:rPr lang="en-US" sz="1460" kern="0" spc="-80" dirty="0">
                <a:solidFill>
                  <a:schemeClr val="accent2"/>
                </a:solidFill>
              </a:rPr>
              <a:t>🎨 Visual Roadmap Summary (Memory Snapshot)</a:t>
            </a:r>
          </a:p>
          <a:p>
            <a:pPr marL="12700" marR="5080"/>
            <a:r>
              <a:rPr lang="en-US" sz="1460" kern="0" spc="-80" dirty="0">
                <a:solidFill>
                  <a:schemeClr val="accent6"/>
                </a:solidFill>
              </a:rPr>
              <a:t>Level 0 → No Strategy → Chaos</a:t>
            </a:r>
          </a:p>
          <a:p>
            <a:pPr marL="12700" marR="5080"/>
            <a:r>
              <a:rPr lang="en-US" sz="1460" kern="0" spc="-80" dirty="0">
                <a:solidFill>
                  <a:schemeClr val="accent6"/>
                </a:solidFill>
              </a:rPr>
              <a:t>Level 1 → Documentation → Visibility</a:t>
            </a:r>
          </a:p>
          <a:p>
            <a:pPr marL="12700" marR="5080"/>
            <a:r>
              <a:rPr lang="en-US" sz="1460" kern="0" spc="-80" dirty="0">
                <a:solidFill>
                  <a:schemeClr val="accent6"/>
                </a:solidFill>
              </a:rPr>
              <a:t>Level 2 → Design-First → Consistency</a:t>
            </a:r>
          </a:p>
          <a:p>
            <a:pPr marL="12700" marR="5080"/>
            <a:r>
              <a:rPr lang="en-US" sz="1460" kern="0" spc="-80" dirty="0">
                <a:solidFill>
                  <a:schemeClr val="accent6"/>
                </a:solidFill>
              </a:rPr>
              <a:t>Level 3 → Automated </a:t>
            </a:r>
            <a:r>
              <a:rPr lang="en-US" sz="1460" kern="0" spc="-80" dirty="0" err="1">
                <a:solidFill>
                  <a:schemeClr val="accent6"/>
                </a:solidFill>
              </a:rPr>
              <a:t>APIOps</a:t>
            </a:r>
            <a:r>
              <a:rPr lang="en-US" sz="1460" kern="0" spc="-80" dirty="0">
                <a:solidFill>
                  <a:schemeClr val="accent6"/>
                </a:solidFill>
              </a:rPr>
              <a:t> Pipelines → Quality + Speed</a:t>
            </a:r>
          </a:p>
          <a:p>
            <a:pPr marL="12700" marR="5080"/>
            <a:r>
              <a:rPr lang="en-US" sz="1460" kern="0" spc="-80" dirty="0">
                <a:solidFill>
                  <a:schemeClr val="accent6"/>
                </a:solidFill>
              </a:rPr>
              <a:t>Level 4 → Governance + Self-Service → Scale + Reliability.</a:t>
            </a:r>
          </a:p>
          <a:p>
            <a:pPr marL="12700" marR="5080"/>
            <a:endParaRPr lang="en-US" sz="1460" kern="0" spc="-80" dirty="0">
              <a:solidFill>
                <a:schemeClr val="accent6"/>
              </a:solidFill>
            </a:endParaRPr>
          </a:p>
          <a:p>
            <a:pPr marL="12700" marR="5080"/>
            <a:endParaRPr lang="en-US" sz="1460" kern="0" spc="-80" dirty="0">
              <a:solidFill>
                <a:schemeClr val="accent6"/>
              </a:solidFill>
            </a:endParaRPr>
          </a:p>
          <a:p>
            <a:pPr marL="12700" marR="5080"/>
            <a:endParaRPr lang="en-US" sz="1460" kern="0" spc="-80" dirty="0">
              <a:solidFill>
                <a:schemeClr val="accent6"/>
              </a:solidFill>
            </a:endParaRPr>
          </a:p>
          <a:p>
            <a:pPr marL="12700" marR="5080"/>
            <a:endParaRPr lang="en-US" sz="1460" kern="0" spc="-80" dirty="0">
              <a:solidFill>
                <a:schemeClr val="accent6"/>
              </a:solidFill>
            </a:endParaRPr>
          </a:p>
          <a:p>
            <a:pPr marL="12700" marR="5080"/>
            <a:endParaRPr lang="en-US" sz="1460" kern="0" spc="-80" dirty="0">
              <a:solidFill>
                <a:schemeClr val="accent6"/>
              </a:solidFill>
            </a:endParaRPr>
          </a:p>
          <a:p>
            <a:pPr marL="12700" marR="5080"/>
            <a:endParaRPr lang="en-US" sz="1460" kern="0" spc="-80" dirty="0">
              <a:solidFill>
                <a:schemeClr val="accent6"/>
              </a:solidFill>
            </a:endParaRPr>
          </a:p>
          <a:p>
            <a:pPr marL="12700" marR="5080"/>
            <a:endParaRPr lang="en-US" sz="1460" kern="0" spc="-80" dirty="0">
              <a:solidFill>
                <a:schemeClr val="accent6"/>
              </a:solidFill>
            </a:endParaRPr>
          </a:p>
          <a:p>
            <a:pPr marL="12700" marR="5080"/>
            <a:endParaRPr lang="en-US" sz="1460" kern="0" spc="-80" dirty="0">
              <a:solidFill>
                <a:schemeClr val="accent6"/>
              </a:solidFill>
            </a:endParaRPr>
          </a:p>
          <a:p>
            <a:pPr marL="12700" marR="5080"/>
            <a:r>
              <a:rPr lang="en-US" sz="2000" kern="0" spc="-80" dirty="0">
                <a:solidFill>
                  <a:schemeClr val="accent2"/>
                </a:solidFill>
              </a:rPr>
              <a:t>For Further Exploration</a:t>
            </a:r>
          </a:p>
          <a:p>
            <a:pPr marL="12700" marR="5080"/>
            <a:r>
              <a:rPr lang="en-US" sz="1600" dirty="0">
                <a:hlinkClick r:id="rId7"/>
              </a:rPr>
              <a:t>Guide to </a:t>
            </a:r>
            <a:r>
              <a:rPr lang="en-US" sz="1600" dirty="0" err="1">
                <a:hlinkClick r:id="rId7"/>
              </a:rPr>
              <a:t>APIOps</a:t>
            </a:r>
            <a:r>
              <a:rPr lang="en-US" sz="1600" dirty="0">
                <a:hlinkClick r:id="rId7"/>
              </a:rPr>
              <a:t>, the Collaborative Approach for API Production</a:t>
            </a:r>
            <a:endParaRPr lang="en-US" sz="1600" dirty="0"/>
          </a:p>
          <a:p>
            <a:pPr marL="12700" marR="5080"/>
            <a:r>
              <a:rPr lang="en-US" sz="1600" dirty="0" err="1">
                <a:hlinkClick r:id="rId8"/>
              </a:rPr>
              <a:t>APIOps</a:t>
            </a:r>
            <a:r>
              <a:rPr lang="en-US" sz="1600" dirty="0">
                <a:hlinkClick r:id="rId8"/>
              </a:rPr>
              <a:t>: Transforming API Development with DevOps Principles</a:t>
            </a:r>
            <a:endParaRPr lang="en-US" sz="1600" dirty="0"/>
          </a:p>
          <a:p>
            <a:pPr marL="12700" marR="5080"/>
            <a:r>
              <a:rPr lang="en-US" sz="1600" dirty="0">
                <a:hlinkClick r:id="rId9"/>
              </a:rPr>
              <a:t>Automated API deployments using </a:t>
            </a:r>
            <a:r>
              <a:rPr lang="en-US" sz="1600" dirty="0" err="1">
                <a:hlinkClick r:id="rId9"/>
              </a:rPr>
              <a:t>APIOps</a:t>
            </a:r>
            <a:endParaRPr lang="en-US" sz="1600" dirty="0"/>
          </a:p>
          <a:p>
            <a:pPr marL="12700" marR="5080"/>
            <a:r>
              <a:rPr lang="en-US" sz="1600" dirty="0" err="1">
                <a:hlinkClick r:id="rId10"/>
              </a:rPr>
              <a:t>APIOps</a:t>
            </a:r>
            <a:r>
              <a:rPr lang="en-US" sz="1600" dirty="0">
                <a:hlinkClick r:id="rId10"/>
              </a:rPr>
              <a:t> – Documentation</a:t>
            </a:r>
            <a:endParaRPr lang="en-US" sz="1600" dirty="0"/>
          </a:p>
          <a:p>
            <a:pPr marL="12700" marR="5080"/>
            <a:r>
              <a:rPr lang="en-US" sz="1600" dirty="0" err="1">
                <a:hlinkClick r:id="rId11"/>
              </a:rPr>
              <a:t>APIOps</a:t>
            </a:r>
            <a:r>
              <a:rPr lang="en-US" sz="1600" dirty="0">
                <a:hlinkClick r:id="rId11"/>
              </a:rPr>
              <a:t>-Lab</a:t>
            </a:r>
            <a:endParaRPr lang="en-US" sz="1600" dirty="0"/>
          </a:p>
          <a:p>
            <a:pPr marL="12700" marR="5080"/>
            <a:r>
              <a:rPr lang="en-US" sz="1600" dirty="0" err="1">
                <a:hlinkClick r:id="rId12"/>
              </a:rPr>
              <a:t>APIQuality</a:t>
            </a:r>
            <a:r>
              <a:rPr lang="en-US" sz="1600" dirty="0">
                <a:hlinkClick r:id="rId12"/>
              </a:rPr>
              <a:t> - </a:t>
            </a:r>
            <a:r>
              <a:rPr lang="en-US" sz="1600" dirty="0" err="1">
                <a:hlinkClick r:id="rId12"/>
              </a:rPr>
              <a:t>APIOps</a:t>
            </a:r>
            <a:r>
              <a:rPr lang="en-US" sz="1600" dirty="0">
                <a:hlinkClick r:id="rId12"/>
              </a:rPr>
              <a:t> Low Code with artificial intelligent</a:t>
            </a:r>
            <a:endParaRPr lang="en-US" sz="1460" kern="0" spc="-80" dirty="0">
              <a:solidFill>
                <a:schemeClr val="accent2"/>
              </a:solidFill>
            </a:endParaRPr>
          </a:p>
        </p:txBody>
      </p:sp>
      <p:sp>
        <p:nvSpPr>
          <p:cNvPr id="7" name="object 2">
            <a:extLst>
              <a:ext uri="{FF2B5EF4-FFF2-40B4-BE49-F238E27FC236}">
                <a16:creationId xmlns:a16="http://schemas.microsoft.com/office/drawing/2014/main" id="{EAE1740F-E0B9-A5E7-5B22-D559FCFCD0B6}"/>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Tree>
    <p:extLst>
      <p:ext uri="{BB962C8B-B14F-4D97-AF65-F5344CB8AC3E}">
        <p14:creationId xmlns:p14="http://schemas.microsoft.com/office/powerpoint/2010/main" val="17198574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485B5-B21C-C748-3D01-29CAE04896E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AB7B4E9-E09C-8D23-39CA-C304B20197F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86B3F08-C4F3-F1BE-357D-D4157F941FC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E86D2D5-AEAC-37FE-4B6D-02F7572BB91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9585600-3ED7-0EF4-A175-F7C78E70872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95B0E900-E50D-F49A-8980-98D03A249751}"/>
              </a:ext>
            </a:extLst>
          </p:cNvPr>
          <p:cNvSpPr txBox="1">
            <a:spLocks/>
          </p:cNvSpPr>
          <p:nvPr/>
        </p:nvSpPr>
        <p:spPr>
          <a:xfrm>
            <a:off x="0" y="609600"/>
            <a:ext cx="8915399" cy="114739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WorkerOps</a:t>
            </a:r>
            <a:endParaRPr lang="en-US" sz="2400" kern="0" spc="-80" dirty="0">
              <a:solidFill>
                <a:schemeClr val="accent2"/>
              </a:solidFill>
            </a:endParaRPr>
          </a:p>
          <a:p>
            <a:pPr marL="12700" marR="5080"/>
            <a:r>
              <a:rPr lang="en-US" sz="1800" kern="0" spc="-80" dirty="0">
                <a:solidFill>
                  <a:schemeClr val="accent2"/>
                </a:solidFill>
              </a:rPr>
              <a:t>1. </a:t>
            </a:r>
            <a:r>
              <a:rPr lang="en-US" sz="1800" kern="0" spc="-80" dirty="0" err="1">
                <a:solidFill>
                  <a:schemeClr val="accent2"/>
                </a:solidFill>
              </a:rPr>
              <a:t>APIOps</a:t>
            </a:r>
            <a:r>
              <a:rPr lang="en-US" sz="1800" kern="0" spc="-80" dirty="0">
                <a:solidFill>
                  <a:schemeClr val="accent2"/>
                </a:solidFill>
              </a:rPr>
              <a:t> Recap</a:t>
            </a:r>
          </a:p>
          <a:p>
            <a:pPr marL="12700" marR="5080"/>
            <a:r>
              <a:rPr lang="en-US" sz="1800" kern="0" spc="-80" dirty="0" err="1">
                <a:solidFill>
                  <a:schemeClr val="accent6"/>
                </a:solidFill>
              </a:rPr>
              <a:t>APIOps</a:t>
            </a:r>
            <a:r>
              <a:rPr lang="en-US" sz="1800" kern="0" spc="-80" dirty="0">
                <a:solidFill>
                  <a:schemeClr val="accent6"/>
                </a:solidFill>
              </a:rPr>
              <a:t> applies DevOps-like practices specifically to APIs, covering the lifecycle from design, deployment, testing, monitoring, versioning, and governance. </a:t>
            </a:r>
          </a:p>
          <a:p>
            <a:pPr marL="12700" marR="5080"/>
            <a:r>
              <a:rPr lang="en-US" sz="1800" kern="0" spc="-80" dirty="0">
                <a:solidFill>
                  <a:schemeClr val="accent2"/>
                </a:solidFill>
              </a:rPr>
              <a:t>Key aspects include:</a:t>
            </a:r>
          </a:p>
          <a:p>
            <a:pPr marL="12700" marR="5080"/>
            <a:r>
              <a:rPr lang="en-US" sz="1800" kern="0" spc="-80" dirty="0">
                <a:solidFill>
                  <a:schemeClr val="accent6"/>
                </a:solidFill>
              </a:rPr>
              <a:t>Automation (CI/CD)</a:t>
            </a:r>
          </a:p>
          <a:p>
            <a:pPr marL="12700" marR="5080"/>
            <a:r>
              <a:rPr lang="en-US" sz="1800" kern="0" spc="-80" dirty="0">
                <a:solidFill>
                  <a:schemeClr val="accent6"/>
                </a:solidFill>
              </a:rPr>
              <a:t>Observability (metrics, logs, tracing)</a:t>
            </a:r>
          </a:p>
          <a:p>
            <a:pPr marL="12700" marR="5080"/>
            <a:r>
              <a:rPr lang="en-US" sz="1800" kern="0" spc="-80" dirty="0">
                <a:solidFill>
                  <a:schemeClr val="accent6"/>
                </a:solidFill>
              </a:rPr>
              <a:t>Governance &amp; security</a:t>
            </a:r>
          </a:p>
          <a:p>
            <a:pPr marL="12700" marR="5080"/>
            <a:r>
              <a:rPr lang="en-US" sz="1800" kern="0" spc="-80" dirty="0">
                <a:solidFill>
                  <a:schemeClr val="accent6"/>
                </a:solidFill>
              </a:rPr>
              <a:t>Lifecycle management</a:t>
            </a:r>
          </a:p>
          <a:p>
            <a:pPr marL="12700" marR="5080"/>
            <a:r>
              <a:rPr lang="en-US" sz="1800" kern="0" spc="-80" dirty="0">
                <a:solidFill>
                  <a:schemeClr val="accent6"/>
                </a:solidFill>
              </a:rPr>
              <a:t>Policy enforcement</a:t>
            </a:r>
          </a:p>
          <a:p>
            <a:pPr marL="12700" marR="5080"/>
            <a:endParaRPr lang="en-US" sz="1800" kern="0" spc="-80" dirty="0">
              <a:solidFill>
                <a:schemeClr val="accent6"/>
              </a:solidFill>
            </a:endParaRPr>
          </a:p>
          <a:p>
            <a:pPr marL="12700" marR="5080"/>
            <a:r>
              <a:rPr lang="en-US" sz="1800" kern="0" spc="-80" dirty="0">
                <a:solidFill>
                  <a:schemeClr val="accent2"/>
                </a:solidFill>
              </a:rPr>
              <a:t>2. Background Services / Workers</a:t>
            </a:r>
          </a:p>
          <a:p>
            <a:pPr marL="12700" marR="5080"/>
            <a:r>
              <a:rPr lang="en-US" sz="1800" kern="0" spc="-80" dirty="0">
                <a:solidFill>
                  <a:schemeClr val="accent6"/>
                </a:solidFill>
              </a:rPr>
              <a:t>Background services (e.g., </a:t>
            </a:r>
            <a:r>
              <a:rPr lang="en-US" sz="1800" kern="0" spc="-80" dirty="0" err="1">
                <a:solidFill>
                  <a:schemeClr val="accent6"/>
                </a:solidFill>
              </a:rPr>
              <a:t>cron</a:t>
            </a:r>
            <a:r>
              <a:rPr lang="en-US" sz="1800" kern="0" spc="-80" dirty="0">
                <a:solidFill>
                  <a:schemeClr val="accent6"/>
                </a:solidFill>
              </a:rPr>
              <a:t> jobs, message queue consumers, ETL processes, microservices triggered by events) have some similarities to APIs in terms of lifecycle:</a:t>
            </a:r>
          </a:p>
          <a:p>
            <a:pPr marL="12700" marR="5080"/>
            <a:r>
              <a:rPr lang="en-US" sz="1800" kern="0" spc="-80" dirty="0">
                <a:solidFill>
                  <a:schemeClr val="accent6"/>
                </a:solidFill>
              </a:rPr>
              <a:t>They are deployed and updated continuously</a:t>
            </a:r>
          </a:p>
          <a:p>
            <a:pPr marL="12700" marR="5080"/>
            <a:r>
              <a:rPr lang="en-US" sz="1800" kern="0" spc="-80" dirty="0">
                <a:solidFill>
                  <a:schemeClr val="accent6"/>
                </a:solidFill>
              </a:rPr>
              <a:t>They consume or produce data (via message queues, databases, or events)</a:t>
            </a:r>
          </a:p>
          <a:p>
            <a:pPr marL="12700" marR="5080"/>
            <a:r>
              <a:rPr lang="en-US" sz="1800" kern="0" spc="-80" dirty="0">
                <a:solidFill>
                  <a:schemeClr val="accent6"/>
                </a:solidFill>
              </a:rPr>
              <a:t>They require reliability, monitoring, and scaling</a:t>
            </a:r>
          </a:p>
          <a:p>
            <a:pPr marL="12700" marR="5080"/>
            <a:r>
              <a:rPr lang="en-US" sz="1800" kern="0" spc="-80" dirty="0">
                <a:solidFill>
                  <a:schemeClr val="accent6"/>
                </a:solidFill>
              </a:rPr>
              <a:t>So applying </a:t>
            </a:r>
            <a:r>
              <a:rPr lang="en-US" sz="1800" kern="0" spc="-80" dirty="0" err="1">
                <a:solidFill>
                  <a:schemeClr val="accent6"/>
                </a:solidFill>
              </a:rPr>
              <a:t>APIOps</a:t>
            </a:r>
            <a:r>
              <a:rPr lang="en-US" sz="1800" kern="0" spc="-80" dirty="0">
                <a:solidFill>
                  <a:schemeClr val="accent6"/>
                </a:solidFill>
              </a:rPr>
              <a:t>-like principles here makes sense.</a:t>
            </a:r>
          </a:p>
          <a:p>
            <a:pPr marL="12700" marR="5080"/>
            <a:endParaRPr lang="en-US" sz="1800" kern="0" spc="-80" dirty="0">
              <a:solidFill>
                <a:schemeClr val="accent6"/>
              </a:solidFill>
            </a:endParaRPr>
          </a:p>
          <a:p>
            <a:pPr marL="12700" marR="5080"/>
            <a:r>
              <a:rPr lang="en-US" sz="1460" kern="0" spc="-80" dirty="0">
                <a:solidFill>
                  <a:schemeClr val="accent6"/>
                </a:solidFill>
              </a:rPr>
              <a:t>3. “</a:t>
            </a:r>
            <a:r>
              <a:rPr lang="en-US" sz="1460" kern="0" spc="-80" dirty="0" err="1">
                <a:solidFill>
                  <a:schemeClr val="accent6"/>
                </a:solidFill>
              </a:rPr>
              <a:t>WorkerOps</a:t>
            </a:r>
            <a:r>
              <a:rPr lang="en-US" sz="1460" kern="0" spc="-80" dirty="0">
                <a:solidFill>
                  <a:schemeClr val="accent6"/>
                </a:solidFill>
              </a:rPr>
              <a:t>” / “</a:t>
            </a:r>
            <a:r>
              <a:rPr lang="en-US" sz="1460" kern="0" spc="-80" dirty="0" err="1">
                <a:solidFill>
                  <a:schemeClr val="accent6"/>
                </a:solidFill>
              </a:rPr>
              <a:t>ServiceOps</a:t>
            </a:r>
            <a:r>
              <a:rPr lang="en-US" sz="1460" kern="0" spc="-80" dirty="0">
                <a:solidFill>
                  <a:schemeClr val="accent6"/>
                </a:solidFill>
              </a:rPr>
              <a:t>” Concept</a:t>
            </a:r>
          </a:p>
          <a:p>
            <a:pPr marL="12700" marR="5080"/>
            <a:r>
              <a:rPr lang="en-US" sz="1460" kern="0" spc="-80" dirty="0">
                <a:solidFill>
                  <a:schemeClr val="accent6"/>
                </a:solidFill>
              </a:rPr>
              <a:t>There isn’t a standard industry term like “</a:t>
            </a:r>
            <a:r>
              <a:rPr lang="en-US" sz="1460" kern="0" spc="-80" dirty="0" err="1">
                <a:solidFill>
                  <a:schemeClr val="accent6"/>
                </a:solidFill>
              </a:rPr>
              <a:t>APIOps</a:t>
            </a:r>
            <a:r>
              <a:rPr lang="en-US" sz="1460" kern="0" spc="-80" dirty="0">
                <a:solidFill>
                  <a:schemeClr val="accent6"/>
                </a:solidFill>
              </a:rPr>
              <a:t>” for background services, but the practices exist under:</a:t>
            </a:r>
          </a:p>
          <a:p>
            <a:pPr marL="12700" marR="5080"/>
            <a:r>
              <a:rPr lang="en-US" sz="1460" kern="0" spc="-80" dirty="0" err="1">
                <a:solidFill>
                  <a:schemeClr val="accent6"/>
                </a:solidFill>
              </a:rPr>
              <a:t>WorkerOps</a:t>
            </a:r>
            <a:r>
              <a:rPr lang="en-US" sz="1460" kern="0" spc="-80" dirty="0">
                <a:solidFill>
                  <a:schemeClr val="accent6"/>
                </a:solidFill>
              </a:rPr>
              <a:t> / </a:t>
            </a:r>
            <a:r>
              <a:rPr lang="en-US" sz="1460" kern="0" spc="-80" dirty="0" err="1">
                <a:solidFill>
                  <a:schemeClr val="accent6"/>
                </a:solidFill>
              </a:rPr>
              <a:t>JobOps</a:t>
            </a:r>
            <a:r>
              <a:rPr lang="en-US" sz="1460" kern="0" spc="-80" dirty="0">
                <a:solidFill>
                  <a:schemeClr val="accent6"/>
                </a:solidFill>
              </a:rPr>
              <a:t> / </a:t>
            </a:r>
            <a:r>
              <a:rPr lang="en-US" sz="1460" kern="0" spc="-80" dirty="0" err="1">
                <a:solidFill>
                  <a:schemeClr val="accent6"/>
                </a:solidFill>
              </a:rPr>
              <a:t>ServiceOps</a:t>
            </a:r>
            <a:r>
              <a:rPr lang="en-US" sz="1460" kern="0" spc="-80" dirty="0">
                <a:solidFill>
                  <a:schemeClr val="accent6"/>
                </a:solidFill>
              </a:rPr>
              <a:t> (informal)</a:t>
            </a:r>
          </a:p>
          <a:p>
            <a:pPr marL="12700" marR="5080"/>
            <a:r>
              <a:rPr lang="en-US" sz="1460" kern="0" spc="-80" dirty="0">
                <a:solidFill>
                  <a:schemeClr val="accent6"/>
                </a:solidFill>
              </a:rPr>
              <a:t>DevOps / SRE for background services</a:t>
            </a:r>
          </a:p>
          <a:p>
            <a:pPr marL="12700" marR="5080"/>
            <a:r>
              <a:rPr lang="en-US" sz="1460" kern="0" spc="-80" dirty="0">
                <a:solidFill>
                  <a:schemeClr val="accent6"/>
                </a:solidFill>
              </a:rPr>
              <a:t>The idea is to treat background services as first-class deployable units with the same rigor as APIs:</a:t>
            </a:r>
          </a:p>
          <a:p>
            <a:pPr marL="12700" marR="5080"/>
            <a:r>
              <a:rPr lang="en-US" sz="1460" kern="0" spc="-80" dirty="0">
                <a:solidFill>
                  <a:schemeClr val="accent6"/>
                </a:solidFill>
              </a:rPr>
              <a:t>CI/CD: Automatic build, test, and deploy pipelines for background services.</a:t>
            </a:r>
          </a:p>
          <a:p>
            <a:pPr marL="12700" marR="5080"/>
            <a:r>
              <a:rPr lang="en-US" sz="1460" kern="0" spc="-80" dirty="0">
                <a:solidFill>
                  <a:schemeClr val="accent6"/>
                </a:solidFill>
              </a:rPr>
              <a:t>Example: Azure DevOps pipelines for a Service Bus triggered worker.</a:t>
            </a:r>
          </a:p>
          <a:p>
            <a:pPr marL="12700" marR="5080"/>
            <a:r>
              <a:rPr lang="en-US" sz="1460" kern="0" spc="-80" dirty="0">
                <a:solidFill>
                  <a:schemeClr val="accent6"/>
                </a:solidFill>
              </a:rPr>
              <a:t>Observability &amp; Monitoring: Collect logs, metrics, traces, and business KPIs.</a:t>
            </a:r>
          </a:p>
          <a:p>
            <a:pPr marL="12700" marR="5080"/>
            <a:r>
              <a:rPr lang="en-US" sz="1460" kern="0" spc="-80" dirty="0">
                <a:solidFill>
                  <a:schemeClr val="accent6"/>
                </a:solidFill>
              </a:rPr>
              <a:t>Example: Prometheus + Grafana monitoring worker job completion, failure rates, queue length.</a:t>
            </a:r>
          </a:p>
          <a:p>
            <a:pPr marL="12700" marR="5080"/>
            <a:r>
              <a:rPr lang="en-US" sz="1460" kern="0" spc="-80" dirty="0">
                <a:solidFill>
                  <a:schemeClr val="accent6"/>
                </a:solidFill>
              </a:rPr>
              <a:t>Scaling &amp; Resiliency: Use autoscaling or message-driven scaling (KEDA for Kubernetes).</a:t>
            </a:r>
          </a:p>
          <a:p>
            <a:pPr marL="12700" marR="5080"/>
            <a:r>
              <a:rPr lang="en-US" sz="1460" kern="0" spc="-80" dirty="0">
                <a:solidFill>
                  <a:schemeClr val="accent6"/>
                </a:solidFill>
              </a:rPr>
              <a:t>Example: Scale workers up/down based on Service Bus queue length.</a:t>
            </a:r>
          </a:p>
          <a:p>
            <a:pPr marL="12700" marR="5080"/>
            <a:r>
              <a:rPr lang="en-US" sz="1460" kern="0" spc="-80" dirty="0">
                <a:solidFill>
                  <a:schemeClr val="accent6"/>
                </a:solidFill>
              </a:rPr>
              <a:t>Testing &amp; Quality Gates: Unit tests, integration tests, chaos testing.</a:t>
            </a:r>
          </a:p>
          <a:p>
            <a:pPr marL="12700" marR="5080"/>
            <a:r>
              <a:rPr lang="en-US" sz="1460" kern="0" spc="-80" dirty="0">
                <a:solidFill>
                  <a:schemeClr val="accent6"/>
                </a:solidFill>
              </a:rPr>
              <a:t>Example: Ensure worker handles edge cases like malformed messages or network timeouts.</a:t>
            </a:r>
          </a:p>
          <a:p>
            <a:pPr marL="12700" marR="5080"/>
            <a:r>
              <a:rPr lang="en-US" sz="1460" kern="0" spc="-80" dirty="0">
                <a:solidFill>
                  <a:schemeClr val="accent6"/>
                </a:solidFill>
              </a:rPr>
              <a:t>Policy &amp; Governance: Security, throttling, resource limits, retries.</a:t>
            </a:r>
          </a:p>
          <a:p>
            <a:pPr marL="12700" marR="5080"/>
            <a:r>
              <a:rPr lang="en-US" sz="1460" kern="0" spc="-80" dirty="0">
                <a:solidFill>
                  <a:schemeClr val="accent6"/>
                </a:solidFill>
              </a:rPr>
              <a:t>4. Tools &amp; Frameworks</a:t>
            </a:r>
          </a:p>
          <a:p>
            <a:pPr marL="12700" marR="5080"/>
            <a:r>
              <a:rPr lang="en-US" sz="1460" kern="0" spc="-80" dirty="0">
                <a:solidFill>
                  <a:schemeClr val="accent6"/>
                </a:solidFill>
              </a:rPr>
              <a:t>You can leverage DevOps/SRE tools to implement “</a:t>
            </a:r>
            <a:r>
              <a:rPr lang="en-US" sz="1460" kern="0" spc="-80" dirty="0" err="1">
                <a:solidFill>
                  <a:schemeClr val="accent6"/>
                </a:solidFill>
              </a:rPr>
              <a:t>WorkerOps</a:t>
            </a:r>
            <a:r>
              <a:rPr lang="en-US" sz="1460" kern="0" spc="-80" dirty="0">
                <a:solidFill>
                  <a:schemeClr val="accent6"/>
                </a:solidFill>
              </a:rPr>
              <a:t>”:</a:t>
            </a:r>
          </a:p>
          <a:p>
            <a:pPr marL="12700" marR="5080"/>
            <a:r>
              <a:rPr lang="en-US" sz="1460" kern="0" spc="-80" dirty="0">
                <a:solidFill>
                  <a:schemeClr val="accent6"/>
                </a:solidFill>
              </a:rPr>
              <a:t>Area	Example Tools</a:t>
            </a:r>
          </a:p>
          <a:p>
            <a:pPr marL="12700" marR="5080"/>
            <a:r>
              <a:rPr lang="en-US" sz="1460" kern="0" spc="-80" dirty="0">
                <a:solidFill>
                  <a:schemeClr val="accent6"/>
                </a:solidFill>
              </a:rPr>
              <a:t>CI/CD	GitHub Actions, Azure DevOps, Jenkins</a:t>
            </a:r>
          </a:p>
          <a:p>
            <a:pPr marL="12700" marR="5080"/>
            <a:r>
              <a:rPr lang="en-US" sz="1460" kern="0" spc="-80" dirty="0">
                <a:solidFill>
                  <a:schemeClr val="accent6"/>
                </a:solidFill>
              </a:rPr>
              <a:t>Monitoring	Prometheus, Grafana, Application Insights, ELK stack</a:t>
            </a:r>
          </a:p>
          <a:p>
            <a:pPr marL="12700" marR="5080"/>
            <a:r>
              <a:rPr lang="en-US" sz="1460" kern="0" spc="-80" dirty="0">
                <a:solidFill>
                  <a:schemeClr val="accent6"/>
                </a:solidFill>
              </a:rPr>
              <a:t>Autoscaling	KEDA, Kubernetes HPA, AWS Lambda concurrency scaling</a:t>
            </a:r>
          </a:p>
          <a:p>
            <a:pPr marL="12700" marR="5080"/>
            <a:r>
              <a:rPr lang="en-US" sz="1460" kern="0" spc="-80" dirty="0">
                <a:solidFill>
                  <a:schemeClr val="accent6"/>
                </a:solidFill>
              </a:rPr>
              <a:t>Testing	</a:t>
            </a:r>
            <a:r>
              <a:rPr lang="en-US" sz="1460" kern="0" spc="-80" dirty="0" err="1">
                <a:solidFill>
                  <a:schemeClr val="accent6"/>
                </a:solidFill>
              </a:rPr>
              <a:t>xUnit</a:t>
            </a:r>
            <a:r>
              <a:rPr lang="en-US" sz="1460" kern="0" spc="-80" dirty="0">
                <a:solidFill>
                  <a:schemeClr val="accent6"/>
                </a:solidFill>
              </a:rPr>
              <a:t>, </a:t>
            </a:r>
            <a:r>
              <a:rPr lang="en-US" sz="1460" kern="0" spc="-80" dirty="0" err="1">
                <a:solidFill>
                  <a:schemeClr val="accent6"/>
                </a:solidFill>
              </a:rPr>
              <a:t>pytest</a:t>
            </a:r>
            <a:r>
              <a:rPr lang="en-US" sz="1460" kern="0" spc="-80" dirty="0">
                <a:solidFill>
                  <a:schemeClr val="accent6"/>
                </a:solidFill>
              </a:rPr>
              <a:t>, integration frameworks, chaos testing</a:t>
            </a:r>
          </a:p>
          <a:p>
            <a:pPr marL="12700" marR="5080"/>
            <a:r>
              <a:rPr lang="en-US" sz="1460" kern="0" spc="-80" dirty="0">
                <a:solidFill>
                  <a:schemeClr val="accent6"/>
                </a:solidFill>
              </a:rPr>
              <a:t>✅ Summary</a:t>
            </a:r>
          </a:p>
          <a:p>
            <a:pPr marL="12700" marR="5080"/>
            <a:r>
              <a:rPr lang="en-US" sz="1460" kern="0" spc="-80" dirty="0" err="1">
                <a:solidFill>
                  <a:schemeClr val="accent6"/>
                </a:solidFill>
              </a:rPr>
              <a:t>APIOps</a:t>
            </a:r>
            <a:r>
              <a:rPr lang="en-US" sz="1460" kern="0" spc="-80" dirty="0">
                <a:solidFill>
                  <a:schemeClr val="accent6"/>
                </a:solidFill>
              </a:rPr>
              <a:t> is API-specific, but the same lifecycle principles apply to background services.</a:t>
            </a:r>
          </a:p>
          <a:p>
            <a:pPr marL="12700" marR="5080"/>
            <a:r>
              <a:rPr lang="en-US" sz="1460" kern="0" spc="-80" dirty="0">
                <a:solidFill>
                  <a:schemeClr val="accent6"/>
                </a:solidFill>
              </a:rPr>
              <a:t>Industry term could be “</a:t>
            </a:r>
            <a:r>
              <a:rPr lang="en-US" sz="1460" kern="0" spc="-80" dirty="0" err="1">
                <a:solidFill>
                  <a:schemeClr val="accent6"/>
                </a:solidFill>
              </a:rPr>
              <a:t>WorkerOps</a:t>
            </a:r>
            <a:r>
              <a:rPr lang="en-US" sz="1460" kern="0" spc="-80" dirty="0">
                <a:solidFill>
                  <a:schemeClr val="accent6"/>
                </a:solidFill>
              </a:rPr>
              <a:t>” or just DevOps/SRE applied to background services.</a:t>
            </a:r>
          </a:p>
          <a:p>
            <a:pPr marL="12700" marR="5080"/>
            <a:r>
              <a:rPr lang="en-US" sz="1460" kern="0" spc="-80" dirty="0">
                <a:solidFill>
                  <a:schemeClr val="accent6"/>
                </a:solidFill>
              </a:rPr>
              <a:t>The focus is on automation, observability, scaling, reliability, testing, and governance. </a:t>
            </a:r>
          </a:p>
        </p:txBody>
      </p:sp>
      <p:sp>
        <p:nvSpPr>
          <p:cNvPr id="7" name="object 2">
            <a:extLst>
              <a:ext uri="{FF2B5EF4-FFF2-40B4-BE49-F238E27FC236}">
                <a16:creationId xmlns:a16="http://schemas.microsoft.com/office/drawing/2014/main" id="{5AF76C23-7376-D2CC-7B35-94E987D5B43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Tree>
    <p:extLst>
      <p:ext uri="{BB962C8B-B14F-4D97-AF65-F5344CB8AC3E}">
        <p14:creationId xmlns:p14="http://schemas.microsoft.com/office/powerpoint/2010/main" val="2496343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BE637-2D9A-A24B-76AD-027FF786BE2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1F12BC7-232A-E433-D600-FB1B486B7A9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8D4EDE2-E59A-DFEC-6BBD-03CCA6F9449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18FC56A-1F02-1AB5-E204-61CBB2B5111F}"/>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DAB3AA3-824D-2E2E-FAB4-E81AD45AED5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D20FB82-6B17-7139-4DC5-4210A5EDCBFF}"/>
              </a:ext>
            </a:extLst>
          </p:cNvPr>
          <p:cNvSpPr txBox="1">
            <a:spLocks/>
          </p:cNvSpPr>
          <p:nvPr/>
        </p:nvSpPr>
        <p:spPr>
          <a:xfrm>
            <a:off x="0" y="609600"/>
            <a:ext cx="8915399" cy="531222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WorkerOps</a:t>
            </a:r>
            <a:endParaRPr lang="en-US" sz="2400" kern="0" spc="-80" dirty="0">
              <a:solidFill>
                <a:schemeClr val="accent2"/>
              </a:solidFill>
            </a:endParaRPr>
          </a:p>
          <a:p>
            <a:pPr marL="12700" marR="5080"/>
            <a:r>
              <a:rPr lang="en-US" sz="1460" kern="0" spc="-80" dirty="0">
                <a:solidFill>
                  <a:schemeClr val="accent2"/>
                </a:solidFill>
              </a:rPr>
              <a:t>3. “</a:t>
            </a:r>
            <a:r>
              <a:rPr lang="en-US" sz="1460" kern="0" spc="-80" dirty="0" err="1">
                <a:solidFill>
                  <a:schemeClr val="accent2"/>
                </a:solidFill>
              </a:rPr>
              <a:t>WorkerOps</a:t>
            </a:r>
            <a:r>
              <a:rPr lang="en-US" sz="1460" kern="0" spc="-80" dirty="0">
                <a:solidFill>
                  <a:schemeClr val="accent2"/>
                </a:solidFill>
              </a:rPr>
              <a:t>” / “</a:t>
            </a:r>
            <a:r>
              <a:rPr lang="en-US" sz="1460" kern="0" spc="-80" dirty="0" err="1">
                <a:solidFill>
                  <a:schemeClr val="accent2"/>
                </a:solidFill>
              </a:rPr>
              <a:t>ServiceOps</a:t>
            </a:r>
            <a:r>
              <a:rPr lang="en-US" sz="1460" kern="0" spc="-80" dirty="0">
                <a:solidFill>
                  <a:schemeClr val="accent2"/>
                </a:solidFill>
              </a:rPr>
              <a:t>” Concept</a:t>
            </a:r>
          </a:p>
          <a:p>
            <a:pPr marL="12700" marR="5080"/>
            <a:r>
              <a:rPr lang="en-US" sz="1460" kern="0" spc="-80" dirty="0">
                <a:solidFill>
                  <a:schemeClr val="accent6"/>
                </a:solidFill>
              </a:rPr>
              <a:t>There isn’t a standard industry term like “</a:t>
            </a:r>
            <a:r>
              <a:rPr lang="en-US" sz="1460" kern="0" spc="-80" dirty="0" err="1">
                <a:solidFill>
                  <a:schemeClr val="accent6"/>
                </a:solidFill>
              </a:rPr>
              <a:t>APIOps</a:t>
            </a:r>
            <a:r>
              <a:rPr lang="en-US" sz="1460" kern="0" spc="-80" dirty="0">
                <a:solidFill>
                  <a:schemeClr val="accent6"/>
                </a:solidFill>
              </a:rPr>
              <a:t>” for background services, but the practices exist under:</a:t>
            </a:r>
          </a:p>
          <a:p>
            <a:pPr marL="12700" marR="5080"/>
            <a:r>
              <a:rPr lang="en-US" sz="1460" kern="0" spc="-80" dirty="0" err="1">
                <a:solidFill>
                  <a:schemeClr val="accent6"/>
                </a:solidFill>
              </a:rPr>
              <a:t>WorkerOps</a:t>
            </a:r>
            <a:r>
              <a:rPr lang="en-US" sz="1460" kern="0" spc="-80" dirty="0">
                <a:solidFill>
                  <a:schemeClr val="accent6"/>
                </a:solidFill>
              </a:rPr>
              <a:t> / </a:t>
            </a:r>
            <a:r>
              <a:rPr lang="en-US" sz="1460" kern="0" spc="-80" dirty="0" err="1">
                <a:solidFill>
                  <a:schemeClr val="accent6"/>
                </a:solidFill>
              </a:rPr>
              <a:t>JobOps</a:t>
            </a:r>
            <a:r>
              <a:rPr lang="en-US" sz="1460" kern="0" spc="-80" dirty="0">
                <a:solidFill>
                  <a:schemeClr val="accent6"/>
                </a:solidFill>
              </a:rPr>
              <a:t> / </a:t>
            </a:r>
            <a:r>
              <a:rPr lang="en-US" sz="1460" kern="0" spc="-80" dirty="0" err="1">
                <a:solidFill>
                  <a:schemeClr val="accent6"/>
                </a:solidFill>
              </a:rPr>
              <a:t>ServiceOps</a:t>
            </a:r>
            <a:r>
              <a:rPr lang="en-US" sz="1460" kern="0" spc="-80" dirty="0">
                <a:solidFill>
                  <a:schemeClr val="accent6"/>
                </a:solidFill>
              </a:rPr>
              <a:t> (informal)</a:t>
            </a:r>
          </a:p>
          <a:p>
            <a:pPr marL="12700" marR="5080"/>
            <a:r>
              <a:rPr lang="en-US" sz="1460" kern="0" spc="-80" dirty="0">
                <a:solidFill>
                  <a:schemeClr val="accent6"/>
                </a:solidFill>
              </a:rPr>
              <a:t>DevOps / SRE for background services</a:t>
            </a:r>
          </a:p>
          <a:p>
            <a:pPr marL="12700" marR="5080"/>
            <a:r>
              <a:rPr lang="en-US" sz="1460" kern="0" spc="-80" dirty="0">
                <a:solidFill>
                  <a:schemeClr val="accent6"/>
                </a:solidFill>
              </a:rPr>
              <a:t>The idea is to treat background services as first-class deployable units with the same rigor as APIs:</a:t>
            </a:r>
          </a:p>
          <a:p>
            <a:pPr marL="12700" marR="5080"/>
            <a:r>
              <a:rPr lang="en-US" sz="1460" kern="0" spc="-80" dirty="0">
                <a:solidFill>
                  <a:schemeClr val="accent2"/>
                </a:solidFill>
              </a:rPr>
              <a:t>CI/CD: </a:t>
            </a:r>
            <a:r>
              <a:rPr lang="en-US" sz="1460" kern="0" spc="-80" dirty="0">
                <a:solidFill>
                  <a:schemeClr val="accent6"/>
                </a:solidFill>
              </a:rPr>
              <a:t>Automatic build, test, and deploy pipelines for background services.</a:t>
            </a:r>
          </a:p>
          <a:p>
            <a:pPr marL="12700" marR="5080"/>
            <a:r>
              <a:rPr lang="en-US" sz="1460" kern="0" spc="-80" dirty="0">
                <a:solidFill>
                  <a:schemeClr val="accent2"/>
                </a:solidFill>
              </a:rPr>
              <a:t>Example:</a:t>
            </a:r>
            <a:r>
              <a:rPr lang="en-US" sz="1460" kern="0" spc="-80" dirty="0">
                <a:solidFill>
                  <a:schemeClr val="accent6"/>
                </a:solidFill>
              </a:rPr>
              <a:t> Azure DevOps pipelines for a Service Bus triggered worker.</a:t>
            </a:r>
          </a:p>
          <a:p>
            <a:pPr marL="12700" marR="5080"/>
            <a:r>
              <a:rPr lang="en-US" sz="1460" kern="0" spc="-80" dirty="0">
                <a:solidFill>
                  <a:schemeClr val="accent2"/>
                </a:solidFill>
              </a:rPr>
              <a:t>Observability &amp; Monitoring:</a:t>
            </a:r>
            <a:r>
              <a:rPr lang="en-US" sz="1460" kern="0" spc="-80" dirty="0">
                <a:solidFill>
                  <a:schemeClr val="accent6"/>
                </a:solidFill>
              </a:rPr>
              <a:t> Collect logs, metrics, traces, and business KPIs.</a:t>
            </a:r>
          </a:p>
          <a:p>
            <a:pPr marL="12700" marR="5080"/>
            <a:r>
              <a:rPr lang="en-US" sz="1460" kern="0" spc="-80" dirty="0">
                <a:solidFill>
                  <a:schemeClr val="accent2"/>
                </a:solidFill>
              </a:rPr>
              <a:t>Example:</a:t>
            </a:r>
            <a:r>
              <a:rPr lang="en-US" sz="1460" kern="0" spc="-80" dirty="0">
                <a:solidFill>
                  <a:schemeClr val="accent6"/>
                </a:solidFill>
              </a:rPr>
              <a:t> Prometheus + Grafana monitoring worker job completion, failure rates, queue length.</a:t>
            </a:r>
          </a:p>
          <a:p>
            <a:pPr marL="12700" marR="5080"/>
            <a:r>
              <a:rPr lang="en-US" sz="1460" kern="0" spc="-80" dirty="0">
                <a:solidFill>
                  <a:schemeClr val="accent2"/>
                </a:solidFill>
              </a:rPr>
              <a:t>Scaling &amp; Resiliency:</a:t>
            </a:r>
            <a:r>
              <a:rPr lang="en-US" sz="1460" kern="0" spc="-80" dirty="0">
                <a:solidFill>
                  <a:schemeClr val="accent6"/>
                </a:solidFill>
              </a:rPr>
              <a:t> Use autoscaling or message-driven scaling (KEDA for Kubernetes).</a:t>
            </a:r>
          </a:p>
          <a:p>
            <a:pPr marL="12700" marR="5080"/>
            <a:r>
              <a:rPr lang="en-US" sz="1460" kern="0" spc="-80" dirty="0">
                <a:solidFill>
                  <a:schemeClr val="accent2"/>
                </a:solidFill>
              </a:rPr>
              <a:t>Example: </a:t>
            </a:r>
            <a:r>
              <a:rPr lang="en-US" sz="1460" kern="0" spc="-80" dirty="0">
                <a:solidFill>
                  <a:schemeClr val="accent6"/>
                </a:solidFill>
              </a:rPr>
              <a:t>Scale workers up/down based on Service Bus queue length.</a:t>
            </a:r>
          </a:p>
          <a:p>
            <a:pPr marL="12700" marR="5080"/>
            <a:r>
              <a:rPr lang="en-US" sz="1460" kern="0" spc="-80" dirty="0">
                <a:solidFill>
                  <a:schemeClr val="accent2"/>
                </a:solidFill>
              </a:rPr>
              <a:t>Testing &amp; Quality Gates:</a:t>
            </a:r>
            <a:r>
              <a:rPr lang="en-US" sz="1460" kern="0" spc="-80" dirty="0">
                <a:solidFill>
                  <a:schemeClr val="accent6"/>
                </a:solidFill>
              </a:rPr>
              <a:t> Unit tests, integration tests, chaos testing.</a:t>
            </a:r>
          </a:p>
          <a:p>
            <a:pPr marL="12700" marR="5080"/>
            <a:r>
              <a:rPr lang="en-US" sz="1460" kern="0" spc="-80" dirty="0">
                <a:solidFill>
                  <a:schemeClr val="accent2"/>
                </a:solidFill>
              </a:rPr>
              <a:t>Example:</a:t>
            </a:r>
            <a:r>
              <a:rPr lang="en-US" sz="1460" kern="0" spc="-80" dirty="0">
                <a:solidFill>
                  <a:schemeClr val="accent6"/>
                </a:solidFill>
              </a:rPr>
              <a:t> Ensure worker handles edge cases like malformed messages or network timeouts.</a:t>
            </a:r>
          </a:p>
          <a:p>
            <a:pPr marL="12700" marR="5080"/>
            <a:r>
              <a:rPr lang="en-US" sz="1460" kern="0" spc="-80" dirty="0">
                <a:solidFill>
                  <a:schemeClr val="accent2"/>
                </a:solidFill>
              </a:rPr>
              <a:t>Policy &amp; Governance: </a:t>
            </a:r>
            <a:r>
              <a:rPr lang="en-US" sz="1460" kern="0" spc="-80" dirty="0">
                <a:solidFill>
                  <a:schemeClr val="accent6"/>
                </a:solidFill>
              </a:rPr>
              <a:t>Security, throttling, resource limits, retries.</a:t>
            </a:r>
          </a:p>
          <a:p>
            <a:pPr marL="12700" marR="5080"/>
            <a:r>
              <a:rPr lang="en-US" sz="1460" kern="0" spc="-80" dirty="0">
                <a:solidFill>
                  <a:schemeClr val="accent2"/>
                </a:solidFill>
              </a:rPr>
              <a:t>4. Tools &amp; Frameworks</a:t>
            </a:r>
          </a:p>
          <a:p>
            <a:pPr marL="12700" marR="5080"/>
            <a:r>
              <a:rPr lang="en-US" sz="1460" kern="0" spc="-80" dirty="0">
                <a:solidFill>
                  <a:schemeClr val="accent6"/>
                </a:solidFill>
              </a:rPr>
              <a:t>You can leverage DevOps/SRE tools to implement “</a:t>
            </a:r>
            <a:r>
              <a:rPr lang="en-US" sz="1460" kern="0" spc="-80" dirty="0" err="1">
                <a:solidFill>
                  <a:schemeClr val="accent6"/>
                </a:solidFill>
              </a:rPr>
              <a:t>WorkerOps</a:t>
            </a:r>
            <a:r>
              <a:rPr lang="en-US" sz="1460" kern="0" spc="-80" dirty="0">
                <a:solidFill>
                  <a:schemeClr val="accent6"/>
                </a:solidFill>
              </a:rPr>
              <a:t>”:</a:t>
            </a:r>
          </a:p>
          <a:p>
            <a:pPr marL="12700" marR="5080"/>
            <a:r>
              <a:rPr lang="en-US" sz="1460" kern="0" spc="-80" dirty="0">
                <a:solidFill>
                  <a:schemeClr val="accent2"/>
                </a:solidFill>
              </a:rPr>
              <a:t>Area	                   Example Tools</a:t>
            </a:r>
          </a:p>
          <a:p>
            <a:pPr marL="12700" marR="5080"/>
            <a:r>
              <a:rPr lang="en-US" sz="1460" kern="0" spc="-80" dirty="0">
                <a:solidFill>
                  <a:schemeClr val="accent6"/>
                </a:solidFill>
              </a:rPr>
              <a:t>CI/CD	                   GitHub Actions, Azure DevOps, Jenkins</a:t>
            </a:r>
          </a:p>
          <a:p>
            <a:pPr marL="12700" marR="5080"/>
            <a:r>
              <a:rPr lang="en-US" sz="1460" kern="0" spc="-80" dirty="0">
                <a:solidFill>
                  <a:schemeClr val="accent6"/>
                </a:solidFill>
              </a:rPr>
              <a:t>Monitoring	Prometheus, Grafana, Application Insights, ELK stack</a:t>
            </a:r>
          </a:p>
          <a:p>
            <a:pPr marL="12700" marR="5080"/>
            <a:r>
              <a:rPr lang="en-US" sz="1460" kern="0" spc="-80" dirty="0">
                <a:solidFill>
                  <a:schemeClr val="accent6"/>
                </a:solidFill>
              </a:rPr>
              <a:t>Autoscaling	KEDA, Kubernetes HPA, AWS Lambda concurrency scaling</a:t>
            </a:r>
          </a:p>
          <a:p>
            <a:pPr marL="12700" marR="5080"/>
            <a:r>
              <a:rPr lang="en-US" sz="1460" kern="0" spc="-80" dirty="0">
                <a:solidFill>
                  <a:schemeClr val="accent6"/>
                </a:solidFill>
              </a:rPr>
              <a:t>Testing	                  </a:t>
            </a:r>
            <a:r>
              <a:rPr lang="en-US" sz="1460" kern="0" spc="-80" dirty="0" err="1">
                <a:solidFill>
                  <a:schemeClr val="accent6"/>
                </a:solidFill>
              </a:rPr>
              <a:t>xUnit</a:t>
            </a:r>
            <a:r>
              <a:rPr lang="en-US" sz="1460" kern="0" spc="-80" dirty="0">
                <a:solidFill>
                  <a:schemeClr val="accent6"/>
                </a:solidFill>
              </a:rPr>
              <a:t>, </a:t>
            </a:r>
            <a:r>
              <a:rPr lang="en-US" sz="1460" kern="0" spc="-80" dirty="0" err="1">
                <a:solidFill>
                  <a:schemeClr val="accent6"/>
                </a:solidFill>
              </a:rPr>
              <a:t>pytest</a:t>
            </a:r>
            <a:r>
              <a:rPr lang="en-US" sz="1460" kern="0" spc="-80" dirty="0">
                <a:solidFill>
                  <a:schemeClr val="accent6"/>
                </a:solidFill>
              </a:rPr>
              <a:t>, integration frameworks, chaos testing</a:t>
            </a:r>
          </a:p>
        </p:txBody>
      </p:sp>
      <p:sp>
        <p:nvSpPr>
          <p:cNvPr id="7" name="object 2">
            <a:extLst>
              <a:ext uri="{FF2B5EF4-FFF2-40B4-BE49-F238E27FC236}">
                <a16:creationId xmlns:a16="http://schemas.microsoft.com/office/drawing/2014/main" id="{9C044DB3-4B53-987B-3547-707EBE22312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Tree>
    <p:extLst>
      <p:ext uri="{BB962C8B-B14F-4D97-AF65-F5344CB8AC3E}">
        <p14:creationId xmlns:p14="http://schemas.microsoft.com/office/powerpoint/2010/main" val="2726785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9CD3F-F054-D9E9-7DC9-ECA7CB54BC8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6796DA1-420D-65EA-56BE-00AC5E86CD4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AC66E9C-F2BA-4A96-361B-FDEAF4EFDB8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44EC762-37E0-CB66-7647-A5FC2D95BB96}"/>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CE32797-315C-9DC5-CFFD-B00D3682D9A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057A0446-8022-240C-1BB1-11234E4F24F6}"/>
              </a:ext>
            </a:extLst>
          </p:cNvPr>
          <p:cNvSpPr txBox="1">
            <a:spLocks/>
          </p:cNvSpPr>
          <p:nvPr/>
        </p:nvSpPr>
        <p:spPr>
          <a:xfrm>
            <a:off x="0" y="609600"/>
            <a:ext cx="8915399" cy="126803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WorkerOps</a:t>
            </a:r>
            <a:endParaRPr lang="en-US" sz="2400" kern="0" spc="-80" dirty="0">
              <a:solidFill>
                <a:schemeClr val="accent2"/>
              </a:solidFill>
            </a:endParaRPr>
          </a:p>
          <a:p>
            <a:pPr marL="12700" marR="5080"/>
            <a:r>
              <a:rPr lang="en-US" sz="1460" kern="0" spc="-80" dirty="0">
                <a:solidFill>
                  <a:schemeClr val="accent6"/>
                </a:solidFill>
              </a:rPr>
              <a:t>✅ Summary</a:t>
            </a:r>
          </a:p>
          <a:p>
            <a:pPr marL="12700" marR="5080"/>
            <a:r>
              <a:rPr lang="en-US" sz="1460" kern="0" spc="-80" dirty="0" err="1">
                <a:solidFill>
                  <a:schemeClr val="accent6"/>
                </a:solidFill>
              </a:rPr>
              <a:t>APIOps</a:t>
            </a:r>
            <a:r>
              <a:rPr lang="en-US" sz="1460" kern="0" spc="-80" dirty="0">
                <a:solidFill>
                  <a:schemeClr val="accent6"/>
                </a:solidFill>
              </a:rPr>
              <a:t> is API-specific, but the same lifecycle principles apply to background services.</a:t>
            </a:r>
          </a:p>
          <a:p>
            <a:pPr marL="12700" marR="5080"/>
            <a:r>
              <a:rPr lang="en-US" sz="1460" kern="0" spc="-80" dirty="0">
                <a:solidFill>
                  <a:schemeClr val="accent6"/>
                </a:solidFill>
              </a:rPr>
              <a:t>Industry term could be “</a:t>
            </a:r>
            <a:r>
              <a:rPr lang="en-US" sz="1460" kern="0" spc="-80" dirty="0" err="1">
                <a:solidFill>
                  <a:schemeClr val="accent6"/>
                </a:solidFill>
              </a:rPr>
              <a:t>WorkerOps</a:t>
            </a:r>
            <a:r>
              <a:rPr lang="en-US" sz="1460" kern="0" spc="-80" dirty="0">
                <a:solidFill>
                  <a:schemeClr val="accent6"/>
                </a:solidFill>
              </a:rPr>
              <a:t>” or just DevOps/SRE applied to background services.</a:t>
            </a:r>
          </a:p>
          <a:p>
            <a:pPr marL="12700" marR="5080"/>
            <a:r>
              <a:rPr lang="en-US" sz="1460" kern="0" spc="-80" dirty="0">
                <a:solidFill>
                  <a:schemeClr val="accent6"/>
                </a:solidFill>
              </a:rPr>
              <a:t>The focus is on automation, observability, scaling, reliability, testing, and governance. </a:t>
            </a:r>
          </a:p>
        </p:txBody>
      </p:sp>
      <p:sp>
        <p:nvSpPr>
          <p:cNvPr id="7" name="object 2">
            <a:extLst>
              <a:ext uri="{FF2B5EF4-FFF2-40B4-BE49-F238E27FC236}">
                <a16:creationId xmlns:a16="http://schemas.microsoft.com/office/drawing/2014/main" id="{47BA4C4A-616F-8700-6E4D-90FF113C4B2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Tree>
    <p:extLst>
      <p:ext uri="{BB962C8B-B14F-4D97-AF65-F5344CB8AC3E}">
        <p14:creationId xmlns:p14="http://schemas.microsoft.com/office/powerpoint/2010/main" val="1526163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7862" y="695224"/>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Service Virtualization/ APIs Mocking -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3102C7EC-7155-21AB-C7D8-BE8CCB5D0E31}"/>
              </a:ext>
            </a:extLst>
          </p:cNvPr>
          <p:cNvSpPr txBox="1">
            <a:spLocks/>
          </p:cNvSpPr>
          <p:nvPr/>
        </p:nvSpPr>
        <p:spPr>
          <a:xfrm>
            <a:off x="8263" y="5166464"/>
            <a:ext cx="8624937" cy="7771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050" dirty="0">
                <a:hlinkClick r:id="rId7"/>
              </a:rPr>
              <a:t>Service Virtualization. In the best of all possible worlds… | by Pradeep Kumar HK. | Medium</a:t>
            </a:r>
            <a:r>
              <a:rPr lang="en-US" sz="1600" kern="0" spc="-80" dirty="0">
                <a:solidFill>
                  <a:schemeClr val="accent2"/>
                </a:solidFill>
              </a:rPr>
              <a:t>  </a:t>
            </a:r>
          </a:p>
          <a:p>
            <a:pPr marL="12700" marR="5080"/>
            <a:r>
              <a:rPr lang="en-US" sz="1050" dirty="0">
                <a:hlinkClick r:id="rId8"/>
              </a:rPr>
              <a:t>Configure and use a Postman mock server | Postman Learning Center</a:t>
            </a:r>
            <a:endParaRPr lang="en-US" sz="1050" dirty="0"/>
          </a:p>
        </p:txBody>
      </p:sp>
      <p:pic>
        <p:nvPicPr>
          <p:cNvPr id="39940" name="Picture 4">
            <a:extLst>
              <a:ext uri="{FF2B5EF4-FFF2-40B4-BE49-F238E27FC236}">
                <a16:creationId xmlns:a16="http://schemas.microsoft.com/office/drawing/2014/main" id="{0D0D0D7F-6AF7-65D7-3FF1-290ED2CBC2C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63" y="1058980"/>
            <a:ext cx="8305800" cy="4034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54548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0" y="6096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Functional Testing -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3102C7EC-7155-21AB-C7D8-BE8CCB5D0E31}"/>
              </a:ext>
            </a:extLst>
          </p:cNvPr>
          <p:cNvSpPr txBox="1">
            <a:spLocks/>
          </p:cNvSpPr>
          <p:nvPr/>
        </p:nvSpPr>
        <p:spPr>
          <a:xfrm>
            <a:off x="39284" y="2971800"/>
            <a:ext cx="8624937" cy="321626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6"/>
                </a:solidFill>
              </a:rPr>
              <a:t>The 3 most important things to address w.r.t any functional testing are Test Scenarios(what to test, less detailed &amp; more broader), Test Cases(how to test, more detailed, less broader) &amp; Test Data. Also Test cases are  in general derived from Test Scenarios.</a:t>
            </a:r>
          </a:p>
          <a:p>
            <a:pPr marL="12700" marR="5080"/>
            <a:r>
              <a:rPr lang="en-US" sz="1000" kern="0" spc="-80" dirty="0">
                <a:solidFill>
                  <a:schemeClr val="accent2"/>
                </a:solidFill>
              </a:rPr>
              <a:t>For Further Exploration-</a:t>
            </a:r>
          </a:p>
          <a:p>
            <a:pPr marL="12700" marR="5080"/>
            <a:r>
              <a:rPr lang="en-IN" sz="1000" dirty="0">
                <a:hlinkClick r:id="rId7"/>
              </a:rPr>
              <a:t>Full Stack Testing: A Practical Guide for Delivering High Quality Software</a:t>
            </a:r>
            <a:endParaRPr lang="en-IN" sz="1000" dirty="0"/>
          </a:p>
          <a:p>
            <a:pPr marL="12700" marR="5080"/>
            <a:r>
              <a:rPr lang="en-IN" sz="1000" dirty="0">
                <a:hlinkClick r:id="rId8"/>
              </a:rPr>
              <a:t>DevOps Test Automation | Atlassian</a:t>
            </a:r>
            <a:endParaRPr lang="en-IN" sz="1000" dirty="0"/>
          </a:p>
          <a:p>
            <a:pPr marL="12700" marR="5080"/>
            <a:r>
              <a:rPr lang="en-IN" sz="1000" dirty="0">
                <a:hlinkClick r:id="rId9"/>
              </a:rPr>
              <a:t>Software Testing Strategies | Programming | eBook</a:t>
            </a:r>
            <a:endParaRPr lang="en-IN" sz="1000" dirty="0"/>
          </a:p>
          <a:p>
            <a:pPr marL="12700" marR="5080"/>
            <a:r>
              <a:rPr lang="en-US" sz="1000" dirty="0">
                <a:hlinkClick r:id="rId10"/>
              </a:rPr>
              <a:t>Page Object Model and Page Factory in Selenium | </a:t>
            </a:r>
            <a:r>
              <a:rPr lang="en-US" sz="1000" dirty="0" err="1">
                <a:hlinkClick r:id="rId10"/>
              </a:rPr>
              <a:t>BrowserStack</a:t>
            </a:r>
            <a:endParaRPr lang="en-US" sz="1000" dirty="0"/>
          </a:p>
          <a:p>
            <a:pPr marL="12700" marR="5080"/>
            <a:r>
              <a:rPr lang="en-US" sz="1000" dirty="0">
                <a:hlinkClick r:id="rId11"/>
              </a:rPr>
              <a:t>What are the common challenges and pitfalls of using Page Object Model and how do you overcome them?</a:t>
            </a:r>
            <a:endParaRPr lang="en-US" sz="1000" dirty="0"/>
          </a:p>
          <a:p>
            <a:pPr marL="12700" marR="5080"/>
            <a:r>
              <a:rPr lang="en-US" sz="1000" dirty="0">
                <a:hlinkClick r:id="rId12"/>
              </a:rPr>
              <a:t>Challenging the Page Object Model | by </a:t>
            </a:r>
            <a:r>
              <a:rPr lang="en-US" sz="1000" dirty="0" err="1">
                <a:hlinkClick r:id="rId12"/>
              </a:rPr>
              <a:t>SebasViquez</a:t>
            </a:r>
            <a:r>
              <a:rPr lang="en-US" sz="1000" dirty="0">
                <a:hlinkClick r:id="rId12"/>
              </a:rPr>
              <a:t> | Medium</a:t>
            </a:r>
            <a:endParaRPr lang="en-US" sz="1000" dirty="0"/>
          </a:p>
          <a:p>
            <a:pPr marL="12700" marR="5080"/>
            <a:r>
              <a:rPr lang="en-US" sz="1000" dirty="0">
                <a:hlinkClick r:id="rId13"/>
              </a:rPr>
              <a:t>How do you test APIs that use asynchronous communication?</a:t>
            </a:r>
            <a:endParaRPr lang="en-US" sz="1000" dirty="0"/>
          </a:p>
          <a:p>
            <a:pPr marL="12700" marR="5080"/>
            <a:r>
              <a:rPr lang="en-US" sz="1000" dirty="0">
                <a:hlinkClick r:id="rId14"/>
              </a:rPr>
              <a:t>Consumer-Driven Contract Testing (CDC) - Engineering Fundamentals Playbook</a:t>
            </a:r>
            <a:endParaRPr lang="en-US" sz="1000" dirty="0"/>
          </a:p>
          <a:p>
            <a:pPr marL="12700" marR="5080"/>
            <a:r>
              <a:rPr lang="en-US" sz="1000" dirty="0">
                <a:hlinkClick r:id="rId15"/>
              </a:rPr>
              <a:t>Playwright</a:t>
            </a:r>
            <a:endParaRPr lang="en-US" sz="1000" dirty="0"/>
          </a:p>
          <a:p>
            <a:pPr marL="12700" marR="5080"/>
            <a:r>
              <a:rPr lang="en-US" sz="1000" dirty="0">
                <a:hlinkClick r:id="rId16"/>
              </a:rPr>
              <a:t>Playwright-Python-and-</a:t>
            </a:r>
            <a:r>
              <a:rPr lang="en-US" sz="1000" dirty="0" err="1">
                <a:hlinkClick r:id="rId16"/>
              </a:rPr>
              <a:t>Pytest</a:t>
            </a:r>
            <a:r>
              <a:rPr lang="en-US" sz="1000" dirty="0">
                <a:hlinkClick r:id="rId16"/>
              </a:rPr>
              <a:t>-for-Web-Automation-Testing</a:t>
            </a:r>
            <a:endParaRPr lang="en-US" sz="1000" dirty="0"/>
          </a:p>
          <a:p>
            <a:pPr marL="12700" marR="5080"/>
            <a:r>
              <a:rPr lang="en-US" sz="1000" dirty="0">
                <a:hlinkClick r:id="rId17"/>
              </a:rPr>
              <a:t>Hands-On Test Management with Jira | Business &amp; Other | eBook</a:t>
            </a:r>
            <a:endParaRPr lang="en-US" sz="1000" dirty="0"/>
          </a:p>
          <a:p>
            <a:pPr marL="12700" marR="5080"/>
            <a:r>
              <a:rPr lang="en-US" sz="1000" dirty="0">
                <a:hlinkClick r:id="rId18"/>
              </a:rPr>
              <a:t>Test Execution - Zephyr Standalone 6.1 &amp; 6.2 – Confluence</a:t>
            </a:r>
            <a:endParaRPr lang="en-US" sz="1000" dirty="0"/>
          </a:p>
          <a:p>
            <a:pPr marL="12700" marR="5080"/>
            <a:r>
              <a:rPr lang="en-US" sz="1000" dirty="0">
                <a:hlinkClick r:id="rId19"/>
              </a:rPr>
              <a:t>Use scripts to add logic and tests to Postman requests | Postman Docs</a:t>
            </a:r>
            <a:endParaRPr lang="en-US" sz="1000" dirty="0"/>
          </a:p>
          <a:p>
            <a:pPr marL="12700" marR="5080"/>
            <a:r>
              <a:rPr lang="en-US" sz="1000">
                <a:hlinkClick r:id="rId20"/>
              </a:rPr>
              <a:t>Allure Report — Open-source HTML test automation report tool</a:t>
            </a:r>
            <a:endParaRPr lang="en-US" sz="1000" kern="0" spc="-80" dirty="0">
              <a:solidFill>
                <a:schemeClr val="accent2"/>
              </a:solidFill>
            </a:endParaRPr>
          </a:p>
          <a:p>
            <a:pPr marL="12700" marR="5080"/>
            <a:endParaRPr lang="en-US" sz="1400" dirty="0"/>
          </a:p>
        </p:txBody>
      </p:sp>
      <p:pic>
        <p:nvPicPr>
          <p:cNvPr id="11" name="Picture 10">
            <a:extLst>
              <a:ext uri="{FF2B5EF4-FFF2-40B4-BE49-F238E27FC236}">
                <a16:creationId xmlns:a16="http://schemas.microsoft.com/office/drawing/2014/main" id="{82F0C5CE-C060-7516-DA76-D0DCCCC800AF}"/>
              </a:ext>
            </a:extLst>
          </p:cNvPr>
          <p:cNvPicPr>
            <a:picLocks noChangeAspect="1"/>
          </p:cNvPicPr>
          <p:nvPr/>
        </p:nvPicPr>
        <p:blipFill>
          <a:blip r:embed="rId21"/>
          <a:stretch>
            <a:fillRect/>
          </a:stretch>
        </p:blipFill>
        <p:spPr>
          <a:xfrm>
            <a:off x="39284" y="965064"/>
            <a:ext cx="8814253" cy="2006736"/>
          </a:xfrm>
          <a:prstGeom prst="rect">
            <a:avLst/>
          </a:prstGeom>
        </p:spPr>
      </p:pic>
    </p:spTree>
    <p:extLst>
      <p:ext uri="{BB962C8B-B14F-4D97-AF65-F5344CB8AC3E}">
        <p14:creationId xmlns:p14="http://schemas.microsoft.com/office/powerpoint/2010/main" val="23054896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0" y="6096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Performance Testing -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3102C7EC-7155-21AB-C7D8-BE8CCB5D0E31}"/>
              </a:ext>
            </a:extLst>
          </p:cNvPr>
          <p:cNvSpPr txBox="1">
            <a:spLocks/>
          </p:cNvSpPr>
          <p:nvPr/>
        </p:nvSpPr>
        <p:spPr>
          <a:xfrm>
            <a:off x="137369" y="4680228"/>
            <a:ext cx="8624937" cy="14157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a:t>
            </a:r>
          </a:p>
          <a:p>
            <a:pPr marL="12700" marR="5080"/>
            <a:r>
              <a:rPr lang="en-US" sz="1100" dirty="0">
                <a:hlinkClick r:id="rId7"/>
              </a:rPr>
              <a:t>Why averages suck and percentiles are great</a:t>
            </a:r>
            <a:endParaRPr lang="en-US" sz="1100" dirty="0"/>
          </a:p>
          <a:p>
            <a:pPr marL="12700" marR="5080"/>
            <a:r>
              <a:rPr lang="en-IN" sz="1100" dirty="0">
                <a:hlinkClick r:id="rId8"/>
              </a:rPr>
              <a:t>Load Testing</a:t>
            </a:r>
            <a:endParaRPr lang="en-IN" sz="1100" dirty="0"/>
          </a:p>
          <a:p>
            <a:pPr marL="12700" marR="5080"/>
            <a:r>
              <a:rPr lang="en-US" sz="1100" dirty="0">
                <a:hlinkClick r:id="rId9"/>
              </a:rPr>
              <a:t>Measure performance in Visual Studio - Visual Studio (Windows) | Microsoft Learn</a:t>
            </a:r>
            <a:endParaRPr lang="en-US" sz="1100" dirty="0"/>
          </a:p>
          <a:p>
            <a:pPr marL="12700" marR="5080"/>
            <a:r>
              <a:rPr lang="en-US" sz="1100" dirty="0">
                <a:hlinkClick r:id="rId10"/>
              </a:rPr>
              <a:t>JMeter Tutorial: Getting Started with </a:t>
            </a:r>
            <a:r>
              <a:rPr lang="en-US" sz="1100" dirty="0" err="1">
                <a:hlinkClick r:id="rId10"/>
              </a:rPr>
              <a:t>Jmeter</a:t>
            </a:r>
            <a:endParaRPr lang="en-US" sz="1100" dirty="0"/>
          </a:p>
          <a:p>
            <a:pPr marL="12700" marR="5080"/>
            <a:r>
              <a:rPr lang="en-US" sz="1100" dirty="0">
                <a:hlinkClick r:id="rId11"/>
              </a:rPr>
              <a:t>How you should be load testing your background services</a:t>
            </a:r>
            <a:r>
              <a:rPr lang="en-US" sz="1100" dirty="0"/>
              <a:t>  </a:t>
            </a:r>
            <a:r>
              <a:rPr lang="en-US" sz="1100" dirty="0">
                <a:hlinkClick r:id="rId12"/>
              </a:rPr>
              <a:t>Asynchronous API Performance Testing with JMeter</a:t>
            </a:r>
            <a:endParaRPr lang="en-US" sz="1100" dirty="0"/>
          </a:p>
          <a:p>
            <a:pPr marL="12700" marR="5080"/>
            <a:r>
              <a:rPr lang="en-US" sz="1100" dirty="0" err="1">
                <a:hlinkClick r:id="rId13"/>
              </a:rPr>
              <a:t>BenchmarkDotNet</a:t>
            </a:r>
            <a:r>
              <a:rPr lang="en-US" sz="1100" dirty="0">
                <a:hlinkClick r:id="rId13"/>
              </a:rPr>
              <a:t>: Powerful .NET library for benchmarking</a:t>
            </a:r>
            <a:endParaRPr lang="en-US" sz="1100" dirty="0"/>
          </a:p>
          <a:p>
            <a:pPr marL="12700" marR="5080"/>
            <a:r>
              <a:rPr lang="en-US" sz="1100" dirty="0"/>
              <a:t>  </a:t>
            </a:r>
          </a:p>
        </p:txBody>
      </p:sp>
      <p:pic>
        <p:nvPicPr>
          <p:cNvPr id="41986" name="Picture 2" descr="Top 10 Performance Testing Tools | Load Testing Tools Guide | Edureka">
            <a:extLst>
              <a:ext uri="{FF2B5EF4-FFF2-40B4-BE49-F238E27FC236}">
                <a16:creationId xmlns:a16="http://schemas.microsoft.com/office/drawing/2014/main" id="{3A7AB2B9-69DE-DDAC-1362-16CB9EDB4FF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3400" y="1131332"/>
            <a:ext cx="7239000" cy="3548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13663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85A9C1-1662-182C-D6C7-9E8801FFFC5C}"/>
              </a:ext>
            </a:extLst>
          </p:cNvPr>
          <p:cNvSpPr txBox="1">
            <a:spLocks/>
          </p:cNvSpPr>
          <p:nvPr/>
        </p:nvSpPr>
        <p:spPr>
          <a:xfrm>
            <a:off x="0" y="6096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Testing -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3102C7EC-7155-21AB-C7D8-BE8CCB5D0E31}"/>
              </a:ext>
            </a:extLst>
          </p:cNvPr>
          <p:cNvSpPr txBox="1">
            <a:spLocks/>
          </p:cNvSpPr>
          <p:nvPr/>
        </p:nvSpPr>
        <p:spPr>
          <a:xfrm>
            <a:off x="137369" y="4579947"/>
            <a:ext cx="8624937" cy="15081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400" kern="0" spc="-80" dirty="0">
                <a:solidFill>
                  <a:schemeClr val="accent2"/>
                </a:solidFill>
              </a:rPr>
              <a:t>  </a:t>
            </a:r>
            <a:r>
              <a:rPr lang="en-US" sz="1500" dirty="0">
                <a:hlinkClick r:id="rId7"/>
              </a:rPr>
              <a:t>Differences Between SAST, DAST, IAST, And RASP</a:t>
            </a:r>
            <a:r>
              <a:rPr lang="en-US" sz="1500" dirty="0"/>
              <a:t>   </a:t>
            </a:r>
            <a:endParaRPr lang="en-US" sz="1500" kern="0" spc="-80" dirty="0">
              <a:solidFill>
                <a:schemeClr val="accent2"/>
              </a:solidFill>
            </a:endParaRPr>
          </a:p>
          <a:p>
            <a:pPr marL="12700" marR="5080"/>
            <a:r>
              <a:rPr lang="en-US" sz="1500" kern="0" spc="-80" dirty="0">
                <a:solidFill>
                  <a:schemeClr val="accent2"/>
                </a:solidFill>
              </a:rPr>
              <a:t>  </a:t>
            </a:r>
            <a:r>
              <a:rPr lang="en-US" sz="1500" dirty="0">
                <a:hlinkClick r:id="rId8"/>
              </a:rPr>
              <a:t>10 Types of Application Security Testing Tools: When and How to Use Them</a:t>
            </a:r>
            <a:r>
              <a:rPr lang="en-US" sz="1500" kern="0" spc="-80" dirty="0">
                <a:solidFill>
                  <a:schemeClr val="accent2"/>
                </a:solidFill>
              </a:rPr>
              <a:t>   </a:t>
            </a:r>
          </a:p>
          <a:p>
            <a:pPr marL="12700" marR="5080"/>
            <a:r>
              <a:rPr lang="en-US" sz="1500" kern="0" spc="-80" dirty="0">
                <a:solidFill>
                  <a:schemeClr val="accent2"/>
                </a:solidFill>
              </a:rPr>
              <a:t>  </a:t>
            </a:r>
            <a:r>
              <a:rPr lang="en-US" sz="1500" dirty="0">
                <a:hlinkClick r:id="rId9"/>
              </a:rPr>
              <a:t>GitHub - </a:t>
            </a:r>
            <a:r>
              <a:rPr lang="en-US" sz="1500" dirty="0" err="1">
                <a:hlinkClick r:id="rId9"/>
              </a:rPr>
              <a:t>iriusrisk</a:t>
            </a:r>
            <a:r>
              <a:rPr lang="en-US" sz="1500" dirty="0">
                <a:hlinkClick r:id="rId9"/>
              </a:rPr>
              <a:t>/</a:t>
            </a:r>
            <a:r>
              <a:rPr lang="en-US" sz="1500" dirty="0" err="1">
                <a:hlinkClick r:id="rId9"/>
              </a:rPr>
              <a:t>bdd</a:t>
            </a:r>
            <a:r>
              <a:rPr lang="en-US" sz="1500" dirty="0">
                <a:hlinkClick r:id="rId9"/>
              </a:rPr>
              <a:t>-security: BDD Automated Security Tests for Web Applications</a:t>
            </a:r>
            <a:r>
              <a:rPr lang="en-US" sz="1500" kern="0" spc="-80" dirty="0">
                <a:solidFill>
                  <a:schemeClr val="accent2"/>
                </a:solidFill>
              </a:rPr>
              <a:t>  </a:t>
            </a:r>
          </a:p>
          <a:p>
            <a:pPr marL="12700" marR="5080"/>
            <a:r>
              <a:rPr lang="en-US" sz="1500" kern="0" spc="-80" dirty="0">
                <a:solidFill>
                  <a:schemeClr val="accent2"/>
                </a:solidFill>
              </a:rPr>
              <a:t>  </a:t>
            </a:r>
            <a:r>
              <a:rPr lang="en-US" sz="1500" dirty="0">
                <a:hlinkClick r:id="rId10"/>
              </a:rPr>
              <a:t>Security Scanning Tools: Enhancing Application Security</a:t>
            </a:r>
            <a:endParaRPr lang="en-US" sz="1500" dirty="0"/>
          </a:p>
          <a:p>
            <a:pPr marL="12700" marR="5080"/>
            <a:endParaRPr lang="en-US" sz="1400" kern="0" spc="-80" dirty="0">
              <a:solidFill>
                <a:schemeClr val="accent2"/>
              </a:solidFill>
            </a:endParaRPr>
          </a:p>
        </p:txBody>
      </p:sp>
      <p:pic>
        <p:nvPicPr>
          <p:cNvPr id="43010" name="Picture 2" descr="10 Types of Application Security Testing Tools: When and How to Use Them">
            <a:extLst>
              <a:ext uri="{FF2B5EF4-FFF2-40B4-BE49-F238E27FC236}">
                <a16:creationId xmlns:a16="http://schemas.microsoft.com/office/drawing/2014/main" id="{374C56D6-80C7-FB5F-EFB3-8909C7F63A6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7338" y="1131332"/>
            <a:ext cx="8567737" cy="3448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61312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829282266"/>
              </p:ext>
            </p:extLst>
          </p:nvPr>
        </p:nvGraphicFramePr>
        <p:xfrm>
          <a:off x="46700" y="34425"/>
          <a:ext cx="9006762"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72F3D23-70D1-4E8F-E456-381E9B639F73}"/>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Chaos Engineering –</a:t>
            </a:r>
          </a:p>
        </p:txBody>
      </p:sp>
      <p:sp>
        <p:nvSpPr>
          <p:cNvPr id="9" name="object 2">
            <a:extLst>
              <a:ext uri="{FF2B5EF4-FFF2-40B4-BE49-F238E27FC236}">
                <a16:creationId xmlns:a16="http://schemas.microsoft.com/office/drawing/2014/main" id="{AB43357A-B690-2734-E232-024935EBDCDC}"/>
              </a:ext>
            </a:extLst>
          </p:cNvPr>
          <p:cNvSpPr txBox="1">
            <a:spLocks/>
          </p:cNvSpPr>
          <p:nvPr/>
        </p:nvSpPr>
        <p:spPr>
          <a:xfrm>
            <a:off x="83368" y="1104708"/>
            <a:ext cx="8915399" cy="45397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tx2">
                    <a:lumMod val="60000"/>
                    <a:lumOff val="40000"/>
                  </a:schemeClr>
                </a:solidFill>
              </a:rPr>
              <a:t>Chaos Engineering is the use of experimental and potentially destructive failure testing into any part of the stack (compute, storage, network or application infrastructure) to uncover vulnerabilities and reduce uncertainty when building complex distributed systems.</a:t>
            </a:r>
          </a:p>
          <a:p>
            <a:pPr marL="12700" marR="5080"/>
            <a:endParaRPr lang="en-US" sz="2000" kern="0" spc="-80" dirty="0">
              <a:solidFill>
                <a:schemeClr val="tx2">
                  <a:lumMod val="60000"/>
                  <a:lumOff val="40000"/>
                </a:schemeClr>
              </a:solidFill>
            </a:endParaRPr>
          </a:p>
          <a:p>
            <a:pPr marL="12700" marR="5080"/>
            <a:r>
              <a:rPr lang="en-US" sz="1700" kern="0" spc="-80" dirty="0">
                <a:solidFill>
                  <a:schemeClr val="accent6"/>
                </a:solidFill>
              </a:rPr>
              <a:t>At the most basic level, application chaos can be created by exposing some “/error”[fault injection] endpoint and giving access to the endpoint only to some specific service account/principal &amp; then checking how the system behaves.</a:t>
            </a:r>
          </a:p>
          <a:p>
            <a:pPr marL="12700" marR="5080"/>
            <a:r>
              <a:rPr lang="en-US" sz="1700" kern="0" spc="-80" dirty="0">
                <a:solidFill>
                  <a:schemeClr val="accent6"/>
                </a:solidFill>
              </a:rPr>
              <a:t>System Level real world chaos can be simulated by deleting resources or shutting down components &amp; checking how the system behaves but that is very risky and should be done after following proper governance process around the same.</a:t>
            </a:r>
          </a:p>
          <a:p>
            <a:pPr marL="12700" marR="5080"/>
            <a:endParaRPr lang="en-US" sz="1700" kern="0" spc="-80" dirty="0">
              <a:solidFill>
                <a:schemeClr val="accent6"/>
              </a:solidFill>
            </a:endParaRPr>
          </a:p>
          <a:p>
            <a:pPr marL="12700" marR="5080"/>
            <a:r>
              <a:rPr lang="en-US" sz="2000" kern="0" spc="-80" dirty="0">
                <a:solidFill>
                  <a:schemeClr val="tx2">
                    <a:lumMod val="60000"/>
                    <a:lumOff val="40000"/>
                  </a:schemeClr>
                </a:solidFill>
              </a:rPr>
              <a:t>Chaos testing is very helpful to test Alerts(and relevant Runbooks pointed by the Alerts).Just like any other type of Testing, Chaos Testing can also be done manually or using unit/automation tests as well.</a:t>
            </a:r>
          </a:p>
          <a:p>
            <a:pPr marL="12700" marR="5080"/>
            <a:endParaRPr lang="en-US" sz="1600" kern="0" spc="-80" dirty="0">
              <a:solidFill>
                <a:schemeClr val="accent6"/>
              </a:solidFill>
            </a:endParaRPr>
          </a:p>
        </p:txBody>
      </p:sp>
      <p:graphicFrame>
        <p:nvGraphicFramePr>
          <p:cNvPr id="8" name="Diagram 7">
            <a:extLst>
              <a:ext uri="{FF2B5EF4-FFF2-40B4-BE49-F238E27FC236}">
                <a16:creationId xmlns:a16="http://schemas.microsoft.com/office/drawing/2014/main" id="{0D782E9E-4CE8-C67F-123C-F2560103727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5982940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060937914"/>
              </p:ext>
            </p:extLst>
          </p:nvPr>
        </p:nvGraphicFramePr>
        <p:xfrm>
          <a:off x="0" y="34425"/>
          <a:ext cx="91440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72F3D23-70D1-4E8F-E456-381E9B639F73}"/>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Chaos Engineering –</a:t>
            </a:r>
          </a:p>
        </p:txBody>
      </p:sp>
      <p:pic>
        <p:nvPicPr>
          <p:cNvPr id="1026" name="Picture 2" descr="Example of Chaos Engineering system based on AWS Services">
            <a:extLst>
              <a:ext uri="{FF2B5EF4-FFF2-40B4-BE49-F238E27FC236}">
                <a16:creationId xmlns:a16="http://schemas.microsoft.com/office/drawing/2014/main" id="{E56861DE-61AB-ADFB-8367-AAD15635767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143001"/>
            <a:ext cx="9144000" cy="48006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Diagram 7">
            <a:extLst>
              <a:ext uri="{FF2B5EF4-FFF2-40B4-BE49-F238E27FC236}">
                <a16:creationId xmlns:a16="http://schemas.microsoft.com/office/drawing/2014/main" id="{C565597D-DCFA-3FF4-10FA-E858EF3CB16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4045341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606999770"/>
              </p:ext>
            </p:extLst>
          </p:nvPr>
        </p:nvGraphicFramePr>
        <p:xfrm>
          <a:off x="0" y="34425"/>
          <a:ext cx="9053462"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72F3D23-70D1-4E8F-E456-381E9B639F73}"/>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Chaos Engineering –</a:t>
            </a:r>
          </a:p>
        </p:txBody>
      </p:sp>
      <p:sp>
        <p:nvSpPr>
          <p:cNvPr id="9" name="object 2">
            <a:extLst>
              <a:ext uri="{FF2B5EF4-FFF2-40B4-BE49-F238E27FC236}">
                <a16:creationId xmlns:a16="http://schemas.microsoft.com/office/drawing/2014/main" id="{AB43357A-B690-2734-E232-024935EBDCDC}"/>
              </a:ext>
            </a:extLst>
          </p:cNvPr>
          <p:cNvSpPr txBox="1">
            <a:spLocks/>
          </p:cNvSpPr>
          <p:nvPr/>
        </p:nvSpPr>
        <p:spPr>
          <a:xfrm>
            <a:off x="138063" y="1435894"/>
            <a:ext cx="8915399" cy="450892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For Further Exploration –</a:t>
            </a:r>
          </a:p>
          <a:p>
            <a:pPr marL="12700" marR="5080"/>
            <a:r>
              <a:rPr lang="en-US" sz="1700" dirty="0">
                <a:hlinkClick r:id="rId7"/>
              </a:rPr>
              <a:t>Chaos Engineering: the history, principles, and practice</a:t>
            </a:r>
            <a:r>
              <a:rPr lang="en-US" sz="1700" kern="0" spc="-80" dirty="0">
                <a:solidFill>
                  <a:schemeClr val="accent2"/>
                </a:solidFill>
              </a:rPr>
              <a:t> </a:t>
            </a:r>
          </a:p>
          <a:p>
            <a:pPr marL="12700" marR="5080"/>
            <a:r>
              <a:rPr lang="en-US" sz="1700" dirty="0">
                <a:hlinkClick r:id="rId8"/>
              </a:rPr>
              <a:t>Building resiliency with chaos engineering | Thoughtworks Australia</a:t>
            </a:r>
            <a:endParaRPr lang="en-US" sz="1700" dirty="0"/>
          </a:p>
          <a:p>
            <a:pPr marL="12700" marR="5080"/>
            <a:r>
              <a:rPr lang="en-US" sz="1700" dirty="0">
                <a:hlinkClick r:id="rId9"/>
              </a:rPr>
              <a:t>The Chaos Engineering Maturity Model</a:t>
            </a:r>
            <a:endParaRPr lang="en-US" sz="1700" dirty="0"/>
          </a:p>
          <a:p>
            <a:pPr marL="12700" marR="5080"/>
            <a:r>
              <a:rPr lang="en-US" sz="1700" dirty="0">
                <a:hlinkClick r:id="rId10"/>
              </a:rPr>
              <a:t>Introducing Litmus 2.0 - Simplify Chaos Engineering - DEV Community</a:t>
            </a:r>
            <a:r>
              <a:rPr lang="en-US" sz="1700" kern="0" spc="-80" dirty="0">
                <a:solidFill>
                  <a:schemeClr val="accent2"/>
                </a:solidFill>
              </a:rPr>
              <a:t> </a:t>
            </a:r>
          </a:p>
          <a:p>
            <a:pPr marL="12700" marR="5080"/>
            <a:r>
              <a:rPr lang="en-US" sz="1700" dirty="0">
                <a:hlinkClick r:id="rId11"/>
              </a:rPr>
              <a:t>How to Test Your Fault Isolation Boundaries in the Cloud - InfoQ</a:t>
            </a:r>
            <a:endParaRPr lang="en-US" sz="1700" kern="0" spc="-80" dirty="0">
              <a:solidFill>
                <a:schemeClr val="accent2"/>
              </a:solidFill>
            </a:endParaRPr>
          </a:p>
          <a:p>
            <a:pPr marL="12700" marR="5080"/>
            <a:r>
              <a:rPr lang="en-IN" sz="1700" dirty="0">
                <a:hlinkClick r:id="rId12"/>
              </a:rPr>
              <a:t>Azure Chaos Studio - Chaos engineering experimentation | Microsoft Azure</a:t>
            </a:r>
            <a:endParaRPr lang="en-IN" sz="1700" dirty="0"/>
          </a:p>
          <a:p>
            <a:pPr marL="12700" marR="5080"/>
            <a:r>
              <a:rPr lang="en-US" sz="1700" dirty="0">
                <a:hlinkClick r:id="rId13"/>
              </a:rPr>
              <a:t>Chaos Engineering using Azure Chaos Studio | Udemy</a:t>
            </a:r>
            <a:endParaRPr lang="en-US" sz="1700" dirty="0"/>
          </a:p>
          <a:p>
            <a:pPr marL="12700" marR="5080"/>
            <a:r>
              <a:rPr lang="en-US" sz="1700" dirty="0">
                <a:hlinkClick r:id="rId14"/>
              </a:rPr>
              <a:t>Kube-Monkey</a:t>
            </a:r>
            <a:endParaRPr lang="en-US" sz="1700" dirty="0"/>
          </a:p>
          <a:p>
            <a:pPr marL="12700" marR="5080"/>
            <a:r>
              <a:rPr lang="en-US" sz="1700" dirty="0">
                <a:hlinkClick r:id="rId15"/>
              </a:rPr>
              <a:t>Create an experiment using a Chaos Mesh fault with the Azure portal</a:t>
            </a:r>
            <a:endParaRPr lang="en-US" sz="1700" dirty="0"/>
          </a:p>
          <a:p>
            <a:pPr marL="12700" marR="5080"/>
            <a:r>
              <a:rPr lang="en-US" sz="1700" dirty="0">
                <a:hlinkClick r:id="rId16"/>
              </a:rPr>
              <a:t>Chaos Engineering with Chaos Toolkit | Udemy</a:t>
            </a:r>
            <a:endParaRPr lang="en-US" sz="1700" dirty="0"/>
          </a:p>
          <a:p>
            <a:pPr marL="12700" marR="5080"/>
            <a:r>
              <a:rPr lang="en-US" sz="1700" dirty="0">
                <a:hlinkClick r:id="rId17"/>
              </a:rPr>
              <a:t>Resilience and chaos engineering - .NET Blog</a:t>
            </a:r>
            <a:r>
              <a:rPr lang="en-US" sz="1700" kern="0" spc="-80" dirty="0">
                <a:solidFill>
                  <a:schemeClr val="accent2"/>
                </a:solidFill>
              </a:rPr>
              <a:t>(this resource is helpful mainly to chaos test the dependencies of a component e.g. some dependency API went down, while most of the other resources mentioned here are mainly to chaos test the component itself)</a:t>
            </a:r>
          </a:p>
          <a:p>
            <a:pPr marL="12700" marR="5080"/>
            <a:r>
              <a:rPr lang="en-US" sz="1700" dirty="0">
                <a:hlinkClick r:id="rId18"/>
              </a:rPr>
              <a:t>Start with chaos engineering in C# | by Jeroen Verhaeghe | Medium</a:t>
            </a:r>
            <a:endParaRPr lang="en-US" sz="1700" dirty="0"/>
          </a:p>
          <a:p>
            <a:pPr marL="12700" marR="5080"/>
            <a:r>
              <a:rPr lang="en-IN" sz="1800" dirty="0" err="1">
                <a:hlinkClick r:id="rId19"/>
              </a:rPr>
              <a:t>UnmeshJoshi</a:t>
            </a:r>
            <a:r>
              <a:rPr lang="en-IN" sz="1800" dirty="0">
                <a:hlinkClick r:id="rId19"/>
              </a:rPr>
              <a:t>/</a:t>
            </a:r>
            <a:r>
              <a:rPr lang="en-IN" sz="1800" dirty="0" err="1">
                <a:hlinkClick r:id="rId19"/>
              </a:rPr>
              <a:t>Tickloom</a:t>
            </a:r>
            <a:endParaRPr lang="en-US" sz="1700" kern="0" spc="-80" dirty="0">
              <a:solidFill>
                <a:schemeClr val="accent2"/>
              </a:solidFill>
            </a:endParaRPr>
          </a:p>
        </p:txBody>
      </p:sp>
      <p:graphicFrame>
        <p:nvGraphicFramePr>
          <p:cNvPr id="8" name="Diagram 7">
            <a:extLst>
              <a:ext uri="{FF2B5EF4-FFF2-40B4-BE49-F238E27FC236}">
                <a16:creationId xmlns:a16="http://schemas.microsoft.com/office/drawing/2014/main" id="{51A26287-45F9-A00E-DD38-B5266CCFE47C}"/>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p:spTree>
    <p:extLst>
      <p:ext uri="{BB962C8B-B14F-4D97-AF65-F5344CB8AC3E}">
        <p14:creationId xmlns:p14="http://schemas.microsoft.com/office/powerpoint/2010/main" val="31417919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3F8FE-53A9-C3C8-DEF4-5D73E1C5A5B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DFD3683-02B1-41DA-8035-330A04EE492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A378509-88A2-C1B3-057D-65497E315BE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B16802E-7658-D359-B405-4999DF6FEA0F}"/>
              </a:ext>
            </a:extLst>
          </p:cNvPr>
          <p:cNvGraphicFramePr/>
          <p:nvPr>
            <p:extLst>
              <p:ext uri="{D42A27DB-BD31-4B8C-83A1-F6EECF244321}">
                <p14:modId xmlns:p14="http://schemas.microsoft.com/office/powerpoint/2010/main" val="2741561458"/>
              </p:ext>
            </p:extLst>
          </p:nvPr>
        </p:nvGraphicFramePr>
        <p:xfrm>
          <a:off x="0" y="71889"/>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8905A25-8385-E61B-B893-D7D490462E9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B360CFF-BDC9-38EA-9E98-37C4B3B671F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3D174B22-A1ED-D16C-117E-BE352F3C1D45}"/>
              </a:ext>
            </a:extLst>
          </p:cNvPr>
          <p:cNvSpPr txBox="1">
            <a:spLocks/>
          </p:cNvSpPr>
          <p:nvPr/>
        </p:nvSpPr>
        <p:spPr>
          <a:xfrm>
            <a:off x="0" y="762000"/>
            <a:ext cx="8915399" cy="553997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2"/>
                </a:solidFill>
              </a:rPr>
              <a:t>Technical Debt Management (Techniques)</a:t>
            </a:r>
          </a:p>
          <a:p>
            <a:pPr marL="12700" marR="5080"/>
            <a:r>
              <a:rPr lang="en-US" sz="1200" kern="0" spc="-80" dirty="0">
                <a:solidFill>
                  <a:schemeClr val="accent6"/>
                </a:solidFill>
              </a:rPr>
              <a:t>Technical debt management involves a combination of preventative measures and remedial actions, such as establishing code quality standards, implementing automated testing and code reviews to prevent new debt, and creating a technical debt backlog to systematically address existing issues through refactoring and prioritization. A continuous approach is key, which includes allocating time for debt reduction within development sprints and fostering a culture of quality and continuous improvement among the team</a:t>
            </a:r>
          </a:p>
          <a:p>
            <a:r>
              <a:rPr lang="en-US" sz="1200" kern="0" spc="-80" dirty="0">
                <a:solidFill>
                  <a:schemeClr val="accent2"/>
                </a:solidFill>
              </a:rPr>
              <a:t>Preventative techniques</a:t>
            </a:r>
          </a:p>
          <a:p>
            <a:r>
              <a:rPr lang="en-US" sz="1200" kern="0" spc="-80" dirty="0">
                <a:solidFill>
                  <a:schemeClr val="accent2"/>
                </a:solidFill>
              </a:rPr>
              <a:t>Establish quality standards: </a:t>
            </a:r>
          </a:p>
          <a:p>
            <a:r>
              <a:rPr lang="en-US" sz="1200" kern="0" spc="-80" dirty="0">
                <a:solidFill>
                  <a:schemeClr val="accent6"/>
                </a:solidFill>
              </a:rPr>
              <a:t>Define clear guidelines for code quality, architecture, and development practices to reduce the creation of new debt. </a:t>
            </a:r>
          </a:p>
          <a:p>
            <a:r>
              <a:rPr lang="en-US" sz="1200" kern="0" spc="-80" dirty="0">
                <a:solidFill>
                  <a:schemeClr val="accent2"/>
                </a:solidFill>
              </a:rPr>
              <a:t>Implement code reviews: </a:t>
            </a:r>
          </a:p>
          <a:p>
            <a:r>
              <a:rPr lang="en-US" sz="1200" kern="0" spc="-80" dirty="0">
                <a:solidFill>
                  <a:schemeClr val="accent6"/>
                </a:solidFill>
              </a:rPr>
              <a:t>Use peer reviews to catch and fix potential issues before they become technical debt. </a:t>
            </a:r>
          </a:p>
          <a:p>
            <a:r>
              <a:rPr lang="en-US" sz="1200" kern="0" spc="-80" dirty="0">
                <a:solidFill>
                  <a:schemeClr val="accent2"/>
                </a:solidFill>
              </a:rPr>
              <a:t>Automate testing and integration: </a:t>
            </a:r>
          </a:p>
          <a:p>
            <a:r>
              <a:rPr lang="en-US" sz="1200" kern="0" spc="-80" dirty="0">
                <a:solidFill>
                  <a:schemeClr val="accent6"/>
                </a:solidFill>
              </a:rPr>
              <a:t>Set up automated tests and continuous integration (CI) pipelines to catch bugs early and ensure new code doesn't introduce new debt. </a:t>
            </a:r>
          </a:p>
          <a:p>
            <a:r>
              <a:rPr lang="en-US" sz="1200" kern="0" spc="-80" dirty="0">
                <a:solidFill>
                  <a:schemeClr val="accent2"/>
                </a:solidFill>
              </a:rPr>
              <a:t>Improve documentation:</a:t>
            </a:r>
            <a:r>
              <a:rPr lang="en-US" sz="1200" kern="0" spc="-80" dirty="0">
                <a:solidFill>
                  <a:schemeClr val="accent6"/>
                </a:solidFill>
              </a:rPr>
              <a:t> </a:t>
            </a:r>
          </a:p>
          <a:p>
            <a:r>
              <a:rPr lang="en-US" sz="1200" kern="0" spc="-80" dirty="0">
                <a:solidFill>
                  <a:schemeClr val="accent6"/>
                </a:solidFill>
              </a:rPr>
              <a:t>Maintain up-to-date and accurate documentation to reduce knowledge gaps and facilitate maintenance and refactoring. </a:t>
            </a:r>
          </a:p>
          <a:p>
            <a:r>
              <a:rPr lang="en-US" sz="1200" kern="0" spc="-80" dirty="0">
                <a:solidFill>
                  <a:schemeClr val="accent2"/>
                </a:solidFill>
              </a:rPr>
              <a:t>Regularly update systems: </a:t>
            </a:r>
          </a:p>
          <a:p>
            <a:r>
              <a:rPr lang="en-US" sz="1200" kern="0" spc="-80" dirty="0">
                <a:solidFill>
                  <a:schemeClr val="accent6"/>
                </a:solidFill>
              </a:rPr>
              <a:t>Keep libraries and dependencies updated to prevent compatibility and security issues. </a:t>
            </a:r>
          </a:p>
          <a:p>
            <a:r>
              <a:rPr lang="en-US" sz="1200" kern="0" spc="-80" dirty="0">
                <a:solidFill>
                  <a:schemeClr val="accent2"/>
                </a:solidFill>
              </a:rPr>
              <a:t>Conduct architecture reviews: </a:t>
            </a:r>
          </a:p>
          <a:p>
            <a:r>
              <a:rPr lang="en-US" sz="1200" kern="0" spc="-80" dirty="0">
                <a:solidFill>
                  <a:schemeClr val="accent6"/>
                </a:solidFill>
              </a:rPr>
              <a:t>Periodically assess the system architecture to ensure it still meets business needs and is scalable. </a:t>
            </a:r>
          </a:p>
          <a:p>
            <a:r>
              <a:rPr lang="en-US" sz="1200" kern="0" spc="-80" dirty="0">
                <a:solidFill>
                  <a:schemeClr val="accent6"/>
                </a:solidFill>
              </a:rPr>
              <a:t>Remedial techniques</a:t>
            </a:r>
          </a:p>
          <a:p>
            <a:r>
              <a:rPr lang="en-US" sz="1200" kern="0" spc="-80" dirty="0">
                <a:solidFill>
                  <a:schemeClr val="accent2"/>
                </a:solidFill>
              </a:rPr>
              <a:t>Identify and prioritize: </a:t>
            </a:r>
          </a:p>
          <a:p>
            <a:r>
              <a:rPr lang="en-US" sz="1200" kern="0" spc="-80" dirty="0">
                <a:solidFill>
                  <a:schemeClr val="accent6"/>
                </a:solidFill>
              </a:rPr>
              <a:t>Conduct audits to find technical debt and then create a register or backlog to track and prioritize issues based on their impact on performance, security, and maintainability. </a:t>
            </a:r>
          </a:p>
          <a:p>
            <a:r>
              <a:rPr lang="en-US" sz="1200" kern="0" spc="-80" dirty="0">
                <a:solidFill>
                  <a:schemeClr val="accent2"/>
                </a:solidFill>
              </a:rPr>
              <a:t>Allocate time for repayment: </a:t>
            </a:r>
          </a:p>
          <a:p>
            <a:r>
              <a:rPr lang="en-US" sz="1200" kern="0" spc="-80" dirty="0">
                <a:solidFill>
                  <a:schemeClr val="accent6"/>
                </a:solidFill>
              </a:rPr>
              <a:t>Integrate debt reduction into the development process, such as allocating a percentage of each sprint to tackle it. </a:t>
            </a:r>
          </a:p>
          <a:p>
            <a:r>
              <a:rPr lang="en-US" sz="1200" kern="0" spc="-80" dirty="0">
                <a:solidFill>
                  <a:schemeClr val="accent2"/>
                </a:solidFill>
              </a:rPr>
              <a:t>Regular refactoring: </a:t>
            </a:r>
          </a:p>
          <a:p>
            <a:r>
              <a:rPr lang="en-US" sz="1200" kern="0" spc="-80" dirty="0">
                <a:solidFill>
                  <a:schemeClr val="accent6"/>
                </a:solidFill>
              </a:rPr>
              <a:t>Make refactoring a regular habit to improve code quality and maintainability. This can involve "preparatory refactoring" where</a:t>
            </a:r>
          </a:p>
          <a:p>
            <a:pPr marL="12700" marR="5080"/>
            <a:endParaRPr lang="en-US" sz="1200" kern="0" spc="-80" dirty="0">
              <a:solidFill>
                <a:schemeClr val="accent6"/>
              </a:solidFill>
            </a:endParaRPr>
          </a:p>
        </p:txBody>
      </p:sp>
    </p:spTree>
    <p:extLst>
      <p:ext uri="{BB962C8B-B14F-4D97-AF65-F5344CB8AC3E}">
        <p14:creationId xmlns:p14="http://schemas.microsoft.com/office/powerpoint/2010/main" val="3573395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6A1E2-B50F-C5DC-68EE-7B331132DB3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C507DD7-187A-A9AB-6D24-73D07F59F28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302F30F-0A8E-F31A-1DC8-A21918A30E8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FB784C8-70C3-F8DD-2CA5-14C2C43E4D02}"/>
              </a:ext>
            </a:extLst>
          </p:cNvPr>
          <p:cNvGraphicFramePr/>
          <p:nvPr>
            <p:extLst>
              <p:ext uri="{D42A27DB-BD31-4B8C-83A1-F6EECF244321}">
                <p14:modId xmlns:p14="http://schemas.microsoft.com/office/powerpoint/2010/main" val="1107293048"/>
              </p:ext>
            </p:extLst>
          </p:nvPr>
        </p:nvGraphicFramePr>
        <p:xfrm>
          <a:off x="1835" y="71889"/>
          <a:ext cx="8913563"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1F2E59B-D138-2E01-757C-A024EDC85B9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5AB81F34-EB9E-3952-196B-C83C8C50EEC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62E6DE89-6360-DC2D-E6BD-EC2E0B75F58E}"/>
              </a:ext>
            </a:extLst>
          </p:cNvPr>
          <p:cNvSpPr txBox="1">
            <a:spLocks/>
          </p:cNvSpPr>
          <p:nvPr/>
        </p:nvSpPr>
        <p:spPr>
          <a:xfrm>
            <a:off x="0" y="762000"/>
            <a:ext cx="8915399" cy="33239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200" kern="0" spc="-80" dirty="0">
                <a:solidFill>
                  <a:schemeClr val="accent2"/>
                </a:solidFill>
              </a:rPr>
              <a:t>Technical Debt Management (Techniques)</a:t>
            </a:r>
          </a:p>
          <a:p>
            <a:r>
              <a:rPr lang="en-US" sz="1200" kern="0" spc="-80" dirty="0">
                <a:solidFill>
                  <a:schemeClr val="accent6"/>
                </a:solidFill>
              </a:rPr>
              <a:t>you improve a section of code before adding new features. </a:t>
            </a:r>
            <a:endParaRPr lang="en-US" sz="1200" kern="0" spc="-80" dirty="0">
              <a:solidFill>
                <a:schemeClr val="accent2"/>
              </a:solidFill>
            </a:endParaRPr>
          </a:p>
          <a:p>
            <a:r>
              <a:rPr lang="en-US" sz="1200" kern="0" spc="-80" dirty="0">
                <a:solidFill>
                  <a:schemeClr val="accent2"/>
                </a:solidFill>
              </a:rPr>
              <a:t>Address high-impact issues first: </a:t>
            </a:r>
          </a:p>
          <a:p>
            <a:r>
              <a:rPr lang="en-US" sz="1200" kern="0" spc="-80" dirty="0">
                <a:solidFill>
                  <a:schemeClr val="accent6"/>
                </a:solidFill>
              </a:rPr>
              <a:t>Prioritize fixing critical issues that cause performance failures or security flaws. </a:t>
            </a:r>
          </a:p>
          <a:p>
            <a:r>
              <a:rPr lang="en-US" sz="1200" kern="0" spc="-80" dirty="0">
                <a:solidFill>
                  <a:schemeClr val="accent6"/>
                </a:solidFill>
              </a:rPr>
              <a:t>Cultural and process techniques</a:t>
            </a:r>
          </a:p>
          <a:p>
            <a:r>
              <a:rPr lang="en-US" sz="1200" kern="0" spc="-80" dirty="0">
                <a:solidFill>
                  <a:schemeClr val="accent2"/>
                </a:solidFill>
              </a:rPr>
              <a:t>Foster a culture of continuous improvement: </a:t>
            </a:r>
          </a:p>
          <a:p>
            <a:r>
              <a:rPr lang="en-US" sz="1200" kern="0" spc="-80" dirty="0">
                <a:solidFill>
                  <a:schemeClr val="accent6"/>
                </a:solidFill>
              </a:rPr>
              <a:t>Encourage a team-wide mindset of continuous learning and improvement, where quality is everyone's responsibility. </a:t>
            </a:r>
          </a:p>
          <a:p>
            <a:r>
              <a:rPr lang="en-US" sz="1200" kern="0" spc="-80" dirty="0">
                <a:solidFill>
                  <a:schemeClr val="accent2"/>
                </a:solidFill>
              </a:rPr>
              <a:t>Educate and train the team: </a:t>
            </a:r>
          </a:p>
          <a:p>
            <a:r>
              <a:rPr lang="en-US" sz="1200" kern="0" spc="-80" dirty="0">
                <a:solidFill>
                  <a:schemeClr val="accent6"/>
                </a:solidFill>
              </a:rPr>
              <a:t>Provide training on best practices and refactoring techniques to equip developers with the necessary skills. </a:t>
            </a:r>
          </a:p>
          <a:p>
            <a:r>
              <a:rPr lang="en-US" sz="1200" kern="0" spc="-80" dirty="0">
                <a:solidFill>
                  <a:schemeClr val="accent2"/>
                </a:solidFill>
              </a:rPr>
              <a:t>Communicate with stakeholders: </a:t>
            </a:r>
          </a:p>
          <a:p>
            <a:r>
              <a:rPr lang="en-US" sz="1200" kern="0" spc="-80" dirty="0">
                <a:solidFill>
                  <a:schemeClr val="accent6"/>
                </a:solidFill>
              </a:rPr>
              <a:t>Keep stakeholders informed about the state of technical debt and its impact on the project. </a:t>
            </a:r>
          </a:p>
          <a:p>
            <a:r>
              <a:rPr lang="en-US" sz="1200" kern="0" spc="-80" dirty="0">
                <a:solidFill>
                  <a:schemeClr val="accent2"/>
                </a:solidFill>
              </a:rPr>
              <a:t>Integrate into workflows: </a:t>
            </a:r>
          </a:p>
          <a:p>
            <a:r>
              <a:rPr lang="en-US" sz="1200" kern="0" spc="-80" dirty="0">
                <a:solidFill>
                  <a:schemeClr val="accent6"/>
                </a:solidFill>
              </a:rPr>
              <a:t>Incorporate debt management into daily routines and agile workflows, such as sprint planning and reviews. </a:t>
            </a:r>
          </a:p>
          <a:p>
            <a:endParaRPr lang="en-US" sz="1200" kern="0" spc="-80" dirty="0">
              <a:solidFill>
                <a:schemeClr val="accent6"/>
              </a:solidFill>
            </a:endParaRPr>
          </a:p>
          <a:p>
            <a:r>
              <a:rPr lang="en-US" sz="1200" kern="0" spc="-80" dirty="0">
                <a:solidFill>
                  <a:schemeClr val="accent2"/>
                </a:solidFill>
              </a:rPr>
              <a:t>For Further Exploration</a:t>
            </a:r>
          </a:p>
          <a:p>
            <a:r>
              <a:rPr lang="en-US" sz="1200" dirty="0">
                <a:hlinkClick r:id="rId7"/>
              </a:rPr>
              <a:t>Everything You NEED to Know About TECH DEBT</a:t>
            </a:r>
            <a:r>
              <a:rPr lang="en-US" sz="1200" dirty="0"/>
              <a:t> </a:t>
            </a:r>
          </a:p>
          <a:p>
            <a:r>
              <a:rPr lang="en-US" sz="1200" dirty="0">
                <a:hlinkClick r:id="rId8"/>
              </a:rPr>
              <a:t>Types Of Technical Debt And How To Manage Them</a:t>
            </a:r>
            <a:endParaRPr lang="en-US" sz="1200" kern="0" spc="-80" dirty="0">
              <a:solidFill>
                <a:schemeClr val="accent2"/>
              </a:solidFill>
            </a:endParaRPr>
          </a:p>
          <a:p>
            <a:pPr marL="12700" marR="5080"/>
            <a:endParaRPr lang="en-US" sz="1200" kern="0" spc="-80" dirty="0">
              <a:solidFill>
                <a:schemeClr val="accent6"/>
              </a:solidFill>
            </a:endParaRPr>
          </a:p>
        </p:txBody>
      </p:sp>
    </p:spTree>
    <p:extLst>
      <p:ext uri="{BB962C8B-B14F-4D97-AF65-F5344CB8AC3E}">
        <p14:creationId xmlns:p14="http://schemas.microsoft.com/office/powerpoint/2010/main" val="3376664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869867777"/>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C40F44C2-D7F6-514B-22C7-E80092B217F2}"/>
              </a:ext>
            </a:extLst>
          </p:cNvPr>
          <p:cNvSpPr txBox="1">
            <a:spLocks/>
          </p:cNvSpPr>
          <p:nvPr/>
        </p:nvSpPr>
        <p:spPr>
          <a:xfrm>
            <a:off x="1" y="685800"/>
            <a:ext cx="8762306"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Practices –</a:t>
            </a:r>
          </a:p>
        </p:txBody>
      </p:sp>
      <p:pic>
        <p:nvPicPr>
          <p:cNvPr id="10" name="Picture 9">
            <a:extLst>
              <a:ext uri="{FF2B5EF4-FFF2-40B4-BE49-F238E27FC236}">
                <a16:creationId xmlns:a16="http://schemas.microsoft.com/office/drawing/2014/main" id="{E5CA2525-A8B6-4F6B-DF43-A74AAC695520}"/>
              </a:ext>
            </a:extLst>
          </p:cNvPr>
          <p:cNvPicPr>
            <a:picLocks noChangeAspect="1"/>
          </p:cNvPicPr>
          <p:nvPr/>
        </p:nvPicPr>
        <p:blipFill>
          <a:blip r:embed="rId7"/>
          <a:stretch>
            <a:fillRect/>
          </a:stretch>
        </p:blipFill>
        <p:spPr>
          <a:xfrm>
            <a:off x="76200" y="1027323"/>
            <a:ext cx="9119069" cy="3087984"/>
          </a:xfrm>
          <a:prstGeom prst="rect">
            <a:avLst/>
          </a:prstGeom>
        </p:spPr>
      </p:pic>
      <p:sp>
        <p:nvSpPr>
          <p:cNvPr id="11" name="object 2">
            <a:extLst>
              <a:ext uri="{FF2B5EF4-FFF2-40B4-BE49-F238E27FC236}">
                <a16:creationId xmlns:a16="http://schemas.microsoft.com/office/drawing/2014/main" id="{5FCEDC07-3677-7F46-4031-9FFFB4E16E1B}"/>
              </a:ext>
            </a:extLst>
          </p:cNvPr>
          <p:cNvSpPr txBox="1">
            <a:spLocks/>
          </p:cNvSpPr>
          <p:nvPr/>
        </p:nvSpPr>
        <p:spPr>
          <a:xfrm>
            <a:off x="0" y="3850719"/>
            <a:ext cx="8624937" cy="20928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400" dirty="0">
                <a:hlinkClick r:id="rId8"/>
              </a:rPr>
              <a:t>Site Reliability Engineering (SRE) Fundamentals</a:t>
            </a:r>
            <a:endParaRPr lang="en-US" sz="1400" dirty="0"/>
          </a:p>
          <a:p>
            <a:pPr marL="12700" marR="5080"/>
            <a:r>
              <a:rPr lang="en-US" sz="1400" dirty="0">
                <a:hlinkClick r:id="rId9"/>
              </a:rPr>
              <a:t>What is a Runbook? | PagerDuty</a:t>
            </a:r>
            <a:endParaRPr lang="en-US" sz="1400" dirty="0"/>
          </a:p>
          <a:p>
            <a:pPr marL="12700" marR="5080"/>
            <a:r>
              <a:rPr lang="en-IN" sz="1400" dirty="0">
                <a:hlinkClick r:id="rId10"/>
              </a:rPr>
              <a:t>PagerDuty University</a:t>
            </a:r>
            <a:endParaRPr lang="en-IN" sz="1400" dirty="0"/>
          </a:p>
          <a:p>
            <a:pPr marL="12700" marR="5080"/>
            <a:r>
              <a:rPr lang="en-US" sz="1400" dirty="0">
                <a:hlinkClick r:id="rId11"/>
              </a:rPr>
              <a:t>Runbook execution in Azure Automation | Microsoft Learn</a:t>
            </a:r>
            <a:endParaRPr lang="en-US" sz="1400" dirty="0"/>
          </a:p>
          <a:p>
            <a:pPr marL="12700" marR="5080"/>
            <a:r>
              <a:rPr lang="en-IN" sz="1400" dirty="0">
                <a:hlinkClick r:id="rId12"/>
              </a:rPr>
              <a:t>Automation-Runbook-Gallery</a:t>
            </a:r>
            <a:endParaRPr lang="en-IN" sz="1400" dirty="0"/>
          </a:p>
          <a:p>
            <a:pPr marL="12700" marR="5080"/>
            <a:r>
              <a:rPr lang="en-US" sz="1400" dirty="0">
                <a:hlinkClick r:id="rId13"/>
              </a:rPr>
              <a:t>SRE Fundamentals: Mastering Site Reliability Engineering | Udemy</a:t>
            </a:r>
            <a:endParaRPr lang="en-US" sz="1400" dirty="0"/>
          </a:p>
          <a:p>
            <a:pPr marL="12700" marR="5080"/>
            <a:r>
              <a:rPr lang="en-US" sz="1400" dirty="0">
                <a:hlinkClick r:id="rId14"/>
              </a:rPr>
              <a:t>Becoming-a-Rockstar-SRE: Becoming a Rockstar SRE</a:t>
            </a:r>
            <a:endParaRPr lang="en-US" sz="1400" dirty="0"/>
          </a:p>
          <a:p>
            <a:pPr marL="12700" marR="5080"/>
            <a:r>
              <a:rPr lang="en-US" sz="1400" dirty="0">
                <a:hlinkClick r:id="rId15"/>
              </a:rPr>
              <a:t>Real-World-SRE: Real-World SR</a:t>
            </a:r>
            <a:endParaRPr lang="en-US" sz="1400" dirty="0"/>
          </a:p>
        </p:txBody>
      </p:sp>
    </p:spTree>
    <p:extLst>
      <p:ext uri="{BB962C8B-B14F-4D97-AF65-F5344CB8AC3E}">
        <p14:creationId xmlns:p14="http://schemas.microsoft.com/office/powerpoint/2010/main" val="11184278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808034638"/>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DA848808-D5D9-7870-77AC-D802A3439182}"/>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SLIs vs SLOs vs SLAs –</a:t>
            </a:r>
          </a:p>
        </p:txBody>
      </p:sp>
      <p:pic>
        <p:nvPicPr>
          <p:cNvPr id="46084" name="Picture 4" descr="SLA vs. SLO vs. SLI (Differences Explained)">
            <a:extLst>
              <a:ext uri="{FF2B5EF4-FFF2-40B4-BE49-F238E27FC236}">
                <a16:creationId xmlns:a16="http://schemas.microsoft.com/office/drawing/2014/main" id="{4A3373E1-83BC-8BB9-9E4B-46291DD374D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1" y="1131332"/>
            <a:ext cx="8915399" cy="3483847"/>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9CEDBBA7-F793-A786-618F-6DB2DA0C46E7}"/>
              </a:ext>
            </a:extLst>
          </p:cNvPr>
          <p:cNvSpPr txBox="1">
            <a:spLocks/>
          </p:cNvSpPr>
          <p:nvPr/>
        </p:nvSpPr>
        <p:spPr>
          <a:xfrm>
            <a:off x="152400" y="4562250"/>
            <a:ext cx="8624937" cy="154349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a:t>
            </a:r>
          </a:p>
          <a:p>
            <a:pPr marL="12700" marR="5080"/>
            <a:r>
              <a:rPr lang="en-IN" sz="950" dirty="0">
                <a:hlinkClick r:id="rId8"/>
              </a:rPr>
              <a:t>SLIs and SLOs versus NFRs | Mark Rendell</a:t>
            </a:r>
            <a:endParaRPr lang="en-IN" sz="950" dirty="0"/>
          </a:p>
          <a:p>
            <a:pPr marL="12700" marR="5080"/>
            <a:r>
              <a:rPr lang="en-IN" sz="950" dirty="0">
                <a:hlinkClick r:id="rId9"/>
              </a:rPr>
              <a:t>Concepts in service monitoring  |  Google Cloud Observability</a:t>
            </a:r>
            <a:endParaRPr lang="en-IN" sz="950" dirty="0"/>
          </a:p>
          <a:p>
            <a:pPr marL="12700" marR="5080"/>
            <a:r>
              <a:rPr lang="en-US" sz="950" dirty="0">
                <a:hlinkClick r:id="rId10"/>
              </a:rPr>
              <a:t>A practical guide for implementing SLO | Last9</a:t>
            </a:r>
            <a:endParaRPr lang="en-US" sz="950" dirty="0"/>
          </a:p>
          <a:p>
            <a:pPr marL="12700" marR="5080"/>
            <a:r>
              <a:rPr lang="en-US" sz="950" dirty="0">
                <a:hlinkClick r:id="rId11"/>
              </a:rPr>
              <a:t>Complete Guide to Service Level Objectives (SLOs) That Work</a:t>
            </a:r>
            <a:endParaRPr lang="en-US" sz="950" dirty="0"/>
          </a:p>
          <a:p>
            <a:pPr marL="12700" marR="5080"/>
            <a:r>
              <a:rPr lang="en-US" sz="950" dirty="0">
                <a:hlinkClick r:id="rId12"/>
              </a:rPr>
              <a:t>Mastering Service Level Objectives (SLOs): A Complete Guide | Cortex</a:t>
            </a:r>
            <a:endParaRPr lang="en-US" sz="950" dirty="0"/>
          </a:p>
          <a:p>
            <a:pPr marL="12700" marR="5080"/>
            <a:r>
              <a:rPr lang="en-US" sz="950" dirty="0">
                <a:hlinkClick r:id="rId13"/>
              </a:rPr>
              <a:t>SLOs, SLIs, and SLAs: Meanings &amp; Differences | New Relic</a:t>
            </a:r>
            <a:endParaRPr lang="en-US" sz="950" dirty="0"/>
          </a:p>
          <a:p>
            <a:pPr marL="12700" marR="5080"/>
            <a:r>
              <a:rPr lang="en-US" sz="950" dirty="0">
                <a:hlinkClick r:id="rId14"/>
              </a:rPr>
              <a:t>Implementing Service Level Objectives[Book]</a:t>
            </a:r>
            <a:endParaRPr lang="en-US" sz="950" dirty="0"/>
          </a:p>
          <a:p>
            <a:pPr marL="12700" marR="5080"/>
            <a:r>
              <a:rPr lang="en-US" sz="950" dirty="0">
                <a:hlinkClick r:id="rId15"/>
              </a:rPr>
              <a:t>Introducing our open source SLO Tracker - A simple tool to track SLOs and Error Budget | </a:t>
            </a:r>
            <a:r>
              <a:rPr lang="en-US" sz="950" dirty="0" err="1">
                <a:hlinkClick r:id="rId15"/>
              </a:rPr>
              <a:t>Squadcast</a:t>
            </a:r>
            <a:endParaRPr lang="en-US" sz="950" kern="0" spc="-80" dirty="0">
              <a:solidFill>
                <a:schemeClr val="accent2"/>
              </a:solidFill>
            </a:endParaRPr>
          </a:p>
          <a:p>
            <a:pPr marL="12700" marR="5080"/>
            <a:endParaRPr lang="en-US" sz="930" kern="0" spc="-80" dirty="0">
              <a:solidFill>
                <a:schemeClr val="accent2"/>
              </a:solidFill>
            </a:endParaRPr>
          </a:p>
        </p:txBody>
      </p:sp>
    </p:spTree>
    <p:extLst>
      <p:ext uri="{BB962C8B-B14F-4D97-AF65-F5344CB8AC3E}">
        <p14:creationId xmlns:p14="http://schemas.microsoft.com/office/powerpoint/2010/main" val="33216461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407531223"/>
              </p:ext>
            </p:extLst>
          </p:nvPr>
        </p:nvGraphicFramePr>
        <p:xfrm>
          <a:off x="76200" y="34425"/>
          <a:ext cx="8915398"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DA848808-D5D9-7870-77AC-D802A3439182}"/>
              </a:ext>
            </a:extLst>
          </p:cNvPr>
          <p:cNvSpPr txBox="1">
            <a:spLocks/>
          </p:cNvSpPr>
          <p:nvPr/>
        </p:nvSpPr>
        <p:spPr>
          <a:xfrm>
            <a:off x="0" y="762000"/>
            <a:ext cx="8915399" cy="24622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Observability/Monitoring using MELT(Metrics, Events, Logs And Traces) –</a:t>
            </a:r>
          </a:p>
          <a:p>
            <a:pPr marL="12700" marR="5080"/>
            <a:r>
              <a:rPr lang="en-US" sz="1400" kern="0" spc="-80" dirty="0">
                <a:solidFill>
                  <a:schemeClr val="accent6"/>
                </a:solidFill>
              </a:rPr>
              <a:t>Can be used for monitoring Business Activity, Performance, Security, System Health, Cost (Controls) etc. Events are like actions taken(e.g. CRUD but can be more granular as in Event Driven DDD) &amp; you may log them in DB as part of Auditing. By the way,  any Batch Process should ideally have an associated Batch Observability table or Logs so that MELT specific stuffs w.r.t the Batch process can be tracked easily. Also, Dashboards, Alerts(if needed, based on data patterns) can be implemented based on observable data and Data Reconciliation can be done after that(if needed).Grafana is an awesome and simple tool to create Dashboards(if needed mismatched data can be seen for reconciliation as well) using logs/DB data &amp; Grafana can create Alerts as well.</a:t>
            </a:r>
          </a:p>
        </p:txBody>
      </p:sp>
      <p:pic>
        <p:nvPicPr>
          <p:cNvPr id="8" name="Picture 7">
            <a:extLst>
              <a:ext uri="{FF2B5EF4-FFF2-40B4-BE49-F238E27FC236}">
                <a16:creationId xmlns:a16="http://schemas.microsoft.com/office/drawing/2014/main" id="{2249A44A-9FFE-3FD3-B67F-E81FACD42DB0}"/>
              </a:ext>
            </a:extLst>
          </p:cNvPr>
          <p:cNvPicPr>
            <a:picLocks noChangeAspect="1"/>
          </p:cNvPicPr>
          <p:nvPr/>
        </p:nvPicPr>
        <p:blipFill>
          <a:blip r:embed="rId7"/>
          <a:stretch>
            <a:fillRect/>
          </a:stretch>
        </p:blipFill>
        <p:spPr>
          <a:xfrm>
            <a:off x="-7861" y="3199905"/>
            <a:ext cx="8915398" cy="2709270"/>
          </a:xfrm>
          <a:prstGeom prst="rect">
            <a:avLst/>
          </a:prstGeom>
        </p:spPr>
      </p:pic>
    </p:spTree>
    <p:extLst>
      <p:ext uri="{BB962C8B-B14F-4D97-AF65-F5344CB8AC3E}">
        <p14:creationId xmlns:p14="http://schemas.microsoft.com/office/powerpoint/2010/main" val="18435607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148042454"/>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AB43357A-B690-2734-E232-024935EBDCDC}"/>
              </a:ext>
            </a:extLst>
          </p:cNvPr>
          <p:cNvSpPr txBox="1">
            <a:spLocks/>
          </p:cNvSpPr>
          <p:nvPr/>
        </p:nvSpPr>
        <p:spPr>
          <a:xfrm>
            <a:off x="138063" y="5235714"/>
            <a:ext cx="8915399" cy="7078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 –</a:t>
            </a:r>
          </a:p>
          <a:p>
            <a:pPr marL="12700" marR="5080"/>
            <a:r>
              <a:rPr lang="en-US" sz="1500" dirty="0">
                <a:hlinkClick r:id="rId7"/>
              </a:rPr>
              <a:t>What Is AIOps? Artificial Intelligence for IT Operations | Pure Storage</a:t>
            </a:r>
            <a:endParaRPr lang="en-US" sz="1500" dirty="0"/>
          </a:p>
          <a:p>
            <a:pPr marL="12700" marR="5080"/>
            <a:r>
              <a:rPr lang="en-US" sz="1500" dirty="0">
                <a:hlinkClick r:id="rId8"/>
              </a:rPr>
              <a:t>Point of View on </a:t>
            </a:r>
            <a:r>
              <a:rPr lang="en-US" sz="1500" dirty="0" err="1">
                <a:hlinkClick r:id="rId8"/>
              </a:rPr>
              <a:t>DevSecOps</a:t>
            </a:r>
            <a:r>
              <a:rPr lang="en-US" sz="1500" dirty="0">
                <a:hlinkClick r:id="rId8"/>
              </a:rPr>
              <a:t> and SRE - Key Asks and Considerations | LinkedIn</a:t>
            </a:r>
            <a:endParaRPr lang="en-US" sz="1500" dirty="0"/>
          </a:p>
        </p:txBody>
      </p:sp>
      <p:pic>
        <p:nvPicPr>
          <p:cNvPr id="58370" name="Picture 2">
            <a:extLst>
              <a:ext uri="{FF2B5EF4-FFF2-40B4-BE49-F238E27FC236}">
                <a16:creationId xmlns:a16="http://schemas.microsoft.com/office/drawing/2014/main" id="{9ED0C40A-DB55-8ABC-4691-B743764EBDB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5950" y="1377553"/>
            <a:ext cx="8858250" cy="3804047"/>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AE3D9B2D-2497-3923-BD24-E4DD609CB9F5}"/>
              </a:ext>
            </a:extLst>
          </p:cNvPr>
          <p:cNvSpPr txBox="1">
            <a:spLocks/>
          </p:cNvSpPr>
          <p:nvPr/>
        </p:nvSpPr>
        <p:spPr>
          <a:xfrm>
            <a:off x="76200" y="744379"/>
            <a:ext cx="8915399"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Observability/Monitoring using MELT(Metrics, Events, Logs And Traces) </a:t>
            </a:r>
            <a:r>
              <a:rPr lang="en-US" sz="2000" kern="0" spc="-80" dirty="0" err="1">
                <a:solidFill>
                  <a:schemeClr val="accent2"/>
                </a:solidFill>
              </a:rPr>
              <a:t>contd</a:t>
            </a:r>
            <a:r>
              <a:rPr lang="en-US" sz="2000" kern="0" spc="-80" dirty="0">
                <a:solidFill>
                  <a:schemeClr val="accent2"/>
                </a:solidFill>
              </a:rPr>
              <a:t> …</a:t>
            </a:r>
            <a:endParaRPr lang="en-US" sz="2000" dirty="0"/>
          </a:p>
        </p:txBody>
      </p:sp>
    </p:spTree>
    <p:extLst>
      <p:ext uri="{BB962C8B-B14F-4D97-AF65-F5344CB8AC3E}">
        <p14:creationId xmlns:p14="http://schemas.microsoft.com/office/powerpoint/2010/main" val="16307006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504129984"/>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63959030-01BA-E13E-978E-A35EF63EBE72}"/>
              </a:ext>
            </a:extLst>
          </p:cNvPr>
          <p:cNvSpPr txBox="1">
            <a:spLocks/>
          </p:cNvSpPr>
          <p:nvPr/>
        </p:nvSpPr>
        <p:spPr>
          <a:xfrm>
            <a:off x="127964" y="692050"/>
            <a:ext cx="8915399" cy="629403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Observability/Monitoring using MELT(Metrics, Events, Logs And Traces) </a:t>
            </a:r>
            <a:r>
              <a:rPr lang="en-US" sz="1400" kern="0" spc="-80" dirty="0" err="1">
                <a:solidFill>
                  <a:schemeClr val="accent2"/>
                </a:solidFill>
              </a:rPr>
              <a:t>contd</a:t>
            </a:r>
            <a:r>
              <a:rPr lang="en-US" sz="1400" kern="0" spc="-80" dirty="0">
                <a:solidFill>
                  <a:schemeClr val="accent2"/>
                </a:solidFill>
              </a:rPr>
              <a:t>…</a:t>
            </a:r>
          </a:p>
          <a:p>
            <a:pPr marL="12700" marR="5080"/>
            <a:r>
              <a:rPr lang="en-US" sz="1500" kern="0" spc="-80" dirty="0">
                <a:solidFill>
                  <a:schemeClr val="accent2"/>
                </a:solidFill>
              </a:rPr>
              <a:t>For Further Exploration-   </a:t>
            </a:r>
          </a:p>
          <a:p>
            <a:pPr marL="12700" marR="5080"/>
            <a:r>
              <a:rPr lang="en-IN" sz="1150" dirty="0">
                <a:hlinkClick r:id="rId7"/>
              </a:rPr>
              <a:t>Microservices Observability, Resilience, Monitoring on </a:t>
            </a:r>
            <a:r>
              <a:rPr lang="en-IN" sz="1150" dirty="0" err="1">
                <a:hlinkClick r:id="rId7"/>
              </a:rPr>
              <a:t>.Net</a:t>
            </a:r>
            <a:r>
              <a:rPr lang="en-IN" sz="1150" dirty="0">
                <a:hlinkClick r:id="rId7"/>
              </a:rPr>
              <a:t> | Udemy</a:t>
            </a:r>
            <a:endParaRPr lang="en-US" sz="1150" kern="0" spc="-80" dirty="0">
              <a:solidFill>
                <a:schemeClr val="accent2"/>
              </a:solidFill>
            </a:endParaRPr>
          </a:p>
          <a:p>
            <a:pPr marL="12700" marR="5080"/>
            <a:r>
              <a:rPr lang="en-US" sz="1150" dirty="0" err="1">
                <a:hlinkClick r:id="rId8"/>
              </a:rPr>
              <a:t>OpenTelemetry</a:t>
            </a:r>
            <a:r>
              <a:rPr lang="en-US" sz="1150" dirty="0">
                <a:hlinkClick r:id="rId8"/>
              </a:rPr>
              <a:t> Foundations: Hands-On Guide to Observability | Udemy</a:t>
            </a:r>
            <a:endParaRPr lang="en-US" sz="1150" dirty="0"/>
          </a:p>
          <a:p>
            <a:pPr marL="12700" marR="5080"/>
            <a:r>
              <a:rPr lang="en-US" sz="1150" dirty="0">
                <a:hlinkClick r:id="rId9"/>
              </a:rPr>
              <a:t>.NET Observability with Open Telemetry - .NET | Microsoft Learn</a:t>
            </a:r>
            <a:endParaRPr lang="en-US" sz="1150" dirty="0"/>
          </a:p>
          <a:p>
            <a:pPr marL="12700" marR="5080"/>
            <a:r>
              <a:rPr lang="en-US" sz="1150" dirty="0">
                <a:hlinkClick r:id="rId10"/>
              </a:rPr>
              <a:t>Azure Monitor Distro client library for .NET - Azure for .NET Developers | Microsoft Learn</a:t>
            </a:r>
            <a:endParaRPr lang="en-US" sz="1150" dirty="0"/>
          </a:p>
          <a:p>
            <a:pPr marL="12700" marR="5080"/>
            <a:r>
              <a:rPr lang="en-US" sz="1150" dirty="0">
                <a:hlinkClick r:id="rId11"/>
              </a:rPr>
              <a:t>Cloud-Native-Observability with </a:t>
            </a:r>
            <a:r>
              <a:rPr lang="en-US" sz="1150" dirty="0" err="1">
                <a:hlinkClick r:id="rId11"/>
              </a:rPr>
              <a:t>Otel</a:t>
            </a:r>
            <a:endParaRPr lang="en-US" sz="1150" dirty="0"/>
          </a:p>
          <a:p>
            <a:pPr marL="12700" marR="5080"/>
            <a:r>
              <a:rPr lang="en-IN" sz="1150" dirty="0">
                <a:hlinkClick r:id="rId12"/>
              </a:rPr>
              <a:t>Learning </a:t>
            </a:r>
            <a:r>
              <a:rPr lang="en-IN" sz="1150" dirty="0" err="1">
                <a:hlinkClick r:id="rId12"/>
              </a:rPr>
              <a:t>OpenTelemetry</a:t>
            </a:r>
            <a:r>
              <a:rPr lang="en-IN" sz="1150" dirty="0">
                <a:hlinkClick r:id="rId12"/>
              </a:rPr>
              <a:t> [Book]</a:t>
            </a:r>
            <a:endParaRPr lang="en-US" sz="1150" dirty="0"/>
          </a:p>
          <a:p>
            <a:pPr marL="12700" marR="5080"/>
            <a:r>
              <a:rPr lang="en-US" sz="1150" dirty="0">
                <a:hlinkClick r:id="rId13"/>
              </a:rPr>
              <a:t>Awesome-</a:t>
            </a:r>
            <a:r>
              <a:rPr lang="en-US" sz="1150" dirty="0" err="1">
                <a:hlinkClick r:id="rId13"/>
              </a:rPr>
              <a:t>Opentelemetry</a:t>
            </a:r>
            <a:endParaRPr lang="en-US" sz="1150" dirty="0"/>
          </a:p>
          <a:p>
            <a:pPr marL="12700" marR="5080"/>
            <a:r>
              <a:rPr lang="en-US" sz="1150" dirty="0">
                <a:hlinkClick r:id="rId14"/>
              </a:rPr>
              <a:t>Awesome-</a:t>
            </a:r>
            <a:r>
              <a:rPr lang="en-US" sz="1150" dirty="0" err="1">
                <a:hlinkClick r:id="rId14"/>
              </a:rPr>
              <a:t>OpenTelemetry</a:t>
            </a:r>
            <a:endParaRPr lang="en-US" sz="1150" dirty="0"/>
          </a:p>
          <a:p>
            <a:pPr marL="12700" marR="5080"/>
            <a:r>
              <a:rPr lang="nl-NL" sz="1150" dirty="0">
                <a:hlinkClick r:id="rId15"/>
              </a:rPr>
              <a:t>Logging in C# - .NET | Microsoft Learn</a:t>
            </a:r>
            <a:r>
              <a:rPr lang="nl-NL" sz="1150" dirty="0"/>
              <a:t> </a:t>
            </a:r>
            <a:r>
              <a:rPr lang="nl-NL" sz="1150" kern="0" spc="-80" dirty="0">
                <a:solidFill>
                  <a:schemeClr val="accent6"/>
                </a:solidFill>
              </a:rPr>
              <a:t>(check the cool structured logging stuff as well)</a:t>
            </a:r>
          </a:p>
          <a:p>
            <a:pPr marL="12700" marR="5080"/>
            <a:r>
              <a:rPr lang="en-US" sz="1150" dirty="0">
                <a:hlinkClick r:id="rId16"/>
              </a:rPr>
              <a:t>Metrics Overview - .NET | Microsoft Learn</a:t>
            </a:r>
            <a:endParaRPr lang="nl-NL" sz="1150" kern="0" spc="-80" dirty="0">
              <a:solidFill>
                <a:schemeClr val="accent6"/>
              </a:solidFill>
            </a:endParaRPr>
          </a:p>
          <a:p>
            <a:pPr marL="12700" marR="5080"/>
            <a:r>
              <a:rPr lang="en-US" sz="1150" dirty="0">
                <a:hlinkClick r:id="rId17"/>
              </a:rPr>
              <a:t>Distributed tracing - .NET | Microsoft Learn</a:t>
            </a:r>
            <a:endParaRPr lang="nl-NL" sz="1150" kern="0" spc="-80" dirty="0">
              <a:solidFill>
                <a:schemeClr val="accent6"/>
              </a:solidFill>
            </a:endParaRPr>
          </a:p>
          <a:p>
            <a:pPr marL="12700" marR="5080"/>
            <a:r>
              <a:rPr lang="en-US" sz="1150" dirty="0">
                <a:hlinkClick r:id="rId18"/>
              </a:rPr>
              <a:t>Kusto-Query-Language</a:t>
            </a:r>
            <a:r>
              <a:rPr lang="en-US" sz="1150" dirty="0"/>
              <a:t>(</a:t>
            </a:r>
            <a:r>
              <a:rPr lang="en-US" sz="1150" kern="0" spc="-80" dirty="0">
                <a:solidFill>
                  <a:schemeClr val="accent6"/>
                </a:solidFill>
              </a:rPr>
              <a:t>Requests, Dependencies, Exceptions &amp; Traces [&amp; maybe </a:t>
            </a:r>
            <a:r>
              <a:rPr lang="en-US" sz="1150" kern="0" spc="-80" dirty="0" err="1">
                <a:solidFill>
                  <a:schemeClr val="accent6"/>
                </a:solidFill>
              </a:rPr>
              <a:t>KubeEvents</a:t>
            </a:r>
            <a:r>
              <a:rPr lang="en-US" sz="1150" kern="0" spc="-80" dirty="0">
                <a:solidFill>
                  <a:schemeClr val="accent6"/>
                </a:solidFill>
              </a:rPr>
              <a:t>] are some important AppInsights tables that can be queried for various types of Analytics and Visualizations. Also, an operation spans cross-sectionally over these tables and so if you want to join across these tables, </a:t>
            </a:r>
            <a:r>
              <a:rPr lang="en-US" sz="1150" kern="0" spc="-80" dirty="0" err="1">
                <a:solidFill>
                  <a:schemeClr val="accent6"/>
                </a:solidFill>
              </a:rPr>
              <a:t>operation_Id</a:t>
            </a:r>
            <a:r>
              <a:rPr lang="en-US" sz="1150" kern="0" spc="-80" dirty="0">
                <a:solidFill>
                  <a:schemeClr val="accent6"/>
                </a:solidFill>
              </a:rPr>
              <a:t> is one of the best candidates for the same</a:t>
            </a:r>
            <a:r>
              <a:rPr lang="en-US" sz="1150" dirty="0"/>
              <a:t>)</a:t>
            </a:r>
          </a:p>
          <a:p>
            <a:pPr marL="12700" marR="5080"/>
            <a:r>
              <a:rPr lang="en-IN" sz="1150" dirty="0">
                <a:hlinkClick r:id="rId19"/>
              </a:rPr>
              <a:t>Join Operator - Kusto | Microsoft Learn</a:t>
            </a:r>
            <a:endParaRPr lang="en-US" sz="1150" dirty="0"/>
          </a:p>
          <a:p>
            <a:pPr marL="12700" marR="5080"/>
            <a:r>
              <a:rPr lang="en-US" sz="1150" dirty="0">
                <a:hlinkClick r:id="rId20"/>
              </a:rPr>
              <a:t>Mastering Aggregation Functions in Kusto Query Language (KQL)</a:t>
            </a:r>
            <a:endParaRPr lang="en-US" sz="1150" dirty="0"/>
          </a:p>
          <a:p>
            <a:pPr marL="12700" marR="5080"/>
            <a:r>
              <a:rPr lang="en-US" sz="1150" dirty="0">
                <a:hlinkClick r:id="rId21"/>
              </a:rPr>
              <a:t>Window functions - Kusto | Microsoft Learn</a:t>
            </a:r>
            <a:endParaRPr lang="en-US" sz="1150" dirty="0"/>
          </a:p>
          <a:p>
            <a:pPr marL="12700" marR="5080"/>
            <a:r>
              <a:rPr lang="en-US" sz="1150" dirty="0">
                <a:hlinkClick r:id="rId22"/>
              </a:rPr>
              <a:t>Definitive-Guide-</a:t>
            </a:r>
            <a:r>
              <a:rPr lang="en-US" sz="1150" dirty="0" err="1">
                <a:hlinkClick r:id="rId22"/>
              </a:rPr>
              <a:t>kql</a:t>
            </a:r>
            <a:endParaRPr lang="en-US" sz="1150" dirty="0"/>
          </a:p>
          <a:p>
            <a:pPr marL="12700" marR="5080"/>
            <a:r>
              <a:rPr lang="en-US" sz="1150" dirty="0">
                <a:hlinkClick r:id="rId23"/>
              </a:rPr>
              <a:t>Setting up Alerts using Application Insights (the new ones) | by Nick </a:t>
            </a:r>
            <a:r>
              <a:rPr lang="en-US" sz="1150" dirty="0" err="1">
                <a:hlinkClick r:id="rId23"/>
              </a:rPr>
              <a:t>Chapsas</a:t>
            </a:r>
            <a:endParaRPr lang="en-US" sz="1150" dirty="0"/>
          </a:p>
          <a:p>
            <a:pPr marL="12700" marR="5080"/>
            <a:r>
              <a:rPr lang="en-US" sz="1150" dirty="0">
                <a:hlinkClick r:id="rId24"/>
              </a:rPr>
              <a:t>Application Insights Succinctly</a:t>
            </a:r>
            <a:endParaRPr lang="en-US" sz="1150" dirty="0"/>
          </a:p>
          <a:p>
            <a:pPr marL="12700" marR="5080"/>
            <a:r>
              <a:rPr lang="en-US" sz="1150" dirty="0">
                <a:hlinkClick r:id="rId25"/>
              </a:rPr>
              <a:t>Azure Monitor Query client library for .NET - Azure for .NET Developers | Microsoft Learn</a:t>
            </a:r>
            <a:endParaRPr lang="en-US" sz="1150" dirty="0"/>
          </a:p>
          <a:p>
            <a:pPr marL="12700" marR="5080"/>
            <a:r>
              <a:rPr lang="en-IN" sz="1150" dirty="0">
                <a:hlinkClick r:id="rId26"/>
              </a:rPr>
              <a:t>Azure Kusto SDK for .NET - Azure for .NET Developers | Microsoft Learn</a:t>
            </a:r>
            <a:endParaRPr lang="en-US" sz="1150" dirty="0"/>
          </a:p>
          <a:p>
            <a:pPr marL="12700" marR="5080"/>
            <a:r>
              <a:rPr lang="en-US" sz="1150" dirty="0">
                <a:hlinkClick r:id="rId27"/>
              </a:rPr>
              <a:t>Building an Application Insights Dashboard</a:t>
            </a:r>
            <a:endParaRPr lang="en-US" sz="1150" dirty="0"/>
          </a:p>
          <a:p>
            <a:pPr marL="12700" marR="5080"/>
            <a:r>
              <a:rPr lang="en-US" sz="1150" dirty="0">
                <a:hlinkClick r:id="rId28"/>
              </a:rPr>
              <a:t>Create monitoring resources by using Bicep - Azure Resource Manager</a:t>
            </a:r>
            <a:endParaRPr lang="en-US" sz="1150" dirty="0"/>
          </a:p>
          <a:p>
            <a:pPr marL="12700" marR="5080"/>
            <a:r>
              <a:rPr lang="en-IN" sz="1150" dirty="0">
                <a:hlinkClick r:id="rId29"/>
              </a:rPr>
              <a:t>Azure Monitor Service Limits</a:t>
            </a:r>
            <a:endParaRPr lang="en-IN" sz="1150" dirty="0"/>
          </a:p>
          <a:p>
            <a:pPr marL="12700" marR="5080"/>
            <a:r>
              <a:rPr lang="en-IN" sz="1150" dirty="0">
                <a:hlinkClick r:id="rId30"/>
              </a:rPr>
              <a:t>Synthetic monitoring – Wikipedia</a:t>
            </a:r>
            <a:endParaRPr lang="en-IN" sz="1150" dirty="0"/>
          </a:p>
          <a:p>
            <a:pPr marL="12700" marR="5080"/>
            <a:r>
              <a:rPr lang="en-US" sz="1150" dirty="0" err="1">
                <a:hlinkClick r:id="rId31"/>
              </a:rPr>
              <a:t>Fluentd</a:t>
            </a:r>
            <a:r>
              <a:rPr lang="en-US" sz="1150" dirty="0">
                <a:hlinkClick r:id="rId31"/>
              </a:rPr>
              <a:t> vs. Fluent Bit: Side by Side Comparison | Logz.io</a:t>
            </a:r>
            <a:endParaRPr lang="en-US" sz="1150" dirty="0"/>
          </a:p>
          <a:p>
            <a:pPr marL="12700" marR="5080"/>
            <a:endParaRPr lang="en-US" sz="1000" dirty="0"/>
          </a:p>
          <a:p>
            <a:pPr marL="12700" marR="5080"/>
            <a:endParaRPr lang="en-IN" sz="1100" dirty="0"/>
          </a:p>
          <a:p>
            <a:pPr marL="12700" marR="5080"/>
            <a:endParaRPr lang="en-IN" sz="1100" dirty="0"/>
          </a:p>
          <a:p>
            <a:pPr marL="12700" marR="5080"/>
            <a:endParaRPr lang="en-IN" sz="1300" dirty="0"/>
          </a:p>
          <a:p>
            <a:pPr marL="12700" marR="5080"/>
            <a:endParaRPr lang="en-US" sz="1350" kern="0" spc="-80" dirty="0">
              <a:solidFill>
                <a:schemeClr val="accent2"/>
              </a:solidFill>
            </a:endParaRPr>
          </a:p>
          <a:p>
            <a:pPr marL="12700" marR="5080"/>
            <a:endParaRPr lang="en-IN" sz="1100" dirty="0"/>
          </a:p>
        </p:txBody>
      </p:sp>
    </p:spTree>
    <p:extLst>
      <p:ext uri="{BB962C8B-B14F-4D97-AF65-F5344CB8AC3E}">
        <p14:creationId xmlns:p14="http://schemas.microsoft.com/office/powerpoint/2010/main" val="35178925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49FEE-917A-F22E-36BF-90CEB763FDE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AD95D14-6D31-27FD-835F-BE9710732F6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DDFE033-FB04-7C29-8037-A2345F5B3F9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8D9D530-18C4-CA6C-2A96-B062F8BE31CD}"/>
              </a:ext>
            </a:extLst>
          </p:cNvPr>
          <p:cNvGraphicFramePr/>
          <p:nvPr>
            <p:extLst>
              <p:ext uri="{D42A27DB-BD31-4B8C-83A1-F6EECF244321}">
                <p14:modId xmlns:p14="http://schemas.microsoft.com/office/powerpoint/2010/main" val="1360218163"/>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F271BCD-9590-A5DD-AABE-34F5B31EB04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AA492A2-FEB7-9BFE-4F7D-20570A804F3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329C89EE-C8CE-00D7-82F9-10280A1B439C}"/>
              </a:ext>
            </a:extLst>
          </p:cNvPr>
          <p:cNvSpPr txBox="1">
            <a:spLocks/>
          </p:cNvSpPr>
          <p:nvPr/>
        </p:nvSpPr>
        <p:spPr>
          <a:xfrm>
            <a:off x="127964" y="692050"/>
            <a:ext cx="8915399" cy="58908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Observability/Monitoring using MELT(Metrics, Events, Logs And Traces) </a:t>
            </a:r>
            <a:r>
              <a:rPr lang="en-US" sz="1400" kern="0" spc="-80" dirty="0" err="1">
                <a:solidFill>
                  <a:schemeClr val="accent2"/>
                </a:solidFill>
              </a:rPr>
              <a:t>contd</a:t>
            </a:r>
            <a:r>
              <a:rPr lang="en-US" sz="1400" kern="0" spc="-80" dirty="0">
                <a:solidFill>
                  <a:schemeClr val="accent2"/>
                </a:solidFill>
              </a:rPr>
              <a:t>…</a:t>
            </a:r>
          </a:p>
          <a:p>
            <a:pPr marL="12700" marR="5080"/>
            <a:r>
              <a:rPr lang="en-US" sz="1500" kern="0" spc="-80" dirty="0">
                <a:solidFill>
                  <a:schemeClr val="accent2"/>
                </a:solidFill>
              </a:rPr>
              <a:t>For Further Exploration  </a:t>
            </a:r>
            <a:r>
              <a:rPr lang="en-US" sz="1500" kern="0" spc="-80" dirty="0" err="1">
                <a:solidFill>
                  <a:schemeClr val="accent2"/>
                </a:solidFill>
              </a:rPr>
              <a:t>contd</a:t>
            </a:r>
            <a:r>
              <a:rPr lang="en-US" sz="1500" kern="0" spc="-80" dirty="0">
                <a:solidFill>
                  <a:schemeClr val="accent2"/>
                </a:solidFill>
              </a:rPr>
              <a:t>…-</a:t>
            </a:r>
          </a:p>
          <a:p>
            <a:pPr marL="12700" marR="5080"/>
            <a:r>
              <a:rPr lang="en-IN" sz="1100" dirty="0">
                <a:hlinkClick r:id="rId7"/>
              </a:rPr>
              <a:t>Logs and Telemetry</a:t>
            </a:r>
            <a:endParaRPr lang="en-IN" sz="1100" dirty="0"/>
          </a:p>
          <a:p>
            <a:pPr marL="12700" marR="5080"/>
            <a:r>
              <a:rPr lang="en-US" sz="1100" dirty="0">
                <a:hlinkClick r:id="rId8"/>
              </a:rPr>
              <a:t>A Practitioner's Guide to Wide Events | Jeremy Morrell</a:t>
            </a:r>
            <a:endParaRPr lang="en-US" sz="1100" dirty="0"/>
          </a:p>
          <a:p>
            <a:pPr marL="12700" marR="5080"/>
            <a:r>
              <a:rPr lang="en-US" sz="1100" dirty="0">
                <a:hlinkClick r:id="rId9"/>
              </a:rPr>
              <a:t>Pull doesn't scale - or does it? | Prometheus</a:t>
            </a:r>
            <a:r>
              <a:rPr lang="en-US" sz="1100" dirty="0"/>
              <a:t> </a:t>
            </a:r>
          </a:p>
          <a:p>
            <a:pPr marL="12700" marR="5080"/>
            <a:r>
              <a:rPr lang="en-US" sz="1100" dirty="0">
                <a:hlinkClick r:id="rId10"/>
              </a:rPr>
              <a:t>Push Vs. Pull In Monitoring Systems – Giedrius </a:t>
            </a:r>
            <a:r>
              <a:rPr lang="en-US" sz="1100" dirty="0" err="1">
                <a:hlinkClick r:id="rId10"/>
              </a:rPr>
              <a:t>Statkevičius</a:t>
            </a:r>
            <a:endParaRPr lang="en-US" sz="1100" dirty="0"/>
          </a:p>
          <a:p>
            <a:pPr marL="12700" marR="5080"/>
            <a:r>
              <a:rPr lang="en-IN" sz="1100" dirty="0">
                <a:hlinkClick r:id="rId11"/>
              </a:rPr>
              <a:t>Understanding Log Analytics at Scale, 2nd Edition [Book]</a:t>
            </a:r>
            <a:endParaRPr lang="en-IN" sz="1100" dirty="0"/>
          </a:p>
          <a:p>
            <a:pPr marL="12700" marR="5080"/>
            <a:r>
              <a:rPr lang="en-US" sz="1100" dirty="0">
                <a:hlinkClick r:id="rId12"/>
              </a:rPr>
              <a:t>Honeycomb’s O’Reilly Book Observability Engineering</a:t>
            </a:r>
            <a:endParaRPr lang="en-US" sz="1100" dirty="0"/>
          </a:p>
          <a:p>
            <a:pPr marL="12700" marR="5080"/>
            <a:r>
              <a:rPr lang="en-IN" sz="1100" dirty="0">
                <a:hlinkClick r:id="rId13"/>
              </a:rPr>
              <a:t>Open Source Observability [Book]</a:t>
            </a:r>
            <a:endParaRPr lang="en-IN" sz="1100" dirty="0"/>
          </a:p>
          <a:p>
            <a:pPr marL="12700" marR="5080"/>
            <a:r>
              <a:rPr lang="en-IN" sz="1100" dirty="0">
                <a:hlinkClick r:id="rId14"/>
              </a:rPr>
              <a:t>Observability solutions | IBM</a:t>
            </a:r>
            <a:endParaRPr lang="en-IN" sz="1100" dirty="0"/>
          </a:p>
          <a:p>
            <a:pPr marL="12700" marR="5080"/>
            <a:r>
              <a:rPr lang="en-IN" sz="1100" dirty="0">
                <a:hlinkClick r:id="rId15"/>
              </a:rPr>
              <a:t>Grafana Tutorial: Visualize Metrics, Time Series &amp; Other Analytics | Udemy</a:t>
            </a:r>
            <a:endParaRPr lang="en-IN" sz="1100" dirty="0"/>
          </a:p>
          <a:p>
            <a:pPr marL="12700" marR="5080"/>
            <a:r>
              <a:rPr lang="en-US" sz="1100" dirty="0">
                <a:hlinkClick r:id="rId16"/>
              </a:rPr>
              <a:t>Observability with Grafana, </a:t>
            </a:r>
            <a:r>
              <a:rPr lang="en-US" sz="1100" dirty="0" err="1">
                <a:hlinkClick r:id="rId16"/>
              </a:rPr>
              <a:t>Prometheus,Loki</a:t>
            </a:r>
            <a:r>
              <a:rPr lang="en-US" sz="1100" dirty="0">
                <a:hlinkClick r:id="rId16"/>
              </a:rPr>
              <a:t>, Alloy and Tempo | Udemy</a:t>
            </a:r>
            <a:endParaRPr lang="en-US" sz="1100" dirty="0"/>
          </a:p>
          <a:p>
            <a:pPr marL="12700" marR="5080"/>
            <a:r>
              <a:rPr lang="en-US" sz="1100" dirty="0">
                <a:hlinkClick r:id="rId17"/>
              </a:rPr>
              <a:t>Grafana Beginners to Advance Crash Course || Free Lab Access | Udemy</a:t>
            </a:r>
            <a:endParaRPr lang="en-US" sz="1100" dirty="0"/>
          </a:p>
          <a:p>
            <a:pPr marL="12700" marR="5080"/>
            <a:r>
              <a:rPr lang="en-IN" sz="1100" dirty="0">
                <a:hlinkClick r:id="rId18"/>
              </a:rPr>
              <a:t>Implementing Enterprise Observability for </a:t>
            </a:r>
            <a:r>
              <a:rPr lang="en-IN" sz="1100" dirty="0" err="1">
                <a:hlinkClick r:id="rId18"/>
              </a:rPr>
              <a:t>SuccessKarun</a:t>
            </a:r>
            <a:r>
              <a:rPr lang="en-IN" sz="1100" dirty="0">
                <a:hlinkClick r:id="rId18"/>
              </a:rPr>
              <a:t>: Amazon.in: Kindle Store</a:t>
            </a:r>
            <a:endParaRPr lang="en-US" sz="1100" kern="0" spc="-80" dirty="0">
              <a:solidFill>
                <a:schemeClr val="accent2"/>
              </a:solidFill>
            </a:endParaRPr>
          </a:p>
          <a:p>
            <a:pPr marL="12700" marR="5080"/>
            <a:r>
              <a:rPr lang="en-IN" sz="1100" dirty="0">
                <a:hlinkClick r:id="rId19"/>
              </a:rPr>
              <a:t>Grafana Masterclass: Observability, Monitoring, Alerts | Udemy</a:t>
            </a:r>
            <a:endParaRPr lang="en-IN" sz="1100" dirty="0"/>
          </a:p>
          <a:p>
            <a:pPr marL="12700" marR="5080"/>
            <a:r>
              <a:rPr lang="en-US" sz="1100" dirty="0">
                <a:hlinkClick r:id="rId20"/>
              </a:rPr>
              <a:t>Learn-Grafana-10</a:t>
            </a:r>
            <a:endParaRPr lang="en-US" sz="1100" dirty="0"/>
          </a:p>
          <a:p>
            <a:pPr marL="12700" marR="5080"/>
            <a:r>
              <a:rPr lang="en-US" sz="1100" dirty="0">
                <a:hlinkClick r:id="rId21"/>
              </a:rPr>
              <a:t>Observability-with-Grafana</a:t>
            </a:r>
            <a:endParaRPr lang="en-US" sz="1100" dirty="0"/>
          </a:p>
          <a:p>
            <a:pPr marL="12700" marR="5080"/>
            <a:r>
              <a:rPr lang="en-US" sz="1100" dirty="0">
                <a:hlinkClick r:id="rId22"/>
              </a:rPr>
              <a:t>Building IoT Visualizations using Grafana</a:t>
            </a:r>
            <a:endParaRPr lang="en-US" sz="1100" dirty="0"/>
          </a:p>
          <a:p>
            <a:pPr marL="12700" marR="5080"/>
            <a:r>
              <a:rPr lang="en-IN" sz="1100" dirty="0">
                <a:hlinkClick r:id="rId23"/>
              </a:rPr>
              <a:t>End-to-End Observability with Grafana</a:t>
            </a:r>
          </a:p>
          <a:p>
            <a:pPr marL="12700" marR="5080"/>
            <a:r>
              <a:rPr lang="en-IN" sz="1100" dirty="0">
                <a:hlinkClick r:id="rId23"/>
              </a:rPr>
              <a:t>with Grafana (English Edition) eBook : Reddy Yeruva, Ajay, </a:t>
            </a:r>
            <a:r>
              <a:rPr lang="en-IN" sz="1100" dirty="0" err="1">
                <a:hlinkClick r:id="rId23"/>
              </a:rPr>
              <a:t>Basavegowda</a:t>
            </a:r>
            <a:r>
              <a:rPr lang="en-IN" sz="1100" dirty="0">
                <a:hlinkClick r:id="rId23"/>
              </a:rPr>
              <a:t> Ramu, Vivek: Amazon.in: Kindle Store</a:t>
            </a:r>
            <a:endParaRPr lang="en-US" sz="1100" dirty="0"/>
          </a:p>
          <a:p>
            <a:pPr marL="12700" marR="5080"/>
            <a:r>
              <a:rPr lang="en-US" sz="1100" dirty="0">
                <a:hlinkClick r:id="rId24"/>
              </a:rPr>
              <a:t>Grafana-Awesome: a list of awesome Grafana resources</a:t>
            </a:r>
            <a:endParaRPr lang="en-US" sz="1100" dirty="0"/>
          </a:p>
          <a:p>
            <a:pPr marL="12700" marR="5080"/>
            <a:r>
              <a:rPr lang="en-US" sz="1100" dirty="0" err="1">
                <a:hlinkClick r:id="rId25"/>
              </a:rPr>
              <a:t>Awsome</a:t>
            </a:r>
            <a:r>
              <a:rPr lang="en-US" sz="1100" dirty="0">
                <a:hlinkClick r:id="rId25"/>
              </a:rPr>
              <a:t>-Grafana: A curated list of amazingly awesome Grafana resources.</a:t>
            </a:r>
            <a:endParaRPr lang="en-US" sz="1100" dirty="0"/>
          </a:p>
          <a:p>
            <a:pPr marL="12700" marR="5080"/>
            <a:r>
              <a:rPr lang="en-IN" sz="1100" dirty="0">
                <a:hlinkClick r:id="rId26"/>
              </a:rPr>
              <a:t>Awesome-Grafana</a:t>
            </a:r>
            <a:endParaRPr lang="en-IN" sz="1100" dirty="0"/>
          </a:p>
          <a:p>
            <a:pPr marL="12700" marR="5080"/>
            <a:r>
              <a:rPr lang="en-US" sz="1100" dirty="0">
                <a:hlinkClick r:id="rId27"/>
              </a:rPr>
              <a:t>Prometheus | The Complete Hands-On for Monitoring &amp; Alerting | Udemy</a:t>
            </a:r>
            <a:endParaRPr lang="en-US" sz="1100" dirty="0"/>
          </a:p>
          <a:p>
            <a:pPr marL="12700" marR="5080"/>
            <a:r>
              <a:rPr lang="en-US" sz="1100" dirty="0">
                <a:hlinkClick r:id="rId28"/>
              </a:rPr>
              <a:t>Mastering-Prometheus</a:t>
            </a:r>
            <a:endParaRPr lang="en-US" sz="1100" dirty="0"/>
          </a:p>
          <a:p>
            <a:pPr marL="12700" marR="5080"/>
            <a:r>
              <a:rPr lang="en-US" sz="1100" dirty="0">
                <a:hlinkClick r:id="rId29"/>
              </a:rPr>
              <a:t>Hands-On-Infrastructure-Monitoring-with-Prometheus</a:t>
            </a:r>
            <a:endParaRPr lang="en-US" sz="1100" dirty="0"/>
          </a:p>
          <a:p>
            <a:pPr marL="12700" marR="5080"/>
            <a:r>
              <a:rPr lang="en-US" sz="1100" dirty="0">
                <a:hlinkClick r:id="rId30"/>
              </a:rPr>
              <a:t>Modern-Network-Observability</a:t>
            </a:r>
            <a:endParaRPr lang="en-US" sz="1100" dirty="0"/>
          </a:p>
          <a:p>
            <a:pPr marL="12700" marR="5080"/>
            <a:r>
              <a:rPr lang="en-US" sz="1100" dirty="0">
                <a:hlinkClick r:id="rId31"/>
              </a:rPr>
              <a:t>Awesome-Prometheus: A curated list of awesome Prometheus resources, projects and tools.</a:t>
            </a:r>
            <a:endParaRPr lang="en-US" sz="1100" dirty="0"/>
          </a:p>
          <a:p>
            <a:pPr marL="12700" marR="5080"/>
            <a:r>
              <a:rPr lang="en-US" sz="1100" dirty="0">
                <a:hlinkClick r:id="rId32"/>
              </a:rPr>
              <a:t>How to monitor Istio, the Kubernetes service mesh | </a:t>
            </a:r>
            <a:r>
              <a:rPr lang="en-US" sz="1100" dirty="0" err="1">
                <a:hlinkClick r:id="rId32"/>
              </a:rPr>
              <a:t>Sysdig</a:t>
            </a:r>
            <a:endParaRPr lang="en-US" sz="1100" dirty="0"/>
          </a:p>
          <a:p>
            <a:pPr marL="12700" marR="5080"/>
            <a:r>
              <a:rPr lang="en-US" sz="1100" dirty="0">
                <a:hlinkClick r:id="rId33"/>
              </a:rPr>
              <a:t>How to Monitor Azure Service Bus? - A Detailed Guide</a:t>
            </a:r>
            <a:endParaRPr lang="en-US" sz="1100" dirty="0"/>
          </a:p>
          <a:p>
            <a:pPr marL="12700" marR="5080"/>
            <a:r>
              <a:rPr lang="en-US" sz="1100" dirty="0">
                <a:hlinkClick r:id="rId34"/>
              </a:rPr>
              <a:t>What is the ELK stack? - Elasticsearch, Logstash, Kibana Stack Explained - AWS</a:t>
            </a:r>
            <a:endParaRPr lang="en-US" sz="1100" dirty="0"/>
          </a:p>
          <a:p>
            <a:pPr marL="12700" marR="5080"/>
            <a:endParaRPr lang="en-US" sz="1180" dirty="0"/>
          </a:p>
          <a:p>
            <a:pPr marL="12700" marR="5080"/>
            <a:endParaRPr lang="en-US" sz="1200" kern="0" spc="-80" dirty="0">
              <a:solidFill>
                <a:schemeClr val="accent2"/>
              </a:solidFill>
            </a:endParaRPr>
          </a:p>
          <a:p>
            <a:pPr marL="12700" marR="5080"/>
            <a:endParaRPr lang="en-IN" sz="1100" dirty="0"/>
          </a:p>
        </p:txBody>
      </p:sp>
    </p:spTree>
    <p:extLst>
      <p:ext uri="{BB962C8B-B14F-4D97-AF65-F5344CB8AC3E}">
        <p14:creationId xmlns:p14="http://schemas.microsoft.com/office/powerpoint/2010/main" val="12417239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7C658-905B-9888-9B97-014DAB92C1E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47E9CCD-A20A-DE2E-EF2B-6E95266E0B1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99F090E-0873-8156-1516-132B205FA27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7249DC4-D20B-9D47-846B-8B13AFCCB84C}"/>
              </a:ext>
            </a:extLst>
          </p:cNvPr>
          <p:cNvGraphicFramePr/>
          <p:nvPr>
            <p:extLst>
              <p:ext uri="{D42A27DB-BD31-4B8C-83A1-F6EECF244321}">
                <p14:modId xmlns:p14="http://schemas.microsoft.com/office/powerpoint/2010/main" val="676531950"/>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0E99920-447A-4E0D-9C85-FE4D24EBD28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103F971-85A6-E8F1-D20A-D47D60712D4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18317D50-90E1-9571-836B-95FC7145BCE3}"/>
              </a:ext>
            </a:extLst>
          </p:cNvPr>
          <p:cNvSpPr txBox="1">
            <a:spLocks/>
          </p:cNvSpPr>
          <p:nvPr/>
        </p:nvSpPr>
        <p:spPr>
          <a:xfrm>
            <a:off x="127964" y="692050"/>
            <a:ext cx="8915399" cy="290079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Observability/Monitoring using MELT(Metrics, Events, Logs And Traces) </a:t>
            </a:r>
            <a:r>
              <a:rPr lang="en-US" sz="1400" kern="0" spc="-80" dirty="0" err="1">
                <a:solidFill>
                  <a:schemeClr val="accent2"/>
                </a:solidFill>
              </a:rPr>
              <a:t>contd</a:t>
            </a:r>
            <a:r>
              <a:rPr lang="en-US" sz="1400" kern="0" spc="-80" dirty="0">
                <a:solidFill>
                  <a:schemeClr val="accent2"/>
                </a:solidFill>
              </a:rPr>
              <a:t>…</a:t>
            </a:r>
          </a:p>
          <a:p>
            <a:pPr marL="12700" marR="5080"/>
            <a:r>
              <a:rPr lang="en-US" sz="1500" kern="0" spc="-80" dirty="0">
                <a:solidFill>
                  <a:schemeClr val="accent2"/>
                </a:solidFill>
              </a:rPr>
              <a:t>For Further Exploration  </a:t>
            </a:r>
            <a:r>
              <a:rPr lang="en-US" sz="1500" kern="0" spc="-80" dirty="0" err="1">
                <a:solidFill>
                  <a:schemeClr val="accent2"/>
                </a:solidFill>
              </a:rPr>
              <a:t>contd</a:t>
            </a:r>
            <a:r>
              <a:rPr lang="en-US" sz="1500" kern="0" spc="-80" dirty="0">
                <a:solidFill>
                  <a:schemeClr val="accent2"/>
                </a:solidFill>
              </a:rPr>
              <a:t>…-</a:t>
            </a:r>
          </a:p>
          <a:p>
            <a:pPr marL="12700" marR="5080"/>
            <a:r>
              <a:rPr lang="en-US" sz="1050" dirty="0">
                <a:hlinkClick r:id="rId7"/>
              </a:rPr>
              <a:t>Observability vs. Telemetry vs. Monitoring | Last9</a:t>
            </a:r>
            <a:r>
              <a:rPr lang="en-US" sz="1050" kern="0" spc="-80" dirty="0">
                <a:solidFill>
                  <a:schemeClr val="accent2"/>
                </a:solidFill>
              </a:rPr>
              <a:t> </a:t>
            </a:r>
          </a:p>
          <a:p>
            <a:pPr marL="12700" marR="5080"/>
            <a:r>
              <a:rPr lang="en-US" sz="1050" dirty="0">
                <a:hlinkClick r:id="rId8"/>
              </a:rPr>
              <a:t>Metrics, Events, Logs, and Traces: Observability Essentials | Last9</a:t>
            </a:r>
            <a:endParaRPr lang="en-US" sz="1050" dirty="0"/>
          </a:p>
          <a:p>
            <a:pPr marL="12700" marR="5080"/>
            <a:r>
              <a:rPr lang="en-IN" sz="1050" dirty="0">
                <a:hlinkClick r:id="rId9"/>
              </a:rPr>
              <a:t>Azure Monitoring Complete Guide (2025)</a:t>
            </a:r>
            <a:endParaRPr lang="en-IN" sz="1050" dirty="0"/>
          </a:p>
          <a:p>
            <a:pPr marL="12700" marR="5080"/>
            <a:r>
              <a:rPr lang="en-US" sz="1050" dirty="0">
                <a:hlinkClick r:id="rId10"/>
              </a:rPr>
              <a:t>Cloud-Observability-with-Azure-Monitor</a:t>
            </a:r>
            <a:endParaRPr lang="en-IN" sz="1050" dirty="0"/>
          </a:p>
          <a:p>
            <a:pPr marL="12700" marR="5080"/>
            <a:r>
              <a:rPr lang="en-US" sz="1050" dirty="0">
                <a:hlinkClick r:id="rId11"/>
              </a:rPr>
              <a:t>Building SRE from Scratch. Introduction to site reliability… | by </a:t>
            </a:r>
            <a:r>
              <a:rPr lang="en-US" sz="1050" dirty="0" err="1">
                <a:hlinkClick r:id="rId11"/>
              </a:rPr>
              <a:t>Ernese</a:t>
            </a:r>
            <a:r>
              <a:rPr lang="en-US" sz="1050" dirty="0">
                <a:hlinkClick r:id="rId11"/>
              </a:rPr>
              <a:t> Norelus | Medium</a:t>
            </a:r>
            <a:endParaRPr lang="en-US" sz="1050" dirty="0"/>
          </a:p>
          <a:p>
            <a:pPr marL="12700" marR="5080"/>
            <a:r>
              <a:rPr lang="en-US" sz="1050" dirty="0">
                <a:hlinkClick r:id="rId12"/>
              </a:rPr>
              <a:t>Elastic Observability in SRE and Incident Response | Elastic Blog</a:t>
            </a:r>
            <a:endParaRPr lang="en-US" sz="1050" dirty="0"/>
          </a:p>
          <a:p>
            <a:pPr marL="12700" marR="5080"/>
            <a:r>
              <a:rPr lang="en-US" sz="1050" dirty="0">
                <a:hlinkClick r:id="rId13"/>
              </a:rPr>
              <a:t>Observability from cloud to edge in Azure | Microsoft Azure Blog</a:t>
            </a:r>
            <a:endParaRPr lang="en-US" sz="1050" dirty="0"/>
          </a:p>
          <a:p>
            <a:pPr marL="12700" marR="5080"/>
            <a:r>
              <a:rPr lang="en-US" sz="1050" dirty="0">
                <a:hlinkClick r:id="rId14"/>
              </a:rPr>
              <a:t>Guidance for Deep Application Observability on AWS</a:t>
            </a:r>
            <a:endParaRPr lang="en-US" sz="1050" dirty="0"/>
          </a:p>
          <a:p>
            <a:pPr marL="12700" marR="5080"/>
            <a:r>
              <a:rPr lang="en-IN" sz="1050" dirty="0">
                <a:hlinkClick r:id="rId15"/>
              </a:rPr>
              <a:t>Observability Maturity Model - </a:t>
            </a:r>
            <a:r>
              <a:rPr lang="en-IN" sz="1050" dirty="0" err="1">
                <a:hlinkClick r:id="rId15"/>
              </a:rPr>
              <a:t>DZone</a:t>
            </a:r>
            <a:r>
              <a:rPr lang="en-IN" sz="1050" dirty="0">
                <a:hlinkClick r:id="rId15"/>
              </a:rPr>
              <a:t> </a:t>
            </a:r>
            <a:r>
              <a:rPr lang="en-IN" sz="1050" dirty="0" err="1">
                <a:hlinkClick r:id="rId15"/>
              </a:rPr>
              <a:t>Refcardz</a:t>
            </a:r>
            <a:endParaRPr lang="en-IN" sz="1050" dirty="0"/>
          </a:p>
          <a:p>
            <a:pPr marL="12700" marR="5080"/>
            <a:r>
              <a:rPr lang="en-US" sz="1050" dirty="0">
                <a:hlinkClick r:id="rId16"/>
              </a:rPr>
              <a:t>The Art of Monitoring eBook : Turnbull, James, Orlando, Sid: Amazon.in: Books</a:t>
            </a:r>
            <a:endParaRPr lang="en-US" sz="1050" kern="0" spc="-80" dirty="0">
              <a:solidFill>
                <a:schemeClr val="accent2"/>
              </a:solidFill>
            </a:endParaRPr>
          </a:p>
          <a:p>
            <a:pPr marL="12700" marR="5080"/>
            <a:r>
              <a:rPr lang="en-US" sz="1050" dirty="0">
                <a:hlinkClick r:id="rId17"/>
              </a:rPr>
              <a:t>Fundamentals of Trace and Log Analysis</a:t>
            </a:r>
            <a:endParaRPr lang="en-US" sz="1050" dirty="0"/>
          </a:p>
          <a:p>
            <a:pPr marL="12700" marR="5080"/>
            <a:r>
              <a:rPr lang="en-US" sz="1050" dirty="0">
                <a:hlinkClick r:id="rId18"/>
              </a:rPr>
              <a:t>How to track development metrics with </a:t>
            </a:r>
            <a:r>
              <a:rPr lang="en-US" sz="1050" dirty="0" err="1">
                <a:hlinkClick r:id="rId18"/>
              </a:rPr>
              <a:t>VSCode</a:t>
            </a:r>
            <a:r>
              <a:rPr lang="en-US" sz="1050" dirty="0">
                <a:hlinkClick r:id="rId18"/>
              </a:rPr>
              <a:t> Exporter, Grafana Agent, and Grafana Cloud | Grafana Labs</a:t>
            </a:r>
            <a:endParaRPr lang="en-IN" sz="1050" dirty="0"/>
          </a:p>
          <a:p>
            <a:pPr marL="12700" marR="5080"/>
            <a:endParaRPr lang="en-US" sz="1050" dirty="0"/>
          </a:p>
          <a:p>
            <a:pPr marL="12700" marR="5080"/>
            <a:endParaRPr lang="en-US" sz="1200" kern="0" spc="-80" dirty="0">
              <a:solidFill>
                <a:schemeClr val="accent2"/>
              </a:solidFill>
            </a:endParaRPr>
          </a:p>
          <a:p>
            <a:pPr marL="12700" marR="5080"/>
            <a:endParaRPr lang="en-IN" sz="1100" dirty="0"/>
          </a:p>
        </p:txBody>
      </p:sp>
    </p:spTree>
    <p:extLst>
      <p:ext uri="{BB962C8B-B14F-4D97-AF65-F5344CB8AC3E}">
        <p14:creationId xmlns:p14="http://schemas.microsoft.com/office/powerpoint/2010/main" val="42451831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E459E-D3E7-5A18-556A-C67ACB5FEE8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8907C0B-D1E4-2DD0-A9BC-09EB964DBF7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606FF44-A5B7-D563-48B4-4862E38AE00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DA35280-1941-6FE5-E869-566D8B8C6BC5}"/>
              </a:ext>
            </a:extLst>
          </p:cNvPr>
          <p:cNvGraphicFramePr/>
          <p:nvPr>
            <p:extLst>
              <p:ext uri="{D42A27DB-BD31-4B8C-83A1-F6EECF244321}">
                <p14:modId xmlns:p14="http://schemas.microsoft.com/office/powerpoint/2010/main" val="2753142348"/>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7902E87-1FD6-2947-DD7B-BDF5190BDF1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D4531B2-A948-22CB-5E67-F611F2B6D5A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D44F02B9-C7CB-0D12-6438-02D6232C3F14}"/>
              </a:ext>
            </a:extLst>
          </p:cNvPr>
          <p:cNvSpPr txBox="1">
            <a:spLocks/>
          </p:cNvSpPr>
          <p:nvPr/>
        </p:nvSpPr>
        <p:spPr>
          <a:xfrm>
            <a:off x="127964" y="692050"/>
            <a:ext cx="8915399" cy="25237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Observability/Monitoring using MELT(Metrics, Events, Logs And Traces) </a:t>
            </a:r>
            <a:r>
              <a:rPr lang="en-US" sz="1400" kern="0" spc="-80" dirty="0" err="1">
                <a:solidFill>
                  <a:schemeClr val="accent2"/>
                </a:solidFill>
              </a:rPr>
              <a:t>contd</a:t>
            </a:r>
            <a:r>
              <a:rPr lang="en-US" sz="1400" kern="0" spc="-80" dirty="0">
                <a:solidFill>
                  <a:schemeClr val="accent2"/>
                </a:solidFill>
              </a:rPr>
              <a:t>…</a:t>
            </a:r>
          </a:p>
          <a:p>
            <a:pPr marL="12700" marR="5080"/>
            <a:r>
              <a:rPr lang="en-US" sz="1500" kern="0" spc="-80" dirty="0">
                <a:solidFill>
                  <a:schemeClr val="accent2"/>
                </a:solidFill>
              </a:rPr>
              <a:t>For Further Exploration  </a:t>
            </a:r>
            <a:r>
              <a:rPr lang="en-US" sz="1500" kern="0" spc="-80" dirty="0" err="1">
                <a:solidFill>
                  <a:schemeClr val="accent2"/>
                </a:solidFill>
              </a:rPr>
              <a:t>contd</a:t>
            </a:r>
            <a:r>
              <a:rPr lang="en-US" sz="1500" kern="0" spc="-80" dirty="0">
                <a:solidFill>
                  <a:schemeClr val="accent2"/>
                </a:solidFill>
              </a:rPr>
              <a:t>…(Data Observability)-</a:t>
            </a:r>
          </a:p>
          <a:p>
            <a:pPr marL="12700" marR="5080"/>
            <a:r>
              <a:rPr lang="en-IN" sz="1700" dirty="0">
                <a:hlinkClick r:id="rId7"/>
              </a:rPr>
              <a:t>What is Data Observability</a:t>
            </a:r>
            <a:endParaRPr lang="en-IN" sz="1700" dirty="0"/>
          </a:p>
          <a:p>
            <a:pPr marL="12700" marR="5080"/>
            <a:r>
              <a:rPr lang="en-US" sz="1700" dirty="0">
                <a:hlinkClick r:id="rId8"/>
              </a:rPr>
              <a:t>Data Observability Book: Your Essential Guide to Understanding and Implementing Data Observability</a:t>
            </a:r>
            <a:endParaRPr lang="en-US" sz="1700" dirty="0"/>
          </a:p>
          <a:p>
            <a:pPr marL="12700" marR="5080"/>
            <a:r>
              <a:rPr lang="en-US" sz="1700" dirty="0">
                <a:hlinkClick r:id="rId9"/>
              </a:rPr>
              <a:t>Fundamentals-of-Data-Observability</a:t>
            </a:r>
            <a:endParaRPr lang="en-US" sz="1700" dirty="0"/>
          </a:p>
          <a:p>
            <a:pPr marL="12700" marR="5080"/>
            <a:r>
              <a:rPr lang="en-US" sz="1700" dirty="0">
                <a:hlinkClick r:id="rId10"/>
              </a:rPr>
              <a:t>Data-Observability-for-Data-Engineering</a:t>
            </a:r>
            <a:endParaRPr lang="en-US" sz="1700" dirty="0"/>
          </a:p>
          <a:p>
            <a:pPr marL="12700" marR="5080"/>
            <a:r>
              <a:rPr lang="en-US" sz="1700" dirty="0">
                <a:hlinkClick r:id="rId11"/>
              </a:rPr>
              <a:t>Datadog Observability (Monitoring, Logging, Alerting) in K8s | Udemy</a:t>
            </a:r>
            <a:endParaRPr lang="en-US" sz="1700" dirty="0"/>
          </a:p>
          <a:p>
            <a:pPr marL="12700" marR="5080"/>
            <a:r>
              <a:rPr lang="en-IN" sz="1700" dirty="0">
                <a:hlinkClick r:id="rId12"/>
              </a:rPr>
              <a:t>Datadog Observability (Monitoring/Logging/Alerting) | Udemy</a:t>
            </a:r>
            <a:endParaRPr lang="en-IN" sz="1700" dirty="0"/>
          </a:p>
          <a:p>
            <a:pPr marL="12700" marR="5080"/>
            <a:r>
              <a:rPr lang="en-IN" sz="1600" dirty="0" err="1">
                <a:hlinkClick r:id="rId13"/>
              </a:rPr>
              <a:t>OpenMetadata</a:t>
            </a:r>
            <a:endParaRPr lang="en-US" sz="1600" dirty="0"/>
          </a:p>
        </p:txBody>
      </p:sp>
    </p:spTree>
    <p:extLst>
      <p:ext uri="{BB962C8B-B14F-4D97-AF65-F5344CB8AC3E}">
        <p14:creationId xmlns:p14="http://schemas.microsoft.com/office/powerpoint/2010/main" val="7830462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0FF55-2478-409E-4287-65FD8C1A949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11A7BBD-995A-1B80-6528-958F0AE3059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A1A4DD8-9066-3AC6-6862-FC198C77422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C939209-8528-BD60-7E50-86676D9EEA3F}"/>
              </a:ext>
            </a:extLst>
          </p:cNvPr>
          <p:cNvGraphicFramePr/>
          <p:nvPr>
            <p:extLst>
              <p:ext uri="{D42A27DB-BD31-4B8C-83A1-F6EECF244321}">
                <p14:modId xmlns:p14="http://schemas.microsoft.com/office/powerpoint/2010/main" val="1471879601"/>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0898C6E-B0E8-6160-6D98-BF7ED5B745F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0E68C84-D361-CB7C-CB47-6D024B5419A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8" name="object 2">
            <a:extLst>
              <a:ext uri="{FF2B5EF4-FFF2-40B4-BE49-F238E27FC236}">
                <a16:creationId xmlns:a16="http://schemas.microsoft.com/office/drawing/2014/main" id="{13C09900-F3F9-39EA-FDEF-AE1D797E5AA8}"/>
              </a:ext>
            </a:extLst>
          </p:cNvPr>
          <p:cNvSpPr txBox="1">
            <a:spLocks/>
          </p:cNvSpPr>
          <p:nvPr/>
        </p:nvSpPr>
        <p:spPr>
          <a:xfrm>
            <a:off x="127964" y="692050"/>
            <a:ext cx="8915399" cy="167738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Observability/Monitoring using MELT(Metrics, Events, Logs And Traces) </a:t>
            </a:r>
            <a:r>
              <a:rPr lang="en-US" sz="1400" kern="0" spc="-80" dirty="0" err="1">
                <a:solidFill>
                  <a:schemeClr val="accent2"/>
                </a:solidFill>
              </a:rPr>
              <a:t>contd</a:t>
            </a:r>
            <a:r>
              <a:rPr lang="en-US" sz="1400" kern="0" spc="-80" dirty="0">
                <a:solidFill>
                  <a:schemeClr val="accent2"/>
                </a:solidFill>
              </a:rPr>
              <a:t>…</a:t>
            </a:r>
          </a:p>
          <a:p>
            <a:pPr marL="12700" marR="5080"/>
            <a:r>
              <a:rPr lang="en-US" sz="1500" kern="0" spc="-80" dirty="0">
                <a:solidFill>
                  <a:schemeClr val="accent2"/>
                </a:solidFill>
              </a:rPr>
              <a:t>For Further Exploration  </a:t>
            </a:r>
            <a:r>
              <a:rPr lang="en-US" sz="1500" kern="0" spc="-80" dirty="0" err="1">
                <a:solidFill>
                  <a:schemeClr val="accent2"/>
                </a:solidFill>
              </a:rPr>
              <a:t>contd</a:t>
            </a:r>
            <a:r>
              <a:rPr lang="en-US" sz="1500" kern="0" spc="-80" dirty="0">
                <a:solidFill>
                  <a:schemeClr val="accent2"/>
                </a:solidFill>
              </a:rPr>
              <a:t>…(Observability As Code)-</a:t>
            </a:r>
          </a:p>
          <a:p>
            <a:pPr marL="12700" marR="5080"/>
            <a:r>
              <a:rPr lang="en-US" sz="2000" dirty="0">
                <a:hlinkClick r:id="rId7"/>
              </a:rPr>
              <a:t>Observability as Code Explained: Benefits &amp; How to Get Started</a:t>
            </a:r>
            <a:endParaRPr lang="en-US" sz="2000" dirty="0"/>
          </a:p>
          <a:p>
            <a:pPr marL="12700" marR="5080"/>
            <a:r>
              <a:rPr lang="en-US" sz="2000" dirty="0">
                <a:hlinkClick r:id="rId8"/>
              </a:rPr>
              <a:t>Observability as Code: What is it and Why Do You Need It? </a:t>
            </a:r>
            <a:endParaRPr lang="en-US" sz="2000" dirty="0"/>
          </a:p>
          <a:p>
            <a:pPr marL="12700" marR="5080"/>
            <a:r>
              <a:rPr lang="en-US" sz="2000" dirty="0">
                <a:hlinkClick r:id="rId9"/>
              </a:rPr>
              <a:t>Observability as Code - Engineering Fundamentals Playbook</a:t>
            </a:r>
            <a:endParaRPr lang="en-US" sz="2000" dirty="0"/>
          </a:p>
          <a:p>
            <a:pPr marL="12700" marR="5080"/>
            <a:r>
              <a:rPr lang="en-IN" sz="2000" dirty="0">
                <a:hlinkClick r:id="rId10"/>
              </a:rPr>
              <a:t>Observability as Code | Grafana documentation</a:t>
            </a:r>
            <a:endParaRPr lang="en-IN" sz="2000" dirty="0"/>
          </a:p>
        </p:txBody>
      </p:sp>
    </p:spTree>
    <p:extLst>
      <p:ext uri="{BB962C8B-B14F-4D97-AF65-F5344CB8AC3E}">
        <p14:creationId xmlns:p14="http://schemas.microsoft.com/office/powerpoint/2010/main" val="31378689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129882598"/>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72F3D23-70D1-4E8F-E456-381E9B639F73}"/>
              </a:ext>
            </a:extLst>
          </p:cNvPr>
          <p:cNvSpPr txBox="1">
            <a:spLocks/>
          </p:cNvSpPr>
          <p:nvPr/>
        </p:nvSpPr>
        <p:spPr>
          <a:xfrm>
            <a:off x="0" y="621268"/>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Outages –</a:t>
            </a:r>
          </a:p>
        </p:txBody>
      </p:sp>
      <p:pic>
        <p:nvPicPr>
          <p:cNvPr id="56322" name="Picture 2" descr="Outages are still happening - Why and how can you mitigate them? - Load  Balancers - Kemp">
            <a:extLst>
              <a:ext uri="{FF2B5EF4-FFF2-40B4-BE49-F238E27FC236}">
                <a16:creationId xmlns:a16="http://schemas.microsoft.com/office/drawing/2014/main" id="{B42048EE-F7A2-524D-98C5-8A5718B9DB4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990600"/>
            <a:ext cx="9144000" cy="259016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5 A schematic diagram of MTTF, MTTR, and MTBF">
            <a:extLst>
              <a:ext uri="{FF2B5EF4-FFF2-40B4-BE49-F238E27FC236}">
                <a16:creationId xmlns:a16="http://schemas.microsoft.com/office/drawing/2014/main" id="{B8B07124-830A-CFF9-193C-77442BA828B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1" y="3848103"/>
            <a:ext cx="8686798" cy="1943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75680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745477550"/>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72F3D23-70D1-4E8F-E456-381E9B639F73}"/>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Outages –</a:t>
            </a:r>
          </a:p>
        </p:txBody>
      </p:sp>
      <p:sp>
        <p:nvSpPr>
          <p:cNvPr id="8" name="object 2">
            <a:extLst>
              <a:ext uri="{FF2B5EF4-FFF2-40B4-BE49-F238E27FC236}">
                <a16:creationId xmlns:a16="http://schemas.microsoft.com/office/drawing/2014/main" id="{9A139016-658B-3472-6EE3-6A6F6CE05615}"/>
              </a:ext>
            </a:extLst>
          </p:cNvPr>
          <p:cNvSpPr txBox="1">
            <a:spLocks/>
          </p:cNvSpPr>
          <p:nvPr/>
        </p:nvSpPr>
        <p:spPr>
          <a:xfrm>
            <a:off x="114300" y="4512439"/>
            <a:ext cx="8915399" cy="143116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 –</a:t>
            </a:r>
          </a:p>
          <a:p>
            <a:pPr marL="12700" marR="5080"/>
            <a:r>
              <a:rPr lang="en-US" sz="1600" kern="0" spc="-80" dirty="0">
                <a:solidFill>
                  <a:schemeClr val="accent2"/>
                </a:solidFill>
              </a:rPr>
              <a:t>  </a:t>
            </a:r>
            <a:r>
              <a:rPr lang="en-US" sz="1500" dirty="0">
                <a:hlinkClick r:id="rId7"/>
              </a:rPr>
              <a:t>Outages are still happening - Why and how can you mitigate them</a:t>
            </a:r>
            <a:endParaRPr lang="en-US" sz="1500" kern="0" spc="-80" dirty="0">
              <a:solidFill>
                <a:schemeClr val="accent2"/>
              </a:solidFill>
            </a:endParaRPr>
          </a:p>
          <a:p>
            <a:pPr marL="12700" marR="5080"/>
            <a:r>
              <a:rPr lang="en-US" sz="1500" kern="0" spc="-80" dirty="0">
                <a:solidFill>
                  <a:schemeClr val="accent2"/>
                </a:solidFill>
              </a:rPr>
              <a:t>  </a:t>
            </a:r>
            <a:r>
              <a:rPr lang="en-US" sz="1500" dirty="0">
                <a:hlinkClick r:id="rId8"/>
              </a:rPr>
              <a:t>What are the best practices for ensuring your application can handle peak usage times?</a:t>
            </a:r>
            <a:endParaRPr lang="en-US" sz="1500" dirty="0"/>
          </a:p>
          <a:p>
            <a:pPr marL="12700" marR="5080"/>
            <a:r>
              <a:rPr lang="en-US" sz="1500" kern="0" spc="-80" dirty="0">
                <a:solidFill>
                  <a:schemeClr val="accent2"/>
                </a:solidFill>
              </a:rPr>
              <a:t>  </a:t>
            </a:r>
            <a:r>
              <a:rPr lang="en-US" sz="1500" dirty="0">
                <a:hlinkClick r:id="rId9"/>
              </a:rPr>
              <a:t>4 Strategies for Punching Down Traffic Spikes - High Scalability –</a:t>
            </a:r>
            <a:endParaRPr lang="en-US" sz="1500" dirty="0"/>
          </a:p>
          <a:p>
            <a:pPr marL="12700" marR="5080"/>
            <a:r>
              <a:rPr lang="en-US" sz="1500" kern="0" spc="-80" dirty="0">
                <a:solidFill>
                  <a:schemeClr val="accent2"/>
                </a:solidFill>
              </a:rPr>
              <a:t>  </a:t>
            </a:r>
            <a:r>
              <a:rPr lang="en-US" sz="1500" dirty="0">
                <a:hlinkClick r:id="rId10"/>
              </a:rPr>
              <a:t>Load Series: Throttling vs Loadshedding – Sarah-Marie </a:t>
            </a:r>
            <a:r>
              <a:rPr lang="en-US" sz="1500" dirty="0" err="1">
                <a:hlinkClick r:id="rId10"/>
              </a:rPr>
              <a:t>Nothling</a:t>
            </a:r>
            <a:endParaRPr lang="en-US" sz="1500" dirty="0"/>
          </a:p>
          <a:p>
            <a:pPr marL="12700" marR="5080"/>
            <a:r>
              <a:rPr lang="en-US" sz="1500" kern="0" spc="-80" dirty="0">
                <a:solidFill>
                  <a:schemeClr val="accent2"/>
                </a:solidFill>
              </a:rPr>
              <a:t>  </a:t>
            </a:r>
            <a:r>
              <a:rPr lang="en-IN" sz="1600" dirty="0">
                <a:hlinkClick r:id="rId11"/>
              </a:rPr>
              <a:t>Spikes/Bursts/Cold Starts etc | LinkedIn</a:t>
            </a:r>
            <a:endParaRPr lang="en-US" sz="1500" kern="0" spc="-80" dirty="0">
              <a:solidFill>
                <a:schemeClr val="accent2"/>
              </a:solidFill>
            </a:endParaRPr>
          </a:p>
        </p:txBody>
      </p:sp>
      <p:sp>
        <p:nvSpPr>
          <p:cNvPr id="9" name="object 2">
            <a:extLst>
              <a:ext uri="{FF2B5EF4-FFF2-40B4-BE49-F238E27FC236}">
                <a16:creationId xmlns:a16="http://schemas.microsoft.com/office/drawing/2014/main" id="{4562BC75-DAB7-C17B-E3B2-FAFB727B2771}"/>
              </a:ext>
            </a:extLst>
          </p:cNvPr>
          <p:cNvSpPr txBox="1">
            <a:spLocks/>
          </p:cNvSpPr>
          <p:nvPr/>
        </p:nvSpPr>
        <p:spPr>
          <a:xfrm>
            <a:off x="152400" y="1219200"/>
            <a:ext cx="8915399" cy="22159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6"/>
                </a:solidFill>
              </a:rPr>
              <a:t>Outage in general is due to system failures(maybe due to overloading of the system). Outage </a:t>
            </a:r>
            <a:r>
              <a:rPr lang="en-US" sz="2400" kern="0" spc="-80" dirty="0" err="1">
                <a:solidFill>
                  <a:schemeClr val="accent6"/>
                </a:solidFill>
              </a:rPr>
              <a:t>Fequency</a:t>
            </a:r>
            <a:r>
              <a:rPr lang="en-US" sz="2400" kern="0" spc="-80" dirty="0">
                <a:solidFill>
                  <a:schemeClr val="accent6"/>
                </a:solidFill>
              </a:rPr>
              <a:t> is in general defined using MTBF.</a:t>
            </a:r>
          </a:p>
          <a:p>
            <a:pPr marL="12700" marR="5080"/>
            <a:r>
              <a:rPr lang="en-US" sz="2400" kern="0" spc="-80" dirty="0">
                <a:solidFill>
                  <a:schemeClr val="accent6"/>
                </a:solidFill>
              </a:rPr>
              <a:t>A related concept is that of </a:t>
            </a:r>
            <a:r>
              <a:rPr lang="en-US" sz="2400" kern="0" spc="-80" dirty="0" err="1">
                <a:solidFill>
                  <a:schemeClr val="accent6"/>
                </a:solidFill>
              </a:rPr>
              <a:t>DownTime</a:t>
            </a:r>
            <a:r>
              <a:rPr lang="en-US" sz="2400" kern="0" spc="-80" dirty="0">
                <a:solidFill>
                  <a:schemeClr val="accent6"/>
                </a:solidFill>
              </a:rPr>
              <a:t> which is mostly considered to be due to maintenance activities. </a:t>
            </a:r>
            <a:r>
              <a:rPr lang="en-US" sz="2400" kern="0" spc="-80" dirty="0" err="1">
                <a:solidFill>
                  <a:schemeClr val="accent6"/>
                </a:solidFill>
              </a:rPr>
              <a:t>DownTime</a:t>
            </a:r>
            <a:r>
              <a:rPr lang="en-US" sz="2400" kern="0" spc="-80" dirty="0">
                <a:solidFill>
                  <a:schemeClr val="accent6"/>
                </a:solidFill>
              </a:rPr>
              <a:t> is generally related to MTTR.</a:t>
            </a:r>
          </a:p>
        </p:txBody>
      </p:sp>
    </p:spTree>
    <p:extLst>
      <p:ext uri="{BB962C8B-B14F-4D97-AF65-F5344CB8AC3E}">
        <p14:creationId xmlns:p14="http://schemas.microsoft.com/office/powerpoint/2010/main" val="15608259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8A291-9842-962F-7488-13FC5025CF7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E973D95-109A-984C-F8FC-C8F506A029A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A888BD0-7536-0147-02B9-42FC10F5BD8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8BABD93-210A-8ABF-4BEE-45393F943EDD}"/>
              </a:ext>
            </a:extLst>
          </p:cNvPr>
          <p:cNvGraphicFramePr/>
          <p:nvPr>
            <p:extLst>
              <p:ext uri="{D42A27DB-BD31-4B8C-83A1-F6EECF244321}">
                <p14:modId xmlns:p14="http://schemas.microsoft.com/office/powerpoint/2010/main" val="3825664036"/>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EA5A4E1-2262-D8D3-AD5D-EFDE510A2B5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49D509E-6996-DF64-2210-11D508CD1EF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6D2927A2-3A81-94D5-824E-98C736BD2ACF}"/>
              </a:ext>
            </a:extLst>
          </p:cNvPr>
          <p:cNvSpPr txBox="1">
            <a:spLocks/>
          </p:cNvSpPr>
          <p:nvPr/>
        </p:nvSpPr>
        <p:spPr>
          <a:xfrm>
            <a:off x="0" y="762000"/>
            <a:ext cx="8915399"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Incident Triage –</a:t>
            </a:r>
          </a:p>
          <a:p>
            <a:pPr marL="12700" marR="5080"/>
            <a:r>
              <a:rPr lang="en-US" sz="1200" kern="0" spc="-80" dirty="0">
                <a:solidFill>
                  <a:schemeClr val="accent6"/>
                </a:solidFill>
              </a:rPr>
              <a:t>Incident triage is the initial process of quickly assessing, analyzing, and prioritizing incoming security alerts or potential incidents to determine their </a:t>
            </a:r>
            <a:r>
              <a:rPr lang="en-US" sz="1200" kern="0" spc="-80" dirty="0">
                <a:solidFill>
                  <a:schemeClr val="accent1"/>
                </a:solidFill>
              </a:rPr>
              <a:t>severity, impact, and urgency</a:t>
            </a:r>
            <a:r>
              <a:rPr lang="en-US" sz="1200" kern="0" spc="-80" dirty="0">
                <a:solidFill>
                  <a:schemeClr val="accent6"/>
                </a:solidFill>
              </a:rPr>
              <a:t>. By applying predefined criteria and incorporating threat intelligence, incident triage helps organizations focus resources on the most critical threats, prevent alert overload, and minimize business disruption and potential damage from security breaches.</a:t>
            </a:r>
            <a:br>
              <a:rPr lang="en-US" sz="1200" kern="0" spc="-80" dirty="0">
                <a:solidFill>
                  <a:schemeClr val="accent6"/>
                </a:solidFill>
              </a:rPr>
            </a:br>
            <a:r>
              <a:rPr lang="en-US" sz="1200" kern="0" spc="-80" dirty="0">
                <a:solidFill>
                  <a:schemeClr val="accent2"/>
                </a:solidFill>
              </a:rPr>
              <a:t>Key Aspects of Incident Triage.:</a:t>
            </a:r>
            <a:br>
              <a:rPr lang="en-US" sz="1200" kern="0" spc="-80" dirty="0">
                <a:solidFill>
                  <a:schemeClr val="accent6"/>
                </a:solidFill>
              </a:rPr>
            </a:br>
            <a:r>
              <a:rPr lang="en-US" sz="1200" kern="0" spc="-80" dirty="0">
                <a:solidFill>
                  <a:schemeClr val="accent2"/>
                </a:solidFill>
              </a:rPr>
              <a:t>Assessment and Analysis:</a:t>
            </a:r>
            <a:r>
              <a:rPr lang="en-US" sz="1200" kern="0" spc="-80" dirty="0">
                <a:solidFill>
                  <a:schemeClr val="accent6"/>
                </a:solidFill>
              </a:rPr>
              <a:t> The process begins with a rapid review of incident reports and alerts to understand the nature of the event and determine if it is a true incident or a false positive.</a:t>
            </a:r>
            <a:br>
              <a:rPr lang="en-US" sz="1200" kern="0" spc="-80" dirty="0">
                <a:solidFill>
                  <a:schemeClr val="accent6"/>
                </a:solidFill>
              </a:rPr>
            </a:br>
            <a:r>
              <a:rPr lang="en-US" sz="1200" kern="0" spc="-80" dirty="0">
                <a:solidFill>
                  <a:schemeClr val="accent2"/>
                </a:solidFill>
              </a:rPr>
              <a:t>Prioritization:</a:t>
            </a:r>
            <a:r>
              <a:rPr lang="en-US" sz="1200" kern="0" spc="-80" dirty="0">
                <a:solidFill>
                  <a:schemeClr val="accent6"/>
                </a:solidFill>
              </a:rPr>
              <a:t> Incidents are ranked based on factors like potential impact on the business, severity of the threat, and the likelihood of escalation.</a:t>
            </a:r>
            <a:br>
              <a:rPr lang="en-US" sz="1200" kern="0" spc="-80" dirty="0">
                <a:solidFill>
                  <a:schemeClr val="accent6"/>
                </a:solidFill>
              </a:rPr>
            </a:br>
            <a:r>
              <a:rPr lang="en-US" sz="1200" kern="0" spc="-80" dirty="0">
                <a:solidFill>
                  <a:schemeClr val="accent2"/>
                </a:solidFill>
              </a:rPr>
              <a:t>Resource Allocation: </a:t>
            </a:r>
            <a:r>
              <a:rPr lang="en-US" sz="1200" kern="0" spc="-80" dirty="0">
                <a:solidFill>
                  <a:schemeClr val="accent6"/>
                </a:solidFill>
              </a:rPr>
              <a:t>Triage ensures that valuable resources and attention are directed to the highest-priority incidents first, preventing burnout and wasted time on low-impact events.</a:t>
            </a:r>
            <a:br>
              <a:rPr lang="en-US" sz="1200" kern="0" spc="-80" dirty="0">
                <a:solidFill>
                  <a:schemeClr val="accent6"/>
                </a:solidFill>
              </a:rPr>
            </a:br>
            <a:r>
              <a:rPr lang="en-US" sz="1200" kern="0" spc="-80" dirty="0">
                <a:solidFill>
                  <a:schemeClr val="accent2"/>
                </a:solidFill>
              </a:rPr>
              <a:t>Threat Intelligence:</a:t>
            </a:r>
            <a:r>
              <a:rPr lang="en-US" sz="1200" kern="0" spc="-80" dirty="0">
                <a:solidFill>
                  <a:schemeClr val="accent6"/>
                </a:solidFill>
              </a:rPr>
              <a:t> Correlating incident data with known threat intelligence helps validate the incident's relevance and potential risk.</a:t>
            </a:r>
            <a:br>
              <a:rPr lang="en-US" sz="1200" kern="0" spc="-80" dirty="0">
                <a:solidFill>
                  <a:schemeClr val="accent6"/>
                </a:solidFill>
              </a:rPr>
            </a:br>
            <a:r>
              <a:rPr lang="en-US" sz="1200" kern="0" spc="-80" dirty="0">
                <a:solidFill>
                  <a:schemeClr val="accent2"/>
                </a:solidFill>
              </a:rPr>
              <a:t>False Positive Identification: </a:t>
            </a:r>
            <a:r>
              <a:rPr lang="en-US" sz="1200" kern="0" spc="-80" dirty="0">
                <a:solidFill>
                  <a:schemeClr val="accent6"/>
                </a:solidFill>
              </a:rPr>
              <a:t>A crucial part of triage is identifying false alarms to avoid wasting time and resources on non-issues.</a:t>
            </a:r>
            <a:br>
              <a:rPr lang="en-US" sz="1200" kern="0" spc="-80" dirty="0">
                <a:solidFill>
                  <a:schemeClr val="accent6"/>
                </a:solidFill>
              </a:rPr>
            </a:br>
            <a:r>
              <a:rPr lang="en-US" sz="1200" kern="0" spc="-80" dirty="0">
                <a:solidFill>
                  <a:schemeClr val="accent2"/>
                </a:solidFill>
              </a:rPr>
              <a:t>Why Incident Triage is Critical.:</a:t>
            </a:r>
            <a:br>
              <a:rPr lang="en-US" sz="1200" kern="0" spc="-80" dirty="0">
                <a:solidFill>
                  <a:schemeClr val="accent6"/>
                </a:solidFill>
              </a:rPr>
            </a:br>
            <a:r>
              <a:rPr lang="en-US" sz="1200" kern="0" spc="-80" dirty="0">
                <a:solidFill>
                  <a:schemeClr val="accent2"/>
                </a:solidFill>
              </a:rPr>
              <a:t>Efficiency: </a:t>
            </a:r>
            <a:r>
              <a:rPr lang="en-US" sz="1200" kern="0" spc="-80" dirty="0">
                <a:solidFill>
                  <a:schemeClr val="accent6"/>
                </a:solidFill>
              </a:rPr>
              <a:t>It allows incident response teams to manage a large volume of alerts efficiently, rather than addressing them in chronological order.</a:t>
            </a:r>
            <a:br>
              <a:rPr lang="en-US" sz="1200" kern="0" spc="-80" dirty="0">
                <a:solidFill>
                  <a:schemeClr val="accent6"/>
                </a:solidFill>
              </a:rPr>
            </a:br>
            <a:r>
              <a:rPr lang="en-US" sz="1200" kern="0" spc="-80" dirty="0">
                <a:solidFill>
                  <a:schemeClr val="accent2"/>
                </a:solidFill>
              </a:rPr>
              <a:t>Reduced Damage: </a:t>
            </a:r>
            <a:r>
              <a:rPr lang="en-US" sz="1200" kern="0" spc="-80" dirty="0">
                <a:solidFill>
                  <a:schemeClr val="accent6"/>
                </a:solidFill>
              </a:rPr>
              <a:t>By fast-tracking critical threats, organizations can mitigate damage and prevent security incidents from escalating into major breaches.</a:t>
            </a:r>
            <a:br>
              <a:rPr lang="en-US" sz="1200" kern="0" spc="-80" dirty="0">
                <a:solidFill>
                  <a:schemeClr val="accent6"/>
                </a:solidFill>
              </a:rPr>
            </a:br>
            <a:r>
              <a:rPr lang="en-US" sz="1200" kern="0" spc="-80" dirty="0">
                <a:solidFill>
                  <a:schemeClr val="accent2"/>
                </a:solidFill>
              </a:rPr>
              <a:t>Prevents Alert Fatigue:</a:t>
            </a:r>
            <a:r>
              <a:rPr lang="en-US" sz="1200" kern="0" spc="-80" dirty="0">
                <a:solidFill>
                  <a:schemeClr val="accent6"/>
                </a:solidFill>
              </a:rPr>
              <a:t> It helps filter through the noise of numerous alerts from monitoring tools, reducing analyst burnout.</a:t>
            </a:r>
            <a:br>
              <a:rPr lang="en-US" sz="1200" kern="0" spc="-80" dirty="0">
                <a:solidFill>
                  <a:schemeClr val="accent6"/>
                </a:solidFill>
              </a:rPr>
            </a:br>
            <a:r>
              <a:rPr lang="en-US" sz="1200" kern="0" spc="-80" dirty="0">
                <a:solidFill>
                  <a:schemeClr val="accent6"/>
                </a:solidFill>
              </a:rPr>
              <a:t>Structured Response: It provides a systematic and structured approach to managing incidents, ensuring a more organized and effective overall response.</a:t>
            </a:r>
          </a:p>
        </p:txBody>
      </p:sp>
      <p:sp>
        <p:nvSpPr>
          <p:cNvPr id="3" name="object 2">
            <a:extLst>
              <a:ext uri="{FF2B5EF4-FFF2-40B4-BE49-F238E27FC236}">
                <a16:creationId xmlns:a16="http://schemas.microsoft.com/office/drawing/2014/main" id="{05754163-39F6-44D0-3EB1-8D63EF78F863}"/>
              </a:ext>
            </a:extLst>
          </p:cNvPr>
          <p:cNvSpPr txBox="1">
            <a:spLocks/>
          </p:cNvSpPr>
          <p:nvPr/>
        </p:nvSpPr>
        <p:spPr>
          <a:xfrm>
            <a:off x="0" y="5222557"/>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 –</a:t>
            </a:r>
          </a:p>
          <a:p>
            <a:pPr marL="12700" marR="5080"/>
            <a:r>
              <a:rPr lang="en-US" sz="1600" dirty="0">
                <a:hlinkClick r:id="rId7"/>
              </a:rPr>
              <a:t>Service Desk Ticket Triage: How to Triage Support Tickets</a:t>
            </a:r>
            <a:endParaRPr lang="en-US" sz="1600" dirty="0"/>
          </a:p>
          <a:p>
            <a:pPr marL="12700" marR="5080"/>
            <a:r>
              <a:rPr lang="en-US" sz="1600" dirty="0">
                <a:hlinkClick r:id="rId8"/>
              </a:rPr>
              <a:t>The Role of Automation in Incident Triage</a:t>
            </a:r>
            <a:endParaRPr lang="en-US" sz="1600" kern="0" spc="-80" dirty="0">
              <a:solidFill>
                <a:schemeClr val="accent2"/>
              </a:solidFill>
            </a:endParaRPr>
          </a:p>
        </p:txBody>
      </p:sp>
    </p:spTree>
    <p:extLst>
      <p:ext uri="{BB962C8B-B14F-4D97-AF65-F5344CB8AC3E}">
        <p14:creationId xmlns:p14="http://schemas.microsoft.com/office/powerpoint/2010/main" val="30673522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81210461"/>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DA848808-D5D9-7870-77AC-D802A3439182}"/>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Incident Response –</a:t>
            </a:r>
          </a:p>
        </p:txBody>
      </p:sp>
      <p:pic>
        <p:nvPicPr>
          <p:cNvPr id="12" name="Picture 11">
            <a:extLst>
              <a:ext uri="{FF2B5EF4-FFF2-40B4-BE49-F238E27FC236}">
                <a16:creationId xmlns:a16="http://schemas.microsoft.com/office/drawing/2014/main" id="{9BA616CC-8742-5596-1D8F-C15EF2F843EE}"/>
              </a:ext>
            </a:extLst>
          </p:cNvPr>
          <p:cNvPicPr>
            <a:picLocks noChangeAspect="1"/>
          </p:cNvPicPr>
          <p:nvPr/>
        </p:nvPicPr>
        <p:blipFill>
          <a:blip r:embed="rId7"/>
          <a:stretch>
            <a:fillRect/>
          </a:stretch>
        </p:blipFill>
        <p:spPr>
          <a:xfrm>
            <a:off x="228600" y="1158782"/>
            <a:ext cx="8534399" cy="4556218"/>
          </a:xfrm>
          <a:prstGeom prst="rect">
            <a:avLst/>
          </a:prstGeom>
        </p:spPr>
      </p:pic>
    </p:spTree>
    <p:extLst>
      <p:ext uri="{BB962C8B-B14F-4D97-AF65-F5344CB8AC3E}">
        <p14:creationId xmlns:p14="http://schemas.microsoft.com/office/powerpoint/2010/main" val="18999931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619365237"/>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pic>
        <p:nvPicPr>
          <p:cNvPr id="55298" name="Picture 2">
            <a:extLst>
              <a:ext uri="{FF2B5EF4-FFF2-40B4-BE49-F238E27FC236}">
                <a16:creationId xmlns:a16="http://schemas.microsoft.com/office/drawing/2014/main" id="{942AE8A8-05D3-D808-430A-42765AA7EA6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063" y="799464"/>
            <a:ext cx="8867873" cy="5063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71088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214462740"/>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Computing –</a:t>
            </a:r>
          </a:p>
        </p:txBody>
      </p:sp>
      <p:pic>
        <p:nvPicPr>
          <p:cNvPr id="1026" name="Picture 2" descr="Multi-cloud | MongoDB">
            <a:extLst>
              <a:ext uri="{FF2B5EF4-FFF2-40B4-BE49-F238E27FC236}">
                <a16:creationId xmlns:a16="http://schemas.microsoft.com/office/drawing/2014/main" id="{2D63927F-6AC4-0096-808B-762796E46B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2913" y="1190625"/>
            <a:ext cx="8258175" cy="4524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3813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318524875"/>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Computing(Benefits) –</a:t>
            </a:r>
          </a:p>
        </p:txBody>
      </p:sp>
      <p:pic>
        <p:nvPicPr>
          <p:cNvPr id="2050" name="Picture 2" descr="Advantages of Cloud computing. | Download Scientific Diagram">
            <a:extLst>
              <a:ext uri="{FF2B5EF4-FFF2-40B4-BE49-F238E27FC236}">
                <a16:creationId xmlns:a16="http://schemas.microsoft.com/office/drawing/2014/main" id="{4532B22B-3613-58A0-D786-765014B088B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0463" y="1170068"/>
            <a:ext cx="8624935" cy="4621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386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31610508"/>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IaaS vs PaaS vs SaaS –</a:t>
            </a:r>
          </a:p>
        </p:txBody>
      </p:sp>
      <p:pic>
        <p:nvPicPr>
          <p:cNvPr id="3076" name="Picture 4" descr="SaaS vs PaaS vs IaaS: Examples, differences, &amp; how to choose">
            <a:extLst>
              <a:ext uri="{FF2B5EF4-FFF2-40B4-BE49-F238E27FC236}">
                <a16:creationId xmlns:a16="http://schemas.microsoft.com/office/drawing/2014/main" id="{AE5B3C98-7BE5-8D94-682F-A0119A22778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737" y="1131332"/>
            <a:ext cx="8748661" cy="469796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2" descr="Limiting Allowed AWS Instance Type With IAM Policy">
            <a:extLst>
              <a:ext uri="{FF2B5EF4-FFF2-40B4-BE49-F238E27FC236}">
                <a16:creationId xmlns:a16="http://schemas.microsoft.com/office/drawing/2014/main" id="{72BC7F3F-B27F-BB97-E402-3FADCEDDC49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4826708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30458968"/>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Compute - </a:t>
            </a:r>
          </a:p>
        </p:txBody>
      </p:sp>
      <p:pic>
        <p:nvPicPr>
          <p:cNvPr id="9" name="Picture 8">
            <a:extLst>
              <a:ext uri="{FF2B5EF4-FFF2-40B4-BE49-F238E27FC236}">
                <a16:creationId xmlns:a16="http://schemas.microsoft.com/office/drawing/2014/main" id="{5CA6BDD3-F586-6BE5-95F7-6A85DD1BABD3}"/>
              </a:ext>
            </a:extLst>
          </p:cNvPr>
          <p:cNvPicPr>
            <a:picLocks noChangeAspect="1"/>
          </p:cNvPicPr>
          <p:nvPr/>
        </p:nvPicPr>
        <p:blipFill>
          <a:blip r:embed="rId7"/>
          <a:stretch>
            <a:fillRect/>
          </a:stretch>
        </p:blipFill>
        <p:spPr>
          <a:xfrm>
            <a:off x="152400" y="1257251"/>
            <a:ext cx="8915399" cy="952549"/>
          </a:xfrm>
          <a:prstGeom prst="rect">
            <a:avLst/>
          </a:prstGeom>
        </p:spPr>
      </p:pic>
      <p:pic>
        <p:nvPicPr>
          <p:cNvPr id="11" name="Picture 10">
            <a:extLst>
              <a:ext uri="{FF2B5EF4-FFF2-40B4-BE49-F238E27FC236}">
                <a16:creationId xmlns:a16="http://schemas.microsoft.com/office/drawing/2014/main" id="{86A4A2B2-A469-3341-829E-77C7DE613BDD}"/>
              </a:ext>
            </a:extLst>
          </p:cNvPr>
          <p:cNvPicPr>
            <a:picLocks noChangeAspect="1"/>
          </p:cNvPicPr>
          <p:nvPr/>
        </p:nvPicPr>
        <p:blipFill>
          <a:blip r:embed="rId8"/>
          <a:stretch>
            <a:fillRect/>
          </a:stretch>
        </p:blipFill>
        <p:spPr>
          <a:xfrm>
            <a:off x="152400" y="2286000"/>
            <a:ext cx="8853537" cy="3623175"/>
          </a:xfrm>
          <a:prstGeom prst="rect">
            <a:avLst/>
          </a:prstGeom>
        </p:spPr>
      </p:pic>
    </p:spTree>
    <p:extLst>
      <p:ext uri="{BB962C8B-B14F-4D97-AF65-F5344CB8AC3E}">
        <p14:creationId xmlns:p14="http://schemas.microsoft.com/office/powerpoint/2010/main" val="11611889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499668197"/>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Storage - </a:t>
            </a:r>
          </a:p>
        </p:txBody>
      </p:sp>
      <p:pic>
        <p:nvPicPr>
          <p:cNvPr id="9" name="Picture 8">
            <a:extLst>
              <a:ext uri="{FF2B5EF4-FFF2-40B4-BE49-F238E27FC236}">
                <a16:creationId xmlns:a16="http://schemas.microsoft.com/office/drawing/2014/main" id="{5CA6BDD3-F586-6BE5-95F7-6A85DD1BABD3}"/>
              </a:ext>
            </a:extLst>
          </p:cNvPr>
          <p:cNvPicPr>
            <a:picLocks noChangeAspect="1"/>
          </p:cNvPicPr>
          <p:nvPr/>
        </p:nvPicPr>
        <p:blipFill>
          <a:blip r:embed="rId7"/>
          <a:stretch>
            <a:fillRect/>
          </a:stretch>
        </p:blipFill>
        <p:spPr>
          <a:xfrm>
            <a:off x="152400" y="1143000"/>
            <a:ext cx="8915399" cy="952549"/>
          </a:xfrm>
          <a:prstGeom prst="rect">
            <a:avLst/>
          </a:prstGeom>
        </p:spPr>
      </p:pic>
      <p:pic>
        <p:nvPicPr>
          <p:cNvPr id="10" name="Picture 9">
            <a:extLst>
              <a:ext uri="{FF2B5EF4-FFF2-40B4-BE49-F238E27FC236}">
                <a16:creationId xmlns:a16="http://schemas.microsoft.com/office/drawing/2014/main" id="{3CF10F57-281D-973B-B7B6-00B63DF8ED0C}"/>
              </a:ext>
            </a:extLst>
          </p:cNvPr>
          <p:cNvPicPr>
            <a:picLocks noChangeAspect="1"/>
          </p:cNvPicPr>
          <p:nvPr/>
        </p:nvPicPr>
        <p:blipFill>
          <a:blip r:embed="rId8"/>
          <a:stretch>
            <a:fillRect/>
          </a:stretch>
        </p:blipFill>
        <p:spPr>
          <a:xfrm>
            <a:off x="228599" y="2095549"/>
            <a:ext cx="8839199" cy="2909332"/>
          </a:xfrm>
          <a:prstGeom prst="rect">
            <a:avLst/>
          </a:prstGeom>
        </p:spPr>
      </p:pic>
      <p:sp>
        <p:nvSpPr>
          <p:cNvPr id="8" name="object 2">
            <a:extLst>
              <a:ext uri="{FF2B5EF4-FFF2-40B4-BE49-F238E27FC236}">
                <a16:creationId xmlns:a16="http://schemas.microsoft.com/office/drawing/2014/main" id="{01DDE745-BE45-48A8-E8AD-70F1372F773A}"/>
              </a:ext>
            </a:extLst>
          </p:cNvPr>
          <p:cNvSpPr txBox="1">
            <a:spLocks/>
          </p:cNvSpPr>
          <p:nvPr/>
        </p:nvSpPr>
        <p:spPr>
          <a:xfrm>
            <a:off x="190500" y="5004881"/>
            <a:ext cx="8701136" cy="9387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 –</a:t>
            </a:r>
          </a:p>
          <a:p>
            <a:pPr marL="12700" marR="5080"/>
            <a:r>
              <a:rPr lang="en-US" sz="1500" dirty="0">
                <a:hlinkClick r:id="rId9"/>
              </a:rPr>
              <a:t>Learn the Differences Between Block, File and Object Storage.</a:t>
            </a:r>
            <a:endParaRPr lang="en-US" sz="1500" dirty="0"/>
          </a:p>
          <a:p>
            <a:pPr marL="12700" marR="5080"/>
            <a:r>
              <a:rPr lang="en-IN" sz="1500" dirty="0">
                <a:hlinkClick r:id="rId10"/>
              </a:rPr>
              <a:t>AWS Transfer Family Documentation</a:t>
            </a:r>
            <a:endParaRPr lang="en-IN" sz="1500" dirty="0"/>
          </a:p>
          <a:p>
            <a:pPr marL="12700" marR="5080"/>
            <a:r>
              <a:rPr lang="en-US" sz="1500" dirty="0">
                <a:hlinkClick r:id="rId11"/>
              </a:rPr>
              <a:t>Ambry: Distributed object store</a:t>
            </a:r>
            <a:endParaRPr lang="en-US" sz="1500" kern="0" spc="-80" dirty="0">
              <a:solidFill>
                <a:schemeClr val="accent2"/>
              </a:solidFill>
            </a:endParaRPr>
          </a:p>
        </p:txBody>
      </p:sp>
    </p:spTree>
    <p:extLst>
      <p:ext uri="{BB962C8B-B14F-4D97-AF65-F5344CB8AC3E}">
        <p14:creationId xmlns:p14="http://schemas.microsoft.com/office/powerpoint/2010/main" val="4594200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087532752"/>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Database - </a:t>
            </a:r>
          </a:p>
        </p:txBody>
      </p:sp>
      <p:pic>
        <p:nvPicPr>
          <p:cNvPr id="9" name="Picture 8">
            <a:extLst>
              <a:ext uri="{FF2B5EF4-FFF2-40B4-BE49-F238E27FC236}">
                <a16:creationId xmlns:a16="http://schemas.microsoft.com/office/drawing/2014/main" id="{5CA6BDD3-F586-6BE5-95F7-6A85DD1BABD3}"/>
              </a:ext>
            </a:extLst>
          </p:cNvPr>
          <p:cNvPicPr>
            <a:picLocks noChangeAspect="1"/>
          </p:cNvPicPr>
          <p:nvPr/>
        </p:nvPicPr>
        <p:blipFill>
          <a:blip r:embed="rId7"/>
          <a:stretch>
            <a:fillRect/>
          </a:stretch>
        </p:blipFill>
        <p:spPr>
          <a:xfrm>
            <a:off x="152400" y="1257251"/>
            <a:ext cx="8915399" cy="952549"/>
          </a:xfrm>
          <a:prstGeom prst="rect">
            <a:avLst/>
          </a:prstGeom>
        </p:spPr>
      </p:pic>
      <p:pic>
        <p:nvPicPr>
          <p:cNvPr id="11" name="Picture 10">
            <a:extLst>
              <a:ext uri="{FF2B5EF4-FFF2-40B4-BE49-F238E27FC236}">
                <a16:creationId xmlns:a16="http://schemas.microsoft.com/office/drawing/2014/main" id="{CC40B00C-2266-EF32-8640-393F20F3FE6C}"/>
              </a:ext>
            </a:extLst>
          </p:cNvPr>
          <p:cNvPicPr>
            <a:picLocks noChangeAspect="1"/>
          </p:cNvPicPr>
          <p:nvPr/>
        </p:nvPicPr>
        <p:blipFill>
          <a:blip r:embed="rId8"/>
          <a:stretch>
            <a:fillRect/>
          </a:stretch>
        </p:blipFill>
        <p:spPr>
          <a:xfrm>
            <a:off x="183893" y="2273213"/>
            <a:ext cx="8807707" cy="3441787"/>
          </a:xfrm>
          <a:prstGeom prst="rect">
            <a:avLst/>
          </a:prstGeom>
        </p:spPr>
      </p:pic>
    </p:spTree>
    <p:extLst>
      <p:ext uri="{BB962C8B-B14F-4D97-AF65-F5344CB8AC3E}">
        <p14:creationId xmlns:p14="http://schemas.microsoft.com/office/powerpoint/2010/main" val="26669066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606904957"/>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Serverless - </a:t>
            </a:r>
          </a:p>
        </p:txBody>
      </p:sp>
      <p:pic>
        <p:nvPicPr>
          <p:cNvPr id="9" name="Picture 8">
            <a:extLst>
              <a:ext uri="{FF2B5EF4-FFF2-40B4-BE49-F238E27FC236}">
                <a16:creationId xmlns:a16="http://schemas.microsoft.com/office/drawing/2014/main" id="{5CA6BDD3-F586-6BE5-95F7-6A85DD1BABD3}"/>
              </a:ext>
            </a:extLst>
          </p:cNvPr>
          <p:cNvPicPr>
            <a:picLocks noChangeAspect="1"/>
          </p:cNvPicPr>
          <p:nvPr/>
        </p:nvPicPr>
        <p:blipFill>
          <a:blip r:embed="rId7"/>
          <a:stretch>
            <a:fillRect/>
          </a:stretch>
        </p:blipFill>
        <p:spPr>
          <a:xfrm>
            <a:off x="152400" y="1257251"/>
            <a:ext cx="8915399" cy="952549"/>
          </a:xfrm>
          <a:prstGeom prst="rect">
            <a:avLst/>
          </a:prstGeom>
        </p:spPr>
      </p:pic>
      <p:pic>
        <p:nvPicPr>
          <p:cNvPr id="11" name="Picture 10">
            <a:extLst>
              <a:ext uri="{FF2B5EF4-FFF2-40B4-BE49-F238E27FC236}">
                <a16:creationId xmlns:a16="http://schemas.microsoft.com/office/drawing/2014/main" id="{7D2CEFF0-6338-9EC6-50A2-0D89480ECB62}"/>
              </a:ext>
            </a:extLst>
          </p:cNvPr>
          <p:cNvPicPr>
            <a:picLocks noChangeAspect="1"/>
          </p:cNvPicPr>
          <p:nvPr/>
        </p:nvPicPr>
        <p:blipFill>
          <a:blip r:embed="rId8"/>
          <a:stretch>
            <a:fillRect/>
          </a:stretch>
        </p:blipFill>
        <p:spPr>
          <a:xfrm>
            <a:off x="152401" y="2343118"/>
            <a:ext cx="8915398" cy="1314481"/>
          </a:xfrm>
          <a:prstGeom prst="rect">
            <a:avLst/>
          </a:prstGeom>
        </p:spPr>
      </p:pic>
      <p:sp>
        <p:nvSpPr>
          <p:cNvPr id="8" name="object 2">
            <a:extLst>
              <a:ext uri="{FF2B5EF4-FFF2-40B4-BE49-F238E27FC236}">
                <a16:creationId xmlns:a16="http://schemas.microsoft.com/office/drawing/2014/main" id="{B0A494EF-966C-8DC9-CCAD-A549E25A1991}"/>
              </a:ext>
            </a:extLst>
          </p:cNvPr>
          <p:cNvSpPr txBox="1">
            <a:spLocks/>
          </p:cNvSpPr>
          <p:nvPr/>
        </p:nvSpPr>
        <p:spPr>
          <a:xfrm>
            <a:off x="61864" y="5187315"/>
            <a:ext cx="8701136"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 –</a:t>
            </a:r>
          </a:p>
          <a:p>
            <a:pPr marL="12700" marR="5080"/>
            <a:r>
              <a:rPr lang="en-US" sz="1600" dirty="0">
                <a:hlinkClick r:id="rId9"/>
              </a:rPr>
              <a:t>Build ASP.NET Core APIs with Kubernetes and </a:t>
            </a:r>
            <a:r>
              <a:rPr lang="en-US" sz="1600" dirty="0" err="1">
                <a:hlinkClick r:id="rId9"/>
              </a:rPr>
              <a:t>OpenFaaS</a:t>
            </a:r>
            <a:r>
              <a:rPr lang="en-US" sz="1600" dirty="0">
                <a:hlinkClick r:id="rId9"/>
              </a:rPr>
              <a:t> | </a:t>
            </a:r>
            <a:r>
              <a:rPr lang="en-US" sz="1600" dirty="0" err="1">
                <a:hlinkClick r:id="rId9"/>
              </a:rPr>
              <a:t>OpenFaaS</a:t>
            </a:r>
            <a:r>
              <a:rPr lang="en-US" sz="1600" dirty="0">
                <a:hlinkClick r:id="rId9"/>
              </a:rPr>
              <a:t> - Serverless Functions Made Simple</a:t>
            </a:r>
            <a:endParaRPr lang="en-US" sz="1600" dirty="0"/>
          </a:p>
          <a:p>
            <a:pPr marL="12700" marR="5080"/>
            <a:endParaRPr lang="en-US" sz="1600" kern="0" spc="-80" dirty="0">
              <a:solidFill>
                <a:schemeClr val="accent2"/>
              </a:solidFill>
            </a:endParaRPr>
          </a:p>
        </p:txBody>
      </p:sp>
    </p:spTree>
    <p:extLst>
      <p:ext uri="{BB962C8B-B14F-4D97-AF65-F5344CB8AC3E}">
        <p14:creationId xmlns:p14="http://schemas.microsoft.com/office/powerpoint/2010/main" val="8568889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585376326"/>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a:solidFill>
                  <a:schemeClr val="accent2"/>
                </a:solidFill>
              </a:rPr>
              <a:t>(Pre-Trained) </a:t>
            </a:r>
            <a:r>
              <a:rPr lang="en-US" sz="2400" kern="0" spc="-80" dirty="0">
                <a:solidFill>
                  <a:schemeClr val="accent2"/>
                </a:solidFill>
              </a:rPr>
              <a:t>AI Services - </a:t>
            </a:r>
          </a:p>
        </p:txBody>
      </p:sp>
      <p:pic>
        <p:nvPicPr>
          <p:cNvPr id="9" name="Picture 8">
            <a:extLst>
              <a:ext uri="{FF2B5EF4-FFF2-40B4-BE49-F238E27FC236}">
                <a16:creationId xmlns:a16="http://schemas.microsoft.com/office/drawing/2014/main" id="{5CA6BDD3-F586-6BE5-95F7-6A85DD1BABD3}"/>
              </a:ext>
            </a:extLst>
          </p:cNvPr>
          <p:cNvPicPr>
            <a:picLocks noChangeAspect="1"/>
          </p:cNvPicPr>
          <p:nvPr/>
        </p:nvPicPr>
        <p:blipFill>
          <a:blip r:embed="rId7"/>
          <a:stretch>
            <a:fillRect/>
          </a:stretch>
        </p:blipFill>
        <p:spPr>
          <a:xfrm>
            <a:off x="152400" y="1257251"/>
            <a:ext cx="8915399" cy="952549"/>
          </a:xfrm>
          <a:prstGeom prst="rect">
            <a:avLst/>
          </a:prstGeom>
        </p:spPr>
      </p:pic>
      <p:pic>
        <p:nvPicPr>
          <p:cNvPr id="10" name="Picture 9">
            <a:extLst>
              <a:ext uri="{FF2B5EF4-FFF2-40B4-BE49-F238E27FC236}">
                <a16:creationId xmlns:a16="http://schemas.microsoft.com/office/drawing/2014/main" id="{2903062E-405C-30C6-03FA-951F1158F216}"/>
              </a:ext>
            </a:extLst>
          </p:cNvPr>
          <p:cNvPicPr>
            <a:picLocks noChangeAspect="1"/>
          </p:cNvPicPr>
          <p:nvPr/>
        </p:nvPicPr>
        <p:blipFill>
          <a:blip r:embed="rId8"/>
          <a:stretch>
            <a:fillRect/>
          </a:stretch>
        </p:blipFill>
        <p:spPr>
          <a:xfrm>
            <a:off x="152400" y="2292229"/>
            <a:ext cx="8915399" cy="3616946"/>
          </a:xfrm>
          <a:prstGeom prst="rect">
            <a:avLst/>
          </a:prstGeom>
        </p:spPr>
      </p:pic>
    </p:spTree>
    <p:extLst>
      <p:ext uri="{BB962C8B-B14F-4D97-AF65-F5344CB8AC3E}">
        <p14:creationId xmlns:p14="http://schemas.microsoft.com/office/powerpoint/2010/main" val="23684862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91027477"/>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Containerization - </a:t>
            </a:r>
          </a:p>
        </p:txBody>
      </p:sp>
      <p:pic>
        <p:nvPicPr>
          <p:cNvPr id="3074" name="Picture 2" descr="What Is a Hypervisor? – Types, Benefits &amp; How It Works | Park Place">
            <a:extLst>
              <a:ext uri="{FF2B5EF4-FFF2-40B4-BE49-F238E27FC236}">
                <a16:creationId xmlns:a16="http://schemas.microsoft.com/office/drawing/2014/main" id="{4461831E-32C2-7BA2-415D-719EEE1C2E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219200"/>
            <a:ext cx="9144000" cy="4462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21423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19316063"/>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Containerization - </a:t>
            </a:r>
          </a:p>
        </p:txBody>
      </p:sp>
      <p:pic>
        <p:nvPicPr>
          <p:cNvPr id="2050" name="Picture 2" descr="What's the Difference Between Type 1 and Type 2 Hypervisor?">
            <a:extLst>
              <a:ext uri="{FF2B5EF4-FFF2-40B4-BE49-F238E27FC236}">
                <a16:creationId xmlns:a16="http://schemas.microsoft.com/office/drawing/2014/main" id="{B688BB80-176C-FBB7-8DA1-D7FB1FD4DE7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738" y="1154668"/>
            <a:ext cx="8839199" cy="463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0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882309282"/>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Containerization - </a:t>
            </a:r>
          </a:p>
        </p:txBody>
      </p:sp>
      <p:pic>
        <p:nvPicPr>
          <p:cNvPr id="1026" name="Picture 2" descr="Virtual Machine (VM) vs. Container | by Martin Kaschke | Medium">
            <a:extLst>
              <a:ext uri="{FF2B5EF4-FFF2-40B4-BE49-F238E27FC236}">
                <a16:creationId xmlns:a16="http://schemas.microsoft.com/office/drawing/2014/main" id="{57D30DF6-AE18-87D4-37BB-C5E86BF001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219200"/>
            <a:ext cx="9144000" cy="4384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23129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67113167"/>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Containerization - </a:t>
            </a:r>
          </a:p>
        </p:txBody>
      </p:sp>
      <p:pic>
        <p:nvPicPr>
          <p:cNvPr id="9" name="Picture 8">
            <a:extLst>
              <a:ext uri="{FF2B5EF4-FFF2-40B4-BE49-F238E27FC236}">
                <a16:creationId xmlns:a16="http://schemas.microsoft.com/office/drawing/2014/main" id="{15CD411F-784E-0DE1-3376-2ABF4B01D9A2}"/>
              </a:ext>
            </a:extLst>
          </p:cNvPr>
          <p:cNvPicPr>
            <a:picLocks noChangeAspect="1"/>
          </p:cNvPicPr>
          <p:nvPr/>
        </p:nvPicPr>
        <p:blipFill>
          <a:blip r:embed="rId7"/>
          <a:stretch>
            <a:fillRect/>
          </a:stretch>
        </p:blipFill>
        <p:spPr>
          <a:xfrm>
            <a:off x="228600" y="1143000"/>
            <a:ext cx="8763000" cy="4419600"/>
          </a:xfrm>
          <a:prstGeom prst="rect">
            <a:avLst/>
          </a:prstGeom>
        </p:spPr>
      </p:pic>
    </p:spTree>
    <p:extLst>
      <p:ext uri="{BB962C8B-B14F-4D97-AF65-F5344CB8AC3E}">
        <p14:creationId xmlns:p14="http://schemas.microsoft.com/office/powerpoint/2010/main" val="12530977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5C773-6FA2-1766-0566-70C8D32B6FC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B92A6AD-E596-84E5-A252-44C707C3ED7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5D557E6-7162-CED5-2D6E-7D7E6211993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A21FB21-F6F3-35C5-6546-C2BB88889EE7}"/>
              </a:ext>
            </a:extLst>
          </p:cNvPr>
          <p:cNvGraphicFramePr/>
          <p:nvPr>
            <p:extLst>
              <p:ext uri="{D42A27DB-BD31-4B8C-83A1-F6EECF244321}">
                <p14:modId xmlns:p14="http://schemas.microsoft.com/office/powerpoint/2010/main" val="3799098065"/>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96B8410-446E-AF15-A5B9-2487F3A262D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4470201-A5FA-4860-AB77-24DB5AFE833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85E938D-8AC0-81B2-A7B4-1155E61A9C69}"/>
              </a:ext>
            </a:extLst>
          </p:cNvPr>
          <p:cNvSpPr txBox="1">
            <a:spLocks/>
          </p:cNvSpPr>
          <p:nvPr/>
        </p:nvSpPr>
        <p:spPr>
          <a:xfrm>
            <a:off x="0" y="773668"/>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Container Orchestration</a:t>
            </a:r>
          </a:p>
        </p:txBody>
      </p:sp>
      <p:pic>
        <p:nvPicPr>
          <p:cNvPr id="10" name="Picture 9" descr="A diagram of a process">
            <a:extLst>
              <a:ext uri="{FF2B5EF4-FFF2-40B4-BE49-F238E27FC236}">
                <a16:creationId xmlns:a16="http://schemas.microsoft.com/office/drawing/2014/main" id="{7936B55F-F2FD-B94A-3FB7-D537210DFF7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199" y="1168185"/>
            <a:ext cx="8929737" cy="4740989"/>
          </a:xfrm>
          <a:prstGeom prst="rect">
            <a:avLst/>
          </a:prstGeom>
        </p:spPr>
      </p:pic>
    </p:spTree>
    <p:extLst>
      <p:ext uri="{BB962C8B-B14F-4D97-AF65-F5344CB8AC3E}">
        <p14:creationId xmlns:p14="http://schemas.microsoft.com/office/powerpoint/2010/main" val="28394223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2BBE9-7B8F-C63B-0D0B-7B9A6D9884A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C6A6933-6F8B-72EE-7DE7-442E024CC28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5661DD1-7505-FFA0-F390-3547B1FBC53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2B8C0CB-EEB3-E0F2-0B42-9B27B7376AD1}"/>
              </a:ext>
            </a:extLst>
          </p:cNvPr>
          <p:cNvGraphicFramePr/>
          <p:nvPr>
            <p:extLst>
              <p:ext uri="{D42A27DB-BD31-4B8C-83A1-F6EECF244321}">
                <p14:modId xmlns:p14="http://schemas.microsoft.com/office/powerpoint/2010/main" val="91234159"/>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9AF82E3A-67E2-02C4-49E5-D0C5B72F045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6470224-8DEC-450B-3C26-C9716406610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D02E5FD-0C4B-1B36-4814-1EEE96F5FC3E}"/>
              </a:ext>
            </a:extLst>
          </p:cNvPr>
          <p:cNvSpPr txBox="1">
            <a:spLocks/>
          </p:cNvSpPr>
          <p:nvPr/>
        </p:nvSpPr>
        <p:spPr>
          <a:xfrm>
            <a:off x="0" y="773668"/>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Container Orchestration </a:t>
            </a:r>
            <a:r>
              <a:rPr lang="en-US" sz="2400" kern="0" spc="-80" dirty="0" err="1">
                <a:solidFill>
                  <a:schemeClr val="accent2"/>
                </a:solidFill>
              </a:rPr>
              <a:t>contd</a:t>
            </a:r>
            <a:r>
              <a:rPr lang="en-US" sz="2400" kern="0" spc="-80" dirty="0">
                <a:solidFill>
                  <a:schemeClr val="accent2"/>
                </a:solidFill>
              </a:rPr>
              <a:t>…- </a:t>
            </a:r>
          </a:p>
        </p:txBody>
      </p:sp>
      <p:sp>
        <p:nvSpPr>
          <p:cNvPr id="8" name="object 2">
            <a:extLst>
              <a:ext uri="{FF2B5EF4-FFF2-40B4-BE49-F238E27FC236}">
                <a16:creationId xmlns:a16="http://schemas.microsoft.com/office/drawing/2014/main" id="{046E96A6-148B-02A1-0B38-D6E591C5CCCA}"/>
              </a:ext>
            </a:extLst>
          </p:cNvPr>
          <p:cNvSpPr txBox="1">
            <a:spLocks/>
          </p:cNvSpPr>
          <p:nvPr/>
        </p:nvSpPr>
        <p:spPr>
          <a:xfrm>
            <a:off x="61864" y="1154668"/>
            <a:ext cx="8701136" cy="486287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 –</a:t>
            </a:r>
          </a:p>
          <a:p>
            <a:pPr marL="12700" marR="5080"/>
            <a:r>
              <a:rPr lang="en-US" sz="1250" dirty="0">
                <a:hlinkClick r:id="rId8"/>
              </a:rPr>
              <a:t>What is container orchestration? | Google Cloud</a:t>
            </a:r>
            <a:endParaRPr lang="en-US" sz="1250" dirty="0"/>
          </a:p>
          <a:p>
            <a:pPr marL="12700" marR="5080"/>
            <a:r>
              <a:rPr lang="en-IN" sz="1250" dirty="0">
                <a:hlinkClick r:id="rId9"/>
              </a:rPr>
              <a:t>Container orchestration for microservices - Azure Architecture </a:t>
            </a:r>
            <a:r>
              <a:rPr lang="en-IN" sz="1250" dirty="0" err="1">
                <a:hlinkClick r:id="rId9"/>
              </a:rPr>
              <a:t>Center</a:t>
            </a:r>
            <a:endParaRPr lang="en-IN" sz="1250" dirty="0">
              <a:hlinkClick r:id="rId10"/>
            </a:endParaRPr>
          </a:p>
          <a:p>
            <a:pPr marL="12700" marR="5080"/>
            <a:r>
              <a:rPr lang="en-IN" sz="1250" dirty="0">
                <a:hlinkClick r:id="rId10"/>
              </a:rPr>
              <a:t>Azure Kubernetes Services (AKS) core concepts - Azure Kubernetes Service</a:t>
            </a:r>
            <a:endParaRPr lang="en-IN" sz="1250" dirty="0"/>
          </a:p>
          <a:p>
            <a:pPr marL="12700" marR="5080"/>
            <a:r>
              <a:rPr lang="en-US" sz="1250" dirty="0">
                <a:hlinkClick r:id="rId11"/>
              </a:rPr>
              <a:t>Baseline architecture for an AKS cluster - Azure Architecture Center | Microsoft Learn</a:t>
            </a:r>
            <a:endParaRPr lang="en-US" sz="1250" dirty="0"/>
          </a:p>
          <a:p>
            <a:pPr marL="12700" marR="5080"/>
            <a:r>
              <a:rPr lang="en-US" sz="1250" dirty="0">
                <a:hlinkClick r:id="rId12"/>
              </a:rPr>
              <a:t>Docker and Kubernetes: The Complete Course from Zero to Hero | Udemy</a:t>
            </a:r>
            <a:endParaRPr lang="en-US" sz="1250" dirty="0"/>
          </a:p>
          <a:p>
            <a:pPr marL="12700" marR="5080"/>
            <a:r>
              <a:rPr lang="en-US" sz="1250" dirty="0">
                <a:hlinkClick r:id="rId13"/>
              </a:rPr>
              <a:t>Docker &amp; Kubernetes: The Practical Guide [2025 Edition] | Udemy</a:t>
            </a:r>
            <a:endParaRPr lang="en-US" sz="1250" dirty="0"/>
          </a:p>
          <a:p>
            <a:pPr marL="12700" marR="5080"/>
            <a:r>
              <a:rPr lang="en-IN" sz="1250" dirty="0">
                <a:hlinkClick r:id="rId14"/>
              </a:rPr>
              <a:t>Master Docker &amp; Kubernetes | Udemy</a:t>
            </a:r>
            <a:endParaRPr lang="en-IN" sz="1250" dirty="0"/>
          </a:p>
          <a:p>
            <a:pPr marL="12700" marR="5080"/>
            <a:r>
              <a:rPr lang="en-US" sz="1250" dirty="0">
                <a:hlinkClick r:id="rId15"/>
              </a:rPr>
              <a:t>Kubernetes-An-Enterprise-Guide</a:t>
            </a:r>
            <a:endParaRPr lang="en-US" sz="1250" dirty="0"/>
          </a:p>
          <a:p>
            <a:pPr marL="12700" marR="5080"/>
            <a:r>
              <a:rPr lang="en-IN" sz="1250" dirty="0">
                <a:hlinkClick r:id="rId16"/>
              </a:rPr>
              <a:t>Mastering-Kubernetes</a:t>
            </a:r>
            <a:endParaRPr lang="en-IN" sz="1250" dirty="0"/>
          </a:p>
          <a:p>
            <a:pPr marL="12700" marR="5080"/>
            <a:r>
              <a:rPr lang="en-US" sz="1250" dirty="0">
                <a:hlinkClick r:id="rId17"/>
              </a:rPr>
              <a:t>The-Kubernetes-Bible</a:t>
            </a:r>
            <a:endParaRPr lang="en-US" sz="1250" dirty="0"/>
          </a:p>
          <a:p>
            <a:pPr marL="12700" marR="5080"/>
            <a:r>
              <a:rPr lang="en-US" sz="1250" dirty="0">
                <a:hlinkClick r:id="rId18"/>
              </a:rPr>
              <a:t>Edge-Computing-Systems-with-Kubernetes</a:t>
            </a:r>
            <a:endParaRPr lang="en-US" sz="1250" dirty="0"/>
          </a:p>
          <a:p>
            <a:pPr marL="12700" marR="5080"/>
            <a:r>
              <a:rPr lang="en-US" sz="1250" dirty="0">
                <a:hlinkClick r:id="rId19"/>
              </a:rPr>
              <a:t>IoT-Edge-Computing-with-MicroK8s</a:t>
            </a:r>
            <a:endParaRPr lang="en-IN" sz="1250" dirty="0"/>
          </a:p>
          <a:p>
            <a:pPr marL="12700" marR="5080"/>
            <a:r>
              <a:rPr lang="en-IN" sz="1250" dirty="0">
                <a:hlinkClick r:id="rId20"/>
              </a:rPr>
              <a:t>Kubernetes Patterns, 2nd Edition | Red Hat Developer</a:t>
            </a:r>
            <a:endParaRPr lang="en-IN" sz="1250" dirty="0"/>
          </a:p>
          <a:p>
            <a:pPr marL="12700" marR="5080"/>
            <a:r>
              <a:rPr lang="en-US" sz="1250" dirty="0">
                <a:hlinkClick r:id="rId21"/>
              </a:rPr>
              <a:t>Awesome-</a:t>
            </a:r>
            <a:r>
              <a:rPr lang="en-US" sz="1250" dirty="0" err="1">
                <a:hlinkClick r:id="rId21"/>
              </a:rPr>
              <a:t>Knative</a:t>
            </a:r>
            <a:r>
              <a:rPr lang="en-US" sz="1250" dirty="0">
                <a:hlinkClick r:id="rId21"/>
              </a:rPr>
              <a:t>: A curated list of Awesome </a:t>
            </a:r>
            <a:r>
              <a:rPr lang="en-US" sz="1250" dirty="0" err="1">
                <a:hlinkClick r:id="rId21"/>
              </a:rPr>
              <a:t>Knative</a:t>
            </a:r>
            <a:r>
              <a:rPr lang="en-US" sz="1250" dirty="0">
                <a:hlinkClick r:id="rId21"/>
              </a:rPr>
              <a:t> resources.</a:t>
            </a:r>
            <a:endParaRPr lang="en-US" sz="1250" dirty="0"/>
          </a:p>
          <a:p>
            <a:pPr marL="12700" marR="5080"/>
            <a:r>
              <a:rPr lang="en-US" sz="1250" dirty="0">
                <a:hlinkClick r:id="rId22"/>
              </a:rPr>
              <a:t>Differences between Sidecar and Ambassador and Adapter pattern - Stack Overflow</a:t>
            </a:r>
            <a:r>
              <a:rPr lang="en-US" sz="1250" dirty="0"/>
              <a:t> </a:t>
            </a:r>
            <a:r>
              <a:rPr lang="en-US" sz="1250" dirty="0">
                <a:hlinkClick r:id="rId23"/>
              </a:rPr>
              <a:t>How Atlassian reduced latency by 70% by using Sidecar pattern</a:t>
            </a:r>
            <a:endParaRPr lang="en-IN" sz="1250" dirty="0"/>
          </a:p>
          <a:p>
            <a:pPr marL="12700" marR="5080"/>
            <a:r>
              <a:rPr lang="en-IN" sz="1250" dirty="0">
                <a:hlinkClick r:id="rId24"/>
              </a:rPr>
              <a:t>Lens vs </a:t>
            </a:r>
            <a:r>
              <a:rPr lang="en-IN" sz="1250" dirty="0" err="1">
                <a:hlinkClick r:id="rId24"/>
              </a:rPr>
              <a:t>Komodor</a:t>
            </a:r>
            <a:r>
              <a:rPr lang="en-IN" sz="1250" dirty="0">
                <a:hlinkClick r:id="rId24"/>
              </a:rPr>
              <a:t> vs Rancher</a:t>
            </a:r>
            <a:endParaRPr lang="en-US" sz="1250" dirty="0"/>
          </a:p>
          <a:p>
            <a:pPr marL="12700" marR="5080"/>
            <a:r>
              <a:rPr lang="en-US" sz="1250" dirty="0">
                <a:hlinkClick r:id="rId25"/>
              </a:rPr>
              <a:t>Does Kubernetes Really Perform Better on Bare Metal vs. VMs? - The New Stack</a:t>
            </a:r>
            <a:r>
              <a:rPr lang="en-US" sz="1250" kern="0" spc="-80" dirty="0">
                <a:solidFill>
                  <a:schemeClr val="accent2"/>
                </a:solidFill>
              </a:rPr>
              <a:t> - Although in this article, its suggested to use bare metal but in a cloud environment if you want faster spawning/deployment of the container(s), use a VM or Cloud instance instead.</a:t>
            </a:r>
          </a:p>
          <a:p>
            <a:pPr marL="12700" marR="5080"/>
            <a:r>
              <a:rPr lang="en-US" sz="1250" dirty="0">
                <a:hlinkClick r:id="rId26"/>
              </a:rPr>
              <a:t>Cube: A simple orchestrator written in go (Manning)</a:t>
            </a:r>
            <a:endParaRPr lang="en-US" sz="1250" dirty="0"/>
          </a:p>
          <a:p>
            <a:pPr marL="12700" marR="5080"/>
            <a:r>
              <a:rPr lang="en-US" sz="1250" dirty="0">
                <a:hlinkClick r:id="rId27"/>
              </a:rPr>
              <a:t>What is Dev Time Orchestration? | Microsoft Learn</a:t>
            </a:r>
            <a:endParaRPr lang="en-US" sz="1250" dirty="0"/>
          </a:p>
          <a:p>
            <a:pPr marL="12700" marR="5080"/>
            <a:r>
              <a:rPr lang="en-US" sz="1250" dirty="0">
                <a:hlinkClick r:id="rId28"/>
              </a:rPr>
              <a:t>.NET Aspire Concepts: Orchestration, Integrations, and Service Discovery</a:t>
            </a:r>
            <a:endParaRPr lang="en-US" sz="1250" dirty="0"/>
          </a:p>
          <a:p>
            <a:pPr marL="12700" marR="5080"/>
            <a:r>
              <a:rPr lang="en-US" sz="1250" dirty="0">
                <a:hlinkClick r:id="rId29"/>
              </a:rPr>
              <a:t>.NET Aspire: A Game-Changer for Cloud-Native Development?</a:t>
            </a:r>
            <a:endParaRPr lang="en-US" sz="1250" kern="0" spc="-80" dirty="0">
              <a:solidFill>
                <a:schemeClr val="accent2"/>
              </a:solidFill>
            </a:endParaRPr>
          </a:p>
        </p:txBody>
      </p:sp>
    </p:spTree>
    <p:extLst>
      <p:ext uri="{BB962C8B-B14F-4D97-AF65-F5344CB8AC3E}">
        <p14:creationId xmlns:p14="http://schemas.microsoft.com/office/powerpoint/2010/main" val="4884067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142344903"/>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16619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Networking – </a:t>
            </a:r>
          </a:p>
          <a:p>
            <a:pPr marL="12700" marR="5080"/>
            <a:r>
              <a:rPr lang="en-US" sz="2000" kern="0" spc="-80" dirty="0">
                <a:solidFill>
                  <a:schemeClr val="accent2"/>
                </a:solidFill>
              </a:rPr>
              <a:t>  Basics –</a:t>
            </a:r>
            <a:r>
              <a:rPr lang="en-US" sz="2400" kern="0" spc="-80" dirty="0">
                <a:solidFill>
                  <a:schemeClr val="accent2"/>
                </a:solidFill>
              </a:rPr>
              <a:t> </a:t>
            </a:r>
          </a:p>
          <a:p>
            <a:pPr marL="12700" marR="5080"/>
            <a:r>
              <a:rPr lang="en-US" sz="1500" kern="0" spc="-80" dirty="0">
                <a:solidFill>
                  <a:schemeClr val="accent2"/>
                </a:solidFill>
              </a:rPr>
              <a:t>    </a:t>
            </a:r>
            <a:r>
              <a:rPr lang="en-US" sz="1500" dirty="0">
                <a:hlinkClick r:id="rId7"/>
              </a:rPr>
              <a:t>IP Address Format and Table – </a:t>
            </a:r>
            <a:r>
              <a:rPr lang="en-US" sz="1500" dirty="0" err="1">
                <a:hlinkClick r:id="rId7"/>
              </a:rPr>
              <a:t>javatpoint</a:t>
            </a:r>
            <a:endParaRPr lang="en-US" sz="1500" dirty="0"/>
          </a:p>
          <a:p>
            <a:pPr marL="12700" marR="5080"/>
            <a:r>
              <a:rPr lang="en-US" sz="1500" kern="0" spc="-80" dirty="0">
                <a:solidFill>
                  <a:schemeClr val="accent2"/>
                </a:solidFill>
              </a:rPr>
              <a:t>    </a:t>
            </a:r>
            <a:r>
              <a:rPr lang="en-US" sz="1500" dirty="0">
                <a:hlinkClick r:id="rId8"/>
              </a:rPr>
              <a:t>What is CIDR? - CIDR Blocks and Notation Explained – AWS</a:t>
            </a:r>
            <a:endParaRPr lang="en-US" sz="1500" dirty="0"/>
          </a:p>
          <a:p>
            <a:pPr marL="12700" marR="5080"/>
            <a:r>
              <a:rPr lang="en-US" sz="1500" kern="0" spc="-80" dirty="0">
                <a:solidFill>
                  <a:schemeClr val="accent2"/>
                </a:solidFill>
              </a:rPr>
              <a:t>    </a:t>
            </a:r>
            <a:r>
              <a:rPr lang="en-US" sz="1500" dirty="0">
                <a:hlinkClick r:id="rId9"/>
              </a:rPr>
              <a:t>AWS Networking - AWS VPC, Subnets, Security Groups, NAT Gateway &amp; IP Addresses</a:t>
            </a:r>
            <a:endParaRPr lang="en-US" sz="1500" dirty="0"/>
          </a:p>
          <a:p>
            <a:pPr marL="12700" marR="5080"/>
            <a:endParaRPr lang="en-US" sz="1500" kern="0" spc="-80" dirty="0">
              <a:solidFill>
                <a:schemeClr val="accent2"/>
              </a:solidFill>
            </a:endParaRPr>
          </a:p>
        </p:txBody>
      </p:sp>
      <p:pic>
        <p:nvPicPr>
          <p:cNvPr id="11" name="Picture 10">
            <a:extLst>
              <a:ext uri="{FF2B5EF4-FFF2-40B4-BE49-F238E27FC236}">
                <a16:creationId xmlns:a16="http://schemas.microsoft.com/office/drawing/2014/main" id="{DB54271E-B3EE-EEEC-2660-172A11C79E61}"/>
              </a:ext>
            </a:extLst>
          </p:cNvPr>
          <p:cNvPicPr>
            <a:picLocks noChangeAspect="1"/>
          </p:cNvPicPr>
          <p:nvPr/>
        </p:nvPicPr>
        <p:blipFill>
          <a:blip r:embed="rId10"/>
          <a:stretch>
            <a:fillRect/>
          </a:stretch>
        </p:blipFill>
        <p:spPr>
          <a:xfrm>
            <a:off x="228600" y="2448085"/>
            <a:ext cx="8624937" cy="3343114"/>
          </a:xfrm>
          <a:prstGeom prst="rect">
            <a:avLst/>
          </a:prstGeom>
        </p:spPr>
      </p:pic>
    </p:spTree>
    <p:extLst>
      <p:ext uri="{BB962C8B-B14F-4D97-AF65-F5344CB8AC3E}">
        <p14:creationId xmlns:p14="http://schemas.microsoft.com/office/powerpoint/2010/main" val="31614959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272744756"/>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Networking – </a:t>
            </a:r>
          </a:p>
          <a:p>
            <a:pPr marL="12700" marR="5080"/>
            <a:r>
              <a:rPr lang="en-US" sz="2000" kern="0" spc="-80" dirty="0">
                <a:solidFill>
                  <a:schemeClr val="accent2"/>
                </a:solidFill>
              </a:rPr>
              <a:t>  AWS Network ACL &amp; Security Groups –</a:t>
            </a:r>
            <a:r>
              <a:rPr lang="en-US" sz="2400" kern="0" spc="-80" dirty="0">
                <a:solidFill>
                  <a:schemeClr val="accent2"/>
                </a:solidFill>
              </a:rPr>
              <a:t> </a:t>
            </a:r>
          </a:p>
        </p:txBody>
      </p:sp>
      <p:pic>
        <p:nvPicPr>
          <p:cNvPr id="1026" name="Picture 2" descr="Using AWS Network ACLs With NAT Gateway - DEV Community">
            <a:extLst>
              <a:ext uri="{FF2B5EF4-FFF2-40B4-BE49-F238E27FC236}">
                <a16:creationId xmlns:a16="http://schemas.microsoft.com/office/drawing/2014/main" id="{6EC39825-AA58-D3CE-97E1-FF72F5CE76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 y="1447799"/>
            <a:ext cx="8624936" cy="4461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00788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417009151"/>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Networking – </a:t>
            </a:r>
          </a:p>
          <a:p>
            <a:pPr marL="12700" marR="5080"/>
            <a:r>
              <a:rPr lang="en-US" sz="2000" kern="0" spc="-80" dirty="0">
                <a:solidFill>
                  <a:schemeClr val="accent2"/>
                </a:solidFill>
              </a:rPr>
              <a:t>  AWS Direct Connect &amp; Transit Gateway - </a:t>
            </a:r>
            <a:endParaRPr lang="en-US" sz="1600" kern="0" spc="-80" dirty="0">
              <a:solidFill>
                <a:schemeClr val="accent2"/>
              </a:solidFill>
            </a:endParaRPr>
          </a:p>
        </p:txBody>
      </p:sp>
      <p:pic>
        <p:nvPicPr>
          <p:cNvPr id="6146" name="Picture 2">
            <a:extLst>
              <a:ext uri="{FF2B5EF4-FFF2-40B4-BE49-F238E27FC236}">
                <a16:creationId xmlns:a16="http://schemas.microsoft.com/office/drawing/2014/main" id="{CD214149-F69F-7AA2-5650-0C0F2B1BB90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500187"/>
            <a:ext cx="9144000" cy="4291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86339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302766796"/>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Networking – </a:t>
            </a:r>
          </a:p>
          <a:p>
            <a:pPr marL="12700" marR="5080"/>
            <a:r>
              <a:rPr lang="en-US" sz="2000" kern="0" spc="-80" dirty="0">
                <a:solidFill>
                  <a:schemeClr val="accent2"/>
                </a:solidFill>
              </a:rPr>
              <a:t>  AWS </a:t>
            </a:r>
            <a:r>
              <a:rPr lang="en-US" sz="2000" kern="0" spc="-80" dirty="0" err="1">
                <a:solidFill>
                  <a:schemeClr val="accent2"/>
                </a:solidFill>
              </a:rPr>
              <a:t>PrivateLink</a:t>
            </a:r>
            <a:r>
              <a:rPr lang="en-US" sz="2000" kern="0" spc="-80" dirty="0">
                <a:solidFill>
                  <a:schemeClr val="accent2"/>
                </a:solidFill>
              </a:rPr>
              <a:t> - </a:t>
            </a:r>
            <a:endParaRPr lang="en-US" sz="1600" kern="0" spc="-80" dirty="0">
              <a:solidFill>
                <a:schemeClr val="accent2"/>
              </a:solidFill>
            </a:endParaRPr>
          </a:p>
        </p:txBody>
      </p:sp>
      <p:pic>
        <p:nvPicPr>
          <p:cNvPr id="7170" name="Picture 2">
            <a:extLst>
              <a:ext uri="{FF2B5EF4-FFF2-40B4-BE49-F238E27FC236}">
                <a16:creationId xmlns:a16="http://schemas.microsoft.com/office/drawing/2014/main" id="{1A54B46B-F659-58BB-F4CC-8A72B489351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1401644"/>
            <a:ext cx="8777337" cy="4541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78934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980187950"/>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Networking – </a:t>
            </a:r>
          </a:p>
          <a:p>
            <a:pPr marL="12700" marR="5080"/>
            <a:r>
              <a:rPr lang="en-US" sz="2000" kern="0" spc="-80" dirty="0">
                <a:solidFill>
                  <a:schemeClr val="accent2"/>
                </a:solidFill>
              </a:rPr>
              <a:t>  AWS VPC Peering - </a:t>
            </a:r>
            <a:endParaRPr lang="en-US" sz="1600" kern="0" spc="-80" dirty="0">
              <a:solidFill>
                <a:schemeClr val="accent2"/>
              </a:solidFill>
            </a:endParaRPr>
          </a:p>
        </p:txBody>
      </p:sp>
      <p:pic>
        <p:nvPicPr>
          <p:cNvPr id="8194" name="Picture 2">
            <a:extLst>
              <a:ext uri="{FF2B5EF4-FFF2-40B4-BE49-F238E27FC236}">
                <a16:creationId xmlns:a16="http://schemas.microsoft.com/office/drawing/2014/main" id="{1131E4F6-F34E-8EA3-21B2-F2D0271C94B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739" y="1371600"/>
            <a:ext cx="8839198"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26402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413243575"/>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Networking – </a:t>
            </a:r>
          </a:p>
          <a:p>
            <a:pPr marL="12700" marR="5080"/>
            <a:r>
              <a:rPr lang="en-US" sz="2000" kern="0" spc="-80" dirty="0">
                <a:solidFill>
                  <a:schemeClr val="accent2"/>
                </a:solidFill>
              </a:rPr>
              <a:t>  AWS Shield vs AWS WAF - </a:t>
            </a:r>
            <a:endParaRPr lang="en-US" sz="1600" kern="0" spc="-80" dirty="0">
              <a:solidFill>
                <a:schemeClr val="accent2"/>
              </a:solidFill>
            </a:endParaRPr>
          </a:p>
        </p:txBody>
      </p:sp>
      <p:pic>
        <p:nvPicPr>
          <p:cNvPr id="10" name="Picture 9">
            <a:extLst>
              <a:ext uri="{FF2B5EF4-FFF2-40B4-BE49-F238E27FC236}">
                <a16:creationId xmlns:a16="http://schemas.microsoft.com/office/drawing/2014/main" id="{42C6D487-22D9-AD51-DBF9-10FD4CD5D88B}"/>
              </a:ext>
            </a:extLst>
          </p:cNvPr>
          <p:cNvPicPr>
            <a:picLocks noChangeAspect="1"/>
          </p:cNvPicPr>
          <p:nvPr/>
        </p:nvPicPr>
        <p:blipFill>
          <a:blip r:embed="rId7"/>
          <a:stretch>
            <a:fillRect/>
          </a:stretch>
        </p:blipFill>
        <p:spPr>
          <a:xfrm>
            <a:off x="138063" y="1434911"/>
            <a:ext cx="8715474" cy="4474264"/>
          </a:xfrm>
          <a:prstGeom prst="rect">
            <a:avLst/>
          </a:prstGeom>
        </p:spPr>
      </p:pic>
    </p:spTree>
    <p:extLst>
      <p:ext uri="{BB962C8B-B14F-4D97-AF65-F5344CB8AC3E}">
        <p14:creationId xmlns:p14="http://schemas.microsoft.com/office/powerpoint/2010/main" val="9064970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511568874"/>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Networking – </a:t>
            </a:r>
          </a:p>
          <a:p>
            <a:pPr marL="12700" marR="5080"/>
            <a:r>
              <a:rPr lang="en-US" sz="2000" kern="0" spc="-80" dirty="0">
                <a:solidFill>
                  <a:schemeClr val="accent2"/>
                </a:solidFill>
              </a:rPr>
              <a:t>  AWS Shield(Standard vs Advanced) - </a:t>
            </a:r>
            <a:endParaRPr lang="en-US" sz="1600" kern="0" spc="-80" dirty="0">
              <a:solidFill>
                <a:schemeClr val="accent2"/>
              </a:solidFill>
            </a:endParaRPr>
          </a:p>
        </p:txBody>
      </p:sp>
      <p:pic>
        <p:nvPicPr>
          <p:cNvPr id="13" name="Picture 12">
            <a:extLst>
              <a:ext uri="{FF2B5EF4-FFF2-40B4-BE49-F238E27FC236}">
                <a16:creationId xmlns:a16="http://schemas.microsoft.com/office/drawing/2014/main" id="{2155C6B4-DC25-078E-B064-FC62984AE0C5}"/>
              </a:ext>
            </a:extLst>
          </p:cNvPr>
          <p:cNvPicPr>
            <a:picLocks noChangeAspect="1"/>
          </p:cNvPicPr>
          <p:nvPr/>
        </p:nvPicPr>
        <p:blipFill>
          <a:blip r:embed="rId7"/>
          <a:stretch>
            <a:fillRect/>
          </a:stretch>
        </p:blipFill>
        <p:spPr>
          <a:xfrm>
            <a:off x="138063" y="1447624"/>
            <a:ext cx="8915398" cy="4419776"/>
          </a:xfrm>
          <a:prstGeom prst="rect">
            <a:avLst/>
          </a:prstGeom>
        </p:spPr>
      </p:pic>
    </p:spTree>
    <p:extLst>
      <p:ext uri="{BB962C8B-B14F-4D97-AF65-F5344CB8AC3E}">
        <p14:creationId xmlns:p14="http://schemas.microsoft.com/office/powerpoint/2010/main" val="20955218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192521973"/>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7862" y="720678"/>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Governance via (High Level Structured) Resources –</a:t>
            </a:r>
          </a:p>
        </p:txBody>
      </p:sp>
      <p:sp>
        <p:nvSpPr>
          <p:cNvPr id="8" name="AutoShape 2" descr="Limiting Allowed AWS Instance Type With IAM Policy">
            <a:extLst>
              <a:ext uri="{FF2B5EF4-FFF2-40B4-BE49-F238E27FC236}">
                <a16:creationId xmlns:a16="http://schemas.microsoft.com/office/drawing/2014/main" id="{72BC7F3F-B27F-BB97-E402-3FADCEDDC49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5E4C17B4-D414-6402-2FDB-5A8181CC4297}"/>
              </a:ext>
            </a:extLst>
          </p:cNvPr>
          <p:cNvPicPr>
            <a:picLocks noChangeAspect="1"/>
          </p:cNvPicPr>
          <p:nvPr/>
        </p:nvPicPr>
        <p:blipFill>
          <a:blip r:embed="rId7"/>
          <a:stretch>
            <a:fillRect/>
          </a:stretch>
        </p:blipFill>
        <p:spPr>
          <a:xfrm>
            <a:off x="0" y="1090010"/>
            <a:ext cx="9144000" cy="4114926"/>
          </a:xfrm>
          <a:prstGeom prst="rect">
            <a:avLst/>
          </a:prstGeom>
        </p:spPr>
      </p:pic>
      <p:sp>
        <p:nvSpPr>
          <p:cNvPr id="9" name="object 2">
            <a:extLst>
              <a:ext uri="{FF2B5EF4-FFF2-40B4-BE49-F238E27FC236}">
                <a16:creationId xmlns:a16="http://schemas.microsoft.com/office/drawing/2014/main" id="{29B45530-3137-C8C2-2D45-46CF3BCFEFC6}"/>
              </a:ext>
            </a:extLst>
          </p:cNvPr>
          <p:cNvSpPr txBox="1">
            <a:spLocks/>
          </p:cNvSpPr>
          <p:nvPr/>
        </p:nvSpPr>
        <p:spPr>
          <a:xfrm>
            <a:off x="83368" y="5204936"/>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 –</a:t>
            </a:r>
          </a:p>
          <a:p>
            <a:pPr marL="12700" marR="5080"/>
            <a:r>
              <a:rPr lang="en-US" sz="1600" dirty="0">
                <a:hlinkClick r:id="rId8"/>
              </a:rPr>
              <a:t>Organize your Azure resources effectively - Cloud Adoption Framework | Microsoft Learn</a:t>
            </a:r>
            <a:endParaRPr lang="en-US" sz="1600" kern="0" spc="-80" dirty="0">
              <a:solidFill>
                <a:schemeClr val="accent2"/>
              </a:solidFill>
            </a:endParaRPr>
          </a:p>
        </p:txBody>
      </p:sp>
    </p:spTree>
    <p:extLst>
      <p:ext uri="{BB962C8B-B14F-4D97-AF65-F5344CB8AC3E}">
        <p14:creationId xmlns:p14="http://schemas.microsoft.com/office/powerpoint/2010/main" val="29138997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395875305"/>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Governance via IAM –</a:t>
            </a:r>
          </a:p>
        </p:txBody>
      </p:sp>
      <p:sp>
        <p:nvSpPr>
          <p:cNvPr id="8" name="AutoShape 2" descr="Limiting Allowed AWS Instance Type With IAM Policy">
            <a:extLst>
              <a:ext uri="{FF2B5EF4-FFF2-40B4-BE49-F238E27FC236}">
                <a16:creationId xmlns:a16="http://schemas.microsoft.com/office/drawing/2014/main" id="{72BC7F3F-B27F-BB97-E402-3FADCEDDC49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928F2A0F-2D4B-B8B0-2041-0C5EFF4C2BC2}"/>
              </a:ext>
            </a:extLst>
          </p:cNvPr>
          <p:cNvPicPr>
            <a:picLocks noChangeAspect="1"/>
          </p:cNvPicPr>
          <p:nvPr/>
        </p:nvPicPr>
        <p:blipFill>
          <a:blip r:embed="rId7"/>
          <a:stretch>
            <a:fillRect/>
          </a:stretch>
        </p:blipFill>
        <p:spPr>
          <a:xfrm>
            <a:off x="0" y="1136023"/>
            <a:ext cx="9144000" cy="3601057"/>
          </a:xfrm>
          <a:prstGeom prst="rect">
            <a:avLst/>
          </a:prstGeom>
        </p:spPr>
      </p:pic>
      <p:sp>
        <p:nvSpPr>
          <p:cNvPr id="12" name="object 2">
            <a:extLst>
              <a:ext uri="{FF2B5EF4-FFF2-40B4-BE49-F238E27FC236}">
                <a16:creationId xmlns:a16="http://schemas.microsoft.com/office/drawing/2014/main" id="{9EBC5ED4-DA58-9F9E-EF4B-83FDC862920C}"/>
              </a:ext>
            </a:extLst>
          </p:cNvPr>
          <p:cNvSpPr txBox="1">
            <a:spLocks/>
          </p:cNvSpPr>
          <p:nvPr/>
        </p:nvSpPr>
        <p:spPr>
          <a:xfrm>
            <a:off x="-38100" y="4737081"/>
            <a:ext cx="8915399" cy="121571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 – </a:t>
            </a:r>
          </a:p>
          <a:p>
            <a:pPr marL="12700" marR="5080"/>
            <a:r>
              <a:rPr lang="en-US" sz="1500" dirty="0">
                <a:hlinkClick r:id="rId8"/>
              </a:rPr>
              <a:t>AWS, Azure and GCP: The Ultimate IAM Comparison - Blog | Tenable®</a:t>
            </a:r>
            <a:endParaRPr lang="en-US" sz="1500" dirty="0"/>
          </a:p>
          <a:p>
            <a:pPr marL="12700" marR="5080"/>
            <a:r>
              <a:rPr lang="en-US" sz="1600" dirty="0">
                <a:hlinkClick r:id="rId9"/>
              </a:rPr>
              <a:t>What is Privileged Identity Management? </a:t>
            </a:r>
            <a:endParaRPr lang="en-US" sz="1500" dirty="0"/>
          </a:p>
          <a:p>
            <a:pPr marL="12700" marR="5080"/>
            <a:r>
              <a:rPr lang="en-US" sz="1600" dirty="0">
                <a:hlinkClick r:id="rId10"/>
              </a:rPr>
              <a:t>Recommendations for identity and access management</a:t>
            </a:r>
            <a:endParaRPr lang="en-US" sz="1600" dirty="0"/>
          </a:p>
          <a:p>
            <a:pPr marL="12700" marR="5080"/>
            <a:r>
              <a:rPr lang="en-US" sz="1600" dirty="0">
                <a:hlinkClick r:id="rId11"/>
              </a:rPr>
              <a:t>Azure identity &amp; access security best practices | Microsoft Learn</a:t>
            </a:r>
            <a:endParaRPr lang="en-US" sz="1500" kern="0" spc="-80" dirty="0">
              <a:solidFill>
                <a:schemeClr val="accent2"/>
              </a:solidFill>
            </a:endParaRPr>
          </a:p>
        </p:txBody>
      </p:sp>
    </p:spTree>
    <p:extLst>
      <p:ext uri="{BB962C8B-B14F-4D97-AF65-F5344CB8AC3E}">
        <p14:creationId xmlns:p14="http://schemas.microsoft.com/office/powerpoint/2010/main" val="7513012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993259720"/>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Governance via IAM –</a:t>
            </a:r>
          </a:p>
        </p:txBody>
      </p:sp>
      <p:sp>
        <p:nvSpPr>
          <p:cNvPr id="8" name="AutoShape 2" descr="Limiting Allowed AWS Instance Type With IAM Policy">
            <a:extLst>
              <a:ext uri="{FF2B5EF4-FFF2-40B4-BE49-F238E27FC236}">
                <a16:creationId xmlns:a16="http://schemas.microsoft.com/office/drawing/2014/main" id="{72BC7F3F-B27F-BB97-E402-3FADCEDDC49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122" name="Picture 2">
            <a:extLst>
              <a:ext uri="{FF2B5EF4-FFF2-40B4-BE49-F238E27FC236}">
                <a16:creationId xmlns:a16="http://schemas.microsoft.com/office/drawing/2014/main" id="{30C6F18B-344D-483F-5859-58FDD95049B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063" y="1131332"/>
            <a:ext cx="8867874" cy="4138136"/>
          </a:xfrm>
          <a:prstGeom prst="rect">
            <a:avLst/>
          </a:prstGeom>
          <a:noFill/>
          <a:extLst>
            <a:ext uri="{909E8E84-426E-40DD-AFC4-6F175D3DCCD1}">
              <a14:hiddenFill xmlns:a14="http://schemas.microsoft.com/office/drawing/2010/main">
                <a:solidFill>
                  <a:srgbClr val="FFFFFF"/>
                </a:solidFill>
              </a14:hiddenFill>
            </a:ext>
          </a:extLst>
        </p:spPr>
      </p:pic>
      <p:sp>
        <p:nvSpPr>
          <p:cNvPr id="9" name="object 2">
            <a:extLst>
              <a:ext uri="{FF2B5EF4-FFF2-40B4-BE49-F238E27FC236}">
                <a16:creationId xmlns:a16="http://schemas.microsoft.com/office/drawing/2014/main" id="{AE96F8CB-FE1C-85CB-F6F0-62CCC890DBBC}"/>
              </a:ext>
            </a:extLst>
          </p:cNvPr>
          <p:cNvSpPr txBox="1">
            <a:spLocks/>
          </p:cNvSpPr>
          <p:nvPr/>
        </p:nvSpPr>
        <p:spPr>
          <a:xfrm>
            <a:off x="0" y="5468779"/>
            <a:ext cx="8915399"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N.B. -&gt; The Principal can be a group(of users) or resource as well</a:t>
            </a:r>
          </a:p>
        </p:txBody>
      </p:sp>
    </p:spTree>
    <p:extLst>
      <p:ext uri="{BB962C8B-B14F-4D97-AF65-F5344CB8AC3E}">
        <p14:creationId xmlns:p14="http://schemas.microsoft.com/office/powerpoint/2010/main" val="13798581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779123547"/>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620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Governance via IAM –</a:t>
            </a:r>
          </a:p>
        </p:txBody>
      </p:sp>
      <p:sp>
        <p:nvSpPr>
          <p:cNvPr id="8" name="AutoShape 2" descr="Limiting Allowed AWS Instance Type With IAM Policy">
            <a:extLst>
              <a:ext uri="{FF2B5EF4-FFF2-40B4-BE49-F238E27FC236}">
                <a16:creationId xmlns:a16="http://schemas.microsoft.com/office/drawing/2014/main" id="{72BC7F3F-B27F-BB97-E402-3FADCEDDC49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9F19DA27-CB39-01AC-782A-0232E9BB54B9}"/>
              </a:ext>
            </a:extLst>
          </p:cNvPr>
          <p:cNvPicPr>
            <a:picLocks noChangeAspect="1"/>
          </p:cNvPicPr>
          <p:nvPr/>
        </p:nvPicPr>
        <p:blipFill>
          <a:blip r:embed="rId7"/>
          <a:stretch>
            <a:fillRect/>
          </a:stretch>
        </p:blipFill>
        <p:spPr>
          <a:xfrm>
            <a:off x="2576463" y="1170068"/>
            <a:ext cx="6567537" cy="4468732"/>
          </a:xfrm>
          <a:prstGeom prst="rect">
            <a:avLst/>
          </a:prstGeom>
        </p:spPr>
      </p:pic>
      <p:pic>
        <p:nvPicPr>
          <p:cNvPr id="13" name="Picture 12">
            <a:extLst>
              <a:ext uri="{FF2B5EF4-FFF2-40B4-BE49-F238E27FC236}">
                <a16:creationId xmlns:a16="http://schemas.microsoft.com/office/drawing/2014/main" id="{962E154B-D1A1-A8F3-E28F-456022EC2229}"/>
              </a:ext>
            </a:extLst>
          </p:cNvPr>
          <p:cNvPicPr>
            <a:picLocks noChangeAspect="1"/>
          </p:cNvPicPr>
          <p:nvPr/>
        </p:nvPicPr>
        <p:blipFill>
          <a:blip r:embed="rId8"/>
          <a:stretch>
            <a:fillRect/>
          </a:stretch>
        </p:blipFill>
        <p:spPr>
          <a:xfrm>
            <a:off x="76200" y="1254036"/>
            <a:ext cx="2438400" cy="4468732"/>
          </a:xfrm>
          <a:prstGeom prst="rect">
            <a:avLst/>
          </a:prstGeom>
        </p:spPr>
      </p:pic>
    </p:spTree>
    <p:extLst>
      <p:ext uri="{BB962C8B-B14F-4D97-AF65-F5344CB8AC3E}">
        <p14:creationId xmlns:p14="http://schemas.microsoft.com/office/powerpoint/2010/main" val="19394469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16422816"/>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62000"/>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Governance via IAM –</a:t>
            </a:r>
          </a:p>
          <a:p>
            <a:pPr marL="12700" marR="5080"/>
            <a:r>
              <a:rPr lang="en-US" sz="2400" kern="0" spc="-80" dirty="0">
                <a:solidFill>
                  <a:schemeClr val="accent2"/>
                </a:solidFill>
              </a:rPr>
              <a:t>    A sample Policy Json</a:t>
            </a:r>
          </a:p>
        </p:txBody>
      </p:sp>
      <p:sp>
        <p:nvSpPr>
          <p:cNvPr id="8" name="AutoShape 2" descr="Limiting Allowed AWS Instance Type With IAM Policy">
            <a:extLst>
              <a:ext uri="{FF2B5EF4-FFF2-40B4-BE49-F238E27FC236}">
                <a16:creationId xmlns:a16="http://schemas.microsoft.com/office/drawing/2014/main" id="{72BC7F3F-B27F-BB97-E402-3FADCEDDC49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AF41B523-F2A6-8854-8BFD-ECA06C2FDD66}"/>
              </a:ext>
            </a:extLst>
          </p:cNvPr>
          <p:cNvPicPr>
            <a:picLocks noChangeAspect="1"/>
          </p:cNvPicPr>
          <p:nvPr/>
        </p:nvPicPr>
        <p:blipFill>
          <a:blip r:embed="rId7"/>
          <a:stretch>
            <a:fillRect/>
          </a:stretch>
        </p:blipFill>
        <p:spPr>
          <a:xfrm>
            <a:off x="138063" y="1536625"/>
            <a:ext cx="8715474" cy="4372549"/>
          </a:xfrm>
          <a:prstGeom prst="rect">
            <a:avLst/>
          </a:prstGeom>
        </p:spPr>
      </p:pic>
    </p:spTree>
    <p:extLst>
      <p:ext uri="{BB962C8B-B14F-4D97-AF65-F5344CB8AC3E}">
        <p14:creationId xmlns:p14="http://schemas.microsoft.com/office/powerpoint/2010/main" val="36349352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891062181"/>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7 Rs - </a:t>
            </a:r>
            <a:r>
              <a:rPr lang="en-US" sz="2000" kern="0" spc="-80" dirty="0">
                <a:solidFill>
                  <a:schemeClr val="accent2"/>
                </a:solidFill>
              </a:rPr>
              <a:t> </a:t>
            </a:r>
            <a:endParaRPr lang="en-US" sz="1600" kern="0" spc="-80" dirty="0">
              <a:solidFill>
                <a:schemeClr val="accent2"/>
              </a:solidFill>
            </a:endParaRPr>
          </a:p>
        </p:txBody>
      </p:sp>
      <p:pic>
        <p:nvPicPr>
          <p:cNvPr id="9218" name="Picture 2" descr="How to Understand the 7 Rs Strategies for Moving Applications to the Cloud  | by Mohammed Munem | Daemon thinking | Medium">
            <a:extLst>
              <a:ext uri="{FF2B5EF4-FFF2-40B4-BE49-F238E27FC236}">
                <a16:creationId xmlns:a16="http://schemas.microsoft.com/office/drawing/2014/main" id="{8B379B9B-C714-7B51-9352-BD123856ED7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143000"/>
            <a:ext cx="9144000" cy="4575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50836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001995657"/>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Migration - </a:t>
            </a:r>
            <a:r>
              <a:rPr lang="en-US" sz="2000" kern="0" spc="-80" dirty="0">
                <a:solidFill>
                  <a:schemeClr val="accent2"/>
                </a:solidFill>
              </a:rPr>
              <a:t> </a:t>
            </a:r>
            <a:endParaRPr lang="en-US" sz="1600" kern="0" spc="-80" dirty="0">
              <a:solidFill>
                <a:schemeClr val="accent2"/>
              </a:solidFill>
            </a:endParaRPr>
          </a:p>
        </p:txBody>
      </p:sp>
      <p:pic>
        <p:nvPicPr>
          <p:cNvPr id="9" name="Picture 8">
            <a:extLst>
              <a:ext uri="{FF2B5EF4-FFF2-40B4-BE49-F238E27FC236}">
                <a16:creationId xmlns:a16="http://schemas.microsoft.com/office/drawing/2014/main" id="{F26736B5-8186-B288-C018-391449F397A0}"/>
              </a:ext>
            </a:extLst>
          </p:cNvPr>
          <p:cNvPicPr>
            <a:picLocks noChangeAspect="1"/>
          </p:cNvPicPr>
          <p:nvPr/>
        </p:nvPicPr>
        <p:blipFill>
          <a:blip r:embed="rId7"/>
          <a:stretch>
            <a:fillRect/>
          </a:stretch>
        </p:blipFill>
        <p:spPr>
          <a:xfrm>
            <a:off x="138062" y="1066800"/>
            <a:ext cx="8915399" cy="4114800"/>
          </a:xfrm>
          <a:prstGeom prst="rect">
            <a:avLst/>
          </a:prstGeom>
        </p:spPr>
      </p:pic>
      <p:sp>
        <p:nvSpPr>
          <p:cNvPr id="8" name="object 2">
            <a:extLst>
              <a:ext uri="{FF2B5EF4-FFF2-40B4-BE49-F238E27FC236}">
                <a16:creationId xmlns:a16="http://schemas.microsoft.com/office/drawing/2014/main" id="{D58C1167-2B8D-7A79-2AAF-D495F74676A9}"/>
              </a:ext>
            </a:extLst>
          </p:cNvPr>
          <p:cNvSpPr txBox="1">
            <a:spLocks/>
          </p:cNvSpPr>
          <p:nvPr/>
        </p:nvSpPr>
        <p:spPr>
          <a:xfrm>
            <a:off x="0" y="5181600"/>
            <a:ext cx="8915399" cy="9387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 –</a:t>
            </a:r>
          </a:p>
          <a:p>
            <a:pPr marL="12700" marR="5080"/>
            <a:r>
              <a:rPr lang="en-US" sz="1500" kern="0" spc="-80" dirty="0">
                <a:solidFill>
                  <a:schemeClr val="accent2"/>
                </a:solidFill>
              </a:rPr>
              <a:t> </a:t>
            </a:r>
            <a:r>
              <a:rPr lang="en-US" sz="1500" dirty="0">
                <a:hlinkClick r:id="rId8"/>
              </a:rPr>
              <a:t>CAF vs WAF: Key Differences in Cloud Adoption Strategies</a:t>
            </a:r>
            <a:endParaRPr lang="en-US" sz="1500" dirty="0"/>
          </a:p>
          <a:p>
            <a:pPr marL="12700" marR="5080"/>
            <a:r>
              <a:rPr lang="en-US" sz="1500" dirty="0">
                <a:hlinkClick r:id="rId9"/>
              </a:rPr>
              <a:t> App Modernization on Azure Succinctly</a:t>
            </a:r>
            <a:endParaRPr lang="en-US" sz="1500" dirty="0"/>
          </a:p>
          <a:p>
            <a:pPr marL="12700" marR="5080"/>
            <a:endParaRPr lang="en-US" sz="1500" kern="0" spc="-80" dirty="0">
              <a:solidFill>
                <a:schemeClr val="accent2"/>
              </a:solidFill>
            </a:endParaRPr>
          </a:p>
        </p:txBody>
      </p:sp>
    </p:spTree>
    <p:extLst>
      <p:ext uri="{BB962C8B-B14F-4D97-AF65-F5344CB8AC3E}">
        <p14:creationId xmlns:p14="http://schemas.microsoft.com/office/powerpoint/2010/main" val="5300543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22629110"/>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Native vs Cloud Agnostic –</a:t>
            </a:r>
          </a:p>
        </p:txBody>
      </p:sp>
      <p:pic>
        <p:nvPicPr>
          <p:cNvPr id="10" name="Picture 9">
            <a:extLst>
              <a:ext uri="{FF2B5EF4-FFF2-40B4-BE49-F238E27FC236}">
                <a16:creationId xmlns:a16="http://schemas.microsoft.com/office/drawing/2014/main" id="{788660E1-ACF3-DDD0-A48A-2997BD28BCB7}"/>
              </a:ext>
            </a:extLst>
          </p:cNvPr>
          <p:cNvPicPr>
            <a:picLocks noChangeAspect="1"/>
          </p:cNvPicPr>
          <p:nvPr/>
        </p:nvPicPr>
        <p:blipFill>
          <a:blip r:embed="rId7"/>
          <a:stretch>
            <a:fillRect/>
          </a:stretch>
        </p:blipFill>
        <p:spPr>
          <a:xfrm>
            <a:off x="0" y="1053737"/>
            <a:ext cx="9144000" cy="4401347"/>
          </a:xfrm>
          <a:prstGeom prst="rect">
            <a:avLst/>
          </a:prstGeom>
        </p:spPr>
      </p:pic>
      <p:sp>
        <p:nvSpPr>
          <p:cNvPr id="11" name="object 2">
            <a:extLst>
              <a:ext uri="{FF2B5EF4-FFF2-40B4-BE49-F238E27FC236}">
                <a16:creationId xmlns:a16="http://schemas.microsoft.com/office/drawing/2014/main" id="{386BAC7A-6A7B-259A-0D77-1159E98538EC}"/>
              </a:ext>
            </a:extLst>
          </p:cNvPr>
          <p:cNvSpPr txBox="1">
            <a:spLocks/>
          </p:cNvSpPr>
          <p:nvPr/>
        </p:nvSpPr>
        <p:spPr>
          <a:xfrm>
            <a:off x="14689" y="5455085"/>
            <a:ext cx="8915399" cy="47705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 – </a:t>
            </a:r>
          </a:p>
          <a:p>
            <a:pPr marL="12700" marR="5080"/>
            <a:r>
              <a:rPr lang="en-US" sz="1500" dirty="0">
                <a:hlinkClick r:id="rId8"/>
              </a:rPr>
              <a:t>How to build cloud agnostic enterprise web applications | LinkedIn</a:t>
            </a:r>
            <a:endParaRPr lang="en-US" sz="1500" kern="0" spc="-80" dirty="0">
              <a:solidFill>
                <a:schemeClr val="accent2"/>
              </a:solidFill>
            </a:endParaRPr>
          </a:p>
        </p:txBody>
      </p:sp>
    </p:spTree>
    <p:extLst>
      <p:ext uri="{BB962C8B-B14F-4D97-AF65-F5344CB8AC3E}">
        <p14:creationId xmlns:p14="http://schemas.microsoft.com/office/powerpoint/2010/main" val="17900596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842087642"/>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Native vs Cloud Agnostic –</a:t>
            </a:r>
          </a:p>
        </p:txBody>
      </p:sp>
      <p:graphicFrame>
        <p:nvGraphicFramePr>
          <p:cNvPr id="10" name="Table 9">
            <a:extLst>
              <a:ext uri="{FF2B5EF4-FFF2-40B4-BE49-F238E27FC236}">
                <a16:creationId xmlns:a16="http://schemas.microsoft.com/office/drawing/2014/main" id="{80A2BB12-A110-B1E5-447E-99AC89EF8BA3}"/>
              </a:ext>
            </a:extLst>
          </p:cNvPr>
          <p:cNvGraphicFramePr>
            <a:graphicFrameLocks noGrp="1"/>
          </p:cNvGraphicFramePr>
          <p:nvPr/>
        </p:nvGraphicFramePr>
        <p:xfrm>
          <a:off x="76199" y="1031240"/>
          <a:ext cx="9067800" cy="4877936"/>
        </p:xfrm>
        <a:graphic>
          <a:graphicData uri="http://schemas.openxmlformats.org/drawingml/2006/table">
            <a:tbl>
              <a:tblPr firstRow="1" bandRow="1">
                <a:tableStyleId>{5C22544A-7EE6-4342-B048-85BDC9FD1C3A}</a:tableStyleId>
              </a:tblPr>
              <a:tblGrid>
                <a:gridCol w="3022600">
                  <a:extLst>
                    <a:ext uri="{9D8B030D-6E8A-4147-A177-3AD203B41FA5}">
                      <a16:colId xmlns:a16="http://schemas.microsoft.com/office/drawing/2014/main" val="2113406603"/>
                    </a:ext>
                  </a:extLst>
                </a:gridCol>
                <a:gridCol w="3022600">
                  <a:extLst>
                    <a:ext uri="{9D8B030D-6E8A-4147-A177-3AD203B41FA5}">
                      <a16:colId xmlns:a16="http://schemas.microsoft.com/office/drawing/2014/main" val="2483371382"/>
                    </a:ext>
                  </a:extLst>
                </a:gridCol>
                <a:gridCol w="3022600">
                  <a:extLst>
                    <a:ext uri="{9D8B030D-6E8A-4147-A177-3AD203B41FA5}">
                      <a16:colId xmlns:a16="http://schemas.microsoft.com/office/drawing/2014/main" val="3458012977"/>
                    </a:ext>
                  </a:extLst>
                </a:gridCol>
              </a:tblGrid>
              <a:tr h="554701">
                <a:tc>
                  <a:txBody>
                    <a:bodyPr/>
                    <a:lstStyle/>
                    <a:p>
                      <a:r>
                        <a:rPr lang="en-US" dirty="0"/>
                        <a:t>Features</a:t>
                      </a:r>
                      <a:endParaRPr lang="en-IN" dirty="0"/>
                    </a:p>
                  </a:txBody>
                  <a:tcPr/>
                </a:tc>
                <a:tc>
                  <a:txBody>
                    <a:bodyPr/>
                    <a:lstStyle/>
                    <a:p>
                      <a:r>
                        <a:rPr lang="en-US" dirty="0"/>
                        <a:t>Cloud Native</a:t>
                      </a:r>
                      <a:endParaRPr lang="en-IN" dirty="0"/>
                    </a:p>
                  </a:txBody>
                  <a:tcPr/>
                </a:tc>
                <a:tc>
                  <a:txBody>
                    <a:bodyPr/>
                    <a:lstStyle/>
                    <a:p>
                      <a:r>
                        <a:rPr lang="en-US" dirty="0"/>
                        <a:t>Cloud Agnostic</a:t>
                      </a:r>
                      <a:endParaRPr lang="en-IN" dirty="0"/>
                    </a:p>
                  </a:txBody>
                  <a:tcPr/>
                </a:tc>
                <a:extLst>
                  <a:ext uri="{0D108BD9-81ED-4DB2-BD59-A6C34878D82A}">
                    <a16:rowId xmlns:a16="http://schemas.microsoft.com/office/drawing/2014/main" val="987909687"/>
                  </a:ext>
                </a:extLst>
              </a:tr>
              <a:tr h="1029342">
                <a:tc>
                  <a:txBody>
                    <a:bodyPr/>
                    <a:lstStyle/>
                    <a:p>
                      <a:r>
                        <a:rPr lang="en-IN" b="0" i="0" dirty="0">
                          <a:solidFill>
                            <a:schemeClr val="dk1"/>
                          </a:solidFill>
                          <a:effectLst/>
                          <a:latin typeface="+mn-lt"/>
                          <a:ea typeface="+mn-ea"/>
                          <a:cs typeface="+mn-cs"/>
                        </a:rPr>
                        <a:t>Portability</a:t>
                      </a:r>
                      <a:endParaRPr lang="en-IN" dirty="0"/>
                    </a:p>
                  </a:txBody>
                  <a:tcPr/>
                </a:tc>
                <a:tc>
                  <a:txBody>
                    <a:bodyPr/>
                    <a:lstStyle/>
                    <a:p>
                      <a:r>
                        <a:rPr lang="en-US" b="0" i="0" dirty="0">
                          <a:solidFill>
                            <a:schemeClr val="dk1"/>
                          </a:solidFill>
                          <a:effectLst/>
                          <a:latin typeface="+mn-lt"/>
                          <a:ea typeface="+mn-ea"/>
                          <a:cs typeface="+mn-cs"/>
                        </a:rPr>
                        <a:t>Difficult to move applications ported to different cloud providers.</a:t>
                      </a:r>
                      <a:endParaRPr lang="en-IN" dirty="0"/>
                    </a:p>
                  </a:txBody>
                  <a:tcPr/>
                </a:tc>
                <a:tc>
                  <a:txBody>
                    <a:bodyPr/>
                    <a:lstStyle/>
                    <a:p>
                      <a:r>
                        <a:rPr lang="en-US" b="0" i="0" dirty="0">
                          <a:solidFill>
                            <a:schemeClr val="dk1"/>
                          </a:solidFill>
                          <a:effectLst/>
                          <a:latin typeface="+mn-lt"/>
                          <a:ea typeface="+mn-ea"/>
                          <a:cs typeface="+mn-cs"/>
                        </a:rPr>
                        <a:t>Applications can be moved anywhere and never locked into a specific provider.</a:t>
                      </a:r>
                      <a:endParaRPr lang="en-IN" dirty="0"/>
                    </a:p>
                  </a:txBody>
                  <a:tcPr/>
                </a:tc>
                <a:extLst>
                  <a:ext uri="{0D108BD9-81ED-4DB2-BD59-A6C34878D82A}">
                    <a16:rowId xmlns:a16="http://schemas.microsoft.com/office/drawing/2014/main" val="2445216592"/>
                  </a:ext>
                </a:extLst>
              </a:tr>
              <a:tr h="1029342">
                <a:tc>
                  <a:txBody>
                    <a:bodyPr/>
                    <a:lstStyle/>
                    <a:p>
                      <a:r>
                        <a:rPr lang="en-IN" b="0" i="0" dirty="0">
                          <a:solidFill>
                            <a:schemeClr val="dk1"/>
                          </a:solidFill>
                          <a:effectLst/>
                          <a:latin typeface="+mn-lt"/>
                          <a:ea typeface="+mn-ea"/>
                          <a:cs typeface="+mn-cs"/>
                        </a:rPr>
                        <a:t>Performance</a:t>
                      </a:r>
                      <a:endParaRPr lang="en-IN" dirty="0"/>
                    </a:p>
                  </a:txBody>
                  <a:tcPr/>
                </a:tc>
                <a:tc>
                  <a:txBody>
                    <a:bodyPr/>
                    <a:lstStyle/>
                    <a:p>
                      <a:r>
                        <a:rPr lang="en-US" b="0" i="0" dirty="0">
                          <a:solidFill>
                            <a:schemeClr val="dk1"/>
                          </a:solidFill>
                          <a:effectLst/>
                          <a:latin typeface="+mn-lt"/>
                          <a:ea typeface="+mn-ea"/>
                          <a:cs typeface="+mn-cs"/>
                        </a:rPr>
                        <a:t>Components work on a small segment, increasing performance overall.</a:t>
                      </a:r>
                      <a:endParaRPr lang="en-IN" dirty="0"/>
                    </a:p>
                  </a:txBody>
                  <a:tcPr/>
                </a:tc>
                <a:tc>
                  <a:txBody>
                    <a:bodyPr/>
                    <a:lstStyle/>
                    <a:p>
                      <a:r>
                        <a:rPr lang="en-US" b="0" i="0" dirty="0">
                          <a:solidFill>
                            <a:schemeClr val="dk1"/>
                          </a:solidFill>
                          <a:effectLst/>
                          <a:latin typeface="+mn-lt"/>
                          <a:ea typeface="+mn-ea"/>
                          <a:cs typeface="+mn-cs"/>
                        </a:rPr>
                        <a:t>Wide range of features and options that customers can use to maximize performance.</a:t>
                      </a:r>
                      <a:endParaRPr lang="en-IN" dirty="0"/>
                    </a:p>
                  </a:txBody>
                  <a:tcPr/>
                </a:tc>
                <a:extLst>
                  <a:ext uri="{0D108BD9-81ED-4DB2-BD59-A6C34878D82A}">
                    <a16:rowId xmlns:a16="http://schemas.microsoft.com/office/drawing/2014/main" val="1987405921"/>
                  </a:ext>
                </a:extLst>
              </a:tr>
              <a:tr h="2264551">
                <a:tc>
                  <a:txBody>
                    <a:bodyPr/>
                    <a:lstStyle/>
                    <a:p>
                      <a:r>
                        <a:rPr lang="en-IN" b="0" i="0" dirty="0">
                          <a:solidFill>
                            <a:schemeClr val="dk1"/>
                          </a:solidFill>
                          <a:effectLst/>
                          <a:latin typeface="+mn-lt"/>
                          <a:ea typeface="+mn-ea"/>
                          <a:cs typeface="+mn-cs"/>
                        </a:rPr>
                        <a:t>Flexibility</a:t>
                      </a:r>
                      <a:endParaRPr lang="en-IN" dirty="0"/>
                    </a:p>
                  </a:txBody>
                  <a:tcPr/>
                </a:tc>
                <a:tc>
                  <a:txBody>
                    <a:bodyPr/>
                    <a:lstStyle/>
                    <a:p>
                      <a:r>
                        <a:rPr lang="en-US" b="0" i="0" dirty="0">
                          <a:solidFill>
                            <a:schemeClr val="dk1"/>
                          </a:solidFill>
                          <a:effectLst/>
                          <a:latin typeface="+mn-lt"/>
                          <a:ea typeface="+mn-ea"/>
                          <a:cs typeface="+mn-cs"/>
                        </a:rPr>
                        <a:t>Applications benefit from a cloud platform's built-in provisions for networking, monitoring, and other underlying architecture concerns that stymie large development efforts.</a:t>
                      </a:r>
                      <a:endParaRPr lang="en-IN" dirty="0"/>
                    </a:p>
                  </a:txBody>
                  <a:tcPr/>
                </a:tc>
                <a:tc>
                  <a:txBody>
                    <a:bodyPr/>
                    <a:lstStyle/>
                    <a:p>
                      <a:r>
                        <a:rPr lang="en-US" b="0" i="0" dirty="0">
                          <a:solidFill>
                            <a:schemeClr val="dk1"/>
                          </a:solidFill>
                          <a:effectLst/>
                          <a:latin typeface="+mn-lt"/>
                          <a:ea typeface="+mn-ea"/>
                          <a:cs typeface="+mn-cs"/>
                        </a:rPr>
                        <a:t>Developers are not restricted to one cloud platform's capabilities or tools and can incorporate open-source tools, libraries, and integrations.</a:t>
                      </a:r>
                      <a:endParaRPr lang="en-IN" dirty="0"/>
                    </a:p>
                  </a:txBody>
                  <a:tcPr/>
                </a:tc>
                <a:extLst>
                  <a:ext uri="{0D108BD9-81ED-4DB2-BD59-A6C34878D82A}">
                    <a16:rowId xmlns:a16="http://schemas.microsoft.com/office/drawing/2014/main" val="1394350516"/>
                  </a:ext>
                </a:extLst>
              </a:tr>
            </a:tbl>
          </a:graphicData>
        </a:graphic>
      </p:graphicFrame>
    </p:spTree>
    <p:extLst>
      <p:ext uri="{BB962C8B-B14F-4D97-AF65-F5344CB8AC3E}">
        <p14:creationId xmlns:p14="http://schemas.microsoft.com/office/powerpoint/2010/main" val="198025208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024430921"/>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Native vs Cloud Agnostic –</a:t>
            </a:r>
          </a:p>
        </p:txBody>
      </p:sp>
      <p:graphicFrame>
        <p:nvGraphicFramePr>
          <p:cNvPr id="10" name="Table 9">
            <a:extLst>
              <a:ext uri="{FF2B5EF4-FFF2-40B4-BE49-F238E27FC236}">
                <a16:creationId xmlns:a16="http://schemas.microsoft.com/office/drawing/2014/main" id="{80A2BB12-A110-B1E5-447E-99AC89EF8BA3}"/>
              </a:ext>
            </a:extLst>
          </p:cNvPr>
          <p:cNvGraphicFramePr>
            <a:graphicFrameLocks noGrp="1"/>
          </p:cNvGraphicFramePr>
          <p:nvPr/>
        </p:nvGraphicFramePr>
        <p:xfrm>
          <a:off x="76199" y="1143000"/>
          <a:ext cx="9067800" cy="4740032"/>
        </p:xfrm>
        <a:graphic>
          <a:graphicData uri="http://schemas.openxmlformats.org/drawingml/2006/table">
            <a:tbl>
              <a:tblPr firstRow="1" bandRow="1">
                <a:tableStyleId>{5C22544A-7EE6-4342-B048-85BDC9FD1C3A}</a:tableStyleId>
              </a:tblPr>
              <a:tblGrid>
                <a:gridCol w="3022600">
                  <a:extLst>
                    <a:ext uri="{9D8B030D-6E8A-4147-A177-3AD203B41FA5}">
                      <a16:colId xmlns:a16="http://schemas.microsoft.com/office/drawing/2014/main" val="2113406603"/>
                    </a:ext>
                  </a:extLst>
                </a:gridCol>
                <a:gridCol w="3022600">
                  <a:extLst>
                    <a:ext uri="{9D8B030D-6E8A-4147-A177-3AD203B41FA5}">
                      <a16:colId xmlns:a16="http://schemas.microsoft.com/office/drawing/2014/main" val="2483371382"/>
                    </a:ext>
                  </a:extLst>
                </a:gridCol>
                <a:gridCol w="3022600">
                  <a:extLst>
                    <a:ext uri="{9D8B030D-6E8A-4147-A177-3AD203B41FA5}">
                      <a16:colId xmlns:a16="http://schemas.microsoft.com/office/drawing/2014/main" val="3458012977"/>
                    </a:ext>
                  </a:extLst>
                </a:gridCol>
              </a:tblGrid>
              <a:tr h="319731">
                <a:tc>
                  <a:txBody>
                    <a:bodyPr/>
                    <a:lstStyle/>
                    <a:p>
                      <a:r>
                        <a:rPr lang="en-US" dirty="0"/>
                        <a:t>Features</a:t>
                      </a:r>
                      <a:endParaRPr lang="en-IN" dirty="0"/>
                    </a:p>
                  </a:txBody>
                  <a:tcPr/>
                </a:tc>
                <a:tc>
                  <a:txBody>
                    <a:bodyPr/>
                    <a:lstStyle/>
                    <a:p>
                      <a:r>
                        <a:rPr lang="en-US" dirty="0"/>
                        <a:t>Cloud Native</a:t>
                      </a:r>
                      <a:endParaRPr lang="en-IN" dirty="0"/>
                    </a:p>
                  </a:txBody>
                  <a:tcPr/>
                </a:tc>
                <a:tc>
                  <a:txBody>
                    <a:bodyPr/>
                    <a:lstStyle/>
                    <a:p>
                      <a:r>
                        <a:rPr lang="en-US" dirty="0"/>
                        <a:t>Cloud Agnostic</a:t>
                      </a:r>
                      <a:endParaRPr lang="en-IN" dirty="0"/>
                    </a:p>
                  </a:txBody>
                  <a:tcPr/>
                </a:tc>
                <a:extLst>
                  <a:ext uri="{0D108BD9-81ED-4DB2-BD59-A6C34878D82A}">
                    <a16:rowId xmlns:a16="http://schemas.microsoft.com/office/drawing/2014/main" val="987909687"/>
                  </a:ext>
                </a:extLst>
              </a:tr>
              <a:tr h="1358858">
                <a:tc>
                  <a:txBody>
                    <a:bodyPr/>
                    <a:lstStyle/>
                    <a:p>
                      <a:r>
                        <a:rPr lang="en-IN" sz="1600" b="0" i="0" dirty="0">
                          <a:solidFill>
                            <a:schemeClr val="dk1"/>
                          </a:solidFill>
                          <a:effectLst/>
                          <a:latin typeface="+mn-lt"/>
                          <a:ea typeface="+mn-ea"/>
                          <a:cs typeface="+mn-cs"/>
                        </a:rPr>
                        <a:t>Resilience</a:t>
                      </a:r>
                      <a:endParaRPr lang="en-IN" sz="1600" dirty="0"/>
                    </a:p>
                  </a:txBody>
                  <a:tcPr/>
                </a:tc>
                <a:tc>
                  <a:txBody>
                    <a:bodyPr/>
                    <a:lstStyle/>
                    <a:p>
                      <a:r>
                        <a:rPr lang="en-US" sz="1600" b="0" i="0" dirty="0">
                          <a:solidFill>
                            <a:schemeClr val="dk1"/>
                          </a:solidFill>
                          <a:effectLst/>
                          <a:latin typeface="+mn-lt"/>
                          <a:ea typeface="+mn-ea"/>
                          <a:cs typeface="+mn-cs"/>
                        </a:rPr>
                        <a:t>Microservices enable resilience, meaning a component failure doesn’t affect the overall ecosystem.</a:t>
                      </a:r>
                      <a:endParaRPr lang="en-IN" sz="1600" dirty="0"/>
                    </a:p>
                  </a:txBody>
                  <a:tcPr/>
                </a:tc>
                <a:tc>
                  <a:txBody>
                    <a:bodyPr/>
                    <a:lstStyle/>
                    <a:p>
                      <a:r>
                        <a:rPr lang="en-US" sz="1600" b="0" i="0" dirty="0">
                          <a:solidFill>
                            <a:schemeClr val="dk1"/>
                          </a:solidFill>
                          <a:effectLst/>
                          <a:latin typeface="+mn-lt"/>
                          <a:ea typeface="+mn-ea"/>
                          <a:cs typeface="+mn-cs"/>
                        </a:rPr>
                        <a:t>Applications provide redundancy and improve recovery speed in the event of a failure; services can be switched to another platform if the initial platform experiences a disruption.</a:t>
                      </a:r>
                      <a:endParaRPr lang="en-IN" sz="1600" dirty="0"/>
                    </a:p>
                  </a:txBody>
                  <a:tcPr/>
                </a:tc>
                <a:extLst>
                  <a:ext uri="{0D108BD9-81ED-4DB2-BD59-A6C34878D82A}">
                    <a16:rowId xmlns:a16="http://schemas.microsoft.com/office/drawing/2014/main" val="2445216592"/>
                  </a:ext>
                </a:extLst>
              </a:tr>
              <a:tr h="1358858">
                <a:tc>
                  <a:txBody>
                    <a:bodyPr/>
                    <a:lstStyle/>
                    <a:p>
                      <a:r>
                        <a:rPr lang="en-IN" sz="1600" b="0" i="0" dirty="0">
                          <a:solidFill>
                            <a:schemeClr val="dk1"/>
                          </a:solidFill>
                          <a:effectLst/>
                          <a:latin typeface="+mn-lt"/>
                          <a:ea typeface="+mn-ea"/>
                          <a:cs typeface="+mn-cs"/>
                        </a:rPr>
                        <a:t>Costs</a:t>
                      </a:r>
                      <a:endParaRPr lang="en-IN" sz="1600" dirty="0"/>
                    </a:p>
                  </a:txBody>
                  <a:tcPr/>
                </a:tc>
                <a:tc>
                  <a:txBody>
                    <a:bodyPr/>
                    <a:lstStyle/>
                    <a:p>
                      <a:r>
                        <a:rPr lang="en-US" sz="1600" b="0" i="0" dirty="0">
                          <a:solidFill>
                            <a:schemeClr val="dk1"/>
                          </a:solidFill>
                          <a:effectLst/>
                          <a:latin typeface="+mn-lt"/>
                          <a:ea typeface="+mn-ea"/>
                          <a:cs typeface="+mn-cs"/>
                        </a:rPr>
                        <a:t>Customers are charged based on a combination of licensing and data storage requirements, following a pay-as-you-go model.</a:t>
                      </a:r>
                      <a:endParaRPr lang="en-IN" sz="1600" dirty="0"/>
                    </a:p>
                  </a:txBody>
                  <a:tcPr/>
                </a:tc>
                <a:tc>
                  <a:txBody>
                    <a:bodyPr/>
                    <a:lstStyle/>
                    <a:p>
                      <a:r>
                        <a:rPr lang="en-US" sz="1600" b="0" i="0" dirty="0">
                          <a:solidFill>
                            <a:schemeClr val="dk1"/>
                          </a:solidFill>
                          <a:effectLst/>
                          <a:latin typeface="+mn-lt"/>
                          <a:ea typeface="+mn-ea"/>
                          <a:cs typeface="+mn-cs"/>
                        </a:rPr>
                        <a:t>Cloud-agnostic architecture has greater accessibility to open-source tools, providing more direct control over costs and the ability to make spending adjustments as needed.</a:t>
                      </a:r>
                      <a:endParaRPr lang="en-IN" sz="1600" dirty="0"/>
                    </a:p>
                  </a:txBody>
                  <a:tcPr/>
                </a:tc>
                <a:extLst>
                  <a:ext uri="{0D108BD9-81ED-4DB2-BD59-A6C34878D82A}">
                    <a16:rowId xmlns:a16="http://schemas.microsoft.com/office/drawing/2014/main" val="1987405921"/>
                  </a:ext>
                </a:extLst>
              </a:tr>
              <a:tr h="1265312">
                <a:tc>
                  <a:txBody>
                    <a:bodyPr/>
                    <a:lstStyle/>
                    <a:p>
                      <a:r>
                        <a:rPr lang="en-IN" sz="1600" b="0" i="0" dirty="0">
                          <a:solidFill>
                            <a:schemeClr val="dk1"/>
                          </a:solidFill>
                          <a:effectLst/>
                          <a:latin typeface="+mn-lt"/>
                          <a:ea typeface="+mn-ea"/>
                          <a:cs typeface="+mn-cs"/>
                        </a:rPr>
                        <a:t>Implementation</a:t>
                      </a:r>
                      <a:endParaRPr lang="en-IN" sz="1600" dirty="0"/>
                    </a:p>
                  </a:txBody>
                  <a:tcPr/>
                </a:tc>
                <a:tc>
                  <a:txBody>
                    <a:bodyPr/>
                    <a:lstStyle/>
                    <a:p>
                      <a:r>
                        <a:rPr lang="en-US" sz="1600" b="0" i="0" dirty="0">
                          <a:solidFill>
                            <a:schemeClr val="dk1"/>
                          </a:solidFill>
                          <a:effectLst/>
                          <a:latin typeface="+mn-lt"/>
                          <a:ea typeface="+mn-ea"/>
                          <a:cs typeface="+mn-cs"/>
                        </a:rPr>
                        <a:t>Cloud native is a new paradigm that will require a cultural shift for successful implementation.</a:t>
                      </a:r>
                      <a:endParaRPr lang="en-IN" sz="1600" dirty="0"/>
                    </a:p>
                  </a:txBody>
                  <a:tcPr/>
                </a:tc>
                <a:tc>
                  <a:txBody>
                    <a:bodyPr/>
                    <a:lstStyle/>
                    <a:p>
                      <a:r>
                        <a:rPr lang="en-US" sz="1600" b="0" i="0" dirty="0">
                          <a:solidFill>
                            <a:schemeClr val="dk1"/>
                          </a:solidFill>
                          <a:effectLst/>
                          <a:latin typeface="+mn-lt"/>
                          <a:ea typeface="+mn-ea"/>
                          <a:cs typeface="+mn-cs"/>
                        </a:rPr>
                        <a:t>Cloud agnostic has to happen at the developer level, making implementation challenging.</a:t>
                      </a:r>
                      <a:endParaRPr lang="en-IN" sz="1600" dirty="0"/>
                    </a:p>
                  </a:txBody>
                  <a:tcPr/>
                </a:tc>
                <a:extLst>
                  <a:ext uri="{0D108BD9-81ED-4DB2-BD59-A6C34878D82A}">
                    <a16:rowId xmlns:a16="http://schemas.microsoft.com/office/drawing/2014/main" val="1394350516"/>
                  </a:ext>
                </a:extLst>
              </a:tr>
            </a:tbl>
          </a:graphicData>
        </a:graphic>
      </p:graphicFrame>
    </p:spTree>
    <p:extLst>
      <p:ext uri="{BB962C8B-B14F-4D97-AF65-F5344CB8AC3E}">
        <p14:creationId xmlns:p14="http://schemas.microsoft.com/office/powerpoint/2010/main" val="26802999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438618383"/>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Native vs Cloud Agnostic –</a:t>
            </a:r>
          </a:p>
        </p:txBody>
      </p:sp>
      <p:graphicFrame>
        <p:nvGraphicFramePr>
          <p:cNvPr id="8" name="Table 7">
            <a:extLst>
              <a:ext uri="{FF2B5EF4-FFF2-40B4-BE49-F238E27FC236}">
                <a16:creationId xmlns:a16="http://schemas.microsoft.com/office/drawing/2014/main" id="{2768066F-D90E-019E-BFE3-E3BFEB21E2E1}"/>
              </a:ext>
            </a:extLst>
          </p:cNvPr>
          <p:cNvGraphicFramePr>
            <a:graphicFrameLocks noGrp="1"/>
          </p:cNvGraphicFramePr>
          <p:nvPr/>
        </p:nvGraphicFramePr>
        <p:xfrm>
          <a:off x="76199" y="1066800"/>
          <a:ext cx="8839200" cy="3296920"/>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1497050542"/>
                    </a:ext>
                  </a:extLst>
                </a:gridCol>
                <a:gridCol w="2946400">
                  <a:extLst>
                    <a:ext uri="{9D8B030D-6E8A-4147-A177-3AD203B41FA5}">
                      <a16:colId xmlns:a16="http://schemas.microsoft.com/office/drawing/2014/main" val="3834819569"/>
                    </a:ext>
                  </a:extLst>
                </a:gridCol>
                <a:gridCol w="2946400">
                  <a:extLst>
                    <a:ext uri="{9D8B030D-6E8A-4147-A177-3AD203B41FA5}">
                      <a16:colId xmlns:a16="http://schemas.microsoft.com/office/drawing/2014/main" val="2597741595"/>
                    </a:ext>
                  </a:extLst>
                </a:gridCol>
              </a:tblGrid>
              <a:tr h="370840">
                <a:tc>
                  <a:txBody>
                    <a:bodyPr/>
                    <a:lstStyle/>
                    <a:p>
                      <a:r>
                        <a:rPr lang="en-US" dirty="0"/>
                        <a:t>Features</a:t>
                      </a:r>
                      <a:endParaRPr lang="en-IN" dirty="0"/>
                    </a:p>
                  </a:txBody>
                  <a:tcPr/>
                </a:tc>
                <a:tc>
                  <a:txBody>
                    <a:bodyPr/>
                    <a:lstStyle/>
                    <a:p>
                      <a:r>
                        <a:rPr lang="en-US" dirty="0"/>
                        <a:t>Cloud Native</a:t>
                      </a:r>
                      <a:endParaRPr lang="en-IN" dirty="0"/>
                    </a:p>
                  </a:txBody>
                  <a:tcPr/>
                </a:tc>
                <a:tc>
                  <a:txBody>
                    <a:bodyPr/>
                    <a:lstStyle/>
                    <a:p>
                      <a:r>
                        <a:rPr lang="en-US" dirty="0"/>
                        <a:t>Cloud Agnostic</a:t>
                      </a:r>
                      <a:endParaRPr lang="en-IN" dirty="0"/>
                    </a:p>
                  </a:txBody>
                  <a:tcPr/>
                </a:tc>
                <a:extLst>
                  <a:ext uri="{0D108BD9-81ED-4DB2-BD59-A6C34878D82A}">
                    <a16:rowId xmlns:a16="http://schemas.microsoft.com/office/drawing/2014/main" val="3553383481"/>
                  </a:ext>
                </a:extLst>
              </a:tr>
              <a:tr h="370840">
                <a:tc>
                  <a:txBody>
                    <a:bodyPr/>
                    <a:lstStyle/>
                    <a:p>
                      <a:r>
                        <a:rPr lang="en-IN" b="0" i="0" dirty="0">
                          <a:solidFill>
                            <a:schemeClr val="dk1"/>
                          </a:solidFill>
                          <a:effectLst/>
                          <a:latin typeface="+mn-lt"/>
                          <a:ea typeface="+mn-ea"/>
                          <a:cs typeface="+mn-cs"/>
                        </a:rPr>
                        <a:t>Time to Market</a:t>
                      </a:r>
                      <a:endParaRPr lang="en-IN" dirty="0"/>
                    </a:p>
                  </a:txBody>
                  <a:tcPr/>
                </a:tc>
                <a:tc>
                  <a:txBody>
                    <a:bodyPr/>
                    <a:lstStyle/>
                    <a:p>
                      <a:r>
                        <a:rPr lang="en-US" b="0" i="0" dirty="0">
                          <a:solidFill>
                            <a:schemeClr val="dk1"/>
                          </a:solidFill>
                          <a:effectLst/>
                          <a:latin typeface="+mn-lt"/>
                          <a:ea typeface="+mn-ea"/>
                          <a:cs typeface="+mn-cs"/>
                        </a:rPr>
                        <a:t>Pre-built templates, tools, and ready-to-use infrastructure speed up time to market for applications</a:t>
                      </a:r>
                      <a:endParaRPr lang="en-IN" dirty="0"/>
                    </a:p>
                  </a:txBody>
                  <a:tcPr/>
                </a:tc>
                <a:tc>
                  <a:txBody>
                    <a:bodyPr/>
                    <a:lstStyle/>
                    <a:p>
                      <a:r>
                        <a:rPr lang="en-US" b="0" i="0" dirty="0">
                          <a:solidFill>
                            <a:schemeClr val="dk1"/>
                          </a:solidFill>
                          <a:effectLst/>
                          <a:latin typeface="+mn-lt"/>
                          <a:ea typeface="+mn-ea"/>
                          <a:cs typeface="+mn-cs"/>
                        </a:rPr>
                        <a:t>The complexity of developing cloud-agnostic applications and features means that it can take longer for projects to get off the ground.</a:t>
                      </a:r>
                      <a:endParaRPr lang="en-IN" dirty="0"/>
                    </a:p>
                  </a:txBody>
                  <a:tcPr/>
                </a:tc>
                <a:extLst>
                  <a:ext uri="{0D108BD9-81ED-4DB2-BD59-A6C34878D82A}">
                    <a16:rowId xmlns:a16="http://schemas.microsoft.com/office/drawing/2014/main" val="120095058"/>
                  </a:ext>
                </a:extLst>
              </a:tr>
              <a:tr h="370840">
                <a:tc>
                  <a:txBody>
                    <a:bodyPr/>
                    <a:lstStyle/>
                    <a:p>
                      <a:r>
                        <a:rPr lang="en-IN" b="0" i="0" dirty="0">
                          <a:solidFill>
                            <a:schemeClr val="dk1"/>
                          </a:solidFill>
                          <a:effectLst/>
                          <a:latin typeface="+mn-lt"/>
                          <a:ea typeface="+mn-ea"/>
                          <a:cs typeface="+mn-cs"/>
                        </a:rPr>
                        <a:t>Scalability</a:t>
                      </a:r>
                      <a:endParaRPr lang="en-IN" dirty="0"/>
                    </a:p>
                  </a:txBody>
                  <a:tcPr/>
                </a:tc>
                <a:tc>
                  <a:txBody>
                    <a:bodyPr/>
                    <a:lstStyle/>
                    <a:p>
                      <a:r>
                        <a:rPr lang="en-US" b="0" i="0" dirty="0">
                          <a:solidFill>
                            <a:schemeClr val="dk1"/>
                          </a:solidFill>
                          <a:effectLst/>
                          <a:latin typeface="+mn-lt"/>
                          <a:ea typeface="+mn-ea"/>
                          <a:cs typeface="+mn-cs"/>
                        </a:rPr>
                        <a:t>Cloud-native systems are easy to scale up or down to meet business needs.</a:t>
                      </a:r>
                      <a:endParaRPr lang="en-IN" dirty="0"/>
                    </a:p>
                  </a:txBody>
                  <a:tcPr/>
                </a:tc>
                <a:tc>
                  <a:txBody>
                    <a:bodyPr/>
                    <a:lstStyle/>
                    <a:p>
                      <a:r>
                        <a:rPr lang="en-US" b="0" i="0" dirty="0">
                          <a:solidFill>
                            <a:schemeClr val="dk1"/>
                          </a:solidFill>
                          <a:effectLst/>
                          <a:latin typeface="+mn-lt"/>
                          <a:ea typeface="+mn-ea"/>
                          <a:cs typeface="+mn-cs"/>
                        </a:rPr>
                        <a:t>Cloud-agnostic apps and services can move across cloud platforms, which means they can quickly scale up to meet demand.</a:t>
                      </a:r>
                      <a:endParaRPr lang="en-IN" dirty="0"/>
                    </a:p>
                  </a:txBody>
                  <a:tcPr/>
                </a:tc>
                <a:extLst>
                  <a:ext uri="{0D108BD9-81ED-4DB2-BD59-A6C34878D82A}">
                    <a16:rowId xmlns:a16="http://schemas.microsoft.com/office/drawing/2014/main" val="894545832"/>
                  </a:ext>
                </a:extLst>
              </a:tr>
            </a:tbl>
          </a:graphicData>
        </a:graphic>
      </p:graphicFrame>
    </p:spTree>
    <p:extLst>
      <p:ext uri="{BB962C8B-B14F-4D97-AF65-F5344CB8AC3E}">
        <p14:creationId xmlns:p14="http://schemas.microsoft.com/office/powerpoint/2010/main" val="42437443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9869B-B909-DBDF-20B9-7F7A09B4C62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3C87742-73FA-9AC8-D345-11359DDC8B0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B6225D-43DD-826C-3B66-EAE7128EE02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91FEAED-8B41-8EDA-81B7-68A7FC0CC033}"/>
              </a:ext>
            </a:extLst>
          </p:cNvPr>
          <p:cNvGraphicFramePr/>
          <p:nvPr>
            <p:extLst>
              <p:ext uri="{D42A27DB-BD31-4B8C-83A1-F6EECF244321}">
                <p14:modId xmlns:p14="http://schemas.microsoft.com/office/powerpoint/2010/main" val="1485641926"/>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D70F368-4059-4D16-2BDC-06AC96547D5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15C53DC7-6F3A-8DDF-2FF7-F2BC05D7C86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B76D074-1DF7-BCC0-C7D8-D3749E60033D}"/>
              </a:ext>
            </a:extLst>
          </p:cNvPr>
          <p:cNvSpPr txBox="1">
            <a:spLocks/>
          </p:cNvSpPr>
          <p:nvPr/>
        </p:nvSpPr>
        <p:spPr>
          <a:xfrm>
            <a:off x="0" y="685800"/>
            <a:ext cx="8915399"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Landing Zone –</a:t>
            </a:r>
          </a:p>
          <a:p>
            <a:pPr marL="12700" marR="5080"/>
            <a:r>
              <a:rPr lang="en-US" sz="1800" kern="0" spc="-80" dirty="0">
                <a:solidFill>
                  <a:schemeClr val="accent6"/>
                </a:solidFill>
              </a:rPr>
              <a:t>A cloud landing zone is a pre-configured, secure, and scalable environment within a cloud provider (like AWS, Azure, or Google Cloud) that serves as a foundation for deploying cloud resources and applications. It's a best-practice starting point that includes foundational elements like identity and access management, networking, security, and governance to ensure workloads can be deployed quickly, safely, and in a way that meets compliance requirements.  </a:t>
            </a:r>
          </a:p>
          <a:p>
            <a:pPr marL="12700" marR="5080"/>
            <a:r>
              <a:rPr lang="en-US" sz="1800" kern="0" spc="-80" dirty="0">
                <a:solidFill>
                  <a:schemeClr val="accent2"/>
                </a:solidFill>
              </a:rPr>
              <a:t>Key characteristics</a:t>
            </a:r>
          </a:p>
          <a:p>
            <a:pPr marL="12700" marR="5080"/>
            <a:r>
              <a:rPr lang="en-US" sz="1800" kern="0" spc="-80" dirty="0">
                <a:solidFill>
                  <a:schemeClr val="accent2"/>
                </a:solidFill>
              </a:rPr>
              <a:t>Pre-configured environment: </a:t>
            </a:r>
            <a:r>
              <a:rPr lang="en-US" sz="1800" kern="0" spc="-80" dirty="0">
                <a:solidFill>
                  <a:schemeClr val="accent6"/>
                </a:solidFill>
              </a:rPr>
              <a:t>A landing zone is set up with specific configurations, making it a ready-to-use "base camp" for cloud projects. </a:t>
            </a:r>
          </a:p>
          <a:p>
            <a:pPr marL="12700" marR="5080"/>
            <a:r>
              <a:rPr lang="en-US" sz="1800" kern="0" spc="-80" dirty="0">
                <a:solidFill>
                  <a:schemeClr val="accent2"/>
                </a:solidFill>
              </a:rPr>
              <a:t>Security and compliance: </a:t>
            </a:r>
            <a:r>
              <a:rPr lang="en-US" sz="1800" kern="0" spc="-80" dirty="0">
                <a:solidFill>
                  <a:schemeClr val="accent6"/>
                </a:solidFill>
              </a:rPr>
              <a:t>It's built with security and compliance policies in mind from the start, which helps avoid potential issues later on. </a:t>
            </a:r>
          </a:p>
          <a:p>
            <a:pPr marL="12700" marR="5080"/>
            <a:r>
              <a:rPr lang="en-US" sz="1800" kern="0" spc="-80" dirty="0">
                <a:solidFill>
                  <a:schemeClr val="accent2"/>
                </a:solidFill>
              </a:rPr>
              <a:t>Scalability:</a:t>
            </a:r>
            <a:r>
              <a:rPr lang="en-US" sz="1800" kern="0" spc="-80" dirty="0">
                <a:solidFill>
                  <a:schemeClr val="accent6"/>
                </a:solidFill>
              </a:rPr>
              <a:t> A landing zone is designed to grow with your organization as you adopt more cloud-based services over time. </a:t>
            </a:r>
          </a:p>
          <a:p>
            <a:pPr marL="12700" marR="5080"/>
            <a:r>
              <a:rPr lang="en-US" sz="1800" kern="0" spc="-80" dirty="0">
                <a:solidFill>
                  <a:schemeClr val="accent2"/>
                </a:solidFill>
              </a:rPr>
              <a:t>Multi-account structure:</a:t>
            </a:r>
            <a:r>
              <a:rPr lang="en-US" sz="1800" kern="0" spc="-80" dirty="0">
                <a:solidFill>
                  <a:schemeClr val="accent6"/>
                </a:solidFill>
              </a:rPr>
              <a:t> For environments like AWS, a landing zone often involves setting up multiple accounts to provide resource and security isolation, as explained in AWS Prescriptive Guidance. </a:t>
            </a:r>
          </a:p>
        </p:txBody>
      </p:sp>
    </p:spTree>
    <p:extLst>
      <p:ext uri="{BB962C8B-B14F-4D97-AF65-F5344CB8AC3E}">
        <p14:creationId xmlns:p14="http://schemas.microsoft.com/office/powerpoint/2010/main" val="10396765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01529-A278-379D-1D3C-737D8B5AF6B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23CA023-23DE-8211-9BA9-C31CEC0A009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2A55CD4-996C-B79A-D2B5-3ED12F9CBDE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BB25F55-43EA-C89A-D597-CCD7EE234E4C}"/>
              </a:ext>
            </a:extLst>
          </p:cNvPr>
          <p:cNvGraphicFramePr/>
          <p:nvPr>
            <p:extLst>
              <p:ext uri="{D42A27DB-BD31-4B8C-83A1-F6EECF244321}">
                <p14:modId xmlns:p14="http://schemas.microsoft.com/office/powerpoint/2010/main" val="1144718899"/>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36042BC-F207-DE4F-133D-E6BA8B13F99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3B0D2EB-F933-48D9-72F2-8FB48BB80D1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7B10D4E-AED0-7963-2DEF-3E73E55815BC}"/>
              </a:ext>
            </a:extLst>
          </p:cNvPr>
          <p:cNvSpPr txBox="1">
            <a:spLocks/>
          </p:cNvSpPr>
          <p:nvPr/>
        </p:nvSpPr>
        <p:spPr>
          <a:xfrm>
            <a:off x="0" y="685800"/>
            <a:ext cx="8915399"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Cloud Landing Zone –</a:t>
            </a:r>
          </a:p>
          <a:p>
            <a:pPr marL="12700" marR="5080"/>
            <a:r>
              <a:rPr lang="en-US" sz="1800" kern="0" spc="-80" dirty="0">
                <a:solidFill>
                  <a:schemeClr val="accent2"/>
                </a:solidFill>
              </a:rPr>
              <a:t>Components of a landing zone</a:t>
            </a:r>
          </a:p>
          <a:p>
            <a:pPr marL="12700" marR="5080"/>
            <a:r>
              <a:rPr lang="en-US" sz="1800" kern="0" spc="-80" dirty="0">
                <a:solidFill>
                  <a:schemeClr val="accent2"/>
                </a:solidFill>
              </a:rPr>
              <a:t>Identity and access management:</a:t>
            </a:r>
            <a:r>
              <a:rPr lang="en-US" sz="1800" kern="0" spc="-80" dirty="0">
                <a:solidFill>
                  <a:schemeClr val="accent6"/>
                </a:solidFill>
              </a:rPr>
              <a:t> Controls who can access what resources. </a:t>
            </a:r>
          </a:p>
          <a:p>
            <a:pPr marL="12700" marR="5080"/>
            <a:r>
              <a:rPr lang="en-US" sz="1800" kern="0" spc="-80" dirty="0">
                <a:solidFill>
                  <a:schemeClr val="accent2"/>
                </a:solidFill>
              </a:rPr>
              <a:t>Networking: </a:t>
            </a:r>
            <a:r>
              <a:rPr lang="en-US" sz="1800" kern="0" spc="-80" dirty="0">
                <a:solidFill>
                  <a:schemeClr val="accent6"/>
                </a:solidFill>
              </a:rPr>
              <a:t>Designs the network architecture, including connectivity to on-premises environments and segmentation between different workloads. </a:t>
            </a:r>
          </a:p>
          <a:p>
            <a:pPr marL="12700" marR="5080"/>
            <a:r>
              <a:rPr lang="en-US" sz="1800" kern="0" spc="-80" dirty="0">
                <a:solidFill>
                  <a:schemeClr val="accent2"/>
                </a:solidFill>
              </a:rPr>
              <a:t>Security:</a:t>
            </a:r>
            <a:r>
              <a:rPr lang="en-US" sz="1800" kern="0" spc="-80" dirty="0">
                <a:solidFill>
                  <a:schemeClr val="accent6"/>
                </a:solidFill>
              </a:rPr>
              <a:t> Implements security controls, logging, and threat detection. </a:t>
            </a:r>
          </a:p>
          <a:p>
            <a:pPr marL="12700" marR="5080"/>
            <a:r>
              <a:rPr lang="en-US" sz="1800" kern="0" spc="-80" dirty="0">
                <a:solidFill>
                  <a:schemeClr val="accent2"/>
                </a:solidFill>
              </a:rPr>
              <a:t>Resource management and governance:</a:t>
            </a:r>
            <a:r>
              <a:rPr lang="en-US" sz="1800" kern="0" spc="-80" dirty="0">
                <a:solidFill>
                  <a:schemeClr val="accent6"/>
                </a:solidFill>
              </a:rPr>
              <a:t> Establishes a framework for managing resources, applying policies, and monitoring costs. </a:t>
            </a:r>
          </a:p>
          <a:p>
            <a:pPr marL="12700" marR="5080"/>
            <a:r>
              <a:rPr lang="en-US" sz="1800" kern="0" spc="-80" dirty="0">
                <a:solidFill>
                  <a:schemeClr val="accent2"/>
                </a:solidFill>
              </a:rPr>
              <a:t>Logging and monitoring:</a:t>
            </a:r>
            <a:r>
              <a:rPr lang="en-US" sz="1800" kern="0" spc="-80" dirty="0">
                <a:solidFill>
                  <a:schemeClr val="accent6"/>
                </a:solidFill>
              </a:rPr>
              <a:t> Sets up systems for collecting and analyzing logs to ensure visibility and compliance</a:t>
            </a:r>
            <a:r>
              <a:rPr lang="en-US" sz="2400" kern="0" spc="-80" dirty="0">
                <a:solidFill>
                  <a:schemeClr val="accent2"/>
                </a:solidFill>
              </a:rPr>
              <a:t>. </a:t>
            </a:r>
          </a:p>
          <a:p>
            <a:pPr marL="12700" marR="5080"/>
            <a:endParaRPr lang="en-US" sz="2400" kern="0" spc="-80" dirty="0">
              <a:solidFill>
                <a:schemeClr val="accent2"/>
              </a:solidFill>
            </a:endParaRPr>
          </a:p>
          <a:p>
            <a:pPr marL="12700" marR="5080"/>
            <a:endParaRPr lang="en-US" sz="2400" kern="0" spc="-80" dirty="0">
              <a:solidFill>
                <a:schemeClr val="accent2"/>
              </a:solidFill>
            </a:endParaRPr>
          </a:p>
          <a:p>
            <a:pPr marL="12700" marR="5080"/>
            <a:r>
              <a:rPr lang="en-US" sz="2400" kern="0" spc="-80" dirty="0">
                <a:solidFill>
                  <a:schemeClr val="accent2"/>
                </a:solidFill>
              </a:rPr>
              <a:t>For Further Exploration</a:t>
            </a:r>
          </a:p>
          <a:p>
            <a:pPr marL="12700" marR="5080"/>
            <a:r>
              <a:rPr lang="en-IN" sz="2400" dirty="0">
                <a:hlinkClick r:id="rId7"/>
              </a:rPr>
              <a:t>Landing zone - AWS Prescriptive Guidance</a:t>
            </a:r>
            <a:endParaRPr lang="en-IN" sz="2400" dirty="0"/>
          </a:p>
          <a:p>
            <a:pPr marL="12700" marR="5080"/>
            <a:r>
              <a:rPr lang="en-US" sz="2400" dirty="0">
                <a:hlinkClick r:id="rId8"/>
              </a:rPr>
              <a:t>What is an Azure landing zone</a:t>
            </a:r>
            <a:endParaRPr lang="en-US" sz="2400" dirty="0"/>
          </a:p>
          <a:p>
            <a:pPr marL="12700" marR="5080"/>
            <a:r>
              <a:rPr lang="en-IN" sz="2400" dirty="0">
                <a:hlinkClick r:id="rId9"/>
              </a:rPr>
              <a:t>Landing zone design in Google Cloud</a:t>
            </a:r>
            <a:endParaRPr lang="en-US" sz="2400" kern="0" spc="-80" dirty="0">
              <a:solidFill>
                <a:schemeClr val="accent2"/>
              </a:solidFill>
            </a:endParaRPr>
          </a:p>
        </p:txBody>
      </p:sp>
    </p:spTree>
    <p:extLst>
      <p:ext uri="{BB962C8B-B14F-4D97-AF65-F5344CB8AC3E}">
        <p14:creationId xmlns:p14="http://schemas.microsoft.com/office/powerpoint/2010/main" val="325852652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AC00B-93A6-E58B-2FD6-0ED00DDEACF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938D5B6-75E0-A570-0F55-078B150A76D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9F4BAAD-E2B7-3353-010D-D0B53B47C8D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F04F8B2-04E6-0E42-02AC-5791E6F276FB}"/>
              </a:ext>
            </a:extLst>
          </p:cNvPr>
          <p:cNvGraphicFramePr/>
          <p:nvPr>
            <p:extLst>
              <p:ext uri="{D42A27DB-BD31-4B8C-83A1-F6EECF244321}">
                <p14:modId xmlns:p14="http://schemas.microsoft.com/office/powerpoint/2010/main" val="4041071597"/>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BD83DF4-C46B-B4F7-ED21-BFA2C254FA3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03D61C6-37C5-76F5-8685-C7FDD502CB2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A2AC437-1809-9903-C034-4F8FD72D9C07}"/>
              </a:ext>
            </a:extLst>
          </p:cNvPr>
          <p:cNvSpPr txBox="1">
            <a:spLocks/>
          </p:cNvSpPr>
          <p:nvPr/>
        </p:nvSpPr>
        <p:spPr>
          <a:xfrm>
            <a:off x="0" y="685800"/>
            <a:ext cx="8915399" cy="12003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1 — Grouped by Use Case</a:t>
            </a:r>
          </a:p>
          <a:p>
            <a:pPr marL="12700" marR="5080"/>
            <a:r>
              <a:rPr lang="en-US" sz="1800" kern="0" spc="-80" dirty="0">
                <a:solidFill>
                  <a:schemeClr val="accent2"/>
                </a:solidFill>
              </a:rPr>
              <a:t>🏢 Enterprise Private Clouds</a:t>
            </a:r>
          </a:p>
          <a:p>
            <a:pPr marL="12700" marR="5080"/>
            <a:r>
              <a:rPr lang="en-US" sz="1800" kern="0" spc="-80" dirty="0">
                <a:solidFill>
                  <a:schemeClr val="accent6"/>
                </a:solidFill>
              </a:rPr>
              <a:t>The focus is on scalability, security, compliance, and hybrid cloud integration.</a:t>
            </a:r>
          </a:p>
        </p:txBody>
      </p:sp>
      <p:pic>
        <p:nvPicPr>
          <p:cNvPr id="10" name="Picture 9" descr="A table with text on it&#10;&#10;AI-generated content may be incorrect.">
            <a:extLst>
              <a:ext uri="{FF2B5EF4-FFF2-40B4-BE49-F238E27FC236}">
                <a16:creationId xmlns:a16="http://schemas.microsoft.com/office/drawing/2014/main" id="{D7375CCE-2A07-E75C-3DF6-4C2002782A6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8063" y="1885765"/>
            <a:ext cx="8867874" cy="4023410"/>
          </a:xfrm>
          <a:prstGeom prst="rect">
            <a:avLst/>
          </a:prstGeom>
        </p:spPr>
      </p:pic>
    </p:spTree>
    <p:extLst>
      <p:ext uri="{BB962C8B-B14F-4D97-AF65-F5344CB8AC3E}">
        <p14:creationId xmlns:p14="http://schemas.microsoft.com/office/powerpoint/2010/main" val="34301673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B696C-2FCC-78C1-1FD2-F765A58C13E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0571F22-9C6B-0215-4CC0-49ACE49DCE4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537F7ED-AE34-C754-4795-50056B73979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C86993E-89CB-9353-F17C-6D0771B7A15E}"/>
              </a:ext>
            </a:extLst>
          </p:cNvPr>
          <p:cNvGraphicFramePr/>
          <p:nvPr>
            <p:extLst>
              <p:ext uri="{D42A27DB-BD31-4B8C-83A1-F6EECF244321}">
                <p14:modId xmlns:p14="http://schemas.microsoft.com/office/powerpoint/2010/main" val="2023317175"/>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435F441-95EE-EDA5-6F45-CE05F771E28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AA86980-C3AD-3799-7394-8E8E2E3221B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DDBECD1-9DD4-DB39-70A5-2FDBB8450F8E}"/>
              </a:ext>
            </a:extLst>
          </p:cNvPr>
          <p:cNvSpPr txBox="1">
            <a:spLocks/>
          </p:cNvSpPr>
          <p:nvPr/>
        </p:nvSpPr>
        <p:spPr>
          <a:xfrm>
            <a:off x="0" y="685800"/>
            <a:ext cx="8915399" cy="12003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1 — Grouped by Use Case</a:t>
            </a:r>
          </a:p>
          <a:p>
            <a:pPr marL="12700" marR="5080"/>
            <a:r>
              <a:rPr lang="en-US" sz="1800" kern="0" spc="-80" dirty="0">
                <a:solidFill>
                  <a:schemeClr val="accent2"/>
                </a:solidFill>
              </a:rPr>
              <a:t>🏭 Medium / SMB Private Clouds</a:t>
            </a:r>
          </a:p>
          <a:p>
            <a:pPr marL="12700" marR="5080"/>
            <a:r>
              <a:rPr lang="en-US" sz="1800" kern="0" spc="-80" dirty="0">
                <a:solidFill>
                  <a:schemeClr val="accent6"/>
                </a:solidFill>
              </a:rPr>
              <a:t>Simpler, open-source, and cost-effective alternatives to enterprise suites.</a:t>
            </a:r>
          </a:p>
        </p:txBody>
      </p:sp>
      <p:pic>
        <p:nvPicPr>
          <p:cNvPr id="11" name="Picture 10" descr="A table with text on it&#10;&#10;AI-generated content may be incorrect.">
            <a:extLst>
              <a:ext uri="{FF2B5EF4-FFF2-40B4-BE49-F238E27FC236}">
                <a16:creationId xmlns:a16="http://schemas.microsoft.com/office/drawing/2014/main" id="{D700AE6E-0BFF-4652-3E77-CB8892EDFD7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612735"/>
            <a:ext cx="9053461" cy="4296439"/>
          </a:xfrm>
          <a:prstGeom prst="rect">
            <a:avLst/>
          </a:prstGeom>
        </p:spPr>
      </p:pic>
    </p:spTree>
    <p:extLst>
      <p:ext uri="{BB962C8B-B14F-4D97-AF65-F5344CB8AC3E}">
        <p14:creationId xmlns:p14="http://schemas.microsoft.com/office/powerpoint/2010/main" val="12331151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69CCE-B745-FF5C-8D34-0C290CEF330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B29803F-D93F-AE1A-D82A-6D3EDBF0AE3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1EE2B4B-7378-F525-06F3-BD285B2AB91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869EC1E-9B91-4F6A-879E-9E6ABCA49ABE}"/>
              </a:ext>
            </a:extLst>
          </p:cNvPr>
          <p:cNvGraphicFramePr/>
          <p:nvPr>
            <p:extLst>
              <p:ext uri="{D42A27DB-BD31-4B8C-83A1-F6EECF244321}">
                <p14:modId xmlns:p14="http://schemas.microsoft.com/office/powerpoint/2010/main" val="1504605021"/>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61449A8-B274-66CE-9DA9-29A2BFDDAC5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78F4982-CD01-F096-7E50-FEBAD9C7113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E632211-2393-E4E4-AB97-92A7E2CEFFE4}"/>
              </a:ext>
            </a:extLst>
          </p:cNvPr>
          <p:cNvSpPr txBox="1">
            <a:spLocks/>
          </p:cNvSpPr>
          <p:nvPr/>
        </p:nvSpPr>
        <p:spPr>
          <a:xfrm>
            <a:off x="0" y="685800"/>
            <a:ext cx="8915399" cy="12003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1 — Grouped by Use Case</a:t>
            </a:r>
          </a:p>
          <a:p>
            <a:pPr marL="12700" marR="5080"/>
            <a:r>
              <a:rPr lang="en-US" sz="1800" kern="0" spc="-80" dirty="0">
                <a:solidFill>
                  <a:schemeClr val="accent2"/>
                </a:solidFill>
              </a:rPr>
              <a:t>☁️ Kubernetes / Developer-Focused Private Clouds</a:t>
            </a:r>
          </a:p>
          <a:p>
            <a:pPr marL="12700" marR="5080"/>
            <a:r>
              <a:rPr lang="en-US" sz="1800" kern="0" spc="-80" dirty="0">
                <a:solidFill>
                  <a:schemeClr val="accent6"/>
                </a:solidFill>
              </a:rPr>
              <a:t>Ideal for cloud-native applications, DevOps, and microservices.</a:t>
            </a:r>
          </a:p>
        </p:txBody>
      </p:sp>
      <p:pic>
        <p:nvPicPr>
          <p:cNvPr id="10" name="Picture 9" descr="A table with text on it&#10;&#10;AI-generated content may be incorrect.">
            <a:extLst>
              <a:ext uri="{FF2B5EF4-FFF2-40B4-BE49-F238E27FC236}">
                <a16:creationId xmlns:a16="http://schemas.microsoft.com/office/drawing/2014/main" id="{9B3F337D-5CA4-F2C6-8050-D78E9E511B1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886129"/>
            <a:ext cx="9067799" cy="4023046"/>
          </a:xfrm>
          <a:prstGeom prst="rect">
            <a:avLst/>
          </a:prstGeom>
        </p:spPr>
      </p:pic>
    </p:spTree>
    <p:extLst>
      <p:ext uri="{BB962C8B-B14F-4D97-AF65-F5344CB8AC3E}">
        <p14:creationId xmlns:p14="http://schemas.microsoft.com/office/powerpoint/2010/main" val="420944426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5DFF6-72BA-C927-FB41-8C9CB88F8B0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5F61744-1AA4-416B-13FE-DD9F8AB5E65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F462E82-C1B6-962E-CB66-37E8AE4D175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62A5E35-3BC3-AD27-83BD-BBFEDED10D44}"/>
              </a:ext>
            </a:extLst>
          </p:cNvPr>
          <p:cNvGraphicFramePr/>
          <p:nvPr>
            <p:extLst>
              <p:ext uri="{D42A27DB-BD31-4B8C-83A1-F6EECF244321}">
                <p14:modId xmlns:p14="http://schemas.microsoft.com/office/powerpoint/2010/main" val="1480603114"/>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940DA18-8143-D1ED-5D3C-C4310AE6E32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8FCF754-2568-7A14-FC82-0486060DF5B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391E9DF0-6316-0F76-FEC1-C93657D3807D}"/>
              </a:ext>
            </a:extLst>
          </p:cNvPr>
          <p:cNvSpPr txBox="1">
            <a:spLocks/>
          </p:cNvSpPr>
          <p:nvPr/>
        </p:nvSpPr>
        <p:spPr>
          <a:xfrm>
            <a:off x="0" y="685800"/>
            <a:ext cx="8915399"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1 — Grouped by Use Case</a:t>
            </a:r>
          </a:p>
          <a:p>
            <a:pPr marL="12700" marR="5080"/>
            <a:r>
              <a:rPr lang="en-US" sz="1800" kern="0" spc="-80" dirty="0">
                <a:solidFill>
                  <a:schemeClr val="accent2"/>
                </a:solidFill>
              </a:rPr>
              <a:t>🌐 Hybrid &amp; Multi-Cloud Private Environments</a:t>
            </a:r>
          </a:p>
          <a:p>
            <a:pPr marL="12700" marR="5080"/>
            <a:r>
              <a:rPr lang="en-US" sz="1800" kern="0" spc="-80" dirty="0">
                <a:solidFill>
                  <a:schemeClr val="accent6"/>
                </a:solidFill>
              </a:rPr>
              <a:t>Used when organizations want unified control across multiple environments (on-prem + public cloud).</a:t>
            </a:r>
          </a:p>
        </p:txBody>
      </p:sp>
      <p:pic>
        <p:nvPicPr>
          <p:cNvPr id="10" name="Picture 9" descr="A table with text on it&#10;&#10;AI-generated content may be incorrect.">
            <a:extLst>
              <a:ext uri="{FF2B5EF4-FFF2-40B4-BE49-F238E27FC236}">
                <a16:creationId xmlns:a16="http://schemas.microsoft.com/office/drawing/2014/main" id="{F840DDC1-5289-1E07-4828-2E3F82F5A87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2201864"/>
            <a:ext cx="9143999" cy="3707310"/>
          </a:xfrm>
          <a:prstGeom prst="rect">
            <a:avLst/>
          </a:prstGeom>
        </p:spPr>
      </p:pic>
    </p:spTree>
    <p:extLst>
      <p:ext uri="{BB962C8B-B14F-4D97-AF65-F5344CB8AC3E}">
        <p14:creationId xmlns:p14="http://schemas.microsoft.com/office/powerpoint/2010/main" val="185553749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6F4D6-730A-2DF1-8901-3628C6A8FC2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CBD4D31-B9D0-296D-80F2-5BF10BAC2A0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BB81E25-F674-CABA-EDBC-EA691CF9567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05276B9-967D-794B-E924-89544CB8910D}"/>
              </a:ext>
            </a:extLst>
          </p:cNvPr>
          <p:cNvGraphicFramePr/>
          <p:nvPr>
            <p:extLst>
              <p:ext uri="{D42A27DB-BD31-4B8C-83A1-F6EECF244321}">
                <p14:modId xmlns:p14="http://schemas.microsoft.com/office/powerpoint/2010/main" val="3579917275"/>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9A9665B-EE70-1130-6608-A55F6026CC4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2B30F919-3838-B667-F7BA-DB113C7A166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22CB6BD-40B9-4556-389F-30DE369514E2}"/>
              </a:ext>
            </a:extLst>
          </p:cNvPr>
          <p:cNvSpPr txBox="1">
            <a:spLocks/>
          </p:cNvSpPr>
          <p:nvPr/>
        </p:nvSpPr>
        <p:spPr>
          <a:xfrm>
            <a:off x="0" y="685800"/>
            <a:ext cx="8915399" cy="12003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1 — Grouped by Use Case</a:t>
            </a:r>
          </a:p>
          <a:p>
            <a:pPr marL="12700" marR="5080"/>
            <a:r>
              <a:rPr lang="en-US" sz="1800" kern="0" spc="-80" dirty="0">
                <a:solidFill>
                  <a:schemeClr val="accent2"/>
                </a:solidFill>
              </a:rPr>
              <a:t>⚙️ Specialized / Edge Private Clouds</a:t>
            </a:r>
          </a:p>
          <a:p>
            <a:pPr marL="12700" marR="5080"/>
            <a:r>
              <a:rPr lang="en-US" sz="1800" kern="0" spc="-80" dirty="0">
                <a:solidFill>
                  <a:schemeClr val="accent6"/>
                </a:solidFill>
              </a:rPr>
              <a:t>Lightweight private clouds for remote sites, IoT, or edge compute.</a:t>
            </a:r>
          </a:p>
        </p:txBody>
      </p:sp>
      <p:pic>
        <p:nvPicPr>
          <p:cNvPr id="12" name="Picture 11" descr="A screenshot of a computer&#10;&#10;AI-generated content may be incorrect.">
            <a:extLst>
              <a:ext uri="{FF2B5EF4-FFF2-40B4-BE49-F238E27FC236}">
                <a16:creationId xmlns:a16="http://schemas.microsoft.com/office/drawing/2014/main" id="{9EA14EA4-9D45-BD8D-E8CD-5C3A5C054CF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924865"/>
            <a:ext cx="9144000" cy="3984310"/>
          </a:xfrm>
          <a:prstGeom prst="rect">
            <a:avLst/>
          </a:prstGeom>
        </p:spPr>
      </p:pic>
    </p:spTree>
    <p:extLst>
      <p:ext uri="{BB962C8B-B14F-4D97-AF65-F5344CB8AC3E}">
        <p14:creationId xmlns:p14="http://schemas.microsoft.com/office/powerpoint/2010/main" val="373898337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8B30B-0F09-F13E-C522-98EC671590D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E82DBC2-66B4-CAF3-55A9-F81E4578814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71486BE-CB43-69B9-A541-12C00EAD27A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5B73C32-99C6-E1F3-03D1-38052E95F2B2}"/>
              </a:ext>
            </a:extLst>
          </p:cNvPr>
          <p:cNvGraphicFramePr/>
          <p:nvPr>
            <p:extLst>
              <p:ext uri="{D42A27DB-BD31-4B8C-83A1-F6EECF244321}">
                <p14:modId xmlns:p14="http://schemas.microsoft.com/office/powerpoint/2010/main" val="3519619076"/>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EFF637F-DE99-AA50-5861-DE8C55E4A5F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C0692EA-1901-0AF0-A09F-A36AED85F66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079BDCA-464D-DFC8-76E1-6F321E004740}"/>
              </a:ext>
            </a:extLst>
          </p:cNvPr>
          <p:cNvSpPr txBox="1">
            <a:spLocks/>
          </p:cNvSpPr>
          <p:nvPr/>
        </p:nvSpPr>
        <p:spPr>
          <a:xfrm>
            <a:off x="0" y="685800"/>
            <a:ext cx="8915399"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2 — Grouped by Architecture Layer</a:t>
            </a:r>
          </a:p>
          <a:p>
            <a:pPr marL="12700" marR="5080"/>
            <a:r>
              <a:rPr lang="en-US" sz="1800" kern="0" spc="-80" dirty="0">
                <a:solidFill>
                  <a:schemeClr val="accent2"/>
                </a:solidFill>
              </a:rPr>
              <a:t>🧱 Layer 1 – Virtualization / Compute Layer</a:t>
            </a:r>
          </a:p>
        </p:txBody>
      </p:sp>
      <p:pic>
        <p:nvPicPr>
          <p:cNvPr id="10" name="Picture 9" descr="A table with text on it&#10;&#10;AI-generated content may be incorrect.">
            <a:extLst>
              <a:ext uri="{FF2B5EF4-FFF2-40B4-BE49-F238E27FC236}">
                <a16:creationId xmlns:a16="http://schemas.microsoft.com/office/drawing/2014/main" id="{543F9B89-FB61-CFFF-1119-19637A6EB28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609131"/>
            <a:ext cx="9144000" cy="4258270"/>
          </a:xfrm>
          <a:prstGeom prst="rect">
            <a:avLst/>
          </a:prstGeom>
        </p:spPr>
      </p:pic>
    </p:spTree>
    <p:extLst>
      <p:ext uri="{BB962C8B-B14F-4D97-AF65-F5344CB8AC3E}">
        <p14:creationId xmlns:p14="http://schemas.microsoft.com/office/powerpoint/2010/main" val="398733693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1C12A-453C-C657-BA0F-618BD2B7100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B67DE81-FD2F-6F3E-BE31-0E12E4316C0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F8881AE-769D-F6F9-E88D-C7EBD8355EB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B8B5FA9-803E-D42F-C41B-6DBE618AEC05}"/>
              </a:ext>
            </a:extLst>
          </p:cNvPr>
          <p:cNvGraphicFramePr/>
          <p:nvPr>
            <p:extLst>
              <p:ext uri="{D42A27DB-BD31-4B8C-83A1-F6EECF244321}">
                <p14:modId xmlns:p14="http://schemas.microsoft.com/office/powerpoint/2010/main" val="2795741412"/>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2CD7718-ED9C-2FD7-7F84-3281288BF54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A1A4ABA-F4D3-F74E-F2B2-366752CF75E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04B5BAA-8AB2-EA6C-E491-921F702FCD7A}"/>
              </a:ext>
            </a:extLst>
          </p:cNvPr>
          <p:cNvSpPr txBox="1">
            <a:spLocks/>
          </p:cNvSpPr>
          <p:nvPr/>
        </p:nvSpPr>
        <p:spPr>
          <a:xfrm>
            <a:off x="0" y="685800"/>
            <a:ext cx="8915399"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2 — Grouped by Architecture Layer</a:t>
            </a:r>
          </a:p>
          <a:p>
            <a:pPr marL="12700" marR="5080"/>
            <a:r>
              <a:rPr lang="en-US" sz="1800" kern="0" spc="-80" dirty="0">
                <a:solidFill>
                  <a:schemeClr val="accent2"/>
                </a:solidFill>
              </a:rPr>
              <a:t>🌐 Layer 2 – Networking (SDN) Layer</a:t>
            </a:r>
          </a:p>
        </p:txBody>
      </p:sp>
      <p:pic>
        <p:nvPicPr>
          <p:cNvPr id="10" name="Picture 9" descr="A table with text on it&#10;&#10;AI-generated content may be incorrect.">
            <a:extLst>
              <a:ext uri="{FF2B5EF4-FFF2-40B4-BE49-F238E27FC236}">
                <a16:creationId xmlns:a16="http://schemas.microsoft.com/office/drawing/2014/main" id="{0312B01E-7754-B259-FF78-D217DB6C7D9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654107"/>
            <a:ext cx="9053461" cy="4255068"/>
          </a:xfrm>
          <a:prstGeom prst="rect">
            <a:avLst/>
          </a:prstGeom>
        </p:spPr>
      </p:pic>
    </p:spTree>
    <p:extLst>
      <p:ext uri="{BB962C8B-B14F-4D97-AF65-F5344CB8AC3E}">
        <p14:creationId xmlns:p14="http://schemas.microsoft.com/office/powerpoint/2010/main" val="150838168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144A1-79B0-4F82-5610-15B5E085AA1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36C55D7-BA30-66F4-8B50-059279B928B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3A717D7-69F9-8E10-3973-97AD869D342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259B8C7-F822-25A9-19C1-1033B2F5EFEF}"/>
              </a:ext>
            </a:extLst>
          </p:cNvPr>
          <p:cNvGraphicFramePr/>
          <p:nvPr>
            <p:extLst>
              <p:ext uri="{D42A27DB-BD31-4B8C-83A1-F6EECF244321}">
                <p14:modId xmlns:p14="http://schemas.microsoft.com/office/powerpoint/2010/main" val="3525157452"/>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7A8DEAB-A9F0-E5DD-EF20-5D040521BAE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BB5A9C4-60A7-A82C-6534-5B622B04CE2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8101DC4-6E67-5DB4-C340-80B96818619F}"/>
              </a:ext>
            </a:extLst>
          </p:cNvPr>
          <p:cNvSpPr txBox="1">
            <a:spLocks/>
          </p:cNvSpPr>
          <p:nvPr/>
        </p:nvSpPr>
        <p:spPr>
          <a:xfrm>
            <a:off x="0" y="685800"/>
            <a:ext cx="8915399"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2 — Grouped by Architecture Layer</a:t>
            </a:r>
          </a:p>
          <a:p>
            <a:pPr marL="12700" marR="5080"/>
            <a:r>
              <a:rPr lang="en-US" sz="1800" kern="0" spc="-80" dirty="0">
                <a:solidFill>
                  <a:schemeClr val="accent2"/>
                </a:solidFill>
              </a:rPr>
              <a:t>💾 Layer 3 – Storage Layer (SDS)</a:t>
            </a:r>
          </a:p>
        </p:txBody>
      </p:sp>
      <p:pic>
        <p:nvPicPr>
          <p:cNvPr id="10" name="Picture 9" descr="A screenshot of a computer function&#10;&#10;AI-generated content may be incorrect.">
            <a:extLst>
              <a:ext uri="{FF2B5EF4-FFF2-40B4-BE49-F238E27FC236}">
                <a16:creationId xmlns:a16="http://schemas.microsoft.com/office/drawing/2014/main" id="{7D76118B-29EF-2B98-35DA-727C2CCEC6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8064" y="1647866"/>
            <a:ext cx="8915398" cy="4261309"/>
          </a:xfrm>
          <a:prstGeom prst="rect">
            <a:avLst/>
          </a:prstGeom>
        </p:spPr>
      </p:pic>
    </p:spTree>
    <p:extLst>
      <p:ext uri="{BB962C8B-B14F-4D97-AF65-F5344CB8AC3E}">
        <p14:creationId xmlns:p14="http://schemas.microsoft.com/office/powerpoint/2010/main" val="274072652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EEC76-A320-25ED-AE53-8A99C564431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12DC0FF-9F9E-DABB-83D1-9C7357045C6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02183E5-AFDB-9DC6-7DDC-1257769C253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BA3B9D6-4055-333F-9B0C-38ADD2EBCB4E}"/>
              </a:ext>
            </a:extLst>
          </p:cNvPr>
          <p:cNvGraphicFramePr/>
          <p:nvPr>
            <p:extLst>
              <p:ext uri="{D42A27DB-BD31-4B8C-83A1-F6EECF244321}">
                <p14:modId xmlns:p14="http://schemas.microsoft.com/office/powerpoint/2010/main" val="1771003522"/>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F1C15EE-C643-5AE6-AF2D-94C6631F50C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0B918A0-E2B6-689F-64BD-67D002D9EDF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A92E9FF7-832C-0DDC-C077-0DDAEF40F050}"/>
              </a:ext>
            </a:extLst>
          </p:cNvPr>
          <p:cNvSpPr txBox="1">
            <a:spLocks/>
          </p:cNvSpPr>
          <p:nvPr/>
        </p:nvSpPr>
        <p:spPr>
          <a:xfrm>
            <a:off x="0" y="685800"/>
            <a:ext cx="8915399"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2 — Grouped by Architecture Layer</a:t>
            </a:r>
          </a:p>
          <a:p>
            <a:pPr marL="12700" marR="5080"/>
            <a:r>
              <a:rPr lang="en-US" sz="1800" kern="0" spc="-80" dirty="0">
                <a:solidFill>
                  <a:schemeClr val="accent2"/>
                </a:solidFill>
              </a:rPr>
              <a:t>🧩 Layer 4 – Orchestration / Automation Layer</a:t>
            </a:r>
          </a:p>
        </p:txBody>
      </p:sp>
      <p:pic>
        <p:nvPicPr>
          <p:cNvPr id="12" name="Picture 11" descr="A blue and white table with black text&#10;&#10;AI-generated content may be incorrect.">
            <a:extLst>
              <a:ext uri="{FF2B5EF4-FFF2-40B4-BE49-F238E27FC236}">
                <a16:creationId xmlns:a16="http://schemas.microsoft.com/office/drawing/2014/main" id="{3229B7C8-B13C-54A3-284F-539AC96FF86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8063" y="1647866"/>
            <a:ext cx="8777336" cy="4261309"/>
          </a:xfrm>
          <a:prstGeom prst="rect">
            <a:avLst/>
          </a:prstGeom>
        </p:spPr>
      </p:pic>
    </p:spTree>
    <p:extLst>
      <p:ext uri="{BB962C8B-B14F-4D97-AF65-F5344CB8AC3E}">
        <p14:creationId xmlns:p14="http://schemas.microsoft.com/office/powerpoint/2010/main" val="9599903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7553B-B47E-EA78-D190-B940A1C02A7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CC48D05-9D6F-1773-B750-D62B5FF93AC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5BE93F4-18FC-E0D5-A863-8729EF04EA5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0F4C12E-95DE-6CEC-7119-529CB1FBB905}"/>
              </a:ext>
            </a:extLst>
          </p:cNvPr>
          <p:cNvGraphicFramePr/>
          <p:nvPr>
            <p:extLst>
              <p:ext uri="{D42A27DB-BD31-4B8C-83A1-F6EECF244321}">
                <p14:modId xmlns:p14="http://schemas.microsoft.com/office/powerpoint/2010/main" val="3430547293"/>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5B78381-AE01-AC56-EFDF-E0EFE9E5896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1B2FDD8-8D7D-F0C3-C852-C39354C99B9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2F986CC-FC1E-EA5A-5574-3A0D770BD141}"/>
              </a:ext>
            </a:extLst>
          </p:cNvPr>
          <p:cNvSpPr txBox="1">
            <a:spLocks/>
          </p:cNvSpPr>
          <p:nvPr/>
        </p:nvSpPr>
        <p:spPr>
          <a:xfrm>
            <a:off x="0" y="685800"/>
            <a:ext cx="8915399"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2 — Grouped by Architecture Layer</a:t>
            </a:r>
          </a:p>
          <a:p>
            <a:pPr marL="12700" marR="5080"/>
            <a:r>
              <a:rPr lang="en-US" sz="1800" kern="0" spc="-80" dirty="0">
                <a:solidFill>
                  <a:schemeClr val="accent2"/>
                </a:solidFill>
              </a:rPr>
              <a:t>🧠 Layer 5 – Management, Monitoring &amp; Governance</a:t>
            </a:r>
          </a:p>
        </p:txBody>
      </p:sp>
      <p:pic>
        <p:nvPicPr>
          <p:cNvPr id="10" name="Picture 9" descr="A blue and white table with text&#10;&#10;AI-generated content may be incorrect.">
            <a:extLst>
              <a:ext uri="{FF2B5EF4-FFF2-40B4-BE49-F238E27FC236}">
                <a16:creationId xmlns:a16="http://schemas.microsoft.com/office/drawing/2014/main" id="{309F0ED6-C3FE-5326-1EF4-6283184C0CF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1" y="1609130"/>
            <a:ext cx="8929736" cy="4300045"/>
          </a:xfrm>
          <a:prstGeom prst="rect">
            <a:avLst/>
          </a:prstGeom>
        </p:spPr>
      </p:pic>
    </p:spTree>
    <p:extLst>
      <p:ext uri="{BB962C8B-B14F-4D97-AF65-F5344CB8AC3E}">
        <p14:creationId xmlns:p14="http://schemas.microsoft.com/office/powerpoint/2010/main" val="327978651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B2822-AB37-9688-62A3-3F901A7DB66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6B23181-CC19-E1C6-5B70-FFD56F63B37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BDDD90C-2184-F1F1-FF33-96042334406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1BF8F17-1984-2DEE-90BC-AFD04583C366}"/>
              </a:ext>
            </a:extLst>
          </p:cNvPr>
          <p:cNvGraphicFramePr/>
          <p:nvPr>
            <p:extLst>
              <p:ext uri="{D42A27DB-BD31-4B8C-83A1-F6EECF244321}">
                <p14:modId xmlns:p14="http://schemas.microsoft.com/office/powerpoint/2010/main" val="2707060949"/>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C349193-3E16-9D04-1A94-6F8BB2E8D07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D54BEE4-A4DB-7346-5AF2-4F090739731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3453EB0-9F87-F49B-DCA6-B436E7E79D05}"/>
              </a:ext>
            </a:extLst>
          </p:cNvPr>
          <p:cNvSpPr txBox="1">
            <a:spLocks/>
          </p:cNvSpPr>
          <p:nvPr/>
        </p:nvSpPr>
        <p:spPr>
          <a:xfrm>
            <a:off x="0" y="685800"/>
            <a:ext cx="8915399"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 PART 2 — Grouped by Architecture Layer</a:t>
            </a:r>
          </a:p>
          <a:p>
            <a:pPr marL="12700" marR="5080"/>
            <a:r>
              <a:rPr lang="en-US" sz="1800" kern="0" spc="-80" dirty="0">
                <a:solidFill>
                  <a:schemeClr val="accent2"/>
                </a:solidFill>
              </a:rPr>
              <a:t>🔐 Layer 6 – Security &amp; Access</a:t>
            </a:r>
          </a:p>
        </p:txBody>
      </p:sp>
      <p:pic>
        <p:nvPicPr>
          <p:cNvPr id="10" name="Picture 9" descr="A blue and white table with text&#10;&#10;AI-generated content may be incorrect.">
            <a:extLst>
              <a:ext uri="{FF2B5EF4-FFF2-40B4-BE49-F238E27FC236}">
                <a16:creationId xmlns:a16="http://schemas.microsoft.com/office/drawing/2014/main" id="{1CE57BB0-A6F0-8840-482D-95F12167CB1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8063" y="1647866"/>
            <a:ext cx="8915399" cy="4261309"/>
          </a:xfrm>
          <a:prstGeom prst="rect">
            <a:avLst/>
          </a:prstGeom>
        </p:spPr>
      </p:pic>
    </p:spTree>
    <p:extLst>
      <p:ext uri="{BB962C8B-B14F-4D97-AF65-F5344CB8AC3E}">
        <p14:creationId xmlns:p14="http://schemas.microsoft.com/office/powerpoint/2010/main" val="359651092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80090-756A-AD6B-4520-886A8FD1338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0A05D9-D3C8-4F61-943E-344EDA6BFB9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E03F9F4-095E-9FCF-C2E6-A67161BCBB0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583D836-24D2-03C8-891D-C5C9F3F5AABA}"/>
              </a:ext>
            </a:extLst>
          </p:cNvPr>
          <p:cNvGraphicFramePr/>
          <p:nvPr>
            <p:extLst>
              <p:ext uri="{D42A27DB-BD31-4B8C-83A1-F6EECF244321}">
                <p14:modId xmlns:p14="http://schemas.microsoft.com/office/powerpoint/2010/main" val="442720379"/>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0C67261-9A62-87D1-AD0F-746F24FFA8D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DA47C44-8E5C-2908-66A0-E616EA53EEA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311C1BA0-E486-D72A-5DC0-57C411B207F8}"/>
              </a:ext>
            </a:extLst>
          </p:cNvPr>
          <p:cNvSpPr txBox="1">
            <a:spLocks/>
          </p:cNvSpPr>
          <p:nvPr/>
        </p:nvSpPr>
        <p:spPr>
          <a:xfrm>
            <a:off x="0" y="685800"/>
            <a:ext cx="8915399" cy="64633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Private Cloud –</a:t>
            </a:r>
          </a:p>
          <a:p>
            <a:pPr marL="12700" marR="5080"/>
            <a:r>
              <a:rPr lang="en-US" sz="1800" kern="0" spc="-80" dirty="0">
                <a:solidFill>
                  <a:schemeClr val="accent2"/>
                </a:solidFill>
              </a:rPr>
              <a:t>Summary Mapping</a:t>
            </a:r>
          </a:p>
        </p:txBody>
      </p:sp>
      <p:graphicFrame>
        <p:nvGraphicFramePr>
          <p:cNvPr id="9" name="Table 8">
            <a:extLst>
              <a:ext uri="{FF2B5EF4-FFF2-40B4-BE49-F238E27FC236}">
                <a16:creationId xmlns:a16="http://schemas.microsoft.com/office/drawing/2014/main" id="{F24C4062-D69B-BC21-548D-BE8CD779BE08}"/>
              </a:ext>
            </a:extLst>
          </p:cNvPr>
          <p:cNvGraphicFramePr>
            <a:graphicFrameLocks noGrp="1"/>
          </p:cNvGraphicFramePr>
          <p:nvPr>
            <p:extLst>
              <p:ext uri="{D42A27DB-BD31-4B8C-83A1-F6EECF244321}">
                <p14:modId xmlns:p14="http://schemas.microsoft.com/office/powerpoint/2010/main" val="3326179349"/>
              </p:ext>
            </p:extLst>
          </p:nvPr>
        </p:nvGraphicFramePr>
        <p:xfrm>
          <a:off x="0" y="1332131"/>
          <a:ext cx="9067800" cy="4577043"/>
        </p:xfrm>
        <a:graphic>
          <a:graphicData uri="http://schemas.openxmlformats.org/drawingml/2006/table">
            <a:tbl>
              <a:tblPr firstRow="1" bandRow="1">
                <a:tableStyleId>{5C22544A-7EE6-4342-B048-85BDC9FD1C3A}</a:tableStyleId>
              </a:tblPr>
              <a:tblGrid>
                <a:gridCol w="4533900">
                  <a:extLst>
                    <a:ext uri="{9D8B030D-6E8A-4147-A177-3AD203B41FA5}">
                      <a16:colId xmlns:a16="http://schemas.microsoft.com/office/drawing/2014/main" val="1407168732"/>
                    </a:ext>
                  </a:extLst>
                </a:gridCol>
                <a:gridCol w="4533900">
                  <a:extLst>
                    <a:ext uri="{9D8B030D-6E8A-4147-A177-3AD203B41FA5}">
                      <a16:colId xmlns:a16="http://schemas.microsoft.com/office/drawing/2014/main" val="3886616718"/>
                    </a:ext>
                  </a:extLst>
                </a:gridCol>
              </a:tblGrid>
              <a:tr h="860757">
                <a:tc>
                  <a:txBody>
                    <a:bodyPr/>
                    <a:lstStyle/>
                    <a:p>
                      <a:r>
                        <a:rPr lang="en-IN" dirty="0"/>
                        <a:t>Use Case</a:t>
                      </a:r>
                    </a:p>
                  </a:txBody>
                  <a:tcPr/>
                </a:tc>
                <a:tc>
                  <a:txBody>
                    <a:bodyPr/>
                    <a:lstStyle/>
                    <a:p>
                      <a:r>
                        <a:rPr lang="en-IN" dirty="0"/>
                        <a:t>Recommended Stack</a:t>
                      </a:r>
                    </a:p>
                    <a:p>
                      <a:endParaRPr lang="en-IN" dirty="0"/>
                    </a:p>
                  </a:txBody>
                  <a:tcPr/>
                </a:tc>
                <a:extLst>
                  <a:ext uri="{0D108BD9-81ED-4DB2-BD59-A6C34878D82A}">
                    <a16:rowId xmlns:a16="http://schemas.microsoft.com/office/drawing/2014/main" val="3731846339"/>
                  </a:ext>
                </a:extLst>
              </a:tr>
              <a:tr h="860757">
                <a:tc>
                  <a:txBody>
                    <a:bodyPr/>
                    <a:lstStyle/>
                    <a:p>
                      <a:r>
                        <a:rPr lang="en-IN" dirty="0"/>
                        <a:t>Enterprise hybrid</a:t>
                      </a:r>
                    </a:p>
                  </a:txBody>
                  <a:tcPr/>
                </a:tc>
                <a:tc>
                  <a:txBody>
                    <a:bodyPr/>
                    <a:lstStyle/>
                    <a:p>
                      <a:r>
                        <a:rPr lang="en-US" dirty="0"/>
                        <a:t>VMware Cloud Foundation + NSX + </a:t>
                      </a:r>
                      <a:r>
                        <a:rPr lang="en-US" dirty="0" err="1"/>
                        <a:t>vRealize</a:t>
                      </a:r>
                      <a:r>
                        <a:rPr lang="en-US" dirty="0"/>
                        <a:t> + Tanzu</a:t>
                      </a:r>
                    </a:p>
                  </a:txBody>
                  <a:tcPr/>
                </a:tc>
                <a:extLst>
                  <a:ext uri="{0D108BD9-81ED-4DB2-BD59-A6C34878D82A}">
                    <a16:rowId xmlns:a16="http://schemas.microsoft.com/office/drawing/2014/main" val="1436082585"/>
                  </a:ext>
                </a:extLst>
              </a:tr>
              <a:tr h="860757">
                <a:tc>
                  <a:txBody>
                    <a:bodyPr/>
                    <a:lstStyle/>
                    <a:p>
                      <a:r>
                        <a:rPr lang="en-IN" dirty="0"/>
                        <a:t>Open-source enterprise</a:t>
                      </a:r>
                    </a:p>
                  </a:txBody>
                  <a:tcPr/>
                </a:tc>
                <a:tc>
                  <a:txBody>
                    <a:bodyPr/>
                    <a:lstStyle/>
                    <a:p>
                      <a:r>
                        <a:rPr lang="en-US" dirty="0"/>
                        <a:t>Red Hat OpenStack + Ceph + Ansible + Prometheus</a:t>
                      </a:r>
                    </a:p>
                  </a:txBody>
                  <a:tcPr/>
                </a:tc>
                <a:extLst>
                  <a:ext uri="{0D108BD9-81ED-4DB2-BD59-A6C34878D82A}">
                    <a16:rowId xmlns:a16="http://schemas.microsoft.com/office/drawing/2014/main" val="2159023703"/>
                  </a:ext>
                </a:extLst>
              </a:tr>
              <a:tr h="498693">
                <a:tc>
                  <a:txBody>
                    <a:bodyPr/>
                    <a:lstStyle/>
                    <a:p>
                      <a:r>
                        <a:rPr lang="en-IN" dirty="0"/>
                        <a:t>SMB / cost-efficient</a:t>
                      </a:r>
                    </a:p>
                  </a:txBody>
                  <a:tcPr/>
                </a:tc>
                <a:tc>
                  <a:txBody>
                    <a:bodyPr/>
                    <a:lstStyle/>
                    <a:p>
                      <a:r>
                        <a:rPr lang="en-IN" dirty="0" err="1"/>
                        <a:t>Proxmox</a:t>
                      </a:r>
                      <a:r>
                        <a:rPr lang="en-IN" dirty="0"/>
                        <a:t> + Ceph + Terraform + Zabbix</a:t>
                      </a:r>
                    </a:p>
                  </a:txBody>
                  <a:tcPr/>
                </a:tc>
                <a:extLst>
                  <a:ext uri="{0D108BD9-81ED-4DB2-BD59-A6C34878D82A}">
                    <a16:rowId xmlns:a16="http://schemas.microsoft.com/office/drawing/2014/main" val="313340909"/>
                  </a:ext>
                </a:extLst>
              </a:tr>
              <a:tr h="498693">
                <a:tc>
                  <a:txBody>
                    <a:bodyPr/>
                    <a:lstStyle/>
                    <a:p>
                      <a:r>
                        <a:rPr lang="en-IN" dirty="0"/>
                        <a:t>Cloud-native / DevOps</a:t>
                      </a:r>
                    </a:p>
                  </a:txBody>
                  <a:tcPr/>
                </a:tc>
                <a:tc>
                  <a:txBody>
                    <a:bodyPr/>
                    <a:lstStyle/>
                    <a:p>
                      <a:r>
                        <a:rPr lang="en-IN" dirty="0"/>
                        <a:t>OpenShift / Rancher + Longhorn + Vault</a:t>
                      </a:r>
                    </a:p>
                  </a:txBody>
                  <a:tcPr/>
                </a:tc>
                <a:extLst>
                  <a:ext uri="{0D108BD9-81ED-4DB2-BD59-A6C34878D82A}">
                    <a16:rowId xmlns:a16="http://schemas.microsoft.com/office/drawing/2014/main" val="3493762980"/>
                  </a:ext>
                </a:extLst>
              </a:tr>
              <a:tr h="498693">
                <a:tc>
                  <a:txBody>
                    <a:bodyPr/>
                    <a:lstStyle/>
                    <a:p>
                      <a:r>
                        <a:rPr lang="en-IN" dirty="0"/>
                        <a:t>Edge / lightweight</a:t>
                      </a:r>
                    </a:p>
                  </a:txBody>
                  <a:tcPr/>
                </a:tc>
                <a:tc>
                  <a:txBody>
                    <a:bodyPr/>
                    <a:lstStyle/>
                    <a:p>
                      <a:r>
                        <a:rPr lang="en-US" dirty="0"/>
                        <a:t>K3s + </a:t>
                      </a:r>
                      <a:r>
                        <a:rPr lang="en-US" dirty="0" err="1"/>
                        <a:t>OpenNebula</a:t>
                      </a:r>
                      <a:r>
                        <a:rPr lang="en-US" dirty="0"/>
                        <a:t> Edge + Prometheus Lite</a:t>
                      </a:r>
                    </a:p>
                  </a:txBody>
                  <a:tcPr/>
                </a:tc>
                <a:extLst>
                  <a:ext uri="{0D108BD9-81ED-4DB2-BD59-A6C34878D82A}">
                    <a16:rowId xmlns:a16="http://schemas.microsoft.com/office/drawing/2014/main" val="192069350"/>
                  </a:ext>
                </a:extLst>
              </a:tr>
              <a:tr h="498693">
                <a:tc>
                  <a:txBody>
                    <a:bodyPr/>
                    <a:lstStyle/>
                    <a:p>
                      <a:r>
                        <a:rPr lang="en-IN" dirty="0"/>
                        <a:t>Multi-cloud orchestration</a:t>
                      </a:r>
                    </a:p>
                  </a:txBody>
                  <a:tcPr/>
                </a:tc>
                <a:tc>
                  <a:txBody>
                    <a:bodyPr/>
                    <a:lstStyle/>
                    <a:p>
                      <a:r>
                        <a:rPr lang="en-IN" dirty="0"/>
                        <a:t>Anthos / Azure Arc / </a:t>
                      </a:r>
                      <a:r>
                        <a:rPr lang="en-IN" dirty="0" err="1"/>
                        <a:t>HashiCorp</a:t>
                      </a:r>
                      <a:r>
                        <a:rPr lang="en-IN" dirty="0"/>
                        <a:t> Suite</a:t>
                      </a:r>
                    </a:p>
                  </a:txBody>
                  <a:tcPr/>
                </a:tc>
                <a:extLst>
                  <a:ext uri="{0D108BD9-81ED-4DB2-BD59-A6C34878D82A}">
                    <a16:rowId xmlns:a16="http://schemas.microsoft.com/office/drawing/2014/main" val="2796969781"/>
                  </a:ext>
                </a:extLst>
              </a:tr>
            </a:tbl>
          </a:graphicData>
        </a:graphic>
      </p:graphicFrame>
    </p:spTree>
    <p:extLst>
      <p:ext uri="{BB962C8B-B14F-4D97-AF65-F5344CB8AC3E}">
        <p14:creationId xmlns:p14="http://schemas.microsoft.com/office/powerpoint/2010/main" val="130331809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620647283"/>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41549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Hybrid Cloud –</a:t>
            </a:r>
          </a:p>
          <a:p>
            <a:r>
              <a:rPr lang="en-US" sz="2400" kern="0" spc="-80" dirty="0">
                <a:solidFill>
                  <a:schemeClr val="accent2"/>
                </a:solidFill>
              </a:rPr>
              <a:t> </a:t>
            </a:r>
            <a:r>
              <a:rPr lang="en-IN" sz="1800" kern="0" spc="-80" dirty="0">
                <a:solidFill>
                  <a:schemeClr val="accent6"/>
                </a:solidFill>
              </a:rPr>
              <a:t>The common reasons for setting up a hybrid cloud may include the following: </a:t>
            </a:r>
          </a:p>
          <a:p>
            <a:r>
              <a:rPr lang="en-IN" sz="1800" kern="0" spc="-80" dirty="0">
                <a:solidFill>
                  <a:schemeClr val="accent6"/>
                </a:solidFill>
              </a:rPr>
              <a:t>  - You need to keep part of the application on-premise due</a:t>
            </a:r>
          </a:p>
          <a:p>
            <a:r>
              <a:rPr lang="en-IN" sz="1800" kern="0" spc="-80" dirty="0">
                <a:solidFill>
                  <a:schemeClr val="accent6"/>
                </a:solidFill>
              </a:rPr>
              <a:t>    to </a:t>
            </a:r>
            <a:r>
              <a:rPr lang="en-IN" sz="1800" kern="0" spc="-80" dirty="0">
                <a:solidFill>
                  <a:schemeClr val="accent1"/>
                </a:solidFill>
              </a:rPr>
              <a:t>compliance requirements</a:t>
            </a:r>
            <a:r>
              <a:rPr lang="en-IN" sz="1800" kern="0" spc="-80" dirty="0">
                <a:solidFill>
                  <a:schemeClr val="accent6"/>
                </a:solidFill>
              </a:rPr>
              <a:t>. </a:t>
            </a:r>
          </a:p>
          <a:p>
            <a:r>
              <a:rPr lang="en-IN" sz="1800" kern="0" spc="-80" dirty="0">
                <a:solidFill>
                  <a:schemeClr val="accent6"/>
                </a:solidFill>
              </a:rPr>
              <a:t>  - You want to have </a:t>
            </a:r>
            <a:r>
              <a:rPr lang="en-IN" sz="1800" kern="0" spc="-80" dirty="0">
                <a:solidFill>
                  <a:schemeClr val="accent1"/>
                </a:solidFill>
              </a:rPr>
              <a:t>operating legacy applications</a:t>
            </a:r>
            <a:r>
              <a:rPr lang="en-IN" sz="1800" kern="0" spc="-80" dirty="0">
                <a:solidFill>
                  <a:schemeClr val="accent6"/>
                </a:solidFill>
              </a:rPr>
              <a:t> in an on-premise environment</a:t>
            </a:r>
          </a:p>
          <a:p>
            <a:r>
              <a:rPr lang="en-IN" sz="1800" kern="0" spc="-80" dirty="0">
                <a:solidFill>
                  <a:schemeClr val="accent6"/>
                </a:solidFill>
              </a:rPr>
              <a:t>    while you refactor and deploy in the cloud with a blue-green deployment</a:t>
            </a:r>
          </a:p>
          <a:p>
            <a:r>
              <a:rPr lang="en-IN" sz="1800" kern="0" spc="-80" dirty="0">
                <a:solidFill>
                  <a:schemeClr val="accent6"/>
                </a:solidFill>
              </a:rPr>
              <a:t>    model. </a:t>
            </a:r>
          </a:p>
          <a:p>
            <a:r>
              <a:rPr lang="en-IN" sz="1800" kern="0" spc="-80" dirty="0">
                <a:solidFill>
                  <a:schemeClr val="accent6"/>
                </a:solidFill>
              </a:rPr>
              <a:t>  - A legacy application such as a </a:t>
            </a:r>
            <a:r>
              <a:rPr lang="en-IN" sz="1800" kern="0" spc="-80" dirty="0">
                <a:solidFill>
                  <a:schemeClr val="accent1"/>
                </a:solidFill>
              </a:rPr>
              <a:t>mainframe may not have a compatible cloud</a:t>
            </a:r>
          </a:p>
          <a:p>
            <a:r>
              <a:rPr lang="en-IN" sz="1800" kern="0" spc="-80" dirty="0">
                <a:solidFill>
                  <a:schemeClr val="accent1"/>
                </a:solidFill>
              </a:rPr>
              <a:t>    option</a:t>
            </a:r>
            <a:r>
              <a:rPr lang="en-IN" sz="1800" kern="0" spc="-80" dirty="0">
                <a:solidFill>
                  <a:schemeClr val="accent6"/>
                </a:solidFill>
              </a:rPr>
              <a:t> and has to continue running on premise. You need time to refactor the </a:t>
            </a:r>
          </a:p>
          <a:p>
            <a:r>
              <a:rPr lang="en-IN" sz="1800" kern="0" spc="-80" dirty="0">
                <a:solidFill>
                  <a:schemeClr val="accent6"/>
                </a:solidFill>
              </a:rPr>
              <a:t>    tech stack. </a:t>
            </a:r>
          </a:p>
          <a:p>
            <a:r>
              <a:rPr lang="en-IN" sz="1800" kern="0" spc="-80" dirty="0">
                <a:solidFill>
                  <a:schemeClr val="accent6"/>
                </a:solidFill>
              </a:rPr>
              <a:t>  - To </a:t>
            </a:r>
            <a:r>
              <a:rPr lang="en-IN" sz="1800" kern="0" spc="-80" dirty="0">
                <a:solidFill>
                  <a:schemeClr val="accent1"/>
                </a:solidFill>
              </a:rPr>
              <a:t>speed up migration</a:t>
            </a:r>
            <a:r>
              <a:rPr lang="en-IN" sz="1800" kern="0" spc="-80" dirty="0">
                <a:solidFill>
                  <a:schemeClr val="accent6"/>
                </a:solidFill>
              </a:rPr>
              <a:t>, keep the database on-premise and move the application </a:t>
            </a:r>
          </a:p>
          <a:p>
            <a:r>
              <a:rPr lang="en-IN" sz="1800" kern="0" spc="-80" dirty="0">
                <a:solidFill>
                  <a:schemeClr val="accent6"/>
                </a:solidFill>
              </a:rPr>
              <a:t>    server to the cloud. </a:t>
            </a:r>
          </a:p>
          <a:p>
            <a:r>
              <a:rPr lang="en-IN" sz="1800" kern="0" spc="-80" dirty="0">
                <a:solidFill>
                  <a:schemeClr val="accent6"/>
                </a:solidFill>
              </a:rPr>
              <a:t>  - The customer wants to have </a:t>
            </a:r>
            <a:r>
              <a:rPr lang="en-IN" sz="1800" kern="0" spc="-80" dirty="0">
                <a:solidFill>
                  <a:schemeClr val="accent1"/>
                </a:solidFill>
              </a:rPr>
              <a:t>more granular control </a:t>
            </a:r>
            <a:r>
              <a:rPr lang="en-IN" sz="1800" kern="0" spc="-80" dirty="0">
                <a:solidFill>
                  <a:schemeClr val="accent6"/>
                </a:solidFill>
              </a:rPr>
              <a:t>of part of the application. </a:t>
            </a:r>
          </a:p>
          <a:p>
            <a:pPr marL="12700" marR="5080"/>
            <a:r>
              <a:rPr lang="en-US" sz="2400" kern="0" spc="-80" dirty="0">
                <a:solidFill>
                  <a:schemeClr val="accent2"/>
                </a:solidFill>
              </a:rPr>
              <a:t> </a:t>
            </a:r>
            <a:r>
              <a:rPr lang="en-US" sz="2000" kern="0" spc="-80" dirty="0">
                <a:solidFill>
                  <a:schemeClr val="accent2"/>
                </a:solidFill>
              </a:rPr>
              <a:t> </a:t>
            </a:r>
            <a:endParaRPr lang="en-US" sz="1600" kern="0" spc="-80" dirty="0">
              <a:solidFill>
                <a:schemeClr val="accent2"/>
              </a:solidFill>
            </a:endParaRPr>
          </a:p>
        </p:txBody>
      </p:sp>
      <p:sp>
        <p:nvSpPr>
          <p:cNvPr id="8" name="object 2">
            <a:extLst>
              <a:ext uri="{FF2B5EF4-FFF2-40B4-BE49-F238E27FC236}">
                <a16:creationId xmlns:a16="http://schemas.microsoft.com/office/drawing/2014/main" id="{209210D5-F276-416C-4B1D-8420A8954368}"/>
              </a:ext>
            </a:extLst>
          </p:cNvPr>
          <p:cNvSpPr txBox="1">
            <a:spLocks/>
          </p:cNvSpPr>
          <p:nvPr/>
        </p:nvSpPr>
        <p:spPr>
          <a:xfrm>
            <a:off x="0" y="4953000"/>
            <a:ext cx="8915399" cy="7078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For Further Exploration –</a:t>
            </a:r>
          </a:p>
          <a:p>
            <a:pPr marL="12700" marR="5080"/>
            <a:r>
              <a:rPr lang="en-IN" sz="1500" dirty="0">
                <a:hlinkClick r:id="rId7"/>
              </a:rPr>
              <a:t>Achieving Digital Transformation Using Hybrid Cloud | Cloud &amp; Networking | Print</a:t>
            </a:r>
            <a:r>
              <a:rPr lang="en-US" sz="1500" kern="0" spc="-80" dirty="0">
                <a:solidFill>
                  <a:schemeClr val="accent2"/>
                </a:solidFill>
              </a:rPr>
              <a:t> </a:t>
            </a:r>
          </a:p>
          <a:p>
            <a:pPr marL="12700" marR="5080"/>
            <a:r>
              <a:rPr lang="en-IN" sz="1500" dirty="0">
                <a:hlinkClick r:id="rId8"/>
              </a:rPr>
              <a:t>Hybrid-Cloud-Security-Patterns</a:t>
            </a:r>
            <a:endParaRPr lang="en-US" sz="1500" kern="0" spc="-80" dirty="0">
              <a:solidFill>
                <a:schemeClr val="accent2"/>
              </a:solidFill>
            </a:endParaRPr>
          </a:p>
        </p:txBody>
      </p:sp>
    </p:spTree>
    <p:extLst>
      <p:ext uri="{BB962C8B-B14F-4D97-AF65-F5344CB8AC3E}">
        <p14:creationId xmlns:p14="http://schemas.microsoft.com/office/powerpoint/2010/main" val="24779279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70504785"/>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685800"/>
            <a:ext cx="8915399" cy="544764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Multi-Cloud –</a:t>
            </a:r>
          </a:p>
          <a:p>
            <a:r>
              <a:rPr lang="en-US" sz="2400" kern="0" spc="-80" dirty="0">
                <a:solidFill>
                  <a:schemeClr val="accent2"/>
                </a:solidFill>
              </a:rPr>
              <a:t> </a:t>
            </a:r>
            <a:r>
              <a:rPr lang="en-IN" sz="1800" kern="0" spc="-80" dirty="0">
                <a:solidFill>
                  <a:schemeClr val="accent6"/>
                </a:solidFill>
              </a:rPr>
              <a:t>The common reasons of setting up a multi cloud may include the following: </a:t>
            </a:r>
          </a:p>
          <a:p>
            <a:r>
              <a:rPr lang="en-IN" sz="1800" kern="0" spc="-80" dirty="0">
                <a:solidFill>
                  <a:schemeClr val="accent6"/>
                </a:solidFill>
              </a:rPr>
              <a:t>  - Best of the breed </a:t>
            </a:r>
            <a:r>
              <a:rPr lang="en-IN" sz="1800" kern="0" spc="-80" dirty="0">
                <a:solidFill>
                  <a:schemeClr val="accent1"/>
                </a:solidFill>
              </a:rPr>
              <a:t>technical capabilities </a:t>
            </a:r>
            <a:r>
              <a:rPr lang="en-IN" sz="1800" kern="0" spc="-80" dirty="0">
                <a:solidFill>
                  <a:schemeClr val="accent6"/>
                </a:solidFill>
              </a:rPr>
              <a:t>handling amongst the cloud providers</a:t>
            </a:r>
          </a:p>
          <a:p>
            <a:r>
              <a:rPr lang="en-IN" sz="1800" kern="0" spc="-80" dirty="0">
                <a:solidFill>
                  <a:schemeClr val="accent6"/>
                </a:solidFill>
              </a:rPr>
              <a:t>  - Avoid </a:t>
            </a:r>
            <a:r>
              <a:rPr lang="en-IN" sz="1800" kern="0" spc="-80" dirty="0">
                <a:solidFill>
                  <a:schemeClr val="accent1"/>
                </a:solidFill>
              </a:rPr>
              <a:t>Vendor Lock-in</a:t>
            </a:r>
          </a:p>
          <a:p>
            <a:r>
              <a:rPr lang="en-IN" sz="1800" kern="0" spc="-80" dirty="0">
                <a:solidFill>
                  <a:schemeClr val="accent6"/>
                </a:solidFill>
              </a:rPr>
              <a:t>  - </a:t>
            </a:r>
            <a:r>
              <a:rPr lang="en-IN" sz="1800" kern="0" spc="-80" dirty="0">
                <a:solidFill>
                  <a:schemeClr val="accent1"/>
                </a:solidFill>
              </a:rPr>
              <a:t>Geographical Availability</a:t>
            </a:r>
            <a:endParaRPr lang="en-US" sz="1800" kern="0" spc="-80" dirty="0">
              <a:solidFill>
                <a:schemeClr val="accent1"/>
              </a:solidFill>
            </a:endParaRPr>
          </a:p>
          <a:p>
            <a:r>
              <a:rPr lang="en-US" sz="1800" kern="0" spc="-80" dirty="0">
                <a:solidFill>
                  <a:schemeClr val="accent1"/>
                </a:solidFill>
              </a:rPr>
              <a:t> </a:t>
            </a:r>
            <a:r>
              <a:rPr lang="en-US" sz="1800" kern="0" spc="-80" dirty="0">
                <a:solidFill>
                  <a:schemeClr val="accent6"/>
                </a:solidFill>
              </a:rPr>
              <a:t> - </a:t>
            </a:r>
            <a:r>
              <a:rPr lang="en-US" sz="1800" kern="0" spc="-80" dirty="0">
                <a:solidFill>
                  <a:schemeClr val="accent1"/>
                </a:solidFill>
              </a:rPr>
              <a:t>Cost</a:t>
            </a:r>
          </a:p>
          <a:p>
            <a:endParaRPr lang="en-US" sz="1800" kern="0" spc="-80" dirty="0">
              <a:solidFill>
                <a:schemeClr val="accent1"/>
              </a:solidFill>
            </a:endParaRPr>
          </a:p>
          <a:p>
            <a:r>
              <a:rPr lang="en-US" sz="1800" kern="0" spc="-80" dirty="0">
                <a:solidFill>
                  <a:schemeClr val="accent2"/>
                </a:solidFill>
              </a:rPr>
              <a:t>NFRs Handling in Multi and Hybrid Cloud Environments</a:t>
            </a:r>
          </a:p>
          <a:p>
            <a:r>
              <a:rPr lang="en-US" sz="1800" kern="0" spc="-80" dirty="0">
                <a:solidFill>
                  <a:schemeClr val="accent2"/>
                </a:solidFill>
              </a:rPr>
              <a:t>General Techniques Across NFRs</a:t>
            </a:r>
          </a:p>
          <a:p>
            <a:r>
              <a:rPr lang="en-US" sz="1800" kern="0" spc="-80" dirty="0">
                <a:solidFill>
                  <a:schemeClr val="accent2"/>
                </a:solidFill>
              </a:rPr>
              <a:t>Establish a Robust Governance Model: </a:t>
            </a:r>
            <a:r>
              <a:rPr lang="en-US" sz="1800" kern="0" spc="-80" dirty="0">
                <a:solidFill>
                  <a:schemeClr val="accent6"/>
                </a:solidFill>
              </a:rPr>
              <a:t>Define clear policies for resource allocation, data management, access control, and security that apply consistently across all on-premises and cloud environments.</a:t>
            </a:r>
          </a:p>
          <a:p>
            <a:r>
              <a:rPr lang="en-US" sz="1800" kern="0" spc="-80" dirty="0">
                <a:solidFill>
                  <a:schemeClr val="accent2"/>
                </a:solidFill>
              </a:rPr>
              <a:t>Adopt a Unified Security Framework: </a:t>
            </a:r>
            <a:r>
              <a:rPr lang="en-US" sz="1800" kern="0" spc="-80" dirty="0">
                <a:solidFill>
                  <a:schemeClr val="accent6"/>
                </a:solidFill>
              </a:rPr>
              <a:t>Implement consistent security policies, identity and access management (IAM) systems (e.g., Single Sign-On, MFA), and a Zero-Trust security model across all platforms.</a:t>
            </a:r>
          </a:p>
          <a:p>
            <a:r>
              <a:rPr lang="en-US" sz="1800" kern="0" spc="-80" dirty="0">
                <a:solidFill>
                  <a:schemeClr val="accent2"/>
                </a:solidFill>
              </a:rPr>
              <a:t>Automate Processes: </a:t>
            </a:r>
            <a:r>
              <a:rPr lang="en-US" sz="1800" kern="0" spc="-80" dirty="0">
                <a:solidFill>
                  <a:schemeClr val="accent6"/>
                </a:solidFill>
              </a:rPr>
              <a:t>Leverage automation for security checks, compliance monitoring, provisioning, and policy enforcement using tools like Infrastructure as Code (</a:t>
            </a:r>
            <a:r>
              <a:rPr lang="en-US" sz="1800" kern="0" spc="-80" dirty="0" err="1">
                <a:solidFill>
                  <a:schemeClr val="accent6"/>
                </a:solidFill>
              </a:rPr>
              <a:t>IaC</a:t>
            </a:r>
            <a:r>
              <a:rPr lang="en-US" sz="1800" kern="0" spc="-80" dirty="0">
                <a:solidFill>
                  <a:schemeClr val="accent6"/>
                </a:solidFill>
              </a:rPr>
              <a:t>) templates.</a:t>
            </a:r>
          </a:p>
          <a:p>
            <a:endParaRPr lang="en-US" sz="1800" kern="0" spc="-80" dirty="0">
              <a:solidFill>
                <a:schemeClr val="accent2"/>
              </a:solidFill>
            </a:endParaRPr>
          </a:p>
        </p:txBody>
      </p:sp>
    </p:spTree>
    <p:extLst>
      <p:ext uri="{BB962C8B-B14F-4D97-AF65-F5344CB8AC3E}">
        <p14:creationId xmlns:p14="http://schemas.microsoft.com/office/powerpoint/2010/main" val="41082727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C94BE-6613-067E-DC26-CCA0416D7A5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E44FC45-DB2D-ED90-4384-B1114F8E84A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DE4E2B2-4AC9-FEE1-063B-4FCDABB66A3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0944AFB-92CF-FCF7-E78B-576DEF76E1FD}"/>
              </a:ext>
            </a:extLst>
          </p:cNvPr>
          <p:cNvGraphicFramePr/>
          <p:nvPr>
            <p:extLst>
              <p:ext uri="{D42A27DB-BD31-4B8C-83A1-F6EECF244321}">
                <p14:modId xmlns:p14="http://schemas.microsoft.com/office/powerpoint/2010/main" val="407167918"/>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7A24AA3-0062-65B5-C6A9-0F3B0140B37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E87CDB0-1119-8483-92BA-256C659850D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4ED9CFE2-1E54-B86B-8506-D44527A080CB}"/>
              </a:ext>
            </a:extLst>
          </p:cNvPr>
          <p:cNvSpPr txBox="1">
            <a:spLocks/>
          </p:cNvSpPr>
          <p:nvPr/>
        </p:nvSpPr>
        <p:spPr>
          <a:xfrm>
            <a:off x="0" y="465951"/>
            <a:ext cx="8915399" cy="575542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endParaRPr lang="en-US" sz="1800" kern="0" spc="-80" dirty="0">
              <a:solidFill>
                <a:schemeClr val="accent2"/>
              </a:solidFill>
            </a:endParaRPr>
          </a:p>
          <a:p>
            <a:r>
              <a:rPr lang="en-US" sz="1800" kern="0" spc="-80" dirty="0">
                <a:solidFill>
                  <a:schemeClr val="accent2"/>
                </a:solidFill>
              </a:rPr>
              <a:t>NFRs Handling in Multi and Hybrid Cloud Environments</a:t>
            </a:r>
          </a:p>
          <a:p>
            <a:r>
              <a:rPr lang="en-US" sz="1800" kern="0" spc="-80" dirty="0">
                <a:solidFill>
                  <a:schemeClr val="accent2"/>
                </a:solidFill>
              </a:rPr>
              <a:t>General Techniques Across NFRs</a:t>
            </a:r>
          </a:p>
          <a:p>
            <a:r>
              <a:rPr lang="en-US" sz="1400" kern="0" spc="-80" dirty="0">
                <a:solidFill>
                  <a:schemeClr val="accent2"/>
                </a:solidFill>
              </a:rPr>
              <a:t>Invest in Cloud Management Tools:</a:t>
            </a:r>
            <a:r>
              <a:rPr lang="en-US" sz="1400" kern="0" spc="-80" dirty="0">
                <a:solidFill>
                  <a:schemeClr val="accent6"/>
                </a:solidFill>
              </a:rPr>
              <a:t> Use a centralized platform (e.g., SIEM or CSPM solutions) that provides a "single pane of glass" for visibility, monitoring, and management across different cloud providers.</a:t>
            </a:r>
          </a:p>
          <a:p>
            <a:r>
              <a:rPr lang="en-US" sz="1400" kern="0" spc="-80" dirty="0">
                <a:solidFill>
                  <a:schemeClr val="accent2"/>
                </a:solidFill>
              </a:rPr>
              <a:t>Design for Interoperability: </a:t>
            </a:r>
            <a:r>
              <a:rPr lang="en-US" sz="1400" kern="0" spc="-80" dirty="0">
                <a:solidFill>
                  <a:schemeClr val="accent6"/>
                </a:solidFill>
              </a:rPr>
              <a:t>Use standardized APIs, containers (like Kubernetes), and orchestration platforms to ensure seamless data flow and application portability across clouds. </a:t>
            </a:r>
          </a:p>
          <a:p>
            <a:endParaRPr lang="en-US" sz="1400" kern="0" spc="-80" dirty="0">
              <a:solidFill>
                <a:schemeClr val="accent6"/>
              </a:solidFill>
            </a:endParaRPr>
          </a:p>
          <a:p>
            <a:r>
              <a:rPr lang="en-IN" sz="1800" dirty="0">
                <a:solidFill>
                  <a:schemeClr val="accent2"/>
                </a:solidFill>
              </a:rPr>
              <a:t>Key Techniques for NFRs Compliance</a:t>
            </a:r>
          </a:p>
          <a:p>
            <a:r>
              <a:rPr lang="en-US" sz="1800" kern="0" spc="-80" dirty="0">
                <a:solidFill>
                  <a:schemeClr val="accent2"/>
                </a:solidFill>
              </a:rPr>
              <a:t>Security and Compliance</a:t>
            </a:r>
          </a:p>
          <a:p>
            <a:r>
              <a:rPr lang="en-US" sz="1400" kern="0" spc="-80" dirty="0">
                <a:solidFill>
                  <a:schemeClr val="accent2"/>
                </a:solidFill>
              </a:rPr>
              <a:t>Unified Security Framework:</a:t>
            </a:r>
            <a:r>
              <a:rPr lang="en-US" sz="1400" kern="0" spc="-80" dirty="0">
                <a:solidFill>
                  <a:schemeClr val="accent6"/>
                </a:solidFill>
              </a:rPr>
              <a:t> Establish a consistent security posture across all platforms, including on-premises, private cloud, and multiple public clouds.</a:t>
            </a:r>
          </a:p>
          <a:p>
            <a:r>
              <a:rPr lang="en-US" sz="1400" kern="0" spc="-80" dirty="0">
                <a:solidFill>
                  <a:schemeClr val="accent2"/>
                </a:solidFill>
              </a:rPr>
              <a:t>Centralized IAM: </a:t>
            </a:r>
            <a:r>
              <a:rPr lang="en-US" sz="1400" kern="0" spc="-80" dirty="0">
                <a:solidFill>
                  <a:schemeClr val="accent6"/>
                </a:solidFill>
              </a:rPr>
              <a:t>Implement a unified identity and access management (IAM) system (like Azure AD or AWS IAM) that uses role-based access control (RBAC) and multi-factor authentication (MFA) across all environments.</a:t>
            </a:r>
          </a:p>
          <a:p>
            <a:r>
              <a:rPr lang="en-US" sz="1400" kern="0" spc="-80" dirty="0">
                <a:solidFill>
                  <a:schemeClr val="accent2"/>
                </a:solidFill>
              </a:rPr>
              <a:t>Adopt a Zero-Trust Model: </a:t>
            </a:r>
            <a:r>
              <a:rPr lang="en-US" sz="1400" kern="0" spc="-80" dirty="0">
                <a:solidFill>
                  <a:schemeClr val="accent6"/>
                </a:solidFill>
              </a:rPr>
              <a:t>Assume no user or service is trusted by default, regardless of its location (inside or outside the network), and continuously verify identities and access.</a:t>
            </a:r>
          </a:p>
          <a:p>
            <a:r>
              <a:rPr lang="en-US" sz="1400" kern="0" spc="-80" dirty="0">
                <a:solidFill>
                  <a:schemeClr val="accent2"/>
                </a:solidFill>
              </a:rPr>
              <a:t>Consistent Encryption: </a:t>
            </a:r>
            <a:r>
              <a:rPr lang="en-US" sz="1400" kern="0" spc="-80" dirty="0">
                <a:solidFill>
                  <a:schemeClr val="accent6"/>
                </a:solidFill>
              </a:rPr>
              <a:t>Enforce strong, industry-grade encryption for all data, both at rest and in transit, with a consistent key management policy across all clouds.</a:t>
            </a:r>
          </a:p>
          <a:p>
            <a:r>
              <a:rPr lang="en-US" sz="1400" kern="0" spc="-80" dirty="0">
                <a:solidFill>
                  <a:schemeClr val="accent2"/>
                </a:solidFill>
              </a:rPr>
              <a:t>Automated Compliance Monitoring: </a:t>
            </a:r>
            <a:r>
              <a:rPr lang="en-US" sz="1400" kern="0" spc="-80" dirty="0">
                <a:solidFill>
                  <a:schemeClr val="accent6"/>
                </a:solidFill>
              </a:rPr>
              <a:t>Leverage automated tools (like AWS Config or Azure Policy) to continuously monitor configurations, detect non-compliance issues in real-time, and automate remediation actions.</a:t>
            </a:r>
          </a:p>
          <a:p>
            <a:r>
              <a:rPr lang="en-US" sz="1400" kern="0" spc="-80" dirty="0">
                <a:solidFill>
                  <a:schemeClr val="accent2"/>
                </a:solidFill>
              </a:rPr>
              <a:t>Regular Audits and Testing: </a:t>
            </a:r>
            <a:r>
              <a:rPr lang="en-US" sz="1400" kern="0" spc="-80" dirty="0">
                <a:solidFill>
                  <a:schemeClr val="accent6"/>
                </a:solidFill>
              </a:rPr>
              <a:t>Conduct frequent security audits, vulnerability assessments, and penetration testing to identify and mitigate risks proactively. </a:t>
            </a:r>
          </a:p>
          <a:p>
            <a:endParaRPr lang="en-US" sz="1800" kern="0" spc="-80" dirty="0">
              <a:solidFill>
                <a:schemeClr val="accent2"/>
              </a:solidFill>
            </a:endParaRPr>
          </a:p>
        </p:txBody>
      </p:sp>
    </p:spTree>
    <p:extLst>
      <p:ext uri="{BB962C8B-B14F-4D97-AF65-F5344CB8AC3E}">
        <p14:creationId xmlns:p14="http://schemas.microsoft.com/office/powerpoint/2010/main" val="259478895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F379B-C6B5-BC34-0225-15726CE4D69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CEEBC47-FCE3-AE8E-0E6F-C029260EA1A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A88ACE1-29F2-DB96-60F2-504E3923C61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2C9B46D-1A07-2C45-BDE6-F75E7B9F3078}"/>
              </a:ext>
            </a:extLst>
          </p:cNvPr>
          <p:cNvGraphicFramePr/>
          <p:nvPr>
            <p:extLst>
              <p:ext uri="{D42A27DB-BD31-4B8C-83A1-F6EECF244321}">
                <p14:modId xmlns:p14="http://schemas.microsoft.com/office/powerpoint/2010/main" val="3028037677"/>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6CD2715-B55F-237C-ED9A-F7334D7A970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137E3A1-DE93-0146-F63C-3A3407C7B7F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0AE530D-0581-391C-4F8A-D46513CA272B}"/>
              </a:ext>
            </a:extLst>
          </p:cNvPr>
          <p:cNvSpPr txBox="1">
            <a:spLocks/>
          </p:cNvSpPr>
          <p:nvPr/>
        </p:nvSpPr>
        <p:spPr>
          <a:xfrm>
            <a:off x="0" y="685800"/>
            <a:ext cx="8915399" cy="64633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kern="0" spc="-80" dirty="0">
                <a:solidFill>
                  <a:schemeClr val="accent2"/>
                </a:solidFill>
              </a:rPr>
              <a:t>NFRs Handling in Multi and Hybrid Cloud Environments</a:t>
            </a:r>
          </a:p>
          <a:p>
            <a:r>
              <a:rPr lang="en-IN" sz="2400" dirty="0">
                <a:solidFill>
                  <a:schemeClr val="accent2"/>
                </a:solidFill>
              </a:rPr>
              <a:t>Key Techniques for NFRs Compliance</a:t>
            </a:r>
          </a:p>
          <a:p>
            <a:r>
              <a:rPr lang="en-US" sz="2400" kern="0" spc="-80" dirty="0">
                <a:solidFill>
                  <a:schemeClr val="accent2"/>
                </a:solidFill>
              </a:rPr>
              <a:t>Performance and Scalability</a:t>
            </a:r>
          </a:p>
          <a:p>
            <a:r>
              <a:rPr lang="en-US" sz="1400" kern="0" spc="-80" dirty="0">
                <a:solidFill>
                  <a:schemeClr val="accent2"/>
                </a:solidFill>
              </a:rPr>
              <a:t>Vendor-Agnostic Design: </a:t>
            </a:r>
            <a:r>
              <a:rPr lang="en-US" sz="1400" kern="0" spc="-80" dirty="0">
                <a:solidFill>
                  <a:schemeClr val="accent6"/>
                </a:solidFill>
              </a:rPr>
              <a:t>Use open-source tools and platforms, containerization (Docker, Kubernetes), and abstract cloud-specific functionalities to minimize vendor lock-in and allow flexibility in workload placement.</a:t>
            </a:r>
          </a:p>
          <a:p>
            <a:r>
              <a:rPr lang="en-US" sz="1400" kern="0" spc="-80" dirty="0">
                <a:solidFill>
                  <a:schemeClr val="accent2"/>
                </a:solidFill>
              </a:rPr>
              <a:t>Horizontal Scaling Architecture: </a:t>
            </a:r>
            <a:r>
              <a:rPr lang="en-US" sz="1400" kern="0" spc="-80" dirty="0">
                <a:solidFill>
                  <a:schemeClr val="accent6"/>
                </a:solidFill>
              </a:rPr>
              <a:t>Design applications for horizontal scaling by using microservices and stateless components, allowing the system to scale out (add more instances) on demand across different cloud environments.</a:t>
            </a:r>
          </a:p>
          <a:p>
            <a:r>
              <a:rPr lang="en-US" sz="1400" kern="0" spc="-80" dirty="0">
                <a:solidFill>
                  <a:schemeClr val="accent2"/>
                </a:solidFill>
              </a:rPr>
              <a:t>Global Load Balancing:</a:t>
            </a:r>
            <a:r>
              <a:rPr lang="en-US" sz="1400" kern="0" spc="-80" dirty="0">
                <a:solidFill>
                  <a:schemeClr val="accent6"/>
                </a:solidFill>
              </a:rPr>
              <a:t> Implement global load balancing to efficiently distribute traffic and user requests across multiple regions or cloud providers based on performance or proximity, reducing latency and ensuring high availability.</a:t>
            </a:r>
          </a:p>
          <a:p>
            <a:r>
              <a:rPr lang="en-US" sz="1400" kern="0" spc="-80" dirty="0">
                <a:solidFill>
                  <a:schemeClr val="accent2"/>
                </a:solidFill>
              </a:rPr>
              <a:t>Data Management and Synchronization: </a:t>
            </a:r>
            <a:r>
              <a:rPr lang="en-US" sz="1400" kern="0" spc="-80" dirty="0">
                <a:solidFill>
                  <a:schemeClr val="accent6"/>
                </a:solidFill>
              </a:rPr>
              <a:t>Use distributed databases and real-time data replication/synchronization between clouds to ensure data consistency and availability, crucial for performance in data-intensive applications.</a:t>
            </a:r>
          </a:p>
          <a:p>
            <a:r>
              <a:rPr lang="en-US" sz="1400" kern="0" spc="-80" dirty="0">
                <a:solidFill>
                  <a:schemeClr val="accent2"/>
                </a:solidFill>
              </a:rPr>
              <a:t>Caching and CDNs: </a:t>
            </a:r>
            <a:r>
              <a:rPr lang="en-US" sz="1400" kern="0" spc="-80" dirty="0">
                <a:solidFill>
                  <a:schemeClr val="accent6"/>
                </a:solidFill>
              </a:rPr>
              <a:t>Utilize caching strategies (e.g., Redis, Memcached) and Content Delivery Networks (CDNs) to store frequently accessed data closer to end-users, reducing latency and backend load. </a:t>
            </a:r>
          </a:p>
          <a:p>
            <a:endParaRPr lang="en-US" sz="1400" kern="0" spc="-80" dirty="0">
              <a:solidFill>
                <a:schemeClr val="accent6"/>
              </a:solidFill>
            </a:endParaRPr>
          </a:p>
          <a:p>
            <a:r>
              <a:rPr lang="en-US" sz="2400" kern="0" spc="-80" dirty="0">
                <a:solidFill>
                  <a:schemeClr val="accent2"/>
                </a:solidFill>
              </a:rPr>
              <a:t>Reliability and Availability</a:t>
            </a:r>
          </a:p>
          <a:p>
            <a:r>
              <a:rPr lang="en-US" sz="1400" kern="0" spc="-80" dirty="0">
                <a:solidFill>
                  <a:schemeClr val="accent6"/>
                </a:solidFill>
              </a:rPr>
              <a:t>Automated Failover: Deploy applications across multiple cloud providers and implement automated failover mechanisms to switch traffic to a healthy environment in case of an outage in one region or provider.</a:t>
            </a:r>
          </a:p>
          <a:p>
            <a:r>
              <a:rPr lang="en-US" sz="1400" kern="0" spc="-80" dirty="0">
                <a:solidFill>
                  <a:schemeClr val="accent6"/>
                </a:solidFill>
              </a:rPr>
              <a:t>Robust Incident Response Plan: Develop a single, comprehensive incident response strategy that outlines procedures for detecting, containing, and recovering from incidents across all cloud environments.</a:t>
            </a:r>
          </a:p>
          <a:p>
            <a:endParaRPr lang="en-US" sz="2400" kern="0" spc="-80" dirty="0">
              <a:solidFill>
                <a:schemeClr val="accent2"/>
              </a:solidFill>
            </a:endParaRPr>
          </a:p>
          <a:p>
            <a:endParaRPr lang="en-US" sz="2400" kern="0" spc="-80" dirty="0">
              <a:solidFill>
                <a:schemeClr val="accent2"/>
              </a:solidFill>
            </a:endParaRPr>
          </a:p>
          <a:p>
            <a:endParaRPr lang="en-US" sz="2400" kern="0" spc="-80" dirty="0">
              <a:solidFill>
                <a:schemeClr val="accent2"/>
              </a:solidFill>
            </a:endParaRPr>
          </a:p>
        </p:txBody>
      </p:sp>
    </p:spTree>
    <p:extLst>
      <p:ext uri="{BB962C8B-B14F-4D97-AF65-F5344CB8AC3E}">
        <p14:creationId xmlns:p14="http://schemas.microsoft.com/office/powerpoint/2010/main" val="203565118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3C90A-8600-029B-B326-920D6E33F56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F51F114-EBC5-690F-7449-16172525D92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A9C73FB-EA00-DA58-2811-7C34D80D994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56A53B7-1399-3B96-CF8A-A8317651A8EF}"/>
              </a:ext>
            </a:extLst>
          </p:cNvPr>
          <p:cNvGraphicFramePr/>
          <p:nvPr>
            <p:extLst>
              <p:ext uri="{D42A27DB-BD31-4B8C-83A1-F6EECF244321}">
                <p14:modId xmlns:p14="http://schemas.microsoft.com/office/powerpoint/2010/main" val="3622029254"/>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2651560-E0EE-DD44-04AC-71114210B15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6B0CC15-58CE-038A-E805-701F3EEA91D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625E8CE-2E8A-77CE-44E9-46DC294204EE}"/>
              </a:ext>
            </a:extLst>
          </p:cNvPr>
          <p:cNvSpPr txBox="1">
            <a:spLocks/>
          </p:cNvSpPr>
          <p:nvPr/>
        </p:nvSpPr>
        <p:spPr>
          <a:xfrm>
            <a:off x="0" y="685800"/>
            <a:ext cx="8915399" cy="58169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kern="0" spc="-80" dirty="0">
                <a:solidFill>
                  <a:schemeClr val="accent2"/>
                </a:solidFill>
              </a:rPr>
              <a:t>NFRs Handling in Multi and Hybrid Cloud Environments</a:t>
            </a:r>
          </a:p>
          <a:p>
            <a:r>
              <a:rPr lang="en-IN" sz="2400" dirty="0">
                <a:solidFill>
                  <a:schemeClr val="accent2"/>
                </a:solidFill>
              </a:rPr>
              <a:t>Key Techniques for NFRs Compliance</a:t>
            </a:r>
          </a:p>
          <a:p>
            <a:r>
              <a:rPr lang="en-US" sz="2400" kern="0" spc="-80" dirty="0">
                <a:solidFill>
                  <a:schemeClr val="accent2"/>
                </a:solidFill>
              </a:rPr>
              <a:t>Reliability and Availability</a:t>
            </a:r>
          </a:p>
          <a:p>
            <a:r>
              <a:rPr lang="en-US" sz="1400" kern="0" spc="-80" dirty="0">
                <a:solidFill>
                  <a:schemeClr val="accent2"/>
                </a:solidFill>
              </a:rPr>
              <a:t>Data Backup and Disaster Recovery (DR):</a:t>
            </a:r>
            <a:r>
              <a:rPr lang="en-US" sz="1400" kern="0" spc="-80" dirty="0">
                <a:solidFill>
                  <a:schemeClr val="accent6"/>
                </a:solidFill>
              </a:rPr>
              <a:t> Establish consistent backup and DR plans, replicating critical data and applications across different clouds or to an on-premises data center to ensure business continuity and minimal downtime.</a:t>
            </a:r>
          </a:p>
          <a:p>
            <a:endParaRPr lang="en-US" sz="1400" kern="0" spc="-80" dirty="0">
              <a:solidFill>
                <a:schemeClr val="accent6"/>
              </a:solidFill>
            </a:endParaRPr>
          </a:p>
          <a:p>
            <a:r>
              <a:rPr lang="en-US" sz="2400" kern="0" spc="-80" dirty="0">
                <a:solidFill>
                  <a:schemeClr val="accent2"/>
                </a:solidFill>
              </a:rPr>
              <a:t>Manageability and Cost Optimization </a:t>
            </a:r>
          </a:p>
          <a:p>
            <a:r>
              <a:rPr lang="en-US" sz="1400" kern="0" spc="-80" dirty="0">
                <a:solidFill>
                  <a:schemeClr val="accent2"/>
                </a:solidFill>
              </a:rPr>
              <a:t>Centralized Management and Observability:</a:t>
            </a:r>
            <a:r>
              <a:rPr lang="en-US" sz="1400" kern="0" spc="-80" dirty="0">
                <a:solidFill>
                  <a:schemeClr val="accent6"/>
                </a:solidFill>
              </a:rPr>
              <a:t> Use multi-cloud management platforms (CMPs) or SIEM tools to gain a unified view and centralized control over resource management, monitoring, and logging across all environments.</a:t>
            </a:r>
          </a:p>
          <a:p>
            <a:r>
              <a:rPr lang="en-US" sz="1400" kern="0" spc="-80" dirty="0">
                <a:solidFill>
                  <a:schemeClr val="accent2"/>
                </a:solidFill>
              </a:rPr>
              <a:t>Infrastructure as Code (</a:t>
            </a:r>
            <a:r>
              <a:rPr lang="en-US" sz="1400" kern="0" spc="-80" dirty="0" err="1">
                <a:solidFill>
                  <a:schemeClr val="accent2"/>
                </a:solidFill>
              </a:rPr>
              <a:t>IaC</a:t>
            </a:r>
            <a:r>
              <a:rPr lang="en-US" sz="1400" kern="0" spc="-80" dirty="0">
                <a:solidFill>
                  <a:schemeClr val="accent2"/>
                </a:solidFill>
              </a:rPr>
              <a:t>):</a:t>
            </a:r>
            <a:r>
              <a:rPr lang="en-US" sz="1400" kern="0" spc="-80" dirty="0">
                <a:solidFill>
                  <a:schemeClr val="accent6"/>
                </a:solidFill>
              </a:rPr>
              <a:t> Use </a:t>
            </a:r>
            <a:r>
              <a:rPr lang="en-US" sz="1400" kern="0" spc="-80" dirty="0" err="1">
                <a:solidFill>
                  <a:schemeClr val="accent6"/>
                </a:solidFill>
              </a:rPr>
              <a:t>IaC</a:t>
            </a:r>
            <a:r>
              <a:rPr lang="en-US" sz="1400" kern="0" spc="-80" dirty="0">
                <a:solidFill>
                  <a:schemeClr val="accent6"/>
                </a:solidFill>
              </a:rPr>
              <a:t> tools (e.g., Terraform) to automate the provisioning and management of resources, ensuring consistency, repeatability, and error reduction across disparate environments.</a:t>
            </a:r>
          </a:p>
          <a:p>
            <a:r>
              <a:rPr lang="en-US" sz="1400" kern="0" spc="-80" dirty="0">
                <a:solidFill>
                  <a:schemeClr val="accent2"/>
                </a:solidFill>
              </a:rPr>
              <a:t>Cost Management and Optimization Tools:</a:t>
            </a:r>
            <a:r>
              <a:rPr lang="en-US" sz="1400" kern="0" spc="-80" dirty="0">
                <a:solidFill>
                  <a:schemeClr val="accent6"/>
                </a:solidFill>
              </a:rPr>
              <a:t> Implement cloud cost management tools to monitor spending, analyze usage, and use cost-saving mechanisms (like spot instances or reserved instances) across all platforms.</a:t>
            </a:r>
          </a:p>
          <a:p>
            <a:r>
              <a:rPr lang="en-US" sz="1400" kern="0" spc="-80" dirty="0">
                <a:solidFill>
                  <a:schemeClr val="accent2"/>
                </a:solidFill>
              </a:rPr>
              <a:t>Defined SLAs and KPIs: </a:t>
            </a:r>
            <a:r>
              <a:rPr lang="en-US" sz="1400" kern="0" spc="-80" dirty="0">
                <a:solidFill>
                  <a:schemeClr val="accent6"/>
                </a:solidFill>
              </a:rPr>
              <a:t>Clearly define Service Level Agreements (SLAs) and Key Performance Indicators (KPIs) for applications running in hybrid/multi-cloud setups to measure performance and ensure accountability. </a:t>
            </a:r>
          </a:p>
          <a:p>
            <a:endParaRPr lang="en-US" sz="2400" kern="0" spc="-80" dirty="0">
              <a:solidFill>
                <a:schemeClr val="accent2"/>
              </a:solidFill>
            </a:endParaRPr>
          </a:p>
          <a:p>
            <a:endParaRPr lang="en-US" sz="2400" kern="0" spc="-80" dirty="0">
              <a:solidFill>
                <a:schemeClr val="accent2"/>
              </a:solidFill>
            </a:endParaRPr>
          </a:p>
          <a:p>
            <a:endParaRPr lang="en-US" sz="2400" kern="0" spc="-80" dirty="0">
              <a:solidFill>
                <a:schemeClr val="accent2"/>
              </a:solidFill>
            </a:endParaRPr>
          </a:p>
        </p:txBody>
      </p:sp>
    </p:spTree>
    <p:extLst>
      <p:ext uri="{BB962C8B-B14F-4D97-AF65-F5344CB8AC3E}">
        <p14:creationId xmlns:p14="http://schemas.microsoft.com/office/powerpoint/2010/main" val="377767535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2AD71-BBE7-4237-03F0-976064097CA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66CD659-FE34-A6A2-5A21-9ED46908844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B06AC4D-5BE9-28CB-E2FA-36DD127F9F7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F57CD5E-0382-7FD7-48AB-9CF0BE428314}"/>
              </a:ext>
            </a:extLst>
          </p:cNvPr>
          <p:cNvGraphicFramePr/>
          <p:nvPr>
            <p:extLst>
              <p:ext uri="{D42A27DB-BD31-4B8C-83A1-F6EECF244321}">
                <p14:modId xmlns:p14="http://schemas.microsoft.com/office/powerpoint/2010/main" val="212489824"/>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5EFA8BB-5AD6-E2D1-08B3-9B6515E3762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68601DF-F46C-480D-904F-6DC328B1D5E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CEDA37F-A729-FDEB-2B17-9108284C4ECC}"/>
              </a:ext>
            </a:extLst>
          </p:cNvPr>
          <p:cNvSpPr txBox="1">
            <a:spLocks/>
          </p:cNvSpPr>
          <p:nvPr/>
        </p:nvSpPr>
        <p:spPr>
          <a:xfrm>
            <a:off x="0" y="685800"/>
            <a:ext cx="8915399" cy="43088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kern="0" spc="-80" dirty="0">
                <a:solidFill>
                  <a:schemeClr val="accent2"/>
                </a:solidFill>
              </a:rPr>
              <a:t>NFRs Handling in Multi and Hybrid Cloud Environments</a:t>
            </a:r>
          </a:p>
          <a:p>
            <a:pPr marL="12700" marR="5080"/>
            <a:r>
              <a:rPr lang="en-US" sz="2000" kern="0" spc="-80" dirty="0">
                <a:solidFill>
                  <a:schemeClr val="accent2"/>
                </a:solidFill>
              </a:rPr>
              <a:t>For Further Exploration – </a:t>
            </a:r>
          </a:p>
          <a:p>
            <a:pPr marL="12700" marR="5080"/>
            <a:r>
              <a:rPr lang="en-US" sz="2000" dirty="0">
                <a:hlinkClick r:id="rId7"/>
              </a:rPr>
              <a:t>7 Multi-Cloud Architecture Designs for Effective Cloud Strategy</a:t>
            </a:r>
            <a:endParaRPr lang="en-US" sz="2000" dirty="0"/>
          </a:p>
          <a:p>
            <a:pPr marL="12700" marR="5080"/>
            <a:r>
              <a:rPr lang="en-US" sz="2000" dirty="0">
                <a:hlinkClick r:id="rId8"/>
              </a:rPr>
              <a:t>Multi-Cloud Management: Tools, Challenges and Best Practices</a:t>
            </a:r>
            <a:endParaRPr lang="en-US" sz="2000" dirty="0"/>
          </a:p>
          <a:p>
            <a:pPr marL="12700" marR="5080"/>
            <a:r>
              <a:rPr lang="en-IN" sz="2000" dirty="0">
                <a:hlinkClick r:id="rId9"/>
              </a:rPr>
              <a:t>Hybrid and </a:t>
            </a:r>
            <a:r>
              <a:rPr lang="en-IN" sz="2000" dirty="0" err="1">
                <a:hlinkClick r:id="rId9"/>
              </a:rPr>
              <a:t>multicloud</a:t>
            </a:r>
            <a:r>
              <a:rPr lang="en-IN" sz="2000" dirty="0">
                <a:hlinkClick r:id="rId9"/>
              </a:rPr>
              <a:t> architecture patterns</a:t>
            </a:r>
            <a:endParaRPr lang="en-IN" sz="2000" dirty="0"/>
          </a:p>
          <a:p>
            <a:pPr marL="12700" marR="5080"/>
            <a:r>
              <a:rPr lang="en-IN" sz="2000" dirty="0">
                <a:hlinkClick r:id="rId10"/>
              </a:rPr>
              <a:t>Multi-Cloud-Handbook-for-Developers</a:t>
            </a:r>
            <a:endParaRPr lang="en-IN" sz="2000" dirty="0"/>
          </a:p>
          <a:p>
            <a:pPr marL="12700" marR="5080"/>
            <a:r>
              <a:rPr lang="en-US" sz="2000" dirty="0">
                <a:hlinkClick r:id="rId11"/>
              </a:rPr>
              <a:t>Multi-Cloud-Strategy-for-Cloud-Architects</a:t>
            </a:r>
            <a:endParaRPr lang="en-US" sz="2000" dirty="0"/>
          </a:p>
          <a:p>
            <a:pPr marL="12700" marR="5080"/>
            <a:r>
              <a:rPr lang="en-IN" sz="2000" dirty="0">
                <a:hlinkClick r:id="rId12"/>
              </a:rPr>
              <a:t>Enterprise-Grade Hybrid and Multi-Cloud Strategies</a:t>
            </a:r>
            <a:endParaRPr lang="en-IN" sz="2000" dirty="0"/>
          </a:p>
          <a:p>
            <a:pPr marL="12700" marR="5080"/>
            <a:r>
              <a:rPr lang="en-US" sz="2000" dirty="0">
                <a:hlinkClick r:id="rId13"/>
              </a:rPr>
              <a:t>Principles and Patterns for Distributed Application Architecture</a:t>
            </a:r>
            <a:endParaRPr lang="en-US" sz="2000" kern="0" spc="-80" dirty="0">
              <a:solidFill>
                <a:schemeClr val="accent2"/>
              </a:solidFill>
            </a:endParaRPr>
          </a:p>
          <a:p>
            <a:endParaRPr lang="en-US" sz="2400" kern="0" spc="-80" dirty="0">
              <a:solidFill>
                <a:schemeClr val="accent2"/>
              </a:solidFill>
            </a:endParaRPr>
          </a:p>
          <a:p>
            <a:endParaRPr lang="en-US" sz="2400" kern="0" spc="-80" dirty="0">
              <a:solidFill>
                <a:schemeClr val="accent2"/>
              </a:solidFill>
            </a:endParaRPr>
          </a:p>
          <a:p>
            <a:endParaRPr lang="en-US" sz="2400" kern="0" spc="-80" dirty="0">
              <a:solidFill>
                <a:schemeClr val="accent2"/>
              </a:solidFill>
            </a:endParaRPr>
          </a:p>
          <a:p>
            <a:endParaRPr lang="en-US" sz="2400" kern="0" spc="-80" dirty="0">
              <a:solidFill>
                <a:schemeClr val="accent2"/>
              </a:solidFill>
            </a:endParaRPr>
          </a:p>
        </p:txBody>
      </p:sp>
    </p:spTree>
    <p:extLst>
      <p:ext uri="{BB962C8B-B14F-4D97-AF65-F5344CB8AC3E}">
        <p14:creationId xmlns:p14="http://schemas.microsoft.com/office/powerpoint/2010/main" val="91991588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95EFE-9C05-2EAE-6DC7-2963AE54276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5CFE384-32E7-5121-4C91-3C4910D3029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1A63C80-2569-67EF-FF67-21A7CDE2795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788C964-5934-69D8-52DD-56DA618DDB0D}"/>
              </a:ext>
            </a:extLst>
          </p:cNvPr>
          <p:cNvGraphicFramePr/>
          <p:nvPr>
            <p:extLst>
              <p:ext uri="{D42A27DB-BD31-4B8C-83A1-F6EECF244321}">
                <p14:modId xmlns:p14="http://schemas.microsoft.com/office/powerpoint/2010/main" val="1083104158"/>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0F7ED8A-1D11-5BEF-6B24-7CDE5B29ECE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D829AD6-DC01-40EB-9E5B-3C60737C66A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B120CFC-B15F-D09F-6A6C-596AE8ED05DB}"/>
              </a:ext>
            </a:extLst>
          </p:cNvPr>
          <p:cNvSpPr txBox="1">
            <a:spLocks/>
          </p:cNvSpPr>
          <p:nvPr/>
        </p:nvSpPr>
        <p:spPr>
          <a:xfrm>
            <a:off x="0" y="685800"/>
            <a:ext cx="8915399"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kern="0" spc="-80" dirty="0">
                <a:solidFill>
                  <a:schemeClr val="accent2"/>
                </a:solidFill>
              </a:rPr>
              <a:t>Data Centre</a:t>
            </a:r>
          </a:p>
          <a:p>
            <a:r>
              <a:rPr lang="en-US" sz="2400" kern="0" spc="-80" dirty="0">
                <a:solidFill>
                  <a:schemeClr val="accent2"/>
                </a:solidFill>
              </a:rPr>
              <a:t>🏢 </a:t>
            </a:r>
            <a:r>
              <a:rPr lang="en-US" sz="1350" kern="0" spc="-80" dirty="0">
                <a:solidFill>
                  <a:schemeClr val="accent2"/>
                </a:solidFill>
              </a:rPr>
              <a:t>1. Data Centre Fundamentals</a:t>
            </a:r>
          </a:p>
          <a:p>
            <a:r>
              <a:rPr lang="en-US" sz="1350" kern="0" spc="-80" dirty="0">
                <a:solidFill>
                  <a:schemeClr val="accent2"/>
                </a:solidFill>
              </a:rPr>
              <a:t>🔹 Definition</a:t>
            </a:r>
          </a:p>
          <a:p>
            <a:r>
              <a:rPr lang="en-US" sz="1350" kern="0" spc="-80" dirty="0">
                <a:solidFill>
                  <a:schemeClr val="accent6"/>
                </a:solidFill>
              </a:rPr>
              <a:t>A data </a:t>
            </a:r>
            <a:r>
              <a:rPr lang="en-US" sz="1350" kern="0" spc="-80" dirty="0" err="1">
                <a:solidFill>
                  <a:schemeClr val="accent6"/>
                </a:solidFill>
              </a:rPr>
              <a:t>centre</a:t>
            </a:r>
            <a:r>
              <a:rPr lang="en-US" sz="1350" kern="0" spc="-80" dirty="0">
                <a:solidFill>
                  <a:schemeClr val="accent6"/>
                </a:solidFill>
              </a:rPr>
              <a:t> is a physical or virtual infrastructure used by organizations to house computer systems and associated components such as telecommunications and storage systems.</a:t>
            </a:r>
          </a:p>
          <a:p>
            <a:r>
              <a:rPr lang="en-US" sz="1350" kern="0" spc="-80" dirty="0">
                <a:solidFill>
                  <a:schemeClr val="accent2"/>
                </a:solidFill>
              </a:rPr>
              <a:t>🔹 Core Goals</a:t>
            </a:r>
          </a:p>
          <a:p>
            <a:r>
              <a:rPr lang="en-US" sz="1350" kern="0" spc="-80" dirty="0">
                <a:solidFill>
                  <a:schemeClr val="accent6"/>
                </a:solidFill>
              </a:rPr>
              <a:t>Availability (uptime, redundancy)</a:t>
            </a:r>
          </a:p>
          <a:p>
            <a:r>
              <a:rPr lang="en-US" sz="1350" kern="0" spc="-80" dirty="0">
                <a:solidFill>
                  <a:schemeClr val="accent6"/>
                </a:solidFill>
              </a:rPr>
              <a:t>Scalability (handle growth easily)</a:t>
            </a:r>
          </a:p>
          <a:p>
            <a:r>
              <a:rPr lang="en-US" sz="1350" kern="0" spc="-80" dirty="0">
                <a:solidFill>
                  <a:schemeClr val="accent6"/>
                </a:solidFill>
              </a:rPr>
              <a:t>Security (physical + cyber)</a:t>
            </a:r>
          </a:p>
          <a:p>
            <a:r>
              <a:rPr lang="en-US" sz="1350" kern="0" spc="-80" dirty="0">
                <a:solidFill>
                  <a:schemeClr val="accent6"/>
                </a:solidFill>
              </a:rPr>
              <a:t>Efficiency (power, cooling, automation)</a:t>
            </a:r>
          </a:p>
          <a:p>
            <a:r>
              <a:rPr lang="en-US" sz="1350" kern="0" spc="-80" dirty="0">
                <a:solidFill>
                  <a:schemeClr val="accent6"/>
                </a:solidFill>
              </a:rPr>
              <a:t>Resilience (disaster recovery, failover)</a:t>
            </a:r>
          </a:p>
          <a:p>
            <a:r>
              <a:rPr lang="en-US" sz="1350" kern="0" spc="-80" dirty="0">
                <a:solidFill>
                  <a:schemeClr val="accent2"/>
                </a:solidFill>
              </a:rPr>
              <a:t>⚙️ 2. Physical Infrastructure Technologies</a:t>
            </a:r>
          </a:p>
          <a:p>
            <a:r>
              <a:rPr lang="en-US" sz="1350" kern="0" spc="-80" dirty="0">
                <a:solidFill>
                  <a:schemeClr val="accent2"/>
                </a:solidFill>
              </a:rPr>
              <a:t>🧱 a. Facility Components</a:t>
            </a:r>
          </a:p>
          <a:p>
            <a:r>
              <a:rPr lang="en-US" sz="1350" kern="0" spc="-80" dirty="0">
                <a:solidFill>
                  <a:schemeClr val="accent2"/>
                </a:solidFill>
              </a:rPr>
              <a:t>Racks &amp; Cabinets: </a:t>
            </a:r>
            <a:r>
              <a:rPr lang="en-US" sz="1350" kern="0" spc="-80" dirty="0">
                <a:solidFill>
                  <a:schemeClr val="accent6"/>
                </a:solidFill>
              </a:rPr>
              <a:t>House servers and networking devices.</a:t>
            </a:r>
          </a:p>
          <a:p>
            <a:r>
              <a:rPr lang="en-US" sz="1350" kern="0" spc="-80" dirty="0">
                <a:solidFill>
                  <a:schemeClr val="accent2"/>
                </a:solidFill>
              </a:rPr>
              <a:t>Raised Floors: </a:t>
            </a:r>
            <a:r>
              <a:rPr lang="en-US" sz="1350" kern="0" spc="-80" dirty="0">
                <a:solidFill>
                  <a:schemeClr val="accent6"/>
                </a:solidFill>
              </a:rPr>
              <a:t>Enable air circulation and cable routing.</a:t>
            </a:r>
          </a:p>
          <a:p>
            <a:r>
              <a:rPr lang="en-US" sz="1350" kern="0" spc="-80" dirty="0">
                <a:solidFill>
                  <a:schemeClr val="accent2"/>
                </a:solidFill>
              </a:rPr>
              <a:t>Power Systems: </a:t>
            </a:r>
            <a:r>
              <a:rPr lang="en-US" sz="1350" kern="0" spc="-80" dirty="0">
                <a:solidFill>
                  <a:schemeClr val="accent6"/>
                </a:solidFill>
              </a:rPr>
              <a:t>UPS, PDUs, generators.</a:t>
            </a:r>
          </a:p>
          <a:p>
            <a:r>
              <a:rPr lang="en-US" sz="1350" kern="0" spc="-80" dirty="0">
                <a:solidFill>
                  <a:schemeClr val="accent2"/>
                </a:solidFill>
              </a:rPr>
              <a:t>Cooling Systems:</a:t>
            </a:r>
            <a:r>
              <a:rPr lang="en-US" sz="1350" kern="0" spc="-80" dirty="0">
                <a:solidFill>
                  <a:schemeClr val="accent6"/>
                </a:solidFill>
              </a:rPr>
              <a:t> CRAC units, liquid cooling, hot/cold aisle containment.</a:t>
            </a:r>
          </a:p>
          <a:p>
            <a:r>
              <a:rPr lang="en-US" sz="1350" kern="0" spc="-80" dirty="0">
                <a:solidFill>
                  <a:schemeClr val="accent2"/>
                </a:solidFill>
              </a:rPr>
              <a:t>Fire Suppression Systems: </a:t>
            </a:r>
            <a:r>
              <a:rPr lang="en-US" sz="1350" kern="0" spc="-80" dirty="0">
                <a:solidFill>
                  <a:schemeClr val="accent6"/>
                </a:solidFill>
              </a:rPr>
              <a:t>Gas-based or water mist systems.</a:t>
            </a:r>
          </a:p>
          <a:p>
            <a:r>
              <a:rPr lang="en-US" sz="1350" kern="0" spc="-80" dirty="0">
                <a:solidFill>
                  <a:schemeClr val="accent2"/>
                </a:solidFill>
              </a:rPr>
              <a:t>Security Systems:</a:t>
            </a:r>
            <a:r>
              <a:rPr lang="en-US" sz="1350" kern="0" spc="-80" dirty="0">
                <a:solidFill>
                  <a:schemeClr val="accent6"/>
                </a:solidFill>
              </a:rPr>
              <a:t> Biometric access, CCTV, and mantraps.</a:t>
            </a:r>
          </a:p>
          <a:p>
            <a:r>
              <a:rPr lang="en-US" sz="1350" kern="0" spc="-80" dirty="0">
                <a:solidFill>
                  <a:schemeClr val="accent2"/>
                </a:solidFill>
              </a:rPr>
              <a:t>🧊 b. Power &amp; Cooling Techniques</a:t>
            </a:r>
          </a:p>
          <a:p>
            <a:r>
              <a:rPr lang="en-US" sz="1350" kern="0" spc="-80" dirty="0">
                <a:solidFill>
                  <a:schemeClr val="accent2"/>
                </a:solidFill>
              </a:rPr>
              <a:t>PUE (Power Usage Effectiveness): </a:t>
            </a:r>
            <a:r>
              <a:rPr lang="en-US" sz="1350" kern="0" spc="-80" dirty="0">
                <a:solidFill>
                  <a:schemeClr val="accent6"/>
                </a:solidFill>
              </a:rPr>
              <a:t>Efficiency metric.</a:t>
            </a:r>
          </a:p>
          <a:p>
            <a:r>
              <a:rPr lang="en-US" sz="1350" kern="0" spc="-80" dirty="0">
                <a:solidFill>
                  <a:schemeClr val="accent2"/>
                </a:solidFill>
              </a:rPr>
              <a:t>Free Cooling: </a:t>
            </a:r>
            <a:r>
              <a:rPr lang="en-US" sz="1350" kern="0" spc="-80" dirty="0">
                <a:solidFill>
                  <a:schemeClr val="accent6"/>
                </a:solidFill>
              </a:rPr>
              <a:t>Using ambient air or water.</a:t>
            </a:r>
          </a:p>
          <a:p>
            <a:r>
              <a:rPr lang="en-US" sz="1350" kern="0" spc="-80" dirty="0">
                <a:solidFill>
                  <a:schemeClr val="accent2"/>
                </a:solidFill>
              </a:rPr>
              <a:t>Liquid Immersion Cooling:</a:t>
            </a:r>
            <a:r>
              <a:rPr lang="en-US" sz="1350" kern="0" spc="-80" dirty="0">
                <a:solidFill>
                  <a:schemeClr val="accent6"/>
                </a:solidFill>
              </a:rPr>
              <a:t> Direct liquid submersion of components.</a:t>
            </a:r>
          </a:p>
          <a:p>
            <a:r>
              <a:rPr lang="en-US" sz="1350" kern="0" spc="-80" dirty="0">
                <a:solidFill>
                  <a:schemeClr val="accent2"/>
                </a:solidFill>
              </a:rPr>
              <a:t>DCIM (Data Centre Infrastructure Management): </a:t>
            </a:r>
            <a:r>
              <a:rPr lang="en-US" sz="1350" kern="0" spc="-80" dirty="0">
                <a:solidFill>
                  <a:schemeClr val="accent6"/>
                </a:solidFill>
              </a:rPr>
              <a:t>Tools to monitor temperature, power, and resources.</a:t>
            </a:r>
          </a:p>
        </p:txBody>
      </p:sp>
    </p:spTree>
    <p:extLst>
      <p:ext uri="{BB962C8B-B14F-4D97-AF65-F5344CB8AC3E}">
        <p14:creationId xmlns:p14="http://schemas.microsoft.com/office/powerpoint/2010/main" val="356551508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A9E60-38D5-12A8-9089-519D6398C0C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469AE2C-6D52-44BD-141F-08572974A4D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073E4F3-56B3-BECA-A4F1-92FB12F5DE1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98EC6BF-0F70-99F2-A94F-8D959B1A166C}"/>
              </a:ext>
            </a:extLst>
          </p:cNvPr>
          <p:cNvGraphicFramePr/>
          <p:nvPr>
            <p:extLst>
              <p:ext uri="{D42A27DB-BD31-4B8C-83A1-F6EECF244321}">
                <p14:modId xmlns:p14="http://schemas.microsoft.com/office/powerpoint/2010/main" val="3161329413"/>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BC7B66C-B165-B9E5-D138-611EFC5A66B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A1643F3-BB8F-E2FD-D72C-D0698657EC5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AABECC2-15A1-7C44-DC5D-F38140149271}"/>
              </a:ext>
            </a:extLst>
          </p:cNvPr>
          <p:cNvSpPr txBox="1">
            <a:spLocks/>
          </p:cNvSpPr>
          <p:nvPr/>
        </p:nvSpPr>
        <p:spPr>
          <a:xfrm>
            <a:off x="0" y="685800"/>
            <a:ext cx="8915399" cy="547842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kern="0" spc="-80" dirty="0">
                <a:solidFill>
                  <a:schemeClr val="accent2"/>
                </a:solidFill>
              </a:rPr>
              <a:t>Data Centre</a:t>
            </a:r>
          </a:p>
          <a:p>
            <a:r>
              <a:rPr lang="en-US" sz="1400" kern="0" spc="-80" dirty="0">
                <a:solidFill>
                  <a:schemeClr val="accent2"/>
                </a:solidFill>
              </a:rPr>
              <a:t>🖥️ 3. Compute Technologies</a:t>
            </a:r>
          </a:p>
          <a:p>
            <a:r>
              <a:rPr lang="en-US" sz="1400" kern="0" spc="-80" dirty="0">
                <a:solidFill>
                  <a:schemeClr val="accent2"/>
                </a:solidFill>
              </a:rPr>
              <a:t>🔹 Server Architectures</a:t>
            </a:r>
          </a:p>
          <a:p>
            <a:r>
              <a:rPr lang="en-US" sz="1400" kern="0" spc="-80" dirty="0">
                <a:solidFill>
                  <a:schemeClr val="accent2"/>
                </a:solidFill>
              </a:rPr>
              <a:t>Blade Servers:</a:t>
            </a:r>
            <a:r>
              <a:rPr lang="en-US" sz="1400" kern="0" spc="-80" dirty="0">
                <a:solidFill>
                  <a:schemeClr val="accent6"/>
                </a:solidFill>
              </a:rPr>
              <a:t> Modular servers for dense compute.</a:t>
            </a:r>
          </a:p>
          <a:p>
            <a:r>
              <a:rPr lang="en-US" sz="1400" kern="0" spc="-80" dirty="0">
                <a:solidFill>
                  <a:schemeClr val="accent2"/>
                </a:solidFill>
              </a:rPr>
              <a:t>Rack Servers:</a:t>
            </a:r>
            <a:r>
              <a:rPr lang="en-US" sz="1400" kern="0" spc="-80" dirty="0">
                <a:solidFill>
                  <a:schemeClr val="accent6"/>
                </a:solidFill>
              </a:rPr>
              <a:t> Standardized form factor (1U, 2U, etc.).</a:t>
            </a:r>
          </a:p>
          <a:p>
            <a:r>
              <a:rPr lang="en-US" sz="1400" kern="0" spc="-80" dirty="0">
                <a:solidFill>
                  <a:schemeClr val="accent2"/>
                </a:solidFill>
              </a:rPr>
              <a:t>Hyperconverged Infrastructure (HCI): </a:t>
            </a:r>
            <a:r>
              <a:rPr lang="en-US" sz="1400" kern="0" spc="-80" dirty="0">
                <a:solidFill>
                  <a:schemeClr val="accent6"/>
                </a:solidFill>
              </a:rPr>
              <a:t>Combines compute, storage, and networking in software-defined systems.</a:t>
            </a:r>
          </a:p>
          <a:p>
            <a:r>
              <a:rPr lang="en-US" sz="1400" kern="0" spc="-80" dirty="0">
                <a:solidFill>
                  <a:schemeClr val="accent2"/>
                </a:solidFill>
              </a:rPr>
              <a:t>🔹 Virtualization &amp; Containers</a:t>
            </a:r>
          </a:p>
          <a:p>
            <a:r>
              <a:rPr lang="en-US" sz="1400" kern="0" spc="-80" dirty="0">
                <a:solidFill>
                  <a:schemeClr val="accent2"/>
                </a:solidFill>
              </a:rPr>
              <a:t>Server Virtualization: </a:t>
            </a:r>
            <a:r>
              <a:rPr lang="en-US" sz="1400" kern="0" spc="-80" dirty="0">
                <a:solidFill>
                  <a:schemeClr val="accent6"/>
                </a:solidFill>
              </a:rPr>
              <a:t>VMware vSphere, Hyper-V, KVM.</a:t>
            </a:r>
          </a:p>
          <a:p>
            <a:r>
              <a:rPr lang="en-US" sz="1400" kern="0" spc="-80" dirty="0">
                <a:solidFill>
                  <a:schemeClr val="accent2"/>
                </a:solidFill>
              </a:rPr>
              <a:t>Containerization:</a:t>
            </a:r>
            <a:r>
              <a:rPr lang="en-US" sz="1400" kern="0" spc="-80" dirty="0">
                <a:solidFill>
                  <a:schemeClr val="accent6"/>
                </a:solidFill>
              </a:rPr>
              <a:t> Docker, </a:t>
            </a:r>
            <a:r>
              <a:rPr lang="en-US" sz="1400" kern="0" spc="-80" dirty="0" err="1">
                <a:solidFill>
                  <a:schemeClr val="accent6"/>
                </a:solidFill>
              </a:rPr>
              <a:t>Podman</a:t>
            </a:r>
            <a:r>
              <a:rPr lang="en-US" sz="1400" kern="0" spc="-80" dirty="0">
                <a:solidFill>
                  <a:schemeClr val="accent6"/>
                </a:solidFill>
              </a:rPr>
              <a:t>.</a:t>
            </a:r>
          </a:p>
          <a:p>
            <a:r>
              <a:rPr lang="en-US" sz="1400" kern="0" spc="-80" dirty="0">
                <a:solidFill>
                  <a:schemeClr val="accent2"/>
                </a:solidFill>
              </a:rPr>
              <a:t>Container Orchestration: </a:t>
            </a:r>
            <a:r>
              <a:rPr lang="en-US" sz="1400" kern="0" spc="-80" dirty="0">
                <a:solidFill>
                  <a:schemeClr val="accent6"/>
                </a:solidFill>
              </a:rPr>
              <a:t>Kubernetes, OpenShift.</a:t>
            </a:r>
          </a:p>
          <a:p>
            <a:r>
              <a:rPr lang="en-US" sz="1400" kern="0" spc="-80" dirty="0">
                <a:solidFill>
                  <a:schemeClr val="accent2"/>
                </a:solidFill>
              </a:rPr>
              <a:t>Bare Metal as a Service (BMaaS): </a:t>
            </a:r>
            <a:r>
              <a:rPr lang="en-US" sz="1400" kern="0" spc="-80" dirty="0">
                <a:solidFill>
                  <a:schemeClr val="accent6"/>
                </a:solidFill>
              </a:rPr>
              <a:t>e.g., Metal³, Canonical MAAS.</a:t>
            </a:r>
          </a:p>
          <a:p>
            <a:r>
              <a:rPr lang="en-US" sz="1400" kern="0" spc="-80" dirty="0">
                <a:solidFill>
                  <a:schemeClr val="accent2"/>
                </a:solidFill>
              </a:rPr>
              <a:t>🧮 4. Storage Technologies</a:t>
            </a:r>
          </a:p>
          <a:p>
            <a:r>
              <a:rPr lang="en-US" sz="1400" kern="0" spc="-80" dirty="0">
                <a:solidFill>
                  <a:schemeClr val="accent2"/>
                </a:solidFill>
              </a:rPr>
              <a:t>🔹 Types of Storage</a:t>
            </a:r>
          </a:p>
          <a:p>
            <a:r>
              <a:rPr lang="en-US" sz="1400" kern="0" spc="-80" dirty="0">
                <a:solidFill>
                  <a:schemeClr val="accent6"/>
                </a:solidFill>
              </a:rPr>
              <a:t>DAS (Direct-Attached Storage)</a:t>
            </a:r>
          </a:p>
          <a:p>
            <a:r>
              <a:rPr lang="en-US" sz="1400" kern="0" spc="-80" dirty="0">
                <a:solidFill>
                  <a:schemeClr val="accent6"/>
                </a:solidFill>
              </a:rPr>
              <a:t>NAS (Network-Attached Storage)</a:t>
            </a:r>
          </a:p>
          <a:p>
            <a:r>
              <a:rPr lang="en-US" sz="1400" kern="0" spc="-80" dirty="0">
                <a:solidFill>
                  <a:schemeClr val="accent6"/>
                </a:solidFill>
              </a:rPr>
              <a:t>SAN (Storage Area Network)</a:t>
            </a:r>
          </a:p>
          <a:p>
            <a:r>
              <a:rPr lang="en-US" sz="1400" kern="0" spc="-80" dirty="0">
                <a:solidFill>
                  <a:schemeClr val="accent2"/>
                </a:solidFill>
              </a:rPr>
              <a:t>Object Storage:</a:t>
            </a:r>
            <a:r>
              <a:rPr lang="en-US" sz="1400" kern="0" spc="-80" dirty="0">
                <a:solidFill>
                  <a:schemeClr val="accent6"/>
                </a:solidFill>
              </a:rPr>
              <a:t> S3, </a:t>
            </a:r>
            <a:r>
              <a:rPr lang="en-US" sz="1400" kern="0" spc="-80" dirty="0" err="1">
                <a:solidFill>
                  <a:schemeClr val="accent6"/>
                </a:solidFill>
              </a:rPr>
              <a:t>MinIO</a:t>
            </a:r>
            <a:r>
              <a:rPr lang="en-US" sz="1400" kern="0" spc="-80" dirty="0">
                <a:solidFill>
                  <a:schemeClr val="accent6"/>
                </a:solidFill>
              </a:rPr>
              <a:t>, Ceph.</a:t>
            </a:r>
          </a:p>
          <a:p>
            <a:r>
              <a:rPr lang="en-US" sz="1400" kern="0" spc="-80" dirty="0">
                <a:solidFill>
                  <a:schemeClr val="accent2"/>
                </a:solidFill>
              </a:rPr>
              <a:t>🔹 Techniques</a:t>
            </a:r>
          </a:p>
          <a:p>
            <a:r>
              <a:rPr lang="en-US" sz="1400" kern="0" spc="-80" dirty="0">
                <a:solidFill>
                  <a:schemeClr val="accent2"/>
                </a:solidFill>
              </a:rPr>
              <a:t>RAID Levels: </a:t>
            </a:r>
            <a:r>
              <a:rPr lang="en-US" sz="1400" kern="0" spc="-80" dirty="0">
                <a:solidFill>
                  <a:schemeClr val="accent6"/>
                </a:solidFill>
              </a:rPr>
              <a:t>Data redundancy and performance.</a:t>
            </a:r>
          </a:p>
          <a:p>
            <a:r>
              <a:rPr lang="en-US" sz="1400" kern="0" spc="-80" dirty="0">
                <a:solidFill>
                  <a:schemeClr val="accent2"/>
                </a:solidFill>
              </a:rPr>
              <a:t>Tiered Storage: </a:t>
            </a:r>
            <a:r>
              <a:rPr lang="en-US" sz="1400" kern="0" spc="-80" dirty="0">
                <a:solidFill>
                  <a:schemeClr val="accent6"/>
                </a:solidFill>
              </a:rPr>
              <a:t>SSD + HDD combinations.</a:t>
            </a:r>
          </a:p>
          <a:p>
            <a:r>
              <a:rPr lang="en-US" sz="1400" kern="0" spc="-80" dirty="0">
                <a:solidFill>
                  <a:schemeClr val="accent2"/>
                </a:solidFill>
              </a:rPr>
              <a:t>Storage Virtualization: </a:t>
            </a:r>
            <a:r>
              <a:rPr lang="en-US" sz="1400" kern="0" spc="-80" dirty="0">
                <a:solidFill>
                  <a:schemeClr val="accent6"/>
                </a:solidFill>
              </a:rPr>
              <a:t>Logical pooling of storage.</a:t>
            </a:r>
          </a:p>
          <a:p>
            <a:r>
              <a:rPr lang="en-US" sz="1400" kern="0" spc="-80" dirty="0">
                <a:solidFill>
                  <a:schemeClr val="accent6"/>
                </a:solidFill>
              </a:rPr>
              <a:t>Data Deduplication and Compression.</a:t>
            </a:r>
          </a:p>
          <a:p>
            <a:endParaRPr lang="en-US" sz="2400" kern="0" spc="-80" dirty="0">
              <a:solidFill>
                <a:schemeClr val="accent2"/>
              </a:solidFill>
            </a:endParaRPr>
          </a:p>
        </p:txBody>
      </p:sp>
    </p:spTree>
    <p:extLst>
      <p:ext uri="{BB962C8B-B14F-4D97-AF65-F5344CB8AC3E}">
        <p14:creationId xmlns:p14="http://schemas.microsoft.com/office/powerpoint/2010/main" val="94527075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5C514-9068-1496-7F19-181B9D6E50A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F4B0492-54FA-0960-F7DC-3C25D3D1E35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99DD36C-F481-E13A-CA1D-29A096E4297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9685FE2-8C9A-A35B-A652-411AC9F94B5D}"/>
              </a:ext>
            </a:extLst>
          </p:cNvPr>
          <p:cNvGraphicFramePr/>
          <p:nvPr>
            <p:extLst>
              <p:ext uri="{D42A27DB-BD31-4B8C-83A1-F6EECF244321}">
                <p14:modId xmlns:p14="http://schemas.microsoft.com/office/powerpoint/2010/main" val="2718020456"/>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0C7AE16-979B-A9DF-FB58-F31BF2A1512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6560B4B-DC04-D07B-72D4-5DD322CEEFB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6DDB5B2-5C18-2CA1-D740-3CE60CCB7499}"/>
              </a:ext>
            </a:extLst>
          </p:cNvPr>
          <p:cNvSpPr txBox="1">
            <a:spLocks/>
          </p:cNvSpPr>
          <p:nvPr/>
        </p:nvSpPr>
        <p:spPr>
          <a:xfrm>
            <a:off x="0" y="685800"/>
            <a:ext cx="8915399" cy="53245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kern="0" spc="-80" dirty="0">
                <a:solidFill>
                  <a:schemeClr val="accent2"/>
                </a:solidFill>
              </a:rPr>
              <a:t>Data Centre</a:t>
            </a:r>
          </a:p>
          <a:p>
            <a:r>
              <a:rPr lang="en-US" sz="1400" kern="0" spc="-80" dirty="0">
                <a:solidFill>
                  <a:schemeClr val="accent2"/>
                </a:solidFill>
              </a:rPr>
              <a:t>🔹 Software-Defined Storage (SDS)</a:t>
            </a:r>
          </a:p>
          <a:p>
            <a:r>
              <a:rPr lang="en-US" sz="1400" kern="0" spc="-80" dirty="0">
                <a:solidFill>
                  <a:schemeClr val="accent6"/>
                </a:solidFill>
              </a:rPr>
              <a:t>Ceph, </a:t>
            </a:r>
            <a:r>
              <a:rPr lang="en-US" sz="1400" kern="0" spc="-80" dirty="0" err="1">
                <a:solidFill>
                  <a:schemeClr val="accent6"/>
                </a:solidFill>
              </a:rPr>
              <a:t>GlusterFS</a:t>
            </a:r>
            <a:r>
              <a:rPr lang="en-US" sz="1400" kern="0" spc="-80" dirty="0">
                <a:solidFill>
                  <a:schemeClr val="accent6"/>
                </a:solidFill>
              </a:rPr>
              <a:t>, </a:t>
            </a:r>
            <a:r>
              <a:rPr lang="en-US" sz="1400" kern="0" spc="-80" dirty="0" err="1">
                <a:solidFill>
                  <a:schemeClr val="accent6"/>
                </a:solidFill>
              </a:rPr>
              <a:t>vSAN</a:t>
            </a:r>
            <a:r>
              <a:rPr lang="en-US" sz="1400" kern="0" spc="-80" dirty="0">
                <a:solidFill>
                  <a:schemeClr val="accent6"/>
                </a:solidFill>
              </a:rPr>
              <a:t>, </a:t>
            </a:r>
            <a:r>
              <a:rPr lang="en-US" sz="1400" kern="0" spc="-80" dirty="0" err="1">
                <a:solidFill>
                  <a:schemeClr val="accent6"/>
                </a:solidFill>
              </a:rPr>
              <a:t>StorPool</a:t>
            </a:r>
            <a:r>
              <a:rPr lang="en-US" sz="1400" kern="0" spc="-80" dirty="0">
                <a:solidFill>
                  <a:schemeClr val="accent6"/>
                </a:solidFill>
              </a:rPr>
              <a:t>, </a:t>
            </a:r>
            <a:r>
              <a:rPr lang="en-US" sz="1400" kern="0" spc="-80" dirty="0" err="1">
                <a:solidFill>
                  <a:schemeClr val="accent6"/>
                </a:solidFill>
              </a:rPr>
              <a:t>OpenEBS</a:t>
            </a:r>
            <a:r>
              <a:rPr lang="en-US" sz="1400" kern="0" spc="-80" dirty="0">
                <a:solidFill>
                  <a:schemeClr val="accent6"/>
                </a:solidFill>
              </a:rPr>
              <a:t>.</a:t>
            </a:r>
          </a:p>
          <a:p>
            <a:r>
              <a:rPr lang="en-US" sz="1400" kern="0" spc="-80" dirty="0">
                <a:solidFill>
                  <a:schemeClr val="accent2"/>
                </a:solidFill>
              </a:rPr>
              <a:t>🌐 5. Networking Technologies</a:t>
            </a:r>
          </a:p>
          <a:p>
            <a:r>
              <a:rPr lang="en-US" sz="1400" kern="0" spc="-80" dirty="0">
                <a:solidFill>
                  <a:schemeClr val="accent2"/>
                </a:solidFill>
              </a:rPr>
              <a:t>🔹 Core Network Design</a:t>
            </a:r>
          </a:p>
          <a:p>
            <a:r>
              <a:rPr lang="en-US" sz="1400" kern="0" spc="-80" dirty="0">
                <a:solidFill>
                  <a:schemeClr val="accent2"/>
                </a:solidFill>
              </a:rPr>
              <a:t>Topologies:</a:t>
            </a:r>
            <a:r>
              <a:rPr lang="en-US" sz="1400" kern="0" spc="-80" dirty="0">
                <a:solidFill>
                  <a:schemeClr val="accent6"/>
                </a:solidFill>
              </a:rPr>
              <a:t> Spine-leaf, 3-tier (core-aggregation-access).</a:t>
            </a:r>
          </a:p>
          <a:p>
            <a:r>
              <a:rPr lang="en-US" sz="1400" kern="0" spc="-80" dirty="0">
                <a:solidFill>
                  <a:schemeClr val="accent2"/>
                </a:solidFill>
              </a:rPr>
              <a:t>High-Speed Connectivity: </a:t>
            </a:r>
            <a:r>
              <a:rPr lang="en-US" sz="1400" kern="0" spc="-80" dirty="0">
                <a:solidFill>
                  <a:schemeClr val="accent6"/>
                </a:solidFill>
              </a:rPr>
              <a:t>10G/40G/100G/400G Ethernet.</a:t>
            </a:r>
          </a:p>
          <a:p>
            <a:r>
              <a:rPr lang="en-US" sz="1400" kern="0" spc="-80" dirty="0" err="1">
                <a:solidFill>
                  <a:schemeClr val="accent2"/>
                </a:solidFill>
              </a:rPr>
              <a:t>Fibre</a:t>
            </a:r>
            <a:r>
              <a:rPr lang="en-US" sz="1400" kern="0" spc="-80" dirty="0">
                <a:solidFill>
                  <a:schemeClr val="accent2"/>
                </a:solidFill>
              </a:rPr>
              <a:t> Channel:</a:t>
            </a:r>
            <a:r>
              <a:rPr lang="en-US" sz="1400" kern="0" spc="-80" dirty="0">
                <a:solidFill>
                  <a:schemeClr val="accent6"/>
                </a:solidFill>
              </a:rPr>
              <a:t> For SAN.</a:t>
            </a:r>
          </a:p>
          <a:p>
            <a:r>
              <a:rPr lang="en-US" sz="1400" kern="0" spc="-80" dirty="0">
                <a:solidFill>
                  <a:schemeClr val="accent2"/>
                </a:solidFill>
              </a:rPr>
              <a:t>🔹 Virtual Networking</a:t>
            </a:r>
          </a:p>
          <a:p>
            <a:r>
              <a:rPr lang="en-US" sz="1400" kern="0" spc="-80" dirty="0">
                <a:solidFill>
                  <a:schemeClr val="accent2"/>
                </a:solidFill>
              </a:rPr>
              <a:t>SDN (Software-Defined Networking): </a:t>
            </a:r>
            <a:r>
              <a:rPr lang="en-US" sz="1400" kern="0" spc="-80" dirty="0">
                <a:solidFill>
                  <a:schemeClr val="accent6"/>
                </a:solidFill>
              </a:rPr>
              <a:t>OpenFlow, Cisco ACI, VMware NSX.</a:t>
            </a:r>
          </a:p>
          <a:p>
            <a:r>
              <a:rPr lang="en-US" sz="1400" kern="0" spc="-80" dirty="0">
                <a:solidFill>
                  <a:schemeClr val="accent2"/>
                </a:solidFill>
              </a:rPr>
              <a:t>Network Virtualization: </a:t>
            </a:r>
            <a:r>
              <a:rPr lang="en-US" sz="1400" kern="0" spc="-80" dirty="0">
                <a:solidFill>
                  <a:schemeClr val="accent6"/>
                </a:solidFill>
              </a:rPr>
              <a:t>VXLAN, GRE, NVGRE.</a:t>
            </a:r>
          </a:p>
          <a:p>
            <a:r>
              <a:rPr lang="en-US" sz="1400" kern="0" spc="-80" dirty="0">
                <a:solidFill>
                  <a:schemeClr val="accent2"/>
                </a:solidFill>
              </a:rPr>
              <a:t>Load Balancing: </a:t>
            </a:r>
            <a:r>
              <a:rPr lang="en-US" sz="1400" kern="0" spc="-80" dirty="0">
                <a:solidFill>
                  <a:schemeClr val="accent6"/>
                </a:solidFill>
              </a:rPr>
              <a:t>F5, </a:t>
            </a:r>
            <a:r>
              <a:rPr lang="en-US" sz="1400" kern="0" spc="-80" dirty="0" err="1">
                <a:solidFill>
                  <a:schemeClr val="accent6"/>
                </a:solidFill>
              </a:rPr>
              <a:t>HAProxy</a:t>
            </a:r>
            <a:r>
              <a:rPr lang="en-US" sz="1400" kern="0" spc="-80" dirty="0">
                <a:solidFill>
                  <a:schemeClr val="accent6"/>
                </a:solidFill>
              </a:rPr>
              <a:t>, Nginx.</a:t>
            </a:r>
          </a:p>
          <a:p>
            <a:r>
              <a:rPr lang="en-US" sz="1400" kern="0" spc="-80" dirty="0">
                <a:solidFill>
                  <a:schemeClr val="accent6"/>
                </a:solidFill>
              </a:rPr>
              <a:t>Zero Trust &amp; </a:t>
            </a:r>
            <a:r>
              <a:rPr lang="en-US" sz="1400" kern="0" spc="-80" dirty="0" err="1">
                <a:solidFill>
                  <a:schemeClr val="accent6"/>
                </a:solidFill>
              </a:rPr>
              <a:t>Microsegmentation</a:t>
            </a:r>
            <a:r>
              <a:rPr lang="en-US" sz="1400" kern="0" spc="-80" dirty="0">
                <a:solidFill>
                  <a:schemeClr val="accent6"/>
                </a:solidFill>
              </a:rPr>
              <a:t>.</a:t>
            </a:r>
          </a:p>
          <a:p>
            <a:r>
              <a:rPr lang="en-US" sz="1400" kern="0" spc="-80" dirty="0">
                <a:solidFill>
                  <a:schemeClr val="accent2"/>
                </a:solidFill>
              </a:rPr>
              <a:t>☁️ 6. Cloud Integration &amp; Virtual Data </a:t>
            </a:r>
            <a:r>
              <a:rPr lang="en-US" sz="1400" kern="0" spc="-80" dirty="0" err="1">
                <a:solidFill>
                  <a:schemeClr val="accent2"/>
                </a:solidFill>
              </a:rPr>
              <a:t>Centres</a:t>
            </a:r>
            <a:endParaRPr lang="en-US" sz="1400" kern="0" spc="-80" dirty="0">
              <a:solidFill>
                <a:schemeClr val="accent2"/>
              </a:solidFill>
            </a:endParaRPr>
          </a:p>
          <a:p>
            <a:r>
              <a:rPr lang="en-US" sz="1400" kern="0" spc="-80" dirty="0">
                <a:solidFill>
                  <a:schemeClr val="accent2"/>
                </a:solidFill>
              </a:rPr>
              <a:t>🔹 Types</a:t>
            </a:r>
          </a:p>
          <a:p>
            <a:r>
              <a:rPr lang="en-US" sz="1400" kern="0" spc="-80" dirty="0">
                <a:solidFill>
                  <a:schemeClr val="accent2"/>
                </a:solidFill>
              </a:rPr>
              <a:t>Private Cloud: </a:t>
            </a:r>
            <a:r>
              <a:rPr lang="en-US" sz="1400" kern="0" spc="-80" dirty="0">
                <a:solidFill>
                  <a:schemeClr val="accent6"/>
                </a:solidFill>
              </a:rPr>
              <a:t>OpenStack, VMware Cloud Foundation.</a:t>
            </a:r>
          </a:p>
          <a:p>
            <a:r>
              <a:rPr lang="en-US" sz="1400" kern="0" spc="-80" dirty="0">
                <a:solidFill>
                  <a:schemeClr val="accent2"/>
                </a:solidFill>
              </a:rPr>
              <a:t>Hybrid Cloud: </a:t>
            </a:r>
            <a:r>
              <a:rPr lang="en-US" sz="1400" kern="0" spc="-80" dirty="0">
                <a:solidFill>
                  <a:schemeClr val="accent6"/>
                </a:solidFill>
              </a:rPr>
              <a:t>Integration with Azure Arc, AWS Outposts, Google Anthos.</a:t>
            </a:r>
          </a:p>
          <a:p>
            <a:r>
              <a:rPr lang="en-US" sz="1400" kern="0" spc="-80" dirty="0">
                <a:solidFill>
                  <a:schemeClr val="accent2"/>
                </a:solidFill>
              </a:rPr>
              <a:t>Public Cloud Extensions:</a:t>
            </a:r>
            <a:r>
              <a:rPr lang="en-US" sz="1400" kern="0" spc="-80" dirty="0">
                <a:solidFill>
                  <a:schemeClr val="accent6"/>
                </a:solidFill>
              </a:rPr>
              <a:t> On-prem data </a:t>
            </a:r>
            <a:r>
              <a:rPr lang="en-US" sz="1400" kern="0" spc="-80" dirty="0" err="1">
                <a:solidFill>
                  <a:schemeClr val="accent6"/>
                </a:solidFill>
              </a:rPr>
              <a:t>centres</a:t>
            </a:r>
            <a:r>
              <a:rPr lang="en-US" sz="1400" kern="0" spc="-80" dirty="0">
                <a:solidFill>
                  <a:schemeClr val="accent6"/>
                </a:solidFill>
              </a:rPr>
              <a:t> connected to cloud.</a:t>
            </a:r>
          </a:p>
          <a:p>
            <a:r>
              <a:rPr lang="en-US" sz="1400" kern="0" spc="-80" dirty="0">
                <a:solidFill>
                  <a:schemeClr val="accent2"/>
                </a:solidFill>
              </a:rPr>
              <a:t>🔹 Virtual Data Centre (VDC)</a:t>
            </a:r>
          </a:p>
          <a:p>
            <a:r>
              <a:rPr lang="en-US" sz="1400" kern="0" spc="-80" dirty="0">
                <a:solidFill>
                  <a:schemeClr val="accent6"/>
                </a:solidFill>
              </a:rPr>
              <a:t>Logical abstraction of resources with software-defined infrastructure (SDI).</a:t>
            </a:r>
          </a:p>
          <a:p>
            <a:r>
              <a:rPr lang="en-US" sz="1400" kern="0" spc="-80" dirty="0">
                <a:solidFill>
                  <a:schemeClr val="accent2"/>
                </a:solidFill>
              </a:rPr>
              <a:t>🧠 7. Automation, Orchestration &amp; Management</a:t>
            </a:r>
          </a:p>
          <a:p>
            <a:r>
              <a:rPr lang="en-US" sz="1400" kern="0" spc="-80" dirty="0">
                <a:solidFill>
                  <a:schemeClr val="accent2"/>
                </a:solidFill>
              </a:rPr>
              <a:t>🔹 Tools &amp; Frameworks</a:t>
            </a:r>
          </a:p>
          <a:p>
            <a:r>
              <a:rPr lang="en-US" sz="1400" kern="0" spc="-80" dirty="0">
                <a:solidFill>
                  <a:schemeClr val="accent2"/>
                </a:solidFill>
              </a:rPr>
              <a:t>Infrastructure as Code (</a:t>
            </a:r>
            <a:r>
              <a:rPr lang="en-US" sz="1400" kern="0" spc="-80" dirty="0" err="1">
                <a:solidFill>
                  <a:schemeClr val="accent2"/>
                </a:solidFill>
              </a:rPr>
              <a:t>IaC</a:t>
            </a:r>
            <a:r>
              <a:rPr lang="en-US" sz="1400" kern="0" spc="-80" dirty="0">
                <a:solidFill>
                  <a:schemeClr val="accent2"/>
                </a:solidFill>
              </a:rPr>
              <a:t>): </a:t>
            </a:r>
            <a:r>
              <a:rPr lang="en-US" sz="1400" kern="0" spc="-80" dirty="0">
                <a:solidFill>
                  <a:schemeClr val="accent6"/>
                </a:solidFill>
              </a:rPr>
              <a:t>Terraform, Ansible, Puppet, Chef.</a:t>
            </a:r>
          </a:p>
          <a:p>
            <a:r>
              <a:rPr lang="en-US" sz="1400" kern="0" spc="-80" dirty="0">
                <a:solidFill>
                  <a:schemeClr val="accent2"/>
                </a:solidFill>
              </a:rPr>
              <a:t>Monitoring: </a:t>
            </a:r>
            <a:r>
              <a:rPr lang="en-US" sz="1400" kern="0" spc="-80" dirty="0">
                <a:solidFill>
                  <a:schemeClr val="accent6"/>
                </a:solidFill>
              </a:rPr>
              <a:t>Prometheus, Nagios, Zabbix, Grafana.</a:t>
            </a:r>
          </a:p>
        </p:txBody>
      </p:sp>
    </p:spTree>
    <p:extLst>
      <p:ext uri="{BB962C8B-B14F-4D97-AF65-F5344CB8AC3E}">
        <p14:creationId xmlns:p14="http://schemas.microsoft.com/office/powerpoint/2010/main" val="424515064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3B5CB-8F9E-D6B2-171E-FEB4A8FC567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2A80453-91B4-82D2-3061-DBF9596BCC9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0A6F36D-0D76-29C8-3B9B-A64457B3384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890EDFB-3859-6256-D321-1C0B5FE1204D}"/>
              </a:ext>
            </a:extLst>
          </p:cNvPr>
          <p:cNvGraphicFramePr/>
          <p:nvPr>
            <p:extLst>
              <p:ext uri="{D42A27DB-BD31-4B8C-83A1-F6EECF244321}">
                <p14:modId xmlns:p14="http://schemas.microsoft.com/office/powerpoint/2010/main" val="834426599"/>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8D154A5-0152-0F6B-61B2-403C4EEE49A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E04CB29-ACBC-6568-EF09-0AAAD972EFB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8825C982-13A8-5A99-2B8D-E1FDA24FD7EF}"/>
              </a:ext>
            </a:extLst>
          </p:cNvPr>
          <p:cNvSpPr txBox="1">
            <a:spLocks/>
          </p:cNvSpPr>
          <p:nvPr/>
        </p:nvSpPr>
        <p:spPr>
          <a:xfrm>
            <a:off x="0" y="685800"/>
            <a:ext cx="8915399"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kern="0" spc="-80" dirty="0">
                <a:solidFill>
                  <a:schemeClr val="accent2"/>
                </a:solidFill>
              </a:rPr>
              <a:t>Data Centre</a:t>
            </a:r>
          </a:p>
          <a:p>
            <a:endParaRPr lang="en-US" sz="1400" kern="0" spc="-80" dirty="0">
              <a:solidFill>
                <a:schemeClr val="accent2"/>
              </a:solidFill>
            </a:endParaRPr>
          </a:p>
          <a:p>
            <a:r>
              <a:rPr lang="en-US" sz="1400" kern="0" spc="-80" dirty="0">
                <a:solidFill>
                  <a:schemeClr val="accent2"/>
                </a:solidFill>
              </a:rPr>
              <a:t>Configuration Management:</a:t>
            </a:r>
            <a:r>
              <a:rPr lang="en-US" sz="1400" kern="0" spc="-80" dirty="0">
                <a:solidFill>
                  <a:schemeClr val="accent6"/>
                </a:solidFill>
              </a:rPr>
              <a:t> </a:t>
            </a:r>
            <a:r>
              <a:rPr lang="en-US" sz="1400" kern="0" spc="-80" dirty="0" err="1">
                <a:solidFill>
                  <a:schemeClr val="accent6"/>
                </a:solidFill>
              </a:rPr>
              <a:t>SaltStack</a:t>
            </a:r>
            <a:r>
              <a:rPr lang="en-US" sz="1400" kern="0" spc="-80" dirty="0">
                <a:solidFill>
                  <a:schemeClr val="accent6"/>
                </a:solidFill>
              </a:rPr>
              <a:t>, Ansible.</a:t>
            </a:r>
          </a:p>
          <a:p>
            <a:r>
              <a:rPr lang="en-US" sz="1400" kern="0" spc="-80" dirty="0">
                <a:solidFill>
                  <a:schemeClr val="accent2"/>
                </a:solidFill>
              </a:rPr>
              <a:t>Automation Platforms:</a:t>
            </a:r>
            <a:r>
              <a:rPr lang="en-US" sz="1400" kern="0" spc="-80" dirty="0">
                <a:solidFill>
                  <a:schemeClr val="accent6"/>
                </a:solidFill>
              </a:rPr>
              <a:t> </a:t>
            </a:r>
            <a:r>
              <a:rPr lang="en-US" sz="1400" kern="0" spc="-80" dirty="0" err="1">
                <a:solidFill>
                  <a:schemeClr val="accent6"/>
                </a:solidFill>
              </a:rPr>
              <a:t>vRealize</a:t>
            </a:r>
            <a:r>
              <a:rPr lang="en-US" sz="1400" kern="0" spc="-80" dirty="0">
                <a:solidFill>
                  <a:schemeClr val="accent6"/>
                </a:solidFill>
              </a:rPr>
              <a:t>, Red Hat Ansible Automation Platform.</a:t>
            </a:r>
          </a:p>
          <a:p>
            <a:r>
              <a:rPr lang="en-US" sz="1400" kern="0" spc="-80" dirty="0">
                <a:solidFill>
                  <a:schemeClr val="accent2"/>
                </a:solidFill>
              </a:rPr>
              <a:t>🔹 Observability Techniques</a:t>
            </a:r>
          </a:p>
          <a:p>
            <a:r>
              <a:rPr lang="en-US" sz="1400" kern="0" spc="-80" dirty="0">
                <a:solidFill>
                  <a:schemeClr val="accent6"/>
                </a:solidFill>
              </a:rPr>
              <a:t>Metrics, Logs, Traces.</a:t>
            </a:r>
          </a:p>
          <a:p>
            <a:r>
              <a:rPr lang="en-US" sz="1400" kern="0" spc="-80" dirty="0">
                <a:solidFill>
                  <a:schemeClr val="accent2"/>
                </a:solidFill>
              </a:rPr>
              <a:t>AIOps:</a:t>
            </a:r>
            <a:r>
              <a:rPr lang="en-US" sz="1400" kern="0" spc="-80" dirty="0">
                <a:solidFill>
                  <a:schemeClr val="accent6"/>
                </a:solidFill>
              </a:rPr>
              <a:t> AI-driven operations for predictive analysis.</a:t>
            </a:r>
          </a:p>
          <a:p>
            <a:r>
              <a:rPr lang="en-US" sz="1400" kern="0" spc="-80" dirty="0">
                <a:solidFill>
                  <a:schemeClr val="accent2"/>
                </a:solidFill>
              </a:rPr>
              <a:t>🔐 8. Security &amp; Compliance</a:t>
            </a:r>
          </a:p>
          <a:p>
            <a:r>
              <a:rPr lang="en-US" sz="1400" kern="0" spc="-80" dirty="0">
                <a:solidFill>
                  <a:schemeClr val="accent2"/>
                </a:solidFill>
              </a:rPr>
              <a:t>🔹 Security Layers</a:t>
            </a:r>
          </a:p>
          <a:p>
            <a:r>
              <a:rPr lang="en-US" sz="1400" kern="0" spc="-80" dirty="0">
                <a:solidFill>
                  <a:schemeClr val="accent2"/>
                </a:solidFill>
              </a:rPr>
              <a:t>Physical:</a:t>
            </a:r>
            <a:r>
              <a:rPr lang="en-US" sz="1400" kern="0" spc="-80" dirty="0">
                <a:solidFill>
                  <a:schemeClr val="accent6"/>
                </a:solidFill>
              </a:rPr>
              <a:t> Access control, surveillance.</a:t>
            </a:r>
          </a:p>
          <a:p>
            <a:r>
              <a:rPr lang="en-US" sz="1400" kern="0" spc="-80" dirty="0">
                <a:solidFill>
                  <a:schemeClr val="accent2"/>
                </a:solidFill>
              </a:rPr>
              <a:t>Network:</a:t>
            </a:r>
            <a:r>
              <a:rPr lang="en-US" sz="1400" kern="0" spc="-80" dirty="0">
                <a:solidFill>
                  <a:schemeClr val="accent6"/>
                </a:solidFill>
              </a:rPr>
              <a:t> Firewalls, IDS/IPS, DDoS protection.</a:t>
            </a:r>
          </a:p>
          <a:p>
            <a:r>
              <a:rPr lang="en-US" sz="1400" kern="0" spc="-80" dirty="0">
                <a:solidFill>
                  <a:schemeClr val="accent2"/>
                </a:solidFill>
              </a:rPr>
              <a:t>Application:</a:t>
            </a:r>
            <a:r>
              <a:rPr lang="en-US" sz="1400" kern="0" spc="-80" dirty="0">
                <a:solidFill>
                  <a:schemeClr val="accent6"/>
                </a:solidFill>
              </a:rPr>
              <a:t> WAF, API gateways.</a:t>
            </a:r>
          </a:p>
          <a:p>
            <a:r>
              <a:rPr lang="en-US" sz="1400" kern="0" spc="-80" dirty="0">
                <a:solidFill>
                  <a:schemeClr val="accent2"/>
                </a:solidFill>
              </a:rPr>
              <a:t>Data:</a:t>
            </a:r>
            <a:r>
              <a:rPr lang="en-US" sz="1400" kern="0" spc="-80" dirty="0">
                <a:solidFill>
                  <a:schemeClr val="accent6"/>
                </a:solidFill>
              </a:rPr>
              <a:t> Encryption at rest &amp; transit, key management (HSM).</a:t>
            </a:r>
          </a:p>
          <a:p>
            <a:r>
              <a:rPr lang="en-US" sz="1400" kern="0" spc="-80" dirty="0">
                <a:solidFill>
                  <a:schemeClr val="accent2"/>
                </a:solidFill>
              </a:rPr>
              <a:t>🔹 Compliance Frameworks</a:t>
            </a:r>
          </a:p>
          <a:p>
            <a:r>
              <a:rPr lang="en-US" sz="1400" kern="0" spc="-80" dirty="0">
                <a:solidFill>
                  <a:schemeClr val="accent6"/>
                </a:solidFill>
              </a:rPr>
              <a:t>ISO 27001, SOC 2, PCI DSS, HIPAA, GDPR.</a:t>
            </a:r>
          </a:p>
          <a:p>
            <a:r>
              <a:rPr lang="en-US" sz="1400" kern="0" spc="-80" dirty="0">
                <a:solidFill>
                  <a:schemeClr val="accent2"/>
                </a:solidFill>
              </a:rPr>
              <a:t>♻️ 9. Green &amp; Sustainable Data </a:t>
            </a:r>
            <a:r>
              <a:rPr lang="en-US" sz="1400" kern="0" spc="-80" dirty="0" err="1">
                <a:solidFill>
                  <a:schemeClr val="accent2"/>
                </a:solidFill>
              </a:rPr>
              <a:t>Centres</a:t>
            </a:r>
            <a:endParaRPr lang="en-US" sz="1400" kern="0" spc="-80" dirty="0">
              <a:solidFill>
                <a:schemeClr val="accent2"/>
              </a:solidFill>
            </a:endParaRPr>
          </a:p>
          <a:p>
            <a:r>
              <a:rPr lang="en-US" sz="1400" kern="0" spc="-80" dirty="0">
                <a:solidFill>
                  <a:schemeClr val="accent2"/>
                </a:solidFill>
              </a:rPr>
              <a:t>🔹 Techniques</a:t>
            </a:r>
          </a:p>
          <a:p>
            <a:r>
              <a:rPr lang="en-US" sz="1400" kern="0" spc="-80" dirty="0">
                <a:solidFill>
                  <a:schemeClr val="accent6"/>
                </a:solidFill>
              </a:rPr>
              <a:t>Renewable energy usage (solar, wind).</a:t>
            </a:r>
          </a:p>
          <a:p>
            <a:r>
              <a:rPr lang="en-US" sz="1400" kern="0" spc="-80" dirty="0">
                <a:solidFill>
                  <a:schemeClr val="accent6"/>
                </a:solidFill>
              </a:rPr>
              <a:t>AI-driven cooling optimization (Google, Meta).</a:t>
            </a:r>
          </a:p>
          <a:p>
            <a:r>
              <a:rPr lang="en-US" sz="1400" kern="0" spc="-80" dirty="0">
                <a:solidFill>
                  <a:schemeClr val="accent6"/>
                </a:solidFill>
              </a:rPr>
              <a:t>Carbon footprint tracking.</a:t>
            </a:r>
          </a:p>
          <a:p>
            <a:r>
              <a:rPr lang="en-US" sz="1400" kern="0" spc="-80" dirty="0">
                <a:solidFill>
                  <a:schemeClr val="accent6"/>
                </a:solidFill>
              </a:rPr>
              <a:t>Waste heat reuse.</a:t>
            </a:r>
          </a:p>
        </p:txBody>
      </p:sp>
    </p:spTree>
    <p:extLst>
      <p:ext uri="{BB962C8B-B14F-4D97-AF65-F5344CB8AC3E}">
        <p14:creationId xmlns:p14="http://schemas.microsoft.com/office/powerpoint/2010/main" val="106648401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E44EC-CE5D-F401-7A82-436DA211BC7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CB2CA26-5ECA-B109-D1C5-655EC16D8F5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D8C8395-CCF3-B143-692B-8420A7D241B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1BD1189-41D6-D818-CB5D-71F8AE7AE430}"/>
              </a:ext>
            </a:extLst>
          </p:cNvPr>
          <p:cNvGraphicFramePr/>
          <p:nvPr>
            <p:extLst>
              <p:ext uri="{D42A27DB-BD31-4B8C-83A1-F6EECF244321}">
                <p14:modId xmlns:p14="http://schemas.microsoft.com/office/powerpoint/2010/main" val="1346275917"/>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5619D81-A81C-D171-EC91-12122A685AE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2EB54D7-E937-36F2-D6B1-BABC8072873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319D2AE8-53A8-A9E6-617D-04E450F8782F}"/>
              </a:ext>
            </a:extLst>
          </p:cNvPr>
          <p:cNvSpPr txBox="1">
            <a:spLocks/>
          </p:cNvSpPr>
          <p:nvPr/>
        </p:nvSpPr>
        <p:spPr>
          <a:xfrm>
            <a:off x="0" y="685800"/>
            <a:ext cx="8915399" cy="59093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kern="0" spc="-80" dirty="0">
                <a:solidFill>
                  <a:schemeClr val="accent2"/>
                </a:solidFill>
              </a:rPr>
              <a:t>Data Centre</a:t>
            </a:r>
          </a:p>
          <a:p>
            <a:r>
              <a:rPr lang="en-US" sz="1350" kern="0" spc="-80" dirty="0">
                <a:solidFill>
                  <a:schemeClr val="accent2"/>
                </a:solidFill>
              </a:rPr>
              <a:t>🧩 10. Emerging &amp; Advanced Technologies</a:t>
            </a:r>
          </a:p>
          <a:p>
            <a:r>
              <a:rPr lang="en-US" sz="1350" kern="0" spc="-80" dirty="0">
                <a:solidFill>
                  <a:schemeClr val="accent2"/>
                </a:solidFill>
              </a:rPr>
              <a:t>Category	                Emerging Tech	                                           Purpose</a:t>
            </a:r>
          </a:p>
          <a:p>
            <a:r>
              <a:rPr lang="en-US" sz="1350" kern="0" spc="-80" dirty="0">
                <a:solidFill>
                  <a:schemeClr val="accent6"/>
                </a:solidFill>
              </a:rPr>
              <a:t>Compute	                Quantum &amp; neuromorphic computing	  Next-gen processing</a:t>
            </a:r>
          </a:p>
          <a:p>
            <a:r>
              <a:rPr lang="en-US" sz="1350" kern="0" spc="-80" dirty="0">
                <a:solidFill>
                  <a:schemeClr val="accent6"/>
                </a:solidFill>
              </a:rPr>
              <a:t>Cooling	                Immersion &amp; rear-door liquid cooling	                       Efficiency</a:t>
            </a:r>
          </a:p>
          <a:p>
            <a:r>
              <a:rPr lang="en-US" sz="1350" kern="0" spc="-80" dirty="0">
                <a:solidFill>
                  <a:schemeClr val="accent6"/>
                </a:solidFill>
              </a:rPr>
              <a:t>Storage	                DNA &amp; holographic storage	                       Long-term data archiving</a:t>
            </a:r>
          </a:p>
          <a:p>
            <a:r>
              <a:rPr lang="en-US" sz="1350" kern="0" spc="-80" dirty="0">
                <a:solidFill>
                  <a:schemeClr val="accent6"/>
                </a:solidFill>
              </a:rPr>
              <a:t>Networking               800G Ethernet, optical interconnects	                       Ultra-high-speed data transfer</a:t>
            </a:r>
          </a:p>
          <a:p>
            <a:r>
              <a:rPr lang="en-US" sz="1350" kern="0" spc="-80" dirty="0">
                <a:solidFill>
                  <a:schemeClr val="accent6"/>
                </a:solidFill>
              </a:rPr>
              <a:t>Automation               AI/ML for predictive ops	                                            Self-healing DCs</a:t>
            </a:r>
          </a:p>
          <a:p>
            <a:r>
              <a:rPr lang="en-US" sz="1350" kern="0" spc="-80" dirty="0">
                <a:solidFill>
                  <a:schemeClr val="accent6"/>
                </a:solidFill>
              </a:rPr>
              <a:t>Edge Computing      Micro data </a:t>
            </a:r>
            <a:r>
              <a:rPr lang="en-US" sz="1350" kern="0" spc="-80" dirty="0" err="1">
                <a:solidFill>
                  <a:schemeClr val="accent6"/>
                </a:solidFill>
              </a:rPr>
              <a:t>centres</a:t>
            </a:r>
            <a:r>
              <a:rPr lang="en-US" sz="1350" kern="0" spc="-80" dirty="0">
                <a:solidFill>
                  <a:schemeClr val="accent6"/>
                </a:solidFill>
              </a:rPr>
              <a:t>	                                            Low-latency, near-user computing</a:t>
            </a:r>
          </a:p>
          <a:p>
            <a:r>
              <a:rPr lang="en-US" sz="1350" kern="0" spc="-80" dirty="0">
                <a:solidFill>
                  <a:schemeClr val="accent2"/>
                </a:solidFill>
              </a:rPr>
              <a:t>🧭 11. Data Centre Architectures</a:t>
            </a:r>
          </a:p>
          <a:p>
            <a:r>
              <a:rPr lang="en-US" sz="1350" kern="0" spc="-80" dirty="0">
                <a:solidFill>
                  <a:schemeClr val="accent2"/>
                </a:solidFill>
              </a:rPr>
              <a:t>Tier I–IV Classification (Uptime Institute):</a:t>
            </a:r>
          </a:p>
          <a:p>
            <a:r>
              <a:rPr lang="en-US" sz="1350" kern="0" spc="-80" dirty="0">
                <a:solidFill>
                  <a:schemeClr val="accent2"/>
                </a:solidFill>
              </a:rPr>
              <a:t>Tier I: </a:t>
            </a:r>
            <a:r>
              <a:rPr lang="en-US" sz="1350" kern="0" spc="-80" dirty="0">
                <a:solidFill>
                  <a:schemeClr val="accent6"/>
                </a:solidFill>
              </a:rPr>
              <a:t>Basic</a:t>
            </a:r>
          </a:p>
          <a:p>
            <a:r>
              <a:rPr lang="en-US" sz="1350" kern="0" spc="-80" dirty="0">
                <a:solidFill>
                  <a:schemeClr val="accent2"/>
                </a:solidFill>
              </a:rPr>
              <a:t>Tier II:</a:t>
            </a:r>
            <a:r>
              <a:rPr lang="en-US" sz="1350" kern="0" spc="-80" dirty="0">
                <a:solidFill>
                  <a:schemeClr val="accent6"/>
                </a:solidFill>
              </a:rPr>
              <a:t> Redundant</a:t>
            </a:r>
          </a:p>
          <a:p>
            <a:r>
              <a:rPr lang="en-US" sz="1350" kern="0" spc="-80" dirty="0">
                <a:solidFill>
                  <a:schemeClr val="accent2"/>
                </a:solidFill>
              </a:rPr>
              <a:t>Tier III: </a:t>
            </a:r>
            <a:r>
              <a:rPr lang="en-US" sz="1350" kern="0" spc="-80" dirty="0">
                <a:solidFill>
                  <a:schemeClr val="accent6"/>
                </a:solidFill>
              </a:rPr>
              <a:t>Concurrently maintainable</a:t>
            </a:r>
          </a:p>
          <a:p>
            <a:r>
              <a:rPr lang="en-US" sz="1350" kern="0" spc="-80" dirty="0">
                <a:solidFill>
                  <a:schemeClr val="accent2"/>
                </a:solidFill>
              </a:rPr>
              <a:t>Tier IV: </a:t>
            </a:r>
            <a:r>
              <a:rPr lang="en-US" sz="1350" kern="0" spc="-80" dirty="0">
                <a:solidFill>
                  <a:schemeClr val="accent6"/>
                </a:solidFill>
              </a:rPr>
              <a:t>Fault-tolerant</a:t>
            </a:r>
          </a:p>
          <a:p>
            <a:r>
              <a:rPr lang="en-US" sz="1350" kern="0" spc="-80" dirty="0">
                <a:solidFill>
                  <a:schemeClr val="accent2"/>
                </a:solidFill>
              </a:rPr>
              <a:t>Modular Data </a:t>
            </a:r>
            <a:r>
              <a:rPr lang="en-US" sz="1350" kern="0" spc="-80" dirty="0" err="1">
                <a:solidFill>
                  <a:schemeClr val="accent2"/>
                </a:solidFill>
              </a:rPr>
              <a:t>Centres</a:t>
            </a:r>
            <a:r>
              <a:rPr lang="en-US" sz="1350" kern="0" spc="-80" dirty="0">
                <a:solidFill>
                  <a:schemeClr val="accent2"/>
                </a:solidFill>
              </a:rPr>
              <a:t>: </a:t>
            </a:r>
            <a:r>
              <a:rPr lang="en-US" sz="1350" kern="0" spc="-80" dirty="0">
                <a:solidFill>
                  <a:schemeClr val="accent6"/>
                </a:solidFill>
              </a:rPr>
              <a:t>Prefabricated, portable containers.</a:t>
            </a:r>
          </a:p>
          <a:p>
            <a:r>
              <a:rPr lang="en-US" sz="1350" kern="0" spc="-80" dirty="0">
                <a:solidFill>
                  <a:schemeClr val="accent2"/>
                </a:solidFill>
              </a:rPr>
              <a:t>Edge Data </a:t>
            </a:r>
            <a:r>
              <a:rPr lang="en-US" sz="1350" kern="0" spc="-80" dirty="0" err="1">
                <a:solidFill>
                  <a:schemeClr val="accent2"/>
                </a:solidFill>
              </a:rPr>
              <a:t>Centres</a:t>
            </a:r>
            <a:r>
              <a:rPr lang="en-US" sz="1350" kern="0" spc="-80" dirty="0">
                <a:solidFill>
                  <a:schemeClr val="accent2"/>
                </a:solidFill>
              </a:rPr>
              <a:t>: </a:t>
            </a:r>
            <a:r>
              <a:rPr lang="en-US" sz="1350" kern="0" spc="-80" dirty="0">
                <a:solidFill>
                  <a:schemeClr val="accent6"/>
                </a:solidFill>
              </a:rPr>
              <a:t>Distributed near users or IoT devices.</a:t>
            </a:r>
          </a:p>
          <a:p>
            <a:r>
              <a:rPr lang="en-US" sz="1350" kern="0" spc="-80" dirty="0">
                <a:solidFill>
                  <a:schemeClr val="accent2"/>
                </a:solidFill>
              </a:rPr>
              <a:t>🧰 12. Key Vendors &amp; Ecosystem Players</a:t>
            </a:r>
          </a:p>
          <a:p>
            <a:r>
              <a:rPr lang="en-US" sz="1350" kern="0" spc="-80" dirty="0">
                <a:solidFill>
                  <a:schemeClr val="accent2"/>
                </a:solidFill>
              </a:rPr>
              <a:t>Category	                 Examples</a:t>
            </a:r>
          </a:p>
          <a:p>
            <a:r>
              <a:rPr lang="en-US" sz="1350" kern="0" spc="-80" dirty="0">
                <a:solidFill>
                  <a:schemeClr val="accent6"/>
                </a:solidFill>
              </a:rPr>
              <a:t>Servers	                 Dell EMC, HPE, Lenovo, Supermicro</a:t>
            </a:r>
          </a:p>
          <a:p>
            <a:r>
              <a:rPr lang="en-US" sz="1350" kern="0" spc="-80" dirty="0">
                <a:solidFill>
                  <a:schemeClr val="accent6"/>
                </a:solidFill>
              </a:rPr>
              <a:t>Virtualization             VMware, Microsoft, KVM</a:t>
            </a:r>
          </a:p>
          <a:p>
            <a:r>
              <a:rPr lang="en-US" sz="1350" kern="0" spc="-80" dirty="0">
                <a:solidFill>
                  <a:schemeClr val="accent6"/>
                </a:solidFill>
              </a:rPr>
              <a:t>Storage	                 NetApp, Pure Storage, EMC, IBM</a:t>
            </a:r>
          </a:p>
          <a:p>
            <a:r>
              <a:rPr lang="en-US" sz="1350" kern="0" spc="-80" dirty="0">
                <a:solidFill>
                  <a:schemeClr val="accent6"/>
                </a:solidFill>
              </a:rPr>
              <a:t>Networking                Cisco, Juniper, Arista, Broadcom</a:t>
            </a:r>
          </a:p>
          <a:p>
            <a:r>
              <a:rPr lang="en-US" sz="1350" kern="0" spc="-80" dirty="0">
                <a:solidFill>
                  <a:schemeClr val="accent6"/>
                </a:solidFill>
              </a:rPr>
              <a:t>Cloud Integration      AWS, Azure, GCP</a:t>
            </a:r>
          </a:p>
          <a:p>
            <a:r>
              <a:rPr lang="en-US" sz="1350" kern="0" spc="-80" dirty="0">
                <a:solidFill>
                  <a:schemeClr val="accent6"/>
                </a:solidFill>
              </a:rPr>
              <a:t>Automation                Red Hat Ansible, Terraform, </a:t>
            </a:r>
            <a:r>
              <a:rPr lang="en-US" sz="1350" kern="0" spc="-80" dirty="0" err="1">
                <a:solidFill>
                  <a:schemeClr val="accent6"/>
                </a:solidFill>
              </a:rPr>
              <a:t>HashiCorp</a:t>
            </a:r>
            <a:r>
              <a:rPr lang="en-US" sz="1350" kern="0" spc="-80" dirty="0">
                <a:solidFill>
                  <a:schemeClr val="accent6"/>
                </a:solidFill>
              </a:rPr>
              <a:t> suite. </a:t>
            </a:r>
          </a:p>
          <a:p>
            <a:endParaRPr lang="en-US" sz="2400" kern="0" spc="-80" dirty="0">
              <a:solidFill>
                <a:schemeClr val="accent2"/>
              </a:solidFill>
            </a:endParaRPr>
          </a:p>
        </p:txBody>
      </p:sp>
    </p:spTree>
    <p:extLst>
      <p:ext uri="{BB962C8B-B14F-4D97-AF65-F5344CB8AC3E}">
        <p14:creationId xmlns:p14="http://schemas.microsoft.com/office/powerpoint/2010/main" val="9695318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AB62E-737F-5EDE-2EDD-230F0EAA6C2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58FD002-4B3F-D26A-ED50-07B55AE6066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0C209D3-CC69-DFC5-C448-22923366B0B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DD2F700-9904-F132-51CD-526F69AE962D}"/>
              </a:ext>
            </a:extLst>
          </p:cNvPr>
          <p:cNvGraphicFramePr/>
          <p:nvPr>
            <p:extLst>
              <p:ext uri="{D42A27DB-BD31-4B8C-83A1-F6EECF244321}">
                <p14:modId xmlns:p14="http://schemas.microsoft.com/office/powerpoint/2010/main" val="3966843180"/>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14A4118-5231-3634-E3DD-7770FC4BCB3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07CBC04-E1FC-B3BB-7873-B2AC8D59C32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0BD2267-0A1B-A0D2-5014-352DD5EE120E}"/>
              </a:ext>
            </a:extLst>
          </p:cNvPr>
          <p:cNvSpPr txBox="1">
            <a:spLocks/>
          </p:cNvSpPr>
          <p:nvPr/>
        </p:nvSpPr>
        <p:spPr>
          <a:xfrm>
            <a:off x="0" y="685800"/>
            <a:ext cx="8915399" cy="22159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400" kern="0" spc="-80" dirty="0">
                <a:solidFill>
                  <a:schemeClr val="accent2"/>
                </a:solidFill>
              </a:rPr>
              <a:t>Data Centre</a:t>
            </a:r>
          </a:p>
          <a:p>
            <a:r>
              <a:rPr lang="en-US" sz="2000" kern="0" spc="-80" dirty="0">
                <a:solidFill>
                  <a:schemeClr val="accent2"/>
                </a:solidFill>
              </a:rPr>
              <a:t>For Further Exploration – </a:t>
            </a:r>
          </a:p>
          <a:p>
            <a:r>
              <a:rPr lang="en-US" sz="2000" dirty="0">
                <a:hlinkClick r:id="rId7"/>
              </a:rPr>
              <a:t>Data Centers 101: A Beginner's Guide To Understanding Core Concepts</a:t>
            </a:r>
            <a:endParaRPr lang="en-US" sz="2000" kern="0" spc="-80" dirty="0">
              <a:solidFill>
                <a:schemeClr val="accent2"/>
              </a:solidFill>
            </a:endParaRPr>
          </a:p>
          <a:p>
            <a:r>
              <a:rPr lang="en-US" sz="2000" dirty="0">
                <a:hlinkClick r:id="rId8"/>
              </a:rPr>
              <a:t>Introduction to Datacenters | Microsoft Learn</a:t>
            </a:r>
            <a:endParaRPr lang="en-US" sz="2000" dirty="0"/>
          </a:p>
          <a:p>
            <a:r>
              <a:rPr lang="en-IN" sz="2000" dirty="0">
                <a:hlinkClick r:id="rId9"/>
              </a:rPr>
              <a:t>Data </a:t>
            </a:r>
            <a:r>
              <a:rPr lang="en-IN" sz="2000" dirty="0" err="1">
                <a:hlinkClick r:id="rId9"/>
              </a:rPr>
              <a:t>Center</a:t>
            </a:r>
            <a:r>
              <a:rPr lang="en-IN" sz="2000" dirty="0">
                <a:hlinkClick r:id="rId9"/>
              </a:rPr>
              <a:t> Design Guides – Cisco</a:t>
            </a:r>
            <a:endParaRPr lang="en-IN" sz="2000" dirty="0"/>
          </a:p>
          <a:p>
            <a:r>
              <a:rPr lang="en-IN" sz="2000" dirty="0">
                <a:hlinkClick r:id="rId10"/>
              </a:rPr>
              <a:t>ASHRAE Data </a:t>
            </a:r>
            <a:r>
              <a:rPr lang="en-IN" sz="2000" dirty="0" err="1">
                <a:hlinkClick r:id="rId10"/>
              </a:rPr>
              <a:t>Center</a:t>
            </a:r>
            <a:r>
              <a:rPr lang="en-IN" sz="2000" dirty="0">
                <a:hlinkClick r:id="rId10"/>
              </a:rPr>
              <a:t> Resources | Data </a:t>
            </a:r>
            <a:r>
              <a:rPr lang="en-IN" sz="2000" dirty="0" err="1">
                <a:hlinkClick r:id="rId10"/>
              </a:rPr>
              <a:t>Centers</a:t>
            </a:r>
            <a:endParaRPr lang="en-US" sz="2000" kern="0" spc="-80" dirty="0">
              <a:solidFill>
                <a:schemeClr val="accent2"/>
              </a:solidFill>
            </a:endParaRPr>
          </a:p>
        </p:txBody>
      </p:sp>
    </p:spTree>
    <p:extLst>
      <p:ext uri="{BB962C8B-B14F-4D97-AF65-F5344CB8AC3E}">
        <p14:creationId xmlns:p14="http://schemas.microsoft.com/office/powerpoint/2010/main" val="160476913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941821002"/>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7862" y="784034"/>
            <a:ext cx="8915399" cy="323165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For Cloud Computing Further Exploration in general– </a:t>
            </a:r>
          </a:p>
          <a:p>
            <a:pPr marL="12700" marR="5080"/>
            <a:r>
              <a:rPr lang="en-US" sz="1800" dirty="0">
                <a:hlinkClick r:id="rId7"/>
              </a:rPr>
              <a:t>Public Cloud Services Comparison</a:t>
            </a:r>
            <a:endParaRPr lang="en-US" sz="1800" dirty="0"/>
          </a:p>
          <a:p>
            <a:pPr marL="12700" marR="5080"/>
            <a:r>
              <a:rPr lang="en-IN" sz="1800" dirty="0">
                <a:hlinkClick r:id="rId8"/>
              </a:rPr>
              <a:t>AWS vs Azure vs GCP Comparison</a:t>
            </a:r>
            <a:endParaRPr lang="en-IN" sz="1800" dirty="0"/>
          </a:p>
          <a:p>
            <a:pPr marL="12700" marR="5080"/>
            <a:r>
              <a:rPr lang="en-IN" sz="1800" dirty="0">
                <a:hlinkClick r:id="rId9"/>
              </a:rPr>
              <a:t>AWS Roadmap - roadmap.sh</a:t>
            </a:r>
            <a:endParaRPr lang="en-IN" sz="1800" dirty="0"/>
          </a:p>
          <a:p>
            <a:pPr marL="12700" marR="5080"/>
            <a:r>
              <a:rPr lang="en-IN" sz="1800" dirty="0">
                <a:hlinkClick r:id="rId10"/>
              </a:rPr>
              <a:t>Azure Application Architecture Fundamentals - Azure Architecture </a:t>
            </a:r>
            <a:r>
              <a:rPr lang="en-IN" sz="1800" dirty="0" err="1">
                <a:hlinkClick r:id="rId10"/>
              </a:rPr>
              <a:t>Center</a:t>
            </a:r>
            <a:r>
              <a:rPr lang="en-IN" sz="1800" dirty="0">
                <a:hlinkClick r:id="rId10"/>
              </a:rPr>
              <a:t> | Microsoft Learn</a:t>
            </a:r>
            <a:endParaRPr lang="en-IN" sz="1800" dirty="0"/>
          </a:p>
          <a:p>
            <a:pPr marL="12700" marR="5080"/>
            <a:r>
              <a:rPr lang="en-US" sz="1800" dirty="0">
                <a:hlinkClick r:id="rId11"/>
              </a:rPr>
              <a:t>Analogies Cloud: Learn Cloud with Fun &amp; Resources</a:t>
            </a:r>
            <a:r>
              <a:rPr lang="en-US" sz="1800" kern="0" spc="-80" dirty="0">
                <a:solidFill>
                  <a:schemeClr val="accent2"/>
                </a:solidFill>
              </a:rPr>
              <a:t> </a:t>
            </a:r>
          </a:p>
          <a:p>
            <a:pPr marL="12700" marR="5080"/>
            <a:r>
              <a:rPr lang="en-IN" sz="1800" dirty="0">
                <a:hlinkClick r:id="rId12"/>
              </a:rPr>
              <a:t>Become Microsoft Certified</a:t>
            </a:r>
            <a:endParaRPr lang="en-IN" sz="1800" dirty="0"/>
          </a:p>
          <a:p>
            <a:pPr marL="12700" marR="5080"/>
            <a:r>
              <a:rPr lang="en-US" sz="1800" dirty="0">
                <a:hlinkClick r:id="rId13"/>
              </a:rPr>
              <a:t>The Practice of Cloud System Administration</a:t>
            </a:r>
            <a:endParaRPr lang="en-US" sz="1800" dirty="0"/>
          </a:p>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Tree>
    <p:extLst>
      <p:ext uri="{BB962C8B-B14F-4D97-AF65-F5344CB8AC3E}">
        <p14:creationId xmlns:p14="http://schemas.microsoft.com/office/powerpoint/2010/main" val="31103696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745705727"/>
              </p:ext>
            </p:extLst>
          </p:nvPr>
        </p:nvGraphicFramePr>
        <p:xfrm>
          <a:off x="160928"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Rate Limiter Reference Architecture</a:t>
            </a:r>
          </a:p>
          <a:p>
            <a:pPr marL="12700" marR="5080"/>
            <a:r>
              <a:rPr lang="en-US" sz="2400" kern="0" spc="-80" dirty="0">
                <a:solidFill>
                  <a:schemeClr val="accent2"/>
                </a:solidFill>
              </a:rPr>
              <a:t>  </a:t>
            </a:r>
          </a:p>
        </p:txBody>
      </p:sp>
      <p:pic>
        <p:nvPicPr>
          <p:cNvPr id="2050" name="Picture 2">
            <a:extLst>
              <a:ext uri="{FF2B5EF4-FFF2-40B4-BE49-F238E27FC236}">
                <a16:creationId xmlns:a16="http://schemas.microsoft.com/office/drawing/2014/main" id="{1B24DF64-A56E-B3A7-B57E-F53014A05BE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8150" y="1600200"/>
            <a:ext cx="8266113" cy="3743236"/>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96B8B935-28BC-A723-E0DC-0D178FCE0134}"/>
              </a:ext>
            </a:extLst>
          </p:cNvPr>
          <p:cNvSpPr txBox="1">
            <a:spLocks/>
          </p:cNvSpPr>
          <p:nvPr/>
        </p:nvSpPr>
        <p:spPr>
          <a:xfrm>
            <a:off x="220337" y="5343436"/>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IN" sz="1500" dirty="0">
                <a:hlinkClick r:id="rId8"/>
              </a:rPr>
              <a:t>Rate Limiting Algos | LinkedIn</a:t>
            </a:r>
            <a:endParaRPr lang="en-US" sz="1500" kern="0" spc="-80" dirty="0">
              <a:solidFill>
                <a:schemeClr val="accent2"/>
              </a:solidFill>
            </a:endParaRPr>
          </a:p>
        </p:txBody>
      </p:sp>
    </p:spTree>
    <p:extLst>
      <p:ext uri="{BB962C8B-B14F-4D97-AF65-F5344CB8AC3E}">
        <p14:creationId xmlns:p14="http://schemas.microsoft.com/office/powerpoint/2010/main" val="148626996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786685445"/>
              </p:ext>
            </p:extLst>
          </p:nvPr>
        </p:nvGraphicFramePr>
        <p:xfrm>
          <a:off x="0" y="-9679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CMS Reference Architecture</a:t>
            </a:r>
          </a:p>
          <a:p>
            <a:pPr marL="12700" marR="5080"/>
            <a:r>
              <a:rPr lang="en-US" sz="2400" kern="0" spc="-80" dirty="0">
                <a:solidFill>
                  <a:schemeClr val="accent2"/>
                </a:solidFill>
              </a:rPr>
              <a:t>  </a:t>
            </a:r>
          </a:p>
        </p:txBody>
      </p:sp>
      <p:pic>
        <p:nvPicPr>
          <p:cNvPr id="23554" name="Picture 2" descr="CMS and the Single Web Designer – A List Apart">
            <a:extLst>
              <a:ext uri="{FF2B5EF4-FFF2-40B4-BE49-F238E27FC236}">
                <a16:creationId xmlns:a16="http://schemas.microsoft.com/office/drawing/2014/main" id="{2B876291-99B6-C582-496E-EA827372E2B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 y="1219200"/>
            <a:ext cx="8458200" cy="2629536"/>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03DF0C08-CFF2-D612-F21C-4190384B89AC}"/>
              </a:ext>
            </a:extLst>
          </p:cNvPr>
          <p:cNvSpPr txBox="1">
            <a:spLocks/>
          </p:cNvSpPr>
          <p:nvPr/>
        </p:nvSpPr>
        <p:spPr>
          <a:xfrm>
            <a:off x="76200" y="3978295"/>
            <a:ext cx="8624937" cy="18466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Core Components</a:t>
            </a:r>
          </a:p>
          <a:p>
            <a:pPr marL="12700" marR="5080"/>
            <a:r>
              <a:rPr lang="en-US" sz="1500" kern="0" spc="-80" dirty="0">
                <a:solidFill>
                  <a:schemeClr val="accent6"/>
                </a:solidFill>
              </a:rPr>
              <a:t>A CMS architecture generally consists of these layers: </a:t>
            </a:r>
          </a:p>
          <a:p>
            <a:pPr marL="12700" marR="5080"/>
            <a:r>
              <a:rPr lang="en-US" sz="1500" kern="0" spc="-80" dirty="0">
                <a:solidFill>
                  <a:schemeClr val="accent2"/>
                </a:solidFill>
              </a:rPr>
              <a:t>Backend (Application Layer): </a:t>
            </a:r>
            <a:r>
              <a:rPr lang="en-US" sz="1500" kern="0" spc="-80" dirty="0">
                <a:solidFill>
                  <a:schemeClr val="accent6"/>
                </a:solidFill>
              </a:rPr>
              <a:t>This is where content is created, edited, managed, and organized through a dashboard. </a:t>
            </a:r>
          </a:p>
          <a:p>
            <a:pPr marL="12700" marR="5080"/>
            <a:r>
              <a:rPr lang="en-US" sz="1500" kern="0" spc="-80" dirty="0">
                <a:solidFill>
                  <a:schemeClr val="accent2"/>
                </a:solidFill>
              </a:rPr>
              <a:t>Database (Data Layer):</a:t>
            </a:r>
            <a:r>
              <a:rPr lang="en-US" sz="1500" kern="0" spc="-80" dirty="0">
                <a:solidFill>
                  <a:schemeClr val="accent6"/>
                </a:solidFill>
              </a:rPr>
              <a:t> This layer stores the content, metadata, configuration data, and digital assets. </a:t>
            </a:r>
          </a:p>
          <a:p>
            <a:pPr marL="12700" marR="5080"/>
            <a:r>
              <a:rPr lang="en-US" sz="1500" kern="0" spc="-80" dirty="0">
                <a:solidFill>
                  <a:schemeClr val="accent2"/>
                </a:solidFill>
              </a:rPr>
              <a:t>Frontend (Presentation Layer): </a:t>
            </a:r>
            <a:r>
              <a:rPr lang="en-US" sz="1500" kern="0" spc="-80" dirty="0">
                <a:solidFill>
                  <a:schemeClr val="accent6"/>
                </a:solidFill>
              </a:rPr>
              <a:t>This part is responsible for how the content is displayed to end-users on websites or applications. </a:t>
            </a:r>
          </a:p>
        </p:txBody>
      </p:sp>
    </p:spTree>
    <p:extLst>
      <p:ext uri="{BB962C8B-B14F-4D97-AF65-F5344CB8AC3E}">
        <p14:creationId xmlns:p14="http://schemas.microsoft.com/office/powerpoint/2010/main" val="360010559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57EC6-D185-5F0B-9B32-EF57092B2C5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77DB891-A962-2BED-27D0-9458B5729A56}"/>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B923BE8-C811-EDE4-CA5E-7DC8BA2AFAFE}"/>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BBB982B-A115-5377-A449-3FCCA047855F}"/>
              </a:ext>
            </a:extLst>
          </p:cNvPr>
          <p:cNvGraphicFramePr/>
          <p:nvPr/>
        </p:nvGraphicFramePr>
        <p:xfrm>
          <a:off x="0" y="-9679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2CC20A3-011C-C4D0-F6CD-8536611D55DF}"/>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CMS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B38669E-4822-BDAF-401C-91E254BCB1B8}"/>
              </a:ext>
            </a:extLst>
          </p:cNvPr>
          <p:cNvSpPr txBox="1">
            <a:spLocks/>
          </p:cNvSpPr>
          <p:nvPr/>
        </p:nvSpPr>
        <p:spPr>
          <a:xfrm>
            <a:off x="137369" y="1258143"/>
            <a:ext cx="8624937"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Types of CMS Architectures</a:t>
            </a:r>
          </a:p>
          <a:p>
            <a:pPr marL="12700" marR="5080"/>
            <a:r>
              <a:rPr lang="en-US" sz="1400" kern="0" spc="-80" dirty="0">
                <a:solidFill>
                  <a:schemeClr val="accent2"/>
                </a:solidFill>
              </a:rPr>
              <a:t>Coupled (Traditional) CMS:</a:t>
            </a:r>
          </a:p>
          <a:p>
            <a:pPr marL="12700" marR="5080"/>
            <a:r>
              <a:rPr lang="en-US" sz="1400" kern="0" spc="-80" dirty="0">
                <a:solidFill>
                  <a:schemeClr val="accent2"/>
                </a:solidFill>
              </a:rPr>
              <a:t>Description:</a:t>
            </a:r>
            <a:r>
              <a:rPr lang="en-US" sz="1400" kern="0" spc="-80" dirty="0">
                <a:solidFill>
                  <a:schemeClr val="accent6"/>
                </a:solidFill>
              </a:rPr>
              <a:t> The backend and frontend are tightly integrated, sharing common resources and services. </a:t>
            </a:r>
          </a:p>
          <a:p>
            <a:pPr marL="12700" marR="5080"/>
            <a:r>
              <a:rPr lang="en-US" sz="1400" kern="0" spc="-80" dirty="0">
                <a:solidFill>
                  <a:schemeClr val="accent2"/>
                </a:solidFill>
              </a:rPr>
              <a:t>How it Works:</a:t>
            </a:r>
            <a:r>
              <a:rPr lang="en-US" sz="1400" kern="0" spc="-80" dirty="0">
                <a:solidFill>
                  <a:schemeClr val="accent6"/>
                </a:solidFill>
              </a:rPr>
              <a:t> The backend generates web pages dynamically, and the content is displayed on the same platform. </a:t>
            </a:r>
          </a:p>
          <a:p>
            <a:pPr marL="12700" marR="5080"/>
            <a:r>
              <a:rPr lang="en-US" sz="1400" kern="0" spc="-80" dirty="0">
                <a:solidFill>
                  <a:schemeClr val="accent2"/>
                </a:solidFill>
              </a:rPr>
              <a:t>Pros/Cons:</a:t>
            </a:r>
            <a:r>
              <a:rPr lang="en-US" sz="1400" kern="0" spc="-80" dirty="0">
                <a:solidFill>
                  <a:schemeClr val="accent6"/>
                </a:solidFill>
              </a:rPr>
              <a:t> Simple to deploy but can be hard to customize and scale beyond traditional web channels. </a:t>
            </a:r>
          </a:p>
          <a:p>
            <a:pPr marL="12700" marR="5080"/>
            <a:r>
              <a:rPr lang="en-US" sz="1400" kern="0" spc="-80" dirty="0">
                <a:solidFill>
                  <a:schemeClr val="accent2"/>
                </a:solidFill>
              </a:rPr>
              <a:t>Decoupled CMS:</a:t>
            </a:r>
          </a:p>
          <a:p>
            <a:pPr marL="12700" marR="5080"/>
            <a:r>
              <a:rPr lang="en-US" sz="1400" kern="0" spc="-80" dirty="0">
                <a:solidFill>
                  <a:schemeClr val="accent2"/>
                </a:solidFill>
              </a:rPr>
              <a:t>Description:</a:t>
            </a:r>
            <a:r>
              <a:rPr lang="en-US" sz="1400" kern="0" spc="-80" dirty="0">
                <a:solidFill>
                  <a:schemeClr val="accent6"/>
                </a:solidFill>
              </a:rPr>
              <a:t> The backend (content management) and frontend (presentation) are separate. </a:t>
            </a:r>
          </a:p>
          <a:p>
            <a:pPr marL="12700" marR="5080"/>
            <a:r>
              <a:rPr lang="en-US" sz="1400" kern="0" spc="-80" dirty="0">
                <a:solidFill>
                  <a:schemeClr val="accent2"/>
                </a:solidFill>
              </a:rPr>
              <a:t>How it Works: </a:t>
            </a:r>
            <a:r>
              <a:rPr lang="en-US" sz="1400" kern="0" spc="-80" dirty="0">
                <a:solidFill>
                  <a:schemeClr val="accent6"/>
                </a:solidFill>
              </a:rPr>
              <a:t>A separate backend manages content and delivers it through APIs to a dedicated frontend, which can be a pre-built presentation layer. </a:t>
            </a:r>
          </a:p>
          <a:p>
            <a:pPr marL="12700" marR="5080"/>
            <a:r>
              <a:rPr lang="en-US" sz="1400" kern="0" spc="-80" dirty="0">
                <a:solidFill>
                  <a:schemeClr val="accent2"/>
                </a:solidFill>
              </a:rPr>
              <a:t>Pros/Cons: </a:t>
            </a:r>
            <a:r>
              <a:rPr lang="en-US" sz="1400" kern="0" spc="-80" dirty="0">
                <a:solidFill>
                  <a:schemeClr val="accent6"/>
                </a:solidFill>
              </a:rPr>
              <a:t>Offers better security and flexibility than coupled systems, but it's more complex to handle. </a:t>
            </a:r>
          </a:p>
          <a:p>
            <a:pPr marL="12700" marR="5080"/>
            <a:r>
              <a:rPr lang="en-US" sz="1400" kern="0" spc="-80" dirty="0">
                <a:solidFill>
                  <a:schemeClr val="accent2"/>
                </a:solidFill>
              </a:rPr>
              <a:t>Headless CMS:</a:t>
            </a:r>
          </a:p>
          <a:p>
            <a:pPr marL="12700" marR="5080"/>
            <a:r>
              <a:rPr lang="en-US" sz="1400" kern="0" spc="-80" dirty="0">
                <a:solidFill>
                  <a:schemeClr val="accent2"/>
                </a:solidFill>
              </a:rPr>
              <a:t>Description: </a:t>
            </a:r>
            <a:r>
              <a:rPr lang="en-US" sz="1400" kern="0" spc="-80" dirty="0">
                <a:solidFill>
                  <a:schemeClr val="accent6"/>
                </a:solidFill>
              </a:rPr>
              <a:t>Similar to a decoupled CMS, but it separates the content repository from any presentation layer, delivering content purely via APIs. </a:t>
            </a:r>
          </a:p>
          <a:p>
            <a:pPr marL="12700" marR="5080"/>
            <a:r>
              <a:rPr lang="en-US" sz="1400" kern="0" spc="-80" dirty="0">
                <a:solidFill>
                  <a:schemeClr val="accent2"/>
                </a:solidFill>
              </a:rPr>
              <a:t>How it Works: </a:t>
            </a:r>
            <a:r>
              <a:rPr lang="en-US" sz="1400" kern="0" spc="-80" dirty="0">
                <a:solidFill>
                  <a:schemeClr val="accent6"/>
                </a:solidFill>
              </a:rPr>
              <a:t>Content is available for any device or platform, allowing for seamless integration across web, mobile, and emerging channels. </a:t>
            </a:r>
          </a:p>
          <a:p>
            <a:pPr marL="12700" marR="5080"/>
            <a:r>
              <a:rPr lang="en-US" sz="1400" kern="0" spc="-80" dirty="0">
                <a:solidFill>
                  <a:schemeClr val="accent2"/>
                </a:solidFill>
              </a:rPr>
              <a:t>Pros/Cons: </a:t>
            </a:r>
            <a:r>
              <a:rPr lang="en-US" sz="1400" kern="0" spc="-80" dirty="0">
                <a:solidFill>
                  <a:schemeClr val="accent6"/>
                </a:solidFill>
              </a:rPr>
              <a:t>Provides maximum freedom to integrate custom front-end components and support a wider variety of devices and contexts. </a:t>
            </a:r>
          </a:p>
          <a:p>
            <a:pPr marL="12700" marR="5080"/>
            <a:r>
              <a:rPr lang="en-US" sz="1400" kern="0" spc="-80" dirty="0">
                <a:solidFill>
                  <a:schemeClr val="accent2"/>
                </a:solidFill>
              </a:rPr>
              <a:t>Emerging Architectures (e.g. MACH) </a:t>
            </a:r>
          </a:p>
          <a:p>
            <a:pPr marL="12700" marR="5080"/>
            <a:r>
              <a:rPr lang="en-US" sz="1400" kern="0" spc="-80" dirty="0">
                <a:solidFill>
                  <a:schemeClr val="accent2"/>
                </a:solidFill>
              </a:rPr>
              <a:t>Description: </a:t>
            </a:r>
            <a:r>
              <a:rPr lang="en-US" sz="1400" kern="0" spc="-80" dirty="0">
                <a:solidFill>
                  <a:schemeClr val="accent6"/>
                </a:solidFill>
              </a:rPr>
              <a:t>Architectures built on MACH (Microservices, API-first, Cloud-native, Headless) principles.</a:t>
            </a:r>
          </a:p>
          <a:p>
            <a:pPr marL="12700" marR="5080"/>
            <a:r>
              <a:rPr lang="en-US" sz="1400" kern="0" spc="-80" dirty="0">
                <a:solidFill>
                  <a:schemeClr val="accent2"/>
                </a:solidFill>
              </a:rPr>
              <a:t>How it Works:</a:t>
            </a:r>
            <a:r>
              <a:rPr lang="en-US" sz="1400" kern="0" spc="-80" dirty="0">
                <a:solidFill>
                  <a:schemeClr val="accent6"/>
                </a:solidFill>
              </a:rPr>
              <a:t> These architectures offer modularity, scalability, and the flexibility to choose and integrate best-of-breed tools, allowing for continuous evolution of the enterprise architecture.</a:t>
            </a:r>
          </a:p>
        </p:txBody>
      </p:sp>
    </p:spTree>
    <p:extLst>
      <p:ext uri="{BB962C8B-B14F-4D97-AF65-F5344CB8AC3E}">
        <p14:creationId xmlns:p14="http://schemas.microsoft.com/office/powerpoint/2010/main" val="37373801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AB772-8255-006A-21E3-D46BC93BDCB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BCE35A5-54EF-A2CF-F361-22D8EB99B091}"/>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E7EDC28-0D41-A13D-9619-22F3CDDEAD1C}"/>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419A94E-53C7-BA06-1C78-D7A9255381D8}"/>
              </a:ext>
            </a:extLst>
          </p:cNvPr>
          <p:cNvGraphicFramePr/>
          <p:nvPr/>
        </p:nvGraphicFramePr>
        <p:xfrm>
          <a:off x="27542" y="-8604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13ADC2B-B5A2-C3CA-0F2B-6A9AB78FD748}"/>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Dev Portal Reference Architecture</a:t>
            </a:r>
          </a:p>
          <a:p>
            <a:pPr marL="12700" marR="5080"/>
            <a:r>
              <a:rPr lang="en-US" sz="2400" kern="0" spc="-80" dirty="0">
                <a:solidFill>
                  <a:schemeClr val="accent2"/>
                </a:solidFill>
              </a:rPr>
              <a:t>  </a:t>
            </a:r>
          </a:p>
        </p:txBody>
      </p:sp>
      <p:pic>
        <p:nvPicPr>
          <p:cNvPr id="1026" name="Picture 2">
            <a:extLst>
              <a:ext uri="{FF2B5EF4-FFF2-40B4-BE49-F238E27FC236}">
                <a16:creationId xmlns:a16="http://schemas.microsoft.com/office/drawing/2014/main" id="{0C360B5A-3129-C433-5660-AD141DAD19C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 y="1240699"/>
            <a:ext cx="8706998" cy="3164420"/>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AD574E7B-93C8-E777-0FE3-7D160893AEF4}"/>
              </a:ext>
            </a:extLst>
          </p:cNvPr>
          <p:cNvSpPr txBox="1">
            <a:spLocks/>
          </p:cNvSpPr>
          <p:nvPr/>
        </p:nvSpPr>
        <p:spPr>
          <a:xfrm>
            <a:off x="0" y="4281607"/>
            <a:ext cx="8624937" cy="16619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200" kern="0" spc="-80" dirty="0">
              <a:solidFill>
                <a:schemeClr val="accent6"/>
              </a:solidFill>
            </a:endParaRPr>
          </a:p>
          <a:p>
            <a:pPr marL="12700" marR="5080"/>
            <a:r>
              <a:rPr lang="en-US" sz="1200" kern="0" spc="-80" dirty="0">
                <a:solidFill>
                  <a:schemeClr val="accent2"/>
                </a:solidFill>
              </a:rPr>
              <a:t>Key Architectural Components </a:t>
            </a:r>
          </a:p>
          <a:p>
            <a:pPr marL="12700" marR="5080"/>
            <a:r>
              <a:rPr lang="en-US" sz="1200" kern="0" spc="-80" dirty="0">
                <a:solidFill>
                  <a:schemeClr val="accent2"/>
                </a:solidFill>
              </a:rPr>
              <a:t>Presentation Layer (Developer Control Plane):</a:t>
            </a:r>
          </a:p>
          <a:p>
            <a:pPr marL="12700" marR="5080"/>
            <a:r>
              <a:rPr lang="en-US" sz="1200" kern="0" spc="-80" dirty="0">
                <a:solidFill>
                  <a:schemeClr val="accent6"/>
                </a:solidFill>
              </a:rPr>
              <a:t>This is the user-facing interface of the portal, providing a centralized hub for developers. </a:t>
            </a:r>
          </a:p>
          <a:p>
            <a:pPr marL="12700" marR="5080"/>
            <a:r>
              <a:rPr lang="en-US" sz="1200" kern="0" spc="-80" dirty="0">
                <a:solidFill>
                  <a:schemeClr val="accent2"/>
                </a:solidFill>
              </a:rPr>
              <a:t>Key components include:</a:t>
            </a:r>
          </a:p>
          <a:p>
            <a:pPr marL="12700" marR="5080"/>
            <a:r>
              <a:rPr lang="en-US" sz="1200" kern="0" spc="-80" dirty="0">
                <a:solidFill>
                  <a:schemeClr val="accent2"/>
                </a:solidFill>
              </a:rPr>
              <a:t>Software Catalog: </a:t>
            </a:r>
            <a:r>
              <a:rPr lang="en-US" sz="1200" kern="0" spc="-80" dirty="0">
                <a:solidFill>
                  <a:schemeClr val="accent6"/>
                </a:solidFill>
              </a:rPr>
              <a:t>A comprehensive inventory of services, APIs, libraries, and tools available within the organization.</a:t>
            </a:r>
          </a:p>
          <a:p>
            <a:pPr marL="12700" marR="5080"/>
            <a:r>
              <a:rPr lang="en-US" sz="1200" kern="0" spc="-80" dirty="0">
                <a:solidFill>
                  <a:schemeClr val="accent2"/>
                </a:solidFill>
              </a:rPr>
              <a:t>Self-Service Actions:</a:t>
            </a:r>
            <a:r>
              <a:rPr lang="en-US" sz="1200" kern="0" spc="-80" dirty="0">
                <a:solidFill>
                  <a:schemeClr val="accent6"/>
                </a:solidFill>
              </a:rPr>
              <a:t> Mechanisms for developers to autonomously perform tasks like provisioning environments, deploying applications, generating API keys, or creating new projects.</a:t>
            </a:r>
          </a:p>
          <a:p>
            <a:pPr marL="12700" marR="5080"/>
            <a:r>
              <a:rPr lang="en-US" sz="1200" kern="0" spc="-80" dirty="0">
                <a:solidFill>
                  <a:schemeClr val="accent2"/>
                </a:solidFill>
              </a:rPr>
              <a:t>Documentation &amp; Tutorials: </a:t>
            </a:r>
            <a:r>
              <a:rPr lang="en-US" sz="1200" kern="0" spc="-80" dirty="0">
                <a:solidFill>
                  <a:schemeClr val="accent6"/>
                </a:solidFill>
              </a:rPr>
              <a:t>Up-to-date and easily navigable documentation for all available resources, including API</a:t>
            </a:r>
          </a:p>
        </p:txBody>
      </p:sp>
    </p:spTree>
    <p:extLst>
      <p:ext uri="{BB962C8B-B14F-4D97-AF65-F5344CB8AC3E}">
        <p14:creationId xmlns:p14="http://schemas.microsoft.com/office/powerpoint/2010/main" val="130566676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D9460-2BFB-C0A1-0F10-022DECAB992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2C4473F-B920-8FFD-68E3-46D8E87CBF0B}"/>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FDCBDA3-4F38-72BD-AEB0-6A24F0B4C069}"/>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3B1F04E-5E48-83C7-AE27-7F13BB3704E7}"/>
              </a:ext>
            </a:extLst>
          </p:cNvPr>
          <p:cNvGraphicFramePr/>
          <p:nvPr/>
        </p:nvGraphicFramePr>
        <p:xfrm>
          <a:off x="27542" y="-8604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481CA06-2938-72A6-9991-2305C1F30BA1}"/>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Dev Portal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0D3155B-8ACF-B089-4A6F-C560349C4C7A}"/>
              </a:ext>
            </a:extLst>
          </p:cNvPr>
          <p:cNvSpPr txBox="1">
            <a:spLocks/>
          </p:cNvSpPr>
          <p:nvPr/>
        </p:nvSpPr>
        <p:spPr>
          <a:xfrm>
            <a:off x="220337" y="1287482"/>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6"/>
                </a:solidFill>
              </a:rPr>
              <a:t>references, usage guides, and best practices.</a:t>
            </a:r>
            <a:endParaRPr lang="en-US" sz="1200" kern="0" spc="-80" dirty="0">
              <a:solidFill>
                <a:schemeClr val="accent2"/>
              </a:solidFill>
            </a:endParaRPr>
          </a:p>
          <a:p>
            <a:pPr marL="12700" marR="5080"/>
            <a:r>
              <a:rPr lang="en-US" sz="1200" kern="0" spc="-80" dirty="0">
                <a:solidFill>
                  <a:schemeClr val="accent2"/>
                </a:solidFill>
              </a:rPr>
              <a:t>Dashboards &amp; Analytics:</a:t>
            </a:r>
            <a:r>
              <a:rPr lang="en-US" sz="1200" kern="0" spc="-80" dirty="0">
                <a:solidFill>
                  <a:schemeClr val="accent6"/>
                </a:solidFill>
              </a:rPr>
              <a:t> Personalized views of application performance, usage metrics, and resource consumption.</a:t>
            </a:r>
          </a:p>
          <a:p>
            <a:pPr marL="12700" marR="5080"/>
            <a:r>
              <a:rPr lang="en-US" sz="1200" kern="0" spc="-80" dirty="0">
                <a:solidFill>
                  <a:schemeClr val="accent2"/>
                </a:solidFill>
              </a:rPr>
              <a:t>Support &amp; Community Features: </a:t>
            </a:r>
            <a:r>
              <a:rPr lang="en-US" sz="1200" kern="0" spc="-80" dirty="0">
                <a:solidFill>
                  <a:schemeClr val="accent6"/>
                </a:solidFill>
              </a:rPr>
              <a:t>Channels for seeking assistance, collaborating with peers, and sharing knowledge.</a:t>
            </a:r>
          </a:p>
          <a:p>
            <a:pPr marL="12700" marR="5080"/>
            <a:r>
              <a:rPr lang="en-US" sz="1200" kern="0" spc="-80" dirty="0">
                <a:solidFill>
                  <a:schemeClr val="accent2"/>
                </a:solidFill>
              </a:rPr>
              <a:t>2. Integration &amp; Delivery Layer:</a:t>
            </a:r>
          </a:p>
          <a:p>
            <a:pPr marL="12700" marR="5080"/>
            <a:r>
              <a:rPr lang="en-US" sz="1200" kern="0" spc="-80" dirty="0">
                <a:solidFill>
                  <a:schemeClr val="accent6"/>
                </a:solidFill>
              </a:rPr>
              <a:t>This layer focuses on connecting the developer portal to the underlying infrastructure and facilitating the software delivery lifecycle.</a:t>
            </a:r>
          </a:p>
          <a:p>
            <a:pPr marL="12700" marR="5080"/>
            <a:r>
              <a:rPr lang="en-US" sz="1200" kern="0" spc="-80" dirty="0">
                <a:solidFill>
                  <a:schemeClr val="accent2"/>
                </a:solidFill>
              </a:rPr>
              <a:t> Components include:</a:t>
            </a:r>
          </a:p>
          <a:p>
            <a:pPr marL="12700" marR="5080"/>
            <a:r>
              <a:rPr lang="en-US" sz="1200" kern="0" spc="-80" dirty="0">
                <a:solidFill>
                  <a:schemeClr val="accent2"/>
                </a:solidFill>
              </a:rPr>
              <a:t>CI/CD Pipeline Integration: </a:t>
            </a:r>
            <a:r>
              <a:rPr lang="en-US" sz="1200" kern="0" spc="-80" dirty="0">
                <a:solidFill>
                  <a:schemeClr val="accent6"/>
                </a:solidFill>
              </a:rPr>
              <a:t>Seamless integration with existing continuous integration and continuous delivery pipelines for automated builds, testing, and deployments.</a:t>
            </a:r>
          </a:p>
          <a:p>
            <a:pPr marL="12700" marR="5080"/>
            <a:r>
              <a:rPr lang="en-US" sz="1200" kern="0" spc="-80" dirty="0">
                <a:solidFill>
                  <a:schemeClr val="accent2"/>
                </a:solidFill>
              </a:rPr>
              <a:t>Platform Orchestrator: </a:t>
            </a:r>
            <a:r>
              <a:rPr lang="en-US" sz="1200" kern="0" spc="-80" dirty="0">
                <a:solidFill>
                  <a:schemeClr val="accent6"/>
                </a:solidFill>
              </a:rPr>
              <a:t>A system responsible for managing and orchestrating infrastructure resources based on developer requests.</a:t>
            </a:r>
          </a:p>
          <a:p>
            <a:pPr marL="12700" marR="5080"/>
            <a:r>
              <a:rPr lang="en-US" sz="1200" kern="0" spc="-80" dirty="0">
                <a:solidFill>
                  <a:schemeClr val="accent2"/>
                </a:solidFill>
              </a:rPr>
              <a:t>Image Registry: </a:t>
            </a:r>
            <a:r>
              <a:rPr lang="en-US" sz="1200" kern="0" spc="-80" dirty="0">
                <a:solidFill>
                  <a:schemeClr val="accent6"/>
                </a:solidFill>
              </a:rPr>
              <a:t>A repository for storing and managing container images.</a:t>
            </a:r>
          </a:p>
          <a:p>
            <a:pPr marL="12700" marR="5080"/>
            <a:r>
              <a:rPr lang="en-US" sz="1200" kern="0" spc="-80" dirty="0">
                <a:solidFill>
                  <a:schemeClr val="accent2"/>
                </a:solidFill>
              </a:rPr>
              <a:t>3. Resource Layer:</a:t>
            </a:r>
          </a:p>
          <a:p>
            <a:pPr marL="12700" marR="5080"/>
            <a:r>
              <a:rPr lang="en-US" sz="1200" kern="0" spc="-80" dirty="0">
                <a:solidFill>
                  <a:schemeClr val="accent6"/>
                </a:solidFill>
              </a:rPr>
              <a:t>This layer represents the actual infrastructure and services that developers consume. Examples include:</a:t>
            </a:r>
          </a:p>
          <a:p>
            <a:pPr marL="12700" marR="5080"/>
            <a:r>
              <a:rPr lang="en-US" sz="1200" kern="0" spc="-80" dirty="0">
                <a:solidFill>
                  <a:schemeClr val="accent2"/>
                </a:solidFill>
              </a:rPr>
              <a:t>Compute Resources: </a:t>
            </a:r>
            <a:r>
              <a:rPr lang="en-US" sz="1200" kern="0" spc="-80" dirty="0">
                <a:solidFill>
                  <a:schemeClr val="accent6"/>
                </a:solidFill>
              </a:rPr>
              <a:t>Virtual machines, containers, serverless functions.</a:t>
            </a:r>
          </a:p>
          <a:p>
            <a:pPr marL="12700" marR="5080"/>
            <a:r>
              <a:rPr lang="en-US" sz="1200" kern="0" spc="-80" dirty="0">
                <a:solidFill>
                  <a:schemeClr val="accent2"/>
                </a:solidFill>
              </a:rPr>
              <a:t>Data Stores:</a:t>
            </a:r>
            <a:r>
              <a:rPr lang="en-US" sz="1200" kern="0" spc="-80" dirty="0">
                <a:solidFill>
                  <a:schemeClr val="accent6"/>
                </a:solidFill>
              </a:rPr>
              <a:t> Databases, object storage, caching systems.</a:t>
            </a:r>
          </a:p>
          <a:p>
            <a:pPr marL="12700" marR="5080"/>
            <a:r>
              <a:rPr lang="en-US" sz="1200" kern="0" spc="-80" dirty="0">
                <a:solidFill>
                  <a:schemeClr val="accent2"/>
                </a:solidFill>
              </a:rPr>
              <a:t>Networking Services: </a:t>
            </a:r>
            <a:r>
              <a:rPr lang="en-US" sz="1200" kern="0" spc="-80" dirty="0">
                <a:solidFill>
                  <a:schemeClr val="accent6"/>
                </a:solidFill>
              </a:rPr>
              <a:t>Load balancers, DNS, API gateways.</a:t>
            </a:r>
          </a:p>
          <a:p>
            <a:pPr marL="12700" marR="5080"/>
            <a:r>
              <a:rPr lang="en-US" sz="1200" kern="0" spc="-80" dirty="0">
                <a:solidFill>
                  <a:schemeClr val="accent2"/>
                </a:solidFill>
              </a:rPr>
              <a:t>4. Monitoring &amp; Logging Layer:</a:t>
            </a:r>
          </a:p>
          <a:p>
            <a:pPr marL="12700" marR="5080"/>
            <a:r>
              <a:rPr lang="en-US" sz="1200" kern="0" spc="-80" dirty="0">
                <a:solidFill>
                  <a:schemeClr val="accent6"/>
                </a:solidFill>
              </a:rPr>
              <a:t>This layer provides visibility into the health and performance of applications and infrastructure. </a:t>
            </a:r>
          </a:p>
          <a:p>
            <a:pPr marL="12700" marR="5080"/>
            <a:r>
              <a:rPr lang="en-US" sz="1200" kern="0" spc="-80" dirty="0">
                <a:solidFill>
                  <a:schemeClr val="accent2"/>
                </a:solidFill>
              </a:rPr>
              <a:t>Components include:</a:t>
            </a:r>
          </a:p>
          <a:p>
            <a:pPr marL="12700" marR="5080"/>
            <a:r>
              <a:rPr lang="en-US" sz="1200" kern="0" spc="-80" dirty="0">
                <a:solidFill>
                  <a:schemeClr val="accent2"/>
                </a:solidFill>
              </a:rPr>
              <a:t>Centralized Logging: </a:t>
            </a:r>
            <a:r>
              <a:rPr lang="en-US" sz="1200" kern="0" spc="-80" dirty="0">
                <a:solidFill>
                  <a:schemeClr val="accent6"/>
                </a:solidFill>
              </a:rPr>
              <a:t>Aggregation and analysis of logs from various sources.</a:t>
            </a:r>
          </a:p>
          <a:p>
            <a:pPr marL="12700" marR="5080"/>
            <a:r>
              <a:rPr lang="en-US" sz="1200" kern="0" spc="-80" dirty="0">
                <a:solidFill>
                  <a:schemeClr val="accent2"/>
                </a:solidFill>
              </a:rPr>
              <a:t>Monitoring Tools: </a:t>
            </a:r>
            <a:r>
              <a:rPr lang="en-US" sz="1200" kern="0" spc="-80" dirty="0">
                <a:solidFill>
                  <a:schemeClr val="accent6"/>
                </a:solidFill>
              </a:rPr>
              <a:t>Real-time metrics collection and alerting for application and infrastructure performance.</a:t>
            </a:r>
          </a:p>
          <a:p>
            <a:pPr marL="12700" marR="5080"/>
            <a:r>
              <a:rPr lang="en-US" sz="1200" kern="0" spc="-80" dirty="0">
                <a:solidFill>
                  <a:schemeClr val="accent2"/>
                </a:solidFill>
              </a:rPr>
              <a:t>5. Security Layer:</a:t>
            </a:r>
          </a:p>
          <a:p>
            <a:pPr marL="12700" marR="5080"/>
            <a:r>
              <a:rPr lang="en-US" sz="1200" kern="0" spc="-80" dirty="0">
                <a:solidFill>
                  <a:schemeClr val="accent6"/>
                </a:solidFill>
              </a:rPr>
              <a:t>This layer ensures the security of the portal and the resources it manages. </a:t>
            </a:r>
          </a:p>
          <a:p>
            <a:pPr marL="12700" marR="5080"/>
            <a:endParaRPr lang="en-US" sz="1200" kern="0" spc="-80" dirty="0">
              <a:solidFill>
                <a:schemeClr val="accent6"/>
              </a:solidFill>
            </a:endParaRPr>
          </a:p>
        </p:txBody>
      </p:sp>
    </p:spTree>
    <p:extLst>
      <p:ext uri="{BB962C8B-B14F-4D97-AF65-F5344CB8AC3E}">
        <p14:creationId xmlns:p14="http://schemas.microsoft.com/office/powerpoint/2010/main" val="276911640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AAE1F-44FC-5EBA-B405-61F2D61EB1C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21293D5-CD8D-0CA8-7C02-62F007614D27}"/>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89CD51E-51FA-DB1D-0924-8E021D91AF15}"/>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1AE6C76-7B6C-6096-CCC7-72951D3773AF}"/>
              </a:ext>
            </a:extLst>
          </p:cNvPr>
          <p:cNvGraphicFramePr/>
          <p:nvPr/>
        </p:nvGraphicFramePr>
        <p:xfrm>
          <a:off x="27542" y="-8604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2650FD1-8ABB-4659-C74A-343EE7A8C616}"/>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Dev Portal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E726995-57E9-7DC2-3973-C1AF7F6B2B7E}"/>
              </a:ext>
            </a:extLst>
          </p:cNvPr>
          <p:cNvSpPr txBox="1">
            <a:spLocks/>
          </p:cNvSpPr>
          <p:nvPr/>
        </p:nvSpPr>
        <p:spPr>
          <a:xfrm>
            <a:off x="67816" y="1263652"/>
            <a:ext cx="8624937" cy="46474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Key aspects include:</a:t>
            </a:r>
          </a:p>
          <a:p>
            <a:pPr marL="12700" marR="5080"/>
            <a:r>
              <a:rPr lang="en-US" sz="1400" kern="0" spc="-80" dirty="0">
                <a:solidFill>
                  <a:schemeClr val="accent2"/>
                </a:solidFill>
              </a:rPr>
              <a:t>Identity and Access Management (IAM): </a:t>
            </a:r>
            <a:r>
              <a:rPr lang="en-US" sz="1400" kern="0" spc="-80" dirty="0">
                <a:solidFill>
                  <a:schemeClr val="accent6"/>
                </a:solidFill>
              </a:rPr>
              <a:t>Secure authentication and authorization for developers and resources.</a:t>
            </a:r>
          </a:p>
          <a:p>
            <a:pPr marL="12700" marR="5080"/>
            <a:r>
              <a:rPr lang="en-US" sz="1300" kern="0" spc="-80" dirty="0">
                <a:solidFill>
                  <a:schemeClr val="accent2"/>
                </a:solidFill>
              </a:rPr>
              <a:t>Secrets Management: </a:t>
            </a:r>
            <a:r>
              <a:rPr lang="en-US" sz="1300" kern="0" spc="-80" dirty="0">
                <a:solidFill>
                  <a:schemeClr val="accent6"/>
                </a:solidFill>
              </a:rPr>
              <a:t>Secure storage and retrieval of sensitive information like API keys and credentials.</a:t>
            </a:r>
          </a:p>
          <a:p>
            <a:pPr marL="12700" marR="5080"/>
            <a:r>
              <a:rPr lang="en-US" sz="1300" kern="0" spc="-80" dirty="0">
                <a:solidFill>
                  <a:schemeClr val="accent2"/>
                </a:solidFill>
              </a:rPr>
              <a:t>Compliance &amp; Governance:</a:t>
            </a:r>
            <a:r>
              <a:rPr lang="en-US" sz="1300" kern="0" spc="-80" dirty="0">
                <a:solidFill>
                  <a:schemeClr val="accent6"/>
                </a:solidFill>
              </a:rPr>
              <a:t> Mechanisms to enforce security policies and regulatory requirements.</a:t>
            </a:r>
          </a:p>
          <a:p>
            <a:pPr marL="12700" marR="5080"/>
            <a:endParaRPr lang="en-US" sz="1300" kern="0" spc="-80" dirty="0">
              <a:solidFill>
                <a:schemeClr val="accent6"/>
              </a:solidFill>
            </a:endParaRPr>
          </a:p>
          <a:p>
            <a:pPr marL="12700" marR="5080"/>
            <a:r>
              <a:rPr lang="en-US" sz="1300" kern="0" spc="-80" dirty="0">
                <a:solidFill>
                  <a:schemeClr val="accent2"/>
                </a:solidFill>
              </a:rPr>
              <a:t>Key Principles of a Dev Portal Reference Architecture:</a:t>
            </a:r>
          </a:p>
          <a:p>
            <a:pPr marL="12700" marR="5080"/>
            <a:r>
              <a:rPr lang="en-US" sz="1300" kern="0" spc="-80" dirty="0">
                <a:solidFill>
                  <a:schemeClr val="accent2"/>
                </a:solidFill>
              </a:rPr>
              <a:t>Developer Autonomy: </a:t>
            </a:r>
            <a:r>
              <a:rPr lang="en-US" sz="1300" kern="0" spc="-80" dirty="0">
                <a:solidFill>
                  <a:schemeClr val="accent6"/>
                </a:solidFill>
              </a:rPr>
              <a:t>Empowering developers with self-service capabilities to reduce friction and accelerate development.</a:t>
            </a:r>
          </a:p>
          <a:p>
            <a:pPr marL="12700" marR="5080"/>
            <a:r>
              <a:rPr lang="en-US" sz="1300" kern="0" spc="-80" dirty="0">
                <a:solidFill>
                  <a:schemeClr val="accent2"/>
                </a:solidFill>
              </a:rPr>
              <a:t>Consistency &amp; Standardization: </a:t>
            </a:r>
            <a:r>
              <a:rPr lang="en-US" sz="1300" kern="0" spc="-80" dirty="0">
                <a:solidFill>
                  <a:schemeClr val="accent6"/>
                </a:solidFill>
              </a:rPr>
              <a:t>Providing a unified experience and consistent workflows across different teams and projects.</a:t>
            </a:r>
          </a:p>
          <a:p>
            <a:pPr marL="12700" marR="5080"/>
            <a:r>
              <a:rPr lang="en-US" sz="1300" kern="0" spc="-80" dirty="0">
                <a:solidFill>
                  <a:schemeClr val="accent2"/>
                </a:solidFill>
              </a:rPr>
              <a:t>Observability: </a:t>
            </a:r>
            <a:r>
              <a:rPr lang="en-US" sz="1300" kern="0" spc="-80" dirty="0">
                <a:solidFill>
                  <a:schemeClr val="accent6"/>
                </a:solidFill>
              </a:rPr>
              <a:t>Offering comprehensive monitoring and logging to enable quick troubleshooting and performance optimization.</a:t>
            </a:r>
          </a:p>
          <a:p>
            <a:pPr marL="12700" marR="5080"/>
            <a:r>
              <a:rPr lang="en-US" sz="1300" kern="0" spc="-80" dirty="0">
                <a:solidFill>
                  <a:schemeClr val="accent2"/>
                </a:solidFill>
              </a:rPr>
              <a:t>Security by Design: </a:t>
            </a:r>
            <a:r>
              <a:rPr lang="en-US" sz="1300" kern="0" spc="-80" dirty="0">
                <a:solidFill>
                  <a:schemeClr val="accent6"/>
                </a:solidFill>
              </a:rPr>
              <a:t>Integrating security considerations throughout the architecture to protect sensitive data and resources.</a:t>
            </a:r>
          </a:p>
          <a:p>
            <a:pPr marL="12700" marR="5080"/>
            <a:r>
              <a:rPr lang="en-US" sz="1300" kern="0" spc="-80" dirty="0">
                <a:solidFill>
                  <a:schemeClr val="accent2"/>
                </a:solidFill>
              </a:rPr>
              <a:t>Extensibility &amp; Integrability: </a:t>
            </a:r>
            <a:r>
              <a:rPr lang="en-US" sz="1300" kern="0" spc="-80" dirty="0">
                <a:solidFill>
                  <a:schemeClr val="accent6"/>
                </a:solidFill>
              </a:rPr>
              <a:t>Designing the portal to easily integrate with existing tools and adapt to evolving needs.</a:t>
            </a:r>
          </a:p>
          <a:p>
            <a:pPr marL="12700" marR="5080"/>
            <a:endParaRPr lang="en-US" sz="1300" kern="0" spc="-80" dirty="0">
              <a:solidFill>
                <a:schemeClr val="accent6"/>
              </a:solidFill>
            </a:endParaRPr>
          </a:p>
          <a:p>
            <a:pPr marL="12700" marR="5080"/>
            <a:r>
              <a:rPr lang="en-US" sz="1300" kern="0" spc="-80" dirty="0">
                <a:solidFill>
                  <a:schemeClr val="accent2"/>
                </a:solidFill>
              </a:rPr>
              <a:t>N.B. -</a:t>
            </a:r>
            <a:r>
              <a:rPr lang="en-US" sz="1300" kern="0" spc="-80" dirty="0">
                <a:solidFill>
                  <a:schemeClr val="accent6"/>
                </a:solidFill>
              </a:rPr>
              <a:t> Ideally, Self Service based Dev Portal should be used for Alerts + Runbooks + (E2E module level) Observability and everything should be having Automated steps as much as possible(e.g. if possible, using Agentic AI to resolve multiple dependent APIs issues). And </a:t>
            </a:r>
            <a:r>
              <a:rPr lang="en-US" sz="1300" kern="0" spc="-80" dirty="0" err="1">
                <a:solidFill>
                  <a:schemeClr val="accent6"/>
                </a:solidFill>
              </a:rPr>
              <a:t>ofcourse</a:t>
            </a:r>
            <a:r>
              <a:rPr lang="en-US" sz="1300" kern="0" spc="-80" dirty="0">
                <a:solidFill>
                  <a:schemeClr val="accent6"/>
                </a:solidFill>
              </a:rPr>
              <a:t>, Dev Portal can be used for infra setup, </a:t>
            </a:r>
            <a:r>
              <a:rPr lang="en-US" sz="1300" kern="0" spc="-80" dirty="0" err="1">
                <a:solidFill>
                  <a:schemeClr val="accent6"/>
                </a:solidFill>
              </a:rPr>
              <a:t>DevSecOps</a:t>
            </a:r>
            <a:r>
              <a:rPr lang="en-US" sz="1300" kern="0" spc="-80" dirty="0">
                <a:solidFill>
                  <a:schemeClr val="accent6"/>
                </a:solidFill>
              </a:rPr>
              <a:t> and other stuffs as well. Also, (workflow based) API or other resources onboarding (&amp; corresponding life cycle management) can happen via the Dev Portal.</a:t>
            </a:r>
          </a:p>
        </p:txBody>
      </p:sp>
    </p:spTree>
    <p:extLst>
      <p:ext uri="{BB962C8B-B14F-4D97-AF65-F5344CB8AC3E}">
        <p14:creationId xmlns:p14="http://schemas.microsoft.com/office/powerpoint/2010/main" val="243281015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34C1E-880B-1ADA-77E1-F5F9E0D5C6D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E09798A-C40C-53B7-DC9B-EEEE019B7B61}"/>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66E46BB-023E-64ED-506E-602C0EE2530D}"/>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936DCFC-85A6-D4EA-8D7F-7E6751A0EA06}"/>
              </a:ext>
            </a:extLst>
          </p:cNvPr>
          <p:cNvGraphicFramePr/>
          <p:nvPr/>
        </p:nvGraphicFramePr>
        <p:xfrm>
          <a:off x="27542" y="-8604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781F866-7E87-7A38-05F9-5596C43D17F5}"/>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Dev Portal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DA9841E-B6C5-C22F-BB2F-9821FC1A1014}"/>
              </a:ext>
            </a:extLst>
          </p:cNvPr>
          <p:cNvSpPr txBox="1">
            <a:spLocks/>
          </p:cNvSpPr>
          <p:nvPr/>
        </p:nvSpPr>
        <p:spPr>
          <a:xfrm>
            <a:off x="67816" y="1263652"/>
            <a:ext cx="8624937" cy="20928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For Further Exploration –</a:t>
            </a:r>
          </a:p>
          <a:p>
            <a:pPr marL="12700" marR="5080"/>
            <a:r>
              <a:rPr lang="en-IN" sz="1700" dirty="0">
                <a:hlinkClick r:id="rId7"/>
              </a:rPr>
              <a:t>Components of a developer portal | </a:t>
            </a:r>
            <a:r>
              <a:rPr lang="en-IN" sz="1700" dirty="0" err="1">
                <a:hlinkClick r:id="rId7"/>
              </a:rPr>
              <a:t>Pronovix</a:t>
            </a:r>
            <a:r>
              <a:rPr lang="en-US" sz="1700" kern="0" spc="-80" dirty="0">
                <a:solidFill>
                  <a:schemeClr val="accent2"/>
                </a:solidFill>
              </a:rPr>
              <a:t> </a:t>
            </a:r>
          </a:p>
          <a:p>
            <a:pPr marL="12700" marR="5080"/>
            <a:r>
              <a:rPr lang="en-US" sz="1700" dirty="0">
                <a:hlinkClick r:id="rId8"/>
              </a:rPr>
              <a:t>Backstage</a:t>
            </a:r>
            <a:endParaRPr lang="en-US" sz="1700" dirty="0"/>
          </a:p>
          <a:p>
            <a:pPr marL="12700" marR="5080"/>
            <a:r>
              <a:rPr lang="en-US" sz="1700" dirty="0">
                <a:hlinkClick r:id="rId9"/>
              </a:rPr>
              <a:t>Platform-Engineering-for-Architects</a:t>
            </a:r>
            <a:endParaRPr lang="en-US" sz="1700" dirty="0"/>
          </a:p>
          <a:p>
            <a:pPr marL="12700" marR="5080"/>
            <a:r>
              <a:rPr lang="en-US" sz="1700" dirty="0">
                <a:hlinkClick r:id="rId10"/>
              </a:rPr>
              <a:t>Platform-Engineer-s-Handbook</a:t>
            </a:r>
            <a:endParaRPr lang="en-US" sz="1700" dirty="0"/>
          </a:p>
          <a:p>
            <a:pPr marL="12700" marR="5080"/>
            <a:r>
              <a:rPr lang="en-IN" sz="1700" dirty="0">
                <a:hlinkClick r:id="rId11"/>
              </a:rPr>
              <a:t>Mastering Enterprise Platform Engineering</a:t>
            </a:r>
            <a:endParaRPr lang="en-IN" sz="1700" dirty="0"/>
          </a:p>
          <a:p>
            <a:pPr marL="12700" marR="5080"/>
            <a:r>
              <a:rPr lang="en-US" sz="1700" dirty="0">
                <a:hlinkClick r:id="rId12"/>
              </a:rPr>
              <a:t>The Platform Engineering Playbook</a:t>
            </a:r>
            <a:endParaRPr lang="en-US" sz="1700" dirty="0"/>
          </a:p>
          <a:p>
            <a:pPr marL="12700" marR="5080"/>
            <a:r>
              <a:rPr lang="en-US" sz="1700" dirty="0">
                <a:hlinkClick r:id="rId13"/>
              </a:rPr>
              <a:t>Platform Engineering on Kubernetes</a:t>
            </a:r>
            <a:endParaRPr lang="en-US" sz="1700" kern="0" spc="-80" dirty="0">
              <a:solidFill>
                <a:schemeClr val="accent2"/>
              </a:solidFill>
            </a:endParaRPr>
          </a:p>
        </p:txBody>
      </p:sp>
    </p:spTree>
    <p:extLst>
      <p:ext uri="{BB962C8B-B14F-4D97-AF65-F5344CB8AC3E}">
        <p14:creationId xmlns:p14="http://schemas.microsoft.com/office/powerpoint/2010/main" val="141566565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343B7-2654-B69B-4E28-CCBAA4862C0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21BEC08-F049-2BB0-C023-7C41CD56DEFD}"/>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1815313-99B5-1360-2FED-3FCD9DA9F589}"/>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2E47CC9-4840-93C7-FA4F-7C816A981CCF}"/>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88043F79-74BD-3361-8DFF-51582E3B8BED}"/>
              </a:ext>
            </a:extLst>
          </p:cNvPr>
          <p:cNvSpPr txBox="1">
            <a:spLocks/>
          </p:cNvSpPr>
          <p:nvPr/>
        </p:nvSpPr>
        <p:spPr>
          <a:xfrm>
            <a:off x="228600" y="873204"/>
            <a:ext cx="8624937" cy="514756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r>
              <a:rPr lang="en-US" sz="1150" kern="0" spc="-80" dirty="0">
                <a:solidFill>
                  <a:schemeClr val="accent2"/>
                </a:solidFill>
              </a:rPr>
              <a:t>High-Level Architecture Overview</a:t>
            </a:r>
          </a:p>
          <a:p>
            <a:pPr marL="12700" marR="5080"/>
            <a:r>
              <a:rPr lang="en-US" sz="1150" kern="0" spc="-80" dirty="0">
                <a:solidFill>
                  <a:schemeClr val="accent6"/>
                </a:solidFill>
              </a:rPr>
              <a:t>         ┌─────────────────────────────────────────┐</a:t>
            </a:r>
          </a:p>
          <a:p>
            <a:pPr marL="12700" marR="5080"/>
            <a:r>
              <a:rPr lang="en-US" sz="1150" kern="0" spc="-80" dirty="0">
                <a:solidFill>
                  <a:schemeClr val="accent6"/>
                </a:solidFill>
              </a:rPr>
              <a:t>         │          Document Producers              │</a:t>
            </a:r>
          </a:p>
          <a:p>
            <a:pPr marL="12700" marR="5080"/>
            <a:r>
              <a:rPr lang="en-US" sz="1150" kern="0" spc="-80" dirty="0">
                <a:solidFill>
                  <a:schemeClr val="accent6"/>
                </a:solidFill>
              </a:rPr>
              <a:t>         │ (Users, Scanners, Apps, APIs, E-mail)   │</a:t>
            </a:r>
          </a:p>
          <a:p>
            <a:pPr marL="12700" marR="5080"/>
            <a:r>
              <a:rPr lang="en-US" sz="1150" kern="0" spc="-80" dirty="0">
                <a:solidFill>
                  <a:schemeClr val="accent6"/>
                </a:solidFill>
              </a:rPr>
              <a:t>         └─────────────────────────┬───────────────┘</a:t>
            </a:r>
          </a:p>
          <a:p>
            <a:pPr marL="12700" marR="5080"/>
            <a:r>
              <a:rPr lang="en-US" sz="1150" kern="0" spc="-80" dirty="0">
                <a:solidFill>
                  <a:schemeClr val="accent6"/>
                </a:solidFill>
              </a:rPr>
              <a:t>                                   │</a:t>
            </a:r>
          </a:p>
          <a:p>
            <a:pPr marL="12700" marR="5080"/>
            <a:r>
              <a:rPr lang="en-US" sz="1150" kern="0" spc="-80" dirty="0">
                <a:solidFill>
                  <a:schemeClr val="accent6"/>
                </a:solidFill>
              </a:rPr>
              <a:t>                            Document Ingestion</a:t>
            </a:r>
          </a:p>
          <a:p>
            <a:pPr marL="12700" marR="5080"/>
            <a:r>
              <a:rPr lang="en-US" sz="1150" kern="0" spc="-80" dirty="0">
                <a:solidFill>
                  <a:schemeClr val="accent6"/>
                </a:solidFill>
              </a:rPr>
              <a:t>                                   │</a:t>
            </a:r>
          </a:p>
          <a:p>
            <a:pPr marL="12700" marR="5080"/>
            <a:r>
              <a:rPr lang="en-US" sz="1150" kern="0" spc="-80" dirty="0">
                <a:solidFill>
                  <a:schemeClr val="accent6"/>
                </a:solidFill>
              </a:rPr>
              <a:t> ┌──────────────────────────────┼──────────────────────────────┐</a:t>
            </a:r>
          </a:p>
          <a:p>
            <a:pPr marL="12700" marR="5080"/>
            <a:r>
              <a:rPr lang="en-US" sz="1150" kern="0" spc="-80" dirty="0">
                <a:solidFill>
                  <a:schemeClr val="accent6"/>
                </a:solidFill>
              </a:rPr>
              <a:t>    │                              │                              │</a:t>
            </a:r>
          </a:p>
          <a:p>
            <a:pPr marL="12700" marR="5080"/>
            <a:r>
              <a:rPr lang="en-US" sz="1150" kern="0" spc="-80" dirty="0">
                <a:solidFill>
                  <a:schemeClr val="accent6"/>
                </a:solidFill>
              </a:rPr>
              <a:t>OCR/AI Extraction           Validation Services           Metadata Annotation</a:t>
            </a:r>
          </a:p>
          <a:p>
            <a:pPr marL="12700" marR="5080"/>
            <a:r>
              <a:rPr lang="en-US" sz="1150" kern="0" spc="-80" dirty="0">
                <a:solidFill>
                  <a:schemeClr val="accent6"/>
                </a:solidFill>
              </a:rPr>
              <a:t>    │                              │                              │</a:t>
            </a:r>
          </a:p>
          <a:p>
            <a:pPr marL="12700" marR="5080"/>
            <a:r>
              <a:rPr lang="en-US" sz="1150" kern="0" spc="-80" dirty="0">
                <a:solidFill>
                  <a:schemeClr val="accent6"/>
                </a:solidFill>
              </a:rPr>
              <a:t>└───────────────┬──────────────┴─────────────┬────────────────┘</a:t>
            </a:r>
          </a:p>
          <a:p>
            <a:pPr marL="12700" marR="5080"/>
            <a:r>
              <a:rPr lang="en-US" sz="1150" kern="0" spc="-80" dirty="0">
                <a:solidFill>
                  <a:schemeClr val="accent6"/>
                </a:solidFill>
              </a:rPr>
              <a:t>                    ▼                            ▼</a:t>
            </a:r>
          </a:p>
          <a:p>
            <a:pPr marL="12700" marR="5080"/>
            <a:r>
              <a:rPr lang="en-US" sz="1150" kern="0" spc="-80" dirty="0">
                <a:solidFill>
                  <a:schemeClr val="accent6"/>
                </a:solidFill>
              </a:rPr>
              <a:t>               Workflow Engine (BPM / Orchestration)</a:t>
            </a:r>
          </a:p>
          <a:p>
            <a:pPr marL="12700" marR="5080"/>
            <a:r>
              <a:rPr lang="en-US" sz="1150" kern="0" spc="-80" dirty="0">
                <a:solidFill>
                  <a:schemeClr val="accent6"/>
                </a:solidFill>
              </a:rPr>
              <a:t>                    │</a:t>
            </a:r>
          </a:p>
          <a:p>
            <a:pPr marL="12700" marR="5080"/>
            <a:r>
              <a:rPr lang="en-US" sz="1150" kern="0" spc="-80" dirty="0">
                <a:solidFill>
                  <a:schemeClr val="accent6"/>
                </a:solidFill>
              </a:rPr>
              <a:t>      ┌─────────────┼─────────────┬───────────────┐</a:t>
            </a:r>
          </a:p>
          <a:p>
            <a:pPr marL="12700" marR="5080"/>
            <a:r>
              <a:rPr lang="en-US" sz="1150" kern="0" spc="-80" dirty="0">
                <a:solidFill>
                  <a:schemeClr val="accent6"/>
                </a:solidFill>
              </a:rPr>
              <a:t>      │             │             │               │</a:t>
            </a:r>
          </a:p>
          <a:p>
            <a:pPr marL="12700" marR="5080"/>
            <a:r>
              <a:rPr lang="en-US" sz="1150" kern="0" spc="-80" dirty="0">
                <a:solidFill>
                  <a:schemeClr val="accent6"/>
                </a:solidFill>
              </a:rPr>
              <a:t> Human Tasks   System Tasks   Automation     External APIs</a:t>
            </a:r>
          </a:p>
          <a:p>
            <a:pPr marL="12700" marR="5080"/>
            <a:r>
              <a:rPr lang="en-US" sz="1150" kern="0" spc="-80" dirty="0">
                <a:solidFill>
                  <a:schemeClr val="accent6"/>
                </a:solidFill>
              </a:rPr>
              <a:t>(Review/Approve) (Routing)     (RPA/Bots)      (ERP/CRM)</a:t>
            </a:r>
          </a:p>
          <a:p>
            <a:pPr marL="12700" marR="5080"/>
            <a:r>
              <a:rPr lang="en-US" sz="1150" kern="0" spc="-80" dirty="0">
                <a:solidFill>
                  <a:schemeClr val="accent6"/>
                </a:solidFill>
              </a:rPr>
              <a:t>      │             │             │               │</a:t>
            </a:r>
          </a:p>
          <a:p>
            <a:pPr marL="12700" marR="5080"/>
            <a:r>
              <a:rPr lang="en-US" sz="1150" kern="0" spc="-80" dirty="0">
                <a:solidFill>
                  <a:schemeClr val="accent6"/>
                </a:solidFill>
              </a:rPr>
              <a:t>      └─────────────┴─────────────┴───────────────┘</a:t>
            </a:r>
          </a:p>
          <a:p>
            <a:pPr marL="12700" marR="5080"/>
            <a:r>
              <a:rPr lang="en-US" sz="1150" kern="0" spc="-80" dirty="0">
                <a:solidFill>
                  <a:schemeClr val="accent6"/>
                </a:solidFill>
              </a:rPr>
              <a:t>                    ▼</a:t>
            </a:r>
          </a:p>
          <a:p>
            <a:pPr marL="12700" marR="5080"/>
            <a:r>
              <a:rPr lang="en-US" sz="1150" kern="0" spc="-80" dirty="0">
                <a:solidFill>
                  <a:schemeClr val="accent6"/>
                </a:solidFill>
              </a:rPr>
              <a:t>        Document Repository / Archive / DMS</a:t>
            </a:r>
          </a:p>
          <a:p>
            <a:pPr marL="12700" marR="5080"/>
            <a:r>
              <a:rPr lang="en-US" sz="1150" kern="0" spc="-80" dirty="0">
                <a:solidFill>
                  <a:schemeClr val="accent6"/>
                </a:solidFill>
              </a:rPr>
              <a:t>                    │</a:t>
            </a:r>
          </a:p>
          <a:p>
            <a:pPr marL="12700" marR="5080"/>
            <a:r>
              <a:rPr lang="en-US" sz="1150" kern="0" spc="-80" dirty="0">
                <a:solidFill>
                  <a:schemeClr val="accent6"/>
                </a:solidFill>
              </a:rPr>
              <a:t>                    ▼</a:t>
            </a:r>
          </a:p>
          <a:p>
            <a:pPr marL="12700" marR="5080"/>
            <a:r>
              <a:rPr lang="en-US" sz="1150" kern="0" spc="-80" dirty="0">
                <a:solidFill>
                  <a:schemeClr val="accent6"/>
                </a:solidFill>
              </a:rPr>
              <a:t>             Audit, Versioning, Security</a:t>
            </a:r>
          </a:p>
        </p:txBody>
      </p:sp>
    </p:spTree>
    <p:extLst>
      <p:ext uri="{BB962C8B-B14F-4D97-AF65-F5344CB8AC3E}">
        <p14:creationId xmlns:p14="http://schemas.microsoft.com/office/powerpoint/2010/main" val="160869088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66C0C-45EA-D97E-EFBA-B9E9CAD30DA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E48DDD3-5545-220A-24A7-B01EDDDA391B}"/>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3C84BEC-24CA-FC08-ADCB-46FB13B31A0C}"/>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164617B-A53F-70B9-8DA8-865305330B2C}"/>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BA96A1A-694E-1CE5-7685-ECF30173C037}"/>
              </a:ext>
            </a:extLst>
          </p:cNvPr>
          <p:cNvSpPr txBox="1">
            <a:spLocks/>
          </p:cNvSpPr>
          <p:nvPr/>
        </p:nvSpPr>
        <p:spPr>
          <a:xfrm>
            <a:off x="228600" y="873204"/>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r>
              <a:rPr lang="en-US" sz="1300" kern="0" spc="-80" dirty="0">
                <a:solidFill>
                  <a:schemeClr val="accent6"/>
                </a:solidFill>
              </a:rPr>
              <a:t>A Document-Based Workflow Architecture is a system design pattern where documents (PDFs, forms, images, CAD/BIM files, contracts, invoices, etc.) act as the primary unit of work, driving processes through automated or human-centric workflow </a:t>
            </a:r>
            <a:r>
              <a:rPr lang="en-US" sz="1300" kern="0" spc="-80" dirty="0" err="1">
                <a:solidFill>
                  <a:schemeClr val="accent6"/>
                </a:solidFill>
              </a:rPr>
              <a:t>stages.It</a:t>
            </a:r>
            <a:r>
              <a:rPr lang="en-US" sz="1300" kern="0" spc="-80" dirty="0">
                <a:solidFill>
                  <a:schemeClr val="accent6"/>
                </a:solidFill>
              </a:rPr>
              <a:t> supports document ingestion, classification, enrichment, versioning, routing, approvals, storage, audit, and lifecycle management</a:t>
            </a:r>
            <a:r>
              <a:rPr lang="en-US" sz="1150" kern="0" spc="-80" dirty="0">
                <a:solidFill>
                  <a:schemeClr val="accent6"/>
                </a:solidFill>
              </a:rPr>
              <a:t>.               </a:t>
            </a:r>
          </a:p>
          <a:p>
            <a:pPr marL="12700" marR="5080"/>
            <a:endParaRPr lang="en-US" sz="1150" kern="0" spc="-80" dirty="0">
              <a:solidFill>
                <a:schemeClr val="accent2"/>
              </a:solidFill>
            </a:endParaRPr>
          </a:p>
          <a:p>
            <a:pPr marL="12700" marR="5080"/>
            <a:r>
              <a:rPr lang="en-US" sz="1150" kern="0" spc="-80" dirty="0">
                <a:solidFill>
                  <a:schemeClr val="accent2"/>
                </a:solidFill>
              </a:rPr>
              <a:t>Key Characteristics</a:t>
            </a:r>
          </a:p>
          <a:p>
            <a:pPr marL="12700" marR="5080"/>
            <a:r>
              <a:rPr lang="en-US" sz="1150" kern="0" spc="-80" dirty="0">
                <a:solidFill>
                  <a:schemeClr val="accent2"/>
                </a:solidFill>
              </a:rPr>
              <a:t>Feature	                                                                  Description</a:t>
            </a:r>
          </a:p>
          <a:p>
            <a:pPr marL="12700" marR="5080"/>
            <a:r>
              <a:rPr lang="en-US" sz="1300" kern="0" spc="-80" dirty="0">
                <a:solidFill>
                  <a:schemeClr val="accent6"/>
                </a:solidFill>
              </a:rPr>
              <a:t>Document is the Workflow Trigger	             A workflow begins when a document is created, uploaded, scanned, </a:t>
            </a:r>
          </a:p>
          <a:p>
            <a:pPr marL="12700" marR="5080"/>
            <a:r>
              <a:rPr lang="en-US" sz="1300" kern="0" spc="-80" dirty="0">
                <a:solidFill>
                  <a:schemeClr val="accent6"/>
                </a:solidFill>
              </a:rPr>
              <a:t>                                                                              or received via an  API/email/queue.</a:t>
            </a:r>
          </a:p>
          <a:p>
            <a:pPr marL="12700" marR="5080"/>
            <a:r>
              <a:rPr lang="en-US" sz="1300" kern="0" spc="-80" dirty="0">
                <a:solidFill>
                  <a:schemeClr val="accent6"/>
                </a:solidFill>
              </a:rPr>
              <a:t>Metadata Drives Flow	                                   Routed based on extracted metadata (</a:t>
            </a:r>
            <a:r>
              <a:rPr lang="en-US" sz="1300" kern="0" spc="-80" dirty="0" err="1">
                <a:solidFill>
                  <a:schemeClr val="accent6"/>
                </a:solidFill>
              </a:rPr>
              <a:t>customerID</a:t>
            </a:r>
            <a:r>
              <a:rPr lang="en-US" sz="1300" kern="0" spc="-80" dirty="0">
                <a:solidFill>
                  <a:schemeClr val="accent6"/>
                </a:solidFill>
              </a:rPr>
              <a:t>, invoice amount, </a:t>
            </a:r>
          </a:p>
          <a:p>
            <a:pPr marL="12700" marR="5080"/>
            <a:r>
              <a:rPr lang="en-US" sz="1300" kern="0" spc="-80" dirty="0">
                <a:solidFill>
                  <a:schemeClr val="accent6"/>
                </a:solidFill>
              </a:rPr>
              <a:t>                                                                              claim type).</a:t>
            </a:r>
          </a:p>
          <a:p>
            <a:pPr marL="12700" marR="5080"/>
            <a:r>
              <a:rPr lang="en-US" sz="1300" kern="0" spc="-80" dirty="0">
                <a:solidFill>
                  <a:schemeClr val="accent6"/>
                </a:solidFill>
              </a:rPr>
              <a:t>Human + Automation Mix	             Combines automation (OCR/AI) with human interventions (approvals,</a:t>
            </a:r>
          </a:p>
          <a:p>
            <a:pPr marL="12700" marR="5080"/>
            <a:r>
              <a:rPr lang="en-US" sz="1300" kern="0" spc="-80" dirty="0">
                <a:solidFill>
                  <a:schemeClr val="accent6"/>
                </a:solidFill>
              </a:rPr>
              <a:t>                                                                              edits, reviews).</a:t>
            </a:r>
          </a:p>
          <a:p>
            <a:pPr marL="12700" marR="5080"/>
            <a:r>
              <a:rPr lang="en-US" sz="1300" kern="0" spc="-80" dirty="0">
                <a:solidFill>
                  <a:schemeClr val="accent6"/>
                </a:solidFill>
              </a:rPr>
              <a:t>Stateful Processing	                                   Workflow system stores stage, history, timestamps, assignees.</a:t>
            </a:r>
          </a:p>
          <a:p>
            <a:pPr marL="12700" marR="5080"/>
            <a:r>
              <a:rPr lang="en-US" sz="1300" kern="0" spc="-80" dirty="0">
                <a:solidFill>
                  <a:schemeClr val="accent6"/>
                </a:solidFill>
              </a:rPr>
              <a:t>Integrates with DMS/ECM	             Works with SharePoint, Alfresco, OpenText, </a:t>
            </a:r>
            <a:r>
              <a:rPr lang="en-US" sz="1300" kern="0" spc="-80" dirty="0" err="1">
                <a:solidFill>
                  <a:schemeClr val="accent6"/>
                </a:solidFill>
              </a:rPr>
              <a:t>Filenet</a:t>
            </a:r>
            <a:r>
              <a:rPr lang="en-US" sz="1300" kern="0" spc="-80" dirty="0">
                <a:solidFill>
                  <a:schemeClr val="accent6"/>
                </a:solidFill>
              </a:rPr>
              <a:t>, S3, GCP Storage, etc.</a:t>
            </a:r>
          </a:p>
          <a:p>
            <a:pPr marL="12700" marR="5080"/>
            <a:endParaRPr lang="en-US" sz="1150" kern="0" spc="-80" dirty="0">
              <a:solidFill>
                <a:schemeClr val="accent2"/>
              </a:solidFill>
            </a:endParaRPr>
          </a:p>
          <a:p>
            <a:pPr marL="12700" marR="5080"/>
            <a:r>
              <a:rPr lang="en-US" sz="1300" kern="0" spc="-80" dirty="0">
                <a:solidFill>
                  <a:schemeClr val="accent2"/>
                </a:solidFill>
              </a:rPr>
              <a:t>Core Architecture Components</a:t>
            </a:r>
          </a:p>
          <a:p>
            <a:pPr marL="12700" marR="5080"/>
            <a:r>
              <a:rPr lang="en-US" sz="1300" kern="0" spc="-80" dirty="0">
                <a:solidFill>
                  <a:schemeClr val="accent2"/>
                </a:solidFill>
              </a:rPr>
              <a:t>1. Document Ingestion Layer</a:t>
            </a:r>
          </a:p>
          <a:p>
            <a:pPr marL="12700" marR="5080"/>
            <a:r>
              <a:rPr lang="en-US" sz="1300" kern="0" spc="-80" dirty="0">
                <a:solidFill>
                  <a:schemeClr val="accent2"/>
                </a:solidFill>
              </a:rPr>
              <a:t>Supports multiple input channels:</a:t>
            </a:r>
          </a:p>
          <a:p>
            <a:pPr marL="12700" marR="5080"/>
            <a:r>
              <a:rPr lang="en-US" sz="1300" kern="0" spc="-80" dirty="0">
                <a:solidFill>
                  <a:schemeClr val="accent6"/>
                </a:solidFill>
              </a:rPr>
              <a:t>File upload portals</a:t>
            </a:r>
          </a:p>
          <a:p>
            <a:pPr marL="12700" marR="5080"/>
            <a:r>
              <a:rPr lang="en-US" sz="1300" kern="0" spc="-80" dirty="0">
                <a:solidFill>
                  <a:schemeClr val="accent6"/>
                </a:solidFill>
              </a:rPr>
              <a:t>Email listeners</a:t>
            </a:r>
          </a:p>
          <a:p>
            <a:pPr marL="12700" marR="5080"/>
            <a:r>
              <a:rPr lang="en-US" sz="1300" kern="0" spc="-80" dirty="0">
                <a:solidFill>
                  <a:schemeClr val="accent6"/>
                </a:solidFill>
              </a:rPr>
              <a:t>API endpoints</a:t>
            </a:r>
          </a:p>
          <a:p>
            <a:pPr marL="12700" marR="5080"/>
            <a:r>
              <a:rPr lang="en-US" sz="1300" kern="0" spc="-80" dirty="0">
                <a:solidFill>
                  <a:schemeClr val="accent6"/>
                </a:solidFill>
              </a:rPr>
              <a:t>SFTP ingestion</a:t>
            </a:r>
          </a:p>
        </p:txBody>
      </p:sp>
    </p:spTree>
    <p:extLst>
      <p:ext uri="{BB962C8B-B14F-4D97-AF65-F5344CB8AC3E}">
        <p14:creationId xmlns:p14="http://schemas.microsoft.com/office/powerpoint/2010/main" val="152324270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EAA17-FDAB-2834-A3BE-EE518DC7372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8190455-774C-0A42-BECF-A0096EA6909E}"/>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A0F702B-7B47-92E5-F0EB-2E3A38B06EA8}"/>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FBAE6AD-E5A6-D607-A496-E8D26ACE566E}"/>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331D693-4CDE-A2A6-D9CF-82EB828A486B}"/>
              </a:ext>
            </a:extLst>
          </p:cNvPr>
          <p:cNvSpPr txBox="1">
            <a:spLocks/>
          </p:cNvSpPr>
          <p:nvPr/>
        </p:nvSpPr>
        <p:spPr>
          <a:xfrm>
            <a:off x="259531" y="866457"/>
            <a:ext cx="8624937" cy="537070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r>
              <a:rPr lang="en-US" sz="1300" kern="0" spc="-80" dirty="0">
                <a:solidFill>
                  <a:schemeClr val="accent6"/>
                </a:solidFill>
              </a:rPr>
              <a:t>Temporal</a:t>
            </a:r>
          </a:p>
          <a:p>
            <a:pPr marL="12700" marR="5080"/>
            <a:r>
              <a:rPr lang="en-US" sz="1300" kern="0" spc="-80" dirty="0">
                <a:solidFill>
                  <a:schemeClr val="accent6"/>
                </a:solidFill>
              </a:rPr>
              <a:t>Apache Airflow (for system workflows)</a:t>
            </a:r>
          </a:p>
          <a:p>
            <a:pPr marL="12700" marR="5080"/>
            <a:r>
              <a:rPr lang="en-US" sz="1300" kern="0" spc="-80" dirty="0">
                <a:solidFill>
                  <a:schemeClr val="accent6"/>
                </a:solidFill>
              </a:rPr>
              <a:t>Power Automate</a:t>
            </a:r>
          </a:p>
          <a:p>
            <a:pPr marL="12700" marR="5080"/>
            <a:r>
              <a:rPr lang="en-US" sz="1300" kern="0" spc="-80" dirty="0">
                <a:solidFill>
                  <a:schemeClr val="accent6"/>
                </a:solidFill>
              </a:rPr>
              <a:t>Azure Logic Apps</a:t>
            </a:r>
          </a:p>
          <a:p>
            <a:pPr marL="12700" marR="5080"/>
            <a:r>
              <a:rPr lang="en-US" sz="1300" kern="0" spc="-80" dirty="0">
                <a:solidFill>
                  <a:schemeClr val="accent6"/>
                </a:solidFill>
              </a:rPr>
              <a:t>n8n</a:t>
            </a:r>
          </a:p>
          <a:p>
            <a:pPr marL="12700" marR="5080"/>
            <a:r>
              <a:rPr lang="en-US" sz="1300" kern="0" spc="-80" dirty="0">
                <a:solidFill>
                  <a:schemeClr val="accent6"/>
                </a:solidFill>
              </a:rPr>
              <a:t>JBPM</a:t>
            </a:r>
          </a:p>
          <a:p>
            <a:pPr marL="12700" marR="5080"/>
            <a:r>
              <a:rPr lang="en-US" sz="1300" kern="0" spc="-80" dirty="0">
                <a:solidFill>
                  <a:schemeClr val="accent6"/>
                </a:solidFill>
              </a:rPr>
              <a:t>Message queues (Azure Service Bus, Kafka, AWS SQS)</a:t>
            </a:r>
          </a:p>
          <a:p>
            <a:pPr marL="12700" marR="5080"/>
            <a:r>
              <a:rPr lang="en-US" sz="1300" kern="0" spc="-80" dirty="0">
                <a:solidFill>
                  <a:schemeClr val="accent6"/>
                </a:solidFill>
              </a:rPr>
              <a:t>Scanners with OCR</a:t>
            </a:r>
          </a:p>
          <a:p>
            <a:pPr marL="12700" marR="5080"/>
            <a:r>
              <a:rPr lang="en-US" sz="1300" kern="0" spc="-80" dirty="0">
                <a:solidFill>
                  <a:schemeClr val="accent6"/>
                </a:solidFill>
              </a:rPr>
              <a:t>Tech: NGINX, API Gateway, Kofax, </a:t>
            </a:r>
            <a:r>
              <a:rPr lang="en-US" sz="1300" kern="0" spc="-80" dirty="0" err="1">
                <a:solidFill>
                  <a:schemeClr val="accent6"/>
                </a:solidFill>
              </a:rPr>
              <a:t>Abbyy</a:t>
            </a:r>
            <a:r>
              <a:rPr lang="en-US" sz="1300" kern="0" spc="-80" dirty="0">
                <a:solidFill>
                  <a:schemeClr val="accent6"/>
                </a:solidFill>
              </a:rPr>
              <a:t>, Azure Form Recognizer, Tesseract.</a:t>
            </a:r>
          </a:p>
          <a:p>
            <a:pPr marL="12700" marR="5080"/>
            <a:endParaRPr lang="en-US" sz="1300" kern="0" spc="-80" dirty="0">
              <a:solidFill>
                <a:schemeClr val="accent6"/>
              </a:solidFill>
            </a:endParaRPr>
          </a:p>
          <a:p>
            <a:pPr marL="12700" marR="5080"/>
            <a:r>
              <a:rPr lang="en-US" sz="1300" kern="0" spc="-80" dirty="0">
                <a:solidFill>
                  <a:schemeClr val="accent2"/>
                </a:solidFill>
              </a:rPr>
              <a:t>2. Document Recognition &amp; Understanding</a:t>
            </a:r>
          </a:p>
          <a:p>
            <a:pPr marL="12700" marR="5080"/>
            <a:r>
              <a:rPr lang="en-US" sz="1300" kern="0" spc="-80" dirty="0">
                <a:solidFill>
                  <a:schemeClr val="accent6"/>
                </a:solidFill>
              </a:rPr>
              <a:t>AI/ML models convert unstructured content into structured metadata.</a:t>
            </a:r>
          </a:p>
          <a:p>
            <a:pPr marL="12700" marR="5080"/>
            <a:r>
              <a:rPr lang="en-US" sz="1300" kern="0" spc="-80" dirty="0">
                <a:solidFill>
                  <a:schemeClr val="accent2"/>
                </a:solidFill>
              </a:rPr>
              <a:t>Techniques:</a:t>
            </a:r>
          </a:p>
          <a:p>
            <a:pPr marL="12700" marR="5080"/>
            <a:r>
              <a:rPr lang="en-US" sz="1300" kern="0" spc="-80" dirty="0">
                <a:solidFill>
                  <a:schemeClr val="accent6"/>
                </a:solidFill>
              </a:rPr>
              <a:t>OCR/ICR (Handwriting recognition)</a:t>
            </a:r>
          </a:p>
          <a:p>
            <a:pPr marL="12700" marR="5080"/>
            <a:r>
              <a:rPr lang="en-US" sz="1300" kern="0" spc="-80" dirty="0">
                <a:solidFill>
                  <a:schemeClr val="accent6"/>
                </a:solidFill>
              </a:rPr>
              <a:t>Document classification (CNN, Transformers)</a:t>
            </a:r>
          </a:p>
          <a:p>
            <a:pPr marL="12700" marR="5080"/>
            <a:r>
              <a:rPr lang="en-US" sz="1300" kern="0" spc="-80" dirty="0">
                <a:solidFill>
                  <a:schemeClr val="accent6"/>
                </a:solidFill>
              </a:rPr>
              <a:t>Key-value extraction (</a:t>
            </a:r>
            <a:r>
              <a:rPr lang="en-US" sz="1300" kern="0" spc="-80" dirty="0" err="1">
                <a:solidFill>
                  <a:schemeClr val="accent6"/>
                </a:solidFill>
              </a:rPr>
              <a:t>LayoutLM</a:t>
            </a:r>
            <a:r>
              <a:rPr lang="en-US" sz="1300" kern="0" spc="-80" dirty="0">
                <a:solidFill>
                  <a:schemeClr val="accent6"/>
                </a:solidFill>
              </a:rPr>
              <a:t>, Donut)</a:t>
            </a:r>
          </a:p>
          <a:p>
            <a:pPr marL="12700" marR="5080"/>
            <a:r>
              <a:rPr lang="en-US" sz="1300" kern="0" spc="-80" dirty="0">
                <a:solidFill>
                  <a:schemeClr val="accent6"/>
                </a:solidFill>
              </a:rPr>
              <a:t>Signature detection</a:t>
            </a:r>
          </a:p>
          <a:p>
            <a:pPr marL="12700" marR="5080"/>
            <a:r>
              <a:rPr lang="en-US" sz="1300" kern="0" spc="-80" dirty="0">
                <a:solidFill>
                  <a:schemeClr val="accent6"/>
                </a:solidFill>
              </a:rPr>
              <a:t>Barcode reading</a:t>
            </a:r>
          </a:p>
          <a:p>
            <a:pPr marL="12700" marR="5080"/>
            <a:endParaRPr lang="en-US" sz="1300" kern="0" spc="-80" dirty="0">
              <a:solidFill>
                <a:schemeClr val="accent6"/>
              </a:solidFill>
            </a:endParaRPr>
          </a:p>
          <a:p>
            <a:pPr marL="12700" marR="5080"/>
            <a:r>
              <a:rPr lang="en-US" sz="1300" kern="0" spc="-80" dirty="0">
                <a:solidFill>
                  <a:schemeClr val="accent2"/>
                </a:solidFill>
              </a:rPr>
              <a:t>3. Metadata Enrichment</a:t>
            </a:r>
          </a:p>
          <a:p>
            <a:pPr marL="12700" marR="5080"/>
            <a:r>
              <a:rPr lang="en-US" sz="1300" kern="0" spc="-80" dirty="0">
                <a:solidFill>
                  <a:schemeClr val="accent6"/>
                </a:solidFill>
              </a:rPr>
              <a:t>Extracted metadata is validated and mapped into workflow fields.</a:t>
            </a:r>
          </a:p>
          <a:p>
            <a:pPr marL="12700" marR="5080"/>
            <a:r>
              <a:rPr lang="en-US" sz="1300" kern="0" spc="-80" dirty="0">
                <a:solidFill>
                  <a:schemeClr val="accent2"/>
                </a:solidFill>
              </a:rPr>
              <a:t>Example:</a:t>
            </a:r>
          </a:p>
          <a:p>
            <a:pPr marL="12700" marR="5080"/>
            <a:r>
              <a:rPr lang="en-US" sz="1300" kern="0" spc="-80" dirty="0">
                <a:solidFill>
                  <a:schemeClr val="accent6"/>
                </a:solidFill>
              </a:rPr>
              <a:t>“Invoice Total = ₹2,45,000 → Requires Finance Director Approval”.</a:t>
            </a:r>
          </a:p>
          <a:p>
            <a:pPr marL="12700" marR="5080"/>
            <a:r>
              <a:rPr lang="en-US" sz="1300" kern="0" spc="-80" dirty="0">
                <a:solidFill>
                  <a:schemeClr val="accent6"/>
                </a:solidFill>
              </a:rPr>
              <a:t>“Claim Category = Health → Route to Health Claims Team”.</a:t>
            </a:r>
          </a:p>
        </p:txBody>
      </p:sp>
    </p:spTree>
    <p:extLst>
      <p:ext uri="{BB962C8B-B14F-4D97-AF65-F5344CB8AC3E}">
        <p14:creationId xmlns:p14="http://schemas.microsoft.com/office/powerpoint/2010/main" val="340477378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172ED-63F2-11A1-0976-DA2AEF31209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F5EF6D2-6092-62F7-ED9D-AD0DA31F7F72}"/>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486594F-CC46-DDE9-3F5D-1FB49826A2FE}"/>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98C2ACF-EBF4-47C1-2F0B-231E730D0BB7}"/>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86608348-637D-38A6-6FDA-F03DFB2460C5}"/>
              </a:ext>
            </a:extLst>
          </p:cNvPr>
          <p:cNvSpPr txBox="1">
            <a:spLocks/>
          </p:cNvSpPr>
          <p:nvPr/>
        </p:nvSpPr>
        <p:spPr>
          <a:xfrm>
            <a:off x="228600" y="873204"/>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r>
              <a:rPr lang="en-US" sz="1300" kern="0" spc="-80" dirty="0">
                <a:solidFill>
                  <a:schemeClr val="accent2"/>
                </a:solidFill>
              </a:rPr>
              <a:t>4. Workflow Orchestration Layer</a:t>
            </a:r>
          </a:p>
          <a:p>
            <a:pPr marL="12700" marR="5080"/>
            <a:r>
              <a:rPr lang="en-US" sz="1300" kern="0" spc="-80" dirty="0">
                <a:solidFill>
                  <a:schemeClr val="accent6"/>
                </a:solidFill>
              </a:rPr>
              <a:t>The engine that drives the process.</a:t>
            </a:r>
          </a:p>
          <a:p>
            <a:pPr marL="12700" marR="5080"/>
            <a:r>
              <a:rPr lang="en-US" sz="1300" kern="0" spc="-80" dirty="0">
                <a:solidFill>
                  <a:schemeClr val="accent2"/>
                </a:solidFill>
              </a:rPr>
              <a:t>Common Workflow Engines:</a:t>
            </a:r>
          </a:p>
          <a:p>
            <a:pPr marL="12700" marR="5080"/>
            <a:r>
              <a:rPr lang="en-US" sz="1300" kern="0" spc="-80" dirty="0">
                <a:solidFill>
                  <a:schemeClr val="accent6"/>
                </a:solidFill>
              </a:rPr>
              <a:t>Camunda / </a:t>
            </a:r>
            <a:r>
              <a:rPr lang="en-US" sz="1300" kern="0" spc="-80" dirty="0" err="1">
                <a:solidFill>
                  <a:schemeClr val="accent6"/>
                </a:solidFill>
              </a:rPr>
              <a:t>Zeebe</a:t>
            </a:r>
            <a:endParaRPr lang="en-US" sz="1300" kern="0" spc="-80" dirty="0">
              <a:solidFill>
                <a:schemeClr val="accent6"/>
              </a:solidFill>
            </a:endParaRPr>
          </a:p>
          <a:p>
            <a:pPr marL="12700" marR="5080"/>
            <a:r>
              <a:rPr lang="en-US" sz="1300" kern="0" spc="-80" dirty="0">
                <a:solidFill>
                  <a:schemeClr val="accent6"/>
                </a:solidFill>
              </a:rPr>
              <a:t>Netflix Conductor</a:t>
            </a:r>
          </a:p>
          <a:p>
            <a:pPr marL="12700" marR="5080"/>
            <a:r>
              <a:rPr lang="en-US" sz="1300" kern="0" spc="-80" dirty="0">
                <a:solidFill>
                  <a:schemeClr val="accent6"/>
                </a:solidFill>
              </a:rPr>
              <a:t>Features:</a:t>
            </a:r>
          </a:p>
          <a:p>
            <a:pPr marL="12700" marR="5080"/>
            <a:r>
              <a:rPr lang="en-US" sz="1300" kern="0" spc="-80" dirty="0">
                <a:solidFill>
                  <a:schemeClr val="accent6"/>
                </a:solidFill>
              </a:rPr>
              <a:t>BPMN-based workflows</a:t>
            </a:r>
          </a:p>
          <a:p>
            <a:pPr marL="12700" marR="5080"/>
            <a:r>
              <a:rPr lang="en-US" sz="1300" kern="0" spc="-80" dirty="0">
                <a:solidFill>
                  <a:schemeClr val="accent6"/>
                </a:solidFill>
              </a:rPr>
              <a:t>Human tasks</a:t>
            </a:r>
          </a:p>
          <a:p>
            <a:pPr marL="12700" marR="5080"/>
            <a:r>
              <a:rPr lang="en-US" sz="1300" kern="0" spc="-80" dirty="0">
                <a:solidFill>
                  <a:schemeClr val="accent6"/>
                </a:solidFill>
              </a:rPr>
              <a:t>SLAs &amp; escalations</a:t>
            </a:r>
          </a:p>
          <a:p>
            <a:pPr marL="12700" marR="5080"/>
            <a:r>
              <a:rPr lang="en-US" sz="1300" kern="0" spc="-80" dirty="0">
                <a:solidFill>
                  <a:schemeClr val="accent6"/>
                </a:solidFill>
              </a:rPr>
              <a:t>Conditional branching</a:t>
            </a:r>
          </a:p>
          <a:p>
            <a:pPr marL="12700" marR="5080"/>
            <a:r>
              <a:rPr lang="en-US" sz="1300" kern="0" spc="-80" dirty="0">
                <a:solidFill>
                  <a:schemeClr val="accent6"/>
                </a:solidFill>
              </a:rPr>
              <a:t>Audit trails</a:t>
            </a:r>
          </a:p>
          <a:p>
            <a:pPr marL="12700" marR="5080"/>
            <a:endParaRPr lang="en-US" sz="1300" kern="0" spc="-80" dirty="0">
              <a:solidFill>
                <a:schemeClr val="accent6"/>
              </a:solidFill>
            </a:endParaRPr>
          </a:p>
          <a:p>
            <a:pPr marL="12700" marR="5080"/>
            <a:r>
              <a:rPr lang="en-US" sz="1300" kern="0" spc="-80" dirty="0">
                <a:solidFill>
                  <a:schemeClr val="accent2"/>
                </a:solidFill>
              </a:rPr>
              <a:t>5. Human Task Management</a:t>
            </a:r>
          </a:p>
          <a:p>
            <a:pPr marL="12700" marR="5080"/>
            <a:r>
              <a:rPr lang="en-US" sz="1300" kern="0" spc="-80" dirty="0">
                <a:solidFill>
                  <a:schemeClr val="accent2"/>
                </a:solidFill>
              </a:rPr>
              <a:t>Document workflows often require human steps:</a:t>
            </a:r>
          </a:p>
          <a:p>
            <a:pPr marL="12700" marR="5080"/>
            <a:r>
              <a:rPr lang="en-US" sz="1300" kern="0" spc="-80" dirty="0">
                <a:solidFill>
                  <a:schemeClr val="accent6"/>
                </a:solidFill>
              </a:rPr>
              <a:t>Approve/Reject</a:t>
            </a:r>
          </a:p>
          <a:p>
            <a:pPr marL="12700" marR="5080"/>
            <a:r>
              <a:rPr lang="en-US" sz="1300" kern="0" spc="-80" dirty="0">
                <a:solidFill>
                  <a:schemeClr val="accent6"/>
                </a:solidFill>
              </a:rPr>
              <a:t>Edit metadata</a:t>
            </a:r>
          </a:p>
          <a:p>
            <a:pPr marL="12700" marR="5080"/>
            <a:r>
              <a:rPr lang="en-US" sz="1300" kern="0" spc="-80" dirty="0">
                <a:solidFill>
                  <a:schemeClr val="accent6"/>
                </a:solidFill>
              </a:rPr>
              <a:t>Annotate documents</a:t>
            </a:r>
          </a:p>
          <a:p>
            <a:pPr marL="12700" marR="5080"/>
            <a:r>
              <a:rPr lang="en-US" sz="1300" kern="0" spc="-80" dirty="0">
                <a:solidFill>
                  <a:schemeClr val="accent6"/>
                </a:solidFill>
              </a:rPr>
              <a:t>Assign tasks across roles</a:t>
            </a:r>
          </a:p>
          <a:p>
            <a:pPr marL="12700" marR="5080"/>
            <a:r>
              <a:rPr lang="en-US" sz="1300" kern="0" spc="-80" dirty="0">
                <a:solidFill>
                  <a:schemeClr val="accent6"/>
                </a:solidFill>
              </a:rPr>
              <a:t>Tech: Camunda </a:t>
            </a:r>
            <a:r>
              <a:rPr lang="en-US" sz="1300" kern="0" spc="-80" dirty="0" err="1">
                <a:solidFill>
                  <a:schemeClr val="accent6"/>
                </a:solidFill>
              </a:rPr>
              <a:t>Tasklist</a:t>
            </a:r>
            <a:r>
              <a:rPr lang="en-US" sz="1300" kern="0" spc="-80" dirty="0">
                <a:solidFill>
                  <a:schemeClr val="accent6"/>
                </a:solidFill>
              </a:rPr>
              <a:t>, Activiti UI, custom Angular/React applications.</a:t>
            </a:r>
          </a:p>
          <a:p>
            <a:pPr marL="12700" marR="5080"/>
            <a:endParaRPr lang="en-US" sz="1300" kern="0" spc="-80" dirty="0">
              <a:solidFill>
                <a:schemeClr val="accent6"/>
              </a:solidFill>
            </a:endParaRPr>
          </a:p>
          <a:p>
            <a:pPr marL="12700" marR="5080"/>
            <a:r>
              <a:rPr lang="en-US" sz="1300" kern="0" spc="-80" dirty="0">
                <a:solidFill>
                  <a:schemeClr val="accent2"/>
                </a:solidFill>
              </a:rPr>
              <a:t>6. Document Repository Layer</a:t>
            </a:r>
          </a:p>
          <a:p>
            <a:pPr marL="12700" marR="5080"/>
            <a:r>
              <a:rPr lang="en-US" sz="1300" kern="0" spc="-80" dirty="0">
                <a:solidFill>
                  <a:schemeClr val="accent6"/>
                </a:solidFill>
              </a:rPr>
              <a:t>Stores documents, versions, and metadata.</a:t>
            </a:r>
          </a:p>
          <a:p>
            <a:pPr marL="12700" marR="5080"/>
            <a:r>
              <a:rPr lang="en-US" sz="1300" kern="0" spc="-80" dirty="0">
                <a:solidFill>
                  <a:schemeClr val="accent6"/>
                </a:solidFill>
              </a:rPr>
              <a:t>Common DMS/Storage:</a:t>
            </a:r>
          </a:p>
          <a:p>
            <a:pPr marL="12700" marR="5080"/>
            <a:r>
              <a:rPr lang="en-US" sz="1300" kern="0" spc="-80" dirty="0">
                <a:solidFill>
                  <a:schemeClr val="accent6"/>
                </a:solidFill>
              </a:rPr>
              <a:t>SharePoint</a:t>
            </a:r>
          </a:p>
        </p:txBody>
      </p:sp>
    </p:spTree>
    <p:extLst>
      <p:ext uri="{BB962C8B-B14F-4D97-AF65-F5344CB8AC3E}">
        <p14:creationId xmlns:p14="http://schemas.microsoft.com/office/powerpoint/2010/main" val="228964169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6FA96-BAE3-1C26-074E-E93D3C97865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399A6DE-F87E-EBC1-5211-F46A5CC2FC09}"/>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52C21F8-8F72-A6DB-3C70-258073E4F78C}"/>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8AA6FD6-FC47-775D-1256-E662452595A1}"/>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CDB202D-EE48-C58E-672B-7D91772B4E8F}"/>
              </a:ext>
            </a:extLst>
          </p:cNvPr>
          <p:cNvSpPr txBox="1">
            <a:spLocks/>
          </p:cNvSpPr>
          <p:nvPr/>
        </p:nvSpPr>
        <p:spPr>
          <a:xfrm>
            <a:off x="228600" y="873204"/>
            <a:ext cx="8624937" cy="477053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r>
              <a:rPr lang="en-US" sz="1300" kern="0" spc="-80" dirty="0">
                <a:solidFill>
                  <a:schemeClr val="accent6"/>
                </a:solidFill>
              </a:rPr>
              <a:t>Alfresco</a:t>
            </a:r>
          </a:p>
          <a:p>
            <a:pPr marL="12700" marR="5080"/>
            <a:r>
              <a:rPr lang="en-US" sz="1300" kern="0" spc="-80" dirty="0">
                <a:solidFill>
                  <a:schemeClr val="accent6"/>
                </a:solidFill>
              </a:rPr>
              <a:t>OpenText</a:t>
            </a:r>
          </a:p>
          <a:p>
            <a:pPr marL="12700" marR="5080"/>
            <a:r>
              <a:rPr lang="en-US" sz="1300" kern="0" spc="-80" dirty="0">
                <a:solidFill>
                  <a:schemeClr val="accent6"/>
                </a:solidFill>
              </a:rPr>
              <a:t>FileNet</a:t>
            </a:r>
          </a:p>
          <a:p>
            <a:pPr marL="12700" marR="5080"/>
            <a:r>
              <a:rPr lang="en-US" sz="1300" kern="0" spc="-80" dirty="0">
                <a:solidFill>
                  <a:schemeClr val="accent6"/>
                </a:solidFill>
              </a:rPr>
              <a:t>S3/GCS / Azure Blob</a:t>
            </a:r>
          </a:p>
          <a:p>
            <a:pPr marL="12700" marR="5080"/>
            <a:r>
              <a:rPr lang="en-US" sz="1300" kern="0" spc="-80" dirty="0">
                <a:solidFill>
                  <a:schemeClr val="accent6"/>
                </a:solidFill>
              </a:rPr>
              <a:t>MongoDB/</a:t>
            </a:r>
            <a:r>
              <a:rPr lang="en-US" sz="1300" kern="0" spc="-80" dirty="0" err="1">
                <a:solidFill>
                  <a:schemeClr val="accent6"/>
                </a:solidFill>
              </a:rPr>
              <a:t>GridFS</a:t>
            </a:r>
            <a:r>
              <a:rPr lang="en-US" sz="1300" kern="0" spc="-80" dirty="0">
                <a:solidFill>
                  <a:schemeClr val="accent6"/>
                </a:solidFill>
              </a:rPr>
              <a:t> (for binary data)</a:t>
            </a:r>
          </a:p>
          <a:p>
            <a:pPr marL="12700" marR="5080"/>
            <a:r>
              <a:rPr lang="en-US" sz="1300" kern="0" spc="-80" dirty="0">
                <a:solidFill>
                  <a:schemeClr val="accent2"/>
                </a:solidFill>
              </a:rPr>
              <a:t>Supports:</a:t>
            </a:r>
          </a:p>
          <a:p>
            <a:pPr marL="12700" marR="5080"/>
            <a:r>
              <a:rPr lang="en-US" sz="1300" kern="0" spc="-80" dirty="0">
                <a:solidFill>
                  <a:schemeClr val="accent6"/>
                </a:solidFill>
              </a:rPr>
              <a:t>Versioning</a:t>
            </a:r>
          </a:p>
          <a:p>
            <a:pPr marL="12700" marR="5080"/>
            <a:endParaRPr lang="en-US" sz="1300" kern="0" spc="-80" dirty="0">
              <a:solidFill>
                <a:schemeClr val="accent6"/>
              </a:solidFill>
            </a:endParaRPr>
          </a:p>
          <a:p>
            <a:pPr marL="12700" marR="5080"/>
            <a:r>
              <a:rPr lang="en-US" sz="1300" kern="0" spc="-80" dirty="0">
                <a:solidFill>
                  <a:schemeClr val="accent2"/>
                </a:solidFill>
              </a:rPr>
              <a:t>7. Integration Layer</a:t>
            </a:r>
          </a:p>
          <a:p>
            <a:pPr marL="12700" marR="5080"/>
            <a:r>
              <a:rPr lang="en-US" sz="1300" kern="0" spc="-80" dirty="0">
                <a:solidFill>
                  <a:schemeClr val="accent6"/>
                </a:solidFill>
              </a:rPr>
              <a:t>Document workflows must interact with enterprise apps:</a:t>
            </a:r>
          </a:p>
          <a:p>
            <a:pPr marL="12700" marR="5080"/>
            <a:r>
              <a:rPr lang="en-US" sz="1300" kern="0" spc="-80" dirty="0">
                <a:solidFill>
                  <a:schemeClr val="accent6"/>
                </a:solidFill>
              </a:rPr>
              <a:t>ERP (SAP, Oracle)</a:t>
            </a:r>
          </a:p>
          <a:p>
            <a:pPr marL="12700" marR="5080"/>
            <a:r>
              <a:rPr lang="en-US" sz="1300" kern="0" spc="-80" dirty="0">
                <a:solidFill>
                  <a:schemeClr val="accent6"/>
                </a:solidFill>
              </a:rPr>
              <a:t>CRM (Salesforce, Dynamics)</a:t>
            </a:r>
          </a:p>
          <a:p>
            <a:pPr marL="12700" marR="5080"/>
            <a:r>
              <a:rPr lang="en-US" sz="1300" kern="0" spc="-80" dirty="0">
                <a:solidFill>
                  <a:schemeClr val="accent6"/>
                </a:solidFill>
              </a:rPr>
              <a:t>Billing systems</a:t>
            </a:r>
          </a:p>
          <a:p>
            <a:pPr marL="12700" marR="5080"/>
            <a:r>
              <a:rPr lang="en-US" sz="1300" kern="0" spc="-80" dirty="0">
                <a:solidFill>
                  <a:schemeClr val="accent6"/>
                </a:solidFill>
              </a:rPr>
              <a:t>Payment gateways</a:t>
            </a:r>
          </a:p>
          <a:p>
            <a:pPr marL="12700" marR="5080"/>
            <a:r>
              <a:rPr lang="en-US" sz="1300" kern="0" spc="-80" dirty="0">
                <a:solidFill>
                  <a:schemeClr val="accent6"/>
                </a:solidFill>
              </a:rPr>
              <a:t>Notification systems (SMS, Email, WhatsApp)</a:t>
            </a:r>
          </a:p>
          <a:p>
            <a:pPr marL="12700" marR="5080"/>
            <a:r>
              <a:rPr lang="en-US" sz="1300" kern="0" spc="-80" dirty="0">
                <a:solidFill>
                  <a:schemeClr val="accent2"/>
                </a:solidFill>
              </a:rPr>
              <a:t>Tech:</a:t>
            </a:r>
          </a:p>
          <a:p>
            <a:pPr marL="12700" marR="5080"/>
            <a:r>
              <a:rPr lang="en-US" sz="1300" kern="0" spc="-80" dirty="0">
                <a:solidFill>
                  <a:schemeClr val="accent6"/>
                </a:solidFill>
              </a:rPr>
              <a:t>REST, </a:t>
            </a:r>
            <a:r>
              <a:rPr lang="en-US" sz="1300" kern="0" spc="-80" dirty="0" err="1">
                <a:solidFill>
                  <a:schemeClr val="accent6"/>
                </a:solidFill>
              </a:rPr>
              <a:t>GraphQL</a:t>
            </a:r>
            <a:endParaRPr lang="en-US" sz="1300" kern="0" spc="-80" dirty="0">
              <a:solidFill>
                <a:schemeClr val="accent6"/>
              </a:solidFill>
            </a:endParaRPr>
          </a:p>
          <a:p>
            <a:pPr marL="12700" marR="5080"/>
            <a:r>
              <a:rPr lang="en-US" sz="1300" kern="0" spc="-80" dirty="0">
                <a:solidFill>
                  <a:schemeClr val="accent6"/>
                </a:solidFill>
              </a:rPr>
              <a:t>Message queues</a:t>
            </a:r>
          </a:p>
          <a:p>
            <a:pPr marL="12700" marR="5080"/>
            <a:r>
              <a:rPr lang="en-US" sz="1300" kern="0" spc="-80" dirty="0">
                <a:solidFill>
                  <a:schemeClr val="accent6"/>
                </a:solidFill>
              </a:rPr>
              <a:t>RPA bots</a:t>
            </a:r>
          </a:p>
          <a:p>
            <a:pPr marL="12700" marR="5080"/>
            <a:endParaRPr lang="en-US" sz="1300" kern="0" spc="-80" dirty="0">
              <a:solidFill>
                <a:schemeClr val="accent6"/>
              </a:solidFill>
            </a:endParaRPr>
          </a:p>
          <a:p>
            <a:pPr marL="12700" marR="5080"/>
            <a:endParaRPr lang="en-US" sz="1300" kern="0" spc="-80" dirty="0">
              <a:solidFill>
                <a:schemeClr val="accent6"/>
              </a:solidFill>
            </a:endParaRP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317627375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2AC4B-F518-BACA-C386-FFDDA0ED829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0CB2382-DE3F-C406-ADCE-1F7D3A7FCD1E}"/>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16CE989-8668-4FC2-95B5-159BB3BB0E06}"/>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003561C-F6B7-68BB-54DE-C34E629AFF03}"/>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27C7ABAF-BDB7-1C86-9FA9-471326D0A141}"/>
              </a:ext>
            </a:extLst>
          </p:cNvPr>
          <p:cNvSpPr txBox="1">
            <a:spLocks/>
          </p:cNvSpPr>
          <p:nvPr/>
        </p:nvSpPr>
        <p:spPr>
          <a:xfrm>
            <a:off x="228600" y="873204"/>
            <a:ext cx="8624937" cy="597086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r>
              <a:rPr lang="en-US" sz="1300" kern="0" spc="-80" dirty="0">
                <a:solidFill>
                  <a:schemeClr val="accent2"/>
                </a:solidFill>
              </a:rPr>
              <a:t>8. Security &amp; Compliance Layer</a:t>
            </a:r>
          </a:p>
          <a:p>
            <a:pPr marL="12700" marR="5080"/>
            <a:r>
              <a:rPr lang="en-US" sz="1300" kern="0" spc="-80" dirty="0">
                <a:solidFill>
                  <a:schemeClr val="accent6"/>
                </a:solidFill>
              </a:rPr>
              <a:t>Especially important for regulated environments like banking and healthcare.</a:t>
            </a:r>
          </a:p>
          <a:p>
            <a:pPr marL="12700" marR="5080"/>
            <a:r>
              <a:rPr lang="en-US" sz="1300" kern="0" spc="-80" dirty="0">
                <a:solidFill>
                  <a:schemeClr val="accent6"/>
                </a:solidFill>
              </a:rPr>
              <a:t>Includes:</a:t>
            </a:r>
          </a:p>
          <a:p>
            <a:pPr marL="12700" marR="5080"/>
            <a:r>
              <a:rPr lang="en-US" sz="1300" kern="0" spc="-80" dirty="0">
                <a:solidFill>
                  <a:schemeClr val="accent6"/>
                </a:solidFill>
              </a:rPr>
              <a:t>Zero-Trust architecture</a:t>
            </a:r>
          </a:p>
          <a:p>
            <a:pPr marL="12700" marR="5080"/>
            <a:r>
              <a:rPr lang="en-US" sz="1300" kern="0" spc="-80" dirty="0">
                <a:solidFill>
                  <a:schemeClr val="accent6"/>
                </a:solidFill>
              </a:rPr>
              <a:t>Role-based &amp; attribute-based access control (RBAC/ABAC)</a:t>
            </a:r>
          </a:p>
          <a:p>
            <a:pPr marL="12700" marR="5080"/>
            <a:r>
              <a:rPr lang="en-US" sz="1300" kern="0" spc="-80" dirty="0">
                <a:solidFill>
                  <a:schemeClr val="accent6"/>
                </a:solidFill>
              </a:rPr>
              <a:t>Document access policies</a:t>
            </a:r>
          </a:p>
          <a:p>
            <a:pPr marL="12700" marR="5080"/>
            <a:r>
              <a:rPr lang="en-US" sz="1300" kern="0" spc="-80" dirty="0">
                <a:solidFill>
                  <a:schemeClr val="accent6"/>
                </a:solidFill>
              </a:rPr>
              <a:t>PII masking</a:t>
            </a:r>
          </a:p>
          <a:p>
            <a:pPr marL="12700" marR="5080"/>
            <a:r>
              <a:rPr lang="en-US" sz="1300" kern="0" spc="-80" dirty="0">
                <a:solidFill>
                  <a:schemeClr val="accent6"/>
                </a:solidFill>
              </a:rPr>
              <a:t>Encryption at rest &amp; in transit</a:t>
            </a:r>
          </a:p>
          <a:p>
            <a:pPr marL="12700" marR="5080"/>
            <a:r>
              <a:rPr lang="en-US" sz="1300" kern="0" spc="-80" dirty="0">
                <a:solidFill>
                  <a:schemeClr val="accent6"/>
                </a:solidFill>
              </a:rPr>
              <a:t>Tamper-proof audit logs</a:t>
            </a:r>
          </a:p>
          <a:p>
            <a:pPr marL="12700" marR="5080"/>
            <a:endParaRPr lang="en-US" sz="1300" kern="0" spc="-80" dirty="0">
              <a:solidFill>
                <a:schemeClr val="accent6"/>
              </a:solidFill>
            </a:endParaRPr>
          </a:p>
          <a:p>
            <a:pPr marL="12700" marR="5080"/>
            <a:r>
              <a:rPr lang="en-US" sz="1300" kern="0" spc="-80" dirty="0">
                <a:solidFill>
                  <a:schemeClr val="accent2"/>
                </a:solidFill>
              </a:rPr>
              <a:t>Document Workflow Patterns</a:t>
            </a:r>
          </a:p>
          <a:p>
            <a:pPr marL="12700" marR="5080"/>
            <a:r>
              <a:rPr lang="en-US" sz="1300" kern="0" spc="-80" dirty="0">
                <a:solidFill>
                  <a:schemeClr val="accent2"/>
                </a:solidFill>
              </a:rPr>
              <a:t>Pattern 1: Straight-Through Processing (STP)</a:t>
            </a:r>
          </a:p>
          <a:p>
            <a:pPr marL="12700" marR="5080"/>
            <a:r>
              <a:rPr lang="en-US" sz="1300" kern="0" spc="-80" dirty="0">
                <a:solidFill>
                  <a:schemeClr val="accent6"/>
                </a:solidFill>
              </a:rPr>
              <a:t>Automation-only flow.</a:t>
            </a:r>
          </a:p>
          <a:p>
            <a:pPr marL="12700" marR="5080"/>
            <a:r>
              <a:rPr lang="en-US" sz="1300" kern="0" spc="-80" dirty="0">
                <a:solidFill>
                  <a:schemeClr val="accent2"/>
                </a:solidFill>
              </a:rPr>
              <a:t>Used for:</a:t>
            </a:r>
          </a:p>
          <a:p>
            <a:pPr marL="12700" marR="5080"/>
            <a:r>
              <a:rPr lang="en-US" sz="1300" kern="0" spc="-80" dirty="0">
                <a:solidFill>
                  <a:schemeClr val="accent6"/>
                </a:solidFill>
              </a:rPr>
              <a:t>Standard forms</a:t>
            </a:r>
          </a:p>
          <a:p>
            <a:pPr marL="12700" marR="5080"/>
            <a:r>
              <a:rPr lang="en-US" sz="1300" kern="0" spc="-80" dirty="0">
                <a:solidFill>
                  <a:schemeClr val="accent6"/>
                </a:solidFill>
              </a:rPr>
              <a:t>Low value invoices</a:t>
            </a:r>
          </a:p>
          <a:p>
            <a:pPr marL="12700" marR="5080"/>
            <a:r>
              <a:rPr lang="en-US" sz="1300" kern="0" spc="-80" dirty="0">
                <a:solidFill>
                  <a:schemeClr val="accent6"/>
                </a:solidFill>
              </a:rPr>
              <a:t>Ticketing systems</a:t>
            </a:r>
          </a:p>
          <a:p>
            <a:pPr marL="12700" marR="5080"/>
            <a:endParaRPr lang="en-US" sz="1300" kern="0" spc="-80" dirty="0">
              <a:solidFill>
                <a:schemeClr val="accent6"/>
              </a:solidFill>
            </a:endParaRPr>
          </a:p>
          <a:p>
            <a:pPr marL="12700" marR="5080"/>
            <a:r>
              <a:rPr lang="en-US" sz="1300" kern="0" spc="-80" dirty="0">
                <a:solidFill>
                  <a:schemeClr val="accent2"/>
                </a:solidFill>
              </a:rPr>
              <a:t>Pattern 2: Human-in-the-Loop Workflow</a:t>
            </a:r>
          </a:p>
          <a:p>
            <a:pPr marL="12700" marR="5080"/>
            <a:r>
              <a:rPr lang="en-US" sz="1300" kern="0" spc="-80" dirty="0">
                <a:solidFill>
                  <a:schemeClr val="accent6"/>
                </a:solidFill>
              </a:rPr>
              <a:t>Manual review required.</a:t>
            </a:r>
          </a:p>
          <a:p>
            <a:pPr marL="12700" marR="5080"/>
            <a:r>
              <a:rPr lang="en-US" sz="1300" kern="0" spc="-80" dirty="0">
                <a:solidFill>
                  <a:schemeClr val="accent2"/>
                </a:solidFill>
              </a:rPr>
              <a:t>Used for:</a:t>
            </a:r>
          </a:p>
          <a:p>
            <a:pPr marL="12700" marR="5080"/>
            <a:r>
              <a:rPr lang="en-US" sz="1300" kern="0" spc="-80" dirty="0">
                <a:solidFill>
                  <a:schemeClr val="accent6"/>
                </a:solidFill>
              </a:rPr>
              <a:t>Legal documents</a:t>
            </a:r>
          </a:p>
          <a:p>
            <a:pPr marL="12700" marR="5080"/>
            <a:r>
              <a:rPr lang="en-US" sz="1300" kern="0" spc="-80" dirty="0">
                <a:solidFill>
                  <a:schemeClr val="accent6"/>
                </a:solidFill>
              </a:rPr>
              <a:t>Claims</a:t>
            </a:r>
          </a:p>
          <a:p>
            <a:pPr marL="12700" marR="5080"/>
            <a:r>
              <a:rPr lang="en-US" sz="1300" kern="0" spc="-80" dirty="0">
                <a:solidFill>
                  <a:schemeClr val="accent6"/>
                </a:solidFill>
              </a:rPr>
              <a:t>High-value approvals</a:t>
            </a:r>
          </a:p>
          <a:p>
            <a:pPr marL="12700" marR="5080"/>
            <a:endParaRPr lang="en-US" sz="1300" kern="0" spc="-80" dirty="0">
              <a:solidFill>
                <a:schemeClr val="accent6"/>
              </a:solidFill>
            </a:endParaRPr>
          </a:p>
          <a:p>
            <a:pPr marL="12700" marR="5080"/>
            <a:endParaRPr lang="en-US" sz="1300" kern="0" spc="-80" dirty="0">
              <a:solidFill>
                <a:schemeClr val="accent6"/>
              </a:solidFill>
            </a:endParaRPr>
          </a:p>
          <a:p>
            <a:pPr marL="12700" marR="5080"/>
            <a:endParaRPr lang="en-US" sz="1300" kern="0" spc="-80" dirty="0">
              <a:solidFill>
                <a:schemeClr val="accent6"/>
              </a:solidFill>
            </a:endParaRP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39962178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5750A-E18D-C479-99DA-4D0E2BD1C44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05D9C72-E54E-CA9D-4FD9-2EF1DD048828}"/>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FF0636E-8C7F-29E8-66CD-7BB734F0C490}"/>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6FE6FAC-67A5-A605-0E0C-4AA7AD0B2010}"/>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3DA3B5E8-62EB-EF53-93D6-CA60DD48C8BE}"/>
              </a:ext>
            </a:extLst>
          </p:cNvPr>
          <p:cNvSpPr txBox="1">
            <a:spLocks/>
          </p:cNvSpPr>
          <p:nvPr/>
        </p:nvSpPr>
        <p:spPr>
          <a:xfrm>
            <a:off x="228600" y="873204"/>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r>
              <a:rPr lang="en-US" sz="1300" kern="0" spc="-80" dirty="0">
                <a:solidFill>
                  <a:schemeClr val="accent2"/>
                </a:solidFill>
              </a:rPr>
              <a:t>Document Workflow Patterns</a:t>
            </a:r>
          </a:p>
          <a:p>
            <a:pPr marL="12700" marR="5080"/>
            <a:r>
              <a:rPr lang="en-US" sz="1300" kern="0" spc="-80" dirty="0">
                <a:solidFill>
                  <a:schemeClr val="accent2"/>
                </a:solidFill>
              </a:rPr>
              <a:t>Pattern 3: Parallel Workflows</a:t>
            </a:r>
          </a:p>
          <a:p>
            <a:pPr marL="12700" marR="5080"/>
            <a:r>
              <a:rPr lang="en-US" sz="1300" kern="0" spc="-80" dirty="0">
                <a:solidFill>
                  <a:schemeClr val="accent6"/>
                </a:solidFill>
              </a:rPr>
              <a:t>Multiple teams work on the same document concurrently.</a:t>
            </a:r>
          </a:p>
          <a:p>
            <a:pPr marL="12700" marR="5080"/>
            <a:r>
              <a:rPr lang="en-US" sz="1300" kern="0" spc="-80" dirty="0">
                <a:solidFill>
                  <a:schemeClr val="accent2"/>
                </a:solidFill>
              </a:rPr>
              <a:t>Examples:</a:t>
            </a:r>
          </a:p>
          <a:p>
            <a:pPr marL="12700" marR="5080"/>
            <a:r>
              <a:rPr lang="en-US" sz="1300" kern="0" spc="-80" dirty="0">
                <a:solidFill>
                  <a:schemeClr val="accent6"/>
                </a:solidFill>
              </a:rPr>
              <a:t>HR onboarding</a:t>
            </a:r>
          </a:p>
          <a:p>
            <a:pPr marL="12700" marR="5080"/>
            <a:r>
              <a:rPr lang="en-US" sz="1300" kern="0" spc="-80" dirty="0">
                <a:solidFill>
                  <a:schemeClr val="accent6"/>
                </a:solidFill>
              </a:rPr>
              <a:t>Mortgage processing</a:t>
            </a:r>
          </a:p>
          <a:p>
            <a:pPr marL="12700" marR="5080"/>
            <a:r>
              <a:rPr lang="en-US" sz="1300" kern="0" spc="-80" dirty="0">
                <a:solidFill>
                  <a:schemeClr val="accent6"/>
                </a:solidFill>
              </a:rPr>
              <a:t>Insurance underwriting</a:t>
            </a:r>
          </a:p>
          <a:p>
            <a:pPr marL="12700" marR="5080"/>
            <a:endParaRPr lang="en-US" sz="1300" kern="0" spc="-80" dirty="0">
              <a:solidFill>
                <a:schemeClr val="accent6"/>
              </a:solidFill>
            </a:endParaRPr>
          </a:p>
          <a:p>
            <a:pPr marL="12700" marR="5080"/>
            <a:r>
              <a:rPr lang="en-US" sz="1300" kern="0" spc="-80" dirty="0">
                <a:solidFill>
                  <a:schemeClr val="accent2"/>
                </a:solidFill>
              </a:rPr>
              <a:t>Pattern 4: Dynamic Routing</a:t>
            </a:r>
          </a:p>
          <a:p>
            <a:pPr marL="12700" marR="5080"/>
            <a:r>
              <a:rPr lang="en-US" sz="1300" kern="0" spc="-80" dirty="0">
                <a:solidFill>
                  <a:schemeClr val="accent6"/>
                </a:solidFill>
              </a:rPr>
              <a:t>Metadata decides path.</a:t>
            </a:r>
          </a:p>
          <a:p>
            <a:pPr marL="12700" marR="5080"/>
            <a:r>
              <a:rPr lang="en-US" sz="1300" kern="0" spc="-80" dirty="0">
                <a:solidFill>
                  <a:schemeClr val="accent2"/>
                </a:solidFill>
              </a:rPr>
              <a:t>Example:</a:t>
            </a:r>
          </a:p>
          <a:p>
            <a:pPr marL="12700" marR="5080"/>
            <a:r>
              <a:rPr lang="en-US" sz="1300" kern="0" spc="-80" dirty="0">
                <a:solidFill>
                  <a:schemeClr val="accent6"/>
                </a:solidFill>
              </a:rPr>
              <a:t>If invoice &lt; ₹50,000 → Auto-approve  </a:t>
            </a:r>
          </a:p>
          <a:p>
            <a:pPr marL="12700" marR="5080"/>
            <a:r>
              <a:rPr lang="en-US" sz="1300" kern="0" spc="-80" dirty="0">
                <a:solidFill>
                  <a:schemeClr val="accent6"/>
                </a:solidFill>
              </a:rPr>
              <a:t>If invoice &gt; ₹50,000 → Manager approval  </a:t>
            </a:r>
          </a:p>
          <a:p>
            <a:pPr marL="12700" marR="5080"/>
            <a:r>
              <a:rPr lang="en-US" sz="1300" kern="0" spc="-80" dirty="0">
                <a:solidFill>
                  <a:schemeClr val="accent6"/>
                </a:solidFill>
              </a:rPr>
              <a:t>If invoice &gt; ₹5,00,000 → Finance director approval</a:t>
            </a:r>
          </a:p>
          <a:p>
            <a:pPr marL="12700" marR="5080"/>
            <a:endParaRPr lang="en-US" sz="1300" kern="0" spc="-80" dirty="0">
              <a:solidFill>
                <a:schemeClr val="accent6"/>
              </a:solidFill>
            </a:endParaRPr>
          </a:p>
          <a:p>
            <a:pPr marL="12700" marR="5080"/>
            <a:r>
              <a:rPr lang="en-US" sz="1300" kern="0" spc="-80" dirty="0">
                <a:solidFill>
                  <a:schemeClr val="accent2"/>
                </a:solidFill>
              </a:rPr>
              <a:t>Pattern 5: Versioned Document Processing</a:t>
            </a:r>
          </a:p>
          <a:p>
            <a:pPr marL="12700" marR="5080"/>
            <a:r>
              <a:rPr lang="en-US" sz="1300" kern="0" spc="-80" dirty="0">
                <a:solidFill>
                  <a:schemeClr val="accent6"/>
                </a:solidFill>
              </a:rPr>
              <a:t>Each update creates a new version, and workflow can branch on version changes.</a:t>
            </a:r>
          </a:p>
          <a:p>
            <a:pPr marL="12700" marR="5080"/>
            <a:endParaRPr lang="en-US" sz="1300" kern="0" spc="-80" dirty="0">
              <a:solidFill>
                <a:schemeClr val="accent6"/>
              </a:solidFill>
            </a:endParaRPr>
          </a:p>
          <a:p>
            <a:pPr marL="12700" marR="5080"/>
            <a:r>
              <a:rPr lang="en-US" sz="1300" kern="0" spc="-80" dirty="0">
                <a:solidFill>
                  <a:schemeClr val="accent2"/>
                </a:solidFill>
              </a:rPr>
              <a:t>Pattern 6: Document Assembly Workflow</a:t>
            </a:r>
          </a:p>
          <a:p>
            <a:pPr marL="12700" marR="5080"/>
            <a:r>
              <a:rPr lang="en-US" sz="1300" kern="0" spc="-80" dirty="0">
                <a:solidFill>
                  <a:schemeClr val="accent6"/>
                </a:solidFill>
              </a:rPr>
              <a:t>Used in legal, healthcare, finance.</a:t>
            </a:r>
          </a:p>
          <a:p>
            <a:pPr marL="12700" marR="5080"/>
            <a:r>
              <a:rPr lang="en-US" sz="1300" kern="0" spc="-80" dirty="0">
                <a:solidFill>
                  <a:schemeClr val="accent2"/>
                </a:solidFill>
              </a:rPr>
              <a:t>Example:</a:t>
            </a:r>
          </a:p>
          <a:p>
            <a:pPr marL="12700" marR="5080"/>
            <a:r>
              <a:rPr lang="en-US" sz="1300" kern="0" spc="-80" dirty="0">
                <a:solidFill>
                  <a:schemeClr val="accent6"/>
                </a:solidFill>
              </a:rPr>
              <a:t>Auto-generate a contract from templates → send for signatures → archive.</a:t>
            </a:r>
          </a:p>
          <a:p>
            <a:pPr marL="12700" marR="5080"/>
            <a:endParaRPr lang="en-US" sz="1300" kern="0" spc="-80" dirty="0">
              <a:solidFill>
                <a:schemeClr val="accent6"/>
              </a:solidFill>
            </a:endParaRP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44867835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D8463-75EA-9F2E-9371-D1215AB9319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A342482-9764-721C-0B6C-35D1B311FD2A}"/>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0963D7E-6500-0267-6A99-F9EA2F08F0FA}"/>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B535B94-0C81-EF1D-ED38-92D99DF98552}"/>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A3F247E-1E24-CA21-98C7-F6854A608B1A}"/>
              </a:ext>
            </a:extLst>
          </p:cNvPr>
          <p:cNvSpPr txBox="1">
            <a:spLocks/>
          </p:cNvSpPr>
          <p:nvPr/>
        </p:nvSpPr>
        <p:spPr>
          <a:xfrm>
            <a:off x="228600" y="873204"/>
            <a:ext cx="8624937" cy="60247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endParaRPr lang="en-US" sz="1300" kern="0" spc="-80" dirty="0">
              <a:solidFill>
                <a:schemeClr val="accent6"/>
              </a:solidFill>
            </a:endParaRPr>
          </a:p>
          <a:p>
            <a:pPr marL="12700" marR="5080"/>
            <a:r>
              <a:rPr lang="en-US" sz="1300" kern="0" spc="-80" dirty="0">
                <a:solidFill>
                  <a:schemeClr val="accent2"/>
                </a:solidFill>
              </a:rPr>
              <a:t>Pattern 7: Collaborative Editing Workflow</a:t>
            </a:r>
          </a:p>
          <a:p>
            <a:pPr marL="12700" marR="5080"/>
            <a:r>
              <a:rPr lang="en-US" sz="1300" kern="0" spc="-80" dirty="0">
                <a:solidFill>
                  <a:schemeClr val="accent6"/>
                </a:solidFill>
              </a:rPr>
              <a:t>Multiple reviewers annotate simultaneously (Google Docs style).</a:t>
            </a:r>
          </a:p>
          <a:p>
            <a:pPr marL="12700" marR="5080"/>
            <a:endParaRPr lang="en-US" sz="1300" kern="0" spc="-80" dirty="0">
              <a:solidFill>
                <a:schemeClr val="accent6"/>
              </a:solidFill>
            </a:endParaRPr>
          </a:p>
          <a:p>
            <a:pPr marL="12700" marR="5080"/>
            <a:r>
              <a:rPr lang="en-US" sz="1300" kern="0" spc="-80" dirty="0">
                <a:solidFill>
                  <a:schemeClr val="accent2"/>
                </a:solidFill>
              </a:rPr>
              <a:t>5. End-to-End Data Flow Example</a:t>
            </a:r>
          </a:p>
          <a:p>
            <a:pPr marL="12700" marR="5080"/>
            <a:r>
              <a:rPr lang="en-US" sz="1300" kern="0" spc="-80" dirty="0">
                <a:solidFill>
                  <a:schemeClr val="accent6"/>
                </a:solidFill>
              </a:rPr>
              <a:t>Example: Invoice Processing Workflow</a:t>
            </a:r>
          </a:p>
          <a:p>
            <a:pPr marL="12700" marR="5080"/>
            <a:endParaRPr lang="en-US" sz="1300" kern="0" spc="-80" dirty="0">
              <a:solidFill>
                <a:schemeClr val="accent6"/>
              </a:solidFill>
            </a:endParaRPr>
          </a:p>
          <a:p>
            <a:pPr marL="12700" marR="5080"/>
            <a:r>
              <a:rPr lang="en-US" sz="1300" kern="0" spc="-80" dirty="0">
                <a:solidFill>
                  <a:schemeClr val="accent2"/>
                </a:solidFill>
              </a:rPr>
              <a:t>End-to-End Data Flow Example</a:t>
            </a:r>
          </a:p>
          <a:p>
            <a:pPr marL="12700" marR="5080"/>
            <a:r>
              <a:rPr lang="en-US" sz="1300" kern="0" spc="-80" dirty="0">
                <a:solidFill>
                  <a:schemeClr val="accent2"/>
                </a:solidFill>
              </a:rPr>
              <a:t>Example: Invoice Processing Workflow</a:t>
            </a:r>
          </a:p>
          <a:p>
            <a:pPr marL="12700" marR="5080"/>
            <a:r>
              <a:rPr lang="en-US" sz="1300" kern="0" spc="-80" dirty="0">
                <a:solidFill>
                  <a:schemeClr val="accent6"/>
                </a:solidFill>
              </a:rPr>
              <a:t>Invoice uploaded through portal</a:t>
            </a:r>
          </a:p>
          <a:p>
            <a:pPr marL="12700" marR="5080"/>
            <a:r>
              <a:rPr lang="en-US" sz="1300" kern="0" spc="-80" dirty="0">
                <a:solidFill>
                  <a:schemeClr val="accent6"/>
                </a:solidFill>
              </a:rPr>
              <a:t>OCR extracts Vendor Name, Amount, Tax</a:t>
            </a:r>
          </a:p>
          <a:p>
            <a:pPr marL="12700" marR="5080"/>
            <a:r>
              <a:rPr lang="en-US" sz="1300" kern="0" spc="-80" dirty="0">
                <a:solidFill>
                  <a:schemeClr val="accent6"/>
                </a:solidFill>
              </a:rPr>
              <a:t>Workflow engine validates metadata</a:t>
            </a:r>
          </a:p>
          <a:p>
            <a:pPr marL="12700" marR="5080"/>
            <a:r>
              <a:rPr lang="en-US" sz="1300" kern="0" spc="-80" dirty="0">
                <a:solidFill>
                  <a:schemeClr val="accent6"/>
                </a:solidFill>
              </a:rPr>
              <a:t>Rules engine determines routing</a:t>
            </a:r>
          </a:p>
          <a:p>
            <a:pPr marL="12700" marR="5080"/>
            <a:r>
              <a:rPr lang="en-US" sz="1150" kern="0" spc="-80" dirty="0">
                <a:solidFill>
                  <a:schemeClr val="accent6"/>
                </a:solidFill>
              </a:rPr>
              <a:t>Approver receives human task</a:t>
            </a:r>
          </a:p>
          <a:p>
            <a:pPr marL="12700" marR="5080"/>
            <a:r>
              <a:rPr lang="en-US" sz="1150" kern="0" spc="-80" dirty="0">
                <a:solidFill>
                  <a:schemeClr val="accent6"/>
                </a:solidFill>
              </a:rPr>
              <a:t>Approved invoice is sent to SAP for posting</a:t>
            </a:r>
          </a:p>
          <a:p>
            <a:pPr marL="12700" marR="5080"/>
            <a:r>
              <a:rPr lang="en-US" sz="1150" kern="0" spc="-80" dirty="0">
                <a:solidFill>
                  <a:schemeClr val="accent6"/>
                </a:solidFill>
              </a:rPr>
              <a:t>Document stored in DMS</a:t>
            </a:r>
          </a:p>
          <a:p>
            <a:pPr marL="12700" marR="5080"/>
            <a:r>
              <a:rPr lang="en-US" sz="1150" kern="0" spc="-80" dirty="0">
                <a:solidFill>
                  <a:schemeClr val="accent6"/>
                </a:solidFill>
              </a:rPr>
              <a:t>Audit log created</a:t>
            </a:r>
          </a:p>
          <a:p>
            <a:pPr marL="12700" marR="5080"/>
            <a:r>
              <a:rPr lang="en-US" sz="1150" kern="0" spc="-80" dirty="0">
                <a:solidFill>
                  <a:schemeClr val="accent6"/>
                </a:solidFill>
              </a:rPr>
              <a:t>Notifications sent</a:t>
            </a:r>
          </a:p>
          <a:p>
            <a:pPr marL="12700" marR="5080"/>
            <a:endParaRPr lang="en-US" sz="1150" kern="0" spc="-80" dirty="0">
              <a:solidFill>
                <a:schemeClr val="accent6"/>
              </a:solidFill>
            </a:endParaRPr>
          </a:p>
          <a:p>
            <a:pPr marL="12700" marR="5080"/>
            <a:r>
              <a:rPr lang="en-US" sz="1150" kern="0" spc="-80" dirty="0">
                <a:solidFill>
                  <a:schemeClr val="accent2"/>
                </a:solidFill>
              </a:rPr>
              <a:t>Technology Stack Mapping</a:t>
            </a:r>
          </a:p>
          <a:p>
            <a:pPr marL="12700" marR="5080"/>
            <a:r>
              <a:rPr lang="en-US" sz="1150" kern="0" spc="-80" dirty="0">
                <a:solidFill>
                  <a:schemeClr val="accent2"/>
                </a:solidFill>
              </a:rPr>
              <a:t>Layer	Technologies</a:t>
            </a:r>
          </a:p>
          <a:p>
            <a:pPr marL="12700" marR="5080"/>
            <a:r>
              <a:rPr lang="en-US" sz="1150" kern="0" spc="-80" dirty="0">
                <a:solidFill>
                  <a:schemeClr val="accent6"/>
                </a:solidFill>
              </a:rPr>
              <a:t>Ingestion	API Gateway, Logic Apps, Kafka, Service Bus</a:t>
            </a:r>
          </a:p>
          <a:p>
            <a:pPr marL="12700" marR="5080"/>
            <a:r>
              <a:rPr lang="en-US" sz="1150" kern="0" spc="-80" dirty="0">
                <a:solidFill>
                  <a:schemeClr val="accent6"/>
                </a:solidFill>
              </a:rPr>
              <a:t>OCR/AI	Azure Form Recognizer, AWS </a:t>
            </a:r>
            <a:r>
              <a:rPr lang="en-US" sz="1150" kern="0" spc="-80" dirty="0" err="1">
                <a:solidFill>
                  <a:schemeClr val="accent6"/>
                </a:solidFill>
              </a:rPr>
              <a:t>Textract</a:t>
            </a:r>
            <a:r>
              <a:rPr lang="en-US" sz="1150" kern="0" spc="-80" dirty="0">
                <a:solidFill>
                  <a:schemeClr val="accent6"/>
                </a:solidFill>
              </a:rPr>
              <a:t>, Tesseract</a:t>
            </a:r>
          </a:p>
          <a:p>
            <a:pPr marL="12700" marR="5080"/>
            <a:r>
              <a:rPr lang="en-US" sz="1150" kern="0" spc="-80" dirty="0">
                <a:solidFill>
                  <a:schemeClr val="accent6"/>
                </a:solidFill>
              </a:rPr>
              <a:t>Workflow	Camunda, </a:t>
            </a:r>
            <a:r>
              <a:rPr lang="en-US" sz="1150" kern="0" spc="-80" dirty="0" err="1">
                <a:solidFill>
                  <a:schemeClr val="accent6"/>
                </a:solidFill>
              </a:rPr>
              <a:t>Zeebe</a:t>
            </a:r>
            <a:r>
              <a:rPr lang="en-US" sz="1150" kern="0" spc="-80" dirty="0">
                <a:solidFill>
                  <a:schemeClr val="accent6"/>
                </a:solidFill>
              </a:rPr>
              <a:t>, Temporal, JBPM</a:t>
            </a:r>
          </a:p>
          <a:p>
            <a:pPr marL="12700" marR="5080"/>
            <a:r>
              <a:rPr lang="en-US" sz="1150" kern="0" spc="-80" dirty="0">
                <a:solidFill>
                  <a:schemeClr val="accent6"/>
                </a:solidFill>
              </a:rPr>
              <a:t>Rules Engine	Drools, Decision Model &amp; Notation (DMN), Azure Rules Engine</a:t>
            </a:r>
          </a:p>
          <a:p>
            <a:pPr marL="12700" marR="5080"/>
            <a:endParaRPr lang="en-US" sz="1150" kern="0" spc="-80" dirty="0">
              <a:solidFill>
                <a:schemeClr val="accent6"/>
              </a:solidFill>
            </a:endParaRPr>
          </a:p>
          <a:p>
            <a:pPr marL="12700" marR="5080"/>
            <a:endParaRPr lang="en-US" sz="1150" kern="0" spc="-80" dirty="0">
              <a:solidFill>
                <a:schemeClr val="accent6"/>
              </a:solidFill>
            </a:endParaRPr>
          </a:p>
          <a:p>
            <a:pPr marL="12700" marR="5080"/>
            <a:endParaRPr lang="en-US" sz="1150" kern="0" spc="-80" dirty="0">
              <a:solidFill>
                <a:schemeClr val="accent6"/>
              </a:solidFill>
            </a:endParaRPr>
          </a:p>
          <a:p>
            <a:pPr marL="12700" marR="5080"/>
            <a:endParaRPr lang="en-US" sz="1300" kern="0" spc="-80" dirty="0">
              <a:solidFill>
                <a:schemeClr val="accent6"/>
              </a:solidFill>
            </a:endParaRP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59431707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CD9ED-D874-8017-C8A2-AA4061AFD3F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76F0CD1-0F6D-8A47-2996-E37379FBA6D4}"/>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682413A-6815-274E-D0B2-118BF30DCEF2}"/>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5D85DAF-A698-B7B8-DC72-C6E8C99079B5}"/>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53C08EAB-3FE6-F721-25D9-8CF293E9D7CC}"/>
              </a:ext>
            </a:extLst>
          </p:cNvPr>
          <p:cNvSpPr txBox="1">
            <a:spLocks/>
          </p:cNvSpPr>
          <p:nvPr/>
        </p:nvSpPr>
        <p:spPr>
          <a:xfrm>
            <a:off x="228600" y="873204"/>
            <a:ext cx="8624937" cy="585544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r>
              <a:rPr lang="en-US" sz="1150" kern="0" spc="-80" dirty="0">
                <a:solidFill>
                  <a:schemeClr val="accent2"/>
                </a:solidFill>
              </a:rPr>
              <a:t>Technology Stack Mapping</a:t>
            </a:r>
          </a:p>
          <a:p>
            <a:pPr marL="12700" marR="5080"/>
            <a:r>
              <a:rPr lang="en-US" sz="1150" kern="0" spc="-80" dirty="0">
                <a:solidFill>
                  <a:schemeClr val="accent2"/>
                </a:solidFill>
              </a:rPr>
              <a:t>Layer	Technologies</a:t>
            </a:r>
          </a:p>
          <a:p>
            <a:pPr marL="12700" marR="5080"/>
            <a:r>
              <a:rPr lang="en-US" sz="1150" kern="0" spc="-80" dirty="0">
                <a:solidFill>
                  <a:schemeClr val="accent6"/>
                </a:solidFill>
              </a:rPr>
              <a:t>UI	React, Angular, Blazor</a:t>
            </a:r>
          </a:p>
          <a:p>
            <a:pPr marL="12700" marR="5080"/>
            <a:r>
              <a:rPr lang="en-US" sz="1150" kern="0" spc="-80" dirty="0">
                <a:solidFill>
                  <a:schemeClr val="accent6"/>
                </a:solidFill>
              </a:rPr>
              <a:t>Storage	S3/Blob, MongoDB/</a:t>
            </a:r>
            <a:r>
              <a:rPr lang="en-US" sz="1150" kern="0" spc="-80" dirty="0" err="1">
                <a:solidFill>
                  <a:schemeClr val="accent6"/>
                </a:solidFill>
              </a:rPr>
              <a:t>GridFS</a:t>
            </a:r>
            <a:r>
              <a:rPr lang="en-US" sz="1150" kern="0" spc="-80" dirty="0">
                <a:solidFill>
                  <a:schemeClr val="accent6"/>
                </a:solidFill>
              </a:rPr>
              <a:t>, SharePoint</a:t>
            </a:r>
          </a:p>
          <a:p>
            <a:pPr marL="12700" marR="5080"/>
            <a:r>
              <a:rPr lang="en-US" sz="1150" kern="0" spc="-80" dirty="0">
                <a:solidFill>
                  <a:schemeClr val="accent6"/>
                </a:solidFill>
              </a:rPr>
              <a:t>Security	Key Vault, OAuth2, Azure AD, RBAC</a:t>
            </a:r>
          </a:p>
          <a:p>
            <a:pPr marL="12700" marR="5080"/>
            <a:r>
              <a:rPr lang="en-US" sz="1150" kern="0" spc="-80" dirty="0">
                <a:solidFill>
                  <a:schemeClr val="accent6"/>
                </a:solidFill>
              </a:rPr>
              <a:t>Logging	ELK, </a:t>
            </a:r>
            <a:r>
              <a:rPr lang="en-US" sz="1150" kern="0" spc="-80" dirty="0" err="1">
                <a:solidFill>
                  <a:schemeClr val="accent6"/>
                </a:solidFill>
              </a:rPr>
              <a:t>OpenTelemetry</a:t>
            </a:r>
            <a:endParaRPr lang="en-US" sz="1150" kern="0" spc="-80" dirty="0">
              <a:solidFill>
                <a:schemeClr val="accent6"/>
              </a:solidFill>
            </a:endParaRPr>
          </a:p>
          <a:p>
            <a:pPr marL="12700" marR="5080"/>
            <a:r>
              <a:rPr lang="en-US" sz="1150" kern="0" spc="-80" dirty="0">
                <a:solidFill>
                  <a:schemeClr val="accent6"/>
                </a:solidFill>
              </a:rPr>
              <a:t>Deployment	AKS, EKS, Kubernetes, Docker</a:t>
            </a:r>
          </a:p>
          <a:p>
            <a:pPr marL="12700" marR="5080"/>
            <a:endParaRPr lang="en-US" sz="1150" kern="0" spc="-80" dirty="0">
              <a:solidFill>
                <a:schemeClr val="accent6"/>
              </a:solidFill>
            </a:endParaRPr>
          </a:p>
          <a:p>
            <a:pPr marL="12700" marR="5080"/>
            <a:r>
              <a:rPr lang="en-US" sz="1150" kern="0" spc="-80" dirty="0">
                <a:solidFill>
                  <a:schemeClr val="accent2"/>
                </a:solidFill>
              </a:rPr>
              <a:t>Deployment Architecture</a:t>
            </a:r>
          </a:p>
          <a:p>
            <a:pPr marL="12700" marR="5080"/>
            <a:r>
              <a:rPr lang="en-US" sz="1150" kern="0" spc="-80" dirty="0">
                <a:solidFill>
                  <a:schemeClr val="accent2"/>
                </a:solidFill>
              </a:rPr>
              <a:t>Modern cloud-native setup</a:t>
            </a:r>
          </a:p>
          <a:p>
            <a:pPr marL="12700" marR="5080"/>
            <a:r>
              <a:rPr lang="en-US" sz="1150" kern="0" spc="-80" dirty="0">
                <a:solidFill>
                  <a:schemeClr val="accent6"/>
                </a:solidFill>
              </a:rPr>
              <a:t>Kubernetes (AKS/EKS/GKE)</a:t>
            </a:r>
          </a:p>
          <a:p>
            <a:pPr marL="12700" marR="5080"/>
            <a:r>
              <a:rPr lang="en-US" sz="1150" kern="0" spc="-80" dirty="0">
                <a:solidFill>
                  <a:schemeClr val="accent6"/>
                </a:solidFill>
              </a:rPr>
              <a:t>    ├── Document Ingestion Service</a:t>
            </a:r>
          </a:p>
          <a:p>
            <a:pPr marL="12700" marR="5080"/>
            <a:r>
              <a:rPr lang="en-US" sz="1150" kern="0" spc="-80" dirty="0">
                <a:solidFill>
                  <a:schemeClr val="accent6"/>
                </a:solidFill>
              </a:rPr>
              <a:t>    ├── OCR/AI Microservice</a:t>
            </a:r>
          </a:p>
          <a:p>
            <a:pPr marL="12700" marR="5080"/>
            <a:r>
              <a:rPr lang="en-US" sz="1150" kern="0" spc="-80" dirty="0">
                <a:solidFill>
                  <a:schemeClr val="accent6"/>
                </a:solidFill>
              </a:rPr>
              <a:t>    ├── Workflow Orchestrator (Temporal/Camunda)</a:t>
            </a:r>
          </a:p>
          <a:p>
            <a:pPr marL="12700" marR="5080"/>
            <a:r>
              <a:rPr lang="en-US" sz="1150" kern="0" spc="-80" dirty="0">
                <a:solidFill>
                  <a:schemeClr val="accent6"/>
                </a:solidFill>
              </a:rPr>
              <a:t>    ├── Rules Engine</a:t>
            </a:r>
          </a:p>
          <a:p>
            <a:pPr marL="12700" marR="5080"/>
            <a:r>
              <a:rPr lang="en-US" sz="1150" kern="0" spc="-80" dirty="0">
                <a:solidFill>
                  <a:schemeClr val="accent6"/>
                </a:solidFill>
              </a:rPr>
              <a:t>    ├── Human Task UI</a:t>
            </a:r>
          </a:p>
          <a:p>
            <a:pPr marL="12700" marR="5080"/>
            <a:r>
              <a:rPr lang="en-US" sz="1150" kern="0" spc="-80" dirty="0">
                <a:solidFill>
                  <a:schemeClr val="accent6"/>
                </a:solidFill>
              </a:rPr>
              <a:t>    ├── Integration Microservices</a:t>
            </a:r>
          </a:p>
          <a:p>
            <a:pPr marL="12700" marR="5080"/>
            <a:r>
              <a:rPr lang="en-US" sz="1150" kern="0" spc="-80" dirty="0">
                <a:solidFill>
                  <a:schemeClr val="accent6"/>
                </a:solidFill>
              </a:rPr>
              <a:t>    ├── Notification Service</a:t>
            </a:r>
          </a:p>
          <a:p>
            <a:pPr marL="12700" marR="5080"/>
            <a:r>
              <a:rPr lang="en-US" sz="1150" kern="0" spc="-80" dirty="0">
                <a:solidFill>
                  <a:schemeClr val="accent6"/>
                </a:solidFill>
              </a:rPr>
              <a:t>    └── Document Storage (Blob/S3 + Metadata DB)</a:t>
            </a:r>
          </a:p>
          <a:p>
            <a:pPr marL="12700" marR="5080"/>
            <a:endParaRPr lang="en-US" sz="1150" kern="0" spc="-80" dirty="0">
              <a:solidFill>
                <a:schemeClr val="accent6"/>
              </a:solidFill>
            </a:endParaRPr>
          </a:p>
          <a:p>
            <a:pPr marL="12700" marR="5080"/>
            <a:r>
              <a:rPr lang="en-US" sz="1150" kern="0" spc="-80" dirty="0">
                <a:solidFill>
                  <a:schemeClr val="accent2"/>
                </a:solidFill>
              </a:rPr>
              <a:t>Uses:</a:t>
            </a:r>
          </a:p>
          <a:p>
            <a:pPr marL="12700" marR="5080"/>
            <a:r>
              <a:rPr lang="en-US" sz="1150" kern="0" spc="-80" dirty="0">
                <a:solidFill>
                  <a:schemeClr val="accent6"/>
                </a:solidFill>
              </a:rPr>
              <a:t>Horizontal scaling</a:t>
            </a:r>
          </a:p>
          <a:p>
            <a:pPr marL="12700" marR="5080"/>
            <a:r>
              <a:rPr lang="en-US" sz="1150" kern="0" spc="-80" dirty="0">
                <a:solidFill>
                  <a:schemeClr val="accent6"/>
                </a:solidFill>
              </a:rPr>
              <a:t>Event-driven triggers</a:t>
            </a:r>
          </a:p>
          <a:p>
            <a:pPr marL="12700" marR="5080"/>
            <a:r>
              <a:rPr lang="en-US" sz="1150" kern="0" spc="-80" dirty="0">
                <a:solidFill>
                  <a:schemeClr val="accent6"/>
                </a:solidFill>
              </a:rPr>
              <a:t>KEDA for auto-scaling on queues</a:t>
            </a:r>
          </a:p>
          <a:p>
            <a:pPr marL="12700" marR="5080"/>
            <a:r>
              <a:rPr lang="en-US" sz="1150" kern="0" spc="-80" dirty="0">
                <a:solidFill>
                  <a:schemeClr val="accent6"/>
                </a:solidFill>
              </a:rPr>
              <a:t>Zero-downtime deployments</a:t>
            </a:r>
          </a:p>
          <a:p>
            <a:pPr marL="12700" marR="5080"/>
            <a:r>
              <a:rPr lang="en-US" sz="1150" kern="0" spc="-80" dirty="0">
                <a:solidFill>
                  <a:schemeClr val="accent6"/>
                </a:solidFill>
              </a:rPr>
              <a:t>8. Non-Functional Requirements (NFRs)</a:t>
            </a:r>
          </a:p>
          <a:p>
            <a:pPr marL="12700" marR="5080"/>
            <a:r>
              <a:rPr lang="en-US" sz="1150" kern="0" spc="-80" dirty="0">
                <a:solidFill>
                  <a:schemeClr val="accent6"/>
                </a:solidFill>
              </a:rPr>
              <a:t>Scalability (large document volumes)</a:t>
            </a:r>
          </a:p>
          <a:p>
            <a:pPr marL="12700" marR="5080"/>
            <a:endParaRPr lang="en-US" sz="1150" kern="0" spc="-80" dirty="0">
              <a:solidFill>
                <a:schemeClr val="accent6"/>
              </a:solidFill>
            </a:endParaRPr>
          </a:p>
          <a:p>
            <a:pPr marL="12700" marR="5080"/>
            <a:endParaRPr lang="en-US" sz="1150" kern="0" spc="-80" dirty="0">
              <a:solidFill>
                <a:schemeClr val="accent6"/>
              </a:solidFill>
            </a:endParaRPr>
          </a:p>
          <a:p>
            <a:pPr marL="12700" marR="5080"/>
            <a:endParaRPr lang="en-US" sz="1150" kern="0" spc="-80" dirty="0">
              <a:solidFill>
                <a:schemeClr val="accent6"/>
              </a:solidFill>
            </a:endParaRPr>
          </a:p>
          <a:p>
            <a:pPr marL="12700" marR="5080"/>
            <a:endParaRPr lang="en-US" sz="1150" kern="0" spc="-80" dirty="0">
              <a:solidFill>
                <a:schemeClr val="accent2"/>
              </a:solidFill>
            </a:endParaRPr>
          </a:p>
        </p:txBody>
      </p:sp>
    </p:spTree>
    <p:extLst>
      <p:ext uri="{BB962C8B-B14F-4D97-AF65-F5344CB8AC3E}">
        <p14:creationId xmlns:p14="http://schemas.microsoft.com/office/powerpoint/2010/main" val="116895120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3DA88-4572-0CE9-9441-56D35285B64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9BBB2C3-0D88-C230-2685-E0653CF58F14}"/>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3378D9B-3D7C-C4C1-2712-57D22F456B02}"/>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61FAB51-D8FC-E8C4-87DE-31E737B53790}"/>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D901A986-D0FA-DAA8-E261-36D05111C1F6}"/>
              </a:ext>
            </a:extLst>
          </p:cNvPr>
          <p:cNvSpPr txBox="1">
            <a:spLocks/>
          </p:cNvSpPr>
          <p:nvPr/>
        </p:nvSpPr>
        <p:spPr>
          <a:xfrm>
            <a:off x="228600" y="873204"/>
            <a:ext cx="8624937" cy="37317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Documents Based Workflow Reference Architecture</a:t>
            </a:r>
          </a:p>
          <a:p>
            <a:pPr marL="12700" marR="5080"/>
            <a:r>
              <a:rPr lang="en-US" sz="1150" kern="0" spc="-80" dirty="0">
                <a:solidFill>
                  <a:schemeClr val="accent2"/>
                </a:solidFill>
              </a:rPr>
              <a:t>Uses:</a:t>
            </a:r>
          </a:p>
          <a:p>
            <a:pPr marL="12700" marR="5080"/>
            <a:r>
              <a:rPr lang="en-US" sz="1150" kern="0" spc="-80" dirty="0">
                <a:solidFill>
                  <a:schemeClr val="accent6"/>
                </a:solidFill>
              </a:rPr>
              <a:t>Fault tolerance</a:t>
            </a:r>
          </a:p>
          <a:p>
            <a:pPr marL="12700" marR="5080"/>
            <a:r>
              <a:rPr lang="en-US" sz="1150" kern="0" spc="-80" dirty="0">
                <a:solidFill>
                  <a:schemeClr val="accent6"/>
                </a:solidFill>
              </a:rPr>
              <a:t>Low-latency workflows</a:t>
            </a:r>
          </a:p>
          <a:p>
            <a:pPr marL="12700" marR="5080"/>
            <a:r>
              <a:rPr lang="en-US" sz="1150" kern="0" spc="-80" dirty="0">
                <a:solidFill>
                  <a:schemeClr val="accent6"/>
                </a:solidFill>
              </a:rPr>
              <a:t>ACID metadata consistency</a:t>
            </a:r>
          </a:p>
          <a:p>
            <a:pPr marL="12700" marR="5080"/>
            <a:r>
              <a:rPr lang="en-US" sz="1150" kern="0" spc="-80" dirty="0">
                <a:solidFill>
                  <a:schemeClr val="accent6"/>
                </a:solidFill>
              </a:rPr>
              <a:t>Immutable audit trails</a:t>
            </a:r>
          </a:p>
          <a:p>
            <a:pPr marL="12700" marR="5080"/>
            <a:r>
              <a:rPr lang="en-US" sz="1150" kern="0" spc="-80" dirty="0">
                <a:solidFill>
                  <a:schemeClr val="accent6"/>
                </a:solidFill>
              </a:rPr>
              <a:t>Compliance: GDPR, HIPAA, RBI/IRDAI guidelines</a:t>
            </a:r>
          </a:p>
          <a:p>
            <a:pPr marL="12700" marR="5080"/>
            <a:r>
              <a:rPr lang="en-US" sz="1150" kern="0" spc="-80" dirty="0">
                <a:solidFill>
                  <a:schemeClr val="accent6"/>
                </a:solidFill>
              </a:rPr>
              <a:t>Retention for 7–20 years</a:t>
            </a:r>
          </a:p>
          <a:p>
            <a:pPr marL="12700" marR="5080"/>
            <a:endParaRPr lang="en-US" sz="1150" kern="0" spc="-80" dirty="0">
              <a:solidFill>
                <a:schemeClr val="accent6"/>
              </a:solidFill>
            </a:endParaRPr>
          </a:p>
          <a:p>
            <a:pPr marL="12700" marR="5080"/>
            <a:r>
              <a:rPr lang="en-US" sz="1150" kern="0" spc="-80" dirty="0">
                <a:solidFill>
                  <a:schemeClr val="accent2"/>
                </a:solidFill>
              </a:rPr>
              <a:t>When to Use Document-Based Workflow Architecture</a:t>
            </a:r>
          </a:p>
          <a:p>
            <a:pPr marL="12700" marR="5080"/>
            <a:r>
              <a:rPr lang="en-US" sz="1150" kern="0" spc="-80" dirty="0">
                <a:solidFill>
                  <a:schemeClr val="accent2"/>
                </a:solidFill>
              </a:rPr>
              <a:t>Use it when:</a:t>
            </a:r>
          </a:p>
          <a:p>
            <a:pPr marL="12700" marR="5080"/>
            <a:r>
              <a:rPr lang="en-US" sz="1150" kern="0" spc="-80" dirty="0">
                <a:solidFill>
                  <a:schemeClr val="accent6"/>
                </a:solidFill>
              </a:rPr>
              <a:t>Documents are central to business (Insurance, Banking, HR, Logistics)</a:t>
            </a:r>
          </a:p>
          <a:p>
            <a:pPr marL="12700" marR="5080"/>
            <a:r>
              <a:rPr lang="en-US" sz="1150" kern="0" spc="-80" dirty="0">
                <a:solidFill>
                  <a:schemeClr val="accent6"/>
                </a:solidFill>
              </a:rPr>
              <a:t>High compliance is required</a:t>
            </a:r>
          </a:p>
          <a:p>
            <a:pPr marL="12700" marR="5080"/>
            <a:r>
              <a:rPr lang="en-US" sz="1150" kern="0" spc="-80" dirty="0">
                <a:solidFill>
                  <a:schemeClr val="accent6"/>
                </a:solidFill>
              </a:rPr>
              <a:t>Human approval steps exist</a:t>
            </a:r>
          </a:p>
          <a:p>
            <a:pPr marL="12700" marR="5080"/>
            <a:r>
              <a:rPr lang="en-US" sz="1150" kern="0" spc="-80" dirty="0">
                <a:solidFill>
                  <a:schemeClr val="accent6"/>
                </a:solidFill>
              </a:rPr>
              <a:t>Metadata extraction drives process decisions</a:t>
            </a:r>
          </a:p>
          <a:p>
            <a:pPr marL="12700" marR="5080"/>
            <a:endParaRPr lang="en-US" sz="1150" kern="0" spc="-80" dirty="0">
              <a:solidFill>
                <a:schemeClr val="accent6"/>
              </a:solidFill>
            </a:endParaRPr>
          </a:p>
          <a:p>
            <a:pPr marL="12700" marR="5080"/>
            <a:r>
              <a:rPr lang="en-US" sz="1150" kern="0" spc="-80" dirty="0">
                <a:solidFill>
                  <a:schemeClr val="accent2"/>
                </a:solidFill>
              </a:rPr>
              <a:t>Summary in One Line</a:t>
            </a:r>
          </a:p>
          <a:p>
            <a:pPr marL="12700" marR="5080"/>
            <a:r>
              <a:rPr lang="en-US" sz="1150" kern="0" spc="-80" dirty="0">
                <a:solidFill>
                  <a:schemeClr val="accent6"/>
                </a:solidFill>
              </a:rPr>
              <a:t>A Document-Based Workflow Architecture orchestrates the lifecycle of documents using automated extraction, metadata-driven routing, human tasks, integrations, and secure repository management.</a:t>
            </a:r>
          </a:p>
          <a:p>
            <a:pPr marL="12700" marR="5080"/>
            <a:endParaRPr lang="en-US" sz="1150" kern="0" spc="-80" dirty="0">
              <a:solidFill>
                <a:schemeClr val="accent6"/>
              </a:solidFill>
            </a:endParaRPr>
          </a:p>
        </p:txBody>
      </p:sp>
    </p:spTree>
    <p:extLst>
      <p:ext uri="{BB962C8B-B14F-4D97-AF65-F5344CB8AC3E}">
        <p14:creationId xmlns:p14="http://schemas.microsoft.com/office/powerpoint/2010/main" val="261256688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49BFE-5B97-639B-9FF7-AE2A86288C1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82A3548-1356-B066-60E9-7EEE7B05A4A7}"/>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1B74D39-84D7-7167-8E88-9EF870C6857D}"/>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01BCCA3-B449-85E2-60FF-589BBA2351D0}"/>
              </a:ext>
            </a:extLst>
          </p:cNvPr>
          <p:cNvGraphicFramePr/>
          <p:nvPr/>
        </p:nvGraphicFramePr>
        <p:xfrm>
          <a:off x="27542" y="-8604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2DB2718-E7B7-861D-32FE-C3151D54577A}"/>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Open Banking Reference Architecture</a:t>
            </a:r>
          </a:p>
          <a:p>
            <a:pPr marL="12700" marR="5080"/>
            <a:r>
              <a:rPr lang="en-US" sz="2400" kern="0" spc="-80" dirty="0">
                <a:solidFill>
                  <a:schemeClr val="accent2"/>
                </a:solidFill>
              </a:rPr>
              <a:t>  </a:t>
            </a:r>
          </a:p>
        </p:txBody>
      </p:sp>
      <p:pic>
        <p:nvPicPr>
          <p:cNvPr id="8" name="Picture 7" descr="A screenshot of a computer&#10;&#10;AI-generated content may be incorrect.">
            <a:extLst>
              <a:ext uri="{FF2B5EF4-FFF2-40B4-BE49-F238E27FC236}">
                <a16:creationId xmlns:a16="http://schemas.microsoft.com/office/drawing/2014/main" id="{0B345B8E-90F9-87D3-ECFC-5D1B80583D3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662" y="1219200"/>
            <a:ext cx="9100338" cy="4724400"/>
          </a:xfrm>
          <a:prstGeom prst="rect">
            <a:avLst/>
          </a:prstGeom>
        </p:spPr>
      </p:pic>
    </p:spTree>
    <p:extLst>
      <p:ext uri="{BB962C8B-B14F-4D97-AF65-F5344CB8AC3E}">
        <p14:creationId xmlns:p14="http://schemas.microsoft.com/office/powerpoint/2010/main" val="413817099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25AC9-CE10-FE89-D2EB-E56C046BB51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8DDB706-F9FF-85EB-43ED-438EE436986A}"/>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0C715D9-A18B-4A32-40BC-7B8AA646A668}"/>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DABF6AF-75C6-DB67-C6CA-89ECD6B0A82E}"/>
              </a:ext>
            </a:extLst>
          </p:cNvPr>
          <p:cNvGraphicFramePr/>
          <p:nvPr/>
        </p:nvGraphicFramePr>
        <p:xfrm>
          <a:off x="27542" y="-8604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A43F2B1-CD63-1C84-A1EC-CC023A2BB935}"/>
              </a:ext>
            </a:extLst>
          </p:cNvPr>
          <p:cNvSpPr txBox="1">
            <a:spLocks/>
          </p:cNvSpPr>
          <p:nvPr/>
        </p:nvSpPr>
        <p:spPr>
          <a:xfrm>
            <a:off x="152400" y="873204"/>
            <a:ext cx="8701137" cy="52475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Open Banking Reference Architecture</a:t>
            </a:r>
          </a:p>
          <a:p>
            <a:pPr marL="12700" marR="5080"/>
            <a:r>
              <a:rPr lang="en-US" sz="1350" kern="0" spc="-80" dirty="0">
                <a:solidFill>
                  <a:schemeClr val="accent6"/>
                </a:solidFill>
              </a:rPr>
              <a:t>Open Banking is a financial innovation model that allows third-party providers (TPPs) to access customer banking data (with consent) through secure APIs, enabling new financial products and services. It implements systems that allow secure, API-based data exchange between banks and authorized third-party providers (TPPs). This architecture is built on key components, including standardized APIs, strong security protocols, consent management, regulatory oversight, and integration capabilities with legacy banking systems. </a:t>
            </a:r>
          </a:p>
          <a:p>
            <a:pPr marL="12700" marR="5080"/>
            <a:r>
              <a:rPr lang="en-US" sz="1350" kern="0" spc="-80" dirty="0">
                <a:solidFill>
                  <a:schemeClr val="accent2"/>
                </a:solidFill>
              </a:rPr>
              <a:t>It’s about:</a:t>
            </a:r>
            <a:br>
              <a:rPr lang="en-US" sz="1350" kern="0" spc="-80" dirty="0">
                <a:solidFill>
                  <a:schemeClr val="accent6"/>
                </a:solidFill>
              </a:rPr>
            </a:br>
            <a:r>
              <a:rPr lang="en-US" sz="1350" kern="0" spc="-80" dirty="0">
                <a:solidFill>
                  <a:schemeClr val="accent2"/>
                </a:solidFill>
              </a:rPr>
              <a:t>Data ownership: </a:t>
            </a:r>
            <a:r>
              <a:rPr lang="en-US" sz="1350" kern="0" spc="-80" dirty="0">
                <a:solidFill>
                  <a:schemeClr val="accent6"/>
                </a:solidFill>
              </a:rPr>
              <a:t>Customer owns their financial data.</a:t>
            </a:r>
            <a:br>
              <a:rPr lang="en-US" sz="1350" kern="0" spc="-80" dirty="0">
                <a:solidFill>
                  <a:schemeClr val="accent6"/>
                </a:solidFill>
              </a:rPr>
            </a:br>
            <a:r>
              <a:rPr lang="en-US" sz="1350" kern="0" spc="-80" dirty="0">
                <a:solidFill>
                  <a:schemeClr val="accent2"/>
                </a:solidFill>
              </a:rPr>
              <a:t>Interoperability: </a:t>
            </a:r>
            <a:r>
              <a:rPr lang="en-US" sz="1350" kern="0" spc="-80" dirty="0">
                <a:solidFill>
                  <a:schemeClr val="accent6"/>
                </a:solidFill>
              </a:rPr>
              <a:t>Banks expose APIs to share data securely.</a:t>
            </a:r>
            <a:br>
              <a:rPr lang="en-US" sz="1350" kern="0" spc="-80" dirty="0">
                <a:solidFill>
                  <a:schemeClr val="accent6"/>
                </a:solidFill>
              </a:rPr>
            </a:br>
            <a:r>
              <a:rPr lang="en-US" sz="1350" kern="0" spc="-80" dirty="0">
                <a:solidFill>
                  <a:schemeClr val="accent2"/>
                </a:solidFill>
              </a:rPr>
              <a:t>Innovation: </a:t>
            </a:r>
            <a:r>
              <a:rPr lang="en-US" sz="1350" kern="0" spc="-80" dirty="0" err="1">
                <a:solidFill>
                  <a:schemeClr val="accent6"/>
                </a:solidFill>
              </a:rPr>
              <a:t>Fintechs</a:t>
            </a:r>
            <a:r>
              <a:rPr lang="en-US" sz="1350" kern="0" spc="-80" dirty="0">
                <a:solidFill>
                  <a:schemeClr val="accent6"/>
                </a:solidFill>
              </a:rPr>
              <a:t> and third parties build smarter apps/services on top.</a:t>
            </a:r>
          </a:p>
          <a:p>
            <a:pPr marL="12700" marR="5080"/>
            <a:r>
              <a:rPr lang="en-US" sz="2000" kern="0" spc="-80" dirty="0">
                <a:solidFill>
                  <a:schemeClr val="accent2"/>
                </a:solidFill>
              </a:rPr>
              <a:t>Core components</a:t>
            </a:r>
          </a:p>
          <a:p>
            <a:pPr marL="12700" marR="5080"/>
            <a:r>
              <a:rPr lang="en-US" sz="1350" kern="0" spc="-80" dirty="0">
                <a:solidFill>
                  <a:schemeClr val="accent2"/>
                </a:solidFill>
              </a:rPr>
              <a:t>APIs:</a:t>
            </a:r>
            <a:r>
              <a:rPr lang="en-US" sz="1350" kern="0" spc="-80" dirty="0">
                <a:solidFill>
                  <a:schemeClr val="accent6"/>
                </a:solidFill>
              </a:rPr>
              <a:t> Application Programming Interfaces are the foundation, enabling secure data exchange. These APIs are typically categorized by function:</a:t>
            </a:r>
          </a:p>
          <a:p>
            <a:pPr marL="12700" marR="5080"/>
            <a:r>
              <a:rPr lang="en-US" sz="1350" kern="0" spc="-80" dirty="0">
                <a:solidFill>
                  <a:schemeClr val="accent2"/>
                </a:solidFill>
              </a:rPr>
              <a:t>   Data APIs:</a:t>
            </a:r>
            <a:r>
              <a:rPr lang="en-US" sz="1350" kern="0" spc="-80" dirty="0">
                <a:solidFill>
                  <a:schemeClr val="accent6"/>
                </a:solidFill>
              </a:rPr>
              <a:t> Provide read-only access to consumer account information, balances, and transaction history.</a:t>
            </a:r>
          </a:p>
          <a:p>
            <a:pPr marL="12700" marR="5080"/>
            <a:r>
              <a:rPr lang="en-US" sz="1350" kern="0" spc="-80" dirty="0">
                <a:solidFill>
                  <a:schemeClr val="accent2"/>
                </a:solidFill>
              </a:rPr>
              <a:t>   Transaction APIs:</a:t>
            </a:r>
            <a:r>
              <a:rPr lang="en-US" sz="1350" kern="0" spc="-80" dirty="0">
                <a:solidFill>
                  <a:schemeClr val="accent6"/>
                </a:solidFill>
              </a:rPr>
              <a:t> Facilitate secure payments and fund transfers initiated by third parties with customer consent.</a:t>
            </a:r>
          </a:p>
          <a:p>
            <a:pPr marL="12700" marR="5080"/>
            <a:r>
              <a:rPr lang="en-US" sz="1350" kern="0" spc="-80" dirty="0">
                <a:solidFill>
                  <a:schemeClr val="accent2"/>
                </a:solidFill>
              </a:rPr>
              <a:t>   Product APIs: </a:t>
            </a:r>
            <a:r>
              <a:rPr lang="en-US" sz="1350" kern="0" spc="-80" dirty="0">
                <a:solidFill>
                  <a:schemeClr val="accent6"/>
                </a:solidFill>
              </a:rPr>
              <a:t>Allow TPPs to access information about financial products, rates, and terms, which is often used for comparison services.</a:t>
            </a:r>
          </a:p>
          <a:p>
            <a:pPr marL="12700" marR="5080"/>
            <a:r>
              <a:rPr lang="en-US" sz="1350" kern="0" spc="-80" dirty="0">
                <a:solidFill>
                  <a:schemeClr val="accent2"/>
                </a:solidFill>
              </a:rPr>
              <a:t>Security:</a:t>
            </a:r>
            <a:r>
              <a:rPr lang="en-US" sz="1350" kern="0" spc="-80" dirty="0">
                <a:solidFill>
                  <a:schemeClr val="accent6"/>
                </a:solidFill>
              </a:rPr>
              <a:t> Robust security measures are crucial for protecting sensitive financial data. </a:t>
            </a:r>
          </a:p>
          <a:p>
            <a:pPr marL="12700" marR="5080"/>
            <a:r>
              <a:rPr lang="en-US" sz="1350" kern="0" spc="-80" dirty="0">
                <a:solidFill>
                  <a:schemeClr val="accent2"/>
                </a:solidFill>
              </a:rPr>
              <a:t>This involves:</a:t>
            </a:r>
          </a:p>
          <a:p>
            <a:pPr marL="12700" marR="5080"/>
            <a:r>
              <a:rPr lang="en-US" sz="1350" kern="0" spc="-80" dirty="0">
                <a:solidFill>
                  <a:schemeClr val="accent6"/>
                </a:solidFill>
              </a:rPr>
              <a:t>   </a:t>
            </a:r>
            <a:r>
              <a:rPr lang="en-US" sz="1350" kern="0" spc="-80" dirty="0">
                <a:solidFill>
                  <a:schemeClr val="accent2"/>
                </a:solidFill>
              </a:rPr>
              <a:t>OAuth 2.0:</a:t>
            </a:r>
            <a:r>
              <a:rPr lang="en-US" sz="1350" kern="0" spc="-80" dirty="0">
                <a:solidFill>
                  <a:schemeClr val="accent6"/>
                </a:solidFill>
              </a:rPr>
              <a:t> Ensures customers explicitly approve and control access to their banking data.</a:t>
            </a:r>
          </a:p>
          <a:p>
            <a:pPr marL="12700" marR="5080"/>
            <a:r>
              <a:rPr lang="en-US" sz="1350" kern="0" spc="-80" dirty="0">
                <a:solidFill>
                  <a:schemeClr val="accent2"/>
                </a:solidFill>
              </a:rPr>
              <a:t>   Mutual Transport Layer Security (</a:t>
            </a:r>
            <a:r>
              <a:rPr lang="en-US" sz="1350" kern="0" spc="-80" dirty="0" err="1">
                <a:solidFill>
                  <a:schemeClr val="accent2"/>
                </a:solidFill>
              </a:rPr>
              <a:t>mTLS</a:t>
            </a:r>
            <a:r>
              <a:rPr lang="en-US" sz="1350" kern="0" spc="-80" dirty="0">
                <a:solidFill>
                  <a:schemeClr val="accent2"/>
                </a:solidFill>
              </a:rPr>
              <a:t>): </a:t>
            </a:r>
            <a:r>
              <a:rPr lang="en-US" sz="1350" kern="0" spc="-80" dirty="0">
                <a:solidFill>
                  <a:schemeClr val="accent6"/>
                </a:solidFill>
              </a:rPr>
              <a:t>Encrypts communication channels between banks and TPPs.</a:t>
            </a:r>
          </a:p>
          <a:p>
            <a:pPr marL="12700" marR="5080"/>
            <a:r>
              <a:rPr lang="en-US" sz="1350" kern="0" spc="-80" dirty="0">
                <a:solidFill>
                  <a:schemeClr val="accent2"/>
                </a:solidFill>
              </a:rPr>
              <a:t>   Access Control and Tokenization: </a:t>
            </a:r>
            <a:r>
              <a:rPr lang="en-US" sz="1350" kern="0" spc="-80" dirty="0">
                <a:solidFill>
                  <a:schemeClr val="accent6"/>
                </a:solidFill>
              </a:rPr>
              <a:t>Provides a granular and secure way to manage third-party access.</a:t>
            </a:r>
          </a:p>
          <a:p>
            <a:pPr marL="12700" marR="5080"/>
            <a:endParaRPr lang="en-US" sz="1350" kern="0" spc="-80" dirty="0">
              <a:solidFill>
                <a:schemeClr val="accent6"/>
              </a:solidFill>
            </a:endParaRPr>
          </a:p>
        </p:txBody>
      </p:sp>
    </p:spTree>
    <p:extLst>
      <p:ext uri="{BB962C8B-B14F-4D97-AF65-F5344CB8AC3E}">
        <p14:creationId xmlns:p14="http://schemas.microsoft.com/office/powerpoint/2010/main" val="254601616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F37EF-FEFF-82C2-6E13-4CBA3D60307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FC21C2F-3779-3660-5146-BFDE7F1A6053}"/>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BA73AA2-204C-A152-42A9-A91D2D32816B}"/>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BB29554-E596-EED6-73E3-18874EDEB379}"/>
              </a:ext>
            </a:extLst>
          </p:cNvPr>
          <p:cNvGraphicFramePr/>
          <p:nvPr/>
        </p:nvGraphicFramePr>
        <p:xfrm>
          <a:off x="27542" y="-8604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DAB99B8-C916-DA41-5F84-F45CDA0CCF71}"/>
              </a:ext>
            </a:extLst>
          </p:cNvPr>
          <p:cNvSpPr txBox="1">
            <a:spLocks/>
          </p:cNvSpPr>
          <p:nvPr/>
        </p:nvSpPr>
        <p:spPr>
          <a:xfrm>
            <a:off x="152400" y="873204"/>
            <a:ext cx="8701137" cy="550150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Open Banking Reference Architecture</a:t>
            </a:r>
          </a:p>
          <a:p>
            <a:pPr marL="12700" marR="5080"/>
            <a:r>
              <a:rPr lang="en-US" sz="1350" kern="0" spc="-80" dirty="0">
                <a:solidFill>
                  <a:schemeClr val="accent2"/>
                </a:solidFill>
              </a:rPr>
              <a:t>Consent Management: </a:t>
            </a:r>
            <a:r>
              <a:rPr lang="en-US" sz="1350" kern="0" spc="-80" dirty="0">
                <a:solidFill>
                  <a:schemeClr val="accent6"/>
                </a:solidFill>
              </a:rPr>
              <a:t>A mechanism for customers to grant and revoke permission for TPPs to access their </a:t>
            </a:r>
          </a:p>
          <a:p>
            <a:pPr marL="12700" marR="5080"/>
            <a:r>
              <a:rPr lang="en-US" sz="1350" kern="0" spc="-80" dirty="0">
                <a:solidFill>
                  <a:schemeClr val="accent6"/>
                </a:solidFill>
              </a:rPr>
              <a:t>financial data.</a:t>
            </a:r>
          </a:p>
          <a:p>
            <a:pPr marL="12700" marR="5080"/>
            <a:r>
              <a:rPr lang="en-US" sz="1350" kern="0" spc="-80" dirty="0">
                <a:solidFill>
                  <a:schemeClr val="accent2"/>
                </a:solidFill>
              </a:rPr>
              <a:t>Third-Party Providers (TPPs): </a:t>
            </a:r>
            <a:r>
              <a:rPr lang="en-US" sz="1350" kern="0" spc="-80" dirty="0">
                <a:solidFill>
                  <a:schemeClr val="accent6"/>
                </a:solidFill>
              </a:rPr>
              <a:t>The developers and fintech companies that use open banking APIs to build innovative applications and services.</a:t>
            </a:r>
          </a:p>
          <a:p>
            <a:pPr marL="12700" marR="5080"/>
            <a:r>
              <a:rPr lang="en-US" sz="1350" kern="0" spc="-80" dirty="0">
                <a:solidFill>
                  <a:schemeClr val="accent2"/>
                </a:solidFill>
              </a:rPr>
              <a:t>Regulatory Framework:</a:t>
            </a:r>
            <a:r>
              <a:rPr lang="en-US" sz="1350" kern="0" spc="-80" dirty="0">
                <a:solidFill>
                  <a:schemeClr val="accent6"/>
                </a:solidFill>
              </a:rPr>
              <a:t> Open banking operates within a regulatory framework that governs practices and ensures compliance and security. Examples include the Payment Services Directive (PSD2) in Europe, the Financial Data</a:t>
            </a:r>
          </a:p>
          <a:p>
            <a:pPr marL="12700" marR="5080"/>
            <a:r>
              <a:rPr lang="en-US" sz="1400" kern="0" spc="-80" dirty="0">
                <a:solidFill>
                  <a:schemeClr val="accent2"/>
                </a:solidFill>
              </a:rPr>
              <a:t>Integration with Legacy Systems:</a:t>
            </a:r>
            <a:r>
              <a:rPr lang="en-US" sz="1400" kern="0" spc="-80" dirty="0">
                <a:solidFill>
                  <a:schemeClr val="accent6"/>
                </a:solidFill>
              </a:rPr>
              <a:t> A key challenge is integrating modern API-based architecture with traditional, or legacy, core banking systems. This is often achieved through an integration layer that translates data into a format readable by open banking APIs.</a:t>
            </a:r>
          </a:p>
          <a:p>
            <a:pPr marL="12700" marR="5080"/>
            <a:r>
              <a:rPr lang="en-US" sz="1400" kern="0" spc="-80" dirty="0">
                <a:solidFill>
                  <a:schemeClr val="accent2"/>
                </a:solidFill>
              </a:rPr>
              <a:t>Cloud-Native and Microservices Architecture: </a:t>
            </a:r>
            <a:r>
              <a:rPr lang="en-US" sz="1400" kern="0" spc="-80" dirty="0">
                <a:solidFill>
                  <a:schemeClr val="accent6"/>
                </a:solidFill>
              </a:rPr>
              <a:t>Many modern open banking architectures use cloud-based, containerized microservices to ensure scalability, reliability, and high-volume transaction processing. </a:t>
            </a:r>
          </a:p>
          <a:p>
            <a:pPr marL="12700" marR="5080"/>
            <a:r>
              <a:rPr lang="en-IN" sz="2000" kern="0" spc="-80" dirty="0">
                <a:solidFill>
                  <a:schemeClr val="accent2"/>
                </a:solidFill>
              </a:rPr>
              <a:t>🏗️ Open Banking Architecture</a:t>
            </a:r>
            <a:br>
              <a:rPr lang="en-IN" sz="1350" kern="0" spc="-80" dirty="0">
                <a:solidFill>
                  <a:schemeClr val="accent2"/>
                </a:solidFill>
              </a:rPr>
            </a:br>
            <a:r>
              <a:rPr lang="en-IN" sz="1350" kern="0" spc="-80" dirty="0">
                <a:solidFill>
                  <a:schemeClr val="accent2"/>
                </a:solidFill>
              </a:rPr>
              <a:t>Layers:</a:t>
            </a:r>
            <a:br>
              <a:rPr lang="en-IN" sz="1350" kern="0" spc="-80" dirty="0">
                <a:solidFill>
                  <a:schemeClr val="accent6"/>
                </a:solidFill>
              </a:rPr>
            </a:br>
            <a:r>
              <a:rPr lang="en-IN" sz="1350" kern="0" spc="-80" dirty="0">
                <a:solidFill>
                  <a:schemeClr val="accent2"/>
                </a:solidFill>
              </a:rPr>
              <a:t>Customer Layer</a:t>
            </a:r>
            <a:r>
              <a:rPr lang="en-IN" sz="1350" kern="0" spc="-80" dirty="0">
                <a:solidFill>
                  <a:schemeClr val="accent6"/>
                </a:solidFill>
              </a:rPr>
              <a:t> – Web/mobile apps where users interact.</a:t>
            </a:r>
            <a:br>
              <a:rPr lang="en-IN" sz="1350" kern="0" spc="-80" dirty="0">
                <a:solidFill>
                  <a:schemeClr val="accent6"/>
                </a:solidFill>
              </a:rPr>
            </a:br>
            <a:r>
              <a:rPr lang="en-IN" sz="1350" kern="0" spc="-80" dirty="0">
                <a:solidFill>
                  <a:schemeClr val="accent2"/>
                </a:solidFill>
              </a:rPr>
              <a:t>TPP Layer</a:t>
            </a:r>
            <a:r>
              <a:rPr lang="en-IN" sz="1350" kern="0" spc="-80" dirty="0">
                <a:solidFill>
                  <a:schemeClr val="accent6"/>
                </a:solidFill>
              </a:rPr>
              <a:t> – </a:t>
            </a:r>
            <a:r>
              <a:rPr lang="en-IN" sz="1350" kern="0" spc="-80" dirty="0" err="1">
                <a:solidFill>
                  <a:schemeClr val="accent6"/>
                </a:solidFill>
              </a:rPr>
              <a:t>Fintechs</a:t>
            </a:r>
            <a:r>
              <a:rPr lang="en-IN" sz="1350" kern="0" spc="-80" dirty="0">
                <a:solidFill>
                  <a:schemeClr val="accent6"/>
                </a:solidFill>
              </a:rPr>
              <a:t> or external service providers.</a:t>
            </a:r>
            <a:br>
              <a:rPr lang="en-IN" sz="1350" kern="0" spc="-80" dirty="0">
                <a:solidFill>
                  <a:schemeClr val="accent6"/>
                </a:solidFill>
              </a:rPr>
            </a:br>
            <a:r>
              <a:rPr lang="en-IN" sz="1350" kern="0" spc="-80" dirty="0">
                <a:solidFill>
                  <a:schemeClr val="accent2"/>
                </a:solidFill>
              </a:rPr>
              <a:t>API Gateway –</a:t>
            </a:r>
            <a:r>
              <a:rPr lang="en-IN" sz="1350" kern="0" spc="-80" dirty="0">
                <a:solidFill>
                  <a:schemeClr val="accent6"/>
                </a:solidFill>
              </a:rPr>
              <a:t> The interface between TPPs and the bank.</a:t>
            </a:r>
            <a:br>
              <a:rPr lang="en-IN" sz="1350" kern="0" spc="-80" dirty="0">
                <a:solidFill>
                  <a:schemeClr val="accent6"/>
                </a:solidFill>
              </a:rPr>
            </a:br>
            <a:r>
              <a:rPr lang="en-IN" sz="1350" kern="0" spc="-80" dirty="0">
                <a:solidFill>
                  <a:schemeClr val="accent2"/>
                </a:solidFill>
              </a:rPr>
              <a:t>Bank Core Systems</a:t>
            </a:r>
            <a:r>
              <a:rPr lang="en-IN" sz="1350" kern="0" spc="-80" dirty="0">
                <a:solidFill>
                  <a:schemeClr val="accent6"/>
                </a:solidFill>
              </a:rPr>
              <a:t> – Account, payment, KYC, and other data sources.</a:t>
            </a:r>
            <a:br>
              <a:rPr lang="en-IN" sz="1350" kern="0" spc="-80" dirty="0">
                <a:solidFill>
                  <a:schemeClr val="accent6"/>
                </a:solidFill>
              </a:rPr>
            </a:br>
            <a:r>
              <a:rPr lang="en-IN" sz="1350" kern="0" spc="-80" dirty="0">
                <a:solidFill>
                  <a:schemeClr val="accent2"/>
                </a:solidFill>
              </a:rPr>
              <a:t>Flow Example (AISP use case):</a:t>
            </a:r>
            <a:br>
              <a:rPr lang="en-IN" sz="1350" kern="0" spc="-80" dirty="0">
                <a:solidFill>
                  <a:schemeClr val="accent6"/>
                </a:solidFill>
              </a:rPr>
            </a:br>
            <a:r>
              <a:rPr lang="en-IN" sz="1350" kern="0" spc="-80" dirty="0">
                <a:solidFill>
                  <a:schemeClr val="accent6"/>
                </a:solidFill>
              </a:rPr>
              <a:t>User → TPP App → Bank API Gateway → Bank Core System → Data → TPP → User Dashboard</a:t>
            </a:r>
            <a:br>
              <a:rPr lang="en-IN" sz="1350" kern="0" spc="-80" dirty="0">
                <a:solidFill>
                  <a:schemeClr val="accent6"/>
                </a:solidFill>
              </a:rPr>
            </a:br>
            <a:r>
              <a:rPr lang="en-IN" sz="1350" kern="0" spc="-80" dirty="0">
                <a:solidFill>
                  <a:schemeClr val="accent2"/>
                </a:solidFill>
              </a:rPr>
              <a:t>Flow Example (PISP use case):</a:t>
            </a:r>
            <a:br>
              <a:rPr lang="en-IN" sz="1350" kern="0" spc="-80" dirty="0">
                <a:solidFill>
                  <a:schemeClr val="accent6"/>
                </a:solidFill>
              </a:rPr>
            </a:br>
            <a:r>
              <a:rPr lang="en-IN" sz="1350" kern="0" spc="-80" dirty="0">
                <a:solidFill>
                  <a:schemeClr val="accent6"/>
                </a:solidFill>
              </a:rPr>
              <a:t>User → TPP App → Consent → Bank API Gateway → Payment Execution → Confirmation → TPP → User</a:t>
            </a:r>
            <a:endParaRPr lang="en-US" sz="1350" kern="0" spc="-80" dirty="0">
              <a:solidFill>
                <a:schemeClr val="accent6"/>
              </a:solidFill>
            </a:endParaRPr>
          </a:p>
          <a:p>
            <a:pPr marL="12700" marR="5080"/>
            <a:endParaRPr lang="en-US" sz="1350" kern="0" spc="-80" dirty="0">
              <a:solidFill>
                <a:schemeClr val="accent6"/>
              </a:solidFill>
            </a:endParaRPr>
          </a:p>
          <a:p>
            <a:pPr marL="12700" marR="5080"/>
            <a:endParaRPr lang="en-US" sz="1400" kern="0" spc="-80" dirty="0">
              <a:solidFill>
                <a:schemeClr val="accent6"/>
              </a:solidFill>
            </a:endParaRPr>
          </a:p>
        </p:txBody>
      </p:sp>
    </p:spTree>
    <p:extLst>
      <p:ext uri="{BB962C8B-B14F-4D97-AF65-F5344CB8AC3E}">
        <p14:creationId xmlns:p14="http://schemas.microsoft.com/office/powerpoint/2010/main" val="361015093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3FB7A-7A6E-2562-57FE-CDF4EAE96ED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939F9DB-AB13-7716-7DB6-02EBC0CA0554}"/>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7D0DF3D-960E-3742-8C92-01DC07FEF682}"/>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368B8C6-DC67-F482-4FCE-BD51AD9CA939}"/>
              </a:ext>
            </a:extLst>
          </p:cNvPr>
          <p:cNvGraphicFramePr/>
          <p:nvPr/>
        </p:nvGraphicFramePr>
        <p:xfrm>
          <a:off x="27542" y="-8604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C6DFDEA-B7EF-EBD5-D496-5A68FD7FFAD5}"/>
              </a:ext>
            </a:extLst>
          </p:cNvPr>
          <p:cNvSpPr txBox="1">
            <a:spLocks/>
          </p:cNvSpPr>
          <p:nvPr/>
        </p:nvSpPr>
        <p:spPr>
          <a:xfrm>
            <a:off x="228600" y="873204"/>
            <a:ext cx="8624937" cy="49705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Open Banking Reference Architecture</a:t>
            </a:r>
          </a:p>
          <a:p>
            <a:pPr marL="12700" marR="5080"/>
            <a:r>
              <a:rPr lang="en-IN" sz="2000" kern="0" spc="-80" dirty="0">
                <a:solidFill>
                  <a:schemeClr val="accent2"/>
                </a:solidFill>
              </a:rPr>
              <a:t>🚀 Future Trends – “Open Finance” and “Open Data”</a:t>
            </a:r>
            <a:br>
              <a:rPr lang="en-IN" sz="1350" kern="0" spc="-80" dirty="0">
                <a:solidFill>
                  <a:schemeClr val="accent6"/>
                </a:solidFill>
              </a:rPr>
            </a:br>
            <a:r>
              <a:rPr lang="en-IN" sz="1350" kern="0" spc="-80" dirty="0">
                <a:solidFill>
                  <a:schemeClr val="accent2"/>
                </a:solidFill>
              </a:rPr>
              <a:t>Open Finance:</a:t>
            </a:r>
            <a:r>
              <a:rPr lang="en-IN" sz="1350" kern="0" spc="-80" dirty="0">
                <a:solidFill>
                  <a:schemeClr val="accent6"/>
                </a:solidFill>
              </a:rPr>
              <a:t> Expansion to insurance, pensions, investments.</a:t>
            </a:r>
            <a:br>
              <a:rPr lang="en-IN" sz="1350" kern="0" spc="-80" dirty="0">
                <a:solidFill>
                  <a:schemeClr val="accent6"/>
                </a:solidFill>
              </a:rPr>
            </a:br>
            <a:r>
              <a:rPr lang="en-IN" sz="1350" kern="0" spc="-80" dirty="0">
                <a:solidFill>
                  <a:schemeClr val="accent2"/>
                </a:solidFill>
              </a:rPr>
              <a:t>Open Data Economy: </a:t>
            </a:r>
            <a:r>
              <a:rPr lang="en-IN" sz="1350" kern="0" spc="-80" dirty="0">
                <a:solidFill>
                  <a:schemeClr val="accent6"/>
                </a:solidFill>
              </a:rPr>
              <a:t>Cross-sectoral data sharing (telco, energy, health).</a:t>
            </a:r>
            <a:br>
              <a:rPr lang="en-IN" sz="1350" kern="0" spc="-80" dirty="0">
                <a:solidFill>
                  <a:schemeClr val="accent6"/>
                </a:solidFill>
              </a:rPr>
            </a:br>
            <a:r>
              <a:rPr lang="en-IN" sz="1350" kern="0" spc="-80" dirty="0">
                <a:solidFill>
                  <a:schemeClr val="accent2"/>
                </a:solidFill>
              </a:rPr>
              <a:t>Decentralized Identity (DID): </a:t>
            </a:r>
            <a:r>
              <a:rPr lang="en-IN" sz="1350" kern="0" spc="-80" dirty="0">
                <a:solidFill>
                  <a:schemeClr val="accent6"/>
                </a:solidFill>
              </a:rPr>
              <a:t>User-controlled digital identity.</a:t>
            </a:r>
            <a:br>
              <a:rPr lang="en-IN" sz="1350" kern="0" spc="-80" dirty="0">
                <a:solidFill>
                  <a:schemeClr val="accent6"/>
                </a:solidFill>
              </a:rPr>
            </a:br>
            <a:r>
              <a:rPr lang="en-IN" sz="1350" kern="0" spc="-80" dirty="0">
                <a:solidFill>
                  <a:schemeClr val="accent2"/>
                </a:solidFill>
              </a:rPr>
              <a:t>AI-driven Personalization:</a:t>
            </a:r>
            <a:r>
              <a:rPr lang="en-IN" sz="1350" kern="0" spc="-80" dirty="0">
                <a:solidFill>
                  <a:schemeClr val="accent6"/>
                </a:solidFill>
              </a:rPr>
              <a:t> Financial AI assistants using open banking data.</a:t>
            </a:r>
            <a:br>
              <a:rPr lang="en-IN" sz="1350" kern="0" spc="-80" dirty="0">
                <a:solidFill>
                  <a:schemeClr val="accent6"/>
                </a:solidFill>
              </a:rPr>
            </a:br>
            <a:r>
              <a:rPr lang="en-IN" sz="1350" kern="0" spc="-80" dirty="0">
                <a:solidFill>
                  <a:schemeClr val="accent2"/>
                </a:solidFill>
              </a:rPr>
              <a:t>Embedded Finance: </a:t>
            </a:r>
            <a:r>
              <a:rPr lang="en-IN" sz="1350" kern="0" spc="-80" dirty="0">
                <a:solidFill>
                  <a:schemeClr val="accent6"/>
                </a:solidFill>
              </a:rPr>
              <a:t>Banking integrated into e-commerce, ride-sharing, etc.</a:t>
            </a:r>
            <a:br>
              <a:rPr lang="en-IN" sz="1350" kern="0" spc="-80" dirty="0">
                <a:solidFill>
                  <a:schemeClr val="accent6"/>
                </a:solidFill>
              </a:rPr>
            </a:br>
            <a:r>
              <a:rPr lang="en-IN" sz="1350" kern="0" spc="-80" dirty="0">
                <a:solidFill>
                  <a:schemeClr val="accent2"/>
                </a:solidFill>
              </a:rPr>
              <a:t>Real-time Payment APIs: </a:t>
            </a:r>
            <a:r>
              <a:rPr lang="en-IN" sz="1350" kern="0" spc="-80" dirty="0">
                <a:solidFill>
                  <a:schemeClr val="accent6"/>
                </a:solidFill>
              </a:rPr>
              <a:t>Instant settlements (UPI, RTP, </a:t>
            </a:r>
            <a:r>
              <a:rPr lang="en-IN" sz="1350" kern="0" spc="-80" dirty="0" err="1">
                <a:solidFill>
                  <a:schemeClr val="accent6"/>
                </a:solidFill>
              </a:rPr>
              <a:t>FedNow</a:t>
            </a:r>
            <a:r>
              <a:rPr lang="en-IN" sz="1350" kern="0" spc="-80" dirty="0">
                <a:solidFill>
                  <a:schemeClr val="accent6"/>
                </a:solidFill>
              </a:rPr>
              <a:t>).</a:t>
            </a:r>
          </a:p>
          <a:p>
            <a:pPr marL="12700" marR="5080"/>
            <a:endParaRPr lang="en-IN" sz="1350" kern="0" spc="-80" dirty="0">
              <a:solidFill>
                <a:schemeClr val="accent6"/>
              </a:solidFill>
            </a:endParaRPr>
          </a:p>
          <a:p>
            <a:pPr marL="12700" marR="5080"/>
            <a:endParaRPr lang="en-IN" sz="1350" kern="0" spc="-80" dirty="0">
              <a:solidFill>
                <a:schemeClr val="accent6"/>
              </a:solidFill>
            </a:endParaRPr>
          </a:p>
          <a:p>
            <a:pPr marL="12700" marR="5080"/>
            <a:endParaRPr lang="en-IN" sz="1350" kern="0" spc="-80" dirty="0">
              <a:solidFill>
                <a:schemeClr val="accent6"/>
              </a:solidFill>
            </a:endParaRPr>
          </a:p>
          <a:p>
            <a:pPr marL="12700" marR="5080"/>
            <a:endParaRPr lang="en-IN" sz="1350" kern="0" spc="-80" dirty="0">
              <a:solidFill>
                <a:schemeClr val="accent6"/>
              </a:solidFill>
            </a:endParaRPr>
          </a:p>
          <a:p>
            <a:pPr marL="12700" marR="5080"/>
            <a:r>
              <a:rPr lang="en-IN" sz="1800" kern="0" spc="-80" dirty="0">
                <a:solidFill>
                  <a:schemeClr val="accent2"/>
                </a:solidFill>
              </a:rPr>
              <a:t>For Further Exploration</a:t>
            </a:r>
          </a:p>
          <a:p>
            <a:pPr marL="12700" marR="5080"/>
            <a:r>
              <a:rPr lang="en-US" sz="1800" dirty="0">
                <a:hlinkClick r:id="rId7"/>
              </a:rPr>
              <a:t>What Is Open Banking? | Open Banking APIs | Software AG</a:t>
            </a:r>
            <a:endParaRPr lang="en-US" sz="1800" dirty="0"/>
          </a:p>
          <a:p>
            <a:pPr marL="12700" marR="5080"/>
            <a:r>
              <a:rPr lang="en-US" sz="1800" dirty="0">
                <a:hlinkClick r:id="rId8"/>
              </a:rPr>
              <a:t>How to Build an Open Banking Architecture That Scales</a:t>
            </a:r>
            <a:endParaRPr lang="en-IN" sz="1800" kern="0" spc="-80" dirty="0">
              <a:solidFill>
                <a:schemeClr val="accent2"/>
              </a:solidFill>
            </a:endParaRPr>
          </a:p>
          <a:p>
            <a:pPr marL="12700" marR="5080"/>
            <a:r>
              <a:rPr lang="en-US" sz="1800" dirty="0">
                <a:hlinkClick r:id="rId9"/>
              </a:rPr>
              <a:t>What are open banking providers (AISP &amp; PISP) | GoCardless</a:t>
            </a:r>
            <a:endParaRPr lang="en-US" sz="1800" dirty="0"/>
          </a:p>
          <a:p>
            <a:pPr marL="12700" marR="5080"/>
            <a:r>
              <a:rPr lang="en-US" sz="1800" dirty="0">
                <a:hlinkClick r:id="rId10"/>
              </a:rPr>
              <a:t>A Blueprint for Robust Consent Management</a:t>
            </a:r>
            <a:endParaRPr lang="en-US" sz="1800" dirty="0"/>
          </a:p>
          <a:p>
            <a:pPr marL="12700" marR="5080"/>
            <a:r>
              <a:rPr lang="en-US" sz="1800" dirty="0">
                <a:hlinkClick r:id="rId11"/>
              </a:rPr>
              <a:t>Overview of permissions and consent in the Microsoft identity platform</a:t>
            </a:r>
            <a:endParaRPr lang="en-US" sz="1800" dirty="0"/>
          </a:p>
          <a:p>
            <a:pPr marL="12700" marR="5080"/>
            <a:r>
              <a:rPr lang="en-US" sz="1800" dirty="0">
                <a:hlinkClick r:id="rId12"/>
              </a:rPr>
              <a:t>Application consent management and evaluation of consent requests</a:t>
            </a:r>
            <a:endParaRPr lang="en-US" sz="1800" dirty="0"/>
          </a:p>
          <a:p>
            <a:pPr marL="12700" marR="5080"/>
            <a:r>
              <a:rPr lang="en-US" sz="1800" dirty="0">
                <a:hlinkClick r:id="rId13"/>
              </a:rPr>
              <a:t>The PAYTECH Book</a:t>
            </a:r>
            <a:endParaRPr lang="en-US" sz="1800" dirty="0"/>
          </a:p>
        </p:txBody>
      </p:sp>
    </p:spTree>
    <p:extLst>
      <p:ext uri="{BB962C8B-B14F-4D97-AF65-F5344CB8AC3E}">
        <p14:creationId xmlns:p14="http://schemas.microsoft.com/office/powerpoint/2010/main" val="114841130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53A02-58F1-EFE2-765C-6D1EF0C81EB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94284A8-E951-E64C-95BD-7F817BA61988}"/>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9325772-E0DB-2F5F-07D5-A12C4F5D55DA}"/>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FE1192D-A268-C86A-2917-EDE2DF89DC76}"/>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7F8D8C2-4EF9-69EF-269B-DE6211D35E2E}"/>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Insurance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5211505-058E-A7C9-4CB7-704E4B2E0904}"/>
              </a:ext>
            </a:extLst>
          </p:cNvPr>
          <p:cNvSpPr txBox="1">
            <a:spLocks/>
          </p:cNvSpPr>
          <p:nvPr/>
        </p:nvSpPr>
        <p:spPr>
          <a:xfrm>
            <a:off x="76200" y="4446423"/>
            <a:ext cx="8624937" cy="161582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p>
          <a:p>
            <a:pPr marL="12700" marR="5080"/>
            <a:r>
              <a:rPr lang="en-IN" sz="1000" dirty="0">
                <a:hlinkClick r:id="rId7"/>
              </a:rPr>
              <a:t>Insurance industry | IBM Cloud Docs</a:t>
            </a:r>
            <a:endParaRPr lang="en-US" sz="1000" kern="0" spc="-80" dirty="0">
              <a:solidFill>
                <a:schemeClr val="accent2"/>
              </a:solidFill>
            </a:endParaRPr>
          </a:p>
          <a:p>
            <a:pPr marL="12700" marR="5080"/>
            <a:r>
              <a:rPr lang="en-US" sz="1000" dirty="0">
                <a:hlinkClick r:id="rId8"/>
              </a:rPr>
              <a:t>Insurance Framework | Business Architecture Info</a:t>
            </a:r>
            <a:endParaRPr lang="en-US" sz="1000" dirty="0"/>
          </a:p>
          <a:p>
            <a:pPr marL="12700" marR="5080"/>
            <a:r>
              <a:rPr lang="en-US" sz="1000" dirty="0">
                <a:hlinkClick r:id="rId9"/>
              </a:rPr>
              <a:t>Insurance claim processing reference architecture | Google Cloud Blog</a:t>
            </a:r>
            <a:endParaRPr lang="en-US" sz="1000" dirty="0"/>
          </a:p>
          <a:p>
            <a:pPr marL="12700" marR="5080"/>
            <a:r>
              <a:rPr lang="en-US" sz="1000" dirty="0">
                <a:hlinkClick r:id="rId10"/>
              </a:rPr>
              <a:t>Life and Annuity Insurance Industry Business Reference Architecture | Info-Tech Research Group</a:t>
            </a:r>
            <a:endParaRPr lang="en-US" sz="1000" kern="0" spc="-80" dirty="0">
              <a:solidFill>
                <a:schemeClr val="accent2"/>
              </a:solidFill>
            </a:endParaRPr>
          </a:p>
          <a:p>
            <a:pPr marL="12700" marR="5080"/>
            <a:r>
              <a:rPr lang="en-IN" sz="1000" dirty="0">
                <a:hlinkClick r:id="rId11"/>
              </a:rPr>
              <a:t>ACORD Reference Architecture</a:t>
            </a:r>
            <a:endParaRPr lang="en-IN" sz="1000" dirty="0"/>
          </a:p>
          <a:p>
            <a:pPr marL="12700" marR="5080"/>
            <a:r>
              <a:rPr lang="en-US" sz="1000" dirty="0">
                <a:hlinkClick r:id="rId12"/>
              </a:rPr>
              <a:t>Importance of Enterprise Reference Architecture for Insurance | LinkedIn</a:t>
            </a:r>
            <a:endParaRPr lang="en-US" sz="1000" dirty="0"/>
          </a:p>
          <a:p>
            <a:pPr marL="12700" marR="5080"/>
            <a:r>
              <a:rPr lang="en-IN" sz="1000" dirty="0">
                <a:hlinkClick r:id="rId13"/>
              </a:rPr>
              <a:t>Towards a Microservice Reference Architecture for Insurance Comps</a:t>
            </a:r>
            <a:endParaRPr lang="en-IN" sz="1000" dirty="0"/>
          </a:p>
          <a:p>
            <a:pPr marL="12700" marR="5080"/>
            <a:r>
              <a:rPr lang="en-IN" sz="1000" dirty="0">
                <a:hlinkClick r:id="rId14"/>
              </a:rPr>
              <a:t>Life Insurance &amp; Annuities Digital Transformation | Cognizant</a:t>
            </a:r>
            <a:endParaRPr lang="en-IN" sz="1000" dirty="0"/>
          </a:p>
          <a:p>
            <a:pPr marL="12700" marR="5080"/>
            <a:endParaRPr lang="en-US" sz="1000" kern="0" spc="-80" dirty="0">
              <a:solidFill>
                <a:schemeClr val="accent2"/>
              </a:solidFill>
            </a:endParaRPr>
          </a:p>
        </p:txBody>
      </p:sp>
      <p:pic>
        <p:nvPicPr>
          <p:cNvPr id="1028" name="Picture 4">
            <a:extLst>
              <a:ext uri="{FF2B5EF4-FFF2-40B4-BE49-F238E27FC236}">
                <a16:creationId xmlns:a16="http://schemas.microsoft.com/office/drawing/2014/main" id="{A18C29A3-9E48-F0B6-6865-77837DC9CC9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1219200"/>
            <a:ext cx="9144000" cy="3227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234830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B6F7F-6107-A376-9DC2-C413CA85EF8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7A23D76-C8C5-E4B8-99A8-AFBB761A9FC5}"/>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3DFF4DE-3B15-72F3-839D-284D33966F97}"/>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9214DA6-8E66-7C49-1E3B-D4D9291859AD}"/>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BAE3E8E-38B7-B602-10FD-AD5D94DBF4DF}"/>
              </a:ext>
            </a:extLst>
          </p:cNvPr>
          <p:cNvSpPr txBox="1">
            <a:spLocks/>
          </p:cNvSpPr>
          <p:nvPr/>
        </p:nvSpPr>
        <p:spPr>
          <a:xfrm>
            <a:off x="228600" y="873204"/>
            <a:ext cx="8624937" cy="536300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Embedded Finance Reference Architecture</a:t>
            </a:r>
          </a:p>
          <a:p>
            <a:pPr marL="12700" marR="5080"/>
            <a:r>
              <a:rPr lang="en-US" sz="2000" kern="0" spc="-80" dirty="0">
                <a:solidFill>
                  <a:schemeClr val="accent2"/>
                </a:solidFill>
              </a:rPr>
              <a:t>High-Level Logical Architecture</a:t>
            </a:r>
          </a:p>
          <a:p>
            <a:pPr marL="12700" marR="5080"/>
            <a:r>
              <a:rPr lang="en-US" sz="1050" kern="0" spc="-80" dirty="0">
                <a:solidFill>
                  <a:schemeClr val="accent6"/>
                </a:solidFill>
              </a:rPr>
              <a:t>┌──────────────────────────────────────────────┐</a:t>
            </a:r>
          </a:p>
          <a:p>
            <a:pPr marL="12700" marR="5080"/>
            <a:r>
              <a:rPr lang="en-US" sz="1050" kern="0" spc="-80" dirty="0">
                <a:solidFill>
                  <a:schemeClr val="accent6"/>
                </a:solidFill>
              </a:rPr>
              <a:t>│                  Client Apps                 │</a:t>
            </a:r>
          </a:p>
          <a:p>
            <a:pPr marL="12700" marR="5080"/>
            <a:r>
              <a:rPr lang="en-US" sz="1050" kern="0" spc="-80" dirty="0">
                <a:solidFill>
                  <a:schemeClr val="accent6"/>
                </a:solidFill>
              </a:rPr>
              <a:t>│ (Mobile, Web, Partner Portals, POS, IoT)     │</a:t>
            </a:r>
          </a:p>
          <a:p>
            <a:pPr marL="12700" marR="5080"/>
            <a:r>
              <a:rPr lang="en-US" sz="1050" kern="0" spc="-80" dirty="0">
                <a:solidFill>
                  <a:schemeClr val="accent6"/>
                </a:solidFill>
              </a:rPr>
              <a:t>└──────────────────────────────────────────────┘</a:t>
            </a:r>
          </a:p>
          <a:p>
            <a:pPr marL="12700" marR="5080"/>
            <a:r>
              <a:rPr lang="en-US" sz="1050" kern="0" spc="-80" dirty="0">
                <a:solidFill>
                  <a:schemeClr val="accent6"/>
                </a:solidFill>
              </a:rPr>
              <a:t>                                                                      │ API Gateway</a:t>
            </a:r>
          </a:p>
          <a:p>
            <a:pPr marL="12700" marR="5080"/>
            <a:r>
              <a:rPr lang="en-US" sz="1050" kern="0" spc="-80" dirty="0">
                <a:solidFill>
                  <a:schemeClr val="accent6"/>
                </a:solidFill>
              </a:rPr>
              <a:t>                                                                      ▼</a:t>
            </a:r>
          </a:p>
          <a:p>
            <a:pPr marL="12700" marR="5080"/>
            <a:r>
              <a:rPr lang="en-US" sz="1050" kern="0" spc="-80" dirty="0">
                <a:solidFill>
                  <a:schemeClr val="accent6"/>
                </a:solidFill>
              </a:rPr>
              <a:t>┌──────────────────────────────────────────────┐</a:t>
            </a:r>
          </a:p>
          <a:p>
            <a:pPr marL="12700" marR="5080"/>
            <a:r>
              <a:rPr lang="en-US" sz="1050" kern="0" spc="-80" dirty="0">
                <a:solidFill>
                  <a:schemeClr val="accent6"/>
                </a:solidFill>
              </a:rPr>
              <a:t>│               API Aggregation Layer           │</a:t>
            </a:r>
          </a:p>
          <a:p>
            <a:pPr marL="12700" marR="5080"/>
            <a:r>
              <a:rPr lang="en-US" sz="1050" kern="0" spc="-80" dirty="0">
                <a:solidFill>
                  <a:schemeClr val="accent6"/>
                </a:solidFill>
              </a:rPr>
              <a:t>│  (BFF, Orchestration, Rate Limiting, JWT)     │</a:t>
            </a:r>
          </a:p>
          <a:p>
            <a:pPr marL="12700" marR="5080"/>
            <a:r>
              <a:rPr lang="en-US" sz="1050" kern="0" spc="-80" dirty="0">
                <a:solidFill>
                  <a:schemeClr val="accent6"/>
                </a:solidFill>
              </a:rPr>
              <a:t>└──────────────────────────────────────────────┘</a:t>
            </a:r>
          </a:p>
          <a:p>
            <a:pPr marL="12700" marR="5080"/>
            <a:r>
              <a:rPr lang="en-US" sz="1050" kern="0" spc="-80" dirty="0">
                <a:solidFill>
                  <a:schemeClr val="accent6"/>
                </a:solidFill>
              </a:rPr>
              <a:t>                                                                      │</a:t>
            </a:r>
          </a:p>
          <a:p>
            <a:pPr marL="12700" marR="5080"/>
            <a:r>
              <a:rPr lang="en-US" sz="1050" kern="0" spc="-80" dirty="0">
                <a:solidFill>
                  <a:schemeClr val="accent6"/>
                </a:solidFill>
              </a:rPr>
              <a:t>            ┌───────────────┬───────────────┐</a:t>
            </a:r>
          </a:p>
          <a:p>
            <a:pPr marL="12700" marR="5080"/>
            <a:r>
              <a:rPr lang="en-US" sz="1050" kern="0" spc="-80" dirty="0">
                <a:solidFill>
                  <a:schemeClr val="accent6"/>
                </a:solidFill>
              </a:rPr>
              <a:t>            ▼               ▼               ▼</a:t>
            </a:r>
          </a:p>
          <a:p>
            <a:pPr marL="12700" marR="5080"/>
            <a:r>
              <a:rPr lang="en-US" sz="1050" kern="0" spc="-80" dirty="0">
                <a:solidFill>
                  <a:schemeClr val="accent6"/>
                </a:solidFill>
              </a:rPr>
              <a:t>   Payments Engine    Wallet Engine      Lending Engine</a:t>
            </a:r>
          </a:p>
          <a:p>
            <a:pPr marL="12700" marR="5080"/>
            <a:r>
              <a:rPr lang="en-US" sz="1050" kern="0" spc="-80" dirty="0">
                <a:solidFill>
                  <a:schemeClr val="accent6"/>
                </a:solidFill>
              </a:rPr>
              <a:t>   Insurance Engine   Compliance Engine  Cards Engine</a:t>
            </a:r>
          </a:p>
          <a:p>
            <a:pPr marL="12700" marR="5080"/>
            <a:r>
              <a:rPr lang="en-US" sz="1050" kern="0" spc="-80" dirty="0">
                <a:solidFill>
                  <a:schemeClr val="accent6"/>
                </a:solidFill>
              </a:rPr>
              <a:t>            │               │               │</a:t>
            </a:r>
          </a:p>
          <a:p>
            <a:pPr marL="12700" marR="5080"/>
            <a:r>
              <a:rPr lang="en-US" sz="1050" kern="0" spc="-80" dirty="0">
                <a:solidFill>
                  <a:schemeClr val="accent6"/>
                </a:solidFill>
              </a:rPr>
              <a:t>            └───────────────┴───────────────┘</a:t>
            </a:r>
          </a:p>
          <a:p>
            <a:pPr marL="12700" marR="5080"/>
            <a:r>
              <a:rPr lang="en-US" sz="1050" kern="0" spc="-80" dirty="0">
                <a:solidFill>
                  <a:schemeClr val="accent6"/>
                </a:solidFill>
              </a:rPr>
              <a:t>                                                                      │</a:t>
            </a:r>
          </a:p>
          <a:p>
            <a:pPr marL="12700" marR="5080"/>
            <a:r>
              <a:rPr lang="en-US" sz="1050" kern="0" spc="-80" dirty="0">
                <a:solidFill>
                  <a:schemeClr val="accent6"/>
                </a:solidFill>
              </a:rPr>
              <a:t>┌─────────────────────────────────────────┐</a:t>
            </a:r>
          </a:p>
          <a:p>
            <a:pPr marL="12700" marR="5080"/>
            <a:r>
              <a:rPr lang="en-US" sz="1050" kern="0" spc="-80" dirty="0">
                <a:solidFill>
                  <a:schemeClr val="accent6"/>
                </a:solidFill>
              </a:rPr>
              <a:t>       │        Core Financial Services          │</a:t>
            </a:r>
          </a:p>
          <a:p>
            <a:pPr marL="12700" marR="5080"/>
            <a:r>
              <a:rPr lang="en-US" sz="1050" kern="0" spc="-80" dirty="0">
                <a:solidFill>
                  <a:schemeClr val="accent6"/>
                </a:solidFill>
              </a:rPr>
              <a:t>       │ (BaaS Banks, Payment Rails, Credit APIs)│</a:t>
            </a:r>
          </a:p>
          <a:p>
            <a:pPr marL="12700" marR="5080"/>
            <a:r>
              <a:rPr lang="en-US" sz="1050" kern="0" spc="-80" dirty="0">
                <a:solidFill>
                  <a:schemeClr val="accent6"/>
                </a:solidFill>
              </a:rPr>
              <a:t>       │   (UPI, RTGS/NEFT, ACH, Visa, NPCI)     │</a:t>
            </a:r>
          </a:p>
          <a:p>
            <a:pPr marL="12700" marR="5080"/>
            <a:r>
              <a:rPr lang="en-US" sz="1050" kern="0" spc="-80" dirty="0">
                <a:solidFill>
                  <a:schemeClr val="accent6"/>
                </a:solidFill>
              </a:rPr>
              <a:t>       └─────────────────────────────────────────┘</a:t>
            </a:r>
          </a:p>
          <a:p>
            <a:pPr marL="12700" marR="5080"/>
            <a:r>
              <a:rPr lang="en-US" sz="1050" kern="0" spc="-80" dirty="0">
                <a:solidFill>
                  <a:schemeClr val="accent6"/>
                </a:solidFill>
              </a:rPr>
              <a:t>                                                                     │</a:t>
            </a:r>
          </a:p>
          <a:p>
            <a:pPr marL="12700" marR="5080"/>
            <a:r>
              <a:rPr lang="en-US" sz="1050" kern="0" spc="-80" dirty="0">
                <a:solidFill>
                  <a:schemeClr val="accent6"/>
                </a:solidFill>
              </a:rPr>
              <a:t>                                                                     ▼</a:t>
            </a:r>
          </a:p>
          <a:p>
            <a:pPr marL="12700" marR="5080"/>
            <a:r>
              <a:rPr lang="en-US" sz="1050" kern="0" spc="-80" dirty="0">
                <a:solidFill>
                  <a:schemeClr val="accent6"/>
                </a:solidFill>
              </a:rPr>
              <a:t>       ┌─────────────────────────────────────────┐</a:t>
            </a:r>
          </a:p>
          <a:p>
            <a:pPr marL="12700" marR="5080"/>
            <a:r>
              <a:rPr lang="en-US" sz="1050" kern="0" spc="-80" dirty="0">
                <a:solidFill>
                  <a:schemeClr val="accent6"/>
                </a:solidFill>
              </a:rPr>
              <a:t>                                 │ Shared Infra: Events, Logs, Vault, KMS  │</a:t>
            </a:r>
          </a:p>
          <a:p>
            <a:pPr marL="12700" marR="5080"/>
            <a:r>
              <a:rPr lang="en-US" sz="1050" kern="0" spc="-80" dirty="0">
                <a:solidFill>
                  <a:schemeClr val="accent6"/>
                </a:solidFill>
              </a:rPr>
              <a:t>       └─────────────────────────────────────────┘</a:t>
            </a:r>
          </a:p>
          <a:p>
            <a:pPr marL="12700" marR="5080"/>
            <a:endParaRPr lang="en-US" sz="1050" kern="0" spc="-80" dirty="0">
              <a:solidFill>
                <a:schemeClr val="accent6"/>
              </a:solidFill>
            </a:endParaRPr>
          </a:p>
        </p:txBody>
      </p:sp>
    </p:spTree>
    <p:extLst>
      <p:ext uri="{BB962C8B-B14F-4D97-AF65-F5344CB8AC3E}">
        <p14:creationId xmlns:p14="http://schemas.microsoft.com/office/powerpoint/2010/main" val="160273701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749E1-72C0-B682-6355-F61A10134FE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6C6A944-7A16-13EE-EED4-C92004B5326C}"/>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E512E4F-6D7C-569F-8A5A-4C9248F17B94}"/>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B16A892-32CC-0073-B32C-4B3E3147E90C}"/>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CF01B48-54AB-8F31-C7C5-F4CA48128CE3}"/>
              </a:ext>
            </a:extLst>
          </p:cNvPr>
          <p:cNvSpPr txBox="1">
            <a:spLocks/>
          </p:cNvSpPr>
          <p:nvPr/>
        </p:nvSpPr>
        <p:spPr>
          <a:xfrm>
            <a:off x="228600" y="873204"/>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Embedded Finance Reference Architecture</a:t>
            </a:r>
          </a:p>
          <a:p>
            <a:pPr marL="12700" marR="5080"/>
            <a:r>
              <a:rPr lang="en-US" sz="1200" kern="0" spc="-80" dirty="0">
                <a:solidFill>
                  <a:schemeClr val="accent2"/>
                </a:solidFill>
              </a:rPr>
              <a:t>✅ What is Embedded Finance?</a:t>
            </a:r>
          </a:p>
          <a:p>
            <a:pPr marL="12700" marR="5080"/>
            <a:r>
              <a:rPr lang="en-US" sz="1200" kern="0" spc="-80" dirty="0">
                <a:solidFill>
                  <a:schemeClr val="accent6"/>
                </a:solidFill>
              </a:rPr>
              <a:t>Embedded finance = integrating financial services directly inside non-financial apps, platforms, and products—so users get financial functionality without going to a bank.</a:t>
            </a:r>
          </a:p>
          <a:p>
            <a:pPr marL="12700" marR="5080"/>
            <a:r>
              <a:rPr lang="en-US" sz="1200" kern="0" spc="-80" dirty="0">
                <a:solidFill>
                  <a:schemeClr val="accent2"/>
                </a:solidFill>
              </a:rPr>
              <a:t>Examples:</a:t>
            </a:r>
          </a:p>
          <a:p>
            <a:pPr marL="12700" marR="5080"/>
            <a:r>
              <a:rPr lang="en-US" sz="1200" kern="0" spc="-80" dirty="0">
                <a:solidFill>
                  <a:schemeClr val="accent6"/>
                </a:solidFill>
              </a:rPr>
              <a:t>Uber → driver wallets + instant payouts</a:t>
            </a:r>
          </a:p>
          <a:p>
            <a:pPr marL="12700" marR="5080"/>
            <a:r>
              <a:rPr lang="en-US" sz="1200" kern="0" spc="-80" dirty="0">
                <a:solidFill>
                  <a:schemeClr val="accent6"/>
                </a:solidFill>
              </a:rPr>
              <a:t>Amazon → pay-later, EMI, insurance during checkout</a:t>
            </a:r>
          </a:p>
          <a:p>
            <a:pPr marL="12700" marR="5080"/>
            <a:r>
              <a:rPr lang="en-US" sz="1200" kern="0" spc="-80" dirty="0" err="1">
                <a:solidFill>
                  <a:schemeClr val="accent6"/>
                </a:solidFill>
              </a:rPr>
              <a:t>Dunzo</a:t>
            </a:r>
            <a:r>
              <a:rPr lang="en-US" sz="1200" kern="0" spc="-80" dirty="0">
                <a:solidFill>
                  <a:schemeClr val="accent6"/>
                </a:solidFill>
              </a:rPr>
              <a:t>/Swiggy/Zomato → delivery partner cards + payouts</a:t>
            </a:r>
          </a:p>
          <a:p>
            <a:pPr marL="12700" marR="5080"/>
            <a:r>
              <a:rPr lang="en-US" sz="1200" kern="0" spc="-80" dirty="0">
                <a:solidFill>
                  <a:schemeClr val="accent6"/>
                </a:solidFill>
              </a:rPr>
              <a:t>Shopify → merchant banking, loans</a:t>
            </a:r>
          </a:p>
          <a:p>
            <a:pPr marL="12700" marR="5080"/>
            <a:r>
              <a:rPr lang="en-US" sz="1200" kern="0" spc="-80" dirty="0">
                <a:solidFill>
                  <a:schemeClr val="accent6"/>
                </a:solidFill>
              </a:rPr>
              <a:t>Ola Money → wallet + credit</a:t>
            </a:r>
          </a:p>
          <a:p>
            <a:pPr marL="12700" marR="5080"/>
            <a:r>
              <a:rPr lang="en-US" sz="1200" kern="0" spc="-80" dirty="0">
                <a:solidFill>
                  <a:schemeClr val="accent6"/>
                </a:solidFill>
              </a:rPr>
              <a:t>Apple Pay / Google Pay → embedded payments</a:t>
            </a:r>
          </a:p>
          <a:p>
            <a:pPr marL="12700" marR="5080"/>
            <a:r>
              <a:rPr lang="en-US" sz="1200" kern="0" spc="-80" dirty="0">
                <a:solidFill>
                  <a:schemeClr val="accent6"/>
                </a:solidFill>
              </a:rPr>
              <a:t>Flipkart → product insurance + Buy Now Pay Later</a:t>
            </a:r>
          </a:p>
          <a:p>
            <a:pPr marL="12700" marR="5080"/>
            <a:endParaRPr lang="en-US" sz="1200" kern="0" spc="-80" dirty="0">
              <a:solidFill>
                <a:schemeClr val="accent6"/>
              </a:solidFill>
            </a:endParaRPr>
          </a:p>
          <a:p>
            <a:pPr marL="12700" marR="5080"/>
            <a:r>
              <a:rPr lang="en-US" sz="1200" kern="0" spc="-80" dirty="0">
                <a:solidFill>
                  <a:schemeClr val="accent2"/>
                </a:solidFill>
              </a:rPr>
              <a:t>⭐ Key Modules of Embedded Finance</a:t>
            </a:r>
          </a:p>
          <a:p>
            <a:pPr marL="12700" marR="5080"/>
            <a:r>
              <a:rPr lang="en-US" sz="1200" kern="0" spc="-80" dirty="0">
                <a:solidFill>
                  <a:schemeClr val="accent2"/>
                </a:solidFill>
              </a:rPr>
              <a:t>Embedded finance typically includes:</a:t>
            </a:r>
          </a:p>
          <a:p>
            <a:pPr marL="12700" marR="5080"/>
            <a:r>
              <a:rPr lang="en-US" sz="1200" kern="0" spc="-80" dirty="0">
                <a:solidFill>
                  <a:schemeClr val="accent6"/>
                </a:solidFill>
              </a:rPr>
              <a:t>Embedded Payments</a:t>
            </a:r>
          </a:p>
          <a:p>
            <a:pPr marL="12700" marR="5080"/>
            <a:r>
              <a:rPr lang="en-US" sz="1200" kern="0" spc="-80" dirty="0">
                <a:solidFill>
                  <a:schemeClr val="accent6"/>
                </a:solidFill>
              </a:rPr>
              <a:t>Embedded Lending (BNPL, micro-loans, EMI)</a:t>
            </a:r>
          </a:p>
          <a:p>
            <a:pPr marL="12700" marR="5080"/>
            <a:r>
              <a:rPr lang="en-US" sz="1200" kern="0" spc="-80" dirty="0">
                <a:solidFill>
                  <a:schemeClr val="accent6"/>
                </a:solidFill>
              </a:rPr>
              <a:t>Embedded Insurance</a:t>
            </a:r>
          </a:p>
          <a:p>
            <a:pPr marL="12700" marR="5080"/>
            <a:r>
              <a:rPr lang="en-US" sz="1200" kern="0" spc="-80" dirty="0">
                <a:solidFill>
                  <a:schemeClr val="accent6"/>
                </a:solidFill>
              </a:rPr>
              <a:t>Embedded Banking (wallets, accounts, cards)</a:t>
            </a:r>
          </a:p>
          <a:p>
            <a:pPr marL="12700" marR="5080"/>
            <a:r>
              <a:rPr lang="en-US" sz="1200" kern="0" spc="-80" dirty="0">
                <a:solidFill>
                  <a:schemeClr val="accent6"/>
                </a:solidFill>
              </a:rPr>
              <a:t>Embedded Investments (mutual funds, stocks)</a:t>
            </a:r>
          </a:p>
          <a:p>
            <a:pPr marL="12700" marR="5080"/>
            <a:r>
              <a:rPr lang="en-US" sz="1200" kern="0" spc="-80" dirty="0">
                <a:solidFill>
                  <a:schemeClr val="accent6"/>
                </a:solidFill>
              </a:rPr>
              <a:t>Embedded Payroll (instant payouts)</a:t>
            </a:r>
          </a:p>
          <a:p>
            <a:pPr marL="12700" marR="5080"/>
            <a:r>
              <a:rPr lang="en-US" sz="1200" kern="0" spc="-80" dirty="0">
                <a:solidFill>
                  <a:schemeClr val="accent6"/>
                </a:solidFill>
              </a:rPr>
              <a:t>Each uses APIs + background services + compliance layers.</a:t>
            </a:r>
          </a:p>
          <a:p>
            <a:pPr marL="12700" marR="5080"/>
            <a:endParaRPr lang="en-US" sz="1200" kern="0" spc="-80" dirty="0">
              <a:solidFill>
                <a:schemeClr val="accent6"/>
              </a:solidFill>
            </a:endParaRPr>
          </a:p>
        </p:txBody>
      </p:sp>
    </p:spTree>
    <p:extLst>
      <p:ext uri="{BB962C8B-B14F-4D97-AF65-F5344CB8AC3E}">
        <p14:creationId xmlns:p14="http://schemas.microsoft.com/office/powerpoint/2010/main" val="226486860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83829-AAD2-4F61-3E8C-FE2C81BEBEC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135DEAD-8F84-4512-6C09-1B6ED1BA94B8}"/>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7025960-5F2E-2656-44F9-644D2B4D5FF4}"/>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3F14D32-6BDD-E9C0-EED3-6D70265D9767}"/>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5B1305B-0103-C8BF-DB12-A00BBCC534A7}"/>
              </a:ext>
            </a:extLst>
          </p:cNvPr>
          <p:cNvSpPr txBox="1">
            <a:spLocks/>
          </p:cNvSpPr>
          <p:nvPr/>
        </p:nvSpPr>
        <p:spPr>
          <a:xfrm>
            <a:off x="228600" y="873204"/>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Embedded Finance Reference Architecture</a:t>
            </a:r>
          </a:p>
          <a:p>
            <a:pPr marL="12700" marR="5080"/>
            <a:r>
              <a:rPr lang="en-US" sz="1200" kern="0" spc="-80" dirty="0">
                <a:solidFill>
                  <a:schemeClr val="accent2"/>
                </a:solidFill>
              </a:rPr>
              <a:t>🧩 1. Embedded Payments</a:t>
            </a:r>
          </a:p>
          <a:p>
            <a:pPr marL="12700" marR="5080"/>
            <a:r>
              <a:rPr lang="en-US" sz="1200" kern="0" spc="-80" dirty="0">
                <a:solidFill>
                  <a:schemeClr val="accent6"/>
                </a:solidFill>
              </a:rPr>
              <a:t>Enables frictionless transactions inside the host app.</a:t>
            </a:r>
          </a:p>
          <a:p>
            <a:pPr marL="12700" marR="5080"/>
            <a:r>
              <a:rPr lang="en-US" sz="1200" kern="0" spc="-80" dirty="0">
                <a:solidFill>
                  <a:schemeClr val="accent2"/>
                </a:solidFill>
              </a:rPr>
              <a:t>🔹 Examples:</a:t>
            </a:r>
          </a:p>
          <a:p>
            <a:pPr marL="12700" marR="5080"/>
            <a:r>
              <a:rPr lang="en-US" sz="1200" kern="0" spc="-80" dirty="0">
                <a:solidFill>
                  <a:schemeClr val="accent6"/>
                </a:solidFill>
              </a:rPr>
              <a:t>UPI autopay (India)</a:t>
            </a:r>
          </a:p>
          <a:p>
            <a:pPr marL="12700" marR="5080"/>
            <a:r>
              <a:rPr lang="en-US" sz="1200" kern="0" spc="-80" dirty="0">
                <a:solidFill>
                  <a:schemeClr val="accent6"/>
                </a:solidFill>
              </a:rPr>
              <a:t>Card vaulting (Stripe)</a:t>
            </a:r>
          </a:p>
          <a:p>
            <a:pPr marL="12700" marR="5080"/>
            <a:r>
              <a:rPr lang="en-US" sz="1200" kern="0" spc="-80" dirty="0">
                <a:solidFill>
                  <a:schemeClr val="accent6"/>
                </a:solidFill>
              </a:rPr>
              <a:t>Subscription management</a:t>
            </a:r>
          </a:p>
          <a:p>
            <a:pPr marL="12700" marR="5080"/>
            <a:r>
              <a:rPr lang="en-US" sz="1200" kern="0" spc="-80" dirty="0">
                <a:solidFill>
                  <a:schemeClr val="accent6"/>
                </a:solidFill>
              </a:rPr>
              <a:t>Payouts to vendors/drivers</a:t>
            </a:r>
          </a:p>
          <a:p>
            <a:pPr marL="12700" marR="5080"/>
            <a:r>
              <a:rPr lang="en-US" sz="1200" kern="0" spc="-80" dirty="0">
                <a:solidFill>
                  <a:schemeClr val="accent2"/>
                </a:solidFill>
              </a:rPr>
              <a:t>🔹 API Architecture:</a:t>
            </a:r>
          </a:p>
          <a:p>
            <a:pPr marL="12700" marR="5080"/>
            <a:r>
              <a:rPr lang="en-US" sz="1200" kern="0" spc="-80" dirty="0">
                <a:solidFill>
                  <a:schemeClr val="accent6"/>
                </a:solidFill>
              </a:rPr>
              <a:t>Tokenization API</a:t>
            </a:r>
          </a:p>
          <a:p>
            <a:pPr marL="12700" marR="5080"/>
            <a:r>
              <a:rPr lang="en-US" sz="1200" kern="0" spc="-80" dirty="0">
                <a:solidFill>
                  <a:schemeClr val="accent6"/>
                </a:solidFill>
              </a:rPr>
              <a:t>Payment intent API</a:t>
            </a:r>
          </a:p>
          <a:p>
            <a:pPr marL="12700" marR="5080"/>
            <a:r>
              <a:rPr lang="en-US" sz="1200" kern="0" spc="-80" dirty="0">
                <a:solidFill>
                  <a:schemeClr val="accent6"/>
                </a:solidFill>
              </a:rPr>
              <a:t>Refund API</a:t>
            </a:r>
          </a:p>
          <a:p>
            <a:pPr marL="12700" marR="5080"/>
            <a:r>
              <a:rPr lang="en-US" sz="1200" kern="0" spc="-80" dirty="0">
                <a:solidFill>
                  <a:schemeClr val="accent6"/>
                </a:solidFill>
              </a:rPr>
              <a:t>Webhooks for payment status</a:t>
            </a:r>
          </a:p>
          <a:p>
            <a:pPr marL="12700" marR="5080"/>
            <a:r>
              <a:rPr lang="en-US" sz="1200" kern="0" spc="-80" dirty="0">
                <a:solidFill>
                  <a:schemeClr val="accent6"/>
                </a:solidFill>
              </a:rPr>
              <a:t>Settlement background jobs</a:t>
            </a:r>
          </a:p>
          <a:p>
            <a:pPr marL="12700" marR="5080"/>
            <a:r>
              <a:rPr lang="en-US" sz="1200" kern="0" spc="-80" dirty="0">
                <a:solidFill>
                  <a:schemeClr val="accent2"/>
                </a:solidFill>
              </a:rPr>
              <a:t>🔹 Background Services:</a:t>
            </a:r>
          </a:p>
          <a:p>
            <a:pPr marL="12700" marR="5080"/>
            <a:r>
              <a:rPr lang="en-US" sz="1200" kern="0" spc="-80" dirty="0">
                <a:solidFill>
                  <a:schemeClr val="accent6"/>
                </a:solidFill>
              </a:rPr>
              <a:t>Reconciliation worker</a:t>
            </a:r>
          </a:p>
          <a:p>
            <a:pPr marL="12700" marR="5080"/>
            <a:r>
              <a:rPr lang="en-US" sz="1200" kern="0" spc="-80" dirty="0">
                <a:solidFill>
                  <a:schemeClr val="accent6"/>
                </a:solidFill>
              </a:rPr>
              <a:t>Fraud detection ML job</a:t>
            </a:r>
          </a:p>
          <a:p>
            <a:pPr marL="12700" marR="5080"/>
            <a:r>
              <a:rPr lang="en-US" sz="1200" kern="0" spc="-80" dirty="0">
                <a:solidFill>
                  <a:schemeClr val="accent6"/>
                </a:solidFill>
              </a:rPr>
              <a:t>Chargeback workflow engine</a:t>
            </a:r>
          </a:p>
          <a:p>
            <a:pPr marL="12700" marR="5080"/>
            <a:r>
              <a:rPr lang="en-US" sz="1200" kern="0" spc="-80" dirty="0">
                <a:solidFill>
                  <a:schemeClr val="accent2"/>
                </a:solidFill>
              </a:rPr>
              <a:t>🔹 Best Providers:</a:t>
            </a:r>
          </a:p>
          <a:p>
            <a:pPr marL="12700" marR="5080"/>
            <a:r>
              <a:rPr lang="en-US" sz="1200" kern="0" spc="-80" dirty="0">
                <a:solidFill>
                  <a:schemeClr val="accent6"/>
                </a:solidFill>
              </a:rPr>
              <a:t>Stripe, </a:t>
            </a:r>
            <a:r>
              <a:rPr lang="en-US" sz="1200" kern="0" spc="-80" dirty="0" err="1">
                <a:solidFill>
                  <a:schemeClr val="accent6"/>
                </a:solidFill>
              </a:rPr>
              <a:t>Razorpay</a:t>
            </a:r>
            <a:r>
              <a:rPr lang="en-US" sz="1200" kern="0" spc="-80" dirty="0">
                <a:solidFill>
                  <a:schemeClr val="accent6"/>
                </a:solidFill>
              </a:rPr>
              <a:t>, </a:t>
            </a:r>
            <a:r>
              <a:rPr lang="en-US" sz="1200" kern="0" spc="-80" dirty="0" err="1">
                <a:solidFill>
                  <a:schemeClr val="accent6"/>
                </a:solidFill>
              </a:rPr>
              <a:t>Cashfree</a:t>
            </a:r>
            <a:r>
              <a:rPr lang="en-US" sz="1200" kern="0" spc="-80" dirty="0">
                <a:solidFill>
                  <a:schemeClr val="accent6"/>
                </a:solidFill>
              </a:rPr>
              <a:t>, Adyen, Braintree, PayPal</a:t>
            </a:r>
          </a:p>
          <a:p>
            <a:pPr marL="12700" marR="5080"/>
            <a:endParaRPr lang="en-US" sz="1200" kern="0" spc="-80" dirty="0">
              <a:solidFill>
                <a:schemeClr val="accent6"/>
              </a:solidFill>
            </a:endParaRPr>
          </a:p>
          <a:p>
            <a:pPr marL="12700" marR="5080"/>
            <a:r>
              <a:rPr lang="en-US" sz="1200" kern="0" spc="-80" dirty="0">
                <a:solidFill>
                  <a:schemeClr val="accent2"/>
                </a:solidFill>
              </a:rPr>
              <a:t>🆘 2. Embedded Lending (BNPL)</a:t>
            </a:r>
          </a:p>
          <a:p>
            <a:pPr marL="12700" marR="5080"/>
            <a:r>
              <a:rPr lang="en-US" sz="1200" kern="0" spc="-80" dirty="0">
                <a:solidFill>
                  <a:schemeClr val="accent6"/>
                </a:solidFill>
              </a:rPr>
              <a:t>The fastest-growing part of embedded finance.</a:t>
            </a:r>
          </a:p>
          <a:p>
            <a:pPr marL="12700" marR="5080"/>
            <a:r>
              <a:rPr lang="en-US" sz="1200" kern="0" spc="-80" dirty="0">
                <a:solidFill>
                  <a:schemeClr val="accent2"/>
                </a:solidFill>
              </a:rPr>
              <a:t>🔹 Examples:</a:t>
            </a:r>
          </a:p>
          <a:p>
            <a:pPr marL="12700" marR="5080"/>
            <a:r>
              <a:rPr lang="en-US" sz="1200" kern="0" spc="-80" dirty="0">
                <a:solidFill>
                  <a:schemeClr val="accent6"/>
                </a:solidFill>
              </a:rPr>
              <a:t>Amazon Pay Later</a:t>
            </a:r>
          </a:p>
          <a:p>
            <a:pPr marL="12700" marR="5080"/>
            <a:r>
              <a:rPr lang="en-US" sz="1200" kern="0" spc="-80" dirty="0">
                <a:solidFill>
                  <a:schemeClr val="accent6"/>
                </a:solidFill>
              </a:rPr>
              <a:t>Ola Postpaid</a:t>
            </a:r>
          </a:p>
          <a:p>
            <a:pPr marL="12700" marR="5080"/>
            <a:r>
              <a:rPr lang="en-US" sz="1200" kern="0" spc="-80" dirty="0">
                <a:solidFill>
                  <a:schemeClr val="accent6"/>
                </a:solidFill>
              </a:rPr>
              <a:t>Flipkart Pay Later</a:t>
            </a:r>
          </a:p>
        </p:txBody>
      </p:sp>
    </p:spTree>
    <p:extLst>
      <p:ext uri="{BB962C8B-B14F-4D97-AF65-F5344CB8AC3E}">
        <p14:creationId xmlns:p14="http://schemas.microsoft.com/office/powerpoint/2010/main" val="114392143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9A5E2-4A4B-AA70-7FB5-CE206781193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9B32C6B-28B6-1097-E20A-E7C2F6B425B4}"/>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AB13930-311D-140F-3E82-093B4A9C9A15}"/>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F932838-9326-3B2C-8581-CCF5C01B3D99}"/>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9A76B6C-9446-A5B8-532F-D67268A79F7B}"/>
              </a:ext>
            </a:extLst>
          </p:cNvPr>
          <p:cNvSpPr txBox="1">
            <a:spLocks/>
          </p:cNvSpPr>
          <p:nvPr/>
        </p:nvSpPr>
        <p:spPr>
          <a:xfrm>
            <a:off x="228600" y="873204"/>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Embedded Finance Reference Architecture</a:t>
            </a:r>
          </a:p>
          <a:p>
            <a:pPr marL="12700" marR="5080"/>
            <a:r>
              <a:rPr lang="en-US" sz="1200" kern="0" spc="-80" dirty="0">
                <a:solidFill>
                  <a:schemeClr val="accent2"/>
                </a:solidFill>
              </a:rPr>
              <a:t>🆘 2. Embedded Lending (BNPL)</a:t>
            </a:r>
          </a:p>
          <a:p>
            <a:pPr marL="12700" marR="5080"/>
            <a:r>
              <a:rPr lang="en-US" sz="1200" kern="0" spc="-80" dirty="0">
                <a:solidFill>
                  <a:schemeClr val="accent2"/>
                </a:solidFill>
              </a:rPr>
              <a:t>🔹 Examples:</a:t>
            </a:r>
          </a:p>
          <a:p>
            <a:pPr marL="12700" marR="5080"/>
            <a:r>
              <a:rPr lang="en-US" sz="1200" kern="0" spc="-80" dirty="0">
                <a:solidFill>
                  <a:schemeClr val="accent6"/>
                </a:solidFill>
              </a:rPr>
              <a:t>Laptop EMI options</a:t>
            </a:r>
          </a:p>
          <a:p>
            <a:pPr marL="12700" marR="5080"/>
            <a:r>
              <a:rPr lang="en-US" sz="1200" kern="0" spc="-80" dirty="0">
                <a:solidFill>
                  <a:schemeClr val="accent2"/>
                </a:solidFill>
              </a:rPr>
              <a:t>🔹 API Workflow:</a:t>
            </a:r>
          </a:p>
          <a:p>
            <a:pPr marL="12700" marR="5080"/>
            <a:r>
              <a:rPr lang="en-US" sz="1200" kern="0" spc="-80" dirty="0">
                <a:solidFill>
                  <a:schemeClr val="accent6"/>
                </a:solidFill>
              </a:rPr>
              <a:t>Eligibility API</a:t>
            </a:r>
          </a:p>
          <a:p>
            <a:pPr marL="12700" marR="5080"/>
            <a:r>
              <a:rPr lang="en-US" sz="1200" kern="0" spc="-80" dirty="0">
                <a:solidFill>
                  <a:schemeClr val="accent6"/>
                </a:solidFill>
              </a:rPr>
              <a:t>KYC API</a:t>
            </a:r>
          </a:p>
          <a:p>
            <a:pPr marL="12700" marR="5080"/>
            <a:r>
              <a:rPr lang="en-US" sz="1200" kern="0" spc="-80" dirty="0">
                <a:solidFill>
                  <a:schemeClr val="accent6"/>
                </a:solidFill>
              </a:rPr>
              <a:t>Credit Bureau Pull</a:t>
            </a:r>
          </a:p>
          <a:p>
            <a:pPr marL="12700" marR="5080"/>
            <a:r>
              <a:rPr lang="en-US" sz="1200" kern="0" spc="-80" dirty="0">
                <a:solidFill>
                  <a:schemeClr val="accent6"/>
                </a:solidFill>
              </a:rPr>
              <a:t>Risk Scoring Engine</a:t>
            </a:r>
          </a:p>
          <a:p>
            <a:pPr marL="12700" marR="5080"/>
            <a:r>
              <a:rPr lang="en-US" sz="1200" kern="0" spc="-80" dirty="0">
                <a:solidFill>
                  <a:schemeClr val="accent6"/>
                </a:solidFill>
              </a:rPr>
              <a:t>Loan Creation API</a:t>
            </a:r>
          </a:p>
          <a:p>
            <a:pPr marL="12700" marR="5080"/>
            <a:r>
              <a:rPr lang="en-US" sz="1200" kern="0" spc="-80" dirty="0">
                <a:solidFill>
                  <a:schemeClr val="accent6"/>
                </a:solidFill>
              </a:rPr>
              <a:t>Repayment APIs</a:t>
            </a:r>
          </a:p>
          <a:p>
            <a:pPr marL="12700" marR="5080"/>
            <a:r>
              <a:rPr lang="en-US" sz="1200" kern="0" spc="-80" dirty="0">
                <a:solidFill>
                  <a:schemeClr val="accent6"/>
                </a:solidFill>
              </a:rPr>
              <a:t>NACH / </a:t>
            </a:r>
            <a:r>
              <a:rPr lang="en-US" sz="1200" kern="0" spc="-80" dirty="0" err="1">
                <a:solidFill>
                  <a:schemeClr val="accent6"/>
                </a:solidFill>
              </a:rPr>
              <a:t>Autodebit</a:t>
            </a:r>
            <a:r>
              <a:rPr lang="en-US" sz="1200" kern="0" spc="-80" dirty="0">
                <a:solidFill>
                  <a:schemeClr val="accent6"/>
                </a:solidFill>
              </a:rPr>
              <a:t> setup</a:t>
            </a:r>
          </a:p>
          <a:p>
            <a:pPr marL="12700" marR="5080"/>
            <a:r>
              <a:rPr lang="en-US" sz="1200" kern="0" spc="-80" dirty="0">
                <a:solidFill>
                  <a:schemeClr val="accent2"/>
                </a:solidFill>
              </a:rPr>
              <a:t>🔹 Background Services:</a:t>
            </a:r>
          </a:p>
          <a:p>
            <a:pPr marL="12700" marR="5080"/>
            <a:r>
              <a:rPr lang="en-US" sz="1200" kern="0" spc="-80" dirty="0">
                <a:solidFill>
                  <a:schemeClr val="accent6"/>
                </a:solidFill>
              </a:rPr>
              <a:t>Credit scoring engine</a:t>
            </a:r>
          </a:p>
          <a:p>
            <a:pPr marL="12700" marR="5080"/>
            <a:r>
              <a:rPr lang="en-US" sz="1200" kern="0" spc="-80" dirty="0">
                <a:solidFill>
                  <a:schemeClr val="accent6"/>
                </a:solidFill>
              </a:rPr>
              <a:t>EMI scheduler</a:t>
            </a:r>
          </a:p>
          <a:p>
            <a:pPr marL="12700" marR="5080"/>
            <a:r>
              <a:rPr lang="en-US" sz="1200" kern="0" spc="-80" dirty="0">
                <a:solidFill>
                  <a:schemeClr val="accent6"/>
                </a:solidFill>
              </a:rPr>
              <a:t>Default monitoring worker</a:t>
            </a:r>
          </a:p>
          <a:p>
            <a:pPr marL="12700" marR="5080"/>
            <a:r>
              <a:rPr lang="en-US" sz="1200" kern="0" spc="-80" dirty="0">
                <a:solidFill>
                  <a:schemeClr val="accent6"/>
                </a:solidFill>
              </a:rPr>
              <a:t>Collections workflow automation</a:t>
            </a:r>
          </a:p>
          <a:p>
            <a:pPr marL="12700" marR="5080"/>
            <a:r>
              <a:rPr lang="en-US" sz="1200" kern="0" spc="-80" dirty="0">
                <a:solidFill>
                  <a:schemeClr val="accent2"/>
                </a:solidFill>
              </a:rPr>
              <a:t>🔹 Providers:</a:t>
            </a:r>
          </a:p>
          <a:p>
            <a:pPr marL="12700" marR="5080"/>
            <a:r>
              <a:rPr lang="en-US" sz="1200" kern="0" spc="-80" dirty="0" err="1">
                <a:solidFill>
                  <a:schemeClr val="accent6"/>
                </a:solidFill>
              </a:rPr>
              <a:t>ZestMoney</a:t>
            </a:r>
            <a:r>
              <a:rPr lang="en-US" sz="1200" kern="0" spc="-80" dirty="0">
                <a:solidFill>
                  <a:schemeClr val="accent6"/>
                </a:solidFill>
              </a:rPr>
              <a:t>, </a:t>
            </a:r>
            <a:r>
              <a:rPr lang="en-US" sz="1200" kern="0" spc="-80" dirty="0" err="1">
                <a:solidFill>
                  <a:schemeClr val="accent6"/>
                </a:solidFill>
              </a:rPr>
              <a:t>Simpl</a:t>
            </a:r>
            <a:r>
              <a:rPr lang="en-US" sz="1200" kern="0" spc="-80" dirty="0">
                <a:solidFill>
                  <a:schemeClr val="accent6"/>
                </a:solidFill>
              </a:rPr>
              <a:t>, </a:t>
            </a:r>
            <a:r>
              <a:rPr lang="en-US" sz="1200" kern="0" spc="-80" dirty="0" err="1">
                <a:solidFill>
                  <a:schemeClr val="accent6"/>
                </a:solidFill>
              </a:rPr>
              <a:t>LazyPay</a:t>
            </a:r>
            <a:r>
              <a:rPr lang="en-US" sz="1200" kern="0" spc="-80" dirty="0">
                <a:solidFill>
                  <a:schemeClr val="accent6"/>
                </a:solidFill>
              </a:rPr>
              <a:t>, Slice</a:t>
            </a:r>
          </a:p>
          <a:p>
            <a:pPr marL="12700" marR="5080"/>
            <a:r>
              <a:rPr lang="en-US" sz="1200" kern="0" spc="-80" dirty="0">
                <a:solidFill>
                  <a:schemeClr val="accent6"/>
                </a:solidFill>
              </a:rPr>
              <a:t>Banking partners: ICICI, HDFC, Axis</a:t>
            </a:r>
          </a:p>
          <a:p>
            <a:pPr marL="12700" marR="5080"/>
            <a:endParaRPr lang="en-US" sz="1200" kern="0" spc="-80" dirty="0">
              <a:solidFill>
                <a:schemeClr val="accent6"/>
              </a:solidFill>
            </a:endParaRPr>
          </a:p>
          <a:p>
            <a:pPr marL="12700" marR="5080"/>
            <a:r>
              <a:rPr lang="en-US" sz="1200" kern="0" spc="-80" dirty="0">
                <a:solidFill>
                  <a:schemeClr val="accent2"/>
                </a:solidFill>
              </a:rPr>
              <a:t>🛡️ 3. Embedded Insurance</a:t>
            </a:r>
          </a:p>
          <a:p>
            <a:pPr marL="12700" marR="5080"/>
            <a:r>
              <a:rPr lang="en-US" sz="1200" kern="0" spc="-80" dirty="0">
                <a:solidFill>
                  <a:schemeClr val="accent6"/>
                </a:solidFill>
              </a:rPr>
              <a:t>Insurance offered at checkout or inside apps.</a:t>
            </a:r>
          </a:p>
          <a:p>
            <a:pPr marL="12700" marR="5080"/>
            <a:r>
              <a:rPr lang="en-US" sz="1200" kern="0" spc="-80" dirty="0">
                <a:solidFill>
                  <a:schemeClr val="accent2"/>
                </a:solidFill>
              </a:rPr>
              <a:t>🔹 Examples:</a:t>
            </a:r>
          </a:p>
          <a:p>
            <a:pPr marL="12700" marR="5080"/>
            <a:r>
              <a:rPr lang="en-US" sz="1200" kern="0" spc="-80" dirty="0">
                <a:solidFill>
                  <a:schemeClr val="accent6"/>
                </a:solidFill>
              </a:rPr>
              <a:t>Phone insurance on Amazon</a:t>
            </a:r>
          </a:p>
          <a:p>
            <a:pPr marL="12700" marR="5080"/>
            <a:r>
              <a:rPr lang="en-US" sz="1200" kern="0" spc="-80" dirty="0">
                <a:solidFill>
                  <a:schemeClr val="accent6"/>
                </a:solidFill>
              </a:rPr>
              <a:t>Trip cancellation insurance</a:t>
            </a:r>
          </a:p>
          <a:p>
            <a:pPr marL="12700" marR="5080"/>
            <a:r>
              <a:rPr lang="en-US" sz="1200" kern="0" spc="-80" dirty="0">
                <a:solidFill>
                  <a:schemeClr val="accent6"/>
                </a:solidFill>
              </a:rPr>
              <a:t>Swiggy/</a:t>
            </a:r>
            <a:r>
              <a:rPr lang="en-US" sz="1200" kern="0" spc="-80" dirty="0" err="1">
                <a:solidFill>
                  <a:schemeClr val="accent6"/>
                </a:solidFill>
              </a:rPr>
              <a:t>BigBasket</a:t>
            </a:r>
            <a:r>
              <a:rPr lang="en-US" sz="1200" kern="0" spc="-80" dirty="0">
                <a:solidFill>
                  <a:schemeClr val="accent6"/>
                </a:solidFill>
              </a:rPr>
              <a:t> order insurance</a:t>
            </a:r>
          </a:p>
        </p:txBody>
      </p:sp>
    </p:spTree>
    <p:extLst>
      <p:ext uri="{BB962C8B-B14F-4D97-AF65-F5344CB8AC3E}">
        <p14:creationId xmlns:p14="http://schemas.microsoft.com/office/powerpoint/2010/main" val="127778087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A285B-D242-1965-D4F1-7EA7C8FE616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2278629-2F1A-955D-39A4-950519EAD8B0}"/>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2ABD8C4-647F-5F97-8780-7886061D3722}"/>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6334468-C1AF-F455-52FF-D06F0ED34F55}"/>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09FD4E9-7274-8DD3-B9B7-160896AB3505}"/>
              </a:ext>
            </a:extLst>
          </p:cNvPr>
          <p:cNvSpPr txBox="1">
            <a:spLocks/>
          </p:cNvSpPr>
          <p:nvPr/>
        </p:nvSpPr>
        <p:spPr>
          <a:xfrm>
            <a:off x="228600" y="873204"/>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Embedded Finance Reference Architecture</a:t>
            </a:r>
          </a:p>
          <a:p>
            <a:pPr marL="12700" marR="5080"/>
            <a:r>
              <a:rPr lang="en-US" sz="1200" kern="0" spc="-80" dirty="0">
                <a:solidFill>
                  <a:schemeClr val="accent2"/>
                </a:solidFill>
              </a:rPr>
              <a:t>🛡️ 3. Embedded Insurance</a:t>
            </a:r>
          </a:p>
          <a:p>
            <a:pPr marL="12700" marR="5080"/>
            <a:r>
              <a:rPr lang="en-US" sz="1200" kern="0" spc="-80" dirty="0">
                <a:solidFill>
                  <a:schemeClr val="accent2"/>
                </a:solidFill>
              </a:rPr>
              <a:t>🔹 API Flow:</a:t>
            </a:r>
          </a:p>
          <a:p>
            <a:pPr marL="12700" marR="5080"/>
            <a:r>
              <a:rPr lang="en-US" sz="1200" kern="0" spc="-80" dirty="0">
                <a:solidFill>
                  <a:schemeClr val="accent6"/>
                </a:solidFill>
              </a:rPr>
              <a:t>Eligibility + Quote API</a:t>
            </a:r>
          </a:p>
          <a:p>
            <a:pPr marL="12700" marR="5080"/>
            <a:r>
              <a:rPr lang="en-US" sz="1200" kern="0" spc="-80" dirty="0">
                <a:solidFill>
                  <a:schemeClr val="accent6"/>
                </a:solidFill>
              </a:rPr>
              <a:t>Premium calculation API</a:t>
            </a:r>
          </a:p>
          <a:p>
            <a:pPr marL="12700" marR="5080"/>
            <a:r>
              <a:rPr lang="en-US" sz="1200" kern="0" spc="-80" dirty="0">
                <a:solidFill>
                  <a:schemeClr val="accent6"/>
                </a:solidFill>
              </a:rPr>
              <a:t>Underwriting engine</a:t>
            </a:r>
          </a:p>
          <a:p>
            <a:pPr marL="12700" marR="5080"/>
            <a:r>
              <a:rPr lang="en-US" sz="1200" kern="0" spc="-80" dirty="0">
                <a:solidFill>
                  <a:schemeClr val="accent6"/>
                </a:solidFill>
              </a:rPr>
              <a:t>Policy issuance API</a:t>
            </a:r>
          </a:p>
          <a:p>
            <a:pPr marL="12700" marR="5080"/>
            <a:r>
              <a:rPr lang="en-US" sz="1200" kern="0" spc="-80" dirty="0">
                <a:solidFill>
                  <a:schemeClr val="accent6"/>
                </a:solidFill>
              </a:rPr>
              <a:t>Claims APIs</a:t>
            </a:r>
          </a:p>
          <a:p>
            <a:pPr marL="12700" marR="5080"/>
            <a:r>
              <a:rPr lang="en-US" sz="1200" kern="0" spc="-80" dirty="0">
                <a:solidFill>
                  <a:schemeClr val="accent2"/>
                </a:solidFill>
              </a:rPr>
              <a:t>🔹 Background Services:</a:t>
            </a:r>
          </a:p>
          <a:p>
            <a:pPr marL="12700" marR="5080"/>
            <a:r>
              <a:rPr lang="en-US" sz="1200" kern="0" spc="-80" dirty="0">
                <a:solidFill>
                  <a:schemeClr val="accent6"/>
                </a:solidFill>
              </a:rPr>
              <a:t>Risk scoring job</a:t>
            </a:r>
          </a:p>
          <a:p>
            <a:pPr marL="12700" marR="5080"/>
            <a:r>
              <a:rPr lang="en-US" sz="1200" kern="0" spc="-80" dirty="0">
                <a:solidFill>
                  <a:schemeClr val="accent6"/>
                </a:solidFill>
              </a:rPr>
              <a:t>Claims adjudication pipeline</a:t>
            </a:r>
          </a:p>
          <a:p>
            <a:pPr marL="12700" marR="5080"/>
            <a:r>
              <a:rPr lang="en-US" sz="1200" kern="0" spc="-80" dirty="0">
                <a:solidFill>
                  <a:schemeClr val="accent6"/>
                </a:solidFill>
              </a:rPr>
              <a:t>Rule engine + document verification</a:t>
            </a:r>
          </a:p>
          <a:p>
            <a:pPr marL="12700" marR="5080"/>
            <a:r>
              <a:rPr lang="en-US" sz="1200" kern="0" spc="-80" dirty="0">
                <a:solidFill>
                  <a:schemeClr val="accent2"/>
                </a:solidFill>
              </a:rPr>
              <a:t>🔹 Providers:</a:t>
            </a:r>
          </a:p>
          <a:p>
            <a:pPr marL="12700" marR="5080"/>
            <a:r>
              <a:rPr lang="en-US" sz="1200" kern="0" spc="-80" dirty="0" err="1">
                <a:solidFill>
                  <a:schemeClr val="accent6"/>
                </a:solidFill>
              </a:rPr>
              <a:t>Acko</a:t>
            </a:r>
            <a:r>
              <a:rPr lang="en-US" sz="1200" kern="0" spc="-80" dirty="0">
                <a:solidFill>
                  <a:schemeClr val="accent6"/>
                </a:solidFill>
              </a:rPr>
              <a:t>, Digit, ICICI Lombard, </a:t>
            </a:r>
            <a:r>
              <a:rPr lang="en-US" sz="1200" kern="0" spc="-80" dirty="0" err="1">
                <a:solidFill>
                  <a:schemeClr val="accent6"/>
                </a:solidFill>
              </a:rPr>
              <a:t>PolicyBazaar</a:t>
            </a:r>
            <a:r>
              <a:rPr lang="en-US" sz="1200" kern="0" spc="-80" dirty="0">
                <a:solidFill>
                  <a:schemeClr val="accent6"/>
                </a:solidFill>
              </a:rPr>
              <a:t> APIs</a:t>
            </a:r>
          </a:p>
          <a:p>
            <a:pPr marL="12700" marR="5080"/>
            <a:endParaRPr lang="en-US" sz="1200" kern="0" spc="-80" dirty="0">
              <a:solidFill>
                <a:schemeClr val="accent6"/>
              </a:solidFill>
            </a:endParaRPr>
          </a:p>
          <a:p>
            <a:pPr marL="12700" marR="5080"/>
            <a:r>
              <a:rPr lang="en-US" sz="1200" kern="0" spc="-80" dirty="0">
                <a:solidFill>
                  <a:schemeClr val="accent2"/>
                </a:solidFill>
              </a:rPr>
              <a:t>💳 4. Embedded Banking</a:t>
            </a:r>
          </a:p>
          <a:p>
            <a:pPr marL="12700" marR="5080"/>
            <a:r>
              <a:rPr lang="en-US" sz="1200" kern="0" spc="-80" dirty="0">
                <a:solidFill>
                  <a:schemeClr val="accent2"/>
                </a:solidFill>
              </a:rPr>
              <a:t>Creating bank-like features inside apps:</a:t>
            </a:r>
          </a:p>
          <a:p>
            <a:pPr marL="12700" marR="5080"/>
            <a:r>
              <a:rPr lang="en-US" sz="1200" kern="0" spc="-80" dirty="0">
                <a:solidFill>
                  <a:schemeClr val="accent6"/>
                </a:solidFill>
              </a:rPr>
              <a:t>Provided via Banking-as-a-Service (BaaS):</a:t>
            </a:r>
          </a:p>
          <a:p>
            <a:pPr marL="12700" marR="5080"/>
            <a:r>
              <a:rPr lang="en-US" sz="1200" kern="0" spc="-80" dirty="0" err="1">
                <a:solidFill>
                  <a:schemeClr val="accent6"/>
                </a:solidFill>
              </a:rPr>
              <a:t>NiyoX</a:t>
            </a:r>
            <a:endParaRPr lang="en-US" sz="1200" kern="0" spc="-80" dirty="0">
              <a:solidFill>
                <a:schemeClr val="accent6"/>
              </a:solidFill>
            </a:endParaRPr>
          </a:p>
          <a:p>
            <a:pPr marL="12700" marR="5080"/>
            <a:r>
              <a:rPr lang="en-US" sz="1200" kern="0" spc="-80" dirty="0" err="1">
                <a:solidFill>
                  <a:schemeClr val="accent6"/>
                </a:solidFill>
              </a:rPr>
              <a:t>Zolve</a:t>
            </a:r>
            <a:endParaRPr lang="en-US" sz="1200" kern="0" spc="-80" dirty="0">
              <a:solidFill>
                <a:schemeClr val="accent6"/>
              </a:solidFill>
            </a:endParaRPr>
          </a:p>
          <a:p>
            <a:pPr marL="12700" marR="5080"/>
            <a:r>
              <a:rPr lang="en-US" sz="1200" kern="0" spc="-80" dirty="0">
                <a:solidFill>
                  <a:schemeClr val="accent6"/>
                </a:solidFill>
              </a:rPr>
              <a:t>Jupiter</a:t>
            </a:r>
          </a:p>
          <a:p>
            <a:pPr marL="12700" marR="5080"/>
            <a:r>
              <a:rPr lang="en-US" sz="1200" kern="0" spc="-80" dirty="0">
                <a:solidFill>
                  <a:schemeClr val="accent6"/>
                </a:solidFill>
              </a:rPr>
              <a:t>Fi Money</a:t>
            </a:r>
          </a:p>
          <a:p>
            <a:pPr marL="12700" marR="5080"/>
            <a:r>
              <a:rPr lang="en-US" sz="1200" kern="0" spc="-80" dirty="0">
                <a:solidFill>
                  <a:schemeClr val="accent6"/>
                </a:solidFill>
              </a:rPr>
              <a:t>Open Money</a:t>
            </a:r>
          </a:p>
          <a:p>
            <a:pPr marL="12700" marR="5080"/>
            <a:r>
              <a:rPr lang="en-US" sz="1200" kern="0" spc="-80" dirty="0">
                <a:solidFill>
                  <a:schemeClr val="accent6"/>
                </a:solidFill>
              </a:rPr>
              <a:t>Paytm Payments Bank</a:t>
            </a:r>
          </a:p>
          <a:p>
            <a:pPr marL="12700" marR="5080"/>
            <a:r>
              <a:rPr lang="en-US" sz="1200" kern="0" spc="-80" dirty="0">
                <a:solidFill>
                  <a:schemeClr val="accent6"/>
                </a:solidFill>
              </a:rPr>
              <a:t>Typical Features:</a:t>
            </a:r>
          </a:p>
          <a:p>
            <a:pPr marL="12700" marR="5080"/>
            <a:r>
              <a:rPr lang="en-US" sz="1200" kern="0" spc="-80" dirty="0">
                <a:solidFill>
                  <a:schemeClr val="accent6"/>
                </a:solidFill>
              </a:rPr>
              <a:t>Virtual accounts</a:t>
            </a:r>
          </a:p>
          <a:p>
            <a:pPr marL="12700" marR="5080"/>
            <a:r>
              <a:rPr lang="en-US" sz="1200" kern="0" spc="-80" dirty="0">
                <a:solidFill>
                  <a:schemeClr val="accent6"/>
                </a:solidFill>
              </a:rPr>
              <a:t>Wallets</a:t>
            </a:r>
          </a:p>
        </p:txBody>
      </p:sp>
    </p:spTree>
    <p:extLst>
      <p:ext uri="{BB962C8B-B14F-4D97-AF65-F5344CB8AC3E}">
        <p14:creationId xmlns:p14="http://schemas.microsoft.com/office/powerpoint/2010/main" val="165550055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DFBF1-183B-4768-D4C5-E370EA64159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19BC8E9-4327-6906-0D5A-55E50CC7097E}"/>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92F5381-88DF-B26A-AFC0-9E2AEDC119C0}"/>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CC239B8-7D0D-85F2-523F-A727AEA93DB7}"/>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C6F289F-EF38-8230-6226-55EA62DF7C55}"/>
              </a:ext>
            </a:extLst>
          </p:cNvPr>
          <p:cNvSpPr txBox="1">
            <a:spLocks/>
          </p:cNvSpPr>
          <p:nvPr/>
        </p:nvSpPr>
        <p:spPr>
          <a:xfrm>
            <a:off x="228600" y="873204"/>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Embedded Finance Reference Architecture</a:t>
            </a:r>
          </a:p>
          <a:p>
            <a:pPr marL="12700" marR="5080"/>
            <a:r>
              <a:rPr lang="en-US" sz="1200" kern="0" spc="-80" dirty="0">
                <a:solidFill>
                  <a:schemeClr val="accent2"/>
                </a:solidFill>
              </a:rPr>
              <a:t>💳 4. Embedded Banking</a:t>
            </a:r>
          </a:p>
          <a:p>
            <a:pPr marL="12700" marR="5080"/>
            <a:r>
              <a:rPr lang="en-US" sz="1200" kern="0" spc="-80" dirty="0">
                <a:solidFill>
                  <a:schemeClr val="accent2"/>
                </a:solidFill>
              </a:rPr>
              <a:t>Creating bank-like features inside apps:</a:t>
            </a:r>
          </a:p>
          <a:p>
            <a:pPr marL="12700" marR="5080"/>
            <a:r>
              <a:rPr lang="en-US" sz="1200" kern="0" spc="-80" dirty="0">
                <a:solidFill>
                  <a:schemeClr val="accent6"/>
                </a:solidFill>
              </a:rPr>
              <a:t>Cards (debit/credit/prepaid)</a:t>
            </a:r>
          </a:p>
          <a:p>
            <a:pPr marL="12700" marR="5080"/>
            <a:r>
              <a:rPr lang="en-US" sz="1200" kern="0" spc="-80" dirty="0">
                <a:solidFill>
                  <a:schemeClr val="accent6"/>
                </a:solidFill>
              </a:rPr>
              <a:t>KYC onboarding</a:t>
            </a:r>
          </a:p>
          <a:p>
            <a:pPr marL="12700" marR="5080"/>
            <a:r>
              <a:rPr lang="en-US" sz="1200" kern="0" spc="-80" dirty="0">
                <a:solidFill>
                  <a:schemeClr val="accent6"/>
                </a:solidFill>
              </a:rPr>
              <a:t>Account-to-account transfers</a:t>
            </a:r>
          </a:p>
          <a:p>
            <a:pPr marL="12700" marR="5080"/>
            <a:r>
              <a:rPr lang="en-US" sz="1200" kern="0" spc="-80" dirty="0">
                <a:solidFill>
                  <a:schemeClr val="accent6"/>
                </a:solidFill>
              </a:rPr>
              <a:t>APIs:</a:t>
            </a:r>
          </a:p>
          <a:p>
            <a:pPr marL="12700" marR="5080"/>
            <a:r>
              <a:rPr lang="en-US" sz="1200" kern="0" spc="-80" dirty="0">
                <a:solidFill>
                  <a:schemeClr val="accent6"/>
                </a:solidFill>
              </a:rPr>
              <a:t>Virtual account creation</a:t>
            </a:r>
          </a:p>
          <a:p>
            <a:pPr marL="12700" marR="5080"/>
            <a:r>
              <a:rPr lang="en-US" sz="1200" kern="0" spc="-80" dirty="0">
                <a:solidFill>
                  <a:schemeClr val="accent6"/>
                </a:solidFill>
              </a:rPr>
              <a:t>Card issuance</a:t>
            </a:r>
          </a:p>
          <a:p>
            <a:pPr marL="12700" marR="5080"/>
            <a:r>
              <a:rPr lang="en-US" sz="1200" kern="0" spc="-80" dirty="0">
                <a:solidFill>
                  <a:schemeClr val="accent6"/>
                </a:solidFill>
              </a:rPr>
              <a:t>Card controls (limit, freeze, PIN)</a:t>
            </a:r>
          </a:p>
          <a:p>
            <a:pPr marL="12700" marR="5080"/>
            <a:r>
              <a:rPr lang="en-US" sz="1200" kern="0" spc="-80" dirty="0">
                <a:solidFill>
                  <a:schemeClr val="accent6"/>
                </a:solidFill>
              </a:rPr>
              <a:t>Bank transfers (IMPS, NEFT, RTGS)</a:t>
            </a:r>
          </a:p>
          <a:p>
            <a:pPr marL="12700" marR="5080"/>
            <a:r>
              <a:rPr lang="en-US" sz="1200" kern="0" spc="-80" dirty="0">
                <a:solidFill>
                  <a:schemeClr val="accent6"/>
                </a:solidFill>
              </a:rPr>
              <a:t>Wallet top-up</a:t>
            </a:r>
          </a:p>
          <a:p>
            <a:pPr marL="12700" marR="5080"/>
            <a:endParaRPr lang="en-US" sz="1200" kern="0" spc="-80" dirty="0">
              <a:solidFill>
                <a:schemeClr val="accent6"/>
              </a:solidFill>
            </a:endParaRPr>
          </a:p>
          <a:p>
            <a:pPr marL="12700" marR="5080"/>
            <a:r>
              <a:rPr lang="en-US" sz="1200" kern="0" spc="-80" dirty="0">
                <a:solidFill>
                  <a:schemeClr val="accent2"/>
                </a:solidFill>
              </a:rPr>
              <a:t>📈 5. Embedded Investments</a:t>
            </a:r>
          </a:p>
          <a:p>
            <a:pPr marL="12700" marR="5080"/>
            <a:r>
              <a:rPr lang="en-US" sz="1200" kern="0" spc="-80" dirty="0">
                <a:solidFill>
                  <a:schemeClr val="accent2"/>
                </a:solidFill>
              </a:rPr>
              <a:t>Examples:</a:t>
            </a:r>
          </a:p>
          <a:p>
            <a:pPr marL="12700" marR="5080"/>
            <a:r>
              <a:rPr lang="en-US" sz="1200" kern="0" spc="-80" dirty="0" err="1">
                <a:solidFill>
                  <a:schemeClr val="accent6"/>
                </a:solidFill>
              </a:rPr>
              <a:t>Groww</a:t>
            </a:r>
            <a:r>
              <a:rPr lang="en-US" sz="1200" kern="0" spc="-80" dirty="0">
                <a:solidFill>
                  <a:schemeClr val="accent6"/>
                </a:solidFill>
              </a:rPr>
              <a:t> inside Paytm</a:t>
            </a:r>
          </a:p>
          <a:p>
            <a:pPr marL="12700" marR="5080"/>
            <a:r>
              <a:rPr lang="en-US" sz="1200" kern="0" spc="-80" dirty="0">
                <a:solidFill>
                  <a:schemeClr val="accent6"/>
                </a:solidFill>
              </a:rPr>
              <a:t>SIP setup inside </a:t>
            </a:r>
            <a:r>
              <a:rPr lang="en-US" sz="1200" kern="0" spc="-80" dirty="0" err="1">
                <a:solidFill>
                  <a:schemeClr val="accent6"/>
                </a:solidFill>
              </a:rPr>
              <a:t>PhonePe</a:t>
            </a:r>
            <a:endParaRPr lang="en-US" sz="1200" kern="0" spc="-80" dirty="0">
              <a:solidFill>
                <a:schemeClr val="accent6"/>
              </a:solidFill>
            </a:endParaRPr>
          </a:p>
          <a:p>
            <a:pPr marL="12700" marR="5080"/>
            <a:r>
              <a:rPr lang="en-US" sz="1200" kern="0" spc="-80" dirty="0">
                <a:solidFill>
                  <a:schemeClr val="accent6"/>
                </a:solidFill>
              </a:rPr>
              <a:t>Gold investment inside Google Pay</a:t>
            </a:r>
          </a:p>
          <a:p>
            <a:pPr marL="12700" marR="5080"/>
            <a:r>
              <a:rPr lang="en-US" sz="1200" kern="0" spc="-80" dirty="0">
                <a:solidFill>
                  <a:schemeClr val="accent2"/>
                </a:solidFill>
              </a:rPr>
              <a:t>APIs:</a:t>
            </a:r>
          </a:p>
          <a:p>
            <a:pPr marL="12700" marR="5080"/>
            <a:r>
              <a:rPr lang="en-US" sz="1200" kern="0" spc="-80" dirty="0">
                <a:solidFill>
                  <a:schemeClr val="accent6"/>
                </a:solidFill>
              </a:rPr>
              <a:t>KYC + PAN validation</a:t>
            </a:r>
          </a:p>
          <a:p>
            <a:pPr marL="12700" marR="5080"/>
            <a:r>
              <a:rPr lang="en-US" sz="1200" kern="0" spc="-80" dirty="0">
                <a:solidFill>
                  <a:schemeClr val="accent6"/>
                </a:solidFill>
              </a:rPr>
              <a:t>Mutual fund list API</a:t>
            </a:r>
          </a:p>
          <a:p>
            <a:pPr marL="12700" marR="5080"/>
            <a:r>
              <a:rPr lang="en-US" sz="1200" kern="0" spc="-80" dirty="0">
                <a:solidFill>
                  <a:schemeClr val="accent6"/>
                </a:solidFill>
              </a:rPr>
              <a:t>BSE order placement</a:t>
            </a:r>
          </a:p>
          <a:p>
            <a:pPr marL="12700" marR="5080"/>
            <a:r>
              <a:rPr lang="en-US" sz="1200" kern="0" spc="-80" dirty="0">
                <a:solidFill>
                  <a:schemeClr val="accent6"/>
                </a:solidFill>
              </a:rPr>
              <a:t>NAV updates</a:t>
            </a:r>
          </a:p>
          <a:p>
            <a:pPr marL="12700" marR="5080"/>
            <a:r>
              <a:rPr lang="en-US" sz="1200" kern="0" spc="-80" dirty="0">
                <a:solidFill>
                  <a:schemeClr val="accent6"/>
                </a:solidFill>
              </a:rPr>
              <a:t>Portfolio reconciliation</a:t>
            </a:r>
          </a:p>
          <a:p>
            <a:pPr marL="12700" marR="5080"/>
            <a:r>
              <a:rPr lang="en-US" sz="1200" kern="0" spc="-80" dirty="0">
                <a:solidFill>
                  <a:schemeClr val="accent2"/>
                </a:solidFill>
              </a:rPr>
              <a:t>Background Services:</a:t>
            </a:r>
          </a:p>
          <a:p>
            <a:pPr marL="12700" marR="5080"/>
            <a:r>
              <a:rPr lang="en-US" sz="1200" kern="0" spc="-80" dirty="0">
                <a:solidFill>
                  <a:schemeClr val="accent6"/>
                </a:solidFill>
              </a:rPr>
              <a:t>Daily NAV updater</a:t>
            </a:r>
          </a:p>
          <a:p>
            <a:pPr marL="12700" marR="5080"/>
            <a:r>
              <a:rPr lang="en-US" sz="1200" kern="0" spc="-80" dirty="0">
                <a:solidFill>
                  <a:schemeClr val="accent6"/>
                </a:solidFill>
              </a:rPr>
              <a:t>SIP scheduler</a:t>
            </a:r>
          </a:p>
        </p:txBody>
      </p:sp>
    </p:spTree>
    <p:extLst>
      <p:ext uri="{BB962C8B-B14F-4D97-AF65-F5344CB8AC3E}">
        <p14:creationId xmlns:p14="http://schemas.microsoft.com/office/powerpoint/2010/main" val="354445176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3F931-3766-E87A-3D3F-13CB840C439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7797275-7B7E-1971-621F-3475C790AC62}"/>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4F46B97-1FF3-A660-8992-7005E20BCA83}"/>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A2C1D2E-3E3B-2199-6401-6B65A6FEBCB5}"/>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EF9FFF1-64A4-E8D4-F1A6-7F37259D7A87}"/>
              </a:ext>
            </a:extLst>
          </p:cNvPr>
          <p:cNvSpPr txBox="1">
            <a:spLocks/>
          </p:cNvSpPr>
          <p:nvPr/>
        </p:nvSpPr>
        <p:spPr>
          <a:xfrm>
            <a:off x="228600" y="873204"/>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Embedded Finance Reference Architecture</a:t>
            </a:r>
          </a:p>
          <a:p>
            <a:pPr marL="12700" marR="5080"/>
            <a:r>
              <a:rPr lang="en-US" sz="1200" kern="0" spc="-80" dirty="0">
                <a:solidFill>
                  <a:schemeClr val="accent2"/>
                </a:solidFill>
              </a:rPr>
              <a:t>📈 5. Embedded Investments</a:t>
            </a:r>
          </a:p>
          <a:p>
            <a:pPr marL="12700" marR="5080"/>
            <a:r>
              <a:rPr lang="en-US" sz="1200" kern="0" spc="-80" dirty="0">
                <a:solidFill>
                  <a:schemeClr val="accent2"/>
                </a:solidFill>
              </a:rPr>
              <a:t>Background Services:</a:t>
            </a:r>
          </a:p>
          <a:p>
            <a:pPr marL="12700" marR="5080"/>
            <a:r>
              <a:rPr lang="en-US" sz="1200" kern="0" spc="-80" dirty="0">
                <a:solidFill>
                  <a:schemeClr val="accent6"/>
                </a:solidFill>
              </a:rPr>
              <a:t>Portfolio valuation worker</a:t>
            </a:r>
          </a:p>
          <a:p>
            <a:pPr marL="12700" marR="5080"/>
            <a:endParaRPr lang="en-US" sz="1200" kern="0" spc="-80" dirty="0">
              <a:solidFill>
                <a:schemeClr val="accent6"/>
              </a:solidFill>
            </a:endParaRPr>
          </a:p>
          <a:p>
            <a:pPr marL="12700" marR="5080"/>
            <a:r>
              <a:rPr lang="en-US" sz="1200" kern="0" spc="-80" dirty="0">
                <a:solidFill>
                  <a:schemeClr val="accent2"/>
                </a:solidFill>
              </a:rPr>
              <a:t>🧱 ARCHITECTURE OF EMBEDDED FINANCE</a:t>
            </a:r>
          </a:p>
          <a:p>
            <a:pPr marL="12700" marR="5080"/>
            <a:r>
              <a:rPr lang="en-US" sz="1200" kern="0" spc="-80" dirty="0">
                <a:solidFill>
                  <a:schemeClr val="accent2"/>
                </a:solidFill>
              </a:rPr>
              <a:t>🔹 Layers:</a:t>
            </a:r>
          </a:p>
          <a:p>
            <a:pPr marL="12700" marR="5080"/>
            <a:r>
              <a:rPr lang="en-US" sz="1200" kern="0" spc="-80" dirty="0">
                <a:solidFill>
                  <a:schemeClr val="accent6"/>
                </a:solidFill>
              </a:rPr>
              <a:t>Frontend Layer – host app (Swiggy, Amazon, Ola)</a:t>
            </a:r>
          </a:p>
          <a:p>
            <a:pPr marL="12700" marR="5080"/>
            <a:r>
              <a:rPr lang="en-US" sz="1200" kern="0" spc="-80" dirty="0">
                <a:solidFill>
                  <a:schemeClr val="accent6"/>
                </a:solidFill>
              </a:rPr>
              <a:t>Integration Layer – SDKs, payment widgets, UI components</a:t>
            </a:r>
          </a:p>
          <a:p>
            <a:pPr marL="12700" marR="5080"/>
            <a:r>
              <a:rPr lang="en-US" sz="1200" kern="0" spc="-80" dirty="0">
                <a:solidFill>
                  <a:schemeClr val="accent6"/>
                </a:solidFill>
              </a:rPr>
              <a:t>API Gateway</a:t>
            </a:r>
          </a:p>
          <a:p>
            <a:pPr marL="12700" marR="5080"/>
            <a:r>
              <a:rPr lang="en-US" sz="1200" kern="0" spc="-80" dirty="0">
                <a:solidFill>
                  <a:schemeClr val="accent6"/>
                </a:solidFill>
              </a:rPr>
              <a:t>BaaS / Fintech Providers</a:t>
            </a:r>
          </a:p>
          <a:p>
            <a:pPr marL="12700" marR="5080"/>
            <a:r>
              <a:rPr lang="en-US" sz="1200" kern="0" spc="-80" dirty="0">
                <a:solidFill>
                  <a:schemeClr val="accent6"/>
                </a:solidFill>
              </a:rPr>
              <a:t>Bank / Insurance Company</a:t>
            </a:r>
          </a:p>
          <a:p>
            <a:pPr marL="12700" marR="5080"/>
            <a:r>
              <a:rPr lang="en-US" sz="1200" kern="0" spc="-80" dirty="0">
                <a:solidFill>
                  <a:schemeClr val="accent6"/>
                </a:solidFill>
              </a:rPr>
              <a:t>Compliance Layer – KYC, AML, fraud</a:t>
            </a:r>
          </a:p>
          <a:p>
            <a:pPr marL="12700" marR="5080"/>
            <a:r>
              <a:rPr lang="en-US" sz="1200" kern="0" spc="-80" dirty="0">
                <a:solidFill>
                  <a:schemeClr val="accent6"/>
                </a:solidFill>
              </a:rPr>
              <a:t>Background Services – batch jobs, scoring, ledgering</a:t>
            </a:r>
          </a:p>
          <a:p>
            <a:pPr marL="12700" marR="5080"/>
            <a:r>
              <a:rPr lang="en-US" sz="1200" kern="0" spc="-80" dirty="0">
                <a:solidFill>
                  <a:schemeClr val="accent6"/>
                </a:solidFill>
              </a:rPr>
              <a:t>Ledger &amp; Accounting System</a:t>
            </a:r>
          </a:p>
          <a:p>
            <a:pPr marL="12700" marR="5080"/>
            <a:endParaRPr lang="en-US" sz="1200" kern="0" spc="-80" dirty="0">
              <a:solidFill>
                <a:schemeClr val="accent6"/>
              </a:solidFill>
            </a:endParaRPr>
          </a:p>
          <a:p>
            <a:pPr marL="12700" marR="5080"/>
            <a:r>
              <a:rPr lang="en-US" sz="1200" kern="0" spc="-80" dirty="0">
                <a:solidFill>
                  <a:schemeClr val="accent2"/>
                </a:solidFill>
              </a:rPr>
              <a:t>🔄 Typical End-to-End Workflow</a:t>
            </a:r>
          </a:p>
          <a:p>
            <a:pPr marL="12700" marR="5080"/>
            <a:r>
              <a:rPr lang="en-US" sz="1200" kern="0" spc="-80" dirty="0">
                <a:solidFill>
                  <a:schemeClr val="accent2"/>
                </a:solidFill>
              </a:rPr>
              <a:t>Let’s take Buy Now Pay Later (BNPL) as an example:</a:t>
            </a:r>
          </a:p>
          <a:p>
            <a:pPr marL="12700" marR="5080"/>
            <a:r>
              <a:rPr lang="en-US" sz="1200" kern="0" spc="-80" dirty="0">
                <a:solidFill>
                  <a:schemeClr val="accent6"/>
                </a:solidFill>
              </a:rPr>
              <a:t>Step 1: User selects BNPL in checkout</a:t>
            </a:r>
          </a:p>
          <a:p>
            <a:pPr marL="12700" marR="5080"/>
            <a:r>
              <a:rPr lang="en-US" sz="1200" kern="0" spc="-80" dirty="0">
                <a:solidFill>
                  <a:schemeClr val="accent6"/>
                </a:solidFill>
              </a:rPr>
              <a:t>Step 2: App calls Eligibility API</a:t>
            </a:r>
          </a:p>
          <a:p>
            <a:pPr marL="12700" marR="5080"/>
            <a:r>
              <a:rPr lang="en-US" sz="1200" kern="0" spc="-80" dirty="0">
                <a:solidFill>
                  <a:schemeClr val="accent6"/>
                </a:solidFill>
              </a:rPr>
              <a:t>Step 3: Partner runs</a:t>
            </a:r>
          </a:p>
          <a:p>
            <a:pPr marL="12700" marR="5080"/>
            <a:r>
              <a:rPr lang="en-US" sz="1200" kern="0" spc="-80" dirty="0">
                <a:solidFill>
                  <a:schemeClr val="accent6"/>
                </a:solidFill>
              </a:rPr>
              <a:t>KYC</a:t>
            </a:r>
          </a:p>
          <a:p>
            <a:pPr marL="12700" marR="5080"/>
            <a:r>
              <a:rPr lang="en-US" sz="1200" kern="0" spc="-80" dirty="0">
                <a:solidFill>
                  <a:schemeClr val="accent6"/>
                </a:solidFill>
              </a:rPr>
              <a:t>PAN validation</a:t>
            </a:r>
          </a:p>
          <a:p>
            <a:pPr marL="12700" marR="5080"/>
            <a:r>
              <a:rPr lang="en-US" sz="1200" kern="0" spc="-80" dirty="0">
                <a:solidFill>
                  <a:schemeClr val="accent6"/>
                </a:solidFill>
              </a:rPr>
              <a:t>Credit bureau fetch</a:t>
            </a:r>
          </a:p>
          <a:p>
            <a:pPr marL="12700" marR="5080"/>
            <a:r>
              <a:rPr lang="en-US" sz="1200" kern="0" spc="-80" dirty="0">
                <a:solidFill>
                  <a:schemeClr val="accent6"/>
                </a:solidFill>
              </a:rPr>
              <a:t>Risk scoring</a:t>
            </a:r>
          </a:p>
          <a:p>
            <a:pPr marL="12700" marR="5080"/>
            <a:r>
              <a:rPr lang="en-US" sz="1200" kern="0" spc="-80" dirty="0">
                <a:solidFill>
                  <a:schemeClr val="accent6"/>
                </a:solidFill>
              </a:rPr>
              <a:t>Step 4: Offer returned (limit, tenure, interest)</a:t>
            </a:r>
          </a:p>
          <a:p>
            <a:pPr marL="12700" marR="5080"/>
            <a:r>
              <a:rPr lang="en-US" sz="1200" kern="0" spc="-80" dirty="0">
                <a:solidFill>
                  <a:schemeClr val="accent6"/>
                </a:solidFill>
              </a:rPr>
              <a:t>Step 5: User confirms</a:t>
            </a:r>
          </a:p>
        </p:txBody>
      </p:sp>
    </p:spTree>
    <p:extLst>
      <p:ext uri="{BB962C8B-B14F-4D97-AF65-F5344CB8AC3E}">
        <p14:creationId xmlns:p14="http://schemas.microsoft.com/office/powerpoint/2010/main" val="98590601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BC85D-5285-499F-68FB-0AD460ACB91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1A2FCEF-DC2A-EFE9-A8F9-3FCBE68A5258}"/>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9864735-A198-B665-E018-3A81C443D201}"/>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A03782C-E609-56A8-3738-4ECEA97C8EAF}"/>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B225F85-09A6-43E7-C1CA-06197640F43A}"/>
              </a:ext>
            </a:extLst>
          </p:cNvPr>
          <p:cNvSpPr txBox="1">
            <a:spLocks/>
          </p:cNvSpPr>
          <p:nvPr/>
        </p:nvSpPr>
        <p:spPr>
          <a:xfrm>
            <a:off x="228600" y="873204"/>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Embedded Finance Reference Architecture</a:t>
            </a:r>
          </a:p>
          <a:p>
            <a:pPr marL="12700" marR="5080"/>
            <a:r>
              <a:rPr lang="en-US" sz="1200" kern="0" spc="-80" dirty="0">
                <a:solidFill>
                  <a:schemeClr val="accent2"/>
                </a:solidFill>
              </a:rPr>
              <a:t>🧱 ARCHITECTURE OF EMBEDDED FINANCE</a:t>
            </a:r>
          </a:p>
          <a:p>
            <a:pPr marL="12700" marR="5080"/>
            <a:r>
              <a:rPr lang="en-US" sz="1200" kern="0" spc="-80" dirty="0">
                <a:solidFill>
                  <a:schemeClr val="accent2"/>
                </a:solidFill>
              </a:rPr>
              <a:t>🔄 Typical End-to-End Workflow</a:t>
            </a:r>
          </a:p>
          <a:p>
            <a:pPr marL="12700" marR="5080"/>
            <a:r>
              <a:rPr lang="en-US" sz="1200" kern="0" spc="-80" dirty="0">
                <a:solidFill>
                  <a:schemeClr val="accent6"/>
                </a:solidFill>
              </a:rPr>
              <a:t>Step 6: Loan disbursed to merchant</a:t>
            </a:r>
          </a:p>
          <a:p>
            <a:pPr marL="12700" marR="5080"/>
            <a:r>
              <a:rPr lang="en-US" sz="1200" kern="0" spc="-80" dirty="0">
                <a:solidFill>
                  <a:schemeClr val="accent6"/>
                </a:solidFill>
              </a:rPr>
              <a:t>Step 7: EMI scheduler job creates monthly EMIs</a:t>
            </a:r>
          </a:p>
          <a:p>
            <a:pPr marL="12700" marR="5080"/>
            <a:r>
              <a:rPr lang="en-US" sz="1200" kern="0" spc="-80" dirty="0">
                <a:solidFill>
                  <a:schemeClr val="accent6"/>
                </a:solidFill>
              </a:rPr>
              <a:t>Step 8: Collections workflow processes auto-debit</a:t>
            </a:r>
          </a:p>
          <a:p>
            <a:pPr marL="12700" marR="5080"/>
            <a:r>
              <a:rPr lang="en-US" sz="1200" kern="0" spc="-80" dirty="0">
                <a:solidFill>
                  <a:schemeClr val="accent6"/>
                </a:solidFill>
              </a:rPr>
              <a:t>Step 9: Defaults go to risk team </a:t>
            </a:r>
          </a:p>
          <a:p>
            <a:pPr marL="12700" marR="5080"/>
            <a:endParaRPr lang="en-US" sz="1200" kern="0" spc="-80" dirty="0">
              <a:solidFill>
                <a:schemeClr val="accent6"/>
              </a:solidFill>
            </a:endParaRPr>
          </a:p>
          <a:p>
            <a:pPr marL="12700" marR="5080"/>
            <a:r>
              <a:rPr lang="en-US" sz="1200" kern="0" spc="-80" dirty="0">
                <a:solidFill>
                  <a:schemeClr val="accent2"/>
                </a:solidFill>
              </a:rPr>
              <a:t>🏦 Internal Systems &amp; Background Services</a:t>
            </a:r>
          </a:p>
          <a:p>
            <a:pPr marL="12700" marR="5080"/>
            <a:r>
              <a:rPr lang="en-US" sz="1200" kern="0" spc="-80" dirty="0">
                <a:solidFill>
                  <a:schemeClr val="accent6"/>
                </a:solidFill>
              </a:rPr>
              <a:t>Embedded finance relies heavily on backend automation:</a:t>
            </a:r>
          </a:p>
          <a:p>
            <a:pPr marL="12700" marR="5080"/>
            <a:r>
              <a:rPr lang="en-US" sz="1200" kern="0" spc="-80" dirty="0">
                <a:solidFill>
                  <a:schemeClr val="accent2"/>
                </a:solidFill>
              </a:rPr>
              <a:t>🔹 KYC Workflow Engine</a:t>
            </a:r>
          </a:p>
          <a:p>
            <a:pPr marL="12700" marR="5080"/>
            <a:r>
              <a:rPr lang="en-US" sz="1200" kern="0" spc="-80" dirty="0">
                <a:solidFill>
                  <a:schemeClr val="accent6"/>
                </a:solidFill>
              </a:rPr>
              <a:t>Face match</a:t>
            </a:r>
          </a:p>
          <a:p>
            <a:pPr marL="12700" marR="5080"/>
            <a:r>
              <a:rPr lang="en-US" sz="1200" kern="0" spc="-80" dirty="0">
                <a:solidFill>
                  <a:schemeClr val="accent6"/>
                </a:solidFill>
              </a:rPr>
              <a:t>Liveliness</a:t>
            </a:r>
          </a:p>
          <a:p>
            <a:pPr marL="12700" marR="5080"/>
            <a:r>
              <a:rPr lang="en-US" sz="1200" kern="0" spc="-80" dirty="0">
                <a:solidFill>
                  <a:schemeClr val="accent6"/>
                </a:solidFill>
              </a:rPr>
              <a:t>PAN OCR</a:t>
            </a:r>
          </a:p>
          <a:p>
            <a:pPr marL="12700" marR="5080"/>
            <a:r>
              <a:rPr lang="en-US" sz="1200" kern="0" spc="-80" dirty="0">
                <a:solidFill>
                  <a:schemeClr val="accent6"/>
                </a:solidFill>
              </a:rPr>
              <a:t>Aadhaar XML/OTP</a:t>
            </a:r>
          </a:p>
          <a:p>
            <a:pPr marL="12700" marR="5080"/>
            <a:r>
              <a:rPr lang="en-US" sz="1200" kern="0" spc="-80" dirty="0">
                <a:solidFill>
                  <a:schemeClr val="accent2"/>
                </a:solidFill>
              </a:rPr>
              <a:t>🔹 Ledger System</a:t>
            </a:r>
          </a:p>
          <a:p>
            <a:pPr marL="12700" marR="5080"/>
            <a:r>
              <a:rPr lang="en-US" sz="1200" kern="0" spc="-80" dirty="0">
                <a:solidFill>
                  <a:schemeClr val="accent6"/>
                </a:solidFill>
              </a:rPr>
              <a:t>Tracks every transaction, payout, adjustment.</a:t>
            </a:r>
          </a:p>
          <a:p>
            <a:pPr marL="12700" marR="5080"/>
            <a:r>
              <a:rPr lang="en-US" sz="1200" kern="0" spc="-80" dirty="0">
                <a:solidFill>
                  <a:schemeClr val="accent2"/>
                </a:solidFill>
              </a:rPr>
              <a:t>🔹 Settlement Engine</a:t>
            </a:r>
          </a:p>
          <a:p>
            <a:pPr marL="12700" marR="5080"/>
            <a:r>
              <a:rPr lang="en-US" sz="1200" kern="0" spc="-80" dirty="0">
                <a:solidFill>
                  <a:schemeClr val="accent6"/>
                </a:solidFill>
              </a:rPr>
              <a:t>Reconciles money with banks every night.</a:t>
            </a:r>
          </a:p>
          <a:p>
            <a:pPr marL="12700" marR="5080"/>
            <a:r>
              <a:rPr lang="en-US" sz="1200" kern="0" spc="-80" dirty="0">
                <a:solidFill>
                  <a:schemeClr val="accent2"/>
                </a:solidFill>
              </a:rPr>
              <a:t>🔹 Fraud Engine</a:t>
            </a:r>
          </a:p>
          <a:p>
            <a:pPr marL="12700" marR="5080"/>
            <a:r>
              <a:rPr lang="en-US" sz="1200" kern="0" spc="-80" dirty="0">
                <a:solidFill>
                  <a:schemeClr val="accent6"/>
                </a:solidFill>
              </a:rPr>
              <a:t>Device scoring, IP risk, velocity rules, ML.</a:t>
            </a:r>
          </a:p>
          <a:p>
            <a:pPr marL="12700" marR="5080"/>
            <a:r>
              <a:rPr lang="en-US" sz="1200" kern="0" spc="-80" dirty="0">
                <a:solidFill>
                  <a:schemeClr val="accent2"/>
                </a:solidFill>
              </a:rPr>
              <a:t>🔹 Notification Engine</a:t>
            </a:r>
          </a:p>
          <a:p>
            <a:pPr marL="12700" marR="5080"/>
            <a:r>
              <a:rPr lang="en-US" sz="1200" kern="0" spc="-80" dirty="0">
                <a:solidFill>
                  <a:schemeClr val="accent6"/>
                </a:solidFill>
              </a:rPr>
              <a:t>Success/failure/EMI reminders.</a:t>
            </a:r>
          </a:p>
          <a:p>
            <a:pPr marL="12700" marR="5080"/>
            <a:r>
              <a:rPr lang="en-US" sz="1200" kern="0" spc="-80" dirty="0">
                <a:solidFill>
                  <a:schemeClr val="accent2"/>
                </a:solidFill>
              </a:rPr>
              <a:t>🔹 Document Generator</a:t>
            </a:r>
          </a:p>
          <a:p>
            <a:pPr marL="12700" marR="5080"/>
            <a:r>
              <a:rPr lang="en-US" sz="1200" kern="0" spc="-80" dirty="0">
                <a:solidFill>
                  <a:schemeClr val="accent6"/>
                </a:solidFill>
              </a:rPr>
              <a:t>Policy documents, loan agreements.</a:t>
            </a:r>
          </a:p>
        </p:txBody>
      </p:sp>
    </p:spTree>
    <p:extLst>
      <p:ext uri="{BB962C8B-B14F-4D97-AF65-F5344CB8AC3E}">
        <p14:creationId xmlns:p14="http://schemas.microsoft.com/office/powerpoint/2010/main" val="308022356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86708-FE7B-35B9-C78E-E92E1654A64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091AA4A-3316-B583-9B5E-627DB412899A}"/>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44F394B-3F7B-DC6A-28D9-78F505CC56C3}"/>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443DC28-7728-3F7A-DD2B-6B01AC980AAC}"/>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06910E9-0750-728A-107F-F0ED71E14827}"/>
              </a:ext>
            </a:extLst>
          </p:cNvPr>
          <p:cNvSpPr txBox="1">
            <a:spLocks/>
          </p:cNvSpPr>
          <p:nvPr/>
        </p:nvSpPr>
        <p:spPr>
          <a:xfrm>
            <a:off x="228600" y="873204"/>
            <a:ext cx="8624937" cy="46397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Embedded Finance Reference Architecture</a:t>
            </a:r>
          </a:p>
          <a:p>
            <a:pPr marL="12700" marR="5080"/>
            <a:r>
              <a:rPr lang="en-US" sz="1200" kern="0" spc="-80" dirty="0">
                <a:solidFill>
                  <a:schemeClr val="accent2"/>
                </a:solidFill>
              </a:rPr>
              <a:t>🧱 ARCHITECTURE OF EMBEDDED FINANCE</a:t>
            </a:r>
          </a:p>
          <a:p>
            <a:pPr marL="12700" marR="5080"/>
            <a:r>
              <a:rPr lang="en-US" sz="1200" kern="0" spc="-80" dirty="0">
                <a:solidFill>
                  <a:schemeClr val="accent2"/>
                </a:solidFill>
              </a:rPr>
              <a:t>🏦 Internal Systems &amp; Background Services</a:t>
            </a:r>
          </a:p>
          <a:p>
            <a:pPr marL="12700" marR="5080"/>
            <a:r>
              <a:rPr lang="en-US" sz="1200" kern="0" spc="-80" dirty="0">
                <a:solidFill>
                  <a:schemeClr val="accent2"/>
                </a:solidFill>
              </a:rPr>
              <a:t>🔹 Regulatory Reporting</a:t>
            </a:r>
          </a:p>
          <a:p>
            <a:pPr marL="12700" marR="5080"/>
            <a:r>
              <a:rPr lang="en-US" sz="1200" kern="0" spc="-80" dirty="0">
                <a:solidFill>
                  <a:schemeClr val="accent6"/>
                </a:solidFill>
              </a:rPr>
              <a:t>For RBI, SEBI, IRDAI, FIU-IND.</a:t>
            </a:r>
          </a:p>
          <a:p>
            <a:pPr marL="12700" marR="5080"/>
            <a:endParaRPr lang="en-US" sz="1200" kern="0" spc="-80" dirty="0">
              <a:solidFill>
                <a:schemeClr val="accent6"/>
              </a:solidFill>
            </a:endParaRPr>
          </a:p>
          <a:p>
            <a:pPr marL="12700" marR="5080"/>
            <a:r>
              <a:rPr lang="en-US" sz="1200" kern="0" spc="-80" dirty="0">
                <a:solidFill>
                  <a:schemeClr val="accent2"/>
                </a:solidFill>
              </a:rPr>
              <a:t>⚖️ Compliance Requirements</a:t>
            </a:r>
          </a:p>
          <a:p>
            <a:pPr marL="12700" marR="5080"/>
            <a:r>
              <a:rPr lang="en-US" sz="1200" kern="0" spc="-80" dirty="0">
                <a:solidFill>
                  <a:schemeClr val="accent6"/>
                </a:solidFill>
              </a:rPr>
              <a:t>Because finance is highly regulated:</a:t>
            </a:r>
          </a:p>
          <a:p>
            <a:pPr marL="12700" marR="5080"/>
            <a:r>
              <a:rPr lang="en-US" sz="1200" kern="0" spc="-80" dirty="0">
                <a:solidFill>
                  <a:schemeClr val="accent2"/>
                </a:solidFill>
              </a:rPr>
              <a:t>🔹 KYC/AML</a:t>
            </a:r>
          </a:p>
          <a:p>
            <a:pPr marL="12700" marR="5080"/>
            <a:r>
              <a:rPr lang="en-US" sz="1200" kern="0" spc="-80" dirty="0">
                <a:solidFill>
                  <a:schemeClr val="accent6"/>
                </a:solidFill>
              </a:rPr>
              <a:t>Aadhaar</a:t>
            </a:r>
          </a:p>
          <a:p>
            <a:pPr marL="12700" marR="5080"/>
            <a:r>
              <a:rPr lang="en-US" sz="1200" kern="0" spc="-80" dirty="0">
                <a:solidFill>
                  <a:schemeClr val="accent6"/>
                </a:solidFill>
              </a:rPr>
              <a:t>PAN</a:t>
            </a:r>
          </a:p>
          <a:p>
            <a:pPr marL="12700" marR="5080"/>
            <a:r>
              <a:rPr lang="en-US" sz="1200" kern="0" spc="-80" dirty="0">
                <a:solidFill>
                  <a:schemeClr val="accent6"/>
                </a:solidFill>
              </a:rPr>
              <a:t>CKYC</a:t>
            </a:r>
          </a:p>
          <a:p>
            <a:pPr marL="12700" marR="5080"/>
            <a:r>
              <a:rPr lang="en-US" sz="1200" kern="0" spc="-80" dirty="0">
                <a:solidFill>
                  <a:schemeClr val="accent6"/>
                </a:solidFill>
              </a:rPr>
              <a:t>Video KYC</a:t>
            </a:r>
          </a:p>
          <a:p>
            <a:pPr marL="12700" marR="5080"/>
            <a:r>
              <a:rPr lang="en-US" sz="1200" kern="0" spc="-80" dirty="0">
                <a:solidFill>
                  <a:schemeClr val="accent2"/>
                </a:solidFill>
              </a:rPr>
              <a:t>🔹 Data Protection</a:t>
            </a:r>
          </a:p>
          <a:p>
            <a:pPr marL="12700" marR="5080"/>
            <a:r>
              <a:rPr lang="en-US" sz="1200" kern="0" spc="-80" dirty="0">
                <a:solidFill>
                  <a:schemeClr val="accent6"/>
                </a:solidFill>
              </a:rPr>
              <a:t>Tokenization</a:t>
            </a:r>
          </a:p>
          <a:p>
            <a:pPr marL="12700" marR="5080"/>
            <a:r>
              <a:rPr lang="en-US" sz="1200" kern="0" spc="-80" dirty="0">
                <a:solidFill>
                  <a:schemeClr val="accent6"/>
                </a:solidFill>
              </a:rPr>
              <a:t>PCI-DSS</a:t>
            </a:r>
          </a:p>
          <a:p>
            <a:pPr marL="12700" marR="5080"/>
            <a:r>
              <a:rPr lang="en-US" sz="1200" kern="0" spc="-80" dirty="0">
                <a:solidFill>
                  <a:schemeClr val="accent6"/>
                </a:solidFill>
              </a:rPr>
              <a:t>Encryption at rest + transit</a:t>
            </a:r>
          </a:p>
          <a:p>
            <a:pPr marL="12700" marR="5080"/>
            <a:r>
              <a:rPr lang="en-US" sz="1200" kern="0" spc="-80" dirty="0">
                <a:solidFill>
                  <a:schemeClr val="accent2"/>
                </a:solidFill>
              </a:rPr>
              <a:t>🔹 RBI Guidelines</a:t>
            </a:r>
          </a:p>
          <a:p>
            <a:pPr marL="12700" marR="5080"/>
            <a:r>
              <a:rPr lang="en-US" sz="1200" kern="0" spc="-80" dirty="0">
                <a:solidFill>
                  <a:schemeClr val="accent6"/>
                </a:solidFill>
              </a:rPr>
              <a:t>Digital lending</a:t>
            </a:r>
          </a:p>
          <a:p>
            <a:pPr marL="12700" marR="5080"/>
            <a:r>
              <a:rPr lang="en-US" sz="1200" kern="0" spc="-80" dirty="0">
                <a:solidFill>
                  <a:schemeClr val="accent6"/>
                </a:solidFill>
              </a:rPr>
              <a:t>Wallet rules</a:t>
            </a:r>
          </a:p>
          <a:p>
            <a:pPr marL="12700" marR="5080"/>
            <a:r>
              <a:rPr lang="en-US" sz="1200" kern="0" spc="-80" dirty="0">
                <a:solidFill>
                  <a:schemeClr val="accent6"/>
                </a:solidFill>
              </a:rPr>
              <a:t>Co-lending</a:t>
            </a:r>
          </a:p>
          <a:p>
            <a:pPr marL="12700" marR="5080"/>
            <a:r>
              <a:rPr lang="en-US" sz="1200" kern="0" spc="-80" dirty="0">
                <a:solidFill>
                  <a:schemeClr val="accent2"/>
                </a:solidFill>
              </a:rPr>
              <a:t>🔹 Logging + audit trails</a:t>
            </a:r>
          </a:p>
          <a:p>
            <a:pPr marL="12700" marR="5080"/>
            <a:r>
              <a:rPr lang="en-US" sz="1200" kern="0" spc="-80" dirty="0">
                <a:solidFill>
                  <a:schemeClr val="accent6"/>
                </a:solidFill>
              </a:rPr>
              <a:t>Every financial workflow must be auditable.</a:t>
            </a:r>
          </a:p>
          <a:p>
            <a:pPr marL="12700" marR="5080"/>
            <a:endParaRPr lang="en-US" sz="1350" kern="0" spc="-80" dirty="0">
              <a:solidFill>
                <a:schemeClr val="accent6"/>
              </a:solidFill>
            </a:endParaRPr>
          </a:p>
        </p:txBody>
      </p:sp>
    </p:spTree>
    <p:extLst>
      <p:ext uri="{BB962C8B-B14F-4D97-AF65-F5344CB8AC3E}">
        <p14:creationId xmlns:p14="http://schemas.microsoft.com/office/powerpoint/2010/main" val="35148278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B14D2-9822-5EA0-AF0F-3DA6DDD31E5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34E36EF-C144-7A23-EDF9-485A78491181}"/>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0CAC958-9AB3-37A4-8E83-04CFDFB24325}"/>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B3AF1B2-8D06-D61B-2F24-CD6C301F4586}"/>
              </a:ext>
            </a:extLst>
          </p:cNvPr>
          <p:cNvGraphicFramePr/>
          <p:nvPr/>
        </p:nvGraphicFramePr>
        <p:xfrm>
          <a:off x="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18F9D3C-7057-20B2-D3F4-97217A9A97BF}"/>
              </a:ext>
            </a:extLst>
          </p:cNvPr>
          <p:cNvSpPr txBox="1">
            <a:spLocks/>
          </p:cNvSpPr>
          <p:nvPr/>
        </p:nvSpPr>
        <p:spPr>
          <a:xfrm>
            <a:off x="228600" y="873204"/>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err="1">
                <a:solidFill>
                  <a:schemeClr val="accent2"/>
                </a:solidFill>
              </a:rPr>
              <a:t>MarTech</a:t>
            </a:r>
            <a:r>
              <a:rPr lang="en-US" sz="2000" kern="0" spc="-80" dirty="0">
                <a:solidFill>
                  <a:schemeClr val="accent2"/>
                </a:solidFill>
              </a:rPr>
              <a:t> Reference Architecture</a:t>
            </a:r>
          </a:p>
          <a:p>
            <a:pPr marL="12700" marR="5080"/>
            <a:r>
              <a:rPr lang="en-US" sz="2400" kern="0" spc="-80" dirty="0">
                <a:solidFill>
                  <a:schemeClr val="accent2"/>
                </a:solidFill>
              </a:rPr>
              <a:t>  </a:t>
            </a:r>
          </a:p>
        </p:txBody>
      </p:sp>
      <p:pic>
        <p:nvPicPr>
          <p:cNvPr id="1026" name="Picture 2">
            <a:extLst>
              <a:ext uri="{FF2B5EF4-FFF2-40B4-BE49-F238E27FC236}">
                <a16:creationId xmlns:a16="http://schemas.microsoft.com/office/drawing/2014/main" id="{C514311A-525B-A6CB-19B4-098571B7DFE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211759"/>
            <a:ext cx="9144000" cy="2179777"/>
          </a:xfrm>
          <a:prstGeom prst="rect">
            <a:avLst/>
          </a:prstGeom>
          <a:noFill/>
          <a:extLst>
            <a:ext uri="{909E8E84-426E-40DD-AFC4-6F175D3DCCD1}">
              <a14:hiddenFill xmlns:a14="http://schemas.microsoft.com/office/drawing/2010/main">
                <a:solidFill>
                  <a:srgbClr val="FFFFFF"/>
                </a:solidFill>
              </a14:hiddenFill>
            </a:ext>
          </a:extLst>
        </p:spPr>
      </p:pic>
      <p:sp>
        <p:nvSpPr>
          <p:cNvPr id="7" name="object 2">
            <a:extLst>
              <a:ext uri="{FF2B5EF4-FFF2-40B4-BE49-F238E27FC236}">
                <a16:creationId xmlns:a16="http://schemas.microsoft.com/office/drawing/2014/main" id="{F64FE25F-19D0-36A9-3981-5FDCD6796CC1}"/>
              </a:ext>
            </a:extLst>
          </p:cNvPr>
          <p:cNvSpPr txBox="1">
            <a:spLocks/>
          </p:cNvSpPr>
          <p:nvPr/>
        </p:nvSpPr>
        <p:spPr>
          <a:xfrm>
            <a:off x="137369" y="3312221"/>
            <a:ext cx="8624937" cy="258532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2"/>
                </a:solidFill>
              </a:rPr>
              <a:t>Key Components of a </a:t>
            </a:r>
            <a:r>
              <a:rPr lang="en-US" sz="1200" kern="0" spc="-80" dirty="0" err="1">
                <a:solidFill>
                  <a:schemeClr val="accent2"/>
                </a:solidFill>
              </a:rPr>
              <a:t>MarTech</a:t>
            </a:r>
            <a:r>
              <a:rPr lang="en-US" sz="1200" kern="0" spc="-80" dirty="0">
                <a:solidFill>
                  <a:schemeClr val="accent2"/>
                </a:solidFill>
              </a:rPr>
              <a:t> Reference Architecture</a:t>
            </a:r>
          </a:p>
          <a:p>
            <a:pPr marL="12700" marR="5080"/>
            <a:r>
              <a:rPr lang="en-US" sz="1200" kern="0" spc="-80" dirty="0">
                <a:solidFill>
                  <a:schemeClr val="accent6"/>
                </a:solidFill>
              </a:rPr>
              <a:t>A comprehensive </a:t>
            </a:r>
            <a:r>
              <a:rPr lang="en-US" sz="1200" kern="0" spc="-80" dirty="0" err="1">
                <a:solidFill>
                  <a:schemeClr val="accent6"/>
                </a:solidFill>
              </a:rPr>
              <a:t>MarTech</a:t>
            </a:r>
            <a:r>
              <a:rPr lang="en-US" sz="1200" kern="0" spc="-80" dirty="0">
                <a:solidFill>
                  <a:schemeClr val="accent6"/>
                </a:solidFill>
              </a:rPr>
              <a:t> reference architecture typically includes the following elements: </a:t>
            </a:r>
          </a:p>
          <a:p>
            <a:pPr marL="12700" marR="5080"/>
            <a:r>
              <a:rPr lang="en-US" sz="1200" kern="0" spc="-80" dirty="0">
                <a:solidFill>
                  <a:schemeClr val="accent2"/>
                </a:solidFill>
              </a:rPr>
              <a:t>Customer: </a:t>
            </a:r>
            <a:r>
              <a:rPr lang="en-US" sz="1200" kern="0" spc="-80" dirty="0">
                <a:solidFill>
                  <a:schemeClr val="accent6"/>
                </a:solidFill>
              </a:rPr>
              <a:t>The central focus of the architecture, representing the target audience and their needs. </a:t>
            </a:r>
          </a:p>
          <a:p>
            <a:pPr marL="12700" marR="5080"/>
            <a:r>
              <a:rPr lang="en-US" sz="1200" kern="0" spc="-80" dirty="0">
                <a:solidFill>
                  <a:schemeClr val="accent2"/>
                </a:solidFill>
              </a:rPr>
              <a:t>Journeys: </a:t>
            </a:r>
            <a:r>
              <a:rPr lang="en-US" sz="1200" kern="0" spc="-80" dirty="0">
                <a:solidFill>
                  <a:schemeClr val="accent6"/>
                </a:solidFill>
              </a:rPr>
              <a:t>The defined pathways customers take when interacting with a brand, from discovery to purchase and beyond. </a:t>
            </a:r>
          </a:p>
          <a:p>
            <a:pPr marL="12700" marR="5080"/>
            <a:r>
              <a:rPr lang="en-US" sz="1200" kern="0" spc="-80" dirty="0">
                <a:solidFill>
                  <a:schemeClr val="accent2"/>
                </a:solidFill>
              </a:rPr>
              <a:t>Channels: </a:t>
            </a:r>
            <a:r>
              <a:rPr lang="en-US" sz="1200" kern="0" spc="-80" dirty="0">
                <a:solidFill>
                  <a:schemeClr val="accent6"/>
                </a:solidFill>
              </a:rPr>
              <a:t>The online and offline touchpoints where a brand interacts with customers, such as websites, social media, email, and retail stores. </a:t>
            </a:r>
          </a:p>
          <a:p>
            <a:pPr marL="12700" marR="5080"/>
            <a:r>
              <a:rPr lang="en-US" sz="1200" kern="0" spc="-80" dirty="0">
                <a:solidFill>
                  <a:schemeClr val="accent2"/>
                </a:solidFill>
              </a:rPr>
              <a:t>Experiences: </a:t>
            </a:r>
            <a:r>
              <a:rPr lang="en-US" sz="1200" kern="0" spc="-80" dirty="0">
                <a:solidFill>
                  <a:schemeClr val="accent6"/>
                </a:solidFill>
              </a:rPr>
              <a:t>The personalized and seamless content and service delivery across the customer journey. </a:t>
            </a:r>
          </a:p>
          <a:p>
            <a:pPr marL="12700" marR="5080"/>
            <a:r>
              <a:rPr lang="en-US" sz="1200" kern="0" spc="-80" dirty="0">
                <a:solidFill>
                  <a:schemeClr val="accent2"/>
                </a:solidFill>
              </a:rPr>
              <a:t>Processes: </a:t>
            </a:r>
            <a:r>
              <a:rPr lang="en-US" sz="1200" kern="0" spc="-80" dirty="0">
                <a:solidFill>
                  <a:schemeClr val="accent6"/>
                </a:solidFill>
              </a:rPr>
              <a:t>The workflows and operations involved in marketing, such as content creation, campaign execution, and data analysis. </a:t>
            </a:r>
          </a:p>
          <a:p>
            <a:pPr marL="12700" marR="5080"/>
            <a:r>
              <a:rPr lang="en-US" sz="1200" kern="0" spc="-80" dirty="0">
                <a:solidFill>
                  <a:schemeClr val="accent2"/>
                </a:solidFill>
              </a:rPr>
              <a:t>People: </a:t>
            </a:r>
            <a:r>
              <a:rPr lang="en-US" sz="1200" kern="0" spc="-80" dirty="0">
                <a:solidFill>
                  <a:schemeClr val="accent6"/>
                </a:solidFill>
              </a:rPr>
              <a:t>The human element, including marketing teams and stakeholders responsible for managing the </a:t>
            </a:r>
            <a:r>
              <a:rPr lang="en-US" sz="1200" kern="0" spc="-80" dirty="0" err="1">
                <a:solidFill>
                  <a:schemeClr val="accent6"/>
                </a:solidFill>
              </a:rPr>
              <a:t>MarTech</a:t>
            </a:r>
            <a:r>
              <a:rPr lang="en-US" sz="1200" kern="0" spc="-80" dirty="0">
                <a:solidFill>
                  <a:schemeClr val="accent6"/>
                </a:solidFill>
              </a:rPr>
              <a:t> stack. </a:t>
            </a:r>
          </a:p>
          <a:p>
            <a:pPr marL="12700" marR="5080"/>
            <a:r>
              <a:rPr lang="en-US" sz="1200" kern="0" spc="-80" dirty="0">
                <a:solidFill>
                  <a:schemeClr val="accent2"/>
                </a:solidFill>
              </a:rPr>
              <a:t>Technology: </a:t>
            </a:r>
            <a:r>
              <a:rPr lang="en-US" sz="1200" kern="0" spc="-80" dirty="0">
                <a:solidFill>
                  <a:schemeClr val="accent6"/>
                </a:solidFill>
              </a:rPr>
              <a:t>The various software and hardware tools that enable marketing activities, including Content Management Systems (CMS), Customer Data Platforms (CDPs), and Marketing Automation tools. </a:t>
            </a:r>
          </a:p>
          <a:p>
            <a:pPr marL="12700" marR="5080"/>
            <a:r>
              <a:rPr lang="en-US" sz="1200" kern="0" spc="-80" dirty="0">
                <a:solidFill>
                  <a:schemeClr val="accent2"/>
                </a:solidFill>
              </a:rPr>
              <a:t>Data: </a:t>
            </a:r>
            <a:r>
              <a:rPr lang="en-US" sz="1200" kern="0" spc="-80" dirty="0">
                <a:solidFill>
                  <a:schemeClr val="accent6"/>
                </a:solidFill>
              </a:rPr>
              <a:t>The customer information that fuels personalized marketing efforts, including demographics, behaviors, and preferences. </a:t>
            </a:r>
          </a:p>
        </p:txBody>
      </p:sp>
    </p:spTree>
    <p:extLst>
      <p:ext uri="{BB962C8B-B14F-4D97-AF65-F5344CB8AC3E}">
        <p14:creationId xmlns:p14="http://schemas.microsoft.com/office/powerpoint/2010/main" val="174163352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68333-F24A-E696-4D3C-2FA6AE69A49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3C8FF70-2245-824E-0DDA-A99FFA4ED436}"/>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00F6077-E898-1238-8436-B1162888A719}"/>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D71830B-2B3D-91F5-DCC5-CAF9AF96D9A9}"/>
              </a:ext>
            </a:extLst>
          </p:cNvPr>
          <p:cNvGraphicFramePr/>
          <p:nvPr/>
        </p:nvGraphicFramePr>
        <p:xfrm>
          <a:off x="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41D20CA-A3A0-E303-9D37-3B8759F28ADE}"/>
              </a:ext>
            </a:extLst>
          </p:cNvPr>
          <p:cNvSpPr txBox="1">
            <a:spLocks/>
          </p:cNvSpPr>
          <p:nvPr/>
        </p:nvSpPr>
        <p:spPr>
          <a:xfrm>
            <a:off x="228600" y="873204"/>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err="1">
                <a:solidFill>
                  <a:schemeClr val="accent2"/>
                </a:solidFill>
              </a:rPr>
              <a:t>MarTech</a:t>
            </a:r>
            <a:r>
              <a:rPr lang="en-US" sz="2000" kern="0" spc="-80" dirty="0">
                <a:solidFill>
                  <a:schemeClr val="accent2"/>
                </a:solidFill>
              </a:rPr>
              <a:t> Reference Architecture</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B3BBF16-EF69-59FE-EB37-6BB7E3F9BA49}"/>
              </a:ext>
            </a:extLst>
          </p:cNvPr>
          <p:cNvSpPr txBox="1">
            <a:spLocks/>
          </p:cNvSpPr>
          <p:nvPr/>
        </p:nvSpPr>
        <p:spPr>
          <a:xfrm>
            <a:off x="137369" y="1227365"/>
            <a:ext cx="8624937" cy="20621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For Further Exploration-</a:t>
            </a:r>
          </a:p>
          <a:p>
            <a:pPr marL="12700" marR="5080"/>
            <a:r>
              <a:rPr lang="en-US" sz="1200" dirty="0" err="1">
                <a:hlinkClick r:id="rId7"/>
              </a:rPr>
              <a:t>Credera’s</a:t>
            </a:r>
            <a:r>
              <a:rPr lang="en-US" sz="1200" dirty="0">
                <a:hlinkClick r:id="rId7"/>
              </a:rPr>
              <a:t> </a:t>
            </a:r>
            <a:r>
              <a:rPr lang="en-US" sz="1200" dirty="0" err="1">
                <a:hlinkClick r:id="rId7"/>
              </a:rPr>
              <a:t>MarTech</a:t>
            </a:r>
            <a:r>
              <a:rPr lang="en-US" sz="1200" dirty="0">
                <a:hlinkClick r:id="rId7"/>
              </a:rPr>
              <a:t> Reference Architecture part 1: An overview of how it works | </a:t>
            </a:r>
            <a:r>
              <a:rPr lang="en-US" sz="1200" dirty="0" err="1">
                <a:hlinkClick r:id="rId7"/>
              </a:rPr>
              <a:t>Credera</a:t>
            </a:r>
            <a:endParaRPr lang="en-US" sz="1200" dirty="0"/>
          </a:p>
          <a:p>
            <a:pPr marL="12700" marR="5080"/>
            <a:r>
              <a:rPr lang="en-IN" sz="1200" dirty="0">
                <a:hlinkClick r:id="rId8"/>
              </a:rPr>
              <a:t>Marketing | The GitLab Handbook</a:t>
            </a:r>
            <a:endParaRPr lang="en-US" sz="1200" dirty="0"/>
          </a:p>
          <a:p>
            <a:pPr marL="12700" marR="5080"/>
            <a:r>
              <a:rPr lang="en-US" sz="1200" dirty="0">
                <a:hlinkClick r:id="rId9"/>
              </a:rPr>
              <a:t>Your free guide to technical marketing - Technical Marketing Handbook</a:t>
            </a:r>
            <a:endParaRPr lang="en-US" sz="1200" dirty="0"/>
          </a:p>
          <a:p>
            <a:pPr marL="12700" marR="5080"/>
            <a:r>
              <a:rPr lang="en-US" sz="1200" dirty="0">
                <a:hlinkClick r:id="rId10"/>
              </a:rPr>
              <a:t>The Martech Handbook: “Build a Technology Stack to Attract and Retain Customers</a:t>
            </a:r>
            <a:r>
              <a:rPr lang="en-US" sz="1200" dirty="0">
                <a:hlinkClick r:id="rId11"/>
              </a:rPr>
              <a:t>“</a:t>
            </a:r>
            <a:endParaRPr lang="en-US" sz="1200" dirty="0"/>
          </a:p>
          <a:p>
            <a:pPr marL="12700" marR="5080"/>
            <a:r>
              <a:rPr lang="en-US" sz="1200" dirty="0">
                <a:hlinkClick r:id="rId11"/>
              </a:rPr>
              <a:t>The Ultimate </a:t>
            </a:r>
            <a:r>
              <a:rPr lang="en-US" sz="1200" dirty="0" err="1">
                <a:hlinkClick r:id="rId11"/>
              </a:rPr>
              <a:t>MarTech</a:t>
            </a:r>
            <a:r>
              <a:rPr lang="en-US" sz="1200" dirty="0">
                <a:hlinkClick r:id="rId11"/>
              </a:rPr>
              <a:t> Stack Handbook | </a:t>
            </a:r>
            <a:r>
              <a:rPr lang="en-US" sz="1200" dirty="0" err="1">
                <a:hlinkClick r:id="rId11"/>
              </a:rPr>
              <a:t>TransFunnel</a:t>
            </a:r>
            <a:endParaRPr lang="en-US" sz="1200" dirty="0"/>
          </a:p>
          <a:p>
            <a:pPr marL="12700" marR="5080"/>
            <a:r>
              <a:rPr lang="en-US" sz="1200" dirty="0">
                <a:hlinkClick r:id="rId12"/>
              </a:rPr>
              <a:t>6 Steps to Design the Ideal Martech Stack</a:t>
            </a:r>
            <a:endParaRPr lang="en-US" sz="1200" dirty="0"/>
          </a:p>
          <a:p>
            <a:pPr marL="12700" marR="5080"/>
            <a:r>
              <a:rPr lang="en-US" sz="1200" dirty="0">
                <a:hlinkClick r:id="rId13"/>
              </a:rPr>
              <a:t>Known Customer Activation blueprint | Adobe Real-Time Customer Data Platform</a:t>
            </a:r>
            <a:endParaRPr lang="en-US" sz="1200" dirty="0"/>
          </a:p>
          <a:p>
            <a:pPr marL="12700" marR="5080"/>
            <a:r>
              <a:rPr lang="en-US" sz="1200" dirty="0">
                <a:hlinkClick r:id="rId14"/>
              </a:rPr>
              <a:t>Dynamics 365 guidance documentation and other resources - Dynamics 365 | Microsoft Learn</a:t>
            </a:r>
            <a:endParaRPr lang="en-US" sz="1200" dirty="0"/>
          </a:p>
          <a:p>
            <a:pPr marL="12700" marR="5080"/>
            <a:endParaRPr lang="en-US" sz="1200" dirty="0"/>
          </a:p>
          <a:p>
            <a:pPr marL="12700" marR="5080"/>
            <a:endParaRPr lang="en-US" sz="1200" kern="0" spc="-80" dirty="0">
              <a:solidFill>
                <a:schemeClr val="accent2"/>
              </a:solidFill>
            </a:endParaRPr>
          </a:p>
        </p:txBody>
      </p:sp>
    </p:spTree>
    <p:extLst>
      <p:ext uri="{BB962C8B-B14F-4D97-AF65-F5344CB8AC3E}">
        <p14:creationId xmlns:p14="http://schemas.microsoft.com/office/powerpoint/2010/main" val="357273578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ED32B-A7FE-0FC0-67D5-A3B317691CE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86053C5-9704-B4A3-9BAC-9D4281342329}"/>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ACAD78E-58FA-A32A-1A84-63EC3B1BF375}"/>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E2C893F-0DF8-D437-37C9-4A4FAC75AD10}"/>
              </a:ext>
            </a:extLst>
          </p:cNvPr>
          <p:cNvGraphicFramePr/>
          <p:nvPr/>
        </p:nvGraphicFramePr>
        <p:xfrm>
          <a:off x="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F95AF5A-EB41-CF19-9769-06D2292ED9C4}"/>
              </a:ext>
            </a:extLst>
          </p:cNvPr>
          <p:cNvSpPr txBox="1">
            <a:spLocks/>
          </p:cNvSpPr>
          <p:nvPr/>
        </p:nvSpPr>
        <p:spPr>
          <a:xfrm>
            <a:off x="228600" y="873204"/>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AdTech Reference Architecture</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CFBB639-B893-6DD3-E611-6CD464980783}"/>
              </a:ext>
            </a:extLst>
          </p:cNvPr>
          <p:cNvSpPr txBox="1">
            <a:spLocks/>
          </p:cNvSpPr>
          <p:nvPr/>
        </p:nvSpPr>
        <p:spPr>
          <a:xfrm>
            <a:off x="137369" y="3312221"/>
            <a:ext cx="8624937" cy="258532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2"/>
                </a:solidFill>
              </a:rPr>
              <a:t>Key Components of a AdTech Reference Architecture</a:t>
            </a:r>
          </a:p>
          <a:p>
            <a:pPr marL="12700" marR="5080"/>
            <a:r>
              <a:rPr lang="en-US" sz="1200" kern="0" spc="-80" dirty="0">
                <a:solidFill>
                  <a:schemeClr val="accent2"/>
                </a:solidFill>
              </a:rPr>
              <a:t>Demand-Side Platform (DSP)</a:t>
            </a:r>
          </a:p>
          <a:p>
            <a:pPr marL="12700" marR="5080"/>
            <a:r>
              <a:rPr lang="en-US" sz="1200" kern="0" spc="-80" dirty="0">
                <a:solidFill>
                  <a:schemeClr val="accent6"/>
                </a:solidFill>
              </a:rPr>
              <a:t>This software is used by advertisers and agencies to purchase ad inventory automatically across various ad exchanges. A DSP helps advertisers manage campaigns and optimize ad spend by: </a:t>
            </a:r>
          </a:p>
          <a:p>
            <a:pPr marL="12700" marR="5080"/>
            <a:r>
              <a:rPr lang="en-US" sz="1200" kern="0" spc="-80" dirty="0">
                <a:solidFill>
                  <a:schemeClr val="accent2"/>
                </a:solidFill>
              </a:rPr>
              <a:t>Targeting:</a:t>
            </a:r>
            <a:r>
              <a:rPr lang="en-US" sz="1200" kern="0" spc="-80" dirty="0">
                <a:solidFill>
                  <a:schemeClr val="accent6"/>
                </a:solidFill>
              </a:rPr>
              <a:t> Using data to identify and reach specific audiences based on demographics, interests, and behavior.</a:t>
            </a:r>
          </a:p>
          <a:p>
            <a:pPr marL="12700" marR="5080"/>
            <a:r>
              <a:rPr lang="en-US" sz="1200" kern="0" spc="-80" dirty="0">
                <a:solidFill>
                  <a:schemeClr val="accent2"/>
                </a:solidFill>
              </a:rPr>
              <a:t>Bidding: </a:t>
            </a:r>
            <a:r>
              <a:rPr lang="en-US" sz="1200" kern="0" spc="-80" dirty="0">
                <a:solidFill>
                  <a:schemeClr val="accent6"/>
                </a:solidFill>
              </a:rPr>
              <a:t>Placing automated, real-time bids for ad impressions based on an advertiser's budget and campaign goals.</a:t>
            </a:r>
          </a:p>
          <a:p>
            <a:pPr marL="12700" marR="5080"/>
            <a:r>
              <a:rPr lang="en-US" sz="1200" kern="0" spc="-80" dirty="0">
                <a:solidFill>
                  <a:schemeClr val="accent2"/>
                </a:solidFill>
              </a:rPr>
              <a:t>Analytics and Reporting: </a:t>
            </a:r>
            <a:r>
              <a:rPr lang="en-US" sz="1200" kern="0" spc="-80" dirty="0">
                <a:solidFill>
                  <a:schemeClr val="accent6"/>
                </a:solidFill>
              </a:rPr>
              <a:t>Providing real-time dashboards for monitoring performance metrics like return on investment (ROI), impressions, and clicks. </a:t>
            </a:r>
          </a:p>
          <a:p>
            <a:pPr marL="12700" marR="5080"/>
            <a:r>
              <a:rPr lang="en-US" sz="1200" kern="0" spc="-80" dirty="0">
                <a:solidFill>
                  <a:schemeClr val="accent2"/>
                </a:solidFill>
              </a:rPr>
              <a:t>Supply-Side Platform (SSP)</a:t>
            </a:r>
          </a:p>
          <a:p>
            <a:pPr marL="12700" marR="5080"/>
            <a:r>
              <a:rPr lang="en-US" sz="1200" kern="0" spc="-80" dirty="0">
                <a:solidFill>
                  <a:schemeClr val="accent6"/>
                </a:solidFill>
              </a:rPr>
              <a:t>This technology is used by publishers (website and app owners) to manage and sell their available ad space, or inventory. An SSP is designed to maximize revenue for publishers by: </a:t>
            </a:r>
          </a:p>
          <a:p>
            <a:pPr marL="12700" marR="5080"/>
            <a:r>
              <a:rPr lang="en-US" sz="1200" kern="0" spc="-80" dirty="0">
                <a:solidFill>
                  <a:schemeClr val="accent2"/>
                </a:solidFill>
              </a:rPr>
              <a:t>Yield Optimization: </a:t>
            </a:r>
            <a:r>
              <a:rPr lang="en-US" sz="1200" kern="0" spc="-80" dirty="0">
                <a:solidFill>
                  <a:schemeClr val="accent6"/>
                </a:solidFill>
              </a:rPr>
              <a:t>Connecting to multiple DSPs and ad exchanges to increase bidding competition for ad inventory.</a:t>
            </a:r>
          </a:p>
          <a:p>
            <a:pPr marL="12700" marR="5080"/>
            <a:r>
              <a:rPr lang="en-US" sz="1200" kern="0" spc="-80" dirty="0">
                <a:solidFill>
                  <a:schemeClr val="accent2"/>
                </a:solidFill>
              </a:rPr>
              <a:t>Inventory Management:</a:t>
            </a:r>
            <a:r>
              <a:rPr lang="en-US" sz="1200" kern="0" spc="-80" dirty="0">
                <a:solidFill>
                  <a:schemeClr val="accent6"/>
                </a:solidFill>
              </a:rPr>
              <a:t> Allowing publishers to control which ads appear on their site by setting rules for formats, price floors, and ad quality.</a:t>
            </a:r>
          </a:p>
        </p:txBody>
      </p:sp>
      <p:pic>
        <p:nvPicPr>
          <p:cNvPr id="8" name="Picture 7" descr="A diagram of a company&#10;&#10;AI-generated content may be incorrect.">
            <a:extLst>
              <a:ext uri="{FF2B5EF4-FFF2-40B4-BE49-F238E27FC236}">
                <a16:creationId xmlns:a16="http://schemas.microsoft.com/office/drawing/2014/main" id="{F41EEE2C-ADCB-DD54-98A1-6B1DC46F0B3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7369" y="1178003"/>
            <a:ext cx="8869261" cy="2134218"/>
          </a:xfrm>
          <a:prstGeom prst="rect">
            <a:avLst/>
          </a:prstGeom>
        </p:spPr>
      </p:pic>
    </p:spTree>
    <p:extLst>
      <p:ext uri="{BB962C8B-B14F-4D97-AF65-F5344CB8AC3E}">
        <p14:creationId xmlns:p14="http://schemas.microsoft.com/office/powerpoint/2010/main" val="50450677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7B486-F18C-8004-CBE0-C5F37836A29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E397580-4050-1356-ECB5-C6F4DAD2CA29}"/>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5D116E7-8556-7128-84B6-515B446A378A}"/>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2C1827C-B5F6-9598-09F6-4D33FE4A7A55}"/>
              </a:ext>
            </a:extLst>
          </p:cNvPr>
          <p:cNvGraphicFramePr/>
          <p:nvPr/>
        </p:nvGraphicFramePr>
        <p:xfrm>
          <a:off x="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50209CD-F3BA-BDC9-0BCF-6850419F32AD}"/>
              </a:ext>
            </a:extLst>
          </p:cNvPr>
          <p:cNvSpPr txBox="1">
            <a:spLocks/>
          </p:cNvSpPr>
          <p:nvPr/>
        </p:nvSpPr>
        <p:spPr>
          <a:xfrm>
            <a:off x="228600" y="873204"/>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AdTech Reference Architecture</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47C7757-6F42-766C-76E6-33FC6ED2E043}"/>
              </a:ext>
            </a:extLst>
          </p:cNvPr>
          <p:cNvSpPr txBox="1">
            <a:spLocks/>
          </p:cNvSpPr>
          <p:nvPr/>
        </p:nvSpPr>
        <p:spPr>
          <a:xfrm>
            <a:off x="137369" y="1178004"/>
            <a:ext cx="8624937"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2"/>
                </a:solidFill>
              </a:rPr>
              <a:t>Header Bidding: </a:t>
            </a:r>
            <a:r>
              <a:rPr lang="en-US" sz="1200" kern="0" spc="-80" dirty="0">
                <a:solidFill>
                  <a:schemeClr val="accent6"/>
                </a:solidFill>
              </a:rPr>
              <a:t>Offering inventory to multiple demand sources simultaneously before an ad server is called, increasing the chances of finding the highest bid. </a:t>
            </a:r>
          </a:p>
          <a:p>
            <a:pPr marL="12700" marR="5080"/>
            <a:r>
              <a:rPr lang="en-US" sz="1200" kern="0" spc="-80" dirty="0">
                <a:solidFill>
                  <a:schemeClr val="accent2"/>
                </a:solidFill>
              </a:rPr>
              <a:t>Ad Exchange</a:t>
            </a:r>
          </a:p>
          <a:p>
            <a:pPr marL="12700" marR="5080"/>
            <a:r>
              <a:rPr lang="en-US" sz="1200" kern="0" spc="-80" dirty="0">
                <a:solidFill>
                  <a:schemeClr val="accent6"/>
                </a:solidFill>
              </a:rPr>
              <a:t>This is a digital marketplace where DSPs and SSPs connect to buy and sell ad inventory through real-time auctions. An ad exchange facilitates the programmatic process by: </a:t>
            </a:r>
          </a:p>
          <a:p>
            <a:pPr marL="12700" marR="5080"/>
            <a:r>
              <a:rPr lang="en-US" sz="1200" kern="0" spc="-80" dirty="0">
                <a:solidFill>
                  <a:schemeClr val="accent2"/>
                </a:solidFill>
              </a:rPr>
              <a:t>Auctioning: </a:t>
            </a:r>
            <a:r>
              <a:rPr lang="en-US" sz="1200" kern="0" spc="-80" dirty="0">
                <a:solidFill>
                  <a:schemeClr val="accent6"/>
                </a:solidFill>
              </a:rPr>
              <a:t>Handling the instantaneous bidding for each individual ad impression, awarding the space to the highest bidder.</a:t>
            </a:r>
          </a:p>
          <a:p>
            <a:pPr marL="12700" marR="5080"/>
            <a:r>
              <a:rPr lang="en-US" sz="1200" kern="0" spc="-80" dirty="0">
                <a:solidFill>
                  <a:schemeClr val="accent2"/>
                </a:solidFill>
              </a:rPr>
              <a:t>Centralizing Inventory:</a:t>
            </a:r>
            <a:r>
              <a:rPr lang="en-US" sz="1200" kern="0" spc="-80" dirty="0">
                <a:solidFill>
                  <a:schemeClr val="accent6"/>
                </a:solidFill>
              </a:rPr>
              <a:t> Providing a central hub where inventory from many publishers can be offered to a wide pool of advertisers.</a:t>
            </a:r>
          </a:p>
          <a:p>
            <a:pPr marL="12700" marR="5080"/>
            <a:r>
              <a:rPr lang="en-US" sz="1200" kern="0" spc="-80" dirty="0">
                <a:solidFill>
                  <a:schemeClr val="accent2"/>
                </a:solidFill>
              </a:rPr>
              <a:t>Creating Marketplaces: </a:t>
            </a:r>
            <a:r>
              <a:rPr lang="en-US" sz="1200" kern="0" spc="-80" dirty="0">
                <a:solidFill>
                  <a:schemeClr val="accent6"/>
                </a:solidFill>
              </a:rPr>
              <a:t>Offering open exchanges for broad reach or private marketplaces (PMPs) for curated, premium inventory. </a:t>
            </a:r>
          </a:p>
          <a:p>
            <a:pPr marL="12700" marR="5080"/>
            <a:r>
              <a:rPr lang="en-US" sz="1200" kern="0" spc="-80" dirty="0">
                <a:solidFill>
                  <a:schemeClr val="accent2"/>
                </a:solidFill>
              </a:rPr>
              <a:t>Ad Server</a:t>
            </a:r>
          </a:p>
          <a:p>
            <a:pPr marL="12700" marR="5080"/>
            <a:r>
              <a:rPr lang="en-US" sz="1200" kern="0" spc="-80" dirty="0">
                <a:solidFill>
                  <a:schemeClr val="accent6"/>
                </a:solidFill>
              </a:rPr>
              <a:t>Ad servers are responsible for storing, managing, and delivering the ad creatives once a winning bid has been determined. </a:t>
            </a:r>
            <a:r>
              <a:rPr lang="en-US" sz="1200" kern="0" spc="-80" dirty="0">
                <a:solidFill>
                  <a:schemeClr val="accent2"/>
                </a:solidFill>
              </a:rPr>
              <a:t>There are two types: </a:t>
            </a:r>
          </a:p>
          <a:p>
            <a:pPr marL="12700" marR="5080"/>
            <a:r>
              <a:rPr lang="en-US" sz="1200" kern="0" spc="-80" dirty="0">
                <a:solidFill>
                  <a:schemeClr val="accent2"/>
                </a:solidFill>
              </a:rPr>
              <a:t>Publisher Ad Server: </a:t>
            </a:r>
            <a:r>
              <a:rPr lang="en-US" sz="1200" kern="0" spc="-80" dirty="0">
                <a:solidFill>
                  <a:schemeClr val="accent6"/>
                </a:solidFill>
              </a:rPr>
              <a:t>Used by publishers to manage their available ad space and integrate with SSPs and other demand sources.</a:t>
            </a:r>
          </a:p>
          <a:p>
            <a:pPr marL="12700" marR="5080"/>
            <a:r>
              <a:rPr lang="en-US" sz="1200" kern="0" spc="-80" dirty="0">
                <a:solidFill>
                  <a:schemeClr val="accent2"/>
                </a:solidFill>
              </a:rPr>
              <a:t>Advertiser Ad Server (Third-Party):</a:t>
            </a:r>
            <a:r>
              <a:rPr lang="en-US" sz="1200" kern="0" spc="-80" dirty="0">
                <a:solidFill>
                  <a:schemeClr val="accent6"/>
                </a:solidFill>
              </a:rPr>
              <a:t> Used by advertisers to centrally manage campaigns and creatives across multiple publishers. </a:t>
            </a:r>
          </a:p>
          <a:p>
            <a:pPr marL="12700" marR="5080"/>
            <a:r>
              <a:rPr lang="en-US" sz="1200" kern="0" spc="-80" dirty="0">
                <a:solidFill>
                  <a:schemeClr val="accent2"/>
                </a:solidFill>
              </a:rPr>
              <a:t>Data Management Platform (DMP)</a:t>
            </a:r>
          </a:p>
          <a:p>
            <a:pPr marL="12700" marR="5080"/>
            <a:r>
              <a:rPr lang="en-US" sz="1200" kern="0" spc="-80" dirty="0">
                <a:solidFill>
                  <a:schemeClr val="accent6"/>
                </a:solidFill>
              </a:rPr>
              <a:t>A DMP is a centralized platform that collects, organizes, and manages audience data from various sources. This data is used to create and enrich audience segments for more precise ad targeting. Key functions include: </a:t>
            </a:r>
          </a:p>
          <a:p>
            <a:pPr marL="12700" marR="5080"/>
            <a:r>
              <a:rPr lang="en-US" sz="1200" kern="0" spc="-80" dirty="0">
                <a:solidFill>
                  <a:schemeClr val="accent2"/>
                </a:solidFill>
              </a:rPr>
              <a:t>Data Aggregation:</a:t>
            </a:r>
            <a:r>
              <a:rPr lang="en-US" sz="1200" kern="0" spc="-80" dirty="0">
                <a:solidFill>
                  <a:schemeClr val="accent6"/>
                </a:solidFill>
              </a:rPr>
              <a:t> Gathering audience data from a variety of sources, including third-party providers.</a:t>
            </a:r>
          </a:p>
          <a:p>
            <a:pPr marL="12700" marR="5080"/>
            <a:r>
              <a:rPr lang="en-US" sz="1200" kern="0" spc="-80" dirty="0">
                <a:solidFill>
                  <a:schemeClr val="accent6"/>
                </a:solidFill>
              </a:rPr>
              <a:t>Audience Segmentation: Creating custom audience segments based on demographics, interests, and browsing behavior.</a:t>
            </a:r>
          </a:p>
          <a:p>
            <a:pPr marL="12700" marR="5080"/>
            <a:r>
              <a:rPr lang="en-US" sz="1200" kern="0" spc="-80" dirty="0">
                <a:solidFill>
                  <a:schemeClr val="accent2"/>
                </a:solidFill>
              </a:rPr>
              <a:t>Data Distribution</a:t>
            </a:r>
            <a:r>
              <a:rPr lang="en-US" sz="1200" kern="0" spc="-80" dirty="0">
                <a:solidFill>
                  <a:schemeClr val="accent6"/>
                </a:solidFill>
              </a:rPr>
              <a:t>: Feeding audience data and segments to DSPs to inform bidding decisions. </a:t>
            </a:r>
          </a:p>
          <a:p>
            <a:pPr marL="12700" marR="5080"/>
            <a:r>
              <a:rPr lang="en-US" sz="1200" kern="0" spc="-80" dirty="0">
                <a:solidFill>
                  <a:schemeClr val="accent2"/>
                </a:solidFill>
              </a:rPr>
              <a:t>Customer Data Platform (CDP)</a:t>
            </a:r>
          </a:p>
          <a:p>
            <a:pPr marL="12700" marR="5080"/>
            <a:r>
              <a:rPr lang="en-US" sz="1200" kern="0" spc="-80" dirty="0">
                <a:solidFill>
                  <a:schemeClr val="accent6"/>
                </a:solidFill>
              </a:rPr>
              <a:t>A CDP centralizes a company's first-party customer data, such as website interactions, purchase history, and other direct customer information. Unlike DMPs, which often use anonymous, third-party data, CDPs create a single, persistent, </a:t>
            </a:r>
          </a:p>
        </p:txBody>
      </p:sp>
    </p:spTree>
    <p:extLst>
      <p:ext uri="{BB962C8B-B14F-4D97-AF65-F5344CB8AC3E}">
        <p14:creationId xmlns:p14="http://schemas.microsoft.com/office/powerpoint/2010/main" val="62921699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2C49E-2051-71F2-9850-1FD8F19CC33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F97BAB2-A79A-DDE9-7C9C-DBD84AD5CE16}"/>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E36B239-D639-6C5C-3B39-396508B19CE4}"/>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0D28065-D6DB-C847-5A4C-452AB85325D4}"/>
              </a:ext>
            </a:extLst>
          </p:cNvPr>
          <p:cNvGraphicFramePr/>
          <p:nvPr/>
        </p:nvGraphicFramePr>
        <p:xfrm>
          <a:off x="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A1F874F-253E-DA9C-6042-E70E1118DB15}"/>
              </a:ext>
            </a:extLst>
          </p:cNvPr>
          <p:cNvSpPr txBox="1">
            <a:spLocks/>
          </p:cNvSpPr>
          <p:nvPr/>
        </p:nvSpPr>
        <p:spPr>
          <a:xfrm>
            <a:off x="228600" y="873204"/>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AdTech Reference Architecture</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D91B3E1-C1FD-D78D-FB53-C9B3BAF368B6}"/>
              </a:ext>
            </a:extLst>
          </p:cNvPr>
          <p:cNvSpPr txBox="1">
            <a:spLocks/>
          </p:cNvSpPr>
          <p:nvPr/>
        </p:nvSpPr>
        <p:spPr>
          <a:xfrm>
            <a:off x="137369" y="1178004"/>
            <a:ext cx="8624937" cy="49552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50" kern="0" spc="-80" dirty="0">
                <a:solidFill>
                  <a:schemeClr val="accent6"/>
                </a:solidFill>
              </a:rPr>
              <a:t>identifiable customer profile.</a:t>
            </a:r>
            <a:endParaRPr lang="en-US" sz="1350" kern="0" spc="-80" dirty="0">
              <a:solidFill>
                <a:schemeClr val="accent2"/>
              </a:solidFill>
            </a:endParaRPr>
          </a:p>
          <a:p>
            <a:pPr marL="12700" marR="5080"/>
            <a:r>
              <a:rPr lang="en-US" sz="1350" kern="0" spc="-80" dirty="0">
                <a:solidFill>
                  <a:schemeClr val="accent2"/>
                </a:solidFill>
              </a:rPr>
              <a:t>The programmatic process flow</a:t>
            </a:r>
          </a:p>
          <a:p>
            <a:pPr marL="12700" marR="5080"/>
            <a:r>
              <a:rPr lang="en-US" sz="1350" kern="0" spc="-80" dirty="0">
                <a:solidFill>
                  <a:schemeClr val="accent6"/>
                </a:solidFill>
              </a:rPr>
              <a:t>The ad delivery process occurs in milliseconds and follows a standard sequence:</a:t>
            </a:r>
          </a:p>
          <a:p>
            <a:pPr marL="12700" marR="5080"/>
            <a:r>
              <a:rPr lang="en-US" sz="1350" kern="0" spc="-80" dirty="0">
                <a:solidFill>
                  <a:schemeClr val="accent2"/>
                </a:solidFill>
              </a:rPr>
              <a:t>User Event: </a:t>
            </a:r>
            <a:r>
              <a:rPr lang="en-US" sz="1350" kern="0" spc="-80" dirty="0">
                <a:solidFill>
                  <a:schemeClr val="accent6"/>
                </a:solidFill>
              </a:rPr>
              <a:t>A user visits a website or opens a mobile app that contains an available ad slot.</a:t>
            </a:r>
          </a:p>
          <a:p>
            <a:pPr marL="12700" marR="5080"/>
            <a:r>
              <a:rPr lang="en-US" sz="1350" kern="0" spc="-80" dirty="0">
                <a:solidFill>
                  <a:schemeClr val="accent2"/>
                </a:solidFill>
              </a:rPr>
              <a:t>Ad Request: </a:t>
            </a:r>
            <a:r>
              <a:rPr lang="en-US" sz="1350" kern="0" spc="-80" dirty="0">
                <a:solidFill>
                  <a:schemeClr val="accent6"/>
                </a:solidFill>
              </a:rPr>
              <a:t>The publisher's ad server sends a request to its SSP, which includes user, content, and ad placement data.</a:t>
            </a:r>
          </a:p>
          <a:p>
            <a:pPr marL="12700" marR="5080"/>
            <a:r>
              <a:rPr lang="en-US" sz="1350" kern="0" spc="-80" dirty="0">
                <a:solidFill>
                  <a:schemeClr val="accent2"/>
                </a:solidFill>
              </a:rPr>
              <a:t>Auction: </a:t>
            </a:r>
            <a:r>
              <a:rPr lang="en-US" sz="1350" kern="0" spc="-80" dirty="0">
                <a:solidFill>
                  <a:schemeClr val="accent6"/>
                </a:solidFill>
              </a:rPr>
              <a:t>The SSP forwards this information to an ad exchange, which initiates a real-time auction for the ad impression. The exchange invites relevant DSPs to bid on the impression.</a:t>
            </a:r>
          </a:p>
          <a:p>
            <a:pPr marL="12700" marR="5080"/>
            <a:r>
              <a:rPr lang="en-US" sz="1350" kern="0" spc="-80" dirty="0">
                <a:solidFill>
                  <a:schemeClr val="accent2"/>
                </a:solidFill>
              </a:rPr>
              <a:t>Bidding Decision: </a:t>
            </a:r>
            <a:r>
              <a:rPr lang="en-US" sz="1350" kern="0" spc="-80" dirty="0">
                <a:solidFill>
                  <a:schemeClr val="accent6"/>
                </a:solidFill>
              </a:rPr>
              <a:t>The DSPs use their data (often from a DMP or CDP) and an advertiser's campaign parameters to determine the value of the impression and submit a bid.</a:t>
            </a:r>
          </a:p>
          <a:p>
            <a:pPr marL="12700" marR="5080"/>
            <a:r>
              <a:rPr lang="en-US" sz="1350" kern="0" spc="-80" dirty="0">
                <a:solidFill>
                  <a:schemeClr val="accent2"/>
                </a:solidFill>
              </a:rPr>
              <a:t>Ad Selection: </a:t>
            </a:r>
            <a:r>
              <a:rPr lang="en-US" sz="1350" kern="0" spc="-80" dirty="0">
                <a:solidFill>
                  <a:schemeClr val="accent6"/>
                </a:solidFill>
              </a:rPr>
              <a:t>The ad exchange selects the highest bid and notifies the SSP and the winning DSP.</a:t>
            </a:r>
          </a:p>
          <a:p>
            <a:pPr marL="12700" marR="5080"/>
            <a:r>
              <a:rPr lang="en-US" sz="1350" kern="0" spc="-80" dirty="0">
                <a:solidFill>
                  <a:schemeClr val="accent2"/>
                </a:solidFill>
              </a:rPr>
              <a:t>Ad Serving: </a:t>
            </a:r>
            <a:r>
              <a:rPr lang="en-US" sz="1350" kern="0" spc="-80" dirty="0">
                <a:solidFill>
                  <a:schemeClr val="accent6"/>
                </a:solidFill>
              </a:rPr>
              <a:t>The winning DSP's ad server delivers the creative to the user's browser or app.</a:t>
            </a:r>
          </a:p>
          <a:p>
            <a:pPr marL="12700" marR="5080"/>
            <a:r>
              <a:rPr lang="en-US" sz="1350" kern="0" spc="-80" dirty="0">
                <a:solidFill>
                  <a:schemeClr val="accent2"/>
                </a:solidFill>
              </a:rPr>
              <a:t>Data Collection: </a:t>
            </a:r>
            <a:r>
              <a:rPr lang="en-US" sz="1350" kern="0" spc="-80" dirty="0">
                <a:solidFill>
                  <a:schemeClr val="accent6"/>
                </a:solidFill>
              </a:rPr>
              <a:t>Once the ad is displayed (an impression) or clicked, data is sent back to the DSP and other analytics platforms to inform future bidding and campaign optimization. </a:t>
            </a:r>
          </a:p>
          <a:p>
            <a:pPr marL="12700" marR="5080"/>
            <a:r>
              <a:rPr lang="en-US" sz="1350" kern="0" spc="-80" dirty="0">
                <a:solidFill>
                  <a:schemeClr val="accent2"/>
                </a:solidFill>
              </a:rPr>
              <a:t>Emerging architectural trends and considerations</a:t>
            </a:r>
          </a:p>
          <a:p>
            <a:pPr marL="12700" marR="5080"/>
            <a:r>
              <a:rPr lang="en-US" sz="1350" kern="0" spc="-80" dirty="0">
                <a:solidFill>
                  <a:schemeClr val="accent2"/>
                </a:solidFill>
              </a:rPr>
              <a:t>Data Privacy: </a:t>
            </a:r>
            <a:r>
              <a:rPr lang="en-US" sz="1350" kern="0" spc="-80" dirty="0">
                <a:solidFill>
                  <a:schemeClr val="accent6"/>
                </a:solidFill>
              </a:rPr>
              <a:t>Regulations like GDPR and CCPA, along with the deprecation of third-party cookies, are shifting the architecture toward greater reliance on first-party data and privacy-centric solutions.</a:t>
            </a:r>
          </a:p>
          <a:p>
            <a:pPr marL="12700" marR="5080"/>
            <a:r>
              <a:rPr lang="en-US" sz="1350" kern="0" spc="-80" dirty="0">
                <a:solidFill>
                  <a:schemeClr val="accent2"/>
                </a:solidFill>
              </a:rPr>
              <a:t>Real-Time Analytics: </a:t>
            </a:r>
            <a:r>
              <a:rPr lang="en-US" sz="1350" kern="0" spc="-80" dirty="0">
                <a:solidFill>
                  <a:schemeClr val="accent6"/>
                </a:solidFill>
              </a:rPr>
              <a:t>AdTech relies on advanced data analytics platforms with high performance to ingest and process ad event data for real-time reporting and optimization.</a:t>
            </a:r>
          </a:p>
          <a:p>
            <a:pPr marL="12700" marR="5080"/>
            <a:r>
              <a:rPr lang="en-US" sz="1350" kern="0" spc="-80" dirty="0">
                <a:solidFill>
                  <a:schemeClr val="accent2"/>
                </a:solidFill>
              </a:rPr>
              <a:t>Cross-Channel Support: </a:t>
            </a:r>
            <a:r>
              <a:rPr lang="en-US" sz="1350" kern="0" spc="-80" dirty="0">
                <a:solidFill>
                  <a:schemeClr val="accent6"/>
                </a:solidFill>
              </a:rPr>
              <a:t>Reference architectures must support the increasingly complex ad landscape, which now includes connected TV (CTV), mobile apps, and other non-traditional channels.</a:t>
            </a:r>
          </a:p>
          <a:p>
            <a:pPr marL="12700" marR="5080"/>
            <a:r>
              <a:rPr lang="en-US" sz="1350" kern="0" spc="-80" dirty="0">
                <a:solidFill>
                  <a:schemeClr val="accent2"/>
                </a:solidFill>
              </a:rPr>
              <a:t>Hybrid Models: </a:t>
            </a:r>
            <a:r>
              <a:rPr lang="en-US" sz="1350" kern="0" spc="-80" dirty="0">
                <a:solidFill>
                  <a:schemeClr val="accent6"/>
                </a:solidFill>
              </a:rPr>
              <a:t>Some publishers and advertisers choose a hybrid approach, using external platforms like DSPs and SSPs while also developing proprietary components in-house. </a:t>
            </a:r>
          </a:p>
        </p:txBody>
      </p:sp>
    </p:spTree>
    <p:extLst>
      <p:ext uri="{BB962C8B-B14F-4D97-AF65-F5344CB8AC3E}">
        <p14:creationId xmlns:p14="http://schemas.microsoft.com/office/powerpoint/2010/main" val="128577336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B3718-BC4B-2F93-8DFD-DD250D4835B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4BA5608-9E02-4EFE-9136-B3C77F670893}"/>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DAECB5E-F8A9-E9A5-3A92-1AD24088EA77}"/>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BF9C756-5BB3-EBC4-24F1-F66464A78BC0}"/>
              </a:ext>
            </a:extLst>
          </p:cNvPr>
          <p:cNvGraphicFramePr/>
          <p:nvPr/>
        </p:nvGraphicFramePr>
        <p:xfrm>
          <a:off x="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FA2F73A-11BC-2FF1-67FB-50A021444AC2}"/>
              </a:ext>
            </a:extLst>
          </p:cNvPr>
          <p:cNvSpPr txBox="1">
            <a:spLocks/>
          </p:cNvSpPr>
          <p:nvPr/>
        </p:nvSpPr>
        <p:spPr>
          <a:xfrm>
            <a:off x="228600" y="873204"/>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AdTech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DF42A1A-E501-9557-1D24-AD2FB8362FB1}"/>
              </a:ext>
            </a:extLst>
          </p:cNvPr>
          <p:cNvSpPr txBox="1">
            <a:spLocks/>
          </p:cNvSpPr>
          <p:nvPr/>
        </p:nvSpPr>
        <p:spPr>
          <a:xfrm>
            <a:off x="137369" y="1238382"/>
            <a:ext cx="8624937" cy="298543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For Further Exploration-</a:t>
            </a:r>
          </a:p>
          <a:p>
            <a:pPr marL="12700" marR="5080"/>
            <a:r>
              <a:rPr lang="en-IN" sz="1400" dirty="0">
                <a:hlinkClick r:id="rId7"/>
              </a:rPr>
              <a:t>Adtech-Reference-Architecture-Whitepaper.pdf</a:t>
            </a:r>
            <a:endParaRPr lang="en-US" sz="1400" kern="0" spc="-80" dirty="0">
              <a:solidFill>
                <a:schemeClr val="accent2"/>
              </a:solidFill>
            </a:endParaRPr>
          </a:p>
          <a:p>
            <a:pPr marL="12700" marR="5080"/>
            <a:r>
              <a:rPr lang="en-US" sz="1400" dirty="0">
                <a:hlinkClick r:id="rId8"/>
              </a:rPr>
              <a:t>Programmatic Advertising - What It Is and How It Works | Amazon Ads</a:t>
            </a:r>
            <a:endParaRPr lang="en-US" sz="1400" dirty="0"/>
          </a:p>
          <a:p>
            <a:pPr marL="12700" marR="5080"/>
            <a:r>
              <a:rPr lang="en-US" sz="1400" dirty="0">
                <a:hlinkClick r:id="rId9"/>
              </a:rPr>
              <a:t>Guidance for AdTech Private Network on AWS</a:t>
            </a:r>
            <a:endParaRPr lang="en-US" sz="1400" dirty="0"/>
          </a:p>
          <a:p>
            <a:pPr marL="12700" marR="5080"/>
            <a:r>
              <a:rPr lang="en-US" sz="1400" dirty="0">
                <a:hlinkClick r:id="rId10"/>
              </a:rPr>
              <a:t>Programmatic Advertising Guide: Elevate Your B2B Advertising</a:t>
            </a:r>
            <a:endParaRPr lang="en-US" sz="1400" dirty="0"/>
          </a:p>
          <a:p>
            <a:pPr marL="12700" marR="5080"/>
            <a:r>
              <a:rPr lang="en-US" sz="1400" dirty="0">
                <a:hlinkClick r:id="rId11"/>
              </a:rPr>
              <a:t>The AdTech Book by </a:t>
            </a:r>
            <a:r>
              <a:rPr lang="en-US" sz="1400" dirty="0" err="1">
                <a:hlinkClick r:id="rId11"/>
              </a:rPr>
              <a:t>Clearcode</a:t>
            </a:r>
            <a:r>
              <a:rPr lang="en-US" sz="1400" dirty="0">
                <a:hlinkClick r:id="rId11"/>
              </a:rPr>
              <a:t> | The Platforms, Processes, and Players</a:t>
            </a:r>
            <a:endParaRPr lang="en-US" sz="1400" dirty="0"/>
          </a:p>
          <a:p>
            <a:pPr marL="12700" marR="5080"/>
            <a:r>
              <a:rPr lang="en-IN" sz="1400" dirty="0">
                <a:hlinkClick r:id="rId12"/>
              </a:rPr>
              <a:t>AdTech &amp; </a:t>
            </a:r>
            <a:r>
              <a:rPr lang="en-IN" sz="1400" dirty="0" err="1">
                <a:hlinkClick r:id="rId12"/>
              </a:rPr>
              <a:t>MarTech</a:t>
            </a:r>
            <a:r>
              <a:rPr lang="en-IN" sz="1400" dirty="0">
                <a:hlinkClick r:id="rId12"/>
              </a:rPr>
              <a:t> Resources – </a:t>
            </a:r>
            <a:r>
              <a:rPr lang="en-IN" sz="1400" dirty="0" err="1">
                <a:hlinkClick r:id="rId12"/>
              </a:rPr>
              <a:t>Clearcode</a:t>
            </a:r>
            <a:endParaRPr lang="en-IN" sz="1400" dirty="0"/>
          </a:p>
          <a:p>
            <a:pPr marL="12700" marR="5080"/>
            <a:r>
              <a:rPr lang="en-IN" sz="1400" dirty="0">
                <a:hlinkClick r:id="rId13"/>
              </a:rPr>
              <a:t>Adobe Experience Cloud Resources | Adobe for Enterprise | Adobe India</a:t>
            </a:r>
            <a:endParaRPr lang="en-IN" sz="1400" dirty="0"/>
          </a:p>
          <a:p>
            <a:pPr marL="12700" marR="5080"/>
            <a:r>
              <a:rPr lang="en-US" sz="1400" dirty="0">
                <a:hlinkClick r:id="rId14"/>
              </a:rPr>
              <a:t>Complete Programmatic Advertising Course With Tool - 2024 | Udemy</a:t>
            </a:r>
            <a:endParaRPr lang="en-US" sz="1400" dirty="0"/>
          </a:p>
          <a:p>
            <a:pPr marL="12700" marR="5080"/>
            <a:r>
              <a:rPr lang="en-US" sz="1400" dirty="0">
                <a:hlinkClick r:id="rId15"/>
              </a:rPr>
              <a:t>Build a reference architecture for a demand-side platform in AdTech</a:t>
            </a:r>
            <a:endParaRPr lang="en-US" sz="1400" dirty="0"/>
          </a:p>
          <a:p>
            <a:pPr marL="12700" marR="5080"/>
            <a:r>
              <a:rPr lang="en-IN" sz="1400" dirty="0">
                <a:hlinkClick r:id="rId16"/>
              </a:rPr>
              <a:t>Interactive Advertising Bureau | Guidelines</a:t>
            </a:r>
            <a:endParaRPr lang="en-IN" sz="1400" dirty="0"/>
          </a:p>
          <a:p>
            <a:pPr marL="12700" marR="5080"/>
            <a:r>
              <a:rPr lang="en-IN" sz="1400" dirty="0">
                <a:hlinkClick r:id="rId17"/>
              </a:rPr>
              <a:t>Airbnb’s Promotions and Communications Platform | by </a:t>
            </a:r>
            <a:r>
              <a:rPr lang="en-IN" sz="1400">
                <a:hlinkClick r:id="rId17"/>
              </a:rPr>
              <a:t>Paritosh Aggarwal</a:t>
            </a:r>
            <a:endParaRPr lang="en-IN" sz="1400" dirty="0"/>
          </a:p>
          <a:p>
            <a:pPr marL="12700" marR="5080"/>
            <a:r>
              <a:rPr lang="en-US" sz="1400" dirty="0">
                <a:hlinkClick r:id="rId18"/>
              </a:rPr>
              <a:t>4 Must Read Web Analytics Books That Will Help you Take Charge of Your Career | </a:t>
            </a:r>
            <a:r>
              <a:rPr lang="en-US" sz="1400" dirty="0" err="1">
                <a:hlinkClick r:id="rId18"/>
              </a:rPr>
              <a:t>UNext</a:t>
            </a:r>
            <a:endParaRPr lang="en-IN" sz="1400" dirty="0"/>
          </a:p>
          <a:p>
            <a:pPr marL="12700" marR="5080"/>
            <a:endParaRPr lang="en-US" sz="1200" kern="0" spc="-80" dirty="0">
              <a:solidFill>
                <a:schemeClr val="accent2"/>
              </a:solidFill>
            </a:endParaRPr>
          </a:p>
        </p:txBody>
      </p:sp>
    </p:spTree>
    <p:extLst>
      <p:ext uri="{BB962C8B-B14F-4D97-AF65-F5344CB8AC3E}">
        <p14:creationId xmlns:p14="http://schemas.microsoft.com/office/powerpoint/2010/main" val="231390189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0" y="-85781"/>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Loyalty Reference Architecture</a:t>
            </a:r>
          </a:p>
          <a:p>
            <a:pPr marL="12700" marR="5080"/>
            <a:r>
              <a:rPr lang="en-US" sz="2400" kern="0" spc="-80" dirty="0">
                <a:solidFill>
                  <a:schemeClr val="accent2"/>
                </a:solidFill>
              </a:rPr>
              <a:t>  </a:t>
            </a:r>
          </a:p>
        </p:txBody>
      </p:sp>
      <p:pic>
        <p:nvPicPr>
          <p:cNvPr id="7" name="Picture 6">
            <a:extLst>
              <a:ext uri="{FF2B5EF4-FFF2-40B4-BE49-F238E27FC236}">
                <a16:creationId xmlns:a16="http://schemas.microsoft.com/office/drawing/2014/main" id="{BB94FE12-812B-A496-E126-6EBAD39115DD}"/>
              </a:ext>
            </a:extLst>
          </p:cNvPr>
          <p:cNvPicPr>
            <a:picLocks noChangeAspect="1"/>
          </p:cNvPicPr>
          <p:nvPr/>
        </p:nvPicPr>
        <p:blipFill>
          <a:blip r:embed="rId7"/>
          <a:stretch>
            <a:fillRect/>
          </a:stretch>
        </p:blipFill>
        <p:spPr>
          <a:xfrm>
            <a:off x="290462" y="1219200"/>
            <a:ext cx="8701137" cy="4724400"/>
          </a:xfrm>
          <a:prstGeom prst="rect">
            <a:avLst/>
          </a:prstGeom>
        </p:spPr>
      </p:pic>
    </p:spTree>
    <p:extLst>
      <p:ext uri="{BB962C8B-B14F-4D97-AF65-F5344CB8AC3E}">
        <p14:creationId xmlns:p14="http://schemas.microsoft.com/office/powerpoint/2010/main" val="152913014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E5FF5-5613-8EB0-438E-FDBB150C6F3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38BE9CF-FC90-3E6D-0890-2809DCE83DE2}"/>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C98FFF8-6F45-99AB-B677-1A9C3DC94F2A}"/>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CCEF0E1-4F20-F462-0DE3-2E26CDCF8A20}"/>
              </a:ext>
            </a:extLst>
          </p:cNvPr>
          <p:cNvGraphicFramePr/>
          <p:nvPr/>
        </p:nvGraphicFramePr>
        <p:xfrm>
          <a:off x="0" y="-85781"/>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88A3B29-768E-DDA0-A056-0796783E4C69}"/>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Loyalty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C8C07F3F-DB05-EDBF-5E8A-113E69D216CD}"/>
              </a:ext>
            </a:extLst>
          </p:cNvPr>
          <p:cNvSpPr txBox="1">
            <a:spLocks/>
          </p:cNvSpPr>
          <p:nvPr/>
        </p:nvSpPr>
        <p:spPr>
          <a:xfrm>
            <a:off x="228599" y="1262151"/>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00" kern="0" spc="-80" dirty="0">
                <a:solidFill>
                  <a:schemeClr val="accent2"/>
                </a:solidFill>
              </a:rPr>
              <a:t>Key Components of a Loyalty Reference Architecture</a:t>
            </a:r>
          </a:p>
          <a:p>
            <a:pPr marL="12700" marR="5080"/>
            <a:r>
              <a:rPr lang="en-US" sz="1400" kern="0" spc="-80" dirty="0">
                <a:solidFill>
                  <a:schemeClr val="accent2"/>
                </a:solidFill>
              </a:rPr>
              <a:t>Unified Customer View: </a:t>
            </a:r>
            <a:r>
              <a:rPr lang="en-US" sz="1400" kern="0" spc="-80" dirty="0">
                <a:solidFill>
                  <a:schemeClr val="accent6"/>
                </a:solidFill>
              </a:rPr>
              <a:t>A foundational element that integrates data from sales, marketing, and service to create a comprehensive view of each customer. </a:t>
            </a:r>
          </a:p>
          <a:p>
            <a:pPr marL="12700" marR="5080"/>
            <a:r>
              <a:rPr lang="en-US" sz="1400" kern="0" spc="-80" dirty="0">
                <a:solidFill>
                  <a:schemeClr val="accent2"/>
                </a:solidFill>
              </a:rPr>
              <a:t>Loyalty Engine: </a:t>
            </a:r>
            <a:r>
              <a:rPr lang="en-US" sz="1400" kern="0" spc="-80" dirty="0">
                <a:solidFill>
                  <a:schemeClr val="accent6"/>
                </a:solidFill>
              </a:rPr>
              <a:t>A core system that manages loyalty rules, processes transactions, tracks points, and handles tier management and rewards. </a:t>
            </a:r>
          </a:p>
          <a:p>
            <a:pPr marL="12700" marR="5080"/>
            <a:r>
              <a:rPr lang="en-US" sz="1400" kern="0" spc="-80" dirty="0">
                <a:solidFill>
                  <a:schemeClr val="accent2"/>
                </a:solidFill>
              </a:rPr>
              <a:t>Integration Layer (APIs): </a:t>
            </a:r>
            <a:r>
              <a:rPr lang="en-US" sz="1400" kern="0" spc="-80" dirty="0">
                <a:solidFill>
                  <a:schemeClr val="accent6"/>
                </a:solidFill>
              </a:rPr>
              <a:t>Enables real-time communication between the loyalty engine and other systems, such as websites, mobile apps, point-of-sale (POS) systems, and CRM. </a:t>
            </a:r>
          </a:p>
          <a:p>
            <a:pPr marL="12700" marR="5080"/>
            <a:r>
              <a:rPr lang="en-US" sz="1400" kern="0" spc="-80" dirty="0">
                <a:solidFill>
                  <a:schemeClr val="accent2"/>
                </a:solidFill>
              </a:rPr>
              <a:t>Customer Engagement Channels: </a:t>
            </a:r>
            <a:r>
              <a:rPr lang="en-US" sz="1400" kern="0" spc="-80" dirty="0">
                <a:solidFill>
                  <a:schemeClr val="accent6"/>
                </a:solidFill>
              </a:rPr>
              <a:t>Includes web and mobile applications, email, and other marketing channels used to deliver loyalty offers, communicate program updates, and allow customers to track their status. </a:t>
            </a:r>
          </a:p>
          <a:p>
            <a:pPr marL="12700" marR="5080"/>
            <a:r>
              <a:rPr lang="en-US" sz="1400" kern="0" spc="-80" dirty="0">
                <a:solidFill>
                  <a:schemeClr val="accent2"/>
                </a:solidFill>
              </a:rPr>
              <a:t>Analytics and Reporting:</a:t>
            </a:r>
            <a:r>
              <a:rPr lang="en-US" sz="1400" kern="0" spc="-80" dirty="0">
                <a:solidFill>
                  <a:schemeClr val="accent6"/>
                </a:solidFill>
              </a:rPr>
              <a:t> Provides dashboards and reports to monitor program performance, customer behavior, and ROI. </a:t>
            </a:r>
          </a:p>
          <a:p>
            <a:pPr marL="12700" marR="5080"/>
            <a:r>
              <a:rPr lang="en-US" sz="1400" kern="0" spc="-80" dirty="0">
                <a:solidFill>
                  <a:schemeClr val="accent2"/>
                </a:solidFill>
              </a:rPr>
              <a:t>Data Infrastructure:</a:t>
            </a:r>
            <a:r>
              <a:rPr lang="en-US" sz="1400" kern="0" spc="-80" dirty="0">
                <a:solidFill>
                  <a:schemeClr val="accent6"/>
                </a:solidFill>
              </a:rPr>
              <a:t> Stores and processes loyalty data, often leveraging data integration pipelines, data lakes, and analytics platforms. </a:t>
            </a:r>
          </a:p>
          <a:p>
            <a:pPr marL="12700" marR="5080"/>
            <a:r>
              <a:rPr lang="en-US" sz="1400" kern="0" spc="-80" dirty="0">
                <a:solidFill>
                  <a:schemeClr val="accent2"/>
                </a:solidFill>
              </a:rPr>
              <a:t>Architectural Approaches</a:t>
            </a:r>
          </a:p>
          <a:p>
            <a:pPr marL="12700" marR="5080"/>
            <a:r>
              <a:rPr lang="en-US" sz="1400" kern="0" spc="-80" dirty="0">
                <a:solidFill>
                  <a:schemeClr val="accent2"/>
                </a:solidFill>
              </a:rPr>
              <a:t>Monolithic Architecture:</a:t>
            </a:r>
            <a:r>
              <a:rPr lang="en-US" sz="1400" kern="0" spc="-80" dirty="0">
                <a:solidFill>
                  <a:schemeClr val="accent6"/>
                </a:solidFill>
              </a:rPr>
              <a:t> A traditional approach where the loyalty system is embedded within a larger application, such as Oracle Siebel's Loyalty Engine. </a:t>
            </a:r>
          </a:p>
          <a:p>
            <a:pPr marL="12700" marR="5080"/>
            <a:r>
              <a:rPr lang="en-US" sz="1400" kern="0" spc="-80" dirty="0">
                <a:solidFill>
                  <a:schemeClr val="accent2"/>
                </a:solidFill>
              </a:rPr>
              <a:t>Composable/Modular Architecture:</a:t>
            </a:r>
            <a:r>
              <a:rPr lang="en-US" sz="1400" kern="0" spc="-80" dirty="0">
                <a:solidFill>
                  <a:schemeClr val="accent6"/>
                </a:solidFill>
              </a:rPr>
              <a:t> A modern, flexible approach where the loyalty engine operates independently and connects to other systems via APIs, allowing for easier integration and component upgrades. </a:t>
            </a:r>
          </a:p>
          <a:p>
            <a:pPr marL="12700" marR="5080"/>
            <a:r>
              <a:rPr lang="en-US" sz="1500" kern="0" spc="-80" dirty="0">
                <a:solidFill>
                  <a:schemeClr val="accent2"/>
                </a:solidFill>
              </a:rPr>
              <a:t>For Further Exploration-</a:t>
            </a:r>
          </a:p>
          <a:p>
            <a:pPr marL="12700" marR="5080"/>
            <a:r>
              <a:rPr lang="en-US" sz="1000" dirty="0">
                <a:hlinkClick r:id="rId7"/>
              </a:rPr>
              <a:t>Discover </a:t>
            </a:r>
            <a:r>
              <a:rPr lang="en-US" sz="1000" dirty="0" err="1">
                <a:hlinkClick r:id="rId7"/>
              </a:rPr>
              <a:t>Livelo's</a:t>
            </a:r>
            <a:r>
              <a:rPr lang="en-US" sz="1000" dirty="0">
                <a:hlinkClick r:id="rId7"/>
              </a:rPr>
              <a:t> Latest Successes Revealed on Let’s Talk Loyalty</a:t>
            </a:r>
            <a:endParaRPr lang="en-US" sz="1000" kern="0" spc="-80" dirty="0">
              <a:solidFill>
                <a:schemeClr val="accent2"/>
              </a:solidFill>
            </a:endParaRPr>
          </a:p>
        </p:txBody>
      </p:sp>
    </p:spTree>
    <p:extLst>
      <p:ext uri="{BB962C8B-B14F-4D97-AF65-F5344CB8AC3E}">
        <p14:creationId xmlns:p14="http://schemas.microsoft.com/office/powerpoint/2010/main" val="119681220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63044-248A-1A18-CEFF-36131357B6B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64C029B-6A9B-A448-B713-112716D65C49}"/>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A7A0D36-EBBF-71FD-559F-25E1EFFA9101}"/>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1F8F320-CE80-6FFC-9C96-B35A0B1D1742}"/>
              </a:ext>
            </a:extLst>
          </p:cNvPr>
          <p:cNvGraphicFramePr/>
          <p:nvPr/>
        </p:nvGraphicFramePr>
        <p:xfrm>
          <a:off x="0" y="-16388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43C32EB-CB94-A719-C25C-39D06990714E}"/>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Marketplace Reference Architecture</a:t>
            </a:r>
          </a:p>
          <a:p>
            <a:pPr marL="12700" marR="5080"/>
            <a:r>
              <a:rPr lang="en-US" sz="2400" kern="0" spc="-80" dirty="0">
                <a:solidFill>
                  <a:schemeClr val="accent2"/>
                </a:solidFill>
              </a:rPr>
              <a:t>  </a:t>
            </a:r>
          </a:p>
        </p:txBody>
      </p:sp>
      <p:pic>
        <p:nvPicPr>
          <p:cNvPr id="1026" name="Picture 2" descr="Diagram of a product marketplace architecture.">
            <a:extLst>
              <a:ext uri="{FF2B5EF4-FFF2-40B4-BE49-F238E27FC236}">
                <a16:creationId xmlns:a16="http://schemas.microsoft.com/office/drawing/2014/main" id="{4DD170D5-00B7-1EEB-F01B-704F7B0A854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599" y="1219200"/>
            <a:ext cx="8915401" cy="4610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417800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BEEE8-FD93-3D88-3899-52D0C5A22D7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0053F23-5683-7511-E4BB-C885899FA156}"/>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5C8B620-C4C8-204A-8EF2-BCF0320BD412}"/>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12D43B3-7A24-8EE2-A673-4BA985537242}"/>
              </a:ext>
            </a:extLst>
          </p:cNvPr>
          <p:cNvGraphicFramePr/>
          <p:nvPr/>
        </p:nvGraphicFramePr>
        <p:xfrm>
          <a:off x="0" y="-16388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40CCA48-741B-606B-1557-7191FB0E64F9}"/>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Marketplace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35A75A1-AC39-DA67-AE03-C899BA9AAF53}"/>
              </a:ext>
            </a:extLst>
          </p:cNvPr>
          <p:cNvSpPr txBox="1">
            <a:spLocks/>
          </p:cNvSpPr>
          <p:nvPr/>
        </p:nvSpPr>
        <p:spPr>
          <a:xfrm>
            <a:off x="137369" y="1242536"/>
            <a:ext cx="8624937" cy="472437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Key Aspects of a Marketplace Reference Architecture</a:t>
            </a:r>
          </a:p>
          <a:p>
            <a:pPr marL="12700" marR="5080"/>
            <a:r>
              <a:rPr lang="en-US" sz="1600" kern="0" spc="-80" dirty="0">
                <a:solidFill>
                  <a:schemeClr val="accent2"/>
                </a:solidFill>
              </a:rPr>
              <a:t>Core Components: </a:t>
            </a:r>
            <a:r>
              <a:rPr lang="en-US" sz="1600" kern="0" spc="-80" dirty="0">
                <a:solidFill>
                  <a:schemeClr val="accent6"/>
                </a:solidFill>
              </a:rPr>
              <a:t>Defines the essential parts of a marketplace, including user interfaces, service discovery, catalog management, transaction processing, and payment systems. </a:t>
            </a:r>
          </a:p>
          <a:p>
            <a:pPr marL="12700" marR="5080"/>
            <a:r>
              <a:rPr lang="en-US" sz="1600" kern="0" spc="-80" dirty="0">
                <a:solidFill>
                  <a:schemeClr val="accent2"/>
                </a:solidFill>
              </a:rPr>
              <a:t>Integration Frameworks:</a:t>
            </a:r>
            <a:r>
              <a:rPr lang="en-US" sz="1600" kern="0" spc="-80" dirty="0">
                <a:solidFill>
                  <a:schemeClr val="accent6"/>
                </a:solidFill>
              </a:rPr>
              <a:t> Establishes how the marketplace interacts with external systems, such as supplier platforms, regulatory bodies, and different payment gateways, often using open APIs for standardized integration. </a:t>
            </a:r>
          </a:p>
          <a:p>
            <a:pPr marL="12700" marR="5080"/>
            <a:r>
              <a:rPr lang="en-US" sz="1600" kern="0" spc="-80" dirty="0">
                <a:solidFill>
                  <a:schemeClr val="accent2"/>
                </a:solidFill>
              </a:rPr>
              <a:t>Data Management:</a:t>
            </a:r>
            <a:r>
              <a:rPr lang="en-US" sz="1600" kern="0" spc="-80" dirty="0">
                <a:solidFill>
                  <a:schemeClr val="accent6"/>
                </a:solidFill>
              </a:rPr>
              <a:t> Outlines models for handling digital product data, ensuring consistency and flexibility for aggregating diverse offerings from multiple suppliers. </a:t>
            </a:r>
          </a:p>
          <a:p>
            <a:pPr marL="12700" marR="5080"/>
            <a:r>
              <a:rPr lang="en-US" sz="1600" kern="0" spc="-80" dirty="0">
                <a:solidFill>
                  <a:schemeClr val="accent2"/>
                </a:solidFill>
              </a:rPr>
              <a:t>Security and Governance:</a:t>
            </a:r>
            <a:r>
              <a:rPr lang="en-US" sz="1600" kern="0" spc="-80" dirty="0">
                <a:solidFill>
                  <a:schemeClr val="accent6"/>
                </a:solidFill>
              </a:rPr>
              <a:t> Incorporates best practices for securing user data, transactions, and the overall platform, often following guidelines from cloud providers like Microsoft or AWS. </a:t>
            </a:r>
          </a:p>
          <a:p>
            <a:pPr marL="12700" marR="5080"/>
            <a:r>
              <a:rPr lang="en-US" sz="1600" kern="0" spc="-80" dirty="0">
                <a:solidFill>
                  <a:schemeClr val="accent2"/>
                </a:solidFill>
              </a:rPr>
              <a:t>Scalability and Resilience: </a:t>
            </a:r>
            <a:r>
              <a:rPr lang="en-US" sz="1600" kern="0" spc="-80" dirty="0">
                <a:solidFill>
                  <a:schemeClr val="accent6"/>
                </a:solidFill>
              </a:rPr>
              <a:t>Provides a blueprint for designing a system that can handle increasing user loads and maintain operations even during failures. </a:t>
            </a:r>
          </a:p>
          <a:p>
            <a:pPr marL="12700" marR="5080"/>
            <a:endParaRPr lang="en-US" sz="1400" kern="0" spc="-80" dirty="0">
              <a:solidFill>
                <a:schemeClr val="accent6"/>
              </a:solidFill>
            </a:endParaRPr>
          </a:p>
          <a:p>
            <a:pPr marL="12700" marR="5080"/>
            <a:endParaRPr lang="en-US" sz="1400" kern="0" spc="-80" dirty="0">
              <a:solidFill>
                <a:schemeClr val="accent6"/>
              </a:solidFill>
            </a:endParaRPr>
          </a:p>
          <a:p>
            <a:pPr marL="12700" marR="5080"/>
            <a:endParaRPr lang="en-US" sz="1400" kern="0" spc="-80" dirty="0">
              <a:solidFill>
                <a:schemeClr val="accent6"/>
              </a:solidFill>
            </a:endParaRPr>
          </a:p>
          <a:p>
            <a:pPr marL="12700" marR="5080"/>
            <a:endParaRPr lang="en-US" sz="1400" kern="0" spc="-80" dirty="0">
              <a:solidFill>
                <a:schemeClr val="accent6"/>
              </a:solidFill>
            </a:endParaRPr>
          </a:p>
          <a:p>
            <a:pPr marL="12700" marR="5080"/>
            <a:r>
              <a:rPr lang="en-US" sz="1500" kern="0" spc="-80" dirty="0">
                <a:solidFill>
                  <a:schemeClr val="accent2"/>
                </a:solidFill>
              </a:rPr>
              <a:t>For Further Exploration-</a:t>
            </a:r>
          </a:p>
          <a:p>
            <a:r>
              <a:rPr lang="en-US" sz="1400" dirty="0">
                <a:hlinkClick r:id="rId7"/>
              </a:rPr>
              <a:t>Marketplace Best Practices</a:t>
            </a:r>
            <a:endParaRPr lang="en-US" sz="1400" dirty="0"/>
          </a:p>
          <a:p>
            <a:r>
              <a:rPr lang="en-US" sz="1400" dirty="0">
                <a:hlinkClick r:id="rId8"/>
              </a:rPr>
              <a:t>The Lean Marketplace</a:t>
            </a:r>
            <a:endParaRPr lang="en-US" sz="1400" dirty="0"/>
          </a:p>
        </p:txBody>
      </p:sp>
    </p:spTree>
    <p:extLst>
      <p:ext uri="{BB962C8B-B14F-4D97-AF65-F5344CB8AC3E}">
        <p14:creationId xmlns:p14="http://schemas.microsoft.com/office/powerpoint/2010/main" val="161374483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309C5-E568-31F1-3E74-3B79FF51D1D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0D695F0-871D-2306-53A4-0AD9DB6DC981}"/>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81E8A06-0145-2736-32EF-67C43F264AB6}"/>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7F6A1BD-C432-F6D6-9660-F50B52CFC293}"/>
              </a:ext>
            </a:extLst>
          </p:cNvPr>
          <p:cNvGraphicFramePr/>
          <p:nvPr>
            <p:extLst>
              <p:ext uri="{D42A27DB-BD31-4B8C-83A1-F6EECF244321}">
                <p14:modId xmlns:p14="http://schemas.microsoft.com/office/powerpoint/2010/main" val="2187038733"/>
              </p:ext>
            </p:extLst>
          </p:nvPr>
        </p:nvGraphicFramePr>
        <p:xfrm>
          <a:off x="-76200" y="-138717"/>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0927859-7B46-2032-5D18-01FD77C75C25}"/>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Stock Exchange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C8986B1-7CB0-6248-ED93-4A2DDAB1147D}"/>
              </a:ext>
            </a:extLst>
          </p:cNvPr>
          <p:cNvSpPr txBox="1">
            <a:spLocks/>
          </p:cNvSpPr>
          <p:nvPr/>
        </p:nvSpPr>
        <p:spPr>
          <a:xfrm>
            <a:off x="137369" y="3554611"/>
            <a:ext cx="8624937" cy="276998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Core architectural components</a:t>
            </a:r>
          </a:p>
          <a:p>
            <a:pPr marL="12700" marR="5080"/>
            <a:r>
              <a:rPr lang="en-US" sz="1400" kern="0" spc="-80" dirty="0">
                <a:solidFill>
                  <a:schemeClr val="accent2"/>
                </a:solidFill>
              </a:rPr>
              <a:t>Order gateways</a:t>
            </a:r>
          </a:p>
          <a:p>
            <a:pPr marL="12700" marR="5080"/>
            <a:r>
              <a:rPr lang="en-US" sz="1400" kern="0" spc="-80" dirty="0">
                <a:solidFill>
                  <a:schemeClr val="accent6"/>
                </a:solidFill>
              </a:rPr>
              <a:t>These are the entry points for all incoming buy and sell orders from brokerage firms and direct market participants.</a:t>
            </a:r>
          </a:p>
          <a:p>
            <a:pPr marL="12700" marR="5080"/>
            <a:r>
              <a:rPr lang="en-US" sz="1400" kern="0" spc="-80" dirty="0">
                <a:solidFill>
                  <a:schemeClr val="accent6"/>
                </a:solidFill>
              </a:rPr>
              <a:t>They perform crucial gatekeeping functions, such as authentication, rate limiting, and basic message validation, before forwarding orders to the internal exchange system. </a:t>
            </a:r>
          </a:p>
          <a:p>
            <a:pPr marL="12700" marR="5080"/>
            <a:r>
              <a:rPr lang="en-US" sz="1400" kern="0" spc="-80" dirty="0">
                <a:solidFill>
                  <a:schemeClr val="accent2"/>
                </a:solidFill>
              </a:rPr>
              <a:t>Order accumulator and sequencer</a:t>
            </a:r>
          </a:p>
          <a:p>
            <a:pPr marL="12700" marR="5080"/>
            <a:r>
              <a:rPr lang="en-US" sz="1400" kern="0" spc="-80" dirty="0">
                <a:solidFill>
                  <a:schemeClr val="accent6"/>
                </a:solidFill>
              </a:rPr>
              <a:t>This module receives a massive, continuous stream of orders from all gateways and arranges them in a single, time-sequenced stream.</a:t>
            </a:r>
          </a:p>
          <a:p>
            <a:pPr marL="12700" marR="5080"/>
            <a:r>
              <a:rPr lang="en-US" sz="1400" kern="0" spc="-80" dirty="0">
                <a:solidFill>
                  <a:schemeClr val="accent6"/>
                </a:solidFill>
              </a:rPr>
              <a:t>High-speed sequencing is critical for maintaining "price-time priority," the standard rule for determining which order gets matched first. </a:t>
            </a:r>
          </a:p>
          <a:p>
            <a:pPr marL="12700" marR="5080"/>
            <a:endParaRPr lang="en-US" sz="1200" kern="0" spc="-80" dirty="0">
              <a:solidFill>
                <a:schemeClr val="accent6"/>
              </a:solidFill>
            </a:endParaRPr>
          </a:p>
          <a:p>
            <a:pPr marL="12700" marR="5080"/>
            <a:endParaRPr lang="en-US" sz="1200" kern="0" spc="-80" dirty="0">
              <a:solidFill>
                <a:schemeClr val="accent6"/>
              </a:solidFill>
            </a:endParaRPr>
          </a:p>
        </p:txBody>
      </p:sp>
      <p:pic>
        <p:nvPicPr>
          <p:cNvPr id="8" name="Picture 7">
            <a:extLst>
              <a:ext uri="{FF2B5EF4-FFF2-40B4-BE49-F238E27FC236}">
                <a16:creationId xmlns:a16="http://schemas.microsoft.com/office/drawing/2014/main" id="{A93B161F-D813-6840-3820-5D56D3424F35}"/>
              </a:ext>
            </a:extLst>
          </p:cNvPr>
          <p:cNvPicPr>
            <a:picLocks noChangeAspect="1"/>
          </p:cNvPicPr>
          <p:nvPr/>
        </p:nvPicPr>
        <p:blipFill>
          <a:blip r:embed="rId7"/>
          <a:stretch>
            <a:fillRect/>
          </a:stretch>
        </p:blipFill>
        <p:spPr>
          <a:xfrm>
            <a:off x="228599" y="1295399"/>
            <a:ext cx="8915401" cy="2259211"/>
          </a:xfrm>
          <a:prstGeom prst="rect">
            <a:avLst/>
          </a:prstGeom>
        </p:spPr>
      </p:pic>
    </p:spTree>
    <p:extLst>
      <p:ext uri="{BB962C8B-B14F-4D97-AF65-F5344CB8AC3E}">
        <p14:creationId xmlns:p14="http://schemas.microsoft.com/office/powerpoint/2010/main" val="98544054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E426F-046C-4F8C-57FC-E122BF387A3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14E2B6F-2245-7A98-3FC5-4D8C1327314D}"/>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73E3EF3-DCD4-9350-67C3-4CCCCF944897}"/>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7193B72-85E8-0A97-3CC3-3A1CA278999C}"/>
              </a:ext>
            </a:extLst>
          </p:cNvPr>
          <p:cNvGraphicFramePr/>
          <p:nvPr/>
        </p:nvGraphicFramePr>
        <p:xfrm>
          <a:off x="-76200" y="-138717"/>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0369218-34D3-83C3-C216-A7305556233B}"/>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Stock Exchange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FE75D95-2D12-5A16-84EF-CEE55DF7AB8C}"/>
              </a:ext>
            </a:extLst>
          </p:cNvPr>
          <p:cNvSpPr txBox="1">
            <a:spLocks/>
          </p:cNvSpPr>
          <p:nvPr/>
        </p:nvSpPr>
        <p:spPr>
          <a:xfrm>
            <a:off x="137369" y="1198113"/>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Matching engine</a:t>
            </a:r>
          </a:p>
          <a:p>
            <a:pPr marL="12700" marR="5080"/>
            <a:r>
              <a:rPr lang="en-US" sz="1300" kern="0" spc="-80" dirty="0">
                <a:solidFill>
                  <a:schemeClr val="accent6"/>
                </a:solidFill>
              </a:rPr>
              <a:t>This is the heart of the stock exchange, responsible for matching compatible buy and sell orders.</a:t>
            </a:r>
          </a:p>
          <a:p>
            <a:pPr marL="12700" marR="5080"/>
            <a:r>
              <a:rPr lang="en-US" sz="1300" kern="0" spc="-80" dirty="0">
                <a:solidFill>
                  <a:schemeClr val="accent6"/>
                </a:solidFill>
              </a:rPr>
              <a:t>It maintains an electronic "order book" for every security, which lists all active, unmatched buy and sell orders.</a:t>
            </a:r>
          </a:p>
          <a:p>
            <a:pPr marL="12700" marR="5080"/>
            <a:r>
              <a:rPr lang="en-US" sz="1300" kern="0" spc="-80" dirty="0">
                <a:solidFill>
                  <a:schemeClr val="accent6"/>
                </a:solidFill>
              </a:rPr>
              <a:t>When a match occurs, the matching engine executes the trade and updates the order book. </a:t>
            </a:r>
          </a:p>
          <a:p>
            <a:pPr marL="12700" marR="5080"/>
            <a:r>
              <a:rPr lang="en-US" sz="1300" kern="0" spc="-80" dirty="0">
                <a:solidFill>
                  <a:schemeClr val="accent2"/>
                </a:solidFill>
              </a:rPr>
              <a:t>Data servers and feed handlers</a:t>
            </a:r>
          </a:p>
          <a:p>
            <a:pPr marL="12700" marR="5080"/>
            <a:r>
              <a:rPr lang="en-US" sz="1300" kern="0" spc="-80" dirty="0">
                <a:solidFill>
                  <a:schemeClr val="accent6"/>
                </a:solidFill>
              </a:rPr>
              <a:t>Once a trade is executed, the exchange needs to distribute that information to market participants in real-time.</a:t>
            </a:r>
          </a:p>
          <a:p>
            <a:pPr marL="12700" marR="5080"/>
            <a:r>
              <a:rPr lang="en-US" sz="1300" kern="0" spc="-80" dirty="0">
                <a:solidFill>
                  <a:schemeClr val="accent2"/>
                </a:solidFill>
              </a:rPr>
              <a:t>Primary Data Server (PDC)</a:t>
            </a:r>
            <a:r>
              <a:rPr lang="en-US" sz="1300" kern="0" spc="-80" dirty="0">
                <a:solidFill>
                  <a:schemeClr val="accent6"/>
                </a:solidFill>
              </a:rPr>
              <a:t>: Groups multiple trade information packets into "ticks".</a:t>
            </a:r>
          </a:p>
          <a:p>
            <a:pPr marL="12700" marR="5080"/>
            <a:r>
              <a:rPr lang="en-US" sz="1300" kern="0" spc="-80" dirty="0">
                <a:solidFill>
                  <a:schemeClr val="accent2"/>
                </a:solidFill>
              </a:rPr>
              <a:t>Ticker Plant (or TBT server):</a:t>
            </a:r>
            <a:r>
              <a:rPr lang="en-US" sz="1300" kern="0" spc="-80" dirty="0">
                <a:solidFill>
                  <a:schemeClr val="accent6"/>
                </a:solidFill>
              </a:rPr>
              <a:t> Disseminates the ticks to all subscribed members in a low-latency, real-time data feed (sometimes called a Level 1 or Level 2 feed). </a:t>
            </a:r>
          </a:p>
          <a:p>
            <a:pPr marL="12700" marR="5080"/>
            <a:r>
              <a:rPr lang="en-US" sz="1300" kern="0" spc="-80" dirty="0">
                <a:solidFill>
                  <a:schemeClr val="accent2"/>
                </a:solidFill>
              </a:rPr>
              <a:t>Historical data layer</a:t>
            </a:r>
          </a:p>
          <a:p>
            <a:pPr marL="12700" marR="5080"/>
            <a:r>
              <a:rPr lang="en-US" sz="1300" kern="0" spc="-80" dirty="0">
                <a:solidFill>
                  <a:schemeClr val="accent6"/>
                </a:solidFill>
              </a:rPr>
              <a:t>This is a repository for all historical market data, including past prices, volumes, and trades.</a:t>
            </a:r>
          </a:p>
          <a:p>
            <a:pPr marL="12700" marR="5080"/>
            <a:r>
              <a:rPr lang="en-US" sz="1300" kern="0" spc="-80" dirty="0">
                <a:solidFill>
                  <a:schemeClr val="accent6"/>
                </a:solidFill>
              </a:rPr>
              <a:t>The data is essential for various functions, including regulatory compliance, market analysis, </a:t>
            </a:r>
            <a:r>
              <a:rPr lang="en-US" sz="1300" kern="0" spc="-80" dirty="0" err="1">
                <a:solidFill>
                  <a:schemeClr val="accent6"/>
                </a:solidFill>
              </a:rPr>
              <a:t>backtesting</a:t>
            </a:r>
            <a:r>
              <a:rPr lang="en-US" sz="1300" kern="0" spc="-80" dirty="0">
                <a:solidFill>
                  <a:schemeClr val="accent6"/>
                </a:solidFill>
              </a:rPr>
              <a:t> trading strategies, and managing risk. </a:t>
            </a:r>
          </a:p>
          <a:p>
            <a:pPr marL="12700" marR="5080"/>
            <a:r>
              <a:rPr lang="en-US" sz="1300" kern="0" spc="-80" dirty="0">
                <a:solidFill>
                  <a:schemeClr val="accent2"/>
                </a:solidFill>
              </a:rPr>
              <a:t>Clearing and settlement system</a:t>
            </a:r>
          </a:p>
          <a:p>
            <a:pPr marL="12700" marR="5080"/>
            <a:r>
              <a:rPr lang="en-US" sz="1300" kern="0" spc="-80" dirty="0">
                <a:solidFill>
                  <a:schemeClr val="accent6"/>
                </a:solidFill>
              </a:rPr>
              <a:t>While not always a part of the exchange's core trading system, this component is part of the broader reference architecture.</a:t>
            </a:r>
          </a:p>
          <a:p>
            <a:pPr marL="12700" marR="5080"/>
            <a:r>
              <a:rPr lang="en-US" sz="1300" kern="0" spc="-80" dirty="0">
                <a:solidFill>
                  <a:schemeClr val="accent2"/>
                </a:solidFill>
              </a:rPr>
              <a:t>Clearing: </a:t>
            </a:r>
            <a:r>
              <a:rPr lang="en-US" sz="1300" kern="0" spc="-80" dirty="0">
                <a:solidFill>
                  <a:schemeClr val="accent6"/>
                </a:solidFill>
              </a:rPr>
              <a:t>This process calculates the obligations of buyers and sellers after a trade has been executed.</a:t>
            </a:r>
          </a:p>
          <a:p>
            <a:pPr marL="12700" marR="5080"/>
            <a:r>
              <a:rPr lang="en-US" sz="1300" kern="0" spc="-80" dirty="0">
                <a:solidFill>
                  <a:schemeClr val="accent2"/>
                </a:solidFill>
              </a:rPr>
              <a:t>Settlement:</a:t>
            </a:r>
            <a:r>
              <a:rPr lang="en-US" sz="1300" kern="0" spc="-80" dirty="0">
                <a:solidFill>
                  <a:schemeClr val="accent6"/>
                </a:solidFill>
              </a:rPr>
              <a:t> This is the final step where securities are delivered to the buyer's account and cash is delivered to the seller. </a:t>
            </a:r>
          </a:p>
          <a:p>
            <a:pPr marL="12700" marR="5080"/>
            <a:r>
              <a:rPr lang="en-US" sz="1400" kern="0" spc="-80" dirty="0">
                <a:solidFill>
                  <a:schemeClr val="accent2"/>
                </a:solidFill>
              </a:rPr>
              <a:t>Key architectural considerations</a:t>
            </a:r>
          </a:p>
          <a:p>
            <a:pPr marL="12700" marR="5080"/>
            <a:r>
              <a:rPr lang="en-US" sz="1400" kern="0" spc="-80" dirty="0">
                <a:solidFill>
                  <a:schemeClr val="accent6"/>
                </a:solidFill>
              </a:rPr>
              <a:t>Stock exchange architectures are designed to meet extremely demanding requirements, often prioritizing performance over other factors. </a:t>
            </a:r>
          </a:p>
          <a:p>
            <a:pPr marL="12700" marR="5080"/>
            <a:r>
              <a:rPr lang="en-US" sz="1400" kern="0" spc="-80" dirty="0">
                <a:solidFill>
                  <a:schemeClr val="accent2"/>
                </a:solidFill>
              </a:rPr>
              <a:t>Low latency: </a:t>
            </a:r>
            <a:r>
              <a:rPr lang="en-US" sz="1400" kern="0" spc="-80" dirty="0">
                <a:solidFill>
                  <a:schemeClr val="accent6"/>
                </a:solidFill>
              </a:rPr>
              <a:t>The time it takes to process an order must be as close to zero as possible. This is achieved through techniques like eliminating runtime memory allocation and avoiding locks/mutexes.</a:t>
            </a:r>
          </a:p>
          <a:p>
            <a:pPr marL="12700" marR="5080"/>
            <a:endParaRPr lang="en-US" sz="1300" kern="0" spc="-80" dirty="0">
              <a:solidFill>
                <a:schemeClr val="accent6"/>
              </a:solidFill>
            </a:endParaRPr>
          </a:p>
        </p:txBody>
      </p:sp>
    </p:spTree>
    <p:extLst>
      <p:ext uri="{BB962C8B-B14F-4D97-AF65-F5344CB8AC3E}">
        <p14:creationId xmlns:p14="http://schemas.microsoft.com/office/powerpoint/2010/main" val="151651996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E2E01-C857-3DFA-6AF5-1F2C1A7DE84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4DDAAEA-909F-13D3-6403-252A0397D9D1}"/>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0E64897-232C-CE62-70FD-E8085759F99B}"/>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B5FBB24-B061-AC4D-5538-B99F080CC0CC}"/>
              </a:ext>
            </a:extLst>
          </p:cNvPr>
          <p:cNvGraphicFramePr/>
          <p:nvPr/>
        </p:nvGraphicFramePr>
        <p:xfrm>
          <a:off x="-76200" y="-138717"/>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FC3BA9E-A30B-53CF-EC4F-2DABD5611CF4}"/>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Stock Exchange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9B2D82F0-DDE0-899F-2776-D105787DEBA0}"/>
              </a:ext>
            </a:extLst>
          </p:cNvPr>
          <p:cNvSpPr txBox="1">
            <a:spLocks/>
          </p:cNvSpPr>
          <p:nvPr/>
        </p:nvSpPr>
        <p:spPr>
          <a:xfrm>
            <a:off x="137369" y="3561086"/>
            <a:ext cx="8624937" cy="15388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000" kern="0" spc="-80" dirty="0">
              <a:solidFill>
                <a:schemeClr val="accent2"/>
              </a:solidFill>
            </a:endParaRPr>
          </a:p>
        </p:txBody>
      </p:sp>
      <p:sp>
        <p:nvSpPr>
          <p:cNvPr id="9" name="object 2">
            <a:extLst>
              <a:ext uri="{FF2B5EF4-FFF2-40B4-BE49-F238E27FC236}">
                <a16:creationId xmlns:a16="http://schemas.microsoft.com/office/drawing/2014/main" id="{68842FEC-FC8D-C994-9FCA-8225373C7642}"/>
              </a:ext>
            </a:extLst>
          </p:cNvPr>
          <p:cNvSpPr txBox="1">
            <a:spLocks/>
          </p:cNvSpPr>
          <p:nvPr/>
        </p:nvSpPr>
        <p:spPr>
          <a:xfrm>
            <a:off x="119926" y="1255400"/>
            <a:ext cx="8624937"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kern="0" spc="-80" dirty="0">
                <a:solidFill>
                  <a:schemeClr val="accent2"/>
                </a:solidFill>
              </a:rPr>
              <a:t>High throughput: </a:t>
            </a:r>
            <a:r>
              <a:rPr lang="en-US" sz="1300" kern="0" spc="-80" dirty="0">
                <a:solidFill>
                  <a:schemeClr val="accent6"/>
                </a:solidFill>
              </a:rPr>
              <a:t>The system must handle millions of orders and executions per second. This is managed using distributed systems and asynchronous processing.</a:t>
            </a:r>
          </a:p>
          <a:p>
            <a:pPr marL="12700" marR="5080"/>
            <a:r>
              <a:rPr lang="en-US" sz="1300" kern="0" spc="-80" dirty="0">
                <a:solidFill>
                  <a:schemeClr val="accent2"/>
                </a:solidFill>
              </a:rPr>
              <a:t>High availability:</a:t>
            </a:r>
            <a:r>
              <a:rPr lang="en-US" sz="1300" kern="0" spc="-80" dirty="0">
                <a:solidFill>
                  <a:schemeClr val="accent6"/>
                </a:solidFill>
              </a:rPr>
              <a:t> Trading systems must operate continuously and reliably during market hours. This requires resilient, redundant hardware and software.</a:t>
            </a:r>
          </a:p>
          <a:p>
            <a:pPr marL="12700" marR="5080"/>
            <a:r>
              <a:rPr lang="en-US" sz="1300" kern="0" spc="-80" dirty="0">
                <a:solidFill>
                  <a:schemeClr val="accent2"/>
                </a:solidFill>
              </a:rPr>
              <a:t>Message brokers: </a:t>
            </a:r>
            <a:r>
              <a:rPr lang="en-US" sz="1300" kern="0" spc="-80" dirty="0">
                <a:solidFill>
                  <a:schemeClr val="accent6"/>
                </a:solidFill>
              </a:rPr>
              <a:t>These are often used for handling high-volume data streams. They provide a scalable, reliable messaging infrastructure to ensure different components of the system can communicate efficiently.</a:t>
            </a:r>
          </a:p>
          <a:p>
            <a:pPr marL="12700" marR="5080"/>
            <a:r>
              <a:rPr lang="en-US" sz="1300" kern="0" spc="-80" dirty="0">
                <a:solidFill>
                  <a:schemeClr val="accent2"/>
                </a:solidFill>
              </a:rPr>
              <a:t>Deterministic processing: </a:t>
            </a:r>
            <a:r>
              <a:rPr lang="en-US" sz="1300" kern="0" spc="-80" dirty="0">
                <a:solidFill>
                  <a:schemeClr val="accent6"/>
                </a:solidFill>
              </a:rPr>
              <a:t>In cases of system failure, it should be possible to replay the sequence of events to ensure accurate recovery. This is achieved by sequencing all orders and executions.</a:t>
            </a:r>
          </a:p>
          <a:p>
            <a:pPr marL="12700" marR="5080"/>
            <a:r>
              <a:rPr lang="en-US" sz="1300" kern="0" spc="-80" dirty="0">
                <a:solidFill>
                  <a:schemeClr val="accent2"/>
                </a:solidFill>
              </a:rPr>
              <a:t>Security: </a:t>
            </a:r>
            <a:r>
              <a:rPr lang="en-US" sz="1300" kern="0" spc="-80" dirty="0">
                <a:solidFill>
                  <a:schemeClr val="accent6"/>
                </a:solidFill>
              </a:rPr>
              <a:t>Given the financial nature of the business, a robust authentication server is necessary to verify the identity and permissions of users, brokers, and other systems. </a:t>
            </a:r>
          </a:p>
          <a:p>
            <a:pPr marL="12700" marR="5080"/>
            <a:endParaRPr lang="en-US" sz="1300" kern="0" spc="-80" dirty="0">
              <a:solidFill>
                <a:schemeClr val="accent6"/>
              </a:solidFill>
            </a:endParaRPr>
          </a:p>
          <a:p>
            <a:pPr marL="12700" marR="5080"/>
            <a:r>
              <a:rPr lang="en-US" sz="1500" kern="0" spc="-80" dirty="0">
                <a:solidFill>
                  <a:schemeClr val="accent2"/>
                </a:solidFill>
              </a:rPr>
              <a:t>For Further Exploration-</a:t>
            </a:r>
            <a:endParaRPr lang="en-US" sz="2400" kern="0" spc="-80" dirty="0">
              <a:solidFill>
                <a:schemeClr val="accent2"/>
              </a:solidFill>
            </a:endParaRPr>
          </a:p>
          <a:p>
            <a:pPr marL="12700" marR="5080"/>
            <a:r>
              <a:rPr lang="en-US" sz="1000" dirty="0">
                <a:hlinkClick r:id="rId7"/>
              </a:rPr>
              <a:t>Exchange Architecture. This article acts as a refresher on the… | by Deepak </a:t>
            </a:r>
            <a:r>
              <a:rPr lang="en-US" sz="1000" dirty="0" err="1">
                <a:hlinkClick r:id="rId7"/>
              </a:rPr>
              <a:t>Sanchety</a:t>
            </a:r>
            <a:r>
              <a:rPr lang="en-US" sz="1000" dirty="0">
                <a:hlinkClick r:id="rId7"/>
              </a:rPr>
              <a:t> | Medium</a:t>
            </a:r>
            <a:endParaRPr lang="en-US" sz="1000" kern="0" spc="-80" dirty="0">
              <a:solidFill>
                <a:schemeClr val="accent2"/>
              </a:solidFill>
            </a:endParaRPr>
          </a:p>
          <a:p>
            <a:pPr marL="12700" marR="5080"/>
            <a:r>
              <a:rPr lang="en-IN" sz="1000" dirty="0">
                <a:hlinkClick r:id="rId8"/>
              </a:rPr>
              <a:t>Trading System - NSE India</a:t>
            </a:r>
            <a:endParaRPr lang="en-IN" sz="1000" dirty="0"/>
          </a:p>
          <a:p>
            <a:pPr marL="12700" marR="5080"/>
            <a:r>
              <a:rPr lang="en-US" sz="1000" dirty="0">
                <a:hlinkClick r:id="rId9"/>
              </a:rPr>
              <a:t>NSE Trading Technology - NSE India </a:t>
            </a:r>
            <a:endParaRPr lang="en-US" sz="1000" dirty="0"/>
          </a:p>
          <a:p>
            <a:pPr marL="12700" marR="5080"/>
            <a:r>
              <a:rPr lang="en-IN" sz="1000" dirty="0">
                <a:hlinkClick r:id="rId10"/>
              </a:rPr>
              <a:t>Co-location Facility</a:t>
            </a:r>
            <a:r>
              <a:rPr lang="en-US" sz="1000" kern="0" spc="-80" dirty="0">
                <a:solidFill>
                  <a:schemeClr val="accent2"/>
                </a:solidFill>
              </a:rPr>
              <a:t> </a:t>
            </a:r>
          </a:p>
          <a:p>
            <a:pPr marL="12700" marR="5080"/>
            <a:r>
              <a:rPr lang="en-US" sz="1000" dirty="0">
                <a:hlinkClick r:id="rId11"/>
              </a:rPr>
              <a:t>Order Matching Algorithms: The Backbone of Crypto Markets</a:t>
            </a:r>
            <a:endParaRPr lang="en-US" sz="1000" dirty="0"/>
          </a:p>
          <a:p>
            <a:pPr marL="12700" marR="5080"/>
            <a:r>
              <a:rPr lang="en-US" sz="1000" dirty="0">
                <a:hlinkClick r:id="rId12"/>
              </a:rPr>
              <a:t>How to Build a Fast Limit Order Book · GitHub</a:t>
            </a:r>
            <a:endParaRPr lang="en-US" sz="1000" dirty="0"/>
          </a:p>
          <a:p>
            <a:pPr marL="12700" marR="5080"/>
            <a:r>
              <a:rPr lang="en-US" sz="1000" dirty="0">
                <a:hlinkClick r:id="rId13"/>
              </a:rPr>
              <a:t>Order-Matching-Engine</a:t>
            </a:r>
            <a:endParaRPr lang="en-US" sz="1000" dirty="0"/>
          </a:p>
          <a:p>
            <a:pPr marL="12700" marR="5080"/>
            <a:r>
              <a:rPr lang="en-US" sz="1000" dirty="0">
                <a:hlinkClick r:id="rId14"/>
              </a:rPr>
              <a:t>How Are Stock Prices Determined? | Stash Learn</a:t>
            </a:r>
            <a:endParaRPr lang="en-US" sz="1000" dirty="0"/>
          </a:p>
          <a:p>
            <a:pPr marL="12700" marR="5080"/>
            <a:r>
              <a:rPr lang="en-US" sz="1000" dirty="0">
                <a:hlinkClick r:id="rId15"/>
              </a:rPr>
              <a:t>How Stock Prices Are Determined in India? | 5paisa</a:t>
            </a:r>
            <a:endParaRPr lang="en-US" sz="1000" dirty="0"/>
          </a:p>
          <a:p>
            <a:pPr marL="12700" marR="5080"/>
            <a:r>
              <a:rPr lang="en-US" sz="1000" dirty="0">
                <a:hlinkClick r:id="rId16"/>
              </a:rPr>
              <a:t>How Share Price is Calculated? Know the Methods | Angel One</a:t>
            </a:r>
            <a:endParaRPr lang="en-US" sz="1000" dirty="0"/>
          </a:p>
          <a:p>
            <a:pPr marL="12700" marR="5080"/>
            <a:r>
              <a:rPr lang="en-US" sz="1000" dirty="0">
                <a:hlinkClick r:id="rId17"/>
              </a:rPr>
              <a:t>How Are Stock Prices Determined? | The Motley Fool</a:t>
            </a:r>
            <a:endParaRPr lang="en-US" sz="1000" dirty="0"/>
          </a:p>
          <a:p>
            <a:pPr marL="12700" marR="5080"/>
            <a:r>
              <a:rPr lang="en-IN" sz="1000" dirty="0" err="1">
                <a:hlinkClick r:id="rId18"/>
              </a:rPr>
              <a:t>SaltwaterTaffy</a:t>
            </a:r>
            <a:r>
              <a:rPr lang="en-IN" sz="1000" dirty="0">
                <a:hlinkClick r:id="rId18"/>
              </a:rPr>
              <a:t>: An </a:t>
            </a:r>
            <a:r>
              <a:rPr lang="en-IN" sz="1000" dirty="0" err="1">
                <a:hlinkClick r:id="rId18"/>
              </a:rPr>
              <a:t>nmap</a:t>
            </a:r>
            <a:r>
              <a:rPr lang="en-IN" sz="1000" dirty="0">
                <a:hlinkClick r:id="rId18"/>
              </a:rPr>
              <a:t> wrapper library for .NET</a:t>
            </a:r>
            <a:endParaRPr lang="en-IN" sz="1000" dirty="0"/>
          </a:p>
          <a:p>
            <a:pPr marL="12700" marR="5080"/>
            <a:r>
              <a:rPr lang="en-US" sz="1000" dirty="0">
                <a:hlinkClick r:id="rId19"/>
              </a:rPr>
              <a:t>Developing with </a:t>
            </a:r>
            <a:r>
              <a:rPr lang="en-US" sz="1000" dirty="0" err="1">
                <a:hlinkClick r:id="rId19"/>
              </a:rPr>
              <a:t>kdb</a:t>
            </a:r>
            <a:r>
              <a:rPr lang="en-US" sz="1000" dirty="0">
                <a:hlinkClick r:id="rId19"/>
              </a:rPr>
              <a:t>+ and the q language - </a:t>
            </a:r>
            <a:r>
              <a:rPr lang="en-US" sz="1000" dirty="0" err="1">
                <a:hlinkClick r:id="rId19"/>
              </a:rPr>
              <a:t>kdb</a:t>
            </a:r>
            <a:r>
              <a:rPr lang="en-US" sz="1000" dirty="0">
                <a:hlinkClick r:id="rId19"/>
              </a:rPr>
              <a:t>+ and q documentation</a:t>
            </a:r>
            <a:r>
              <a:rPr lang="en-US" sz="1000" dirty="0"/>
              <a:t> </a:t>
            </a:r>
          </a:p>
          <a:p>
            <a:pPr marL="12700" marR="5080"/>
            <a:r>
              <a:rPr lang="en-IN" sz="1000" dirty="0">
                <a:hlinkClick r:id="rId20"/>
              </a:rPr>
              <a:t>The LMAX Architecture</a:t>
            </a:r>
            <a:endParaRPr lang="en-US" sz="1000" dirty="0"/>
          </a:p>
          <a:p>
            <a:pPr marL="12700" marR="5080"/>
            <a:r>
              <a:rPr lang="en-IN" sz="1000" dirty="0">
                <a:hlinkClick r:id="rId21"/>
              </a:rPr>
              <a:t>Disruptor-net: Port of LMAX Disruptor to .NET</a:t>
            </a:r>
            <a:endParaRPr lang="en-US" sz="1000" kern="0" spc="-80" dirty="0">
              <a:solidFill>
                <a:schemeClr val="accent2"/>
              </a:solidFill>
            </a:endParaRPr>
          </a:p>
        </p:txBody>
      </p:sp>
    </p:spTree>
    <p:extLst>
      <p:ext uri="{BB962C8B-B14F-4D97-AF65-F5344CB8AC3E}">
        <p14:creationId xmlns:p14="http://schemas.microsoft.com/office/powerpoint/2010/main" val="353479318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C3B16-9973-0A3F-A624-FA3E0166DD8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C70192C-0D9B-4A01-EF8E-94D241331D4B}"/>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0313C9A-6FBE-0CDE-61D9-23E25E9EC200}"/>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8BA11D4-D860-F170-423D-AC3892D05A21}"/>
              </a:ext>
            </a:extLst>
          </p:cNvPr>
          <p:cNvGraphicFramePr/>
          <p:nvPr>
            <p:extLst>
              <p:ext uri="{D42A27DB-BD31-4B8C-83A1-F6EECF244321}">
                <p14:modId xmlns:p14="http://schemas.microsoft.com/office/powerpoint/2010/main" val="1700779517"/>
              </p:ext>
            </p:extLst>
          </p:nvPr>
        </p:nvGraphicFramePr>
        <p:xfrm>
          <a:off x="-918"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A5166B4-2067-7637-FD7E-96C65B437BEF}"/>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Trading System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CFF584A7-E76E-7AF1-678E-DEE286F9FC42}"/>
              </a:ext>
            </a:extLst>
          </p:cNvPr>
          <p:cNvSpPr txBox="1">
            <a:spLocks/>
          </p:cNvSpPr>
          <p:nvPr/>
        </p:nvSpPr>
        <p:spPr>
          <a:xfrm>
            <a:off x="137369" y="4420106"/>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2"/>
                </a:solidFill>
              </a:rPr>
              <a:t>Key architectural layers and components</a:t>
            </a:r>
          </a:p>
          <a:p>
            <a:pPr marL="12700" marR="5080"/>
            <a:r>
              <a:rPr lang="en-US" sz="1200" kern="0" spc="-80" dirty="0">
                <a:solidFill>
                  <a:schemeClr val="accent6"/>
                </a:solidFill>
              </a:rPr>
              <a:t>A typical trading system architecture is layered to separate concerns and optimize for speed and resilience. </a:t>
            </a:r>
          </a:p>
          <a:p>
            <a:pPr marL="12700" marR="5080"/>
            <a:r>
              <a:rPr lang="en-US" sz="1200" kern="0" spc="-80" dirty="0">
                <a:solidFill>
                  <a:schemeClr val="accent2"/>
                </a:solidFill>
              </a:rPr>
              <a:t>1. Data layer</a:t>
            </a:r>
          </a:p>
          <a:p>
            <a:pPr marL="12700" marR="5080"/>
            <a:r>
              <a:rPr lang="en-US" sz="1200" kern="0" spc="-80" dirty="0">
                <a:solidFill>
                  <a:schemeClr val="accent6"/>
                </a:solidFill>
              </a:rPr>
              <a:t>This layer is responsible for ingesting, processing, and storing all market-related data.</a:t>
            </a:r>
          </a:p>
          <a:p>
            <a:pPr marL="12700" marR="5080"/>
            <a:r>
              <a:rPr lang="en-US" sz="1200" kern="0" spc="-80" dirty="0">
                <a:solidFill>
                  <a:schemeClr val="accent2"/>
                </a:solidFill>
              </a:rPr>
              <a:t>Data Sources:</a:t>
            </a:r>
            <a:r>
              <a:rPr lang="en-US" sz="1200" kern="0" spc="-80" dirty="0">
                <a:solidFill>
                  <a:schemeClr val="accent6"/>
                </a:solidFill>
              </a:rPr>
              <a:t> External exchanges and data vendors that supply real-time market data, including prices, order book information, and trade volumes.</a:t>
            </a:r>
          </a:p>
          <a:p>
            <a:pPr marL="12700" marR="5080"/>
            <a:r>
              <a:rPr lang="en-US" sz="1200" kern="0" spc="-80" dirty="0">
                <a:solidFill>
                  <a:schemeClr val="accent2"/>
                </a:solidFill>
              </a:rPr>
              <a:t>Feed Handlers: </a:t>
            </a:r>
            <a:r>
              <a:rPr lang="en-US" sz="1200" kern="0" spc="-80" dirty="0">
                <a:solidFill>
                  <a:schemeClr val="accent6"/>
                </a:solidFill>
              </a:rPr>
              <a:t>These components collect raw data packets from exchanges and other sources. They are designed for low-latency and high-throughput ingestion.</a:t>
            </a:r>
          </a:p>
        </p:txBody>
      </p:sp>
      <p:pic>
        <p:nvPicPr>
          <p:cNvPr id="9" name="Picture 8">
            <a:extLst>
              <a:ext uri="{FF2B5EF4-FFF2-40B4-BE49-F238E27FC236}">
                <a16:creationId xmlns:a16="http://schemas.microsoft.com/office/drawing/2014/main" id="{67861387-3CCD-1256-E8BE-83C3427B819B}"/>
              </a:ext>
            </a:extLst>
          </p:cNvPr>
          <p:cNvPicPr>
            <a:picLocks noChangeAspect="1"/>
          </p:cNvPicPr>
          <p:nvPr/>
        </p:nvPicPr>
        <p:blipFill>
          <a:blip r:embed="rId7"/>
          <a:stretch>
            <a:fillRect/>
          </a:stretch>
        </p:blipFill>
        <p:spPr>
          <a:xfrm>
            <a:off x="0" y="1242536"/>
            <a:ext cx="8566590" cy="3177570"/>
          </a:xfrm>
          <a:prstGeom prst="rect">
            <a:avLst/>
          </a:prstGeom>
        </p:spPr>
      </p:pic>
    </p:spTree>
    <p:extLst>
      <p:ext uri="{BB962C8B-B14F-4D97-AF65-F5344CB8AC3E}">
        <p14:creationId xmlns:p14="http://schemas.microsoft.com/office/powerpoint/2010/main" val="260659672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E0046-6511-9C66-B929-E5C8D9B27BF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25CD6B8-1501-2EAF-0B89-43CE2ECE4A5B}"/>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BA6CB80-847A-109A-0B8A-FA47C88AFA1C}"/>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6D3AFF1-C888-F644-2C06-5ADC4BCC6152}"/>
              </a:ext>
            </a:extLst>
          </p:cNvPr>
          <p:cNvGraphicFramePr/>
          <p:nvPr/>
        </p:nvGraphicFramePr>
        <p:xfrm>
          <a:off x="-918"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34B94A0-3F59-2A08-DD44-F731377D2F91}"/>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Trading System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CE93C84-338B-08D5-1CF6-8B0A443E90A8}"/>
              </a:ext>
            </a:extLst>
          </p:cNvPr>
          <p:cNvSpPr txBox="1">
            <a:spLocks/>
          </p:cNvSpPr>
          <p:nvPr/>
        </p:nvSpPr>
        <p:spPr>
          <a:xfrm>
            <a:off x="228600" y="1276505"/>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2"/>
                </a:solidFill>
              </a:rPr>
              <a:t>Data Stager:</a:t>
            </a:r>
            <a:r>
              <a:rPr lang="en-US" sz="1200" kern="0" spc="-80" dirty="0">
                <a:solidFill>
                  <a:schemeClr val="accent6"/>
                </a:solidFill>
              </a:rPr>
              <a:t> A temporary storage area where raw data is held before filtering and normalization.</a:t>
            </a:r>
          </a:p>
          <a:p>
            <a:pPr marL="12700" marR="5080"/>
            <a:r>
              <a:rPr lang="en-US" sz="1200" kern="0" spc="-80" dirty="0">
                <a:solidFill>
                  <a:schemeClr val="accent2"/>
                </a:solidFill>
              </a:rPr>
              <a:t>Operational Data Store (ODS): </a:t>
            </a:r>
            <a:r>
              <a:rPr lang="en-US" sz="1200" kern="0" spc="-80" dirty="0">
                <a:solidFill>
                  <a:schemeClr val="accent6"/>
                </a:solidFill>
              </a:rPr>
              <a:t>A repository for real-time and near-real-time data that the system uses for immediate decision-making.</a:t>
            </a:r>
          </a:p>
          <a:p>
            <a:pPr marL="12700" marR="5080"/>
            <a:r>
              <a:rPr lang="en-US" sz="1200" kern="0" spc="-80" dirty="0">
                <a:solidFill>
                  <a:schemeClr val="accent2"/>
                </a:solidFill>
              </a:rPr>
              <a:t>Data Warehouse: </a:t>
            </a:r>
            <a:r>
              <a:rPr lang="en-US" sz="1200" kern="0" spc="-80" dirty="0">
                <a:solidFill>
                  <a:schemeClr val="accent6"/>
                </a:solidFill>
              </a:rPr>
              <a:t>A long-term storage solution for historical market data, used for analysis, </a:t>
            </a:r>
            <a:r>
              <a:rPr lang="en-US" sz="1200" kern="0" spc="-80" dirty="0" err="1">
                <a:solidFill>
                  <a:schemeClr val="accent6"/>
                </a:solidFill>
              </a:rPr>
              <a:t>backtesting</a:t>
            </a:r>
            <a:r>
              <a:rPr lang="en-US" sz="1200" kern="0" spc="-80" dirty="0">
                <a:solidFill>
                  <a:schemeClr val="accent6"/>
                </a:solidFill>
              </a:rPr>
              <a:t>, and compliance reporting. </a:t>
            </a:r>
          </a:p>
          <a:p>
            <a:pPr marL="12700" marR="5080"/>
            <a:r>
              <a:rPr lang="en-US" sz="1200" kern="0" spc="-80" dirty="0">
                <a:solidFill>
                  <a:schemeClr val="accent2"/>
                </a:solidFill>
              </a:rPr>
              <a:t>2. Strategy and processing layer</a:t>
            </a:r>
          </a:p>
          <a:p>
            <a:pPr marL="12700" marR="5080"/>
            <a:r>
              <a:rPr lang="en-US" sz="1200" kern="0" spc="-80" dirty="0">
                <a:solidFill>
                  <a:schemeClr val="accent6"/>
                </a:solidFill>
              </a:rPr>
              <a:t>This is the "brain" of the system, where algorithms analyze data and generate trading signals.</a:t>
            </a:r>
          </a:p>
          <a:p>
            <a:pPr marL="12700" marR="5080"/>
            <a:r>
              <a:rPr lang="en-US" sz="1200" kern="0" spc="-80" dirty="0">
                <a:solidFill>
                  <a:schemeClr val="accent2"/>
                </a:solidFill>
              </a:rPr>
              <a:t>Complex Event Processing (CEP) Engine:</a:t>
            </a:r>
            <a:r>
              <a:rPr lang="en-US" sz="1200" kern="0" spc="-80" dirty="0">
                <a:solidFill>
                  <a:schemeClr val="accent6"/>
                </a:solidFill>
              </a:rPr>
              <a:t> Analyzes incoming market data to detect patterns, trends, and anomalies that indicate trading opportunities. This component is central to an algorithmic trading strategy.</a:t>
            </a:r>
          </a:p>
          <a:p>
            <a:pPr marL="12700" marR="5080"/>
            <a:r>
              <a:rPr lang="en-US" sz="1200" kern="0" spc="-80" dirty="0">
                <a:solidFill>
                  <a:schemeClr val="accent2"/>
                </a:solidFill>
              </a:rPr>
              <a:t>Strategy Engine:</a:t>
            </a:r>
            <a:r>
              <a:rPr lang="en-US" sz="1200" kern="0" spc="-80" dirty="0">
                <a:solidFill>
                  <a:schemeClr val="accent6"/>
                </a:solidFill>
              </a:rPr>
              <a:t> Runs trading algorithms based on the output of the CEP engine. These algorithms implement the core trading logic and determine buy, sell, or hold decisions.</a:t>
            </a:r>
          </a:p>
          <a:p>
            <a:pPr marL="12700" marR="5080"/>
            <a:r>
              <a:rPr lang="en-US" sz="1200" kern="0" spc="-80" dirty="0" err="1">
                <a:solidFill>
                  <a:schemeClr val="accent2"/>
                </a:solidFill>
              </a:rPr>
              <a:t>Backtesting</a:t>
            </a:r>
            <a:r>
              <a:rPr lang="en-US" sz="1200" kern="0" spc="-80" dirty="0">
                <a:solidFill>
                  <a:schemeClr val="accent2"/>
                </a:solidFill>
              </a:rPr>
              <a:t> and Simulation:</a:t>
            </a:r>
            <a:r>
              <a:rPr lang="en-US" sz="1200" kern="0" spc="-80" dirty="0">
                <a:solidFill>
                  <a:schemeClr val="accent6"/>
                </a:solidFill>
              </a:rPr>
              <a:t> A module that uses historical data from the data warehouse to test and validate trading strategies before they are deployed live. </a:t>
            </a:r>
          </a:p>
          <a:p>
            <a:pPr marL="12700" marR="5080"/>
            <a:r>
              <a:rPr lang="en-US" sz="1200" kern="0" spc="-80" dirty="0">
                <a:solidFill>
                  <a:schemeClr val="accent2"/>
                </a:solidFill>
              </a:rPr>
              <a:t>3. Execution layer</a:t>
            </a:r>
          </a:p>
          <a:p>
            <a:pPr marL="12700" marR="5080"/>
            <a:r>
              <a:rPr lang="en-US" sz="1200" kern="0" spc="-80" dirty="0">
                <a:solidFill>
                  <a:schemeClr val="accent6"/>
                </a:solidFill>
              </a:rPr>
              <a:t>This layer handles the lifecycle of an order, from its creation to its execution on an exchange.</a:t>
            </a:r>
          </a:p>
          <a:p>
            <a:pPr marL="12700" marR="5080"/>
            <a:r>
              <a:rPr lang="en-US" sz="1200" kern="0" spc="-80" dirty="0">
                <a:solidFill>
                  <a:schemeClr val="accent2"/>
                </a:solidFill>
              </a:rPr>
              <a:t>Order Management System (OMS):</a:t>
            </a:r>
            <a:r>
              <a:rPr lang="en-US" sz="1200" kern="0" spc="-80" dirty="0">
                <a:solidFill>
                  <a:schemeClr val="accent6"/>
                </a:solidFill>
              </a:rPr>
              <a:t> Manages the complete lifecycle of a trade order, including its creation, validation, status tracking, modification, and cancellation.</a:t>
            </a:r>
          </a:p>
          <a:p>
            <a:pPr marL="12700" marR="5080"/>
            <a:r>
              <a:rPr lang="en-US" sz="1200" kern="0" spc="-80" dirty="0">
                <a:solidFill>
                  <a:schemeClr val="accent2"/>
                </a:solidFill>
              </a:rPr>
              <a:t>Execution Management System (EMS):</a:t>
            </a:r>
            <a:r>
              <a:rPr lang="en-US" sz="1200" kern="0" spc="-80" dirty="0">
                <a:solidFill>
                  <a:schemeClr val="accent6"/>
                </a:solidFill>
              </a:rPr>
              <a:t> Optimizes the execution of orders by selecting the best venue (exchange or dark pool) based on factors like speed, cost, and liquidity.</a:t>
            </a:r>
          </a:p>
          <a:p>
            <a:pPr marL="12700" marR="5080"/>
            <a:r>
              <a:rPr lang="en-US" sz="1200" kern="0" spc="-80" dirty="0">
                <a:solidFill>
                  <a:schemeClr val="accent2"/>
                </a:solidFill>
              </a:rPr>
              <a:t>Smart Order Router (SOR): </a:t>
            </a:r>
            <a:r>
              <a:rPr lang="en-US" sz="1200" kern="0" spc="-80" dirty="0">
                <a:solidFill>
                  <a:schemeClr val="accent6"/>
                </a:solidFill>
              </a:rPr>
              <a:t>An advanced component of the EMS that automatically routes orders to the most suitable venue in real-time. It can split large orders to minimize market impact.</a:t>
            </a:r>
          </a:p>
          <a:p>
            <a:pPr marL="12700" marR="5080"/>
            <a:r>
              <a:rPr lang="en-US" sz="1200" kern="0" spc="-80" dirty="0">
                <a:solidFill>
                  <a:schemeClr val="accent2"/>
                </a:solidFill>
              </a:rPr>
              <a:t>Exchange Gateways: </a:t>
            </a:r>
            <a:r>
              <a:rPr lang="en-US" sz="1200" kern="0" spc="-80" dirty="0">
                <a:solidFill>
                  <a:schemeClr val="accent6"/>
                </a:solidFill>
              </a:rPr>
              <a:t>Facilitate communication with external exchanges and trading venues, often using standard protocols like the Financial Information </a:t>
            </a:r>
            <a:r>
              <a:rPr lang="en-US" sz="1200" kern="0" spc="-80" dirty="0" err="1">
                <a:solidFill>
                  <a:schemeClr val="accent6"/>
                </a:solidFill>
              </a:rPr>
              <a:t>eXchange</a:t>
            </a:r>
            <a:r>
              <a:rPr lang="en-US" sz="1200" kern="0" spc="-80" dirty="0">
                <a:solidFill>
                  <a:schemeClr val="accent6"/>
                </a:solidFill>
              </a:rPr>
              <a:t> (FIX). </a:t>
            </a:r>
          </a:p>
          <a:p>
            <a:pPr marL="12700" marR="5080"/>
            <a:r>
              <a:rPr lang="en-US" sz="1200" kern="0" spc="-80" dirty="0">
                <a:solidFill>
                  <a:schemeClr val="accent2"/>
                </a:solidFill>
              </a:rPr>
              <a:t>4. Risk management and compliance layer</a:t>
            </a:r>
          </a:p>
          <a:p>
            <a:pPr marL="12700" marR="5080"/>
            <a:r>
              <a:rPr lang="en-US" sz="1200" kern="0" spc="-80" dirty="0">
                <a:solidFill>
                  <a:schemeClr val="accent6"/>
                </a:solidFill>
              </a:rPr>
              <a:t>This layer monitors trading activity to protect against excessive losses and ensure regulatory adherence.</a:t>
            </a:r>
          </a:p>
          <a:p>
            <a:pPr marL="12700" marR="5080"/>
            <a:endParaRPr lang="en-US" sz="1200" kern="0" spc="-80" dirty="0">
              <a:solidFill>
                <a:schemeClr val="accent6"/>
              </a:solidFill>
            </a:endParaRPr>
          </a:p>
        </p:txBody>
      </p:sp>
    </p:spTree>
    <p:extLst>
      <p:ext uri="{BB962C8B-B14F-4D97-AF65-F5344CB8AC3E}">
        <p14:creationId xmlns:p14="http://schemas.microsoft.com/office/powerpoint/2010/main" val="300512086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9DA70-10A1-8FFA-EF33-615D98943EA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99932C3-7E8E-80DB-457E-7C609683719F}"/>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58B70DF-CDC1-4A51-E858-6FE51E086D27}"/>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2F3F9C3-FBBC-3B36-5247-9B3F4229D53C}"/>
              </a:ext>
            </a:extLst>
          </p:cNvPr>
          <p:cNvGraphicFramePr/>
          <p:nvPr/>
        </p:nvGraphicFramePr>
        <p:xfrm>
          <a:off x="-918"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BF63CFC-1BF4-9327-3DAA-6F5848DA990E}"/>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Trading System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FA204EB-9834-8A4B-F019-2CD5B7C9F7E4}"/>
              </a:ext>
            </a:extLst>
          </p:cNvPr>
          <p:cNvSpPr txBox="1">
            <a:spLocks/>
          </p:cNvSpPr>
          <p:nvPr/>
        </p:nvSpPr>
        <p:spPr>
          <a:xfrm>
            <a:off x="137369" y="1242536"/>
            <a:ext cx="8624937" cy="49705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200" kern="0" spc="-80" dirty="0">
                <a:solidFill>
                  <a:schemeClr val="accent2"/>
                </a:solidFill>
              </a:rPr>
              <a:t>Pre-Trade Risk Checks:</a:t>
            </a:r>
            <a:r>
              <a:rPr lang="en-US" sz="1200" kern="0" spc="-80" dirty="0">
                <a:solidFill>
                  <a:schemeClr val="accent6"/>
                </a:solidFill>
              </a:rPr>
              <a:t> Performs automated checks before an order is sent to an exchange. This can include enforcing limits on trading quantity or notional value to prevent "fat finger" errors.</a:t>
            </a:r>
          </a:p>
          <a:p>
            <a:pPr marL="12700" marR="5080"/>
            <a:r>
              <a:rPr lang="en-US" sz="1200" kern="0" spc="-80" dirty="0">
                <a:solidFill>
                  <a:schemeClr val="accent2"/>
                </a:solidFill>
              </a:rPr>
              <a:t>Post-Trade Monitoring:</a:t>
            </a:r>
            <a:r>
              <a:rPr lang="en-US" sz="1200" kern="0" spc="-80" dirty="0">
                <a:solidFill>
                  <a:schemeClr val="accent6"/>
                </a:solidFill>
              </a:rPr>
              <a:t> Continuously monitors trades in real-time, providing visibility into risk exposure and detecting potential compliance breaches.</a:t>
            </a:r>
            <a:endParaRPr lang="en-US" sz="1200" kern="0" spc="-80" dirty="0">
              <a:solidFill>
                <a:schemeClr val="accent2"/>
              </a:solidFill>
            </a:endParaRPr>
          </a:p>
          <a:p>
            <a:pPr marL="12700" marR="5080"/>
            <a:r>
              <a:rPr lang="en-US" sz="1200" kern="0" spc="-80" dirty="0">
                <a:solidFill>
                  <a:schemeClr val="accent2"/>
                </a:solidFill>
              </a:rPr>
              <a:t>Fail-safes and Circuit Breakers:</a:t>
            </a:r>
            <a:r>
              <a:rPr lang="en-US" sz="1200" kern="0" spc="-80" dirty="0">
                <a:solidFill>
                  <a:schemeClr val="accent6"/>
                </a:solidFill>
              </a:rPr>
              <a:t> Automated systems that can halt trading or isolate components if abnormal behavior or losses exceed predefined thresholds.</a:t>
            </a:r>
          </a:p>
          <a:p>
            <a:pPr marL="12700" marR="5080"/>
            <a:r>
              <a:rPr lang="en-US" sz="1200" kern="0" spc="-80" dirty="0">
                <a:solidFill>
                  <a:schemeClr val="accent2"/>
                </a:solidFill>
              </a:rPr>
              <a:t>Compliance and Reporting: </a:t>
            </a:r>
            <a:r>
              <a:rPr lang="en-US" sz="1200" kern="0" spc="-80" dirty="0">
                <a:solidFill>
                  <a:schemeClr val="accent6"/>
                </a:solidFill>
              </a:rPr>
              <a:t>Ensures all trading activities meet legal and regulatory requirements and provides transparency to regulators. </a:t>
            </a:r>
          </a:p>
          <a:p>
            <a:pPr marL="12700" marR="5080"/>
            <a:r>
              <a:rPr lang="en-US" sz="1200" kern="0" spc="-80" dirty="0">
                <a:solidFill>
                  <a:schemeClr val="accent2"/>
                </a:solidFill>
              </a:rPr>
              <a:t>Key architectural considerations for high-performance systems</a:t>
            </a:r>
          </a:p>
          <a:p>
            <a:pPr marL="12700" marR="5080"/>
            <a:r>
              <a:rPr lang="en-US" sz="1200" kern="0" spc="-80" dirty="0">
                <a:solidFill>
                  <a:schemeClr val="accent6"/>
                </a:solidFill>
              </a:rPr>
              <a:t>For systems like high-frequency trading (HFT), latency is a critical factor, leading to specific architectural optimizations. </a:t>
            </a:r>
          </a:p>
          <a:p>
            <a:pPr marL="12700" marR="5080"/>
            <a:r>
              <a:rPr lang="en-US" sz="1200" kern="0" spc="-80" dirty="0">
                <a:solidFill>
                  <a:schemeClr val="accent2"/>
                </a:solidFill>
              </a:rPr>
              <a:t>Low-Latency Infrastructure: </a:t>
            </a:r>
            <a:r>
              <a:rPr lang="en-US" sz="1200" kern="0" spc="-80" dirty="0">
                <a:solidFill>
                  <a:schemeClr val="accent6"/>
                </a:solidFill>
              </a:rPr>
              <a:t>This involves investing in high-performance servers, fast processors, and low-latency network interface cards (NICs).</a:t>
            </a:r>
          </a:p>
          <a:p>
            <a:pPr marL="12700" marR="5080"/>
            <a:r>
              <a:rPr lang="en-US" sz="1200" kern="0" spc="-80" dirty="0">
                <a:solidFill>
                  <a:schemeClr val="accent2"/>
                </a:solidFill>
              </a:rPr>
              <a:t>Co-location:</a:t>
            </a:r>
            <a:r>
              <a:rPr lang="en-US" sz="1200" kern="0" spc="-80" dirty="0">
                <a:solidFill>
                  <a:schemeClr val="accent6"/>
                </a:solidFill>
              </a:rPr>
              <a:t> Placing trading servers directly inside the exchange's data center to minimize network latency by reducing the physical distance between the trading engine and the matching engine.</a:t>
            </a:r>
          </a:p>
          <a:p>
            <a:pPr marL="12700" marR="5080"/>
            <a:r>
              <a:rPr lang="en-US" sz="1200" kern="0" spc="-80" dirty="0">
                <a:solidFill>
                  <a:schemeClr val="accent2"/>
                </a:solidFill>
              </a:rPr>
              <a:t>Kernel Bypass and Custom Network Stacks: </a:t>
            </a:r>
            <a:r>
              <a:rPr lang="en-US" sz="1200" kern="0" spc="-80" dirty="0">
                <a:solidFill>
                  <a:schemeClr val="accent6"/>
                </a:solidFill>
              </a:rPr>
              <a:t>Using technologies like </a:t>
            </a:r>
            <a:r>
              <a:rPr lang="en-US" sz="1200" kern="0" spc="-80" dirty="0" err="1">
                <a:solidFill>
                  <a:schemeClr val="accent6"/>
                </a:solidFill>
              </a:rPr>
              <a:t>OpenOnload</a:t>
            </a:r>
            <a:r>
              <a:rPr lang="en-US" sz="1200" kern="0" spc="-80" dirty="0">
                <a:solidFill>
                  <a:schemeClr val="accent6"/>
                </a:solidFill>
              </a:rPr>
              <a:t> or DPDK to bypass the operating system's kernel and deliver market data packets directly to the application, reducing processing latency.</a:t>
            </a:r>
          </a:p>
          <a:p>
            <a:pPr marL="12700" marR="5080"/>
            <a:r>
              <a:rPr lang="en-US" sz="1200" kern="0" spc="-80" dirty="0">
                <a:solidFill>
                  <a:schemeClr val="accent2"/>
                </a:solidFill>
              </a:rPr>
              <a:t>Hardware Acceleration: </a:t>
            </a:r>
            <a:r>
              <a:rPr lang="en-US" sz="1200" kern="0" spc="-80" dirty="0">
                <a:solidFill>
                  <a:schemeClr val="accent6"/>
                </a:solidFill>
              </a:rPr>
              <a:t>Implementing critical parts of the trading and processing logic directly onto specialized hardware like Field-Programmable Gate Arrays (FPGAs) to achieve nanosecond-level execution speeds. </a:t>
            </a:r>
          </a:p>
          <a:p>
            <a:pPr marL="12700" marR="5080"/>
            <a:r>
              <a:rPr lang="en-US" sz="1050" kern="0" spc="-80" dirty="0">
                <a:solidFill>
                  <a:schemeClr val="accent2"/>
                </a:solidFill>
              </a:rPr>
              <a:t>For Further Exploration </a:t>
            </a:r>
          </a:p>
          <a:p>
            <a:pPr marL="12700" marR="5080"/>
            <a:r>
              <a:rPr lang="en-US" sz="1050" dirty="0">
                <a:hlinkClick r:id="rId7"/>
              </a:rPr>
              <a:t>Automated Trading Systems: Architecture, Protocols, Types of Latency</a:t>
            </a:r>
            <a:endParaRPr lang="en-IN" sz="1050" dirty="0"/>
          </a:p>
          <a:p>
            <a:pPr marL="12700" marR="5080"/>
            <a:r>
              <a:rPr lang="en-US" sz="1050" dirty="0">
                <a:hlinkClick r:id="rId8"/>
              </a:rPr>
              <a:t>Algorithmic Trading System Architecture - Stuart Gordon Reid</a:t>
            </a:r>
            <a:endParaRPr lang="en-IN" sz="1050" kern="0" spc="-80" dirty="0">
              <a:solidFill>
                <a:schemeClr val="accent2"/>
              </a:solidFill>
            </a:endParaRPr>
          </a:p>
          <a:p>
            <a:pPr marL="12700" marR="5080"/>
            <a:r>
              <a:rPr lang="en-US" sz="1050" dirty="0">
                <a:hlinkClick r:id="rId9"/>
              </a:rPr>
              <a:t>Design and Architecture of a Real World Trading Platform.. (2/3) - Vamsi Talks Tech</a:t>
            </a:r>
            <a:endParaRPr lang="en-US" sz="1050" dirty="0"/>
          </a:p>
          <a:p>
            <a:pPr marL="12700" marR="5080"/>
            <a:r>
              <a:rPr lang="en-IN" sz="1050" dirty="0">
                <a:hlinkClick r:id="rId10"/>
              </a:rPr>
              <a:t>The Algorithmic Trading Platform | by Prerak Sanghvi | Proof Reading | Medium</a:t>
            </a:r>
            <a:endParaRPr lang="en-IN" sz="1050" dirty="0"/>
          </a:p>
          <a:p>
            <a:pPr marL="12700" marR="5080"/>
            <a:r>
              <a:rPr lang="en-IN" sz="1050" dirty="0">
                <a:hlinkClick r:id="rId11"/>
              </a:rPr>
              <a:t>Algorithmic-Trading</a:t>
            </a:r>
            <a:endParaRPr lang="en-IN" sz="1050" dirty="0"/>
          </a:p>
          <a:p>
            <a:pPr marL="12700" marR="5080"/>
            <a:r>
              <a:rPr lang="en-IN" sz="1050" dirty="0" err="1">
                <a:hlinkClick r:id="rId12"/>
              </a:rPr>
              <a:t>StockSharp</a:t>
            </a:r>
            <a:endParaRPr lang="en-IN" sz="1050" dirty="0"/>
          </a:p>
          <a:p>
            <a:pPr marL="12700" marR="5080"/>
            <a:r>
              <a:rPr lang="en-IN" sz="1050" dirty="0" err="1">
                <a:hlinkClick r:id="rId13"/>
              </a:rPr>
              <a:t>Marketcetera</a:t>
            </a:r>
            <a:endParaRPr lang="en-IN" sz="1050" dirty="0"/>
          </a:p>
          <a:p>
            <a:pPr marL="12700" marR="5080"/>
            <a:r>
              <a:rPr lang="en-IN" sz="1050" dirty="0">
                <a:hlinkClick r:id="rId14"/>
              </a:rPr>
              <a:t>Modulus</a:t>
            </a:r>
            <a:endParaRPr lang="en-IN" sz="1050" dirty="0"/>
          </a:p>
          <a:p>
            <a:pPr marL="12700" marR="5080"/>
            <a:endParaRPr lang="en-US" sz="1100" kern="0" spc="-80" dirty="0">
              <a:solidFill>
                <a:schemeClr val="accent2"/>
              </a:solidFill>
            </a:endParaRPr>
          </a:p>
        </p:txBody>
      </p:sp>
    </p:spTree>
    <p:extLst>
      <p:ext uri="{BB962C8B-B14F-4D97-AF65-F5344CB8AC3E}">
        <p14:creationId xmlns:p14="http://schemas.microsoft.com/office/powerpoint/2010/main" val="89642958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1745E-9B84-4703-3CB7-C2067F0CEC8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0555738-4006-8F0D-B0E4-288345FC9C2C}"/>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890BFD0-8D70-9482-3355-6CBE1922017E}"/>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45B9ED5-025F-46D5-8BA1-6FA7F211431F}"/>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29885D1-40A7-5C16-F8EA-B7F8F2B39A83}"/>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Gaming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EE40688-1762-1728-5ECF-AD55A20FBA48}"/>
              </a:ext>
            </a:extLst>
          </p:cNvPr>
          <p:cNvSpPr txBox="1">
            <a:spLocks/>
          </p:cNvSpPr>
          <p:nvPr/>
        </p:nvSpPr>
        <p:spPr>
          <a:xfrm>
            <a:off x="76200" y="5018782"/>
            <a:ext cx="8624937" cy="12618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200" kern="0" spc="-80" dirty="0">
                <a:solidFill>
                  <a:schemeClr val="accent2"/>
                </a:solidFill>
              </a:rPr>
              <a:t>Core Game Systems:</a:t>
            </a:r>
            <a:endParaRPr lang="en-US" sz="1200" b="0" kern="0" spc="-80" dirty="0">
              <a:solidFill>
                <a:schemeClr val="accent2"/>
              </a:solidFill>
              <a:latin typeface="+mn-lt"/>
              <a:ea typeface="+mn-ea"/>
            </a:endParaRPr>
          </a:p>
          <a:p>
            <a:r>
              <a:rPr lang="en-US" sz="1200" b="1" kern="0" spc="-80" dirty="0">
                <a:solidFill>
                  <a:schemeClr val="accent2"/>
                </a:solidFill>
                <a:latin typeface="Lucida Sans"/>
                <a:ea typeface="+mj-ea"/>
                <a:hlinkClick r:id="rId7">
                  <a:extLst>
                    <a:ext uri="{A12FA001-AC4F-418D-AE19-62706E023703}">
                      <ahyp:hlinkClr xmlns:ahyp="http://schemas.microsoft.com/office/drawing/2018/hyperlinkcolor" val="tx"/>
                    </a:ext>
                  </a:extLst>
                </a:hlinkClick>
              </a:rPr>
              <a:t>Networking</a:t>
            </a:r>
            <a:r>
              <a:rPr lang="en-US" sz="1200" b="1" kern="0" spc="-80" dirty="0">
                <a:solidFill>
                  <a:schemeClr val="accent2"/>
                </a:solidFill>
                <a:latin typeface="Lucida Sans"/>
                <a:ea typeface="+mj-ea"/>
              </a:rPr>
              <a:t>: </a:t>
            </a:r>
            <a:r>
              <a:rPr lang="en-US" sz="1200" b="1" kern="0" spc="-80" dirty="0">
                <a:solidFill>
                  <a:schemeClr val="accent6"/>
                </a:solidFill>
                <a:latin typeface="Lucida Sans"/>
                <a:ea typeface="+mj-ea"/>
              </a:rPr>
              <a:t>For communication between game clients and servers.</a:t>
            </a:r>
          </a:p>
          <a:p>
            <a:r>
              <a:rPr lang="en-US" sz="1200" b="1" kern="0" spc="-80" dirty="0">
                <a:solidFill>
                  <a:schemeClr val="accent2"/>
                </a:solidFill>
                <a:latin typeface="Lucida Sans"/>
                <a:ea typeface="+mj-ea"/>
                <a:hlinkClick r:id="rId8">
                  <a:extLst>
                    <a:ext uri="{A12FA001-AC4F-418D-AE19-62706E023703}">
                      <ahyp:hlinkClr xmlns:ahyp="http://schemas.microsoft.com/office/drawing/2018/hyperlinkcolor" val="tx"/>
                    </a:ext>
                  </a:extLst>
                </a:hlinkClick>
              </a:rPr>
              <a:t>Graphics/GUI</a:t>
            </a:r>
            <a:r>
              <a:rPr lang="en-US" sz="1200" b="1" kern="0" spc="-80" dirty="0">
                <a:solidFill>
                  <a:schemeClr val="accent2"/>
                </a:solidFill>
                <a:latin typeface="Lucida Sans"/>
                <a:ea typeface="+mj-ea"/>
              </a:rPr>
              <a:t>:</a:t>
            </a:r>
            <a:r>
              <a:rPr lang="en-US" sz="1200" b="1" kern="0" spc="-80" dirty="0">
                <a:solidFill>
                  <a:schemeClr val="accent6"/>
                </a:solidFill>
                <a:latin typeface="Lucida Sans"/>
                <a:ea typeface="+mj-ea"/>
              </a:rPr>
              <a:t> Handling the visual elements and user interface of the game.</a:t>
            </a:r>
          </a:p>
          <a:p>
            <a:r>
              <a:rPr lang="en-US" sz="1200" b="1" kern="0" spc="-80" dirty="0">
                <a:solidFill>
                  <a:schemeClr val="accent2"/>
                </a:solidFill>
                <a:latin typeface="Lucida Sans"/>
                <a:ea typeface="+mj-ea"/>
                <a:hlinkClick r:id="rId9">
                  <a:extLst>
                    <a:ext uri="{A12FA001-AC4F-418D-AE19-62706E023703}">
                      <ahyp:hlinkClr xmlns:ahyp="http://schemas.microsoft.com/office/drawing/2018/hyperlinkcolor" val="tx"/>
                    </a:ext>
                  </a:extLst>
                </a:hlinkClick>
              </a:rPr>
              <a:t>Physics</a:t>
            </a:r>
            <a:r>
              <a:rPr lang="en-US" sz="1200" b="1" kern="0" spc="-80" dirty="0">
                <a:solidFill>
                  <a:schemeClr val="accent2"/>
                </a:solidFill>
                <a:latin typeface="Lucida Sans"/>
                <a:ea typeface="+mj-ea"/>
              </a:rPr>
              <a:t>: </a:t>
            </a:r>
            <a:r>
              <a:rPr lang="en-US" sz="1200" b="1" kern="0" spc="-80" dirty="0">
                <a:solidFill>
                  <a:schemeClr val="accent6"/>
                </a:solidFill>
                <a:latin typeface="Lucida Sans"/>
                <a:ea typeface="+mj-ea"/>
              </a:rPr>
              <a:t>Simulating real-world physics within the game world.</a:t>
            </a:r>
          </a:p>
          <a:p>
            <a:r>
              <a:rPr lang="en-US" sz="1200" kern="0" spc="-80" dirty="0">
                <a:solidFill>
                  <a:schemeClr val="accent2"/>
                </a:solidFill>
                <a:hlinkClick r:id="rId10">
                  <a:extLst>
                    <a:ext uri="{A12FA001-AC4F-418D-AE19-62706E023703}">
                      <ahyp:hlinkClr xmlns:ahyp="http://schemas.microsoft.com/office/drawing/2018/hyperlinkcolor" val="tx"/>
                    </a:ext>
                  </a:extLst>
                </a:hlinkClick>
              </a:rPr>
              <a:t>Artificial Intelligence</a:t>
            </a:r>
            <a:r>
              <a:rPr lang="en-US" sz="1200" kern="0" spc="-80" dirty="0">
                <a:solidFill>
                  <a:schemeClr val="accent2"/>
                </a:solidFill>
              </a:rPr>
              <a:t> (AI):</a:t>
            </a:r>
            <a:r>
              <a:rPr lang="en-US" sz="1200" kern="0" spc="-80" dirty="0">
                <a:solidFill>
                  <a:schemeClr val="accent6"/>
                </a:solidFill>
              </a:rPr>
              <a:t> For non-player characters, game balance, and personalized experiences.</a:t>
            </a:r>
          </a:p>
          <a:p>
            <a:endParaRPr lang="en-US" sz="1200" b="1" kern="0" spc="-80" dirty="0">
              <a:solidFill>
                <a:schemeClr val="accent6"/>
              </a:solidFill>
              <a:latin typeface="Lucida Sans"/>
              <a:ea typeface="+mj-ea"/>
            </a:endParaRPr>
          </a:p>
          <a:p>
            <a:pPr marL="12700" marR="5080"/>
            <a:endParaRPr lang="en-US" sz="1000" kern="0" spc="-80" dirty="0">
              <a:solidFill>
                <a:schemeClr val="accent2"/>
              </a:solidFill>
            </a:endParaRPr>
          </a:p>
        </p:txBody>
      </p:sp>
      <p:pic>
        <p:nvPicPr>
          <p:cNvPr id="1026" name="Picture 2" descr="2">
            <a:extLst>
              <a:ext uri="{FF2B5EF4-FFF2-40B4-BE49-F238E27FC236}">
                <a16:creationId xmlns:a16="http://schemas.microsoft.com/office/drawing/2014/main" id="{27FB6316-9FEB-CCC5-09D1-6A686A5522C5}"/>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0" y="1295400"/>
            <a:ext cx="9144000" cy="37233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380108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6937C-1D4C-8041-570B-A7FFB401FBF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1B7D366-D32B-A18C-066E-64DDAED0B486}"/>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09AAABC-AE18-061B-B73B-6CF28FA2A8AE}"/>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50A4679-B53D-7FFE-EE6B-414DC5C931D6}"/>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01A75E0-E61A-EEE4-215F-F5497A7A4839}"/>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Gaming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E2C2E7E-1EFA-5702-C9C7-596C6A32403F}"/>
              </a:ext>
            </a:extLst>
          </p:cNvPr>
          <p:cNvSpPr txBox="1">
            <a:spLocks/>
          </p:cNvSpPr>
          <p:nvPr/>
        </p:nvSpPr>
        <p:spPr>
          <a:xfrm>
            <a:off x="137369" y="1242536"/>
            <a:ext cx="8624937" cy="501675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200" kern="0" spc="-80" dirty="0">
                <a:solidFill>
                  <a:schemeClr val="accent2"/>
                </a:solidFill>
              </a:rPr>
              <a:t>Backend &amp; Cloud Services:</a:t>
            </a:r>
            <a:endParaRPr lang="en-US" sz="1200" b="0" kern="0" spc="-80" dirty="0">
              <a:solidFill>
                <a:schemeClr val="accent2"/>
              </a:solidFill>
              <a:latin typeface="+mn-lt"/>
              <a:ea typeface="+mn-ea"/>
            </a:endParaRPr>
          </a:p>
          <a:p>
            <a:r>
              <a:rPr lang="en-US" sz="1200" kern="0" spc="-80" dirty="0">
                <a:solidFill>
                  <a:schemeClr val="accent2"/>
                </a:solidFill>
              </a:rPr>
              <a:t>(Serverless) APIs</a:t>
            </a:r>
            <a:r>
              <a:rPr lang="en-US" sz="1200" b="1" kern="0" spc="-80" dirty="0">
                <a:solidFill>
                  <a:schemeClr val="accent2"/>
                </a:solidFill>
                <a:latin typeface="Lucida Sans"/>
                <a:ea typeface="+mj-ea"/>
              </a:rPr>
              <a:t>: </a:t>
            </a:r>
            <a:r>
              <a:rPr lang="en-US" sz="1200" b="1" kern="0" spc="-80" dirty="0">
                <a:solidFill>
                  <a:schemeClr val="accent6"/>
                </a:solidFill>
                <a:latin typeface="Lucida Sans"/>
                <a:ea typeface="+mj-ea"/>
              </a:rPr>
              <a:t>For game logic and backend operations, offering dynamic scaling and cost-efficiency </a:t>
            </a:r>
          </a:p>
          <a:p>
            <a:r>
              <a:rPr lang="en-US" sz="1200" b="1" kern="0" spc="-80" dirty="0">
                <a:solidFill>
                  <a:schemeClr val="accent2"/>
                </a:solidFill>
                <a:latin typeface="Lucida Sans"/>
                <a:ea typeface="+mj-ea"/>
              </a:rPr>
              <a:t>Data Storage &amp; Analytics: </a:t>
            </a:r>
            <a:r>
              <a:rPr lang="en-US" sz="1200" b="1" kern="0" spc="-80" dirty="0">
                <a:solidFill>
                  <a:schemeClr val="accent6"/>
                </a:solidFill>
                <a:latin typeface="Lucida Sans"/>
                <a:ea typeface="+mj-ea"/>
              </a:rPr>
              <a:t>Services for collecting, storing, and analyzing player and game metrics to improve performance and engagement (e.g., Amazon Redshift).</a:t>
            </a:r>
          </a:p>
          <a:p>
            <a:r>
              <a:rPr lang="en-US" sz="1200" b="1" kern="0" spc="-80" dirty="0">
                <a:solidFill>
                  <a:schemeClr val="accent2"/>
                </a:solidFill>
                <a:latin typeface="Lucida Sans"/>
                <a:ea typeface="+mj-ea"/>
                <a:hlinkClick r:id="rId7">
                  <a:extLst>
                    <a:ext uri="{A12FA001-AC4F-418D-AE19-62706E023703}">
                      <ahyp:hlinkClr xmlns:ahyp="http://schemas.microsoft.com/office/drawing/2018/hyperlinkcolor" val="tx"/>
                    </a:ext>
                  </a:extLst>
                </a:hlinkClick>
              </a:rPr>
              <a:t>Content Delivery Network (CDN)</a:t>
            </a:r>
            <a:r>
              <a:rPr lang="en-US" sz="1200" b="1" kern="0" spc="-80" dirty="0">
                <a:solidFill>
                  <a:schemeClr val="accent2"/>
                </a:solidFill>
                <a:latin typeface="Lucida Sans"/>
                <a:ea typeface="+mj-ea"/>
              </a:rPr>
              <a:t>: </a:t>
            </a:r>
            <a:r>
              <a:rPr lang="en-US" sz="1200" b="1" kern="0" spc="-80" dirty="0">
                <a:solidFill>
                  <a:schemeClr val="accent6"/>
                </a:solidFill>
                <a:latin typeface="Lucida Sans"/>
                <a:ea typeface="+mj-ea"/>
              </a:rPr>
              <a:t>For fast and efficient distribution of game clients, assets, and content to players globally (e.g., Amazon CloudFront).</a:t>
            </a:r>
          </a:p>
          <a:p>
            <a:r>
              <a:rPr lang="en-US" sz="1200" b="1" kern="0" spc="-80" dirty="0">
                <a:solidFill>
                  <a:schemeClr val="accent2"/>
                </a:solidFill>
                <a:latin typeface="Lucida Sans"/>
                <a:ea typeface="+mj-ea"/>
                <a:hlinkClick r:id="rId8">
                  <a:extLst>
                    <a:ext uri="{A12FA001-AC4F-418D-AE19-62706E023703}">
                      <ahyp:hlinkClr xmlns:ahyp="http://schemas.microsoft.com/office/drawing/2018/hyperlinkcolor" val="tx"/>
                    </a:ext>
                  </a:extLst>
                </a:hlinkClick>
              </a:rPr>
              <a:t>Player Authentication</a:t>
            </a:r>
            <a:r>
              <a:rPr lang="en-US" sz="1200" b="1" kern="0" spc="-80" dirty="0">
                <a:solidFill>
                  <a:schemeClr val="accent2"/>
                </a:solidFill>
                <a:latin typeface="Lucida Sans"/>
                <a:ea typeface="+mj-ea"/>
              </a:rPr>
              <a:t>:</a:t>
            </a:r>
            <a:r>
              <a:rPr lang="en-US" sz="1200" b="1" kern="0" spc="-80" dirty="0">
                <a:solidFill>
                  <a:schemeClr val="accent6"/>
                </a:solidFill>
                <a:latin typeface="Lucida Sans"/>
                <a:ea typeface="+mj-ea"/>
              </a:rPr>
              <a:t> Securely managing player identities and access.</a:t>
            </a:r>
          </a:p>
          <a:p>
            <a:r>
              <a:rPr lang="en-US" sz="1200" b="1" kern="0" spc="-80" dirty="0">
                <a:solidFill>
                  <a:schemeClr val="accent2"/>
                </a:solidFill>
                <a:latin typeface="Lucida Sans"/>
                <a:ea typeface="+mj-ea"/>
                <a:hlinkClick r:id="rId9">
                  <a:extLst>
                    <a:ext uri="{A12FA001-AC4F-418D-AE19-62706E023703}">
                      <ahyp:hlinkClr xmlns:ahyp="http://schemas.microsoft.com/office/drawing/2018/hyperlinkcolor" val="tx"/>
                    </a:ext>
                  </a:extLst>
                </a:hlinkClick>
              </a:rPr>
              <a:t>Social Platforms</a:t>
            </a:r>
            <a:r>
              <a:rPr lang="en-US" sz="1200" b="1" kern="0" spc="-80" dirty="0">
                <a:solidFill>
                  <a:schemeClr val="accent2"/>
                </a:solidFill>
                <a:latin typeface="Lucida Sans"/>
                <a:ea typeface="+mj-ea"/>
              </a:rPr>
              <a:t>:</a:t>
            </a:r>
            <a:r>
              <a:rPr lang="en-US" sz="1200" b="1" kern="0" spc="-80" dirty="0">
                <a:solidFill>
                  <a:schemeClr val="accent6"/>
                </a:solidFill>
                <a:latin typeface="Lucida Sans"/>
                <a:ea typeface="+mj-ea"/>
              </a:rPr>
              <a:t> Facilitating community management and social interactions within the game ecosystem.</a:t>
            </a:r>
          </a:p>
          <a:p>
            <a:endParaRPr lang="en-US" sz="1200" kern="0" spc="-80" dirty="0">
              <a:solidFill>
                <a:schemeClr val="accent6"/>
              </a:solidFill>
            </a:endParaRPr>
          </a:p>
          <a:p>
            <a:endParaRPr lang="en-US" sz="1200" kern="0" spc="-80" dirty="0">
              <a:solidFill>
                <a:schemeClr val="accent6"/>
              </a:solidFill>
            </a:endParaRPr>
          </a:p>
          <a:p>
            <a:endParaRPr lang="en-US" sz="1200" kern="0" spc="-80" dirty="0">
              <a:solidFill>
                <a:schemeClr val="accent6"/>
              </a:solidFill>
            </a:endParaRPr>
          </a:p>
          <a:p>
            <a:endParaRPr lang="en-US" sz="1200" kern="0" spc="-80" dirty="0">
              <a:solidFill>
                <a:schemeClr val="accent6"/>
              </a:solidFill>
            </a:endParaRPr>
          </a:p>
          <a:p>
            <a:r>
              <a:rPr lang="en-US" sz="1400" kern="0" spc="-80" dirty="0">
                <a:solidFill>
                  <a:schemeClr val="accent2"/>
                </a:solidFill>
              </a:rPr>
              <a:t>For Further Exploration </a:t>
            </a:r>
          </a:p>
          <a:p>
            <a:r>
              <a:rPr lang="en-US" sz="1400" dirty="0">
                <a:hlinkClick r:id="rId10"/>
              </a:rPr>
              <a:t>Functional reference architecture for online gaming</a:t>
            </a:r>
            <a:endParaRPr lang="en-US" sz="1400" dirty="0"/>
          </a:p>
          <a:p>
            <a:r>
              <a:rPr lang="en-US" sz="1400" dirty="0">
                <a:hlinkClick r:id="rId11"/>
              </a:rPr>
              <a:t>Alibaba Cloud Gaming Architecture for Infrastructure Whitepaper - Alibaba Cloud Community</a:t>
            </a:r>
            <a:endParaRPr lang="en-US" sz="1400" dirty="0"/>
          </a:p>
          <a:p>
            <a:r>
              <a:rPr lang="en-US" sz="1400" dirty="0">
                <a:hlinkClick r:id="rId12"/>
              </a:rPr>
              <a:t>Serverless-based game backend architecture - Games Industry Lens</a:t>
            </a:r>
            <a:endParaRPr lang="en-US" sz="1400" dirty="0"/>
          </a:p>
          <a:p>
            <a:r>
              <a:rPr lang="en-US" sz="1400" dirty="0">
                <a:hlinkClick r:id="rId13"/>
              </a:rPr>
              <a:t>Container-based game backend architecture - Games Industry Lens</a:t>
            </a:r>
            <a:endParaRPr lang="en-US" sz="1400" b="1" kern="0" spc="-80" dirty="0">
              <a:solidFill>
                <a:schemeClr val="accent6"/>
              </a:solidFill>
              <a:latin typeface="Lucida Sans"/>
              <a:ea typeface="+mj-ea"/>
            </a:endParaRPr>
          </a:p>
          <a:p>
            <a:pPr marL="12700" marR="5080"/>
            <a:r>
              <a:rPr lang="en-US" sz="1400" dirty="0">
                <a:hlinkClick r:id="rId14"/>
              </a:rPr>
              <a:t>Server Side Game Developer Roadmap</a:t>
            </a:r>
            <a:endParaRPr lang="en-US" sz="1400" dirty="0"/>
          </a:p>
          <a:p>
            <a:pPr marL="12700" marR="5080"/>
            <a:r>
              <a:rPr lang="en-IN" sz="1400" dirty="0">
                <a:hlinkClick r:id="rId15"/>
              </a:rPr>
              <a:t>Client Side Game Developer Roadmap</a:t>
            </a:r>
            <a:endParaRPr lang="en-IN" sz="1400" dirty="0"/>
          </a:p>
          <a:p>
            <a:pPr marL="12700" marR="5080"/>
            <a:r>
              <a:rPr lang="en-IN" sz="1400" dirty="0">
                <a:hlinkClick r:id="rId16"/>
              </a:rPr>
              <a:t>Computer Graphics from Scratch - Gabriel Gambetta</a:t>
            </a:r>
            <a:endParaRPr lang="en-IN" sz="1400" dirty="0"/>
          </a:p>
          <a:p>
            <a:pPr algn="just" fontAlgn="base"/>
            <a:r>
              <a:rPr lang="en-US" sz="1400" dirty="0">
                <a:hlinkClick r:id="rId17"/>
              </a:rPr>
              <a:t>Compendium of Community Knowledge on Game Design and Development</a:t>
            </a:r>
            <a:endParaRPr lang="en-US" sz="1400" dirty="0"/>
          </a:p>
          <a:p>
            <a:pPr marL="12700" marR="5080"/>
            <a:r>
              <a:rPr lang="en-US" sz="1400" dirty="0">
                <a:hlinkClick r:id="rId18"/>
              </a:rPr>
              <a:t>Books I had to read to develop a game engine — Harold Serrano - Game Engine Developer</a:t>
            </a:r>
            <a:endParaRPr lang="en-US" sz="1400" dirty="0"/>
          </a:p>
          <a:p>
            <a:pPr marL="12700" marR="5080"/>
            <a:r>
              <a:rPr lang="en-US" sz="1400" dirty="0">
                <a:hlinkClick r:id="rId19"/>
              </a:rPr>
              <a:t>Geometric Tools: About Geometric Tools for Computer Graphics</a:t>
            </a:r>
            <a:endParaRPr lang="en-US" sz="1400" dirty="0"/>
          </a:p>
          <a:p>
            <a:pPr marL="12700" marR="5080"/>
            <a:r>
              <a:rPr lang="en-IN" sz="1400" dirty="0">
                <a:hlinkClick r:id="rId20"/>
              </a:rPr>
              <a:t>Geometric Algebra For Computer Science</a:t>
            </a:r>
            <a:endParaRPr lang="en-IN" sz="1400" dirty="0"/>
          </a:p>
          <a:p>
            <a:pPr marL="12700" marR="5080"/>
            <a:endParaRPr lang="en-US" sz="1400" dirty="0">
              <a:hlinkClick r:id="rId21"/>
            </a:endParaRPr>
          </a:p>
        </p:txBody>
      </p:sp>
    </p:spTree>
    <p:extLst>
      <p:ext uri="{BB962C8B-B14F-4D97-AF65-F5344CB8AC3E}">
        <p14:creationId xmlns:p14="http://schemas.microsoft.com/office/powerpoint/2010/main" val="172497499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C6B5C-87F4-C07B-1967-710CD8C808D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BF72EA2-6811-D3A5-7FB2-23475C88C912}"/>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3B53FBD-1F17-33FA-FDC4-FD6E151C7A8C}"/>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795471D-FBB1-BA9B-6401-7E062B00E2F2}"/>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385CA21-0EA5-032B-016D-733734072EA5}"/>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IoT(Internet of Things) Reference Architecture</a:t>
            </a:r>
          </a:p>
          <a:p>
            <a:pPr marL="12700" marR="5080"/>
            <a:r>
              <a:rPr lang="en-US" sz="2400" kern="0" spc="-80" dirty="0">
                <a:solidFill>
                  <a:schemeClr val="accent2"/>
                </a:solidFill>
              </a:rPr>
              <a:t>  </a:t>
            </a:r>
          </a:p>
        </p:txBody>
      </p:sp>
      <p:pic>
        <p:nvPicPr>
          <p:cNvPr id="2052" name="Picture 4">
            <a:extLst>
              <a:ext uri="{FF2B5EF4-FFF2-40B4-BE49-F238E27FC236}">
                <a16:creationId xmlns:a16="http://schemas.microsoft.com/office/drawing/2014/main" id="{AF7ED81A-7424-4B72-7317-5374D06CE39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317625"/>
            <a:ext cx="9144000" cy="45123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702642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24F76-E78E-1F1D-4648-7F241F836A9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F71F917-7140-C674-D4E3-97FDBF00F15C}"/>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AFB1B61-56DD-E46D-0C65-315144DB36C7}"/>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1FEFB27-D807-DF98-7C0C-413A10E05D2E}"/>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CC4D3E1C-EC5A-346E-9DEF-7475886F72C1}"/>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IoT(Internet of Things)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023D932B-3643-A215-EF22-7CAD0F352976}"/>
              </a:ext>
            </a:extLst>
          </p:cNvPr>
          <p:cNvSpPr txBox="1">
            <a:spLocks/>
          </p:cNvSpPr>
          <p:nvPr/>
        </p:nvSpPr>
        <p:spPr>
          <a:xfrm>
            <a:off x="137369" y="1242536"/>
            <a:ext cx="8624937" cy="623247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kern="0" spc="-80" dirty="0">
                <a:solidFill>
                  <a:schemeClr val="accent2"/>
                </a:solidFill>
              </a:rPr>
              <a:t>Key Components and Layers</a:t>
            </a:r>
          </a:p>
          <a:p>
            <a:r>
              <a:rPr lang="en-US" sz="1500" kern="0" spc="-80" dirty="0">
                <a:solidFill>
                  <a:schemeClr val="accent6"/>
                </a:solidFill>
              </a:rPr>
              <a:t>While specific structures vary, IoT reference architectures generally encompass these functional layers: </a:t>
            </a:r>
          </a:p>
          <a:p>
            <a:r>
              <a:rPr lang="en-US" sz="1500" kern="0" spc="-80" dirty="0">
                <a:solidFill>
                  <a:schemeClr val="accent2"/>
                </a:solidFill>
              </a:rPr>
              <a:t>Perception Layer (Device Layer): </a:t>
            </a:r>
            <a:r>
              <a:rPr lang="en-US" sz="1500" kern="0" spc="-80" dirty="0">
                <a:solidFill>
                  <a:schemeClr val="accent6"/>
                </a:solidFill>
              </a:rPr>
              <a:t>This layer consists of the physical devices, sensors, and actuators that interact with the physical world and collect data.</a:t>
            </a:r>
          </a:p>
          <a:p>
            <a:r>
              <a:rPr lang="en-US" sz="1500" kern="0" spc="-80" dirty="0">
                <a:solidFill>
                  <a:schemeClr val="accent2"/>
                </a:solidFill>
              </a:rPr>
              <a:t>Network Layer: </a:t>
            </a:r>
            <a:r>
              <a:rPr lang="en-US" sz="1500" kern="0" spc="-80" dirty="0">
                <a:solidFill>
                  <a:schemeClr val="accent6"/>
                </a:solidFill>
              </a:rPr>
              <a:t>This layer handles the communication and connectivity between devices and other system components, using various protocols and networking infrastructure.</a:t>
            </a:r>
          </a:p>
          <a:p>
            <a:r>
              <a:rPr lang="en-US" sz="1500" kern="0" spc="-80" dirty="0">
                <a:solidFill>
                  <a:schemeClr val="accent2"/>
                </a:solidFill>
              </a:rPr>
              <a:t>Data Processing Layer (Edge/Cloud Layer):</a:t>
            </a:r>
            <a:r>
              <a:rPr lang="en-US" sz="1500" kern="0" spc="-80" dirty="0">
                <a:solidFill>
                  <a:schemeClr val="accent6"/>
                </a:solidFill>
              </a:rPr>
              <a:t> Here, data from devices is aggregated, filtered, transformed, and analyzed, often using both edge computing and cloud-based platforms.</a:t>
            </a:r>
          </a:p>
          <a:p>
            <a:r>
              <a:rPr lang="en-US" sz="1500" kern="0" spc="-80" dirty="0">
                <a:solidFill>
                  <a:schemeClr val="accent2"/>
                </a:solidFill>
              </a:rPr>
              <a:t>Application Layer: </a:t>
            </a:r>
            <a:r>
              <a:rPr lang="en-US" sz="1500" kern="0" spc="-80" dirty="0">
                <a:solidFill>
                  <a:schemeClr val="accent6"/>
                </a:solidFill>
              </a:rPr>
              <a:t>This layer provides the software applications and services that use the processed IoT data to fulfill specific user needs or business use cases.</a:t>
            </a:r>
          </a:p>
          <a:p>
            <a:r>
              <a:rPr lang="en-US" sz="1500" kern="0" spc="-80" dirty="0">
                <a:solidFill>
                  <a:schemeClr val="accent2"/>
                </a:solidFill>
              </a:rPr>
              <a:t>Examples of Reference Architectures</a:t>
            </a:r>
          </a:p>
          <a:p>
            <a:r>
              <a:rPr lang="en-US" sz="1600" dirty="0">
                <a:hlinkClick r:id="rId7"/>
              </a:rPr>
              <a:t>IOT-A: Internet of Things Architecture</a:t>
            </a:r>
            <a:r>
              <a:rPr lang="en-US" sz="1500" kern="0" spc="-80" dirty="0">
                <a:solidFill>
                  <a:schemeClr val="accent2"/>
                </a:solidFill>
              </a:rPr>
              <a:t>: </a:t>
            </a:r>
            <a:r>
              <a:rPr lang="en-US" sz="1500" kern="0" spc="-80" dirty="0">
                <a:solidFill>
                  <a:schemeClr val="accent6"/>
                </a:solidFill>
              </a:rPr>
              <a:t>An older, foundational framework developed through an EU lighthouse project to be adaptable across various domains. </a:t>
            </a:r>
          </a:p>
          <a:p>
            <a:r>
              <a:rPr lang="en-IN" sz="1600" dirty="0">
                <a:hlinkClick r:id="rId8"/>
              </a:rPr>
              <a:t>IEEE SA - IEEE 2413-2019 </a:t>
            </a:r>
            <a:r>
              <a:rPr lang="en-US" sz="1500" kern="0" spc="-80" dirty="0">
                <a:solidFill>
                  <a:schemeClr val="accent2"/>
                </a:solidFill>
              </a:rPr>
              <a:t>: </a:t>
            </a:r>
            <a:r>
              <a:rPr lang="en-US" sz="1500" kern="0" spc="-80" dirty="0">
                <a:solidFill>
                  <a:schemeClr val="accent6"/>
                </a:solidFill>
              </a:rPr>
              <a:t>An ongoing standardization project from the IEEE, aiming to define a common framework for the Internet of Things. </a:t>
            </a:r>
          </a:p>
          <a:p>
            <a:r>
              <a:rPr lang="en-US" sz="1600" dirty="0">
                <a:hlinkClick r:id="rId9"/>
              </a:rPr>
              <a:t>The Industrial Internet Reference Architecture</a:t>
            </a:r>
            <a:r>
              <a:rPr lang="en-US" sz="1500" kern="0" spc="-80" dirty="0">
                <a:solidFill>
                  <a:schemeClr val="accent2"/>
                </a:solidFill>
              </a:rPr>
              <a:t>:</a:t>
            </a:r>
            <a:r>
              <a:rPr lang="en-US" sz="1500" kern="0" spc="-80" dirty="0">
                <a:solidFill>
                  <a:schemeClr val="accent6"/>
                </a:solidFill>
              </a:rPr>
              <a:t> A model specifically developed by the Industrial Internet Consortium for industrial IoT applications. </a:t>
            </a:r>
          </a:p>
          <a:p>
            <a:r>
              <a:rPr lang="en-US" sz="1600" dirty="0">
                <a:hlinkClick r:id="rId10"/>
              </a:rPr>
              <a:t>ISO/IEC 30141:2024</a:t>
            </a:r>
            <a:r>
              <a:rPr lang="en-US" sz="1600" dirty="0"/>
              <a:t> </a:t>
            </a:r>
            <a:r>
              <a:rPr lang="en-US" sz="1500" kern="0" spc="-80" dirty="0">
                <a:solidFill>
                  <a:schemeClr val="accent2"/>
                </a:solidFill>
              </a:rPr>
              <a:t>: </a:t>
            </a:r>
            <a:r>
              <a:rPr lang="en-US" sz="1500" kern="0" spc="-80" dirty="0">
                <a:solidFill>
                  <a:schemeClr val="accent6"/>
                </a:solidFill>
              </a:rPr>
              <a:t>A reference architecture developed to enhance cross-domain security and trustworthiness in IoT environments, such as the Secure IoT framework by Springer. </a:t>
            </a:r>
          </a:p>
          <a:p>
            <a:endParaRPr lang="en-US" sz="1200" kern="0" spc="-80" dirty="0">
              <a:solidFill>
                <a:schemeClr val="accent6"/>
              </a:solidFill>
            </a:endParaRPr>
          </a:p>
          <a:p>
            <a:endParaRPr lang="en-US" sz="1200" kern="0" spc="-80" dirty="0">
              <a:solidFill>
                <a:schemeClr val="accent6"/>
              </a:solidFill>
            </a:endParaRPr>
          </a:p>
          <a:p>
            <a:endParaRPr lang="en-US" sz="1200" kern="0" spc="-80" dirty="0">
              <a:solidFill>
                <a:schemeClr val="accent6"/>
              </a:solidFill>
            </a:endParaRPr>
          </a:p>
          <a:p>
            <a:endParaRPr lang="en-US" sz="1200" kern="0" spc="-80" dirty="0">
              <a:solidFill>
                <a:schemeClr val="accent6"/>
              </a:solidFill>
            </a:endParaRPr>
          </a:p>
          <a:p>
            <a:endParaRPr lang="en-US" sz="1200" kern="0" spc="-80" dirty="0">
              <a:solidFill>
                <a:schemeClr val="accent6"/>
              </a:solidFill>
            </a:endParaRPr>
          </a:p>
          <a:p>
            <a:endParaRPr lang="en-US" sz="1200" kern="0" spc="-80" dirty="0">
              <a:solidFill>
                <a:schemeClr val="accent6"/>
              </a:solidFill>
            </a:endParaRPr>
          </a:p>
          <a:p>
            <a:r>
              <a:rPr lang="en-US" sz="1400" kern="0" spc="-80" dirty="0">
                <a:solidFill>
                  <a:schemeClr val="accent2"/>
                </a:solidFill>
              </a:rPr>
              <a:t>F</a:t>
            </a:r>
            <a:endParaRPr lang="en-US" sz="1400" dirty="0">
              <a:hlinkClick r:id="rId11"/>
            </a:endParaRPr>
          </a:p>
        </p:txBody>
      </p:sp>
    </p:spTree>
    <p:extLst>
      <p:ext uri="{BB962C8B-B14F-4D97-AF65-F5344CB8AC3E}">
        <p14:creationId xmlns:p14="http://schemas.microsoft.com/office/powerpoint/2010/main" val="179542991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16E0D-EE95-89CE-359E-0BC7EAFCE97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21AE231-B9BA-25FE-5DB0-B33193A01AE1}"/>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E7D8661-F9CC-7D7C-1D63-B75A520D6D05}"/>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5CA711E-C8E6-4E5E-C810-F2F7ED31297E}"/>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0FDF90D-8D98-8833-F0A1-FD4354AC5ED4}"/>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IoT(Internet of Things)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9DDDBED-F47B-ADD4-E853-7C42F15CA7EA}"/>
              </a:ext>
            </a:extLst>
          </p:cNvPr>
          <p:cNvSpPr txBox="1">
            <a:spLocks/>
          </p:cNvSpPr>
          <p:nvPr/>
        </p:nvSpPr>
        <p:spPr>
          <a:xfrm>
            <a:off x="137369" y="1242536"/>
            <a:ext cx="8624937" cy="323165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kern="0" spc="-80" dirty="0">
                <a:solidFill>
                  <a:schemeClr val="accent2"/>
                </a:solidFill>
              </a:rPr>
              <a:t>For Further Exploration </a:t>
            </a:r>
          </a:p>
          <a:p>
            <a:r>
              <a:rPr lang="en-US" sz="1400" dirty="0">
                <a:hlinkClick r:id="rId7"/>
              </a:rPr>
              <a:t>Architecture of Internet of Things (IoT) </a:t>
            </a:r>
            <a:r>
              <a:rPr lang="en-US" sz="1400" dirty="0">
                <a:hlinkClick r:id="rId8"/>
              </a:rPr>
              <a:t>–</a:t>
            </a:r>
            <a:r>
              <a:rPr lang="en-US" sz="1400" dirty="0">
                <a:hlinkClick r:id="rId7"/>
              </a:rPr>
              <a:t> </a:t>
            </a:r>
            <a:r>
              <a:rPr lang="en-US" sz="1400" dirty="0" err="1">
                <a:hlinkClick r:id="rId7"/>
              </a:rPr>
              <a:t>GeeksforGeeks</a:t>
            </a:r>
            <a:endParaRPr lang="en-US" sz="1400" dirty="0"/>
          </a:p>
          <a:p>
            <a:r>
              <a:rPr lang="en-IN" sz="1400" dirty="0">
                <a:hlinkClick r:id="rId9"/>
              </a:rPr>
              <a:t>IoT: System Reference Architecture</a:t>
            </a:r>
            <a:endParaRPr lang="en-IN" sz="1400" dirty="0"/>
          </a:p>
          <a:p>
            <a:r>
              <a:rPr lang="en-IN" sz="1400" dirty="0">
                <a:hlinkClick r:id="rId10"/>
              </a:rPr>
              <a:t>Smart IoT Apps</a:t>
            </a:r>
            <a:endParaRPr lang="en-IN" sz="1400" dirty="0"/>
          </a:p>
          <a:p>
            <a:r>
              <a:rPr lang="da-DK" sz="1400" dirty="0">
                <a:hlinkClick r:id="rId11"/>
              </a:rPr>
              <a:t>Embedded Systems &amp; RTOS for IoT</a:t>
            </a:r>
            <a:endParaRPr lang="da-DK" sz="1400" dirty="0"/>
          </a:p>
          <a:p>
            <a:r>
              <a:rPr lang="en-US" sz="1400" dirty="0">
                <a:hlinkClick r:id="rId12"/>
              </a:rPr>
              <a:t>Embedded Hardware, Firmware, Software and UI</a:t>
            </a:r>
            <a:endParaRPr lang="en-US" sz="1400" dirty="0"/>
          </a:p>
          <a:p>
            <a:r>
              <a:rPr lang="en-IN" sz="1400" dirty="0">
                <a:hlinkClick r:id="rId13"/>
              </a:rPr>
              <a:t>Resource Constrained Programming</a:t>
            </a:r>
            <a:endParaRPr lang="da-DK" sz="1400" dirty="0"/>
          </a:p>
          <a:p>
            <a:r>
              <a:rPr lang="en-IN" sz="1400" dirty="0">
                <a:hlinkClick r:id="rId14"/>
              </a:rPr>
              <a:t>Connected Services in IoT</a:t>
            </a:r>
            <a:endParaRPr lang="da-DK" sz="1400" dirty="0"/>
          </a:p>
          <a:p>
            <a:r>
              <a:rPr lang="en-IN" sz="1400" dirty="0">
                <a:hlinkClick r:id="rId15"/>
              </a:rPr>
              <a:t>WSNs And WANETs</a:t>
            </a:r>
            <a:endParaRPr lang="en-IN" sz="1400" dirty="0"/>
          </a:p>
          <a:p>
            <a:r>
              <a:rPr lang="en-US" sz="1400" dirty="0">
                <a:hlinkClick r:id="rId16"/>
              </a:rPr>
              <a:t>IoT and Edge Computing for Architects </a:t>
            </a:r>
            <a:endParaRPr lang="en-US" sz="1400" dirty="0"/>
          </a:p>
          <a:p>
            <a:r>
              <a:rPr lang="en-US" sz="1400" dirty="0">
                <a:hlinkClick r:id="rId17"/>
              </a:rPr>
              <a:t>Architectural Patterns and Techniques for Developing IoT Solutions</a:t>
            </a:r>
            <a:endParaRPr lang="en-US" sz="1400" dirty="0"/>
          </a:p>
          <a:p>
            <a:r>
              <a:rPr lang="en-US" sz="1400" dirty="0">
                <a:hlinkClick r:id="rId18"/>
              </a:rPr>
              <a:t>Industrial-IoT-for-Architects-and-Engineers</a:t>
            </a:r>
            <a:endParaRPr lang="en-US" sz="1400" dirty="0"/>
          </a:p>
          <a:p>
            <a:r>
              <a:rPr lang="en-US" sz="1400" dirty="0">
                <a:hlinkClick r:id="rId19"/>
              </a:rPr>
              <a:t>Edge-Computing-Patterns-for-Solution-Architects</a:t>
            </a:r>
            <a:endParaRPr lang="en-US" sz="1400" dirty="0"/>
          </a:p>
          <a:p>
            <a:r>
              <a:rPr lang="en-US" sz="1400" dirty="0">
                <a:hlinkClick r:id="rId20"/>
              </a:rPr>
              <a:t>IoT-Edge-Computing-with-MicroK8s</a:t>
            </a:r>
            <a:endParaRPr lang="en-US" sz="1400" dirty="0"/>
          </a:p>
          <a:p>
            <a:r>
              <a:rPr lang="en-US" sz="1400" dirty="0">
                <a:hlinkClick r:id="rId21"/>
              </a:rPr>
              <a:t>Advanced Embedded Architectures and SoCs | </a:t>
            </a:r>
            <a:r>
              <a:rPr lang="en-US" sz="1400" dirty="0" err="1">
                <a:hlinkClick r:id="rId21"/>
              </a:rPr>
              <a:t>Packt</a:t>
            </a:r>
            <a:r>
              <a:rPr lang="en-US" sz="1400" dirty="0">
                <a:hlinkClick r:id="rId21"/>
              </a:rPr>
              <a:t> Subscription</a:t>
            </a:r>
            <a:endParaRPr lang="en-US" sz="1400" dirty="0"/>
          </a:p>
        </p:txBody>
      </p:sp>
    </p:spTree>
    <p:extLst>
      <p:ext uri="{BB962C8B-B14F-4D97-AF65-F5344CB8AC3E}">
        <p14:creationId xmlns:p14="http://schemas.microsoft.com/office/powerpoint/2010/main" val="71726984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9D86B-8364-758D-9459-46B59F43645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1B92369-B33D-8D9B-B754-4D7FAC5FF712}"/>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B20B9DB-4D11-4ED8-DCE2-1B1B8DF72A25}"/>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C3442E2-3B55-37DF-1BCC-DE46893ED153}"/>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3C6952A-4771-1A7F-5E61-BB2E406F0F60}"/>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Digital Twin Reference Architecture</a:t>
            </a:r>
          </a:p>
          <a:p>
            <a:pPr marL="12700" marR="5080"/>
            <a:r>
              <a:rPr lang="en-US" sz="2400" kern="0" spc="-80" dirty="0">
                <a:solidFill>
                  <a:schemeClr val="accent2"/>
                </a:solidFill>
              </a:rPr>
              <a:t>  </a:t>
            </a:r>
          </a:p>
        </p:txBody>
      </p:sp>
      <p:pic>
        <p:nvPicPr>
          <p:cNvPr id="2050" name="Picture 2" descr="Detailed digital twin reference architecture">
            <a:extLst>
              <a:ext uri="{FF2B5EF4-FFF2-40B4-BE49-F238E27FC236}">
                <a16:creationId xmlns:a16="http://schemas.microsoft.com/office/drawing/2014/main" id="{AD02DDAE-159B-2CBC-478A-449D33398E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247775"/>
            <a:ext cx="9144000" cy="4695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421225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FB132-7AB7-6052-411C-0DCD4708B66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49C9195-D064-704A-0010-94012091CBBD}"/>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B157619-81E8-3634-605A-AC8097F7A843}"/>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468F862-E62F-3328-5409-BEF90497F6AB}"/>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85E8551-3D0E-997A-4683-3081C62A8F76}"/>
              </a:ext>
            </a:extLst>
          </p:cNvPr>
          <p:cNvSpPr txBox="1">
            <a:spLocks/>
          </p:cNvSpPr>
          <p:nvPr/>
        </p:nvSpPr>
        <p:spPr>
          <a:xfrm>
            <a:off x="228600" y="873204"/>
            <a:ext cx="8624937" cy="53937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Digital Twin Reference Architecture</a:t>
            </a:r>
          </a:p>
          <a:p>
            <a:r>
              <a:rPr lang="en-US" sz="1150" kern="0" spc="-80" dirty="0">
                <a:solidFill>
                  <a:schemeClr val="accent2"/>
                </a:solidFill>
              </a:rPr>
              <a:t>Core Components</a:t>
            </a:r>
          </a:p>
          <a:p>
            <a:r>
              <a:rPr lang="en-US" sz="1150" kern="0" spc="-80" dirty="0">
                <a:solidFill>
                  <a:schemeClr val="accent2"/>
                </a:solidFill>
              </a:rPr>
              <a:t>Physical Entity Layer: </a:t>
            </a:r>
          </a:p>
          <a:p>
            <a:r>
              <a:rPr lang="en-US" sz="1150" kern="0" spc="-80" dirty="0">
                <a:solidFill>
                  <a:schemeClr val="accent6"/>
                </a:solidFill>
              </a:rPr>
              <a:t>The actual real-world asset, system, or process being mirrored. </a:t>
            </a:r>
          </a:p>
          <a:p>
            <a:r>
              <a:rPr lang="en-US" sz="1150" kern="0" spc="-80" dirty="0">
                <a:solidFill>
                  <a:schemeClr val="accent2"/>
                </a:solidFill>
              </a:rPr>
              <a:t>Virtual Entity Layer: </a:t>
            </a:r>
          </a:p>
          <a:p>
            <a:r>
              <a:rPr lang="en-US" sz="1150" kern="0" spc="-80" dirty="0">
                <a:solidFill>
                  <a:schemeClr val="accent6"/>
                </a:solidFill>
              </a:rPr>
              <a:t>The digital representation of the physical entity, including models, data structures, and simulations. </a:t>
            </a:r>
          </a:p>
          <a:p>
            <a:r>
              <a:rPr lang="en-US" sz="1150" kern="0" spc="-80" dirty="0">
                <a:solidFill>
                  <a:schemeClr val="accent2"/>
                </a:solidFill>
              </a:rPr>
              <a:t>Data Layer: </a:t>
            </a:r>
          </a:p>
          <a:p>
            <a:r>
              <a:rPr lang="en-US" sz="1150" kern="0" spc="-80" dirty="0">
                <a:solidFill>
                  <a:schemeClr val="accent6"/>
                </a:solidFill>
              </a:rPr>
              <a:t>This includes the raw data from sensors, business systems, and other sources that are fed into the digital twin. It also includes the Data Repository for storage and retrieval. </a:t>
            </a:r>
          </a:p>
          <a:p>
            <a:r>
              <a:rPr lang="en-US" sz="1150" kern="0" spc="-80" dirty="0">
                <a:solidFill>
                  <a:schemeClr val="accent2"/>
                </a:solidFill>
              </a:rPr>
              <a:t>Connectivity/Transmission Layer: </a:t>
            </a:r>
          </a:p>
          <a:p>
            <a:r>
              <a:rPr lang="en-US" sz="1150" kern="0" spc="-80" dirty="0">
                <a:solidFill>
                  <a:schemeClr val="accent6"/>
                </a:solidFill>
              </a:rPr>
              <a:t>This layer connects the physical and virtual worlds, often utilizing IoT systems to collect and synchronize data in a bidirectional loop. </a:t>
            </a:r>
          </a:p>
          <a:p>
            <a:r>
              <a:rPr lang="en-US" sz="1150" kern="0" spc="-80" dirty="0">
                <a:solidFill>
                  <a:schemeClr val="accent2"/>
                </a:solidFill>
              </a:rPr>
              <a:t>Analytical Environment: </a:t>
            </a:r>
          </a:p>
          <a:p>
            <a:r>
              <a:rPr lang="en-US" sz="1150" kern="0" spc="-80" dirty="0">
                <a:solidFill>
                  <a:schemeClr val="accent6"/>
                </a:solidFill>
              </a:rPr>
              <a:t>This is the "brain" where data is processed, analyzed, and where models are run to provide insights and predictions. </a:t>
            </a:r>
          </a:p>
          <a:p>
            <a:r>
              <a:rPr lang="en-US" sz="1150" kern="0" spc="-80" dirty="0">
                <a:solidFill>
                  <a:schemeClr val="accent2"/>
                </a:solidFill>
              </a:rPr>
              <a:t>Application/Service Layer: </a:t>
            </a:r>
          </a:p>
          <a:p>
            <a:r>
              <a:rPr lang="en-US" sz="1150" kern="0" spc="-80" dirty="0">
                <a:solidFill>
                  <a:schemeClr val="accent6"/>
                </a:solidFill>
              </a:rPr>
              <a:t>This layer provides interfaces and applications that allow users to interact with the digital twin, extract insights, and potentially trigger actions back in the real world.</a:t>
            </a:r>
          </a:p>
          <a:p>
            <a:r>
              <a:rPr lang="en-US" sz="1150" kern="0" spc="-80" dirty="0">
                <a:solidFill>
                  <a:schemeClr val="accent2"/>
                </a:solidFill>
              </a:rPr>
              <a:t>Key Aspects</a:t>
            </a:r>
          </a:p>
          <a:p>
            <a:r>
              <a:rPr lang="en-US" sz="1150" kern="0" spc="-80" dirty="0">
                <a:solidFill>
                  <a:schemeClr val="accent2"/>
                </a:solidFill>
              </a:rPr>
              <a:t>Real-time Synchronization: </a:t>
            </a:r>
          </a:p>
          <a:p>
            <a:r>
              <a:rPr lang="en-US" sz="1150" kern="0" spc="-80" dirty="0">
                <a:solidFill>
                  <a:schemeClr val="accent6"/>
                </a:solidFill>
              </a:rPr>
              <a:t>A crucial aspect is the continuous synchronization of data between the physical and virtual environments, forming a dynamic, real-time feedback loop. </a:t>
            </a:r>
          </a:p>
          <a:p>
            <a:r>
              <a:rPr lang="en-US" sz="1150" kern="0" spc="-80" dirty="0">
                <a:solidFill>
                  <a:schemeClr val="accent2"/>
                </a:solidFill>
              </a:rPr>
              <a:t>Data Interoperability: </a:t>
            </a:r>
          </a:p>
          <a:p>
            <a:r>
              <a:rPr lang="en-US" sz="1150" kern="0" spc="-80" dirty="0">
                <a:solidFill>
                  <a:schemeClr val="accent6"/>
                </a:solidFill>
              </a:rPr>
              <a:t>Digital twins often require integrating external business and operational data, necessitating systems that can handle data from various sources and synchronize them effectively. </a:t>
            </a:r>
          </a:p>
          <a:p>
            <a:r>
              <a:rPr lang="en-US" sz="1150" kern="0" spc="-80" dirty="0">
                <a:solidFill>
                  <a:schemeClr val="accent2"/>
                </a:solidFill>
              </a:rPr>
              <a:t>Security and Governance: </a:t>
            </a:r>
          </a:p>
          <a:p>
            <a:r>
              <a:rPr lang="en-US" sz="1150" kern="0" spc="-80" dirty="0">
                <a:solidFill>
                  <a:schemeClr val="accent6"/>
                </a:solidFill>
              </a:rPr>
              <a:t>Foundational concepts like security, trust, and governance are essential for the entire digital twin framework to function reliably. </a:t>
            </a:r>
          </a:p>
          <a:p>
            <a:r>
              <a:rPr lang="en-US" sz="1150" kern="0" spc="-80" dirty="0">
                <a:solidFill>
                  <a:schemeClr val="accent2"/>
                </a:solidFill>
              </a:rPr>
              <a:t>Unique ID: </a:t>
            </a:r>
          </a:p>
          <a:p>
            <a:r>
              <a:rPr lang="en-US" sz="1150" kern="0" spc="-80" dirty="0">
                <a:solidFill>
                  <a:schemeClr val="accent6"/>
                </a:solidFill>
              </a:rPr>
              <a:t>A unique identifier is necessary for the physical and virtual entities to ensure accurate representation and management. </a:t>
            </a:r>
          </a:p>
          <a:p>
            <a:r>
              <a:rPr lang="en-US" sz="1600" kern="0" spc="-80" dirty="0">
                <a:solidFill>
                  <a:schemeClr val="accent6"/>
                </a:solidFill>
              </a:rPr>
              <a:t> </a:t>
            </a:r>
          </a:p>
        </p:txBody>
      </p:sp>
    </p:spTree>
    <p:extLst>
      <p:ext uri="{BB962C8B-B14F-4D97-AF65-F5344CB8AC3E}">
        <p14:creationId xmlns:p14="http://schemas.microsoft.com/office/powerpoint/2010/main" val="212544898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D04F9-6D5D-191A-A49B-3FFCBFA5DD7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E162B6A-53F4-99AB-D7F1-8A3CB4867BB9}"/>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22130CD-4BCC-ADD3-60CD-54AF82987F66}"/>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38D11E7-44E1-C8BF-D8B6-F402700E1630}"/>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86180FAE-70E7-8EDB-F92C-C45C10EA4B52}"/>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Digital Twin Reference Architecture</a:t>
            </a:r>
          </a:p>
          <a:p>
            <a:pPr marL="12700" marR="5080"/>
            <a:endParaRPr lang="en-US" sz="2400" kern="0" spc="-80" dirty="0">
              <a:solidFill>
                <a:schemeClr val="accent2"/>
              </a:solidFill>
            </a:endParaRPr>
          </a:p>
        </p:txBody>
      </p:sp>
      <p:sp>
        <p:nvSpPr>
          <p:cNvPr id="2" name="object 2">
            <a:extLst>
              <a:ext uri="{FF2B5EF4-FFF2-40B4-BE49-F238E27FC236}">
                <a16:creationId xmlns:a16="http://schemas.microsoft.com/office/drawing/2014/main" id="{11200980-49DE-499D-7F54-F8D990581975}"/>
              </a:ext>
            </a:extLst>
          </p:cNvPr>
          <p:cNvSpPr txBox="1">
            <a:spLocks/>
          </p:cNvSpPr>
          <p:nvPr/>
        </p:nvSpPr>
        <p:spPr>
          <a:xfrm>
            <a:off x="137369" y="1242536"/>
            <a:ext cx="8624937" cy="21544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kern="0" spc="-80" dirty="0">
                <a:solidFill>
                  <a:schemeClr val="accent2"/>
                </a:solidFill>
              </a:rPr>
              <a:t>For Further Exploration </a:t>
            </a:r>
          </a:p>
          <a:p>
            <a:r>
              <a:rPr lang="en-IN" sz="1400" dirty="0">
                <a:hlinkClick r:id="rId7"/>
              </a:rPr>
              <a:t>What is Azure Digital Twins? - Azure Digital Twins | Microsoft Learn</a:t>
            </a:r>
            <a:endParaRPr lang="en-IN" sz="1400" dirty="0"/>
          </a:p>
          <a:p>
            <a:r>
              <a:rPr lang="en-US" sz="1400" dirty="0">
                <a:hlinkClick r:id="rId8"/>
              </a:rPr>
              <a:t>What are digital twins? - IBM Developer</a:t>
            </a:r>
            <a:endParaRPr lang="en-US" sz="1400" dirty="0"/>
          </a:p>
          <a:p>
            <a:r>
              <a:rPr lang="en-US" sz="1400" dirty="0" err="1">
                <a:hlinkClick r:id="rId9"/>
              </a:rPr>
              <a:t>TwinArch</a:t>
            </a:r>
            <a:r>
              <a:rPr lang="en-US" sz="1400" dirty="0">
                <a:hlinkClick r:id="rId9"/>
              </a:rPr>
              <a:t>: A Digital Twin Reference Architecture</a:t>
            </a:r>
            <a:endParaRPr lang="en-US" sz="1400" dirty="0"/>
          </a:p>
          <a:p>
            <a:r>
              <a:rPr lang="en-US" sz="1400" dirty="0">
                <a:hlinkClick r:id="rId10"/>
              </a:rPr>
              <a:t>Platform Stack Architectural Framework: An Introductory Guide</a:t>
            </a:r>
            <a:endParaRPr lang="en-US" sz="1400" dirty="0"/>
          </a:p>
          <a:p>
            <a:r>
              <a:rPr lang="en-IN" sz="1400" dirty="0">
                <a:hlinkClick r:id="rId11"/>
              </a:rPr>
              <a:t>Digital Twin Reference Architecture</a:t>
            </a:r>
            <a:endParaRPr lang="en-IN" sz="1400" dirty="0"/>
          </a:p>
          <a:p>
            <a:r>
              <a:rPr lang="en-IN" sz="1400" dirty="0" err="1">
                <a:hlinkClick r:id="rId12"/>
              </a:rPr>
              <a:t>iTwin</a:t>
            </a:r>
            <a:r>
              <a:rPr lang="en-IN" sz="1400" dirty="0">
                <a:hlinkClick r:id="rId12"/>
              </a:rPr>
              <a:t> Platform | Bentley Systems | Infrastructure Software</a:t>
            </a:r>
            <a:endParaRPr lang="en-IN" sz="1400" dirty="0"/>
          </a:p>
          <a:p>
            <a:r>
              <a:rPr lang="en-US" sz="1400" dirty="0">
                <a:hlinkClick r:id="rId13"/>
              </a:rPr>
              <a:t>Building-Industrial-Digital-Twin: Building Industrial Digital Twin</a:t>
            </a:r>
            <a:endParaRPr lang="en-US" sz="1400" dirty="0"/>
          </a:p>
          <a:p>
            <a:r>
              <a:rPr lang="en-US" sz="1400" dirty="0">
                <a:hlinkClick r:id="rId14"/>
              </a:rPr>
              <a:t>Hands-on-Azure-Digital-Twins</a:t>
            </a:r>
            <a:endParaRPr lang="en-US" sz="1400" dirty="0"/>
          </a:p>
          <a:p>
            <a:r>
              <a:rPr lang="en-IN" sz="1400" dirty="0">
                <a:hlinkClick r:id="rId15"/>
              </a:rPr>
              <a:t>Digital Twins </a:t>
            </a:r>
            <a:r>
              <a:rPr lang="en-IN" sz="1400">
                <a:hlinkClick r:id="rId15"/>
              </a:rPr>
              <a:t>in Action</a:t>
            </a:r>
            <a:endParaRPr lang="en-IN" sz="1400" dirty="0"/>
          </a:p>
        </p:txBody>
      </p:sp>
    </p:spTree>
    <p:extLst>
      <p:ext uri="{BB962C8B-B14F-4D97-AF65-F5344CB8AC3E}">
        <p14:creationId xmlns:p14="http://schemas.microsoft.com/office/powerpoint/2010/main" val="274427747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EC193-38E1-3B17-DBD7-8BEEAE7FB16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F3CDE57-9FE2-015E-3C58-2DBF74079F42}"/>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7C55A59-422E-100A-4FB4-BCB688125110}"/>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717EB02-39E6-BD40-AF83-A02CBFB1BCB1}"/>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83D0C42-0D7A-722F-4CC9-3A1B338AC84C}"/>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Metaverse Reference Architecture</a:t>
            </a:r>
          </a:p>
          <a:p>
            <a:pPr marL="12700" marR="5080"/>
            <a:r>
              <a:rPr lang="en-US" sz="2400" kern="0" spc="-80" dirty="0">
                <a:solidFill>
                  <a:schemeClr val="accent2"/>
                </a:solidFill>
              </a:rPr>
              <a:t>  </a:t>
            </a:r>
          </a:p>
        </p:txBody>
      </p:sp>
      <p:pic>
        <p:nvPicPr>
          <p:cNvPr id="1026" name="Picture 2" descr="The Metaverse architecture performs the interactions among virtual area, human area, and physical area">
            <a:extLst>
              <a:ext uri="{FF2B5EF4-FFF2-40B4-BE49-F238E27FC236}">
                <a16:creationId xmlns:a16="http://schemas.microsoft.com/office/drawing/2014/main" id="{D75B4403-A7C4-8E1A-AFCB-01A28A56D3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 y="1291668"/>
            <a:ext cx="8991599" cy="4462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16057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F6FDF-60FE-1E28-C510-82DF5207749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A27C965-2895-6ECE-17EF-AF4F6700AEDB}"/>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71910F9-D3C6-78AA-374A-D250CDA7C039}"/>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3CC5D0D-8B63-BEDD-74C4-13BACB982898}"/>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374C7CE-2DC6-749D-8C08-0363348C5139}"/>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Metaverse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430DC05-D7AF-C3E1-DC22-D51AA871B381}"/>
              </a:ext>
            </a:extLst>
          </p:cNvPr>
          <p:cNvSpPr txBox="1">
            <a:spLocks/>
          </p:cNvSpPr>
          <p:nvPr/>
        </p:nvSpPr>
        <p:spPr>
          <a:xfrm>
            <a:off x="137369" y="1242536"/>
            <a:ext cx="8624937"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kern="0" spc="-80" dirty="0">
                <a:solidFill>
                  <a:schemeClr val="accent2"/>
                </a:solidFill>
              </a:rPr>
              <a:t>Key Concepts &amp; Components</a:t>
            </a:r>
          </a:p>
          <a:p>
            <a:r>
              <a:rPr lang="en-US" sz="1400" kern="0" spc="-80" dirty="0">
                <a:solidFill>
                  <a:schemeClr val="accent2"/>
                </a:solidFill>
              </a:rPr>
              <a:t>Integration of Physical and Digital:</a:t>
            </a:r>
            <a:r>
              <a:rPr lang="en-US" sz="1400" kern="0" spc="-80" dirty="0">
                <a:solidFill>
                  <a:schemeClr val="accent6"/>
                </a:solidFill>
              </a:rPr>
              <a:t> Metaverse architectures facilitate the seamless integration of real-world elements with virtual ones, allowing for shared experiences, communication, and transactions in digital environments. </a:t>
            </a:r>
          </a:p>
          <a:p>
            <a:r>
              <a:rPr lang="en-US" sz="1400" kern="0" spc="-80" dirty="0">
                <a:solidFill>
                  <a:schemeClr val="accent2"/>
                </a:solidFill>
              </a:rPr>
              <a:t>Enabling Technologies: </a:t>
            </a:r>
          </a:p>
          <a:p>
            <a:r>
              <a:rPr lang="en-US" sz="1400" kern="0" spc="-80" dirty="0">
                <a:solidFill>
                  <a:schemeClr val="accent2"/>
                </a:solidFill>
              </a:rPr>
              <a:t>Core technologies that underpin a metaverse reference architecture include:</a:t>
            </a:r>
          </a:p>
          <a:p>
            <a:r>
              <a:rPr lang="en-US" sz="1400" kern="0" spc="-80" dirty="0">
                <a:solidFill>
                  <a:schemeClr val="accent2"/>
                </a:solidFill>
              </a:rPr>
              <a:t>Artificial Intelligence (AI): </a:t>
            </a:r>
            <a:r>
              <a:rPr lang="en-US" sz="1400" kern="0" spc="-80" dirty="0">
                <a:solidFill>
                  <a:schemeClr val="accent6"/>
                </a:solidFill>
              </a:rPr>
              <a:t>For intelligent systems, data analysis, and complex interactions. </a:t>
            </a:r>
          </a:p>
          <a:p>
            <a:r>
              <a:rPr lang="en-US" sz="1400" kern="0" spc="-80" dirty="0">
                <a:solidFill>
                  <a:schemeClr val="accent2"/>
                </a:solidFill>
              </a:rPr>
              <a:t>Blockchain:</a:t>
            </a:r>
            <a:r>
              <a:rPr lang="en-US" sz="1400" kern="0" spc="-80" dirty="0">
                <a:solidFill>
                  <a:schemeClr val="accent6"/>
                </a:solidFill>
              </a:rPr>
              <a:t> For secure digital identity, asset management, and decentralized systems. </a:t>
            </a:r>
          </a:p>
          <a:p>
            <a:r>
              <a:rPr lang="en-US" sz="1400" kern="0" spc="-80" dirty="0">
                <a:solidFill>
                  <a:schemeClr val="accent2"/>
                </a:solidFill>
              </a:rPr>
              <a:t>Cloud Computing &amp; Edge Computing:</a:t>
            </a:r>
            <a:r>
              <a:rPr lang="en-US" sz="1400" kern="0" spc="-80" dirty="0">
                <a:solidFill>
                  <a:schemeClr val="accent6"/>
                </a:solidFill>
              </a:rPr>
              <a:t> For scalable, distributed infrastructure to host metaverse environments. </a:t>
            </a:r>
          </a:p>
          <a:p>
            <a:r>
              <a:rPr lang="en-US" sz="1400" kern="0" spc="-80" dirty="0">
                <a:solidFill>
                  <a:schemeClr val="accent2"/>
                </a:solidFill>
              </a:rPr>
              <a:t>Internet of Things (IoT):</a:t>
            </a:r>
            <a:r>
              <a:rPr lang="en-US" sz="1400" kern="0" spc="-80" dirty="0">
                <a:solidFill>
                  <a:schemeClr val="accent6"/>
                </a:solidFill>
              </a:rPr>
              <a:t> To connect and manage physical devices and their digital twins. </a:t>
            </a:r>
          </a:p>
          <a:p>
            <a:r>
              <a:rPr lang="en-US" sz="1400" kern="0" spc="-80" dirty="0">
                <a:solidFill>
                  <a:schemeClr val="accent2"/>
                </a:solidFill>
              </a:rPr>
              <a:t>Extended Reality (XR): </a:t>
            </a:r>
            <a:r>
              <a:rPr lang="en-US" sz="1400" kern="0" spc="-80" dirty="0">
                <a:solidFill>
                  <a:schemeClr val="accent6"/>
                </a:solidFill>
              </a:rPr>
              <a:t>Augmented Reality (AR), Virtual Reality (VR), and Mixed Reality (MR) are crucial for creating immersive and interactive user experiences. </a:t>
            </a:r>
          </a:p>
          <a:p>
            <a:r>
              <a:rPr lang="en-US" sz="1400" kern="0" spc="-80" dirty="0">
                <a:solidFill>
                  <a:schemeClr val="accent2"/>
                </a:solidFill>
              </a:rPr>
              <a:t>Interoperability: </a:t>
            </a:r>
            <a:r>
              <a:rPr lang="en-US" sz="1400" kern="0" spc="-80" dirty="0">
                <a:solidFill>
                  <a:schemeClr val="accent6"/>
                </a:solidFill>
              </a:rPr>
              <a:t>Reference architectures aim to promote interoperability, enabling different metaverse platforms and services to connect and work together. </a:t>
            </a:r>
          </a:p>
          <a:p>
            <a:r>
              <a:rPr lang="en-US" sz="1400" kern="0" spc="-80" dirty="0">
                <a:solidFill>
                  <a:schemeClr val="accent2"/>
                </a:solidFill>
              </a:rPr>
              <a:t>Types of Architectures </a:t>
            </a:r>
          </a:p>
          <a:p>
            <a:r>
              <a:rPr lang="en-US" sz="1400" kern="0" spc="-80" dirty="0">
                <a:solidFill>
                  <a:schemeClr val="accent2"/>
                </a:solidFill>
              </a:rPr>
              <a:t>Technology-Based Architecture:</a:t>
            </a:r>
            <a:r>
              <a:rPr lang="en-US" sz="1400" kern="0" spc="-80" dirty="0">
                <a:solidFill>
                  <a:schemeClr val="accent6"/>
                </a:solidFill>
              </a:rPr>
              <a:t> Focuses on the convergence of key enabling technologies such as AI, blockchain, digital twins, and advanced network technologies.</a:t>
            </a:r>
          </a:p>
          <a:p>
            <a:r>
              <a:rPr lang="en-US" sz="1400" kern="0" spc="-80" dirty="0">
                <a:solidFill>
                  <a:schemeClr val="accent2"/>
                </a:solidFill>
              </a:rPr>
              <a:t>Domain-Based Architecture:</a:t>
            </a:r>
            <a:r>
              <a:rPr lang="en-US" sz="1400" kern="0" spc="-80" dirty="0">
                <a:solidFill>
                  <a:schemeClr val="accent6"/>
                </a:solidFill>
              </a:rPr>
              <a:t> Designed for specific industries or sectors, such as healthcare, education, or manufacturing, to address their unique functional requirements.</a:t>
            </a:r>
          </a:p>
          <a:p>
            <a:r>
              <a:rPr lang="en-US" sz="1400" kern="0" spc="-80" dirty="0">
                <a:solidFill>
                  <a:schemeClr val="accent2"/>
                </a:solidFill>
              </a:rPr>
              <a:t>Layered-Based Architecture: </a:t>
            </a:r>
            <a:r>
              <a:rPr lang="en-US" sz="1400" kern="0" spc="-80" dirty="0">
                <a:solidFill>
                  <a:schemeClr val="accent6"/>
                </a:solidFill>
              </a:rPr>
              <a:t>Employs a multi-layered structure to define and organize the essential components of a metaverse system, providing a universally applicable framework.</a:t>
            </a:r>
          </a:p>
        </p:txBody>
      </p:sp>
    </p:spTree>
    <p:extLst>
      <p:ext uri="{BB962C8B-B14F-4D97-AF65-F5344CB8AC3E}">
        <p14:creationId xmlns:p14="http://schemas.microsoft.com/office/powerpoint/2010/main" val="194562384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F4953-847A-B801-D06E-A5A98506E91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4617D84-0047-8574-4376-63AC10CB9B8F}"/>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85B865D-85F6-083A-16B1-A4C6503658C3}"/>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2B6F9E7-03EF-A237-E5D7-42A24F09338F}"/>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0160693-FCAD-7260-2DD8-E253E9A8582B}"/>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Metaverse Reference Architecture</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9402C532-2E99-4D89-38C5-F71323D6C689}"/>
              </a:ext>
            </a:extLst>
          </p:cNvPr>
          <p:cNvSpPr txBox="1">
            <a:spLocks/>
          </p:cNvSpPr>
          <p:nvPr/>
        </p:nvSpPr>
        <p:spPr>
          <a:xfrm>
            <a:off x="137369" y="1242536"/>
            <a:ext cx="8624937" cy="46474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400" kern="0" spc="-80" dirty="0">
                <a:solidFill>
                  <a:schemeClr val="accent2"/>
                </a:solidFill>
              </a:rPr>
              <a:t>Purpose and Applications</a:t>
            </a:r>
          </a:p>
          <a:p>
            <a:r>
              <a:rPr lang="en-US" sz="1400" kern="0" spc="-80" dirty="0">
                <a:solidFill>
                  <a:schemeClr val="accent2"/>
                </a:solidFill>
              </a:rPr>
              <a:t>Systematic Development: </a:t>
            </a:r>
            <a:r>
              <a:rPr lang="en-US" sz="1400" kern="0" spc="-80" dirty="0">
                <a:solidFill>
                  <a:schemeClr val="accent6"/>
                </a:solidFill>
              </a:rPr>
              <a:t>Provides a framework for the systematic creation and operation of metaverse services and applications. </a:t>
            </a:r>
          </a:p>
          <a:p>
            <a:r>
              <a:rPr lang="en-US" sz="1400" kern="0" spc="-80" dirty="0">
                <a:solidFill>
                  <a:schemeClr val="accent2"/>
                </a:solidFill>
              </a:rPr>
              <a:t>Digital Transformation: </a:t>
            </a:r>
            <a:r>
              <a:rPr lang="en-US" sz="1400" kern="0" spc="-80" dirty="0">
                <a:solidFill>
                  <a:schemeClr val="accent6"/>
                </a:solidFill>
              </a:rPr>
              <a:t>Supports the digital transformation of enterprises by enabling digital environments for collaboration and experience sharing. </a:t>
            </a:r>
          </a:p>
          <a:p>
            <a:r>
              <a:rPr lang="en-US" sz="1400" kern="0" spc="-80" dirty="0">
                <a:solidFill>
                  <a:schemeClr val="accent2"/>
                </a:solidFill>
              </a:rPr>
              <a:t>Industrial Applications: </a:t>
            </a:r>
            <a:r>
              <a:rPr lang="en-US" sz="1400" kern="0" spc="-80" dirty="0">
                <a:solidFill>
                  <a:schemeClr val="accent6"/>
                </a:solidFill>
              </a:rPr>
              <a:t>Specifically designed to assist various industrial verticals by digitalizing processes and creating integrated digital environments. </a:t>
            </a:r>
          </a:p>
          <a:p>
            <a:r>
              <a:rPr lang="en-US" sz="1400" kern="0" spc="-80" dirty="0">
                <a:solidFill>
                  <a:schemeClr val="accent2"/>
                </a:solidFill>
              </a:rPr>
              <a:t>Enhanced Digital Interaction: </a:t>
            </a:r>
            <a:r>
              <a:rPr lang="en-US" sz="1400" kern="0" spc="-80" dirty="0">
                <a:solidFill>
                  <a:schemeClr val="accent6"/>
                </a:solidFill>
              </a:rPr>
              <a:t>Creates new, more immersive ways for people to interact, socialize, and conduct commerce in a persistently connected digital world</a:t>
            </a:r>
          </a:p>
          <a:p>
            <a:endParaRPr lang="en-US" sz="1200" kern="0" spc="-80" dirty="0">
              <a:solidFill>
                <a:schemeClr val="accent6"/>
              </a:solidFill>
            </a:endParaRPr>
          </a:p>
          <a:p>
            <a:endParaRPr lang="en-US" sz="1200" kern="0" spc="-80" dirty="0">
              <a:solidFill>
                <a:schemeClr val="accent6"/>
              </a:solidFill>
            </a:endParaRPr>
          </a:p>
          <a:p>
            <a:endParaRPr lang="en-US" sz="1200" kern="0" spc="-80" dirty="0">
              <a:solidFill>
                <a:schemeClr val="accent6"/>
              </a:solidFill>
            </a:endParaRPr>
          </a:p>
          <a:p>
            <a:r>
              <a:rPr lang="en-US" sz="1400" kern="0" spc="-80" dirty="0">
                <a:solidFill>
                  <a:schemeClr val="accent2"/>
                </a:solidFill>
              </a:rPr>
              <a:t>For Further Exploration </a:t>
            </a:r>
          </a:p>
          <a:p>
            <a:r>
              <a:rPr lang="en-US" sz="1400" dirty="0">
                <a:hlinkClick r:id="rId7"/>
              </a:rPr>
              <a:t>Metaverse Architectures: A Comprehensive Systematic Review of Definitions and Frameworks</a:t>
            </a:r>
            <a:endParaRPr lang="en-US" sz="1400" dirty="0"/>
          </a:p>
          <a:p>
            <a:r>
              <a:rPr lang="en-IN" sz="1400" dirty="0">
                <a:hlinkClick r:id="rId8"/>
              </a:rPr>
              <a:t>Metaverse: A Vision &amp; Architectural Elements</a:t>
            </a:r>
            <a:endParaRPr lang="en-IN" sz="1400" dirty="0"/>
          </a:p>
          <a:p>
            <a:r>
              <a:rPr lang="en-US" sz="1400" dirty="0">
                <a:hlinkClick r:id="rId9"/>
              </a:rPr>
              <a:t>Metaverse Masterclass- Learn Everything about the Metaverse! | Udemy</a:t>
            </a:r>
            <a:endParaRPr lang="en-IN" sz="1400" dirty="0"/>
          </a:p>
          <a:p>
            <a:r>
              <a:rPr lang="en-US" sz="1400" dirty="0">
                <a:hlinkClick r:id="rId10"/>
              </a:rPr>
              <a:t>AR-VR-Using-WEBXR-API: Source Code for 'AR and VR Using the </a:t>
            </a:r>
            <a:r>
              <a:rPr lang="en-US" sz="1400" dirty="0" err="1">
                <a:hlinkClick r:id="rId10"/>
              </a:rPr>
              <a:t>WebXR</a:t>
            </a:r>
            <a:r>
              <a:rPr lang="en-US" sz="1400" dirty="0">
                <a:hlinkClick r:id="rId10"/>
              </a:rPr>
              <a:t> API' by Rakesh Baruah</a:t>
            </a:r>
            <a:endParaRPr lang="en-US" sz="1400" dirty="0"/>
          </a:p>
          <a:p>
            <a:r>
              <a:rPr lang="en-US" sz="1400" dirty="0">
                <a:hlinkClick r:id="rId11"/>
              </a:rPr>
              <a:t>Learning Virtual Reality</a:t>
            </a:r>
            <a:endParaRPr lang="en-US" sz="1400" dirty="0"/>
          </a:p>
          <a:p>
            <a:r>
              <a:rPr lang="en-US" sz="1400" dirty="0">
                <a:hlinkClick r:id="rId12"/>
              </a:rPr>
              <a:t>Practical Augmented Reality</a:t>
            </a:r>
            <a:endParaRPr lang="en-US" sz="1400" dirty="0"/>
          </a:p>
          <a:p>
            <a:r>
              <a:rPr lang="en-IN" sz="1400" dirty="0">
                <a:hlinkClick r:id="rId13"/>
              </a:rPr>
              <a:t>Creating Augmented and Virtual Realities</a:t>
            </a:r>
            <a:endParaRPr lang="en-IN" sz="1400" dirty="0"/>
          </a:p>
          <a:p>
            <a:r>
              <a:rPr lang="en-IN" sz="1400" dirty="0">
                <a:hlinkClick r:id="rId14"/>
              </a:rPr>
              <a:t>UX for </a:t>
            </a:r>
            <a:r>
              <a:rPr lang="en-IN" sz="1400" dirty="0" err="1">
                <a:hlinkClick r:id="rId14"/>
              </a:rPr>
              <a:t>XR</a:t>
            </a:r>
            <a:r>
              <a:rPr lang="en-IN" sz="1400" dirty="0" err="1">
                <a:hlinkClick r:id="rId15"/>
              </a:rPr>
              <a:t>Handbook</a:t>
            </a:r>
            <a:r>
              <a:rPr lang="en-IN" sz="1400" dirty="0">
                <a:hlinkClick r:id="rId15"/>
              </a:rPr>
              <a:t> of Augmented and Virtual Reality</a:t>
            </a:r>
            <a:endParaRPr lang="en-IN" sz="1400" dirty="0"/>
          </a:p>
          <a:p>
            <a:r>
              <a:rPr lang="en-IN" sz="1400" kern="0" spc="-80" dirty="0">
                <a:solidFill>
                  <a:schemeClr val="accent6"/>
                </a:solidFill>
              </a:rPr>
              <a:t>N.B. – AR/VR resources above can be used in Gaming. Digital Twins (&amp; CAD/CAM) as well.</a:t>
            </a:r>
            <a:endParaRPr lang="en-US" sz="1400" kern="0" spc="-80" dirty="0">
              <a:solidFill>
                <a:schemeClr val="accent6"/>
              </a:solidFill>
            </a:endParaRPr>
          </a:p>
        </p:txBody>
      </p:sp>
    </p:spTree>
    <p:extLst>
      <p:ext uri="{BB962C8B-B14F-4D97-AF65-F5344CB8AC3E}">
        <p14:creationId xmlns:p14="http://schemas.microsoft.com/office/powerpoint/2010/main" val="170802890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45021-814F-E493-F9A7-FA74F75043F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52FDD62-FF8B-130B-28EE-4EB32771E91D}"/>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6454945-DD9F-57F1-A504-035267C8D778}"/>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2043DD1-710D-82DF-DFAC-9BF69C8B4149}"/>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16380B8-FFBC-1370-0061-5486EF7C6017}"/>
              </a:ext>
            </a:extLst>
          </p:cNvPr>
          <p:cNvSpPr txBox="1">
            <a:spLocks/>
          </p:cNvSpPr>
          <p:nvPr/>
        </p:nvSpPr>
        <p:spPr>
          <a:xfrm>
            <a:off x="76200" y="873204"/>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Intelligent Automation/Hyper-Automation Reference Architecture</a:t>
            </a:r>
          </a:p>
          <a:p>
            <a:pPr marL="12700" marR="5080"/>
            <a:r>
              <a:rPr lang="en-US" sz="2400" kern="0" spc="-80" dirty="0">
                <a:solidFill>
                  <a:schemeClr val="accent2"/>
                </a:solidFill>
              </a:rPr>
              <a:t>  </a:t>
            </a:r>
          </a:p>
        </p:txBody>
      </p:sp>
      <p:pic>
        <p:nvPicPr>
          <p:cNvPr id="8" name="Picture 7" descr="A diagram of a platform architecture&#10;&#10;AI-generated content may be incorrect.">
            <a:extLst>
              <a:ext uri="{FF2B5EF4-FFF2-40B4-BE49-F238E27FC236}">
                <a16:creationId xmlns:a16="http://schemas.microsoft.com/office/drawing/2014/main" id="{176ADC95-BE5A-59D8-16EE-25DF3B25865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 y="1622336"/>
            <a:ext cx="8839200" cy="4321264"/>
          </a:xfrm>
          <a:prstGeom prst="rect">
            <a:avLst/>
          </a:prstGeom>
        </p:spPr>
      </p:pic>
    </p:spTree>
    <p:extLst>
      <p:ext uri="{BB962C8B-B14F-4D97-AF65-F5344CB8AC3E}">
        <p14:creationId xmlns:p14="http://schemas.microsoft.com/office/powerpoint/2010/main" val="422671982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1D11B-66F1-A443-DAA8-A2EC6C87D0D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DA97FD7-891D-6DB6-1318-B483BF269B38}"/>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0AF9AC6-A5CB-7666-013B-F4EEB326BE14}"/>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2F882D0-0C18-3793-C1C9-BF8BE9C1218F}"/>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3164459-84A0-0282-7CE9-A1D0F3E5FB79}"/>
              </a:ext>
            </a:extLst>
          </p:cNvPr>
          <p:cNvSpPr txBox="1">
            <a:spLocks/>
          </p:cNvSpPr>
          <p:nvPr/>
        </p:nvSpPr>
        <p:spPr>
          <a:xfrm>
            <a:off x="76200" y="873204"/>
            <a:ext cx="8624937" cy="499367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Intelligent Automation/Hyper-Automation Reference Architecture</a:t>
            </a:r>
          </a:p>
          <a:p>
            <a:pPr marL="12700" marR="5080"/>
            <a:r>
              <a:rPr lang="en-US" sz="1250" kern="0" spc="-80" dirty="0">
                <a:solidFill>
                  <a:schemeClr val="accent2"/>
                </a:solidFill>
              </a:rPr>
              <a:t>  🧩 1. Conceptual Overview</a:t>
            </a:r>
          </a:p>
          <a:p>
            <a:pPr marL="12700" marR="5080"/>
            <a:r>
              <a:rPr lang="en-US" sz="1250" kern="0" spc="-80" dirty="0">
                <a:solidFill>
                  <a:schemeClr val="accent2"/>
                </a:solidFill>
              </a:rPr>
              <a:t>Intelligent Automation (IA) combines:</a:t>
            </a:r>
          </a:p>
          <a:p>
            <a:pPr marL="12700" marR="5080"/>
            <a:r>
              <a:rPr lang="en-US" sz="1250" kern="0" spc="-80" dirty="0">
                <a:solidFill>
                  <a:schemeClr val="accent2"/>
                </a:solidFill>
              </a:rPr>
              <a:t>Robotic Process Automation (RPA)</a:t>
            </a:r>
            <a:r>
              <a:rPr lang="en-US" sz="1250" kern="0" spc="-80" dirty="0">
                <a:solidFill>
                  <a:schemeClr val="accent6"/>
                </a:solidFill>
              </a:rPr>
              <a:t> — automating repetitive, rule-based tasks</a:t>
            </a:r>
          </a:p>
          <a:p>
            <a:pPr marL="12700" marR="5080"/>
            <a:r>
              <a:rPr lang="en-US" sz="1250" kern="0" spc="-80" dirty="0">
                <a:solidFill>
                  <a:schemeClr val="accent2"/>
                </a:solidFill>
              </a:rPr>
              <a:t>Artificial Intelligence (AI) </a:t>
            </a:r>
            <a:r>
              <a:rPr lang="en-US" sz="1250" kern="0" spc="-80" dirty="0">
                <a:solidFill>
                  <a:schemeClr val="accent6"/>
                </a:solidFill>
              </a:rPr>
              <a:t>— cognitive automation (vision, NLP, ML)</a:t>
            </a:r>
          </a:p>
          <a:p>
            <a:pPr marL="12700" marR="5080"/>
            <a:r>
              <a:rPr lang="en-US" sz="1250" kern="0" spc="-80" dirty="0">
                <a:solidFill>
                  <a:schemeClr val="accent2"/>
                </a:solidFill>
              </a:rPr>
              <a:t>Process Orchestration</a:t>
            </a:r>
            <a:r>
              <a:rPr lang="en-US" sz="1250" kern="0" spc="-80" dirty="0">
                <a:solidFill>
                  <a:schemeClr val="accent6"/>
                </a:solidFill>
              </a:rPr>
              <a:t> — managing end-to-end workflows and exceptions</a:t>
            </a:r>
          </a:p>
          <a:p>
            <a:pPr marL="12700" marR="5080"/>
            <a:r>
              <a:rPr lang="en-US" sz="1250" kern="0" spc="-80" dirty="0">
                <a:solidFill>
                  <a:schemeClr val="accent2"/>
                </a:solidFill>
              </a:rPr>
              <a:t>Human-in-the-Loop (HITL)</a:t>
            </a:r>
            <a:r>
              <a:rPr lang="en-US" sz="1250" kern="0" spc="-80" dirty="0">
                <a:solidFill>
                  <a:schemeClr val="accent6"/>
                </a:solidFill>
              </a:rPr>
              <a:t> — decision points requiring human judgment</a:t>
            </a:r>
          </a:p>
          <a:p>
            <a:pPr marL="12700" marR="5080"/>
            <a:r>
              <a:rPr lang="en-US" sz="1250" kern="0" spc="-80" dirty="0">
                <a:solidFill>
                  <a:schemeClr val="accent2"/>
                </a:solidFill>
              </a:rPr>
              <a:t>📘 Goal: </a:t>
            </a:r>
            <a:r>
              <a:rPr lang="en-US" sz="1250" kern="0" spc="-80" dirty="0">
                <a:solidFill>
                  <a:schemeClr val="accent6"/>
                </a:solidFill>
              </a:rPr>
              <a:t>Enable self-learning, self-optimizing business processes through automation, intelligence, and orchestration.</a:t>
            </a:r>
          </a:p>
          <a:p>
            <a:pPr marL="12700" marR="5080"/>
            <a:r>
              <a:rPr lang="en-US" sz="1250" kern="0" spc="-80" dirty="0">
                <a:solidFill>
                  <a:schemeClr val="accent2"/>
                </a:solidFill>
              </a:rPr>
              <a:t>🧱 2. Reference Architecture Layers</a:t>
            </a:r>
          </a:p>
          <a:p>
            <a:pPr marL="12700" marR="5080"/>
            <a:r>
              <a:rPr lang="en-US" sz="1250" kern="0" spc="-80" dirty="0">
                <a:solidFill>
                  <a:schemeClr val="accent2"/>
                </a:solidFill>
              </a:rPr>
              <a:t>A. Presentation &amp; Interaction Layer</a:t>
            </a:r>
          </a:p>
          <a:p>
            <a:pPr marL="12700" marR="5080"/>
            <a:r>
              <a:rPr lang="en-US" sz="1250" kern="0" spc="-80" dirty="0">
                <a:solidFill>
                  <a:schemeClr val="accent2"/>
                </a:solidFill>
              </a:rPr>
              <a:t>Interfaces for human and system interaction:</a:t>
            </a:r>
          </a:p>
          <a:p>
            <a:pPr marL="12700" marR="5080"/>
            <a:r>
              <a:rPr lang="en-US" sz="1250" kern="0" spc="-80" dirty="0">
                <a:solidFill>
                  <a:schemeClr val="accent2"/>
                </a:solidFill>
              </a:rPr>
              <a:t>Channels:</a:t>
            </a:r>
            <a:r>
              <a:rPr lang="en-US" sz="1250" kern="0" spc="-80" dirty="0">
                <a:solidFill>
                  <a:schemeClr val="accent6"/>
                </a:solidFill>
              </a:rPr>
              <a:t> Web portals, chatbots, mobile apps, voice assistants</a:t>
            </a:r>
          </a:p>
          <a:p>
            <a:pPr marL="12700" marR="5080"/>
            <a:r>
              <a:rPr lang="en-US" sz="1250" kern="0" spc="-80" dirty="0">
                <a:solidFill>
                  <a:schemeClr val="accent2"/>
                </a:solidFill>
              </a:rPr>
              <a:t>Human-in-the-loop consoles:</a:t>
            </a:r>
            <a:r>
              <a:rPr lang="en-US" sz="1250" kern="0" spc="-80" dirty="0">
                <a:solidFill>
                  <a:schemeClr val="accent6"/>
                </a:solidFill>
              </a:rPr>
              <a:t> Approval dashboards, exception management tools</a:t>
            </a:r>
          </a:p>
          <a:p>
            <a:pPr marL="12700" marR="5080"/>
            <a:r>
              <a:rPr lang="en-US" sz="1250" kern="0" spc="-80" dirty="0">
                <a:solidFill>
                  <a:schemeClr val="accent2"/>
                </a:solidFill>
              </a:rPr>
              <a:t>Process Monitoring UIs:</a:t>
            </a:r>
            <a:r>
              <a:rPr lang="en-US" sz="1250" kern="0" spc="-80" dirty="0">
                <a:solidFill>
                  <a:schemeClr val="accent6"/>
                </a:solidFill>
              </a:rPr>
              <a:t> Business KPI dashboards</a:t>
            </a:r>
          </a:p>
          <a:p>
            <a:pPr marL="12700" marR="5080"/>
            <a:r>
              <a:rPr lang="en-US" sz="1250" kern="0" spc="-80" dirty="0">
                <a:solidFill>
                  <a:schemeClr val="accent2"/>
                </a:solidFill>
              </a:rPr>
              <a:t>➡️ Tech examples:</a:t>
            </a:r>
            <a:r>
              <a:rPr lang="en-US" sz="1250" kern="0" spc="-80" dirty="0">
                <a:solidFill>
                  <a:schemeClr val="accent6"/>
                </a:solidFill>
              </a:rPr>
              <a:t> PowerApps, Appian, UiPath Apps, Microsoft Teams, ServiceNow</a:t>
            </a:r>
          </a:p>
          <a:p>
            <a:pPr marL="12700" marR="5080"/>
            <a:r>
              <a:rPr lang="en-US" sz="1250" kern="0" spc="-80" dirty="0">
                <a:solidFill>
                  <a:schemeClr val="accent2"/>
                </a:solidFill>
              </a:rPr>
              <a:t>B. Process Orchestration Layer</a:t>
            </a:r>
          </a:p>
          <a:p>
            <a:pPr marL="12700" marR="5080"/>
            <a:r>
              <a:rPr lang="en-US" sz="1250" kern="0" spc="-80" dirty="0">
                <a:solidFill>
                  <a:schemeClr val="accent2"/>
                </a:solidFill>
              </a:rPr>
              <a:t>Coordinates multi-bot and multi-system processes:</a:t>
            </a:r>
          </a:p>
          <a:p>
            <a:pPr marL="12700" marR="5080"/>
            <a:r>
              <a:rPr lang="en-US" sz="1250" kern="0" spc="-80" dirty="0">
                <a:solidFill>
                  <a:schemeClr val="accent2"/>
                </a:solidFill>
              </a:rPr>
              <a:t>Workflow Orchestrator:</a:t>
            </a:r>
            <a:r>
              <a:rPr lang="en-US" sz="1250" kern="0" spc="-80" dirty="0">
                <a:solidFill>
                  <a:schemeClr val="accent6"/>
                </a:solidFill>
              </a:rPr>
              <a:t> BPMN-driven orchestration (Camunda, Pega, Appian)</a:t>
            </a:r>
          </a:p>
          <a:p>
            <a:pPr marL="12700" marR="5080"/>
            <a:r>
              <a:rPr lang="en-US" sz="1250" kern="0" spc="-80" dirty="0">
                <a:solidFill>
                  <a:schemeClr val="accent2"/>
                </a:solidFill>
              </a:rPr>
              <a:t>Case Management:</a:t>
            </a:r>
            <a:r>
              <a:rPr lang="en-US" sz="1250" kern="0" spc="-80" dirty="0">
                <a:solidFill>
                  <a:schemeClr val="accent6"/>
                </a:solidFill>
              </a:rPr>
              <a:t> For exception handling</a:t>
            </a:r>
          </a:p>
          <a:p>
            <a:pPr marL="12700" marR="5080"/>
            <a:r>
              <a:rPr lang="en-US" sz="1250" kern="0" spc="-80" dirty="0">
                <a:solidFill>
                  <a:schemeClr val="accent2"/>
                </a:solidFill>
              </a:rPr>
              <a:t>Process Scheduler: </a:t>
            </a:r>
            <a:r>
              <a:rPr lang="en-US" sz="1250" kern="0" spc="-80" dirty="0">
                <a:solidFill>
                  <a:schemeClr val="accent6"/>
                </a:solidFill>
              </a:rPr>
              <a:t>Trigger automation jobs</a:t>
            </a:r>
          </a:p>
          <a:p>
            <a:pPr marL="12700" marR="5080"/>
            <a:r>
              <a:rPr lang="en-US" sz="1250" kern="0" spc="-80" dirty="0">
                <a:solidFill>
                  <a:schemeClr val="accent2"/>
                </a:solidFill>
              </a:rPr>
              <a:t>Integration Bus: </a:t>
            </a:r>
            <a:r>
              <a:rPr lang="en-US" sz="1250" kern="0" spc="-80" dirty="0">
                <a:solidFill>
                  <a:schemeClr val="accent6"/>
                </a:solidFill>
              </a:rPr>
              <a:t>API gateway or ESB for connecting systems</a:t>
            </a:r>
          </a:p>
          <a:p>
            <a:pPr marL="12700" marR="5080"/>
            <a:r>
              <a:rPr lang="en-US" sz="1250" kern="0" spc="-80" dirty="0">
                <a:solidFill>
                  <a:schemeClr val="accent2"/>
                </a:solidFill>
              </a:rPr>
              <a:t>➡️ Tech examples:</a:t>
            </a:r>
            <a:r>
              <a:rPr lang="en-US" sz="1250" kern="0" spc="-80" dirty="0">
                <a:solidFill>
                  <a:schemeClr val="accent6"/>
                </a:solidFill>
              </a:rPr>
              <a:t> Azure Logic Apps, MuleSoft, Apache Airflow, UiPath Orchestrator</a:t>
            </a:r>
          </a:p>
          <a:p>
            <a:pPr marL="12700" marR="5080"/>
            <a:endParaRPr lang="en-US" sz="1400" kern="0" spc="-80" dirty="0">
              <a:solidFill>
                <a:schemeClr val="accent6"/>
              </a:solidFill>
            </a:endParaRPr>
          </a:p>
        </p:txBody>
      </p:sp>
    </p:spTree>
    <p:extLst>
      <p:ext uri="{BB962C8B-B14F-4D97-AF65-F5344CB8AC3E}">
        <p14:creationId xmlns:p14="http://schemas.microsoft.com/office/powerpoint/2010/main" val="165918739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228F2-1873-6627-044A-14D473F5587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0E26CC8-90CF-D2F4-2E3A-E48D44AFA12B}"/>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AAD4D84-1BCC-4F74-CB51-8AC8C5F219E0}"/>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D5570E1-8060-EF03-68FE-BD78DDCF1454}"/>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E2D38BE-D74F-EE92-E3A2-FA3D710B9757}"/>
              </a:ext>
            </a:extLst>
          </p:cNvPr>
          <p:cNvSpPr txBox="1">
            <a:spLocks/>
          </p:cNvSpPr>
          <p:nvPr/>
        </p:nvSpPr>
        <p:spPr>
          <a:xfrm>
            <a:off x="76200" y="873204"/>
            <a:ext cx="8624937" cy="50475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Intelligent Automation/Hyper-Automation Reference Architecture</a:t>
            </a:r>
          </a:p>
          <a:p>
            <a:pPr marL="12700" marR="5080"/>
            <a:r>
              <a:rPr lang="en-US" sz="1400" kern="0" spc="-80" dirty="0">
                <a:solidFill>
                  <a:schemeClr val="accent2"/>
                </a:solidFill>
              </a:rPr>
              <a:t>C. Automation Layer (Execution)</a:t>
            </a:r>
          </a:p>
          <a:p>
            <a:pPr marL="12700" marR="5080"/>
            <a:r>
              <a:rPr lang="en-US" sz="1400" kern="0" spc="-80" dirty="0">
                <a:solidFill>
                  <a:schemeClr val="accent2"/>
                </a:solidFill>
              </a:rPr>
              <a:t>Implements rule-based automation:</a:t>
            </a:r>
          </a:p>
          <a:p>
            <a:pPr marL="12700" marR="5080"/>
            <a:r>
              <a:rPr lang="en-US" sz="1400" kern="0" spc="-80" dirty="0">
                <a:solidFill>
                  <a:schemeClr val="accent2"/>
                </a:solidFill>
              </a:rPr>
              <a:t>RPA Bots:</a:t>
            </a:r>
            <a:r>
              <a:rPr lang="en-US" sz="1400" kern="0" spc="-80" dirty="0">
                <a:solidFill>
                  <a:schemeClr val="accent6"/>
                </a:solidFill>
              </a:rPr>
              <a:t> Task automation for structured data</a:t>
            </a:r>
          </a:p>
          <a:p>
            <a:pPr marL="12700" marR="5080"/>
            <a:r>
              <a:rPr lang="en-US" sz="1400" kern="0" spc="-80" dirty="0">
                <a:solidFill>
                  <a:schemeClr val="accent2"/>
                </a:solidFill>
              </a:rPr>
              <a:t>Attended / Unattended Bots: </a:t>
            </a:r>
            <a:r>
              <a:rPr lang="en-US" sz="1400" kern="0" spc="-80" dirty="0">
                <a:solidFill>
                  <a:schemeClr val="accent6"/>
                </a:solidFill>
              </a:rPr>
              <a:t>User-triggered or fully automated</a:t>
            </a:r>
          </a:p>
          <a:p>
            <a:pPr marL="12700" marR="5080"/>
            <a:r>
              <a:rPr lang="en-US" sz="1400" kern="0" spc="-80" dirty="0">
                <a:solidFill>
                  <a:schemeClr val="accent2"/>
                </a:solidFill>
              </a:rPr>
              <a:t>Bot Management: </a:t>
            </a:r>
            <a:r>
              <a:rPr lang="en-US" sz="1400" kern="0" spc="-80" dirty="0">
                <a:solidFill>
                  <a:schemeClr val="accent6"/>
                </a:solidFill>
              </a:rPr>
              <a:t>Provisioning, credential handling, lifecycle management</a:t>
            </a:r>
          </a:p>
          <a:p>
            <a:pPr marL="12700" marR="5080"/>
            <a:r>
              <a:rPr lang="en-US" sz="1400" kern="0" spc="-80" dirty="0">
                <a:solidFill>
                  <a:schemeClr val="accent2"/>
                </a:solidFill>
              </a:rPr>
              <a:t>➡️ Tech examples:</a:t>
            </a:r>
            <a:r>
              <a:rPr lang="en-US" sz="1400" kern="0" spc="-80" dirty="0">
                <a:solidFill>
                  <a:schemeClr val="accent6"/>
                </a:solidFill>
              </a:rPr>
              <a:t> UiPath, Blue Prism, Automation Anywhere, Power Automate</a:t>
            </a:r>
          </a:p>
          <a:p>
            <a:pPr marL="12700" marR="5080"/>
            <a:r>
              <a:rPr lang="en-US" sz="1400" kern="0" spc="-80" dirty="0">
                <a:solidFill>
                  <a:schemeClr val="accent2"/>
                </a:solidFill>
              </a:rPr>
              <a:t>D. Cognitive Intelligence Layer</a:t>
            </a:r>
          </a:p>
          <a:p>
            <a:pPr marL="12700" marR="5080"/>
            <a:r>
              <a:rPr lang="en-US" sz="1400" kern="0" spc="-80" dirty="0">
                <a:solidFill>
                  <a:schemeClr val="accent2"/>
                </a:solidFill>
              </a:rPr>
              <a:t>Infuses AI and ML into automation:</a:t>
            </a:r>
          </a:p>
          <a:p>
            <a:pPr marL="12700" marR="5080"/>
            <a:r>
              <a:rPr lang="en-US" sz="1400" kern="0" spc="-80" dirty="0">
                <a:solidFill>
                  <a:schemeClr val="accent2"/>
                </a:solidFill>
              </a:rPr>
              <a:t>Computer Vision: </a:t>
            </a:r>
            <a:r>
              <a:rPr lang="en-US" sz="1400" kern="0" spc="-80" dirty="0">
                <a:solidFill>
                  <a:schemeClr val="accent6"/>
                </a:solidFill>
              </a:rPr>
              <a:t>Screen understanding, document classification</a:t>
            </a:r>
          </a:p>
          <a:p>
            <a:pPr marL="12700" marR="5080"/>
            <a:r>
              <a:rPr lang="en-US" sz="1400" kern="0" spc="-80" dirty="0">
                <a:solidFill>
                  <a:schemeClr val="accent2"/>
                </a:solidFill>
              </a:rPr>
              <a:t>NLP &amp; NLU: </a:t>
            </a:r>
            <a:r>
              <a:rPr lang="en-US" sz="1400" kern="0" spc="-80" dirty="0">
                <a:solidFill>
                  <a:schemeClr val="accent6"/>
                </a:solidFill>
              </a:rPr>
              <a:t>Text understanding, chatbots, sentiment analysis</a:t>
            </a:r>
          </a:p>
          <a:p>
            <a:pPr marL="12700" marR="5080"/>
            <a:r>
              <a:rPr lang="en-US" sz="1400" kern="0" spc="-80" dirty="0">
                <a:solidFill>
                  <a:schemeClr val="accent2"/>
                </a:solidFill>
              </a:rPr>
              <a:t>Predictive Analytics: </a:t>
            </a:r>
            <a:r>
              <a:rPr lang="en-US" sz="1400" kern="0" spc="-80" dirty="0">
                <a:solidFill>
                  <a:schemeClr val="accent6"/>
                </a:solidFill>
              </a:rPr>
              <a:t>Demand forecasting, anomaly detection</a:t>
            </a:r>
          </a:p>
          <a:p>
            <a:pPr marL="12700" marR="5080"/>
            <a:r>
              <a:rPr lang="en-US" sz="1400" kern="0" spc="-80" dirty="0">
                <a:solidFill>
                  <a:schemeClr val="accent2"/>
                </a:solidFill>
              </a:rPr>
              <a:t>Machine Learning Models: </a:t>
            </a:r>
            <a:r>
              <a:rPr lang="en-US" sz="1400" kern="0" spc="-80" dirty="0">
                <a:solidFill>
                  <a:schemeClr val="accent6"/>
                </a:solidFill>
              </a:rPr>
              <a:t>Continuous learning and adaptation</a:t>
            </a:r>
          </a:p>
          <a:p>
            <a:pPr marL="12700" marR="5080"/>
            <a:r>
              <a:rPr lang="en-US" sz="1400" kern="0" spc="-80" dirty="0">
                <a:solidFill>
                  <a:schemeClr val="accent2"/>
                </a:solidFill>
              </a:rPr>
              <a:t>➡️ Tech examples: </a:t>
            </a:r>
            <a:r>
              <a:rPr lang="en-US" sz="1400" kern="0" spc="-80" dirty="0">
                <a:solidFill>
                  <a:schemeClr val="accent6"/>
                </a:solidFill>
              </a:rPr>
              <a:t>Azure Cognitive Services, OpenAI GPT models, TensorFlow, AWS AI Services</a:t>
            </a:r>
          </a:p>
          <a:p>
            <a:pPr marL="12700" marR="5080"/>
            <a:r>
              <a:rPr lang="en-US" sz="1400" kern="0" spc="-80" dirty="0">
                <a:solidFill>
                  <a:schemeClr val="accent2"/>
                </a:solidFill>
              </a:rPr>
              <a:t>E. Data &amp; Insights Layer</a:t>
            </a:r>
          </a:p>
          <a:p>
            <a:pPr marL="12700" marR="5080"/>
            <a:r>
              <a:rPr lang="en-US" sz="1400" kern="0" spc="-80" dirty="0">
                <a:solidFill>
                  <a:schemeClr val="accent2"/>
                </a:solidFill>
              </a:rPr>
              <a:t>Provides data foundation for decisions:</a:t>
            </a:r>
          </a:p>
          <a:p>
            <a:pPr marL="12700" marR="5080"/>
            <a:r>
              <a:rPr lang="en-US" sz="1400" kern="0" spc="-80" dirty="0">
                <a:solidFill>
                  <a:schemeClr val="accent2"/>
                </a:solidFill>
              </a:rPr>
              <a:t>Data Ingestion: </a:t>
            </a:r>
            <a:r>
              <a:rPr lang="en-US" sz="1400" kern="0" spc="-80" dirty="0">
                <a:solidFill>
                  <a:schemeClr val="accent6"/>
                </a:solidFill>
              </a:rPr>
              <a:t>APIs, data streams, RPA-based extraction</a:t>
            </a:r>
          </a:p>
          <a:p>
            <a:pPr marL="12700" marR="5080"/>
            <a:r>
              <a:rPr lang="en-US" sz="1400" kern="0" spc="-80" dirty="0">
                <a:solidFill>
                  <a:schemeClr val="accent2"/>
                </a:solidFill>
              </a:rPr>
              <a:t>Data Storage: </a:t>
            </a:r>
            <a:r>
              <a:rPr lang="en-US" sz="1400" kern="0" spc="-80" dirty="0">
                <a:solidFill>
                  <a:schemeClr val="accent6"/>
                </a:solidFill>
              </a:rPr>
              <a:t>Data lake, data warehouse</a:t>
            </a:r>
          </a:p>
          <a:p>
            <a:pPr marL="12700" marR="5080"/>
            <a:r>
              <a:rPr lang="en-US" sz="1400" kern="0" spc="-80" dirty="0">
                <a:solidFill>
                  <a:schemeClr val="accent2"/>
                </a:solidFill>
              </a:rPr>
              <a:t>Analytics &amp; BI:</a:t>
            </a:r>
            <a:r>
              <a:rPr lang="en-US" sz="1400" kern="0" spc="-80" dirty="0">
                <a:solidFill>
                  <a:schemeClr val="accent6"/>
                </a:solidFill>
              </a:rPr>
              <a:t> Reports, KPIs, dashboards</a:t>
            </a:r>
          </a:p>
          <a:p>
            <a:pPr marL="12700" marR="5080"/>
            <a:r>
              <a:rPr lang="en-US" sz="1400" kern="0" spc="-80" dirty="0">
                <a:solidFill>
                  <a:schemeClr val="accent2"/>
                </a:solidFill>
              </a:rPr>
              <a:t>Feedback Loops: </a:t>
            </a:r>
            <a:r>
              <a:rPr lang="en-US" sz="1400" kern="0" spc="-80" dirty="0">
                <a:solidFill>
                  <a:schemeClr val="accent6"/>
                </a:solidFill>
              </a:rPr>
              <a:t>For ML model retraining and performance tuning</a:t>
            </a:r>
          </a:p>
          <a:p>
            <a:pPr marL="12700" marR="5080"/>
            <a:r>
              <a:rPr lang="en-US" sz="1400" kern="0" spc="-80" dirty="0">
                <a:solidFill>
                  <a:schemeClr val="accent2"/>
                </a:solidFill>
              </a:rPr>
              <a:t>➡️ Tech examples: </a:t>
            </a:r>
            <a:r>
              <a:rPr lang="en-US" sz="1400" kern="0" spc="-80" dirty="0">
                <a:solidFill>
                  <a:schemeClr val="accent6"/>
                </a:solidFill>
              </a:rPr>
              <a:t>Azure Synapse, Snowflake, Power BI, Databricks, </a:t>
            </a:r>
            <a:r>
              <a:rPr lang="en-US" sz="1400" kern="0" spc="-80" dirty="0" err="1">
                <a:solidFill>
                  <a:schemeClr val="accent6"/>
                </a:solidFill>
              </a:rPr>
              <a:t>ElasticSearch</a:t>
            </a:r>
            <a:endParaRPr lang="en-US" sz="1400" kern="0" spc="-80" dirty="0">
              <a:solidFill>
                <a:schemeClr val="accent6"/>
              </a:solidFill>
            </a:endParaRPr>
          </a:p>
        </p:txBody>
      </p:sp>
    </p:spTree>
    <p:extLst>
      <p:ext uri="{BB962C8B-B14F-4D97-AF65-F5344CB8AC3E}">
        <p14:creationId xmlns:p14="http://schemas.microsoft.com/office/powerpoint/2010/main" val="1732150150"/>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92BA4-02B1-3229-1469-B319E73DC09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B6917EF-A181-9257-C208-E7B094271E26}"/>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2A65829-4A24-23DB-1667-C9F2B16F7F3E}"/>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255AC78-6DBB-1DC4-D5C7-2ECD0E51D548}"/>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2EE5A36-BDEC-3C4E-E5D1-513E0B35CF17}"/>
              </a:ext>
            </a:extLst>
          </p:cNvPr>
          <p:cNvSpPr txBox="1">
            <a:spLocks/>
          </p:cNvSpPr>
          <p:nvPr/>
        </p:nvSpPr>
        <p:spPr>
          <a:xfrm>
            <a:off x="76200" y="873204"/>
            <a:ext cx="8624937" cy="51244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Intelligent Automation/Hyper-Automation Reference Architecture</a:t>
            </a:r>
          </a:p>
          <a:p>
            <a:pPr marL="12700" marR="5080"/>
            <a:r>
              <a:rPr lang="en-US" sz="1500" kern="0" spc="-80" dirty="0">
                <a:solidFill>
                  <a:schemeClr val="accent2"/>
                </a:solidFill>
              </a:rPr>
              <a:t>F. Governance, Security &amp; Compliance Layer</a:t>
            </a:r>
          </a:p>
          <a:p>
            <a:pPr marL="12700" marR="5080"/>
            <a:r>
              <a:rPr lang="en-US" sz="1500" kern="0" spc="-80" dirty="0">
                <a:solidFill>
                  <a:schemeClr val="accent2"/>
                </a:solidFill>
              </a:rPr>
              <a:t>Cross-cutting layer ensuring safe, compliant operations:</a:t>
            </a:r>
          </a:p>
          <a:p>
            <a:pPr marL="12700" marR="5080"/>
            <a:r>
              <a:rPr lang="en-US" sz="1500" kern="0" spc="-80" dirty="0">
                <a:solidFill>
                  <a:schemeClr val="accent2"/>
                </a:solidFill>
              </a:rPr>
              <a:t>Bot Governance: </a:t>
            </a:r>
            <a:r>
              <a:rPr lang="en-US" sz="1500" kern="0" spc="-80" dirty="0">
                <a:solidFill>
                  <a:schemeClr val="accent6"/>
                </a:solidFill>
              </a:rPr>
              <a:t>Version control, audit trails, access management</a:t>
            </a:r>
          </a:p>
          <a:p>
            <a:pPr marL="12700" marR="5080"/>
            <a:r>
              <a:rPr lang="en-US" sz="1500" kern="0" spc="-80" dirty="0">
                <a:solidFill>
                  <a:schemeClr val="accent2"/>
                </a:solidFill>
              </a:rPr>
              <a:t>Security: </a:t>
            </a:r>
            <a:r>
              <a:rPr lang="en-US" sz="1500" kern="0" spc="-80" dirty="0">
                <a:solidFill>
                  <a:schemeClr val="accent6"/>
                </a:solidFill>
              </a:rPr>
              <a:t>Role-based access, secrets management</a:t>
            </a:r>
          </a:p>
          <a:p>
            <a:pPr marL="12700" marR="5080"/>
            <a:r>
              <a:rPr lang="en-US" sz="1500" kern="0" spc="-80" dirty="0">
                <a:solidFill>
                  <a:schemeClr val="accent2"/>
                </a:solidFill>
              </a:rPr>
              <a:t>Compliance: </a:t>
            </a:r>
            <a:r>
              <a:rPr lang="en-US" sz="1500" kern="0" spc="-80" dirty="0">
                <a:solidFill>
                  <a:schemeClr val="accent6"/>
                </a:solidFill>
              </a:rPr>
              <a:t>GDPR, SOX, HIPAA, internal policies</a:t>
            </a:r>
          </a:p>
          <a:p>
            <a:pPr marL="12700" marR="5080"/>
            <a:r>
              <a:rPr lang="en-US" sz="1500" kern="0" spc="-80" dirty="0">
                <a:solidFill>
                  <a:schemeClr val="accent2"/>
                </a:solidFill>
              </a:rPr>
              <a:t>Monitoring &amp; Logging: </a:t>
            </a:r>
            <a:r>
              <a:rPr lang="en-US" sz="1500" kern="0" spc="-80" dirty="0">
                <a:solidFill>
                  <a:schemeClr val="accent6"/>
                </a:solidFill>
              </a:rPr>
              <a:t>End-to-end observability for process health</a:t>
            </a:r>
          </a:p>
          <a:p>
            <a:pPr marL="12700" marR="5080"/>
            <a:r>
              <a:rPr lang="en-US" sz="1500" kern="0" spc="-80" dirty="0">
                <a:solidFill>
                  <a:schemeClr val="accent2"/>
                </a:solidFill>
              </a:rPr>
              <a:t>➡️ Tech examples: </a:t>
            </a:r>
            <a:r>
              <a:rPr lang="en-US" sz="1500" kern="0" spc="-80" dirty="0">
                <a:solidFill>
                  <a:schemeClr val="accent6"/>
                </a:solidFill>
              </a:rPr>
              <a:t>Azure Key Vault, Splunk, ELK, ServiceNow GRC, CyberArk</a:t>
            </a:r>
          </a:p>
          <a:p>
            <a:pPr marL="12700" marR="5080"/>
            <a:r>
              <a:rPr lang="en-US" sz="1500" kern="0" spc="-80" dirty="0">
                <a:solidFill>
                  <a:schemeClr val="accent2"/>
                </a:solidFill>
              </a:rPr>
              <a:t>G. Infrastructure &amp; Platform Layer</a:t>
            </a:r>
          </a:p>
          <a:p>
            <a:pPr marL="12700" marR="5080"/>
            <a:r>
              <a:rPr lang="en-US" sz="1500" kern="0" spc="-80" dirty="0">
                <a:solidFill>
                  <a:schemeClr val="accent2"/>
                </a:solidFill>
              </a:rPr>
              <a:t>Scalable, cloud-native foundation:</a:t>
            </a:r>
          </a:p>
          <a:p>
            <a:pPr marL="12700" marR="5080"/>
            <a:r>
              <a:rPr lang="en-US" sz="1500" kern="0" spc="-80" dirty="0">
                <a:solidFill>
                  <a:schemeClr val="accent2"/>
                </a:solidFill>
              </a:rPr>
              <a:t>Deployment Models: </a:t>
            </a:r>
            <a:r>
              <a:rPr lang="en-US" sz="1500" kern="0" spc="-80" dirty="0">
                <a:solidFill>
                  <a:schemeClr val="accent6"/>
                </a:solidFill>
              </a:rPr>
              <a:t>On-premises / Cloud / Hybrid / Edge</a:t>
            </a:r>
          </a:p>
          <a:p>
            <a:pPr marL="12700" marR="5080"/>
            <a:r>
              <a:rPr lang="en-US" sz="1500" kern="0" spc="-80" dirty="0">
                <a:solidFill>
                  <a:schemeClr val="accent2"/>
                </a:solidFill>
              </a:rPr>
              <a:t>Container Orchestration: </a:t>
            </a:r>
            <a:r>
              <a:rPr lang="en-US" sz="1500" kern="0" spc="-80" dirty="0">
                <a:solidFill>
                  <a:schemeClr val="accent6"/>
                </a:solidFill>
              </a:rPr>
              <a:t>Kubernetes-based (AKS, EKS, GKE)</a:t>
            </a:r>
          </a:p>
          <a:p>
            <a:pPr marL="12700" marR="5080"/>
            <a:r>
              <a:rPr lang="en-US" sz="1500" kern="0" spc="-80" dirty="0">
                <a:solidFill>
                  <a:schemeClr val="accent2"/>
                </a:solidFill>
              </a:rPr>
              <a:t>CI/CD for Bots: </a:t>
            </a:r>
            <a:r>
              <a:rPr lang="en-US" sz="1500" kern="0" spc="-80" dirty="0">
                <a:solidFill>
                  <a:schemeClr val="accent6"/>
                </a:solidFill>
              </a:rPr>
              <a:t>Automated build and deployment pipelines</a:t>
            </a:r>
          </a:p>
          <a:p>
            <a:pPr marL="12700" marR="5080"/>
            <a:r>
              <a:rPr lang="en-US" sz="1500" kern="0" spc="-80" dirty="0">
                <a:solidFill>
                  <a:schemeClr val="accent2"/>
                </a:solidFill>
              </a:rPr>
              <a:t>Autoscaling: </a:t>
            </a:r>
            <a:r>
              <a:rPr lang="en-US" sz="1500" kern="0" spc="-80" dirty="0">
                <a:solidFill>
                  <a:schemeClr val="accent6"/>
                </a:solidFill>
              </a:rPr>
              <a:t>KEDA, Event-driven scaling</a:t>
            </a:r>
          </a:p>
          <a:p>
            <a:pPr marL="12700" marR="5080"/>
            <a:r>
              <a:rPr lang="en-US" sz="1500" kern="0" spc="-80" dirty="0">
                <a:solidFill>
                  <a:schemeClr val="accent2"/>
                </a:solidFill>
              </a:rPr>
              <a:t>Disaster Recovery &amp; HA: </a:t>
            </a:r>
            <a:r>
              <a:rPr lang="en-US" sz="1500" kern="0" spc="-80" dirty="0">
                <a:solidFill>
                  <a:schemeClr val="accent6"/>
                </a:solidFill>
              </a:rPr>
              <a:t>Geo-redundancy and failover</a:t>
            </a:r>
          </a:p>
          <a:p>
            <a:pPr marL="12700" marR="5080"/>
            <a:r>
              <a:rPr lang="en-US" sz="1500" kern="0" spc="-80" dirty="0">
                <a:solidFill>
                  <a:schemeClr val="accent2"/>
                </a:solidFill>
              </a:rPr>
              <a:t>➡️ Tech examples: </a:t>
            </a:r>
            <a:r>
              <a:rPr lang="en-US" sz="1500" kern="0" spc="-80" dirty="0">
                <a:solidFill>
                  <a:schemeClr val="accent6"/>
                </a:solidFill>
              </a:rPr>
              <a:t>Azure Kubernetes Service (AKS), Docker, GitHub Actions, Terraform</a:t>
            </a:r>
          </a:p>
          <a:p>
            <a:pPr marL="12700" marR="5080"/>
            <a:r>
              <a:rPr lang="en-US" sz="1500" kern="0" spc="-80" dirty="0">
                <a:solidFill>
                  <a:schemeClr val="accent2"/>
                </a:solidFill>
              </a:rPr>
              <a:t>⚙️ 3. Integration Architecture</a:t>
            </a:r>
          </a:p>
          <a:p>
            <a:pPr marL="12700" marR="5080"/>
            <a:r>
              <a:rPr lang="en-US" sz="1500" kern="0" spc="-80" dirty="0">
                <a:solidFill>
                  <a:schemeClr val="accent2"/>
                </a:solidFill>
              </a:rPr>
              <a:t>APIs / Webhooks: </a:t>
            </a:r>
            <a:r>
              <a:rPr lang="en-US" sz="1500" kern="0" spc="-80" dirty="0">
                <a:solidFill>
                  <a:schemeClr val="accent6"/>
                </a:solidFill>
              </a:rPr>
              <a:t>To connect with ERP, CRM, HRMS, etc.</a:t>
            </a:r>
          </a:p>
          <a:p>
            <a:pPr marL="12700" marR="5080"/>
            <a:r>
              <a:rPr lang="en-US" sz="1500" kern="0" spc="-80" dirty="0">
                <a:solidFill>
                  <a:schemeClr val="accent2"/>
                </a:solidFill>
              </a:rPr>
              <a:t>Event Bus / Message Queue: </a:t>
            </a:r>
            <a:r>
              <a:rPr lang="en-US" sz="1500" kern="0" spc="-80" dirty="0">
                <a:solidFill>
                  <a:schemeClr val="accent6"/>
                </a:solidFill>
              </a:rPr>
              <a:t>Kafka, Azure Service Bus, RabbitMQ</a:t>
            </a:r>
          </a:p>
          <a:p>
            <a:pPr marL="12700" marR="5080"/>
            <a:r>
              <a:rPr lang="en-US" sz="1500" kern="0" spc="-80" dirty="0">
                <a:solidFill>
                  <a:schemeClr val="accent2"/>
                </a:solidFill>
              </a:rPr>
              <a:t>Data Integration Layer:</a:t>
            </a:r>
            <a:r>
              <a:rPr lang="en-US" sz="1500" kern="0" spc="-80" dirty="0">
                <a:solidFill>
                  <a:schemeClr val="accent6"/>
                </a:solidFill>
              </a:rPr>
              <a:t> ETL/ELT pipelines for analytics</a:t>
            </a:r>
          </a:p>
        </p:txBody>
      </p:sp>
    </p:spTree>
    <p:extLst>
      <p:ext uri="{BB962C8B-B14F-4D97-AF65-F5344CB8AC3E}">
        <p14:creationId xmlns:p14="http://schemas.microsoft.com/office/powerpoint/2010/main" val="237563588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CAD70-AF0D-4A84-3E0F-D844BE38967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2CCCDF4-7BB9-79B4-0920-9A32E31428F6}"/>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4094DDD-E36F-C1E1-4782-857602E446BF}"/>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87F4189-D10F-A83E-D637-BC5582DF4F03}"/>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A2BBFB7-B6C8-C1FF-1401-214A4C8453F0}"/>
              </a:ext>
            </a:extLst>
          </p:cNvPr>
          <p:cNvSpPr txBox="1">
            <a:spLocks/>
          </p:cNvSpPr>
          <p:nvPr/>
        </p:nvSpPr>
        <p:spPr>
          <a:xfrm>
            <a:off x="76200" y="873204"/>
            <a:ext cx="8624937" cy="11695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Intelligent Automation/Hyper-Automation Reference Architecture</a:t>
            </a:r>
          </a:p>
          <a:p>
            <a:pPr marL="12700" marR="5080"/>
            <a:r>
              <a:rPr lang="en-US" sz="1400" kern="0" spc="-80" dirty="0">
                <a:solidFill>
                  <a:schemeClr val="accent2"/>
                </a:solidFill>
              </a:rPr>
              <a:t>🧠 4. Advanced Capabilities</a:t>
            </a:r>
          </a:p>
          <a:p>
            <a:pPr marL="12700" marR="5080"/>
            <a:endParaRPr lang="en-US" sz="1400" kern="0" spc="-80" dirty="0">
              <a:solidFill>
                <a:schemeClr val="accent2"/>
              </a:solidFill>
            </a:endParaRPr>
          </a:p>
        </p:txBody>
      </p:sp>
      <p:pic>
        <p:nvPicPr>
          <p:cNvPr id="9" name="Picture 8" descr="A screenshot of a computer screen&#10;&#10;AI-generated content may be incorrect.">
            <a:extLst>
              <a:ext uri="{FF2B5EF4-FFF2-40B4-BE49-F238E27FC236}">
                <a16:creationId xmlns:a16="http://schemas.microsoft.com/office/drawing/2014/main" id="{BA21D5CB-E1A1-077C-15B6-B1742D2A52A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 y="1812865"/>
            <a:ext cx="8991600" cy="4130735"/>
          </a:xfrm>
          <a:prstGeom prst="rect">
            <a:avLst/>
          </a:prstGeom>
        </p:spPr>
      </p:pic>
    </p:spTree>
    <p:extLst>
      <p:ext uri="{BB962C8B-B14F-4D97-AF65-F5344CB8AC3E}">
        <p14:creationId xmlns:p14="http://schemas.microsoft.com/office/powerpoint/2010/main" val="420516238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F0293-8982-4EE4-7A04-42198960D11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2A815CE-A6D9-F1C3-3792-C69ABB8C663A}"/>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49EA1A1-FE3B-7286-F7C7-52090EF41746}"/>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0E629AA-BA13-A14C-C0FB-19A8DAB7E93D}"/>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915A5BD-69E8-3106-3238-1769A912AADE}"/>
              </a:ext>
            </a:extLst>
          </p:cNvPr>
          <p:cNvSpPr txBox="1">
            <a:spLocks/>
          </p:cNvSpPr>
          <p:nvPr/>
        </p:nvSpPr>
        <p:spPr>
          <a:xfrm>
            <a:off x="76200" y="873204"/>
            <a:ext cx="8624937" cy="390876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Intelligent Automation/Hyper-Automation Reference Architecture</a:t>
            </a:r>
          </a:p>
          <a:p>
            <a:pPr marL="12700" marR="5080"/>
            <a:r>
              <a:rPr lang="en-US" sz="1400" kern="0" spc="-80" dirty="0">
                <a:solidFill>
                  <a:schemeClr val="accent2"/>
                </a:solidFill>
              </a:rPr>
              <a:t>🪜 5. Maturity Stages of IA Architecture</a:t>
            </a:r>
          </a:p>
          <a:p>
            <a:pPr marL="12700" marR="5080"/>
            <a:r>
              <a:rPr lang="en-US" sz="1400" kern="0" spc="-80" dirty="0">
                <a:solidFill>
                  <a:schemeClr val="accent2"/>
                </a:solidFill>
              </a:rPr>
              <a:t>Stage	                                       Description	                             Focus</a:t>
            </a:r>
          </a:p>
          <a:p>
            <a:pPr marL="12700" marR="5080"/>
            <a:r>
              <a:rPr lang="en-US" sz="1400" kern="0" spc="-80" dirty="0">
                <a:solidFill>
                  <a:schemeClr val="accent6"/>
                </a:solidFill>
              </a:rPr>
              <a:t>1️⃣ Basic Automation                      Scripted bots	                             Task automation</a:t>
            </a:r>
          </a:p>
          <a:p>
            <a:pPr marL="12700" marR="5080"/>
            <a:r>
              <a:rPr lang="en-US" sz="1400" kern="0" spc="-80" dirty="0">
                <a:solidFill>
                  <a:schemeClr val="accent6"/>
                </a:solidFill>
              </a:rPr>
              <a:t>2️⃣ Process Automation	Workflow orchestration	          End-to-end automation</a:t>
            </a:r>
          </a:p>
          <a:p>
            <a:pPr marL="12700" marR="5080"/>
            <a:r>
              <a:rPr lang="en-US" sz="1400" kern="0" spc="-80" dirty="0">
                <a:solidFill>
                  <a:schemeClr val="accent6"/>
                </a:solidFill>
              </a:rPr>
              <a:t>3️⃣ Cognitive Automation	AI + RPA	                                                 Intelligent decisioning</a:t>
            </a:r>
          </a:p>
          <a:p>
            <a:pPr marL="12700" marR="5080"/>
            <a:r>
              <a:rPr lang="en-US" sz="1400" kern="0" spc="-80" dirty="0">
                <a:solidFill>
                  <a:schemeClr val="accent6"/>
                </a:solidFill>
              </a:rPr>
              <a:t>4️⃣ Autonomous Enterprise	Adaptive, self-learning automation        AI-driven orchestration</a:t>
            </a:r>
          </a:p>
          <a:p>
            <a:pPr marL="12700" marR="5080"/>
            <a:endParaRPr lang="en-US" sz="1400" kern="0" spc="-80" dirty="0">
              <a:solidFill>
                <a:schemeClr val="accent6"/>
              </a:solidFill>
            </a:endParaRPr>
          </a:p>
          <a:p>
            <a:pPr marL="12700" marR="5080"/>
            <a:r>
              <a:rPr lang="en-US" sz="1400" kern="0" spc="-80" dirty="0">
                <a:solidFill>
                  <a:schemeClr val="accent2"/>
                </a:solidFill>
              </a:rPr>
              <a:t>🧩 6. Example Technology Stack (Azure-centric)</a:t>
            </a:r>
          </a:p>
          <a:p>
            <a:pPr marL="12700" marR="5080"/>
            <a:r>
              <a:rPr lang="en-US" sz="1400" kern="0" spc="-80" dirty="0">
                <a:solidFill>
                  <a:schemeClr val="accent2"/>
                </a:solidFill>
              </a:rPr>
              <a:t>Layer Example                                 Technologies</a:t>
            </a:r>
          </a:p>
          <a:p>
            <a:pPr marL="12700" marR="5080"/>
            <a:r>
              <a:rPr lang="en-US" sz="1400" kern="0" spc="-80" dirty="0">
                <a:solidFill>
                  <a:schemeClr val="accent6"/>
                </a:solidFill>
              </a:rPr>
              <a:t>UI / HITL	                                       PowerApps, Power Virtual Agents</a:t>
            </a:r>
          </a:p>
          <a:p>
            <a:pPr marL="12700" marR="5080"/>
            <a:r>
              <a:rPr lang="en-US" sz="1400" kern="0" spc="-80" dirty="0">
                <a:solidFill>
                  <a:schemeClr val="accent6"/>
                </a:solidFill>
              </a:rPr>
              <a:t>Orchestration	                    Azure Logic Apps, Power Automate</a:t>
            </a:r>
          </a:p>
          <a:p>
            <a:pPr marL="12700" marR="5080"/>
            <a:r>
              <a:rPr lang="en-US" sz="1400" kern="0" spc="-80" dirty="0">
                <a:solidFill>
                  <a:schemeClr val="accent6"/>
                </a:solidFill>
              </a:rPr>
              <a:t>RPA	                                       UiPath, Power Automate Desktop</a:t>
            </a:r>
          </a:p>
          <a:p>
            <a:pPr marL="12700" marR="5080"/>
            <a:r>
              <a:rPr lang="en-US" sz="1400" kern="0" spc="-80" dirty="0">
                <a:solidFill>
                  <a:schemeClr val="accent6"/>
                </a:solidFill>
              </a:rPr>
              <a:t>Cognitive AI	                    Azure OpenAI, Cognitive Services </a:t>
            </a:r>
          </a:p>
          <a:p>
            <a:pPr marL="12700" marR="5080"/>
            <a:r>
              <a:rPr lang="en-US" sz="2400" kern="0" spc="-80" dirty="0">
                <a:solidFill>
                  <a:schemeClr val="accent2"/>
                </a:solidFill>
              </a:rPr>
              <a:t>  </a:t>
            </a:r>
          </a:p>
        </p:txBody>
      </p:sp>
    </p:spTree>
    <p:extLst>
      <p:ext uri="{BB962C8B-B14F-4D97-AF65-F5344CB8AC3E}">
        <p14:creationId xmlns:p14="http://schemas.microsoft.com/office/powerpoint/2010/main" val="388805672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7297C-2163-831E-7DB3-944B191C4E5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A9C6CA8-6D2D-8E0C-C489-AE30A4C4BA9B}"/>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992D1AA-C31D-D472-24D2-B644E28A22C5}"/>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8C8CA34-5230-8112-61AC-6A304C3AD965}"/>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18DF39F-B57E-C1F6-97BC-73FB0B8C2635}"/>
              </a:ext>
            </a:extLst>
          </p:cNvPr>
          <p:cNvSpPr txBox="1">
            <a:spLocks/>
          </p:cNvSpPr>
          <p:nvPr/>
        </p:nvSpPr>
        <p:spPr>
          <a:xfrm>
            <a:off x="76200" y="873204"/>
            <a:ext cx="8624937" cy="36933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Intelligent Automation/Hyper-Automation Reference Architecture</a:t>
            </a:r>
          </a:p>
          <a:p>
            <a:pPr marL="12700" marR="5080"/>
            <a:r>
              <a:rPr lang="en-US" sz="1800" kern="0" spc="-80" dirty="0">
                <a:solidFill>
                  <a:schemeClr val="accent2"/>
                </a:solidFill>
              </a:rPr>
              <a:t>For Further Exploration – </a:t>
            </a:r>
          </a:p>
          <a:p>
            <a:pPr marL="12700" marR="5080"/>
            <a:r>
              <a:rPr lang="en-US" sz="1800" dirty="0">
                <a:hlinkClick r:id="rId7"/>
              </a:rPr>
              <a:t>What is Intelligent Automation (IA)? A Guide</a:t>
            </a:r>
            <a:endParaRPr lang="en-US" sz="1800" dirty="0"/>
          </a:p>
          <a:p>
            <a:pPr marL="12700" marR="5080"/>
            <a:r>
              <a:rPr lang="en-US" sz="1800" dirty="0">
                <a:hlinkClick r:id="rId8"/>
              </a:rPr>
              <a:t>What is Intelligent Automation? | IBM</a:t>
            </a:r>
            <a:endParaRPr lang="en-US" sz="1800" dirty="0"/>
          </a:p>
          <a:p>
            <a:pPr marL="12700" marR="5080"/>
            <a:r>
              <a:rPr lang="en-IN" sz="1800" dirty="0">
                <a:hlinkClick r:id="rId9"/>
              </a:rPr>
              <a:t>An Introduction to Intelligent Automation | UiPath</a:t>
            </a:r>
            <a:endParaRPr lang="en-IN" sz="1800" dirty="0"/>
          </a:p>
          <a:p>
            <a:pPr marL="12700" marR="5080"/>
            <a:r>
              <a:rPr lang="en-US" sz="1800" dirty="0">
                <a:hlinkClick r:id="rId10"/>
              </a:rPr>
              <a:t>Building an Intelligent Automation Reference Architecture | ISG</a:t>
            </a:r>
            <a:endParaRPr lang="en-US" sz="1800" dirty="0"/>
          </a:p>
          <a:p>
            <a:pPr marL="12700" marR="5080"/>
            <a:r>
              <a:rPr lang="fr-FR" sz="1800" dirty="0">
                <a:hlinkClick r:id="rId11"/>
              </a:rPr>
              <a:t>Intelligent Automation: A Complete Guide | </a:t>
            </a:r>
            <a:r>
              <a:rPr lang="fr-FR" sz="1800" dirty="0" err="1">
                <a:hlinkClick r:id="rId11"/>
              </a:rPr>
              <a:t>Konverge</a:t>
            </a:r>
            <a:endParaRPr lang="en-IN" sz="1800" dirty="0">
              <a:hlinkClick r:id="rId12"/>
            </a:endParaRPr>
          </a:p>
          <a:p>
            <a:pPr marL="12700" marR="5080"/>
            <a:r>
              <a:rPr lang="en-US" sz="1800" dirty="0">
                <a:hlinkClick r:id="rId13"/>
              </a:rPr>
              <a:t>6 reference architecture designs for automation projects</a:t>
            </a:r>
            <a:endParaRPr lang="en-IN" sz="1800" dirty="0"/>
          </a:p>
          <a:p>
            <a:pPr marL="12700" marR="5080"/>
            <a:r>
              <a:rPr lang="en-US" sz="1800" dirty="0">
                <a:hlinkClick r:id="rId14"/>
              </a:rPr>
              <a:t>Power Automate reference architectures and solution ideas</a:t>
            </a:r>
            <a:endParaRPr lang="en-US" sz="1800" dirty="0"/>
          </a:p>
          <a:p>
            <a:pPr marL="12700" marR="5080"/>
            <a:r>
              <a:rPr lang="en-IN" sz="1800" dirty="0">
                <a:hlinkClick r:id="rId12"/>
              </a:rPr>
              <a:t>Intelligent Automation Book</a:t>
            </a:r>
            <a:endParaRPr lang="en-IN" sz="1800" dirty="0"/>
          </a:p>
          <a:p>
            <a:pPr marL="12700" marR="5080"/>
            <a:r>
              <a:rPr lang="en-IN" sz="1800" dirty="0">
                <a:hlinkClick r:id="rId15"/>
              </a:rPr>
              <a:t>Intelligent Automation with IBM Cloud Pak for Business Automation</a:t>
            </a:r>
            <a:endParaRPr lang="en-IN" sz="1800" dirty="0"/>
          </a:p>
          <a:p>
            <a:pPr marL="12700" marR="5080"/>
            <a:endParaRPr lang="en-US" sz="1200" kern="0" spc="-80" dirty="0">
              <a:solidFill>
                <a:schemeClr val="accent2"/>
              </a:solidFill>
            </a:endParaRPr>
          </a:p>
        </p:txBody>
      </p:sp>
    </p:spTree>
    <p:extLst>
      <p:ext uri="{BB962C8B-B14F-4D97-AF65-F5344CB8AC3E}">
        <p14:creationId xmlns:p14="http://schemas.microsoft.com/office/powerpoint/2010/main" val="2478493101"/>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2502D-62FC-1FEA-CB38-52C5A3E1A9B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3D3CAC6-8D49-A789-190F-6E3E70DFB713}"/>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1BCE8AD-6BCE-D767-F48A-FED147E08534}"/>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E54D32A-965F-1838-6ECF-0061F596C9D7}"/>
              </a:ext>
            </a:extLst>
          </p:cNvPr>
          <p:cNvGraphicFramePr/>
          <p:nvPr/>
        </p:nvGraphicFramePr>
        <p:xfrm>
          <a:off x="0" y="-96798"/>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FCBEE8A-7736-A2BC-F781-2301C76FCA1A}"/>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Supply Chain Reference Architecture</a:t>
            </a:r>
          </a:p>
          <a:p>
            <a:pPr marL="12700" marR="5080"/>
            <a:r>
              <a:rPr lang="en-US" sz="2400" kern="0" spc="-80" dirty="0">
                <a:solidFill>
                  <a:schemeClr val="accent2"/>
                </a:solidFill>
              </a:rPr>
              <a:t>  </a:t>
            </a:r>
          </a:p>
        </p:txBody>
      </p:sp>
      <p:pic>
        <p:nvPicPr>
          <p:cNvPr id="3074" name="Picture 2" descr="Reference architecture diagram showing how AWS services are used to depict a track and trace use case for a generic retailer.">
            <a:extLst>
              <a:ext uri="{FF2B5EF4-FFF2-40B4-BE49-F238E27FC236}">
                <a16:creationId xmlns:a16="http://schemas.microsoft.com/office/drawing/2014/main" id="{1AEFCCAD-5E6E-2011-96F0-FD490810C61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219200"/>
            <a:ext cx="9144000" cy="3724126"/>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2">
            <a:extLst>
              <a:ext uri="{FF2B5EF4-FFF2-40B4-BE49-F238E27FC236}">
                <a16:creationId xmlns:a16="http://schemas.microsoft.com/office/drawing/2014/main" id="{2EE66EF4-C9BB-BD9D-B96F-A5413B79E4C6}"/>
              </a:ext>
            </a:extLst>
          </p:cNvPr>
          <p:cNvSpPr txBox="1">
            <a:spLocks/>
          </p:cNvSpPr>
          <p:nvPr/>
        </p:nvSpPr>
        <p:spPr>
          <a:xfrm>
            <a:off x="137369" y="4943326"/>
            <a:ext cx="8624937" cy="10002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p>
          <a:p>
            <a:pPr marL="12700" marR="5080"/>
            <a:r>
              <a:rPr lang="en-US" sz="1000" dirty="0">
                <a:hlinkClick r:id="rId8"/>
              </a:rPr>
              <a:t>Enriching the supply chain business application | IBM Cloud Docs</a:t>
            </a:r>
            <a:endParaRPr lang="en-US" sz="1000" dirty="0"/>
          </a:p>
          <a:p>
            <a:pPr marL="12700" marR="5080"/>
            <a:r>
              <a:rPr lang="en-US" sz="1000" dirty="0">
                <a:hlinkClick r:id="rId9"/>
              </a:rPr>
              <a:t>Overview of Microsoft for Manufacturing reference architectures</a:t>
            </a:r>
            <a:endParaRPr lang="en-US" sz="1000" dirty="0"/>
          </a:p>
          <a:p>
            <a:pPr marL="12700" marR="5080"/>
            <a:r>
              <a:rPr lang="en-US" sz="1000" dirty="0">
                <a:hlinkClick r:id="rId10"/>
              </a:rPr>
              <a:t>Manufacturing Digital Supply Chain Reference Architecture | Databricks</a:t>
            </a:r>
            <a:endParaRPr lang="en-US" sz="1000" dirty="0"/>
          </a:p>
          <a:p>
            <a:pPr marL="12700" marR="5080"/>
            <a:r>
              <a:rPr lang="en-US" sz="1000" dirty="0">
                <a:hlinkClick r:id="rId11"/>
              </a:rPr>
              <a:t>What is the SCOR model? Supply chain management explained </a:t>
            </a:r>
            <a:endParaRPr lang="en-US" sz="1000" dirty="0"/>
          </a:p>
          <a:p>
            <a:pPr marL="12700" marR="5080"/>
            <a:r>
              <a:rPr lang="en-IN" sz="1000" dirty="0" err="1">
                <a:hlinkClick r:id="rId12"/>
              </a:rPr>
              <a:t>BlockChain</a:t>
            </a:r>
            <a:r>
              <a:rPr lang="en-IN" sz="1000" dirty="0">
                <a:hlinkClick r:id="rId12"/>
              </a:rPr>
              <a:t> Based Supply Chain Reference Architecture</a:t>
            </a:r>
            <a:endParaRPr lang="en-US" sz="1000" kern="0" spc="-80" dirty="0">
              <a:solidFill>
                <a:schemeClr val="accent2"/>
              </a:solidFill>
            </a:endParaRPr>
          </a:p>
        </p:txBody>
      </p:sp>
    </p:spTree>
    <p:extLst>
      <p:ext uri="{BB962C8B-B14F-4D97-AF65-F5344CB8AC3E}">
        <p14:creationId xmlns:p14="http://schemas.microsoft.com/office/powerpoint/2010/main" val="1116790689"/>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2BFC2-8C76-11E4-1B9A-AFA21DA2CFF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66B62F8-7FFE-B7CE-F1A3-25D4BD72D537}"/>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864D517-7934-6744-8446-15868DF30EFF}"/>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413CE39-7935-3222-3843-DE415C9A0F83}"/>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5718AFB-D982-2388-9230-9B9A3318A98E}"/>
              </a:ext>
            </a:extLst>
          </p:cNvPr>
          <p:cNvSpPr txBox="1">
            <a:spLocks/>
          </p:cNvSpPr>
          <p:nvPr/>
        </p:nvSpPr>
        <p:spPr>
          <a:xfrm>
            <a:off x="228600" y="873204"/>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CAD/CAM Reference Architecture</a:t>
            </a:r>
          </a:p>
          <a:p>
            <a:pPr marL="12700" marR="5080"/>
            <a:r>
              <a:rPr lang="en-US" sz="2400" kern="0" spc="-80" dirty="0">
                <a:solidFill>
                  <a:schemeClr val="accent2"/>
                </a:solidFill>
              </a:rPr>
              <a:t>  </a:t>
            </a:r>
          </a:p>
        </p:txBody>
      </p:sp>
      <p:pic>
        <p:nvPicPr>
          <p:cNvPr id="1026" name="Picture 2" descr="Components of CAD/CAM systems for designing the models and collections,">
            <a:extLst>
              <a:ext uri="{FF2B5EF4-FFF2-40B4-BE49-F238E27FC236}">
                <a16:creationId xmlns:a16="http://schemas.microsoft.com/office/drawing/2014/main" id="{D33B0602-C009-7E48-1299-AF87F0BEB2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 y="1295400"/>
            <a:ext cx="9067800" cy="464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939133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FBD23-0FE2-0842-B33B-9291F581B2C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72E0D46-AE6B-4B03-F424-FB2D4C7F10AD}"/>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0AF6B03-43B9-BAB7-A63C-0D5328AF280D}"/>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50C902C-4885-0A2C-B1DC-14CA7B87898F}"/>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280CAEB-09A6-A8FD-534E-EF46F2AB1FC6}"/>
              </a:ext>
            </a:extLst>
          </p:cNvPr>
          <p:cNvSpPr txBox="1">
            <a:spLocks/>
          </p:cNvSpPr>
          <p:nvPr/>
        </p:nvSpPr>
        <p:spPr>
          <a:xfrm>
            <a:off x="228600" y="987445"/>
            <a:ext cx="8624937" cy="499367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CAD/CAM Reference Architecture</a:t>
            </a:r>
          </a:p>
          <a:p>
            <a:pPr marL="12700" marR="5080"/>
            <a:r>
              <a:rPr lang="en-US" sz="1450" kern="0" spc="-80" dirty="0">
                <a:solidFill>
                  <a:schemeClr val="accent6"/>
                </a:solidFill>
              </a:rPr>
              <a:t>The architecture is built on five core layers: </a:t>
            </a:r>
          </a:p>
          <a:p>
            <a:pPr marL="12700" marR="5080"/>
            <a:r>
              <a:rPr lang="en-US" sz="1450" kern="0" spc="-80" dirty="0">
                <a:solidFill>
                  <a:schemeClr val="accent2"/>
                </a:solidFill>
              </a:rPr>
              <a:t>1) User Interface (UI): </a:t>
            </a:r>
            <a:r>
              <a:rPr lang="en-US" sz="1450" kern="0" spc="-80" dirty="0">
                <a:solidFill>
                  <a:schemeClr val="accent6"/>
                </a:solidFill>
              </a:rPr>
              <a:t>Manages user interactions for creating, modifying, and visualizing designs.</a:t>
            </a:r>
          </a:p>
          <a:p>
            <a:pPr marL="12700" marR="5080"/>
            <a:r>
              <a:rPr lang="en-US" sz="1450" kern="0" spc="-80" dirty="0">
                <a:solidFill>
                  <a:schemeClr val="accent2"/>
                </a:solidFill>
              </a:rPr>
              <a:t>User Interface (UI) Layer:</a:t>
            </a:r>
            <a:r>
              <a:rPr lang="en-US" sz="1450" kern="0" spc="-80" dirty="0">
                <a:solidFill>
                  <a:schemeClr val="accent6"/>
                </a:solidFill>
              </a:rPr>
              <a:t> The UI provides the tools for designers and engineers to interact with the system. It is the most visible part of the architecture and has evolved significantly with technology. </a:t>
            </a:r>
            <a:r>
              <a:rPr lang="en-US" sz="1450" kern="0" spc="-80" dirty="0">
                <a:solidFill>
                  <a:schemeClr val="accent2"/>
                </a:solidFill>
              </a:rPr>
              <a:t>Graphical User Interface (GUI):</a:t>
            </a:r>
            <a:r>
              <a:rPr lang="en-US" sz="1450" kern="0" spc="-80" dirty="0">
                <a:solidFill>
                  <a:schemeClr val="accent6"/>
                </a:solidFill>
              </a:rPr>
              <a:t> A visual interface with icons, ribbons, menus, and drag-and-drop features, used by most modern CAD/CAM software.</a:t>
            </a:r>
          </a:p>
          <a:p>
            <a:pPr marL="12700" marR="5080"/>
            <a:r>
              <a:rPr lang="en-US" sz="1450" kern="0" spc="-80" dirty="0">
                <a:solidFill>
                  <a:schemeClr val="accent2"/>
                </a:solidFill>
              </a:rPr>
              <a:t>Command-Line Interface (CLI):</a:t>
            </a:r>
            <a:r>
              <a:rPr lang="en-US" sz="1450" kern="0" spc="-80" dirty="0">
                <a:solidFill>
                  <a:schemeClr val="accent6"/>
                </a:solidFill>
              </a:rPr>
              <a:t> A text-based interface that is faster for expert users but less intuitive for beginners.</a:t>
            </a:r>
          </a:p>
          <a:p>
            <a:pPr marL="12700" marR="5080"/>
            <a:r>
              <a:rPr lang="en-US" sz="1450" kern="0" spc="-80" dirty="0">
                <a:solidFill>
                  <a:schemeClr val="accent2"/>
                </a:solidFill>
              </a:rPr>
              <a:t>Immersive Interfaces:</a:t>
            </a:r>
            <a:r>
              <a:rPr lang="en-US" sz="1450" kern="0" spc="-80" dirty="0">
                <a:solidFill>
                  <a:schemeClr val="accent6"/>
                </a:solidFill>
              </a:rPr>
              <a:t> Newer technologies include touch and gesture-based systems for tablets and virtual reality (VR) or augmented reality (AR) interfaces for design review. </a:t>
            </a:r>
          </a:p>
          <a:p>
            <a:pPr marL="12700" marR="5080"/>
            <a:r>
              <a:rPr lang="en-US" sz="1450" kern="0" spc="-80" dirty="0">
                <a:solidFill>
                  <a:schemeClr val="accent2"/>
                </a:solidFill>
              </a:rPr>
              <a:t>2) Application Logic: </a:t>
            </a:r>
            <a:r>
              <a:rPr lang="en-US" sz="1450" kern="0" spc="-80" dirty="0">
                <a:solidFill>
                  <a:schemeClr val="accent6"/>
                </a:solidFill>
              </a:rPr>
              <a:t>The software's core engine that performs design and manufacturing functions. </a:t>
            </a:r>
          </a:p>
          <a:p>
            <a:pPr marL="12700" marR="5080"/>
            <a:r>
              <a:rPr lang="en-US" sz="1450" kern="0" spc="-80" dirty="0">
                <a:solidFill>
                  <a:schemeClr val="accent2"/>
                </a:solidFill>
              </a:rPr>
              <a:t>Application Logic Layer : </a:t>
            </a:r>
            <a:r>
              <a:rPr lang="en-US" sz="1450" kern="0" spc="-80" dirty="0">
                <a:solidFill>
                  <a:schemeClr val="accent6"/>
                </a:solidFill>
              </a:rPr>
              <a:t>This is the core engine of the system where the mathematical and computational heavy lifting occurs. </a:t>
            </a:r>
          </a:p>
          <a:p>
            <a:pPr marL="12700" marR="5080"/>
            <a:r>
              <a:rPr lang="en-US" sz="1450" kern="0" spc="-80" dirty="0">
                <a:solidFill>
                  <a:schemeClr val="accent2"/>
                </a:solidFill>
              </a:rPr>
              <a:t>Geometric Modeling Kernel: </a:t>
            </a:r>
            <a:r>
              <a:rPr lang="en-US" sz="1450" kern="0" spc="-80" dirty="0">
                <a:solidFill>
                  <a:schemeClr val="accent6"/>
                </a:solidFill>
              </a:rPr>
              <a:t>A foundational mathematical engine that defines and manipulates shapes, including curves, surfaces (NURBS), and solid bodies. Popular kernels include Parasolid, ACIS, and the open-source Open CASCADE.</a:t>
            </a:r>
          </a:p>
          <a:p>
            <a:pPr marL="12700" marR="5080"/>
            <a:r>
              <a:rPr lang="en-US" sz="1450" kern="0" spc="-80" dirty="0">
                <a:solidFill>
                  <a:schemeClr val="accent2"/>
                </a:solidFill>
              </a:rPr>
              <a:t>Parametric Constraint Solver: </a:t>
            </a:r>
            <a:r>
              <a:rPr lang="en-US" sz="1450" kern="0" spc="-80" dirty="0">
                <a:solidFill>
                  <a:schemeClr val="accent6"/>
                </a:solidFill>
              </a:rPr>
              <a:t>Manages geometric relationships and design intent. This allows a designer to change one dimension and have the rest of the model update automatically.</a:t>
            </a:r>
          </a:p>
          <a:p>
            <a:pPr marL="12700" marR="5080"/>
            <a:r>
              <a:rPr lang="en-US" sz="1450" kern="0" spc="-80" dirty="0">
                <a:solidFill>
                  <a:schemeClr val="accent2"/>
                </a:solidFill>
              </a:rPr>
              <a:t>Simulation and Analysis (CAE): </a:t>
            </a:r>
            <a:r>
              <a:rPr lang="en-US" sz="1450" kern="0" spc="-80" dirty="0">
                <a:solidFill>
                  <a:schemeClr val="accent6"/>
                </a:solidFill>
              </a:rPr>
              <a:t>Integrated modules perform engineering analyses on the CAD model, such as Finite Element Analysis (FEA), Computational Fluid Dynamics (CFD), and kinematic motion studies.</a:t>
            </a:r>
          </a:p>
        </p:txBody>
      </p:sp>
    </p:spTree>
    <p:extLst>
      <p:ext uri="{BB962C8B-B14F-4D97-AF65-F5344CB8AC3E}">
        <p14:creationId xmlns:p14="http://schemas.microsoft.com/office/powerpoint/2010/main" val="127165280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6A9ED-30FB-F28E-DC84-068D2DDB182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8FFDD8B-F81B-9D65-5638-C6D51D5C5696}"/>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79F63B8-78DE-A32E-463F-9B53837947FD}"/>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373F902-F2C0-DD6A-D846-58572B18C26D}"/>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7ABFB1B-DAF0-0AA3-F27D-2AB8641975C0}"/>
              </a:ext>
            </a:extLst>
          </p:cNvPr>
          <p:cNvSpPr txBox="1">
            <a:spLocks/>
          </p:cNvSpPr>
          <p:nvPr/>
        </p:nvSpPr>
        <p:spPr>
          <a:xfrm>
            <a:off x="228600" y="873204"/>
            <a:ext cx="8624937" cy="48782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CAD/CAM Reference Architecture</a:t>
            </a:r>
          </a:p>
          <a:p>
            <a:pPr marL="12700" marR="5080"/>
            <a:r>
              <a:rPr lang="en-US" sz="1600" kern="0" spc="-80" dirty="0">
                <a:solidFill>
                  <a:schemeClr val="accent2"/>
                </a:solidFill>
              </a:rPr>
              <a:t>Toolpath Generation: </a:t>
            </a:r>
            <a:r>
              <a:rPr lang="en-US" sz="1600" kern="0" spc="-80" dirty="0">
                <a:solidFill>
                  <a:schemeClr val="accent6"/>
                </a:solidFill>
              </a:rPr>
              <a:t>The CAM-specific component that calculates the cutting paths, speeds, and feed rates for manufacturing operations.</a:t>
            </a:r>
          </a:p>
          <a:p>
            <a:pPr marL="12700" marR="5080"/>
            <a:r>
              <a:rPr lang="en-US" sz="1450" kern="0" spc="-80" dirty="0">
                <a:solidFill>
                  <a:schemeClr val="accent2"/>
                </a:solidFill>
              </a:rPr>
              <a:t>Post-processing: </a:t>
            </a:r>
            <a:r>
              <a:rPr lang="en-US" sz="1450" kern="0" spc="-80" dirty="0">
                <a:solidFill>
                  <a:schemeClr val="accent6"/>
                </a:solidFill>
              </a:rPr>
              <a:t>Converts generic toolpath data into a specific machine-readable language, most commonly G-code, for a particular CNC machine.</a:t>
            </a:r>
          </a:p>
          <a:p>
            <a:pPr marL="12700" marR="5080"/>
            <a:r>
              <a:rPr lang="en-US" sz="1450" kern="0" spc="-80" dirty="0">
                <a:solidFill>
                  <a:schemeClr val="accent2"/>
                </a:solidFill>
              </a:rPr>
              <a:t>3) Data Management: </a:t>
            </a:r>
            <a:r>
              <a:rPr lang="en-US" sz="1450" kern="0" spc="-80" dirty="0">
                <a:solidFill>
                  <a:schemeClr val="accent6"/>
                </a:solidFill>
              </a:rPr>
              <a:t>Governs the storage, retrieval, and revision of product data.</a:t>
            </a:r>
          </a:p>
          <a:p>
            <a:pPr marL="12700" marR="5080"/>
            <a:r>
              <a:rPr lang="en-US" sz="1450" kern="0" spc="-80" dirty="0">
                <a:solidFill>
                  <a:schemeClr val="accent2"/>
                </a:solidFill>
              </a:rPr>
              <a:t>Data Management </a:t>
            </a:r>
            <a:r>
              <a:rPr lang="en-US" sz="1450" kern="0" spc="-80" dirty="0" err="1">
                <a:solidFill>
                  <a:schemeClr val="accent2"/>
                </a:solidFill>
              </a:rPr>
              <a:t>Layer:</a:t>
            </a:r>
            <a:r>
              <a:rPr lang="en-US" sz="1450" kern="0" spc="-80" dirty="0" err="1">
                <a:solidFill>
                  <a:schemeClr val="accent6"/>
                </a:solidFill>
              </a:rPr>
              <a:t>This</a:t>
            </a:r>
            <a:r>
              <a:rPr lang="en-US" sz="1450" kern="0" spc="-80" dirty="0">
                <a:solidFill>
                  <a:schemeClr val="accent6"/>
                </a:solidFill>
              </a:rPr>
              <a:t> layer is crucial for managing the immense amount of data associated with complex product designs. </a:t>
            </a:r>
          </a:p>
          <a:p>
            <a:pPr marL="12700" marR="5080"/>
            <a:r>
              <a:rPr lang="en-US" sz="1450" kern="0" spc="-80" dirty="0">
                <a:solidFill>
                  <a:schemeClr val="accent2"/>
                </a:solidFill>
              </a:rPr>
              <a:t>Product Data Management (PDM):</a:t>
            </a:r>
            <a:r>
              <a:rPr lang="en-US" sz="1450" kern="0" spc="-80" dirty="0">
                <a:solidFill>
                  <a:schemeClr val="accent6"/>
                </a:solidFill>
              </a:rPr>
              <a:t> Manages product data, including file revisions, version control, approval workflows, and metadata for a single product.</a:t>
            </a:r>
          </a:p>
          <a:p>
            <a:pPr marL="12700" marR="5080"/>
            <a:r>
              <a:rPr lang="en-US" sz="1450" kern="0" spc="-80" dirty="0">
                <a:solidFill>
                  <a:schemeClr val="accent2"/>
                </a:solidFill>
              </a:rPr>
              <a:t>Product Lifecycle Management (PLM): </a:t>
            </a:r>
            <a:r>
              <a:rPr lang="en-US" sz="1450" kern="0" spc="-80" dirty="0">
                <a:solidFill>
                  <a:schemeClr val="accent6"/>
                </a:solidFill>
              </a:rPr>
              <a:t>An extension of PDM that manages the entire product lifecycle, from design to manufacturing, supply chain, and end-of-life.</a:t>
            </a:r>
          </a:p>
          <a:p>
            <a:pPr marL="12700" marR="5080"/>
            <a:r>
              <a:rPr lang="en-US" sz="1450" kern="0" spc="-80" dirty="0">
                <a:solidFill>
                  <a:schemeClr val="accent2"/>
                </a:solidFill>
              </a:rPr>
              <a:t>Cloud-Based Storage:</a:t>
            </a:r>
            <a:r>
              <a:rPr lang="en-US" sz="1450" kern="0" spc="-80" dirty="0">
                <a:solidFill>
                  <a:schemeClr val="accent6"/>
                </a:solidFill>
              </a:rPr>
              <a:t> Allows for real-time collaboration and access from anywhere, with integrated version control. This is a defining feature of modern systems like </a:t>
            </a:r>
            <a:r>
              <a:rPr lang="en-US" sz="1450" kern="0" spc="-80" dirty="0" err="1">
                <a:solidFill>
                  <a:schemeClr val="accent6"/>
                </a:solidFill>
              </a:rPr>
              <a:t>Onshape</a:t>
            </a:r>
            <a:r>
              <a:rPr lang="en-US" sz="1450" kern="0" spc="-80" dirty="0">
                <a:solidFill>
                  <a:schemeClr val="accent6"/>
                </a:solidFill>
              </a:rPr>
              <a:t> and Fusion 360.</a:t>
            </a:r>
          </a:p>
          <a:p>
            <a:pPr marL="12700" marR="5080"/>
            <a:r>
              <a:rPr lang="en-US" sz="1450" kern="0" spc="-80" dirty="0">
                <a:solidFill>
                  <a:schemeClr val="accent2"/>
                </a:solidFill>
              </a:rPr>
              <a:t>4) Integration Layer: </a:t>
            </a:r>
            <a:r>
              <a:rPr lang="en-US" sz="1450" kern="0" spc="-80" dirty="0">
                <a:solidFill>
                  <a:schemeClr val="accent6"/>
                </a:solidFill>
              </a:rPr>
              <a:t>Facilitates communication with other systems and hardware.</a:t>
            </a:r>
          </a:p>
          <a:p>
            <a:pPr marL="12700" marR="5080"/>
            <a:r>
              <a:rPr lang="en-US" sz="1450" kern="0" spc="-80" dirty="0">
                <a:solidFill>
                  <a:schemeClr val="accent2"/>
                </a:solidFill>
              </a:rPr>
              <a:t>Integration </a:t>
            </a:r>
            <a:r>
              <a:rPr lang="en-US" sz="1450" kern="0" spc="-80" dirty="0" err="1">
                <a:solidFill>
                  <a:schemeClr val="accent2"/>
                </a:solidFill>
              </a:rPr>
              <a:t>Laye:</a:t>
            </a:r>
            <a:r>
              <a:rPr lang="en-US" sz="1450" kern="0" spc="-80" dirty="0" err="1">
                <a:solidFill>
                  <a:schemeClr val="accent6"/>
                </a:solidFill>
              </a:rPr>
              <a:t>The</a:t>
            </a:r>
            <a:r>
              <a:rPr lang="en-US" sz="1450" kern="0" spc="-80" dirty="0">
                <a:solidFill>
                  <a:schemeClr val="accent6"/>
                </a:solidFill>
              </a:rPr>
              <a:t> integration layer facilitates communication between the core CAD/CAM application and other internal or external systems. </a:t>
            </a:r>
          </a:p>
          <a:p>
            <a:pPr marL="12700" marR="5080"/>
            <a:r>
              <a:rPr lang="en-US" sz="1450" kern="0" spc="-80" dirty="0">
                <a:solidFill>
                  <a:schemeClr val="accent2"/>
                </a:solidFill>
              </a:rPr>
              <a:t>Interoperability Standards:</a:t>
            </a:r>
            <a:r>
              <a:rPr lang="en-US" sz="1450" kern="0" spc="-80" dirty="0">
                <a:solidFill>
                  <a:schemeClr val="accent6"/>
                </a:solidFill>
              </a:rPr>
              <a:t> Handles data transfer between different software using neutral file formats like STEP (Standard for the Exchange of Product model data) and STL (for 3D printing).</a:t>
            </a:r>
          </a:p>
          <a:p>
            <a:pPr marL="12700" marR="5080"/>
            <a:r>
              <a:rPr lang="en-US" sz="1450" kern="0" spc="-80" dirty="0">
                <a:solidFill>
                  <a:schemeClr val="accent2"/>
                </a:solidFill>
              </a:rPr>
              <a:t>Application Programming Interfaces (APIs):</a:t>
            </a:r>
            <a:r>
              <a:rPr lang="en-US" sz="1450" kern="0" spc="-80" dirty="0">
                <a:solidFill>
                  <a:schemeClr val="accent6"/>
                </a:solidFill>
              </a:rPr>
              <a:t> Allow for customization, scripting, and integration with Enterprise Resource Planning (ERP) or Manufacturing Execution Systems (MES).</a:t>
            </a:r>
          </a:p>
        </p:txBody>
      </p:sp>
    </p:spTree>
    <p:extLst>
      <p:ext uri="{BB962C8B-B14F-4D97-AF65-F5344CB8AC3E}">
        <p14:creationId xmlns:p14="http://schemas.microsoft.com/office/powerpoint/2010/main" val="339430974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7E935-2632-6FC9-FC9C-D06FB175E24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E3A5B47-709C-6D44-6E92-B0B837C01BF5}"/>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2B230C9-8995-80B2-C189-26D6CB1DB618}"/>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4D79FCC-D005-E3EE-4AAD-2449F0A0D12A}"/>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9633FA2-BF05-8F82-DD6A-282C9801B8B6}"/>
              </a:ext>
            </a:extLst>
          </p:cNvPr>
          <p:cNvSpPr txBox="1">
            <a:spLocks/>
          </p:cNvSpPr>
          <p:nvPr/>
        </p:nvSpPr>
        <p:spPr>
          <a:xfrm>
            <a:off x="228600" y="873204"/>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CAD/CAM Reference Architecture</a:t>
            </a:r>
          </a:p>
          <a:p>
            <a:pPr marL="12700" marR="5080"/>
            <a:r>
              <a:rPr lang="en-US" sz="1400" kern="0" spc="-80" dirty="0">
                <a:solidFill>
                  <a:schemeClr val="accent2"/>
                </a:solidFill>
              </a:rPr>
              <a:t>Hardware Drivers: </a:t>
            </a:r>
            <a:r>
              <a:rPr lang="en-US" sz="1400" kern="0" spc="-80" dirty="0">
                <a:solidFill>
                  <a:schemeClr val="accent6"/>
                </a:solidFill>
              </a:rPr>
              <a:t>Translates software commands into signals for output devices, such as graphics cards and printers.</a:t>
            </a:r>
          </a:p>
          <a:p>
            <a:pPr marL="12700" marR="5080"/>
            <a:r>
              <a:rPr lang="en-US" sz="1400" kern="0" spc="-80" dirty="0">
                <a:solidFill>
                  <a:schemeClr val="accent6"/>
                </a:solidFill>
              </a:rPr>
              <a:t>5. </a:t>
            </a:r>
            <a:r>
              <a:rPr lang="en-US" sz="1400" kern="0" spc="-80" dirty="0">
                <a:solidFill>
                  <a:schemeClr val="accent2"/>
                </a:solidFill>
              </a:rPr>
              <a:t>Physical Manufacturing: </a:t>
            </a:r>
            <a:r>
              <a:rPr lang="en-US" sz="1400" kern="0" spc="-80" dirty="0">
                <a:solidFill>
                  <a:schemeClr val="accent6"/>
                </a:solidFill>
              </a:rPr>
              <a:t>The hardware that produces the final product.</a:t>
            </a:r>
          </a:p>
          <a:p>
            <a:pPr marL="12700" marR="5080"/>
            <a:r>
              <a:rPr lang="en-US" sz="1400" kern="0" spc="-80" dirty="0">
                <a:solidFill>
                  <a:schemeClr val="accent2"/>
                </a:solidFill>
              </a:rPr>
              <a:t>Physical Manufacturing Layer:</a:t>
            </a:r>
            <a:r>
              <a:rPr lang="en-US" sz="1400" kern="0" spc="-80" dirty="0">
                <a:solidFill>
                  <a:schemeClr val="accent6"/>
                </a:solidFill>
              </a:rPr>
              <a:t> This layer consists of the hardware that turns the digital design into a physical object. </a:t>
            </a:r>
          </a:p>
          <a:p>
            <a:pPr marL="12700" marR="5080"/>
            <a:r>
              <a:rPr lang="en-US" sz="1400" kern="0" spc="-80" dirty="0">
                <a:solidFill>
                  <a:schemeClr val="accent2"/>
                </a:solidFill>
              </a:rPr>
              <a:t>Computer Numerical Control (CNC) Machines:</a:t>
            </a:r>
            <a:r>
              <a:rPr lang="en-US" sz="1400" kern="0" spc="-80" dirty="0">
                <a:solidFill>
                  <a:schemeClr val="accent6"/>
                </a:solidFill>
              </a:rPr>
              <a:t> The most common CAM output, controlled by G-code from the post-processor to perform subtractive manufacturing (e.g., milling, turning).</a:t>
            </a:r>
          </a:p>
          <a:p>
            <a:pPr marL="12700" marR="5080"/>
            <a:r>
              <a:rPr lang="en-US" sz="1400" kern="0" spc="-80" dirty="0">
                <a:solidFill>
                  <a:schemeClr val="accent2"/>
                </a:solidFill>
              </a:rPr>
              <a:t>Additive Manufacturing (3D Printing) Machines: </a:t>
            </a:r>
            <a:r>
              <a:rPr lang="en-US" sz="1400" kern="0" spc="-80" dirty="0">
                <a:solidFill>
                  <a:schemeClr val="accent6"/>
                </a:solidFill>
              </a:rPr>
              <a:t>Use CAD data to perform additive processes like Fused Deposition Modeling (FDM), Selective Laser Sintering (SLS), and Stereolithography (SLA).</a:t>
            </a:r>
          </a:p>
          <a:p>
            <a:pPr marL="12700" marR="5080"/>
            <a:r>
              <a:rPr lang="en-US" sz="1400" kern="0" spc="-80" dirty="0">
                <a:solidFill>
                  <a:schemeClr val="accent2"/>
                </a:solidFill>
              </a:rPr>
              <a:t>Robotics: </a:t>
            </a:r>
            <a:r>
              <a:rPr lang="en-US" sz="1400" kern="0" spc="-80" dirty="0">
                <a:solidFill>
                  <a:schemeClr val="accent6"/>
                </a:solidFill>
              </a:rPr>
              <a:t>Industrial robots used for tasks like welding, assembly, and material handling, which are programmed using CAM software.</a:t>
            </a:r>
          </a:p>
          <a:p>
            <a:pPr marL="12700" marR="5080"/>
            <a:r>
              <a:rPr lang="en-US" sz="1400" kern="0" spc="-80" dirty="0">
                <a:solidFill>
                  <a:schemeClr val="accent2"/>
                </a:solidFill>
              </a:rPr>
              <a:t>Metrology Equipment: </a:t>
            </a:r>
            <a:r>
              <a:rPr lang="en-US" sz="1400" kern="0" spc="-80" dirty="0">
                <a:solidFill>
                  <a:schemeClr val="accent6"/>
                </a:solidFill>
              </a:rPr>
              <a:t>Automated inspection systems like Coordinate Measuring Machines (CMMs) and 3D scanners used for quality assurance. </a:t>
            </a:r>
          </a:p>
          <a:p>
            <a:pPr marL="12700" marR="5080"/>
            <a:endParaRPr lang="en-US" sz="1400" kern="0" spc="-80" dirty="0">
              <a:solidFill>
                <a:schemeClr val="accent2"/>
              </a:solidFill>
            </a:endParaRPr>
          </a:p>
          <a:p>
            <a:pPr marL="12700" marR="5080"/>
            <a:r>
              <a:rPr lang="en-US" sz="1400" kern="0" spc="-80" dirty="0">
                <a:solidFill>
                  <a:schemeClr val="accent2"/>
                </a:solidFill>
              </a:rPr>
              <a:t>Key Components and Layers</a:t>
            </a:r>
          </a:p>
          <a:p>
            <a:pPr marL="12700" marR="5080"/>
            <a:r>
              <a:rPr lang="en-US" sz="1400" kern="0" spc="-80" dirty="0">
                <a:solidFill>
                  <a:schemeClr val="accent6"/>
                </a:solidFill>
              </a:rPr>
              <a:t>A typical CAD/CAM reference architecture includes several interconnected layers: </a:t>
            </a:r>
          </a:p>
          <a:p>
            <a:pPr marL="12700" marR="5080"/>
            <a:r>
              <a:rPr lang="en-US" sz="1400" kern="0" spc="-80" dirty="0">
                <a:solidFill>
                  <a:schemeClr val="accent2"/>
                </a:solidFill>
              </a:rPr>
              <a:t>User Interface Layer:</a:t>
            </a:r>
            <a:r>
              <a:rPr lang="en-US" sz="1400" kern="0" spc="-80" dirty="0">
                <a:solidFill>
                  <a:schemeClr val="accent6"/>
                </a:solidFill>
              </a:rPr>
              <a:t> Handles user interaction for design input and output. Application Logic Layer: Contains the core functionalities for design, analysis, and manufacturing process planning. </a:t>
            </a:r>
          </a:p>
          <a:p>
            <a:pPr marL="12700" marR="5080"/>
            <a:r>
              <a:rPr lang="en-US" sz="1400" kern="0" spc="-80" dirty="0">
                <a:solidFill>
                  <a:schemeClr val="accent2"/>
                </a:solidFill>
              </a:rPr>
              <a:t>Data Management Layer: </a:t>
            </a:r>
            <a:r>
              <a:rPr lang="en-US" sz="1400" kern="0" spc="-80" dirty="0">
                <a:solidFill>
                  <a:schemeClr val="accent6"/>
                </a:solidFill>
              </a:rPr>
              <a:t>Manages the product data, including geometric entities, their relationships, and manufacturing information, often through a central database.</a:t>
            </a:r>
          </a:p>
          <a:p>
            <a:pPr marL="12700" marR="5080"/>
            <a:r>
              <a:rPr lang="en-US" sz="1400" kern="0" spc="-80" dirty="0">
                <a:solidFill>
                  <a:schemeClr val="accent2"/>
                </a:solidFill>
              </a:rPr>
              <a:t>System Integration Layer:</a:t>
            </a:r>
            <a:r>
              <a:rPr lang="en-US" sz="1400" kern="0" spc="-80" dirty="0">
                <a:solidFill>
                  <a:schemeClr val="accent6"/>
                </a:solidFill>
              </a:rPr>
              <a:t> Facilitates the exchange of information between different CAD/CAM software modules and external systems like Material Requirements Planning (MRP). </a:t>
            </a:r>
          </a:p>
        </p:txBody>
      </p:sp>
    </p:spTree>
    <p:extLst>
      <p:ext uri="{BB962C8B-B14F-4D97-AF65-F5344CB8AC3E}">
        <p14:creationId xmlns:p14="http://schemas.microsoft.com/office/powerpoint/2010/main" val="201988880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59C23-33B4-524B-2C83-96E172F174B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9D12BC8-7845-D5AC-EBA9-0566DBC804F1}"/>
              </a:ext>
            </a:extLst>
          </p:cNvPr>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F10E82B-AA5B-AC80-EBFD-B2AFC750DD96}"/>
              </a:ext>
            </a:extLst>
          </p:cNvPr>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9DC58B9-C721-B1FA-4AF2-A4036FE18C9A}"/>
              </a:ext>
            </a:extLst>
          </p:cNvPr>
          <p:cNvGraphicFramePr/>
          <p:nvPr/>
        </p:nvGraphicFramePr>
        <p:xfrm>
          <a:off x="76200" y="-114936"/>
          <a:ext cx="7192300" cy="76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63E129F-B3AE-448B-9B84-3364E8E0A030}"/>
              </a:ext>
            </a:extLst>
          </p:cNvPr>
          <p:cNvSpPr txBox="1">
            <a:spLocks/>
          </p:cNvSpPr>
          <p:nvPr/>
        </p:nvSpPr>
        <p:spPr>
          <a:xfrm>
            <a:off x="228600" y="873204"/>
            <a:ext cx="8624937" cy="47551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CAD/CAM Reference Architecture</a:t>
            </a:r>
          </a:p>
          <a:p>
            <a:pPr marL="12700" marR="5080"/>
            <a:r>
              <a:rPr lang="en-US" sz="1500" kern="0" spc="-80" dirty="0">
                <a:solidFill>
                  <a:schemeClr val="accent2"/>
                </a:solidFill>
              </a:rPr>
              <a:t>Key Concepts</a:t>
            </a:r>
          </a:p>
          <a:p>
            <a:pPr marL="12700" marR="5080"/>
            <a:r>
              <a:rPr lang="en-US" sz="1500" kern="0" spc="-80" dirty="0">
                <a:solidFill>
                  <a:schemeClr val="accent2"/>
                </a:solidFill>
              </a:rPr>
              <a:t>Integrated Data Model: </a:t>
            </a:r>
            <a:r>
              <a:rPr lang="en-US" sz="1500" kern="0" spc="-80" dirty="0">
                <a:solidFill>
                  <a:schemeClr val="accent6"/>
                </a:solidFill>
              </a:rPr>
              <a:t>A fundamental concept is the creation of a comprehensive product definition model that stores all product information, ensuring consistency and accuracy. </a:t>
            </a:r>
          </a:p>
          <a:p>
            <a:pPr marL="12700" marR="5080"/>
            <a:r>
              <a:rPr lang="en-US" sz="1500" kern="0" spc="-80" dirty="0">
                <a:solidFill>
                  <a:schemeClr val="accent2"/>
                </a:solidFill>
              </a:rPr>
              <a:t>Feature-Based Design: </a:t>
            </a:r>
            <a:r>
              <a:rPr lang="en-US" sz="1500" kern="0" spc="-80" dirty="0">
                <a:solidFill>
                  <a:schemeClr val="accent6"/>
                </a:solidFill>
              </a:rPr>
              <a:t>Products are broken down into basic "features" (e.g., holes, pockets), which serve as the fundamental units for both design and manufacturing. </a:t>
            </a:r>
          </a:p>
          <a:p>
            <a:pPr marL="12700" marR="5080"/>
            <a:r>
              <a:rPr lang="en-US" sz="1500" kern="0" spc="-80" dirty="0">
                <a:solidFill>
                  <a:schemeClr val="accent2"/>
                </a:solidFill>
              </a:rPr>
              <a:t>STEP Standard (ISO 10303): </a:t>
            </a:r>
            <a:r>
              <a:rPr lang="en-US" sz="1500" kern="0" spc="-80" dirty="0">
                <a:solidFill>
                  <a:schemeClr val="accent6"/>
                </a:solidFill>
              </a:rPr>
              <a:t>A crucial component of modern architectures, the STEP standard provides a universal format for data exchange, allowing different CAD/CAM software to interoperate seamlessly. </a:t>
            </a:r>
            <a:r>
              <a:rPr lang="en-US" sz="1500" kern="0" spc="-80" dirty="0">
                <a:solidFill>
                  <a:schemeClr val="accent2"/>
                </a:solidFill>
              </a:rPr>
              <a:t>Collaborative Environment:</a:t>
            </a:r>
            <a:r>
              <a:rPr lang="en-US" sz="1500" kern="0" spc="-80" dirty="0">
                <a:solidFill>
                  <a:schemeClr val="accent6"/>
                </a:solidFill>
              </a:rPr>
              <a:t> Architectures support collaborative development by using network and database infrastructure to allow engineers to work together on a shared product definition model. </a:t>
            </a:r>
          </a:p>
          <a:p>
            <a:pPr marL="12700" marR="5080"/>
            <a:r>
              <a:rPr lang="en-US" sz="1500" kern="0" spc="-80" dirty="0">
                <a:solidFill>
                  <a:schemeClr val="accent2"/>
                </a:solidFill>
              </a:rPr>
              <a:t>How it Works</a:t>
            </a:r>
          </a:p>
          <a:p>
            <a:pPr marL="12700" marR="5080"/>
            <a:r>
              <a:rPr lang="en-US" sz="1500" kern="0" spc="-80" dirty="0">
                <a:solidFill>
                  <a:schemeClr val="accent2"/>
                </a:solidFill>
              </a:rPr>
              <a:t>Design: </a:t>
            </a:r>
            <a:r>
              <a:rPr lang="en-US" sz="1500" kern="0" spc="-80" dirty="0">
                <a:solidFill>
                  <a:schemeClr val="accent6"/>
                </a:solidFill>
              </a:rPr>
              <a:t>Engineers use CAD software to create a feature-based product definition model, storing its components and relationships in a central database. </a:t>
            </a:r>
          </a:p>
          <a:p>
            <a:pPr marL="12700" marR="5080"/>
            <a:r>
              <a:rPr lang="en-US" sz="1500" kern="0" spc="-80" dirty="0">
                <a:solidFill>
                  <a:schemeClr val="accent2"/>
                </a:solidFill>
              </a:rPr>
              <a:t>Data Exchange:</a:t>
            </a:r>
            <a:r>
              <a:rPr lang="en-US" sz="1500" kern="0" spc="-80" dirty="0">
                <a:solidFill>
                  <a:schemeClr val="accent6"/>
                </a:solidFill>
              </a:rPr>
              <a:t> The system's integration layer converts data into a STEP-compliant format, ensuring that the data is understood by different applications. </a:t>
            </a:r>
          </a:p>
          <a:p>
            <a:pPr marL="12700" marR="5080"/>
            <a:r>
              <a:rPr lang="en-US" sz="1500" kern="0" spc="-80" dirty="0">
                <a:solidFill>
                  <a:schemeClr val="accent2"/>
                </a:solidFill>
              </a:rPr>
              <a:t>Manufacturing: </a:t>
            </a:r>
            <a:r>
              <a:rPr lang="en-US" sz="1500" kern="0" spc="-80" dirty="0">
                <a:solidFill>
                  <a:schemeClr val="accent6"/>
                </a:solidFill>
              </a:rPr>
              <a:t>This data is then used by CAM modules for process planning, generating toolpaths, and creating NC code for manufacturing. Feedback and Iteration: The process is iterative, with data flowing seamlessly between design and manufacturing to allow for quick changes, cost reduction, and improved quality. </a:t>
            </a:r>
          </a:p>
        </p:txBody>
      </p:sp>
    </p:spTree>
    <p:extLst>
      <p:ext uri="{BB962C8B-B14F-4D97-AF65-F5344CB8AC3E}">
        <p14:creationId xmlns:p14="http://schemas.microsoft.com/office/powerpoint/2010/main" val="149705444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3B1C9-F25A-7727-8D50-532258E38B4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F502C82-C3E3-D788-9A29-12F6EB57FB7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5944449-30FA-B216-9475-CFAD72C8F26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11D180A-5965-E519-5033-E22F240598D5}"/>
              </a:ext>
            </a:extLst>
          </p:cNvPr>
          <p:cNvGraphicFramePr/>
          <p:nvPr>
            <p:extLst>
              <p:ext uri="{D42A27DB-BD31-4B8C-83A1-F6EECF244321}">
                <p14:modId xmlns:p14="http://schemas.microsoft.com/office/powerpoint/2010/main" val="3692282467"/>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0E03AB9-94F6-2CE1-149B-497E371671B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9D8B6AD-0A8F-7A85-2273-23DA0945591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5A37F8EF-A8F5-2671-390F-1F40BBDF9F54}"/>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4614512-6F8A-5B9E-30FE-9FF2FCDF018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AutoShape 6" descr="SPA vs MPA: what is better, faster, stronger? — MindK Blog">
            <a:extLst>
              <a:ext uri="{FF2B5EF4-FFF2-40B4-BE49-F238E27FC236}">
                <a16:creationId xmlns:a16="http://schemas.microsoft.com/office/drawing/2014/main" id="{2CE5958E-2B9D-877F-258B-ACF6BB6E4CBF}"/>
              </a:ext>
            </a:extLst>
          </p:cNvPr>
          <p:cNvSpPr>
            <a:spLocks noChangeAspect="1" noChangeArrowheads="1"/>
          </p:cNvSpPr>
          <p:nvPr/>
        </p:nvSpPr>
        <p:spPr bwMode="auto">
          <a:xfrm>
            <a:off x="4572000" y="2971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17EF73C9-7222-A1DF-2BF2-A03EB4ED5A12}"/>
              </a:ext>
            </a:extLst>
          </p:cNvPr>
          <p:cNvSpPr txBox="1">
            <a:spLocks/>
          </p:cNvSpPr>
          <p:nvPr/>
        </p:nvSpPr>
        <p:spPr>
          <a:xfrm>
            <a:off x="321393" y="735199"/>
            <a:ext cx="8624937" cy="6047809"/>
          </a:xfrm>
          <a:prstGeom prst="rect">
            <a:avLst/>
          </a:prstGeom>
        </p:spPr>
        <p:txBody>
          <a:bodyPr vert="horz" wrap="square" lIns="0" tIns="0" rIns="0" bIns="0" rtlCol="0">
            <a:spAutoFit/>
          </a:bodyPr>
          <a:lstStyle>
            <a:defPPr>
              <a:defRPr lang="en-US"/>
            </a:defPPr>
            <a:lvl1pPr marL="12700" marR="5080">
              <a:defRPr sz="1050" b="1" i="0" kern="0" spc="-80">
                <a:solidFill>
                  <a:schemeClr val="accent2"/>
                </a:solidFill>
                <a:latin typeface="Lucida Sans"/>
                <a:ea typeface="+mj-ea"/>
                <a:cs typeface="Lucida Sans"/>
              </a:defRPr>
            </a:lvl1pPr>
          </a:lstStyle>
          <a:p>
            <a:r>
              <a:rPr lang="en-IN" sz="1600" dirty="0">
                <a:hlinkClick r:id="rId7"/>
              </a:rPr>
              <a:t>10 Essential Scrum Tools</a:t>
            </a:r>
            <a:endParaRPr lang="en-IN" sz="1600" dirty="0"/>
          </a:p>
          <a:p>
            <a:r>
              <a:rPr lang="en-IN" sz="1550" dirty="0">
                <a:hlinkClick r:id="rId8"/>
              </a:rPr>
              <a:t>Agile Terminology Handbook | LinkedIn</a:t>
            </a:r>
            <a:endParaRPr lang="en-IN" sz="1550" dirty="0"/>
          </a:p>
          <a:p>
            <a:r>
              <a:rPr lang="en-US" sz="1550" dirty="0">
                <a:hlinkClick r:id="rId9"/>
              </a:rPr>
              <a:t>Definition of Ready vs. Definition of Done: Understanding the Differences</a:t>
            </a:r>
            <a:endParaRPr lang="en-IN" sz="1550" dirty="0"/>
          </a:p>
          <a:p>
            <a:r>
              <a:rPr lang="en-US" sz="1550" dirty="0">
                <a:hlinkClick r:id="rId10"/>
              </a:rPr>
              <a:t>Agile-Project-Management: Agile Project Management</a:t>
            </a:r>
            <a:endParaRPr lang="en-US" sz="1550" dirty="0"/>
          </a:p>
          <a:p>
            <a:r>
              <a:rPr lang="en-US" sz="1550" dirty="0" err="1">
                <a:hlinkClick r:id="rId11"/>
              </a:rPr>
              <a:t>SAFe</a:t>
            </a:r>
            <a:r>
              <a:rPr lang="en-US" sz="1550" dirty="0">
                <a:hlinkClick r:id="rId11"/>
              </a:rPr>
              <a:t>-Coaches-Handbook: </a:t>
            </a:r>
            <a:r>
              <a:rPr lang="en-US" sz="1550" dirty="0" err="1">
                <a:hlinkClick r:id="rId11"/>
              </a:rPr>
              <a:t>SAFe</a:t>
            </a:r>
            <a:r>
              <a:rPr lang="en-US" sz="1550" dirty="0">
                <a:hlinkClick r:id="rId11"/>
              </a:rPr>
              <a:t>® Coaches Handbook</a:t>
            </a:r>
            <a:endParaRPr lang="en-US" sz="1550" dirty="0"/>
          </a:p>
          <a:p>
            <a:r>
              <a:rPr lang="en-US" sz="1600" dirty="0">
                <a:hlinkClick r:id="rId12"/>
              </a:rPr>
              <a:t>Learn Jira with real-world examples (+Confluence bonus) | Udemy</a:t>
            </a:r>
            <a:endParaRPr lang="en-US" sz="1600" dirty="0"/>
          </a:p>
          <a:p>
            <a:r>
              <a:rPr lang="en-US" sz="1600" dirty="0">
                <a:hlinkClick r:id="rId13"/>
              </a:rPr>
              <a:t>Jira &amp; Confluence Masterclass 2025 for Projects &amp; Teams | Udemy</a:t>
            </a:r>
            <a:endParaRPr lang="en-US" sz="1600" dirty="0"/>
          </a:p>
          <a:p>
            <a:r>
              <a:rPr lang="en-US" sz="1600" dirty="0">
                <a:hlinkClick r:id="rId14"/>
              </a:rPr>
              <a:t>Project Planning with Advanced Roadmaps for Jira | Udemy</a:t>
            </a:r>
            <a:endParaRPr lang="en-US" sz="1550" dirty="0"/>
          </a:p>
          <a:p>
            <a:r>
              <a:rPr lang="en-US" sz="1550" dirty="0">
                <a:hlinkClick r:id="rId15"/>
              </a:rPr>
              <a:t>Automate-Everyday-Tasks-in-Jira: Automate Everyday Tasks in Jira</a:t>
            </a:r>
            <a:endParaRPr lang="en-US" sz="1550" dirty="0"/>
          </a:p>
          <a:p>
            <a:r>
              <a:rPr lang="en-US" sz="1550" dirty="0">
                <a:hlinkClick r:id="rId16"/>
              </a:rPr>
              <a:t>Hands-On Agile Software Development with JIRA | Programming | eBook</a:t>
            </a:r>
            <a:endParaRPr lang="en-US" sz="1550" dirty="0"/>
          </a:p>
          <a:p>
            <a:r>
              <a:rPr lang="en-US" sz="1550" dirty="0">
                <a:hlinkClick r:id="rId17"/>
              </a:rPr>
              <a:t>Jira Work Management for Business Teams | Business &amp; Other | eBook</a:t>
            </a:r>
            <a:endParaRPr lang="en-US" sz="1550" dirty="0"/>
          </a:p>
          <a:p>
            <a:r>
              <a:rPr lang="en-US" sz="1550" dirty="0">
                <a:hlinkClick r:id="rId18"/>
              </a:rPr>
              <a:t>The Movement That Is Transforming How New Products Are Built And Launched</a:t>
            </a:r>
            <a:endParaRPr lang="en-US" sz="1550" dirty="0"/>
          </a:p>
          <a:p>
            <a:r>
              <a:rPr lang="en-US" sz="1550" dirty="0">
                <a:hlinkClick r:id="rId19"/>
              </a:rPr>
              <a:t>The Lean Startup by Eric Ries Book Summary</a:t>
            </a:r>
            <a:endParaRPr lang="en-US" sz="1550" dirty="0"/>
          </a:p>
          <a:p>
            <a:r>
              <a:rPr lang="en-US" sz="1550" dirty="0">
                <a:hlinkClick r:id="rId20"/>
              </a:rPr>
              <a:t>Book review: “Inspired: How To Create Tech Products Customers Love” | by MAA1 | Medium</a:t>
            </a:r>
            <a:endParaRPr lang="en-US" sz="1550" dirty="0"/>
          </a:p>
          <a:p>
            <a:r>
              <a:rPr lang="en-US" sz="1550" dirty="0">
                <a:hlinkClick r:id="rId21"/>
              </a:rPr>
              <a:t>Book Summary - Thinking In Systems: A Primer</a:t>
            </a:r>
            <a:endParaRPr lang="en-US" sz="1550" dirty="0"/>
          </a:p>
          <a:p>
            <a:r>
              <a:rPr lang="en-IN" sz="1550" dirty="0">
                <a:hlinkClick r:id="rId22"/>
              </a:rPr>
              <a:t>10 Proven Team-Building Strategies</a:t>
            </a:r>
            <a:endParaRPr lang="en-IN" sz="1550" dirty="0"/>
          </a:p>
          <a:p>
            <a:r>
              <a:rPr lang="en-US" sz="1550" dirty="0">
                <a:hlinkClick r:id="rId23"/>
              </a:rPr>
              <a:t>4 Key Communication Styles for Better Teamwork [2024] • Asana</a:t>
            </a:r>
            <a:endParaRPr lang="en-US" sz="1550" dirty="0"/>
          </a:p>
          <a:p>
            <a:r>
              <a:rPr lang="en-IN" sz="1550" dirty="0">
                <a:hlinkClick r:id="rId24"/>
              </a:rPr>
              <a:t>Conflict Management: Definition, Strategies, and Styles | Coursera</a:t>
            </a:r>
            <a:endParaRPr lang="en-IN" sz="1550" dirty="0"/>
          </a:p>
          <a:p>
            <a:r>
              <a:rPr lang="fr-FR" sz="1550" dirty="0">
                <a:hlinkClick r:id="rId25"/>
              </a:rPr>
              <a:t>7 Change Management Techniques &amp; Best Practices</a:t>
            </a:r>
            <a:endParaRPr lang="en-IN" sz="1550" dirty="0"/>
          </a:p>
          <a:p>
            <a:r>
              <a:rPr lang="en-US" sz="1550" dirty="0">
                <a:hlinkClick r:id="rId26"/>
              </a:rPr>
              <a:t>Ultimate Guide to Cross-Functional Collaboration</a:t>
            </a:r>
            <a:endParaRPr lang="en-US" sz="1550" dirty="0"/>
          </a:p>
          <a:p>
            <a:r>
              <a:rPr lang="en-IN" sz="1550" dirty="0">
                <a:hlinkClick r:id="rId27"/>
              </a:rPr>
              <a:t>6 Project Management Budgeting Methods | Indeed.com</a:t>
            </a:r>
            <a:endParaRPr lang="en-IN" sz="1550" dirty="0"/>
          </a:p>
          <a:p>
            <a:r>
              <a:rPr lang="en-US" sz="1550" dirty="0">
                <a:hlinkClick r:id="rId28"/>
              </a:rPr>
              <a:t>STAR Method Tips: Interview Questions &amp; Answer Examples</a:t>
            </a:r>
            <a:endParaRPr lang="en-US" sz="1550" dirty="0"/>
          </a:p>
          <a:p>
            <a:endParaRPr lang="en-IN" sz="1600" dirty="0"/>
          </a:p>
          <a:p>
            <a:endParaRPr lang="en-US" sz="1150" dirty="0">
              <a:hlinkClick r:id="rId29"/>
            </a:endParaRPr>
          </a:p>
          <a:p>
            <a:endParaRPr lang="en-US" sz="1200" dirty="0"/>
          </a:p>
          <a:p>
            <a:endParaRPr lang="en-US" sz="1150" dirty="0"/>
          </a:p>
        </p:txBody>
      </p:sp>
    </p:spTree>
    <p:extLst>
      <p:ext uri="{BB962C8B-B14F-4D97-AF65-F5344CB8AC3E}">
        <p14:creationId xmlns:p14="http://schemas.microsoft.com/office/powerpoint/2010/main" val="421581087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412501604"/>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0B8A52B-E3C5-F428-9716-D1B8F4FD904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AutoShape 6" descr="SPA vs MPA: what is better, faster, stronger? — MindK Blog">
            <a:extLst>
              <a:ext uri="{FF2B5EF4-FFF2-40B4-BE49-F238E27FC236}">
                <a16:creationId xmlns:a16="http://schemas.microsoft.com/office/drawing/2014/main" id="{A27B2E49-FC15-29C8-7353-7DDD3AA12CCC}"/>
              </a:ext>
            </a:extLst>
          </p:cNvPr>
          <p:cNvSpPr>
            <a:spLocks noChangeAspect="1" noChangeArrowheads="1"/>
          </p:cNvSpPr>
          <p:nvPr/>
        </p:nvSpPr>
        <p:spPr bwMode="auto">
          <a:xfrm>
            <a:off x="4572000" y="2971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94F59937-00D2-611D-9BDA-D0BD87712451}"/>
              </a:ext>
            </a:extLst>
          </p:cNvPr>
          <p:cNvSpPr txBox="1">
            <a:spLocks/>
          </p:cNvSpPr>
          <p:nvPr/>
        </p:nvSpPr>
        <p:spPr>
          <a:xfrm>
            <a:off x="321393" y="735199"/>
            <a:ext cx="8624937" cy="5324535"/>
          </a:xfrm>
          <a:prstGeom prst="rect">
            <a:avLst/>
          </a:prstGeom>
        </p:spPr>
        <p:txBody>
          <a:bodyPr vert="horz" wrap="square" lIns="0" tIns="0" rIns="0" bIns="0" rtlCol="0">
            <a:spAutoFit/>
          </a:bodyPr>
          <a:lstStyle>
            <a:defPPr>
              <a:defRPr lang="en-US"/>
            </a:defPPr>
            <a:lvl1pPr marL="12700" marR="5080">
              <a:defRPr sz="1050" b="1" i="0" kern="0" spc="-80">
                <a:solidFill>
                  <a:schemeClr val="accent2"/>
                </a:solidFill>
                <a:latin typeface="Lucida Sans"/>
                <a:ea typeface="+mj-ea"/>
                <a:cs typeface="Lucida Sans"/>
              </a:defRPr>
            </a:lvl1pPr>
          </a:lstStyle>
          <a:p>
            <a:r>
              <a:rPr lang="en-IN" sz="1350" dirty="0">
                <a:hlinkClick r:id="rId7"/>
              </a:rPr>
              <a:t>Architectural Katas: Practicing Architecture</a:t>
            </a:r>
            <a:r>
              <a:rPr lang="en-US" sz="1350" dirty="0"/>
              <a:t> </a:t>
            </a:r>
          </a:p>
          <a:p>
            <a:r>
              <a:rPr lang="en-US" sz="1350" dirty="0">
                <a:hlinkClick r:id="rId8"/>
              </a:rPr>
              <a:t>The Architecture Kata Log · GitHub</a:t>
            </a:r>
            <a:endParaRPr lang="en-US" sz="1350" dirty="0"/>
          </a:p>
          <a:p>
            <a:r>
              <a:rPr lang="en-US" sz="1350" dirty="0">
                <a:hlinkClick r:id="rId9"/>
              </a:rPr>
              <a:t>Clean, simple, flexible, evolvable, and agile Architecture Cheat Sheet Update (V1.5) – planetgeek.ch</a:t>
            </a:r>
            <a:endParaRPr lang="en-US" sz="1350" dirty="0"/>
          </a:p>
          <a:p>
            <a:r>
              <a:rPr lang="en-US" sz="1350" dirty="0">
                <a:hlinkClick r:id="rId10"/>
              </a:rPr>
              <a:t>Awesome-design-patterns: A curated list of software and architecture related design patterns.</a:t>
            </a:r>
            <a:endParaRPr lang="en-US" sz="1350" dirty="0"/>
          </a:p>
          <a:p>
            <a:r>
              <a:rPr lang="en-IN" sz="1350" dirty="0">
                <a:hlinkClick r:id="rId11"/>
              </a:rPr>
              <a:t>Cross-industry playbooks | Microsoft Learn</a:t>
            </a:r>
            <a:endParaRPr lang="en-IN" sz="1350" dirty="0"/>
          </a:p>
          <a:p>
            <a:r>
              <a:rPr lang="en-US" sz="1400" dirty="0">
                <a:hlinkClick r:id="rId12"/>
              </a:rPr>
              <a:t>Code-with-Engineering-Playbook:</a:t>
            </a:r>
            <a:endParaRPr lang="en-US" sz="1400" dirty="0"/>
          </a:p>
          <a:p>
            <a:r>
              <a:rPr lang="en-US" sz="1350" dirty="0">
                <a:hlinkClick r:id="rId13"/>
              </a:rPr>
              <a:t>Software Design and Architecture Roadmap</a:t>
            </a:r>
            <a:endParaRPr lang="en-IN" sz="1350" dirty="0">
              <a:hlinkClick r:id="rId7"/>
            </a:endParaRPr>
          </a:p>
          <a:p>
            <a:r>
              <a:rPr lang="en-IN" sz="1350" dirty="0">
                <a:hlinkClick r:id="rId14"/>
              </a:rPr>
              <a:t>Archive - </a:t>
            </a:r>
            <a:r>
              <a:rPr lang="en-IN" sz="1350" dirty="0" err="1">
                <a:hlinkClick r:id="rId14"/>
              </a:rPr>
              <a:t>ByteByteGo</a:t>
            </a:r>
            <a:r>
              <a:rPr lang="en-IN" sz="1350" dirty="0">
                <a:hlinkClick r:id="rId14"/>
              </a:rPr>
              <a:t> Newsletter</a:t>
            </a:r>
            <a:r>
              <a:rPr lang="en-US" sz="1350" dirty="0"/>
              <a:t>  </a:t>
            </a:r>
          </a:p>
          <a:p>
            <a:r>
              <a:rPr lang="en-IN" sz="1350" dirty="0">
                <a:hlinkClick r:id="rId15"/>
              </a:rPr>
              <a:t>Solution-Architect-roadmap</a:t>
            </a:r>
            <a:r>
              <a:rPr lang="en-US" sz="1350" dirty="0"/>
              <a:t> </a:t>
            </a:r>
          </a:p>
          <a:p>
            <a:r>
              <a:rPr lang="en-IN" sz="1350" dirty="0">
                <a:hlinkClick r:id="rId16"/>
              </a:rPr>
              <a:t>Software Architect Roadmap</a:t>
            </a:r>
            <a:endParaRPr lang="en-IN" sz="1350" dirty="0"/>
          </a:p>
          <a:p>
            <a:r>
              <a:rPr lang="en-IN" sz="1350" dirty="0">
                <a:hlinkClick r:id="rId17"/>
              </a:rPr>
              <a:t>Solution-Architect-Road-Map</a:t>
            </a:r>
            <a:endParaRPr lang="en-IN" sz="1350" dirty="0"/>
          </a:p>
          <a:p>
            <a:r>
              <a:rPr lang="en-US" sz="1350" dirty="0">
                <a:hlinkClick r:id="rId18"/>
              </a:rPr>
              <a:t>Become an Awesome Software Architect (1 book series) Kindle Edition</a:t>
            </a:r>
            <a:r>
              <a:rPr lang="en-US" sz="1350" dirty="0"/>
              <a:t> </a:t>
            </a:r>
          </a:p>
          <a:p>
            <a:r>
              <a:rPr lang="en-US" sz="1350" dirty="0">
                <a:hlinkClick r:id="rId19"/>
              </a:rPr>
              <a:t>Practical Guide to Software Architecture</a:t>
            </a:r>
            <a:endParaRPr lang="en-US" sz="1350" dirty="0"/>
          </a:p>
          <a:p>
            <a:r>
              <a:rPr lang="en-US" sz="1350" dirty="0">
                <a:hlinkClick r:id="rId20"/>
              </a:rPr>
              <a:t>Awesome-it-architect</a:t>
            </a:r>
            <a:endParaRPr lang="en-US" sz="1350" dirty="0"/>
          </a:p>
          <a:p>
            <a:r>
              <a:rPr lang="en-IN" sz="1350" dirty="0">
                <a:hlinkClick r:id="rId21"/>
              </a:rPr>
              <a:t>Solution-Architecture</a:t>
            </a:r>
            <a:endParaRPr lang="en-US" sz="1350" dirty="0"/>
          </a:p>
          <a:p>
            <a:pPr marL="12700" marR="5080"/>
            <a:r>
              <a:rPr lang="en-IN" sz="1350" dirty="0">
                <a:hlinkClick r:id="rId22"/>
              </a:rPr>
              <a:t>Solution-Architecture-Patterns</a:t>
            </a:r>
            <a:endParaRPr lang="en-IN" sz="1350" dirty="0"/>
          </a:p>
          <a:p>
            <a:pPr marL="12700" marR="5080"/>
            <a:r>
              <a:rPr lang="en-US" sz="1350" dirty="0">
                <a:hlinkClick r:id="rId23"/>
              </a:rPr>
              <a:t>Software-Architecture-Resources</a:t>
            </a:r>
            <a:endParaRPr lang="en-US" sz="1350" dirty="0"/>
          </a:p>
          <a:p>
            <a:pPr marL="12700" marR="5080"/>
            <a:r>
              <a:rPr lang="en-US" sz="1350" dirty="0">
                <a:hlinkClick r:id="rId24"/>
              </a:rPr>
              <a:t>Awesome-Architecture</a:t>
            </a:r>
            <a:endParaRPr lang="en-US" sz="1350" dirty="0"/>
          </a:p>
          <a:p>
            <a:r>
              <a:rPr lang="en-US" sz="1350" dirty="0">
                <a:hlinkClick r:id="rId25"/>
              </a:rPr>
              <a:t>Master Software Architecture: A Pragmatic Guide - Software Architecture Book</a:t>
            </a:r>
            <a:endParaRPr lang="en-US" sz="1350" dirty="0"/>
          </a:p>
          <a:p>
            <a:r>
              <a:rPr lang="en-US" sz="1350" dirty="0">
                <a:hlinkClick r:id="rId26"/>
              </a:rPr>
              <a:t>Solutions Architect's Handbook | Cloud &amp; Networking | Print</a:t>
            </a:r>
            <a:endParaRPr lang="en-US" sz="1350" dirty="0"/>
          </a:p>
          <a:p>
            <a:r>
              <a:rPr lang="en-US" sz="1350" dirty="0">
                <a:hlinkClick r:id="rId27"/>
              </a:rPr>
              <a:t>Software Architecture Patterns for Serverless Systems | Programming | Print</a:t>
            </a:r>
            <a:endParaRPr lang="en-US" sz="1350" dirty="0"/>
          </a:p>
          <a:p>
            <a:r>
              <a:rPr lang="en-IN" sz="1350" dirty="0">
                <a:hlinkClick r:id="rId28"/>
              </a:rPr>
              <a:t>Architectural Patterns | Programming | Print</a:t>
            </a:r>
            <a:endParaRPr lang="en-IN" sz="1350" dirty="0"/>
          </a:p>
          <a:p>
            <a:r>
              <a:rPr lang="en-US" sz="1350" dirty="0">
                <a:hlinkClick r:id="rId29"/>
              </a:rPr>
              <a:t>Addison-Wesley Signature Series (Vernon) (7 book series) Kindle edition</a:t>
            </a:r>
            <a:endParaRPr lang="en-US" sz="1350" dirty="0"/>
          </a:p>
          <a:p>
            <a:endParaRPr lang="en-US" sz="1150" dirty="0">
              <a:hlinkClick r:id="rId30"/>
            </a:endParaRPr>
          </a:p>
          <a:p>
            <a:endParaRPr lang="en-US" sz="1200" dirty="0"/>
          </a:p>
          <a:p>
            <a:endParaRPr lang="en-US" sz="1150" dirty="0"/>
          </a:p>
        </p:txBody>
      </p:sp>
    </p:spTree>
    <p:extLst>
      <p:ext uri="{BB962C8B-B14F-4D97-AF65-F5344CB8AC3E}">
        <p14:creationId xmlns:p14="http://schemas.microsoft.com/office/powerpoint/2010/main" val="68018212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543628128"/>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0B8A52B-E3C5-F428-9716-D1B8F4FD904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AutoShape 6" descr="SPA vs MPA: what is better, faster, stronger? — MindK Blog">
            <a:extLst>
              <a:ext uri="{FF2B5EF4-FFF2-40B4-BE49-F238E27FC236}">
                <a16:creationId xmlns:a16="http://schemas.microsoft.com/office/drawing/2014/main" id="{A27B2E49-FC15-29C8-7353-7DDD3AA12CCC}"/>
              </a:ext>
            </a:extLst>
          </p:cNvPr>
          <p:cNvSpPr>
            <a:spLocks noChangeAspect="1" noChangeArrowheads="1"/>
          </p:cNvSpPr>
          <p:nvPr/>
        </p:nvSpPr>
        <p:spPr bwMode="auto">
          <a:xfrm>
            <a:off x="4572000" y="2971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94F59937-00D2-611D-9BDA-D0BD87712451}"/>
              </a:ext>
            </a:extLst>
          </p:cNvPr>
          <p:cNvSpPr txBox="1">
            <a:spLocks/>
          </p:cNvSpPr>
          <p:nvPr/>
        </p:nvSpPr>
        <p:spPr>
          <a:xfrm>
            <a:off x="145230" y="762000"/>
            <a:ext cx="8624937" cy="5452262"/>
          </a:xfrm>
          <a:prstGeom prst="rect">
            <a:avLst/>
          </a:prstGeom>
        </p:spPr>
        <p:txBody>
          <a:bodyPr vert="horz" wrap="square" lIns="0" tIns="0" rIns="0" bIns="0" rtlCol="0">
            <a:spAutoFit/>
          </a:bodyPr>
          <a:lstStyle>
            <a:defPPr>
              <a:defRPr lang="en-US"/>
            </a:defPPr>
            <a:lvl1pPr marL="12700" marR="5080">
              <a:defRPr sz="1050" b="1" i="0" kern="0" spc="-80">
                <a:solidFill>
                  <a:schemeClr val="accent2"/>
                </a:solidFill>
                <a:latin typeface="Lucida Sans"/>
                <a:ea typeface="+mj-ea"/>
                <a:cs typeface="Lucida Sans"/>
              </a:defRPr>
            </a:lvl1pPr>
          </a:lstStyle>
          <a:p>
            <a:r>
              <a:rPr lang="en-US" sz="1250" dirty="0">
                <a:hlinkClick r:id="rId7"/>
              </a:rPr>
              <a:t>The Process of Software Architecting</a:t>
            </a:r>
            <a:endParaRPr lang="en-US" sz="1250" dirty="0"/>
          </a:p>
          <a:p>
            <a:r>
              <a:rPr lang="en-IN" sz="1250" dirty="0">
                <a:hlinkClick r:id="rId8"/>
              </a:rPr>
              <a:t>Software Systems Architecture</a:t>
            </a:r>
            <a:r>
              <a:rPr lang="en-US" sz="1250" dirty="0"/>
              <a:t>  </a:t>
            </a:r>
          </a:p>
          <a:p>
            <a:r>
              <a:rPr lang="en-US" sz="1250" dirty="0">
                <a:hlinkClick r:id="rId9"/>
              </a:rPr>
              <a:t>Software Architecture: Principles and Practices</a:t>
            </a:r>
            <a:endParaRPr lang="en-US" sz="1250" dirty="0"/>
          </a:p>
          <a:p>
            <a:r>
              <a:rPr lang="en-US" sz="1250" dirty="0">
                <a:hlinkClick r:id="rId10"/>
              </a:rPr>
              <a:t>Beyond Software Architecture: Creating and Sustaining Winning Solutions[Book]</a:t>
            </a:r>
            <a:endParaRPr lang="en-US" sz="1250" dirty="0"/>
          </a:p>
          <a:p>
            <a:r>
              <a:rPr lang="en-US" sz="1250" dirty="0">
                <a:hlinkClick r:id="rId11"/>
              </a:rPr>
              <a:t>Book notes: Software Architecture: The Hard Parts</a:t>
            </a:r>
            <a:endParaRPr lang="en-US" sz="1250" dirty="0"/>
          </a:p>
          <a:p>
            <a:r>
              <a:rPr lang="en-US" sz="1250" dirty="0">
                <a:hlinkClick r:id="rId12"/>
              </a:rPr>
              <a:t>George Fairbanks - Book: Just Enough Software Architecture</a:t>
            </a:r>
            <a:endParaRPr lang="en-US" sz="1250" dirty="0"/>
          </a:p>
          <a:p>
            <a:r>
              <a:rPr lang="en-US" sz="1250" dirty="0">
                <a:hlinkClick r:id="rId13"/>
              </a:rPr>
              <a:t>What I learned from the book Software Architecture: The Hard Parts | by Dr Milan Milanović | Medium</a:t>
            </a:r>
            <a:endParaRPr lang="en-US" sz="1250" dirty="0"/>
          </a:p>
          <a:p>
            <a:r>
              <a:rPr lang="en-IN" sz="1250" dirty="0">
                <a:hlinkClick r:id="rId14"/>
              </a:rPr>
              <a:t>Srihari Sridharan – Medium</a:t>
            </a:r>
            <a:endParaRPr lang="en-US" sz="1250" dirty="0"/>
          </a:p>
          <a:p>
            <a:r>
              <a:rPr lang="en-US" sz="1250" dirty="0">
                <a:hlinkClick r:id="rId15"/>
              </a:rPr>
              <a:t>Summary of The Software Architect Elevator</a:t>
            </a:r>
            <a:endParaRPr lang="en-US" sz="1250" dirty="0"/>
          </a:p>
          <a:p>
            <a:r>
              <a:rPr lang="en-US" sz="1250" dirty="0">
                <a:hlinkClick r:id="rId16"/>
              </a:rPr>
              <a:t>YOUR KINDLE NOTES FOR: The Software Architect Elevator: Redefining the Architect's Role in the Digital Enterprise</a:t>
            </a:r>
            <a:r>
              <a:rPr lang="en-US" sz="1250" dirty="0"/>
              <a:t> </a:t>
            </a:r>
          </a:p>
          <a:p>
            <a:r>
              <a:rPr lang="en-US" sz="1250" dirty="0">
                <a:hlinkClick r:id="rId17"/>
              </a:rPr>
              <a:t>Key learnings from the book “The Software Architect Elevator” by Gregor </a:t>
            </a:r>
            <a:r>
              <a:rPr lang="en-US" sz="1250" dirty="0" err="1">
                <a:hlinkClick r:id="rId17"/>
              </a:rPr>
              <a:t>Hohpe</a:t>
            </a:r>
            <a:r>
              <a:rPr lang="en-US" sz="1250" dirty="0">
                <a:hlinkClick r:id="rId17"/>
              </a:rPr>
              <a:t> | by </a:t>
            </a:r>
            <a:r>
              <a:rPr lang="en-US" sz="1250" dirty="0" err="1">
                <a:hlinkClick r:id="rId17"/>
              </a:rPr>
              <a:t>Codebrain</a:t>
            </a:r>
            <a:r>
              <a:rPr lang="en-US" sz="1250" dirty="0">
                <a:hlinkClick r:id="rId17"/>
              </a:rPr>
              <a:t> | Medium</a:t>
            </a:r>
            <a:endParaRPr lang="en-US" sz="1250" dirty="0"/>
          </a:p>
          <a:p>
            <a:r>
              <a:rPr lang="en-US" sz="1250" dirty="0">
                <a:hlinkClick r:id="rId18"/>
              </a:rPr>
              <a:t>Architecture Modernization - Book Notes | LinkedIn</a:t>
            </a:r>
            <a:endParaRPr lang="en-US" sz="1250" dirty="0"/>
          </a:p>
          <a:p>
            <a:r>
              <a:rPr lang="en-US" sz="1250" dirty="0">
                <a:hlinkClick r:id="rId19"/>
              </a:rPr>
              <a:t>Book: Software Architecture and Decision-Making | by Srinath Perera | Medium</a:t>
            </a:r>
            <a:endParaRPr lang="en-US" sz="1250" dirty="0"/>
          </a:p>
          <a:p>
            <a:r>
              <a:rPr lang="en-US" sz="1250" dirty="0">
                <a:hlinkClick r:id="rId20"/>
              </a:rPr>
              <a:t>Facilitating Software Architecture: Andrew Harmel-Law in conversation </a:t>
            </a:r>
            <a:r>
              <a:rPr lang="en-US" sz="1250" dirty="0">
                <a:hlinkClick r:id="rId21"/>
              </a:rPr>
              <a:t>–</a:t>
            </a:r>
            <a:r>
              <a:rPr lang="en-US" sz="1250" dirty="0">
                <a:hlinkClick r:id="rId20"/>
              </a:rPr>
              <a:t> </a:t>
            </a:r>
            <a:r>
              <a:rPr lang="en-US" sz="1250" dirty="0" err="1">
                <a:hlinkClick r:id="rId20"/>
              </a:rPr>
              <a:t>LeadDev</a:t>
            </a:r>
            <a:endParaRPr lang="en-US" sz="1250" dirty="0"/>
          </a:p>
          <a:p>
            <a:r>
              <a:rPr lang="en-US" sz="1250" dirty="0">
                <a:hlinkClick r:id="rId22"/>
              </a:rPr>
              <a:t>New "Designing Distributed Systems" O'Reilly e-book</a:t>
            </a:r>
            <a:endParaRPr lang="en-US" sz="1250" dirty="0"/>
          </a:p>
          <a:p>
            <a:pPr marL="12700" marR="5080"/>
            <a:r>
              <a:rPr lang="en-US" sz="1250" dirty="0">
                <a:hlinkClick r:id="rId23"/>
              </a:rPr>
              <a:t>Path to Production Mapping - Ham Vocke</a:t>
            </a:r>
            <a:r>
              <a:rPr lang="en-US" sz="1250" dirty="0"/>
              <a:t> </a:t>
            </a:r>
          </a:p>
          <a:p>
            <a:r>
              <a:rPr lang="en-IN" sz="1250" dirty="0">
                <a:hlinkClick r:id="rId24"/>
              </a:rPr>
              <a:t>Various Patterns | LinkedIn</a:t>
            </a:r>
            <a:r>
              <a:rPr lang="en-US" sz="1250" dirty="0"/>
              <a:t> </a:t>
            </a:r>
          </a:p>
          <a:p>
            <a:r>
              <a:rPr lang="en-IN" sz="1250" dirty="0">
                <a:hlinkClick r:id="rId25"/>
              </a:rPr>
              <a:t>Patterns of Legacy Displacement</a:t>
            </a:r>
            <a:r>
              <a:rPr lang="en-US" sz="1250" dirty="0"/>
              <a:t> </a:t>
            </a:r>
          </a:p>
          <a:p>
            <a:r>
              <a:rPr lang="en-IN" sz="1250" dirty="0">
                <a:hlinkClick r:id="rId26"/>
              </a:rPr>
              <a:t>Collaborative Software Design</a:t>
            </a:r>
            <a:endParaRPr lang="en-IN" sz="1250" dirty="0"/>
          </a:p>
          <a:p>
            <a:r>
              <a:rPr lang="en-US" sz="1250" dirty="0" err="1">
                <a:hlinkClick r:id="rId27"/>
              </a:rPr>
              <a:t>Refactorings</a:t>
            </a:r>
            <a:r>
              <a:rPr lang="en-US" sz="1250" dirty="0">
                <a:hlinkClick r:id="rId27"/>
              </a:rPr>
              <a:t> in Large Software Projects</a:t>
            </a:r>
            <a:endParaRPr lang="en-US" sz="1250" dirty="0"/>
          </a:p>
          <a:p>
            <a:r>
              <a:rPr lang="en-IN" sz="1250" dirty="0">
                <a:hlinkClick r:id="rId28"/>
              </a:rPr>
              <a:t>Engineering Manager</a:t>
            </a:r>
            <a:endParaRPr lang="en-US" sz="1250" dirty="0"/>
          </a:p>
          <a:p>
            <a:r>
              <a:rPr lang="en-IN" sz="1250" dirty="0">
                <a:hlinkClick r:id="rId29"/>
              </a:rPr>
              <a:t>Product Manager</a:t>
            </a:r>
            <a:endParaRPr lang="en-IN" sz="1250" dirty="0"/>
          </a:p>
          <a:p>
            <a:r>
              <a:rPr lang="en-US" sz="1250" dirty="0">
                <a:hlinkClick r:id="rId30"/>
              </a:rPr>
              <a:t>How to Create a Value Stream Map: Step by Step with Examples</a:t>
            </a:r>
            <a:endParaRPr lang="en-IN" sz="1250" dirty="0"/>
          </a:p>
          <a:p>
            <a:r>
              <a:rPr lang="en-US" sz="1250" dirty="0">
                <a:hlinkClick r:id="rId31"/>
              </a:rPr>
              <a:t>DevRel Roadmap: What is DevRel Engineering?</a:t>
            </a:r>
            <a:endParaRPr lang="en-US" sz="1250" dirty="0"/>
          </a:p>
          <a:p>
            <a:r>
              <a:rPr lang="en-US" sz="1250" dirty="0">
                <a:hlinkClick r:id="rId32"/>
              </a:rPr>
              <a:t>GitHub - ashishps1/awesome-behavioral-interviews: Tips and resources to prepare for Behavioral interviews.</a:t>
            </a:r>
            <a:endParaRPr lang="en-US" sz="1250" dirty="0"/>
          </a:p>
          <a:p>
            <a:r>
              <a:rPr lang="en-US" sz="1250" dirty="0">
                <a:hlinkClick r:id="rId33"/>
              </a:rPr>
              <a:t>List of engineering blogs from well-known companies. | by Sujatha </a:t>
            </a:r>
            <a:r>
              <a:rPr lang="en-US" sz="1250" dirty="0" err="1">
                <a:hlinkClick r:id="rId33"/>
              </a:rPr>
              <a:t>Mudadla</a:t>
            </a:r>
            <a:r>
              <a:rPr lang="en-US" sz="1250" dirty="0">
                <a:hlinkClick r:id="rId33"/>
              </a:rPr>
              <a:t> | Medium</a:t>
            </a:r>
            <a:endParaRPr lang="en-US" sz="1250" dirty="0"/>
          </a:p>
          <a:p>
            <a:endParaRPr lang="en-US" sz="980" dirty="0"/>
          </a:p>
          <a:p>
            <a:r>
              <a:rPr lang="en-US" sz="950" dirty="0"/>
              <a:t> </a:t>
            </a:r>
          </a:p>
          <a:p>
            <a:endParaRPr lang="en-IN" sz="1000" dirty="0"/>
          </a:p>
        </p:txBody>
      </p:sp>
    </p:spTree>
    <p:extLst>
      <p:ext uri="{BB962C8B-B14F-4D97-AF65-F5344CB8AC3E}">
        <p14:creationId xmlns:p14="http://schemas.microsoft.com/office/powerpoint/2010/main" val="262747613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206735940"/>
              </p:ext>
            </p:extLst>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0B8A52B-E3C5-F428-9716-D1B8F4FD904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AutoShape 6" descr="SPA vs MPA: what is better, faster, stronger? — MindK Blog">
            <a:extLst>
              <a:ext uri="{FF2B5EF4-FFF2-40B4-BE49-F238E27FC236}">
                <a16:creationId xmlns:a16="http://schemas.microsoft.com/office/drawing/2014/main" id="{A27B2E49-FC15-29C8-7353-7DDD3AA12CCC}"/>
              </a:ext>
            </a:extLst>
          </p:cNvPr>
          <p:cNvSpPr>
            <a:spLocks noChangeAspect="1" noChangeArrowheads="1"/>
          </p:cNvSpPr>
          <p:nvPr/>
        </p:nvSpPr>
        <p:spPr bwMode="auto">
          <a:xfrm>
            <a:off x="4572000" y="2971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94F59937-00D2-611D-9BDA-D0BD87712451}"/>
              </a:ext>
            </a:extLst>
          </p:cNvPr>
          <p:cNvSpPr txBox="1">
            <a:spLocks/>
          </p:cNvSpPr>
          <p:nvPr/>
        </p:nvSpPr>
        <p:spPr>
          <a:xfrm>
            <a:off x="152400" y="772954"/>
            <a:ext cx="8624937" cy="553997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6"/>
                </a:solidFill>
              </a:rPr>
              <a:t>Quantum Computing</a:t>
            </a:r>
          </a:p>
          <a:p>
            <a:pPr marL="12700" marR="5080"/>
            <a:r>
              <a:rPr lang="en-US" sz="2400" kern="0" spc="-80" dirty="0">
                <a:solidFill>
                  <a:schemeClr val="accent6"/>
                </a:solidFill>
              </a:rPr>
              <a:t>HPC(High Performance Computing) for Scientific &amp; Engineering Applications</a:t>
            </a:r>
          </a:p>
          <a:p>
            <a:pPr marL="12700" marR="5080"/>
            <a:r>
              <a:rPr lang="en-US" sz="2400" kern="0" spc="-80" dirty="0">
                <a:solidFill>
                  <a:schemeClr val="accent6"/>
                </a:solidFill>
              </a:rPr>
              <a:t>5G Networks</a:t>
            </a:r>
          </a:p>
          <a:p>
            <a:pPr marL="12700" marR="5080"/>
            <a:r>
              <a:rPr lang="en-US" sz="2400" kern="0" spc="-80" dirty="0">
                <a:solidFill>
                  <a:schemeClr val="accent2"/>
                </a:solidFill>
              </a:rPr>
              <a:t>.</a:t>
            </a:r>
          </a:p>
          <a:p>
            <a:pPr marL="12700" marR="5080"/>
            <a:r>
              <a:rPr lang="en-US" sz="2400" kern="0" spc="-80" dirty="0">
                <a:solidFill>
                  <a:schemeClr val="accent2"/>
                </a:solidFill>
              </a:rPr>
              <a:t>.</a:t>
            </a:r>
          </a:p>
          <a:p>
            <a:pPr marL="12700" marR="5080"/>
            <a:r>
              <a:rPr lang="en-US" sz="2400" kern="0" spc="-80" dirty="0">
                <a:solidFill>
                  <a:schemeClr val="accent2"/>
                </a:solidFill>
              </a:rPr>
              <a:t>.</a:t>
            </a:r>
          </a:p>
          <a:p>
            <a:pPr marL="12700" marR="5080"/>
            <a:r>
              <a:rPr lang="en-US" sz="2400" kern="0" spc="-80" dirty="0">
                <a:solidFill>
                  <a:schemeClr val="accent2"/>
                </a:solidFill>
              </a:rPr>
              <a:t>.</a:t>
            </a:r>
          </a:p>
          <a:p>
            <a:pPr marL="12700" marR="5080"/>
            <a:r>
              <a:rPr lang="en-US" sz="2400" kern="0" spc="-80" dirty="0">
                <a:solidFill>
                  <a:schemeClr val="accent2"/>
                </a:solidFill>
              </a:rPr>
              <a:t>.</a:t>
            </a:r>
          </a:p>
          <a:p>
            <a:pPr marL="12700" marR="5080"/>
            <a:r>
              <a:rPr lang="en-US" sz="2400" kern="0" spc="-80" dirty="0">
                <a:solidFill>
                  <a:schemeClr val="accent2"/>
                </a:solidFill>
              </a:rPr>
              <a:t>.</a:t>
            </a:r>
          </a:p>
          <a:p>
            <a:pPr marL="12700" marR="5080"/>
            <a:r>
              <a:rPr lang="en-US" sz="2400" kern="0" spc="-80" dirty="0">
                <a:solidFill>
                  <a:schemeClr val="accent2"/>
                </a:solidFill>
              </a:rPr>
              <a:t>.</a:t>
            </a:r>
          </a:p>
          <a:p>
            <a:pPr marL="12700" marR="5080"/>
            <a:r>
              <a:rPr lang="en-US" sz="2400" kern="0" spc="-80" dirty="0">
                <a:solidFill>
                  <a:schemeClr val="accent2"/>
                </a:solidFill>
              </a:rPr>
              <a:t>.</a:t>
            </a:r>
          </a:p>
          <a:p>
            <a:pPr marL="12700" marR="5080"/>
            <a:r>
              <a:rPr lang="en-US" sz="2400" kern="0" spc="-80" dirty="0">
                <a:solidFill>
                  <a:schemeClr val="accent2"/>
                </a:solidFill>
              </a:rPr>
              <a:t>.</a:t>
            </a:r>
          </a:p>
          <a:p>
            <a:pPr marL="12700" marR="5080"/>
            <a:r>
              <a:rPr lang="en-US" sz="2400" kern="0" spc="-80" dirty="0">
                <a:solidFill>
                  <a:schemeClr val="accent2"/>
                </a:solidFill>
              </a:rPr>
              <a:t>.</a:t>
            </a:r>
          </a:p>
          <a:p>
            <a:pPr marL="12700" marR="5080"/>
            <a:endParaRPr lang="en-US" sz="2400" kern="0" spc="-80" dirty="0">
              <a:solidFill>
                <a:schemeClr val="accent2"/>
              </a:solidFill>
            </a:endParaRPr>
          </a:p>
        </p:txBody>
      </p:sp>
    </p:spTree>
    <p:extLst>
      <p:ext uri="{BB962C8B-B14F-4D97-AF65-F5344CB8AC3E}">
        <p14:creationId xmlns:p14="http://schemas.microsoft.com/office/powerpoint/2010/main" val="298194890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object 2"/>
          <p:cNvSpPr txBox="1">
            <a:spLocks noGrp="1"/>
          </p:cNvSpPr>
          <p:nvPr>
            <p:ph type="title"/>
          </p:nvPr>
        </p:nvSpPr>
        <p:spPr>
          <a:xfrm>
            <a:off x="2590800" y="1670209"/>
            <a:ext cx="3733800" cy="2215991"/>
          </a:xfrm>
          <a:prstGeom prst="rect">
            <a:avLst/>
          </a:prstGeom>
        </p:spPr>
        <p:txBody>
          <a:bodyPr vert="horz" wrap="square" lIns="0" tIns="0" rIns="0" bIns="0" rtlCol="0">
            <a:spAutoFit/>
          </a:bodyPr>
          <a:lstStyle/>
          <a:p>
            <a:pPr marL="12700" marR="5080" algn="ctr">
              <a:lnSpc>
                <a:spcPct val="100000"/>
              </a:lnSpc>
            </a:pPr>
            <a:r>
              <a:rPr lang="en-US" sz="7200" spc="-220" dirty="0">
                <a:solidFill>
                  <a:schemeClr val="accent6"/>
                </a:solidFill>
              </a:rPr>
              <a:t>Thank You</a:t>
            </a:r>
            <a:endParaRPr lang="en-US" sz="7200" spc="-80" dirty="0">
              <a:solidFill>
                <a:schemeClr val="accent6"/>
              </a:solidFill>
            </a:endParaRPr>
          </a:p>
        </p:txBody>
      </p:sp>
    </p:spTree>
    <p:extLst>
      <p:ext uri="{BB962C8B-B14F-4D97-AF65-F5344CB8AC3E}">
        <p14:creationId xmlns:p14="http://schemas.microsoft.com/office/powerpoint/2010/main" val="367818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FB92261DF0CF34EB4810633B41F348E" ma:contentTypeVersion="12" ma:contentTypeDescription="Create a new document." ma:contentTypeScope="" ma:versionID="0504b6c5dad5cedb559b2ba5661c1516">
  <xsd:schema xmlns:xsd="http://www.w3.org/2001/XMLSchema" xmlns:xs="http://www.w3.org/2001/XMLSchema" xmlns:p="http://schemas.microsoft.com/office/2006/metadata/properties" xmlns:ns2="73c285a4-81d7-45ed-89e3-084ec343ed0e" xmlns:ns3="9eeb171f-62b6-4207-910a-f222f02eca92" targetNamespace="http://schemas.microsoft.com/office/2006/metadata/properties" ma:root="true" ma:fieldsID="ee446bd52ab24cfc94472a148ee352b7" ns2:_="" ns3:_="">
    <xsd:import namespace="73c285a4-81d7-45ed-89e3-084ec343ed0e"/>
    <xsd:import namespace="9eeb171f-62b6-4207-910a-f222f02eca9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c285a4-81d7-45ed-89e3-084ec343ed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eb171f-62b6-4207-910a-f222f02eca92"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845EBFA-FEA7-417E-8860-8460D20694CB}">
  <ds:schemaRefs>
    <ds:schemaRef ds:uri="http://schemas.openxmlformats.org/package/2006/metadata/core-properties"/>
    <ds:schemaRef ds:uri="http://www.w3.org/XML/1998/namespace"/>
    <ds:schemaRef ds:uri="http://schemas.microsoft.com/office/infopath/2007/PartnerControls"/>
    <ds:schemaRef ds:uri="73c285a4-81d7-45ed-89e3-084ec343ed0e"/>
    <ds:schemaRef ds:uri="9eeb171f-62b6-4207-910a-f222f02eca92"/>
    <ds:schemaRef ds:uri="http://schemas.microsoft.com/office/2006/documentManagement/types"/>
    <ds:schemaRef ds:uri="http://purl.org/dc/elements/1.1/"/>
    <ds:schemaRef ds:uri="http://schemas.microsoft.com/office/2006/metadata/properties"/>
    <ds:schemaRef ds:uri="http://purl.org/dc/dcmitype/"/>
    <ds:schemaRef ds:uri="http://purl.org/dc/terms/"/>
  </ds:schemaRefs>
</ds:datastoreItem>
</file>

<file path=customXml/itemProps2.xml><?xml version="1.0" encoding="utf-8"?>
<ds:datastoreItem xmlns:ds="http://schemas.openxmlformats.org/officeDocument/2006/customXml" ds:itemID="{E54ED045-44B0-4818-8BF2-60E776B56E88}">
  <ds:schemaRefs>
    <ds:schemaRef ds:uri="http://schemas.microsoft.com/sharepoint/v3/contenttype/forms"/>
  </ds:schemaRefs>
</ds:datastoreItem>
</file>

<file path=customXml/itemProps3.xml><?xml version="1.0" encoding="utf-8"?>
<ds:datastoreItem xmlns:ds="http://schemas.openxmlformats.org/officeDocument/2006/customXml" ds:itemID="{1561FB4F-8CDF-4FC4-86AB-6B9C0823A4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c285a4-81d7-45ed-89e3-084ec343ed0e"/>
    <ds:schemaRef ds:uri="9eeb171f-62b6-4207-910a-f222f02eca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26360</TotalTime>
  <Words>20468</Words>
  <Application>Microsoft Office PowerPoint</Application>
  <PresentationFormat>Custom</PresentationFormat>
  <Paragraphs>2654</Paragraphs>
  <Slides>181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181</vt:i4>
      </vt:variant>
    </vt:vector>
  </HeadingPairs>
  <TitlesOfParts>
    <vt:vector size="186" baseType="lpstr">
      <vt:lpstr>Arial</vt:lpstr>
      <vt:lpstr>Calibri</vt:lpstr>
      <vt:lpstr>Georgia</vt:lpstr>
      <vt:lpstr>Lucida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case  for Chello</dc:title>
  <dc:creator>Kumar, Harendra (Cognizant)</dc:creator>
  <cp:lastModifiedBy>Ray, Sandip (Cognizant)</cp:lastModifiedBy>
  <cp:revision>3795</cp:revision>
  <dcterms:created xsi:type="dcterms:W3CDTF">2020-11-03T17:16:52Z</dcterms:created>
  <dcterms:modified xsi:type="dcterms:W3CDTF">2025-11-26T07:52:02Z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2020-10-21T00:00:00Z</vt:filetime>
  </property>
  <property fmtid="{D5CDD505-2E9C-101B-9397-08002B2CF9AE}" pid="3" name="Creator">
    <vt:lpwstr>Adobe InDesign 15.1 (Macintosh)</vt:lpwstr>
  </property>
  <property fmtid="{D5CDD505-2E9C-101B-9397-08002B2CF9AE}" pid="4" name="LastSaved">
    <vt:filetime>2020-11-03T00:00:00Z</vt:filetime>
  </property>
  <property fmtid="{D5CDD505-2E9C-101B-9397-08002B2CF9AE}" pid="5" name="ContentTypeId">
    <vt:lpwstr>0x0101008FB92261DF0CF34EB4810633B41F348E</vt:lpwstr>
  </property>
</Properties>
</file>