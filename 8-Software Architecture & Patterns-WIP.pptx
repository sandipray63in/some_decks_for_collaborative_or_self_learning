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2.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3.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4.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5.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6.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7.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8.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9.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0.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1.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2.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3.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14.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notesSlides/notesSlide15.xml" ContentType="application/vnd.openxmlformats-officedocument.presentationml.notesSlide+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notesSlides/notesSlide16.xml" ContentType="application/vnd.openxmlformats-officedocument.presentationml.notesSlide+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notesSlides/notesSlide17.xml" ContentType="application/vnd.openxmlformats-officedocument.presentationml.notesSlide+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notesSlides/notesSlide18.xml" ContentType="application/vnd.openxmlformats-officedocument.presentationml.notesSlide+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notesSlides/notesSlide19.xml" ContentType="application/vnd.openxmlformats-officedocument.presentationml.notesSlide+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notesSlides/notesSlide20.xml" ContentType="application/vnd.openxmlformats-officedocument.presentationml.notesSlide+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notesSlides/notesSlide21.xml" ContentType="application/vnd.openxmlformats-officedocument.presentationml.notesSlide+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diagrams/data184.xml" ContentType="application/vnd.openxmlformats-officedocument.drawingml.diagramData+xml"/>
  <Override PartName="/ppt/diagrams/layout184.xml" ContentType="application/vnd.openxmlformats-officedocument.drawingml.diagramLayout+xml"/>
  <Override PartName="/ppt/diagrams/quickStyle184.xml" ContentType="application/vnd.openxmlformats-officedocument.drawingml.diagramStyle+xml"/>
  <Override PartName="/ppt/diagrams/colors184.xml" ContentType="application/vnd.openxmlformats-officedocument.drawingml.diagramColors+xml"/>
  <Override PartName="/ppt/diagrams/drawing184.xml" ContentType="application/vnd.ms-office.drawingml.diagramDrawing+xml"/>
  <Override PartName="/ppt/diagrams/data185.xml" ContentType="application/vnd.openxmlformats-officedocument.drawingml.diagramData+xml"/>
  <Override PartName="/ppt/diagrams/layout185.xml" ContentType="application/vnd.openxmlformats-officedocument.drawingml.diagramLayout+xml"/>
  <Override PartName="/ppt/diagrams/quickStyle185.xml" ContentType="application/vnd.openxmlformats-officedocument.drawingml.diagramStyle+xml"/>
  <Override PartName="/ppt/diagrams/colors185.xml" ContentType="application/vnd.openxmlformats-officedocument.drawingml.diagramColors+xml"/>
  <Override PartName="/ppt/diagrams/drawing185.xml" ContentType="application/vnd.ms-office.drawingml.diagramDrawing+xml"/>
  <Override PartName="/ppt/diagrams/data186.xml" ContentType="application/vnd.openxmlformats-officedocument.drawingml.diagramData+xml"/>
  <Override PartName="/ppt/diagrams/layout186.xml" ContentType="application/vnd.openxmlformats-officedocument.drawingml.diagramLayout+xml"/>
  <Override PartName="/ppt/diagrams/quickStyle186.xml" ContentType="application/vnd.openxmlformats-officedocument.drawingml.diagramStyle+xml"/>
  <Override PartName="/ppt/diagrams/colors186.xml" ContentType="application/vnd.openxmlformats-officedocument.drawingml.diagramColors+xml"/>
  <Override PartName="/ppt/diagrams/drawing186.xml" ContentType="application/vnd.ms-office.drawingml.diagramDrawing+xml"/>
  <Override PartName="/ppt/diagrams/data187.xml" ContentType="application/vnd.openxmlformats-officedocument.drawingml.diagramData+xml"/>
  <Override PartName="/ppt/diagrams/layout187.xml" ContentType="application/vnd.openxmlformats-officedocument.drawingml.diagramLayout+xml"/>
  <Override PartName="/ppt/diagrams/quickStyle187.xml" ContentType="application/vnd.openxmlformats-officedocument.drawingml.diagramStyle+xml"/>
  <Override PartName="/ppt/diagrams/colors187.xml" ContentType="application/vnd.openxmlformats-officedocument.drawingml.diagramColors+xml"/>
  <Override PartName="/ppt/diagrams/drawing187.xml" ContentType="application/vnd.ms-office.drawingml.diagramDrawing+xml"/>
  <Override PartName="/ppt/diagrams/data188.xml" ContentType="application/vnd.openxmlformats-officedocument.drawingml.diagramData+xml"/>
  <Override PartName="/ppt/diagrams/layout188.xml" ContentType="application/vnd.openxmlformats-officedocument.drawingml.diagramLayout+xml"/>
  <Override PartName="/ppt/diagrams/quickStyle188.xml" ContentType="application/vnd.openxmlformats-officedocument.drawingml.diagramStyle+xml"/>
  <Override PartName="/ppt/diagrams/colors188.xml" ContentType="application/vnd.openxmlformats-officedocument.drawingml.diagramColors+xml"/>
  <Override PartName="/ppt/diagrams/drawing188.xml" ContentType="application/vnd.ms-office.drawingml.diagramDrawing+xml"/>
  <Override PartName="/ppt/diagrams/data189.xml" ContentType="application/vnd.openxmlformats-officedocument.drawingml.diagramData+xml"/>
  <Override PartName="/ppt/diagrams/layout189.xml" ContentType="application/vnd.openxmlformats-officedocument.drawingml.diagramLayout+xml"/>
  <Override PartName="/ppt/diagrams/quickStyle189.xml" ContentType="application/vnd.openxmlformats-officedocument.drawingml.diagramStyle+xml"/>
  <Override PartName="/ppt/diagrams/colors189.xml" ContentType="application/vnd.openxmlformats-officedocument.drawingml.diagramColors+xml"/>
  <Override PartName="/ppt/diagrams/drawing189.xml" ContentType="application/vnd.ms-office.drawingml.diagramDrawing+xml"/>
  <Override PartName="/ppt/diagrams/data190.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Override PartName="/ppt/diagrams/drawing190.xml" ContentType="application/vnd.ms-office.drawingml.diagramDrawing+xml"/>
  <Override PartName="/ppt/diagrams/data191.xml" ContentType="application/vnd.openxmlformats-officedocument.drawingml.diagramData+xml"/>
  <Override PartName="/ppt/diagrams/layout191.xml" ContentType="application/vnd.openxmlformats-officedocument.drawingml.diagramLayout+xml"/>
  <Override PartName="/ppt/diagrams/quickStyle191.xml" ContentType="application/vnd.openxmlformats-officedocument.drawingml.diagramStyle+xml"/>
  <Override PartName="/ppt/diagrams/colors191.xml" ContentType="application/vnd.openxmlformats-officedocument.drawingml.diagramColors+xml"/>
  <Override PartName="/ppt/diagrams/drawing191.xml" ContentType="application/vnd.ms-office.drawingml.diagramDrawing+xml"/>
  <Override PartName="/ppt/diagrams/data192.xml" ContentType="application/vnd.openxmlformats-officedocument.drawingml.diagramData+xml"/>
  <Override PartName="/ppt/diagrams/layout192.xml" ContentType="application/vnd.openxmlformats-officedocument.drawingml.diagramLayout+xml"/>
  <Override PartName="/ppt/diagrams/quickStyle192.xml" ContentType="application/vnd.openxmlformats-officedocument.drawingml.diagramStyle+xml"/>
  <Override PartName="/ppt/diagrams/colors192.xml" ContentType="application/vnd.openxmlformats-officedocument.drawingml.diagramColors+xml"/>
  <Override PartName="/ppt/diagrams/drawing192.xml" ContentType="application/vnd.ms-office.drawingml.diagramDrawing+xml"/>
  <Override PartName="/ppt/diagrams/data193.xml" ContentType="application/vnd.openxmlformats-officedocument.drawingml.diagramData+xml"/>
  <Override PartName="/ppt/diagrams/layout193.xml" ContentType="application/vnd.openxmlformats-officedocument.drawingml.diagramLayout+xml"/>
  <Override PartName="/ppt/diagrams/quickStyle193.xml" ContentType="application/vnd.openxmlformats-officedocument.drawingml.diagramStyle+xml"/>
  <Override PartName="/ppt/diagrams/colors193.xml" ContentType="application/vnd.openxmlformats-officedocument.drawingml.diagramColors+xml"/>
  <Override PartName="/ppt/diagrams/drawing193.xml" ContentType="application/vnd.ms-office.drawingml.diagramDrawing+xml"/>
  <Override PartName="/ppt/diagrams/data194.xml" ContentType="application/vnd.openxmlformats-officedocument.drawingml.diagramData+xml"/>
  <Override PartName="/ppt/diagrams/layout194.xml" ContentType="application/vnd.openxmlformats-officedocument.drawingml.diagramLayout+xml"/>
  <Override PartName="/ppt/diagrams/quickStyle194.xml" ContentType="application/vnd.openxmlformats-officedocument.drawingml.diagramStyle+xml"/>
  <Override PartName="/ppt/diagrams/colors194.xml" ContentType="application/vnd.openxmlformats-officedocument.drawingml.diagramColors+xml"/>
  <Override PartName="/ppt/diagrams/drawing194.xml" ContentType="application/vnd.ms-office.drawingml.diagramDrawing+xml"/>
  <Override PartName="/ppt/diagrams/data195.xml" ContentType="application/vnd.openxmlformats-officedocument.drawingml.diagramData+xml"/>
  <Override PartName="/ppt/diagrams/layout195.xml" ContentType="application/vnd.openxmlformats-officedocument.drawingml.diagramLayout+xml"/>
  <Override PartName="/ppt/diagrams/quickStyle195.xml" ContentType="application/vnd.openxmlformats-officedocument.drawingml.diagramStyle+xml"/>
  <Override PartName="/ppt/diagrams/colors195.xml" ContentType="application/vnd.openxmlformats-officedocument.drawingml.diagramColors+xml"/>
  <Override PartName="/ppt/diagrams/drawing195.xml" ContentType="application/vnd.ms-office.drawingml.diagramDrawing+xml"/>
  <Override PartName="/ppt/diagrams/data196.xml" ContentType="application/vnd.openxmlformats-officedocument.drawingml.diagramData+xml"/>
  <Override PartName="/ppt/diagrams/layout196.xml" ContentType="application/vnd.openxmlformats-officedocument.drawingml.diagramLayout+xml"/>
  <Override PartName="/ppt/diagrams/quickStyle196.xml" ContentType="application/vnd.openxmlformats-officedocument.drawingml.diagramStyle+xml"/>
  <Override PartName="/ppt/diagrams/colors196.xml" ContentType="application/vnd.openxmlformats-officedocument.drawingml.diagramColors+xml"/>
  <Override PartName="/ppt/diagrams/drawing196.xml" ContentType="application/vnd.ms-office.drawingml.diagramDrawing+xml"/>
  <Override PartName="/ppt/diagrams/data197.xml" ContentType="application/vnd.openxmlformats-officedocument.drawingml.diagramData+xml"/>
  <Override PartName="/ppt/diagrams/layout197.xml" ContentType="application/vnd.openxmlformats-officedocument.drawingml.diagramLayout+xml"/>
  <Override PartName="/ppt/diagrams/quickStyle197.xml" ContentType="application/vnd.openxmlformats-officedocument.drawingml.diagramStyle+xml"/>
  <Override PartName="/ppt/diagrams/colors197.xml" ContentType="application/vnd.openxmlformats-officedocument.drawingml.diagramColors+xml"/>
  <Override PartName="/ppt/diagrams/drawing197.xml" ContentType="application/vnd.ms-office.drawingml.diagramDrawing+xml"/>
  <Override PartName="/ppt/diagrams/data198.xml" ContentType="application/vnd.openxmlformats-officedocument.drawingml.diagramData+xml"/>
  <Override PartName="/ppt/diagrams/layout198.xml" ContentType="application/vnd.openxmlformats-officedocument.drawingml.diagramLayout+xml"/>
  <Override PartName="/ppt/diagrams/quickStyle198.xml" ContentType="application/vnd.openxmlformats-officedocument.drawingml.diagramStyle+xml"/>
  <Override PartName="/ppt/diagrams/colors198.xml" ContentType="application/vnd.openxmlformats-officedocument.drawingml.diagramColors+xml"/>
  <Override PartName="/ppt/diagrams/drawing198.xml" ContentType="application/vnd.ms-office.drawingml.diagramDrawing+xml"/>
  <Override PartName="/ppt/diagrams/data199.xml" ContentType="application/vnd.openxmlformats-officedocument.drawingml.diagramData+xml"/>
  <Override PartName="/ppt/diagrams/layout199.xml" ContentType="application/vnd.openxmlformats-officedocument.drawingml.diagramLayout+xml"/>
  <Override PartName="/ppt/diagrams/quickStyle199.xml" ContentType="application/vnd.openxmlformats-officedocument.drawingml.diagramStyle+xml"/>
  <Override PartName="/ppt/diagrams/colors199.xml" ContentType="application/vnd.openxmlformats-officedocument.drawingml.diagramColors+xml"/>
  <Override PartName="/ppt/diagrams/drawing199.xml" ContentType="application/vnd.ms-office.drawingml.diagramDrawing+xml"/>
  <Override PartName="/ppt/diagrams/data200.xml" ContentType="application/vnd.openxmlformats-officedocument.drawingml.diagramData+xml"/>
  <Override PartName="/ppt/diagrams/layout200.xml" ContentType="application/vnd.openxmlformats-officedocument.drawingml.diagramLayout+xml"/>
  <Override PartName="/ppt/diagrams/quickStyle200.xml" ContentType="application/vnd.openxmlformats-officedocument.drawingml.diagramStyle+xml"/>
  <Override PartName="/ppt/diagrams/colors200.xml" ContentType="application/vnd.openxmlformats-officedocument.drawingml.diagramColors+xml"/>
  <Override PartName="/ppt/diagrams/drawing200.xml" ContentType="application/vnd.ms-office.drawingml.diagramDrawing+xml"/>
  <Override PartName="/ppt/diagrams/data201.xml" ContentType="application/vnd.openxmlformats-officedocument.drawingml.diagramData+xml"/>
  <Override PartName="/ppt/diagrams/layout201.xml" ContentType="application/vnd.openxmlformats-officedocument.drawingml.diagramLayout+xml"/>
  <Override PartName="/ppt/diagrams/quickStyle201.xml" ContentType="application/vnd.openxmlformats-officedocument.drawingml.diagramStyle+xml"/>
  <Override PartName="/ppt/diagrams/colors201.xml" ContentType="application/vnd.openxmlformats-officedocument.drawingml.diagramColors+xml"/>
  <Override PartName="/ppt/diagrams/drawing201.xml" ContentType="application/vnd.ms-office.drawingml.diagramDrawing+xml"/>
  <Override PartName="/ppt/diagrams/data202.xml" ContentType="application/vnd.openxmlformats-officedocument.drawingml.diagramData+xml"/>
  <Override PartName="/ppt/diagrams/layout202.xml" ContentType="application/vnd.openxmlformats-officedocument.drawingml.diagramLayout+xml"/>
  <Override PartName="/ppt/diagrams/quickStyle202.xml" ContentType="application/vnd.openxmlformats-officedocument.drawingml.diagramStyle+xml"/>
  <Override PartName="/ppt/diagrams/colors202.xml" ContentType="application/vnd.openxmlformats-officedocument.drawingml.diagramColors+xml"/>
  <Override PartName="/ppt/diagrams/drawing202.xml" ContentType="application/vnd.ms-office.drawingml.diagramDrawing+xml"/>
  <Override PartName="/ppt/diagrams/data203.xml" ContentType="application/vnd.openxmlformats-officedocument.drawingml.diagramData+xml"/>
  <Override PartName="/ppt/diagrams/layout203.xml" ContentType="application/vnd.openxmlformats-officedocument.drawingml.diagramLayout+xml"/>
  <Override PartName="/ppt/diagrams/quickStyle203.xml" ContentType="application/vnd.openxmlformats-officedocument.drawingml.diagramStyle+xml"/>
  <Override PartName="/ppt/diagrams/colors203.xml" ContentType="application/vnd.openxmlformats-officedocument.drawingml.diagramColors+xml"/>
  <Override PartName="/ppt/diagrams/drawing203.xml" ContentType="application/vnd.ms-office.drawingml.diagramDrawing+xml"/>
  <Override PartName="/ppt/diagrams/data204.xml" ContentType="application/vnd.openxmlformats-officedocument.drawingml.diagramData+xml"/>
  <Override PartName="/ppt/diagrams/layout204.xml" ContentType="application/vnd.openxmlformats-officedocument.drawingml.diagramLayout+xml"/>
  <Override PartName="/ppt/diagrams/quickStyle204.xml" ContentType="application/vnd.openxmlformats-officedocument.drawingml.diagramStyle+xml"/>
  <Override PartName="/ppt/diagrams/colors204.xml" ContentType="application/vnd.openxmlformats-officedocument.drawingml.diagramColors+xml"/>
  <Override PartName="/ppt/diagrams/drawing204.xml" ContentType="application/vnd.ms-office.drawingml.diagramDrawing+xml"/>
  <Override PartName="/ppt/diagrams/data205.xml" ContentType="application/vnd.openxmlformats-officedocument.drawingml.diagramData+xml"/>
  <Override PartName="/ppt/diagrams/layout205.xml" ContentType="application/vnd.openxmlformats-officedocument.drawingml.diagramLayout+xml"/>
  <Override PartName="/ppt/diagrams/quickStyle205.xml" ContentType="application/vnd.openxmlformats-officedocument.drawingml.diagramStyle+xml"/>
  <Override PartName="/ppt/diagrams/colors205.xml" ContentType="application/vnd.openxmlformats-officedocument.drawingml.diagramColors+xml"/>
  <Override PartName="/ppt/diagrams/drawing205.xml" ContentType="application/vnd.ms-office.drawingml.diagramDrawing+xml"/>
  <Override PartName="/ppt/diagrams/data206.xml" ContentType="application/vnd.openxmlformats-officedocument.drawingml.diagramData+xml"/>
  <Override PartName="/ppt/diagrams/layout206.xml" ContentType="application/vnd.openxmlformats-officedocument.drawingml.diagramLayout+xml"/>
  <Override PartName="/ppt/diagrams/quickStyle206.xml" ContentType="application/vnd.openxmlformats-officedocument.drawingml.diagramStyle+xml"/>
  <Override PartName="/ppt/diagrams/colors206.xml" ContentType="application/vnd.openxmlformats-officedocument.drawingml.diagramColors+xml"/>
  <Override PartName="/ppt/diagrams/drawing206.xml" ContentType="application/vnd.ms-office.drawingml.diagramDrawing+xml"/>
  <Override PartName="/ppt/diagrams/data207.xml" ContentType="application/vnd.openxmlformats-officedocument.drawingml.diagramData+xml"/>
  <Override PartName="/ppt/diagrams/layout207.xml" ContentType="application/vnd.openxmlformats-officedocument.drawingml.diagramLayout+xml"/>
  <Override PartName="/ppt/diagrams/quickStyle207.xml" ContentType="application/vnd.openxmlformats-officedocument.drawingml.diagramStyle+xml"/>
  <Override PartName="/ppt/diagrams/colors207.xml" ContentType="application/vnd.openxmlformats-officedocument.drawingml.diagramColors+xml"/>
  <Override PartName="/ppt/diagrams/drawing207.xml" ContentType="application/vnd.ms-office.drawingml.diagramDrawing+xml"/>
  <Override PartName="/ppt/diagrams/data208.xml" ContentType="application/vnd.openxmlformats-officedocument.drawingml.diagramData+xml"/>
  <Override PartName="/ppt/diagrams/layout208.xml" ContentType="application/vnd.openxmlformats-officedocument.drawingml.diagramLayout+xml"/>
  <Override PartName="/ppt/diagrams/quickStyle208.xml" ContentType="application/vnd.openxmlformats-officedocument.drawingml.diagramStyle+xml"/>
  <Override PartName="/ppt/diagrams/colors208.xml" ContentType="application/vnd.openxmlformats-officedocument.drawingml.diagramColors+xml"/>
  <Override PartName="/ppt/diagrams/drawing208.xml" ContentType="application/vnd.ms-office.drawingml.diagramDrawing+xml"/>
  <Override PartName="/ppt/diagrams/data209.xml" ContentType="application/vnd.openxmlformats-officedocument.drawingml.diagramData+xml"/>
  <Override PartName="/ppt/diagrams/layout209.xml" ContentType="application/vnd.openxmlformats-officedocument.drawingml.diagramLayout+xml"/>
  <Override PartName="/ppt/diagrams/quickStyle209.xml" ContentType="application/vnd.openxmlformats-officedocument.drawingml.diagramStyle+xml"/>
  <Override PartName="/ppt/diagrams/colors209.xml" ContentType="application/vnd.openxmlformats-officedocument.drawingml.diagramColors+xml"/>
  <Override PartName="/ppt/diagrams/drawing209.xml" ContentType="application/vnd.ms-office.drawingml.diagramDrawing+xml"/>
  <Override PartName="/ppt/diagrams/data210.xml" ContentType="application/vnd.openxmlformats-officedocument.drawingml.diagramData+xml"/>
  <Override PartName="/ppt/diagrams/layout210.xml" ContentType="application/vnd.openxmlformats-officedocument.drawingml.diagramLayout+xml"/>
  <Override PartName="/ppt/diagrams/quickStyle210.xml" ContentType="application/vnd.openxmlformats-officedocument.drawingml.diagramStyle+xml"/>
  <Override PartName="/ppt/diagrams/colors210.xml" ContentType="application/vnd.openxmlformats-officedocument.drawingml.diagramColors+xml"/>
  <Override PartName="/ppt/diagrams/drawing210.xml" ContentType="application/vnd.ms-office.drawingml.diagramDrawing+xml"/>
  <Override PartName="/ppt/diagrams/data211.xml" ContentType="application/vnd.openxmlformats-officedocument.drawingml.diagramData+xml"/>
  <Override PartName="/ppt/diagrams/layout211.xml" ContentType="application/vnd.openxmlformats-officedocument.drawingml.diagramLayout+xml"/>
  <Override PartName="/ppt/diagrams/quickStyle211.xml" ContentType="application/vnd.openxmlformats-officedocument.drawingml.diagramStyle+xml"/>
  <Override PartName="/ppt/diagrams/colors211.xml" ContentType="application/vnd.openxmlformats-officedocument.drawingml.diagramColors+xml"/>
  <Override PartName="/ppt/diagrams/drawing211.xml" ContentType="application/vnd.ms-office.drawingml.diagramDrawing+xml"/>
  <Override PartName="/ppt/diagrams/data212.xml" ContentType="application/vnd.openxmlformats-officedocument.drawingml.diagramData+xml"/>
  <Override PartName="/ppt/diagrams/layout212.xml" ContentType="application/vnd.openxmlformats-officedocument.drawingml.diagramLayout+xml"/>
  <Override PartName="/ppt/diagrams/quickStyle212.xml" ContentType="application/vnd.openxmlformats-officedocument.drawingml.diagramStyle+xml"/>
  <Override PartName="/ppt/diagrams/colors212.xml" ContentType="application/vnd.openxmlformats-officedocument.drawingml.diagramColors+xml"/>
  <Override PartName="/ppt/diagrams/drawing212.xml" ContentType="application/vnd.ms-office.drawingml.diagramDrawing+xml"/>
  <Override PartName="/ppt/diagrams/data213.xml" ContentType="application/vnd.openxmlformats-officedocument.drawingml.diagramData+xml"/>
  <Override PartName="/ppt/diagrams/layout213.xml" ContentType="application/vnd.openxmlformats-officedocument.drawingml.diagramLayout+xml"/>
  <Override PartName="/ppt/diagrams/quickStyle213.xml" ContentType="application/vnd.openxmlformats-officedocument.drawingml.diagramStyle+xml"/>
  <Override PartName="/ppt/diagrams/colors213.xml" ContentType="application/vnd.openxmlformats-officedocument.drawingml.diagramColors+xml"/>
  <Override PartName="/ppt/diagrams/drawing213.xml" ContentType="application/vnd.ms-office.drawingml.diagramDrawing+xml"/>
  <Override PartName="/ppt/diagrams/data214.xml" ContentType="application/vnd.openxmlformats-officedocument.drawingml.diagramData+xml"/>
  <Override PartName="/ppt/diagrams/layout214.xml" ContentType="application/vnd.openxmlformats-officedocument.drawingml.diagramLayout+xml"/>
  <Override PartName="/ppt/diagrams/quickStyle214.xml" ContentType="application/vnd.openxmlformats-officedocument.drawingml.diagramStyle+xml"/>
  <Override PartName="/ppt/diagrams/colors214.xml" ContentType="application/vnd.openxmlformats-officedocument.drawingml.diagramColors+xml"/>
  <Override PartName="/ppt/diagrams/drawing214.xml" ContentType="application/vnd.ms-office.drawingml.diagramDrawing+xml"/>
  <Override PartName="/ppt/diagrams/data215.xml" ContentType="application/vnd.openxmlformats-officedocument.drawingml.diagramData+xml"/>
  <Override PartName="/ppt/diagrams/layout215.xml" ContentType="application/vnd.openxmlformats-officedocument.drawingml.diagramLayout+xml"/>
  <Override PartName="/ppt/diagrams/quickStyle215.xml" ContentType="application/vnd.openxmlformats-officedocument.drawingml.diagramStyle+xml"/>
  <Override PartName="/ppt/diagrams/colors215.xml" ContentType="application/vnd.openxmlformats-officedocument.drawingml.diagramColors+xml"/>
  <Override PartName="/ppt/diagrams/drawing215.xml" ContentType="application/vnd.ms-office.drawingml.diagramDrawing+xml"/>
  <Override PartName="/ppt/diagrams/data216.xml" ContentType="application/vnd.openxmlformats-officedocument.drawingml.diagramData+xml"/>
  <Override PartName="/ppt/diagrams/layout216.xml" ContentType="application/vnd.openxmlformats-officedocument.drawingml.diagramLayout+xml"/>
  <Override PartName="/ppt/diagrams/quickStyle216.xml" ContentType="application/vnd.openxmlformats-officedocument.drawingml.diagramStyle+xml"/>
  <Override PartName="/ppt/diagrams/colors216.xml" ContentType="application/vnd.openxmlformats-officedocument.drawingml.diagramColors+xml"/>
  <Override PartName="/ppt/diagrams/drawing216.xml" ContentType="application/vnd.ms-office.drawingml.diagramDrawing+xml"/>
  <Override PartName="/ppt/diagrams/data217.xml" ContentType="application/vnd.openxmlformats-officedocument.drawingml.diagramData+xml"/>
  <Override PartName="/ppt/diagrams/layout217.xml" ContentType="application/vnd.openxmlformats-officedocument.drawingml.diagramLayout+xml"/>
  <Override PartName="/ppt/diagrams/quickStyle217.xml" ContentType="application/vnd.openxmlformats-officedocument.drawingml.diagramStyle+xml"/>
  <Override PartName="/ppt/diagrams/colors217.xml" ContentType="application/vnd.openxmlformats-officedocument.drawingml.diagramColors+xml"/>
  <Override PartName="/ppt/diagrams/drawing217.xml" ContentType="application/vnd.ms-office.drawingml.diagramDrawing+xml"/>
  <Override PartName="/ppt/diagrams/data218.xml" ContentType="application/vnd.openxmlformats-officedocument.drawingml.diagramData+xml"/>
  <Override PartName="/ppt/diagrams/layout218.xml" ContentType="application/vnd.openxmlformats-officedocument.drawingml.diagramLayout+xml"/>
  <Override PartName="/ppt/diagrams/quickStyle218.xml" ContentType="application/vnd.openxmlformats-officedocument.drawingml.diagramStyle+xml"/>
  <Override PartName="/ppt/diagrams/colors218.xml" ContentType="application/vnd.openxmlformats-officedocument.drawingml.diagramColors+xml"/>
  <Override PartName="/ppt/diagrams/drawing218.xml" ContentType="application/vnd.ms-office.drawingml.diagramDrawing+xml"/>
  <Override PartName="/ppt/diagrams/data219.xml" ContentType="application/vnd.openxmlformats-officedocument.drawingml.diagramData+xml"/>
  <Override PartName="/ppt/diagrams/layout219.xml" ContentType="application/vnd.openxmlformats-officedocument.drawingml.diagramLayout+xml"/>
  <Override PartName="/ppt/diagrams/quickStyle219.xml" ContentType="application/vnd.openxmlformats-officedocument.drawingml.diagramStyle+xml"/>
  <Override PartName="/ppt/diagrams/colors219.xml" ContentType="application/vnd.openxmlformats-officedocument.drawingml.diagramColors+xml"/>
  <Override PartName="/ppt/diagrams/drawing219.xml" ContentType="application/vnd.ms-office.drawingml.diagramDrawing+xml"/>
  <Override PartName="/ppt/diagrams/data220.xml" ContentType="application/vnd.openxmlformats-officedocument.drawingml.diagramData+xml"/>
  <Override PartName="/ppt/diagrams/layout220.xml" ContentType="application/vnd.openxmlformats-officedocument.drawingml.diagramLayout+xml"/>
  <Override PartName="/ppt/diagrams/quickStyle220.xml" ContentType="application/vnd.openxmlformats-officedocument.drawingml.diagramStyle+xml"/>
  <Override PartName="/ppt/diagrams/colors220.xml" ContentType="application/vnd.openxmlformats-officedocument.drawingml.diagramColors+xml"/>
  <Override PartName="/ppt/diagrams/drawing220.xml" ContentType="application/vnd.ms-office.drawingml.diagramDrawing+xml"/>
  <Override PartName="/ppt/diagrams/data221.xml" ContentType="application/vnd.openxmlformats-officedocument.drawingml.diagramData+xml"/>
  <Override PartName="/ppt/diagrams/layout221.xml" ContentType="application/vnd.openxmlformats-officedocument.drawingml.diagramLayout+xml"/>
  <Override PartName="/ppt/diagrams/quickStyle221.xml" ContentType="application/vnd.openxmlformats-officedocument.drawingml.diagramStyle+xml"/>
  <Override PartName="/ppt/diagrams/colors221.xml" ContentType="application/vnd.openxmlformats-officedocument.drawingml.diagramColors+xml"/>
  <Override PartName="/ppt/diagrams/drawing221.xml" ContentType="application/vnd.ms-office.drawingml.diagramDrawing+xml"/>
  <Override PartName="/ppt/diagrams/data222.xml" ContentType="application/vnd.openxmlformats-officedocument.drawingml.diagramData+xml"/>
  <Override PartName="/ppt/diagrams/layout222.xml" ContentType="application/vnd.openxmlformats-officedocument.drawingml.diagramLayout+xml"/>
  <Override PartName="/ppt/diagrams/quickStyle222.xml" ContentType="application/vnd.openxmlformats-officedocument.drawingml.diagramStyle+xml"/>
  <Override PartName="/ppt/diagrams/colors222.xml" ContentType="application/vnd.openxmlformats-officedocument.drawingml.diagramColors+xml"/>
  <Override PartName="/ppt/diagrams/drawing222.xml" ContentType="application/vnd.ms-office.drawingml.diagramDrawing+xml"/>
  <Override PartName="/ppt/diagrams/data223.xml" ContentType="application/vnd.openxmlformats-officedocument.drawingml.diagramData+xml"/>
  <Override PartName="/ppt/diagrams/layout223.xml" ContentType="application/vnd.openxmlformats-officedocument.drawingml.diagramLayout+xml"/>
  <Override PartName="/ppt/diagrams/quickStyle223.xml" ContentType="application/vnd.openxmlformats-officedocument.drawingml.diagramStyle+xml"/>
  <Override PartName="/ppt/diagrams/colors223.xml" ContentType="application/vnd.openxmlformats-officedocument.drawingml.diagramColors+xml"/>
  <Override PartName="/ppt/diagrams/drawing223.xml" ContentType="application/vnd.ms-office.drawingml.diagramDrawing+xml"/>
  <Override PartName="/ppt/diagrams/data224.xml" ContentType="application/vnd.openxmlformats-officedocument.drawingml.diagramData+xml"/>
  <Override PartName="/ppt/diagrams/layout224.xml" ContentType="application/vnd.openxmlformats-officedocument.drawingml.diagramLayout+xml"/>
  <Override PartName="/ppt/diagrams/quickStyle224.xml" ContentType="application/vnd.openxmlformats-officedocument.drawingml.diagramStyle+xml"/>
  <Override PartName="/ppt/diagrams/colors224.xml" ContentType="application/vnd.openxmlformats-officedocument.drawingml.diagramColors+xml"/>
  <Override PartName="/ppt/diagrams/drawing224.xml" ContentType="application/vnd.ms-office.drawingml.diagramDrawing+xml"/>
  <Override PartName="/ppt/diagrams/data225.xml" ContentType="application/vnd.openxmlformats-officedocument.drawingml.diagramData+xml"/>
  <Override PartName="/ppt/diagrams/layout225.xml" ContentType="application/vnd.openxmlformats-officedocument.drawingml.diagramLayout+xml"/>
  <Override PartName="/ppt/diagrams/quickStyle225.xml" ContentType="application/vnd.openxmlformats-officedocument.drawingml.diagramStyle+xml"/>
  <Override PartName="/ppt/diagrams/colors225.xml" ContentType="application/vnd.openxmlformats-officedocument.drawingml.diagramColors+xml"/>
  <Override PartName="/ppt/diagrams/drawing225.xml" ContentType="application/vnd.ms-office.drawingml.diagramDrawing+xml"/>
  <Override PartName="/ppt/diagrams/data226.xml" ContentType="application/vnd.openxmlformats-officedocument.drawingml.diagramData+xml"/>
  <Override PartName="/ppt/diagrams/layout226.xml" ContentType="application/vnd.openxmlformats-officedocument.drawingml.diagramLayout+xml"/>
  <Override PartName="/ppt/diagrams/quickStyle226.xml" ContentType="application/vnd.openxmlformats-officedocument.drawingml.diagramStyle+xml"/>
  <Override PartName="/ppt/diagrams/colors226.xml" ContentType="application/vnd.openxmlformats-officedocument.drawingml.diagramColors+xml"/>
  <Override PartName="/ppt/diagrams/drawing226.xml" ContentType="application/vnd.ms-office.drawingml.diagramDrawing+xml"/>
  <Override PartName="/ppt/diagrams/data227.xml" ContentType="application/vnd.openxmlformats-officedocument.drawingml.diagramData+xml"/>
  <Override PartName="/ppt/diagrams/layout227.xml" ContentType="application/vnd.openxmlformats-officedocument.drawingml.diagramLayout+xml"/>
  <Override PartName="/ppt/diagrams/quickStyle227.xml" ContentType="application/vnd.openxmlformats-officedocument.drawingml.diagramStyle+xml"/>
  <Override PartName="/ppt/diagrams/colors227.xml" ContentType="application/vnd.openxmlformats-officedocument.drawingml.diagramColors+xml"/>
  <Override PartName="/ppt/diagrams/drawing227.xml" ContentType="application/vnd.ms-office.drawingml.diagramDrawing+xml"/>
  <Override PartName="/ppt/diagrams/data228.xml" ContentType="application/vnd.openxmlformats-officedocument.drawingml.diagramData+xml"/>
  <Override PartName="/ppt/diagrams/layout228.xml" ContentType="application/vnd.openxmlformats-officedocument.drawingml.diagramLayout+xml"/>
  <Override PartName="/ppt/diagrams/quickStyle228.xml" ContentType="application/vnd.openxmlformats-officedocument.drawingml.diagramStyle+xml"/>
  <Override PartName="/ppt/diagrams/colors228.xml" ContentType="application/vnd.openxmlformats-officedocument.drawingml.diagramColors+xml"/>
  <Override PartName="/ppt/diagrams/drawing228.xml" ContentType="application/vnd.ms-office.drawingml.diagramDrawing+xml"/>
  <Override PartName="/ppt/diagrams/data229.xml" ContentType="application/vnd.openxmlformats-officedocument.drawingml.diagramData+xml"/>
  <Override PartName="/ppt/diagrams/layout229.xml" ContentType="application/vnd.openxmlformats-officedocument.drawingml.diagramLayout+xml"/>
  <Override PartName="/ppt/diagrams/quickStyle229.xml" ContentType="application/vnd.openxmlformats-officedocument.drawingml.diagramStyle+xml"/>
  <Override PartName="/ppt/diagrams/colors229.xml" ContentType="application/vnd.openxmlformats-officedocument.drawingml.diagramColors+xml"/>
  <Override PartName="/ppt/diagrams/drawing229.xml" ContentType="application/vnd.ms-office.drawingml.diagramDrawing+xml"/>
  <Override PartName="/ppt/diagrams/data230.xml" ContentType="application/vnd.openxmlformats-officedocument.drawingml.diagramData+xml"/>
  <Override PartName="/ppt/diagrams/layout230.xml" ContentType="application/vnd.openxmlformats-officedocument.drawingml.diagramLayout+xml"/>
  <Override PartName="/ppt/diagrams/quickStyle230.xml" ContentType="application/vnd.openxmlformats-officedocument.drawingml.diagramStyle+xml"/>
  <Override PartName="/ppt/diagrams/colors230.xml" ContentType="application/vnd.openxmlformats-officedocument.drawingml.diagramColors+xml"/>
  <Override PartName="/ppt/diagrams/drawing230.xml" ContentType="application/vnd.ms-office.drawingml.diagramDrawing+xml"/>
  <Override PartName="/ppt/diagrams/data231.xml" ContentType="application/vnd.openxmlformats-officedocument.drawingml.diagramData+xml"/>
  <Override PartName="/ppt/diagrams/layout231.xml" ContentType="application/vnd.openxmlformats-officedocument.drawingml.diagramLayout+xml"/>
  <Override PartName="/ppt/diagrams/quickStyle231.xml" ContentType="application/vnd.openxmlformats-officedocument.drawingml.diagramStyle+xml"/>
  <Override PartName="/ppt/diagrams/colors231.xml" ContentType="application/vnd.openxmlformats-officedocument.drawingml.diagramColors+xml"/>
  <Override PartName="/ppt/diagrams/drawing231.xml" ContentType="application/vnd.ms-office.drawingml.diagramDrawing+xml"/>
  <Override PartName="/ppt/diagrams/data232.xml" ContentType="application/vnd.openxmlformats-officedocument.drawingml.diagramData+xml"/>
  <Override PartName="/ppt/diagrams/layout232.xml" ContentType="application/vnd.openxmlformats-officedocument.drawingml.diagramLayout+xml"/>
  <Override PartName="/ppt/diagrams/quickStyle232.xml" ContentType="application/vnd.openxmlformats-officedocument.drawingml.diagramStyle+xml"/>
  <Override PartName="/ppt/diagrams/colors232.xml" ContentType="application/vnd.openxmlformats-officedocument.drawingml.diagramColors+xml"/>
  <Override PartName="/ppt/diagrams/drawing232.xml" ContentType="application/vnd.ms-office.drawingml.diagramDrawing+xml"/>
  <Override PartName="/ppt/diagrams/data233.xml" ContentType="application/vnd.openxmlformats-officedocument.drawingml.diagramData+xml"/>
  <Override PartName="/ppt/diagrams/layout233.xml" ContentType="application/vnd.openxmlformats-officedocument.drawingml.diagramLayout+xml"/>
  <Override PartName="/ppt/diagrams/quickStyle233.xml" ContentType="application/vnd.openxmlformats-officedocument.drawingml.diagramStyle+xml"/>
  <Override PartName="/ppt/diagrams/colors233.xml" ContentType="application/vnd.openxmlformats-officedocument.drawingml.diagramColors+xml"/>
  <Override PartName="/ppt/diagrams/drawing233.xml" ContentType="application/vnd.ms-office.drawingml.diagramDrawing+xml"/>
  <Override PartName="/ppt/diagrams/data234.xml" ContentType="application/vnd.openxmlformats-officedocument.drawingml.diagramData+xml"/>
  <Override PartName="/ppt/diagrams/layout234.xml" ContentType="application/vnd.openxmlformats-officedocument.drawingml.diagramLayout+xml"/>
  <Override PartName="/ppt/diagrams/quickStyle234.xml" ContentType="application/vnd.openxmlformats-officedocument.drawingml.diagramStyle+xml"/>
  <Override PartName="/ppt/diagrams/colors234.xml" ContentType="application/vnd.openxmlformats-officedocument.drawingml.diagramColors+xml"/>
  <Override PartName="/ppt/diagrams/drawing234.xml" ContentType="application/vnd.ms-office.drawingml.diagramDrawing+xml"/>
  <Override PartName="/ppt/diagrams/data235.xml" ContentType="application/vnd.openxmlformats-officedocument.drawingml.diagramData+xml"/>
  <Override PartName="/ppt/diagrams/layout235.xml" ContentType="application/vnd.openxmlformats-officedocument.drawingml.diagramLayout+xml"/>
  <Override PartName="/ppt/diagrams/quickStyle235.xml" ContentType="application/vnd.openxmlformats-officedocument.drawingml.diagramStyle+xml"/>
  <Override PartName="/ppt/diagrams/colors235.xml" ContentType="application/vnd.openxmlformats-officedocument.drawingml.diagramColors+xml"/>
  <Override PartName="/ppt/diagrams/drawing235.xml" ContentType="application/vnd.ms-office.drawingml.diagramDrawing+xml"/>
  <Override PartName="/ppt/diagrams/data236.xml" ContentType="application/vnd.openxmlformats-officedocument.drawingml.diagramData+xml"/>
  <Override PartName="/ppt/diagrams/layout236.xml" ContentType="application/vnd.openxmlformats-officedocument.drawingml.diagramLayout+xml"/>
  <Override PartName="/ppt/diagrams/quickStyle236.xml" ContentType="application/vnd.openxmlformats-officedocument.drawingml.diagramStyle+xml"/>
  <Override PartName="/ppt/diagrams/colors236.xml" ContentType="application/vnd.openxmlformats-officedocument.drawingml.diagramColors+xml"/>
  <Override PartName="/ppt/diagrams/drawing236.xml" ContentType="application/vnd.ms-office.drawingml.diagramDrawing+xml"/>
  <Override PartName="/ppt/diagrams/data237.xml" ContentType="application/vnd.openxmlformats-officedocument.drawingml.diagramData+xml"/>
  <Override PartName="/ppt/diagrams/layout237.xml" ContentType="application/vnd.openxmlformats-officedocument.drawingml.diagramLayout+xml"/>
  <Override PartName="/ppt/diagrams/quickStyle237.xml" ContentType="application/vnd.openxmlformats-officedocument.drawingml.diagramStyle+xml"/>
  <Override PartName="/ppt/diagrams/colors237.xml" ContentType="application/vnd.openxmlformats-officedocument.drawingml.diagramColors+xml"/>
  <Override PartName="/ppt/diagrams/drawing237.xml" ContentType="application/vnd.ms-office.drawingml.diagramDrawing+xml"/>
  <Override PartName="/ppt/diagrams/data238.xml" ContentType="application/vnd.openxmlformats-officedocument.drawingml.diagramData+xml"/>
  <Override PartName="/ppt/diagrams/layout238.xml" ContentType="application/vnd.openxmlformats-officedocument.drawingml.diagramLayout+xml"/>
  <Override PartName="/ppt/diagrams/quickStyle238.xml" ContentType="application/vnd.openxmlformats-officedocument.drawingml.diagramStyle+xml"/>
  <Override PartName="/ppt/diagrams/colors238.xml" ContentType="application/vnd.openxmlformats-officedocument.drawingml.diagramColors+xml"/>
  <Override PartName="/ppt/diagrams/drawing238.xml" ContentType="application/vnd.ms-office.drawingml.diagramDrawing+xml"/>
  <Override PartName="/ppt/diagrams/data239.xml" ContentType="application/vnd.openxmlformats-officedocument.drawingml.diagramData+xml"/>
  <Override PartName="/ppt/diagrams/layout239.xml" ContentType="application/vnd.openxmlformats-officedocument.drawingml.diagramLayout+xml"/>
  <Override PartName="/ppt/diagrams/quickStyle239.xml" ContentType="application/vnd.openxmlformats-officedocument.drawingml.diagramStyle+xml"/>
  <Override PartName="/ppt/diagrams/colors239.xml" ContentType="application/vnd.openxmlformats-officedocument.drawingml.diagramColors+xml"/>
  <Override PartName="/ppt/diagrams/drawing239.xml" ContentType="application/vnd.ms-office.drawingml.diagramDrawing+xml"/>
  <Override PartName="/ppt/diagrams/data240.xml" ContentType="application/vnd.openxmlformats-officedocument.drawingml.diagramData+xml"/>
  <Override PartName="/ppt/diagrams/layout240.xml" ContentType="application/vnd.openxmlformats-officedocument.drawingml.diagramLayout+xml"/>
  <Override PartName="/ppt/diagrams/quickStyle240.xml" ContentType="application/vnd.openxmlformats-officedocument.drawingml.diagramStyle+xml"/>
  <Override PartName="/ppt/diagrams/colors240.xml" ContentType="application/vnd.openxmlformats-officedocument.drawingml.diagramColors+xml"/>
  <Override PartName="/ppt/diagrams/drawing240.xml" ContentType="application/vnd.ms-office.drawingml.diagramDrawing+xml"/>
  <Override PartName="/ppt/diagrams/data241.xml" ContentType="application/vnd.openxmlformats-officedocument.drawingml.diagramData+xml"/>
  <Override PartName="/ppt/diagrams/layout241.xml" ContentType="application/vnd.openxmlformats-officedocument.drawingml.diagramLayout+xml"/>
  <Override PartName="/ppt/diagrams/quickStyle241.xml" ContentType="application/vnd.openxmlformats-officedocument.drawingml.diagramStyle+xml"/>
  <Override PartName="/ppt/diagrams/colors241.xml" ContentType="application/vnd.openxmlformats-officedocument.drawingml.diagramColors+xml"/>
  <Override PartName="/ppt/diagrams/drawing241.xml" ContentType="application/vnd.ms-office.drawingml.diagramDrawing+xml"/>
  <Override PartName="/ppt/diagrams/data242.xml" ContentType="application/vnd.openxmlformats-officedocument.drawingml.diagramData+xml"/>
  <Override PartName="/ppt/diagrams/layout242.xml" ContentType="application/vnd.openxmlformats-officedocument.drawingml.diagramLayout+xml"/>
  <Override PartName="/ppt/diagrams/quickStyle242.xml" ContentType="application/vnd.openxmlformats-officedocument.drawingml.diagramStyle+xml"/>
  <Override PartName="/ppt/diagrams/colors242.xml" ContentType="application/vnd.openxmlformats-officedocument.drawingml.diagramColors+xml"/>
  <Override PartName="/ppt/diagrams/drawing242.xml" ContentType="application/vnd.ms-office.drawingml.diagramDrawing+xml"/>
  <Override PartName="/ppt/diagrams/data243.xml" ContentType="application/vnd.openxmlformats-officedocument.drawingml.diagramData+xml"/>
  <Override PartName="/ppt/diagrams/layout243.xml" ContentType="application/vnd.openxmlformats-officedocument.drawingml.diagramLayout+xml"/>
  <Override PartName="/ppt/diagrams/quickStyle243.xml" ContentType="application/vnd.openxmlformats-officedocument.drawingml.diagramStyle+xml"/>
  <Override PartName="/ppt/diagrams/colors243.xml" ContentType="application/vnd.openxmlformats-officedocument.drawingml.diagramColors+xml"/>
  <Override PartName="/ppt/diagrams/drawing243.xml" ContentType="application/vnd.ms-office.drawingml.diagramDrawing+xml"/>
  <Override PartName="/ppt/diagrams/data244.xml" ContentType="application/vnd.openxmlformats-officedocument.drawingml.diagramData+xml"/>
  <Override PartName="/ppt/diagrams/layout244.xml" ContentType="application/vnd.openxmlformats-officedocument.drawingml.diagramLayout+xml"/>
  <Override PartName="/ppt/diagrams/quickStyle244.xml" ContentType="application/vnd.openxmlformats-officedocument.drawingml.diagramStyle+xml"/>
  <Override PartName="/ppt/diagrams/colors244.xml" ContentType="application/vnd.openxmlformats-officedocument.drawingml.diagramColors+xml"/>
  <Override PartName="/ppt/diagrams/drawing244.xml" ContentType="application/vnd.ms-office.drawingml.diagramDrawing+xml"/>
  <Override PartName="/ppt/diagrams/data245.xml" ContentType="application/vnd.openxmlformats-officedocument.drawingml.diagramData+xml"/>
  <Override PartName="/ppt/diagrams/layout245.xml" ContentType="application/vnd.openxmlformats-officedocument.drawingml.diagramLayout+xml"/>
  <Override PartName="/ppt/diagrams/quickStyle245.xml" ContentType="application/vnd.openxmlformats-officedocument.drawingml.diagramStyle+xml"/>
  <Override PartName="/ppt/diagrams/colors245.xml" ContentType="application/vnd.openxmlformats-officedocument.drawingml.diagramColors+xml"/>
  <Override PartName="/ppt/diagrams/drawing245.xml" ContentType="application/vnd.ms-office.drawingml.diagramDrawing+xml"/>
  <Override PartName="/ppt/diagrams/data246.xml" ContentType="application/vnd.openxmlformats-officedocument.drawingml.diagramData+xml"/>
  <Override PartName="/ppt/diagrams/layout246.xml" ContentType="application/vnd.openxmlformats-officedocument.drawingml.diagramLayout+xml"/>
  <Override PartName="/ppt/diagrams/quickStyle246.xml" ContentType="application/vnd.openxmlformats-officedocument.drawingml.diagramStyle+xml"/>
  <Override PartName="/ppt/diagrams/colors246.xml" ContentType="application/vnd.openxmlformats-officedocument.drawingml.diagramColors+xml"/>
  <Override PartName="/ppt/diagrams/drawing246.xml" ContentType="application/vnd.ms-office.drawingml.diagramDrawing+xml"/>
  <Override PartName="/ppt/diagrams/data247.xml" ContentType="application/vnd.openxmlformats-officedocument.drawingml.diagramData+xml"/>
  <Override PartName="/ppt/diagrams/layout247.xml" ContentType="application/vnd.openxmlformats-officedocument.drawingml.diagramLayout+xml"/>
  <Override PartName="/ppt/diagrams/quickStyle247.xml" ContentType="application/vnd.openxmlformats-officedocument.drawingml.diagramStyle+xml"/>
  <Override PartName="/ppt/diagrams/colors247.xml" ContentType="application/vnd.openxmlformats-officedocument.drawingml.diagramColors+xml"/>
  <Override PartName="/ppt/diagrams/drawing247.xml" ContentType="application/vnd.ms-office.drawingml.diagramDrawing+xml"/>
  <Override PartName="/ppt/diagrams/data248.xml" ContentType="application/vnd.openxmlformats-officedocument.drawingml.diagramData+xml"/>
  <Override PartName="/ppt/diagrams/layout248.xml" ContentType="application/vnd.openxmlformats-officedocument.drawingml.diagramLayout+xml"/>
  <Override PartName="/ppt/diagrams/quickStyle248.xml" ContentType="application/vnd.openxmlformats-officedocument.drawingml.diagramStyle+xml"/>
  <Override PartName="/ppt/diagrams/colors248.xml" ContentType="application/vnd.openxmlformats-officedocument.drawingml.diagramColors+xml"/>
  <Override PartName="/ppt/diagrams/drawing248.xml" ContentType="application/vnd.ms-office.drawingml.diagramDrawing+xml"/>
  <Override PartName="/ppt/diagrams/data249.xml" ContentType="application/vnd.openxmlformats-officedocument.drawingml.diagramData+xml"/>
  <Override PartName="/ppt/diagrams/layout249.xml" ContentType="application/vnd.openxmlformats-officedocument.drawingml.diagramLayout+xml"/>
  <Override PartName="/ppt/diagrams/quickStyle249.xml" ContentType="application/vnd.openxmlformats-officedocument.drawingml.diagramStyle+xml"/>
  <Override PartName="/ppt/diagrams/colors249.xml" ContentType="application/vnd.openxmlformats-officedocument.drawingml.diagramColors+xml"/>
  <Override PartName="/ppt/diagrams/drawing249.xml" ContentType="application/vnd.ms-office.drawingml.diagramDrawing+xml"/>
  <Override PartName="/ppt/diagrams/data250.xml" ContentType="application/vnd.openxmlformats-officedocument.drawingml.diagramData+xml"/>
  <Override PartName="/ppt/diagrams/layout250.xml" ContentType="application/vnd.openxmlformats-officedocument.drawingml.diagramLayout+xml"/>
  <Override PartName="/ppt/diagrams/quickStyle250.xml" ContentType="application/vnd.openxmlformats-officedocument.drawingml.diagramStyle+xml"/>
  <Override PartName="/ppt/diagrams/colors250.xml" ContentType="application/vnd.openxmlformats-officedocument.drawingml.diagramColors+xml"/>
  <Override PartName="/ppt/diagrams/drawing250.xml" ContentType="application/vnd.ms-office.drawingml.diagramDrawing+xml"/>
  <Override PartName="/ppt/diagrams/data251.xml" ContentType="application/vnd.openxmlformats-officedocument.drawingml.diagramData+xml"/>
  <Override PartName="/ppt/diagrams/layout251.xml" ContentType="application/vnd.openxmlformats-officedocument.drawingml.diagramLayout+xml"/>
  <Override PartName="/ppt/diagrams/quickStyle251.xml" ContentType="application/vnd.openxmlformats-officedocument.drawingml.diagramStyle+xml"/>
  <Override PartName="/ppt/diagrams/colors251.xml" ContentType="application/vnd.openxmlformats-officedocument.drawingml.diagramColors+xml"/>
  <Override PartName="/ppt/diagrams/drawing251.xml" ContentType="application/vnd.ms-office.drawingml.diagramDrawing+xml"/>
  <Override PartName="/ppt/diagrams/data252.xml" ContentType="application/vnd.openxmlformats-officedocument.drawingml.diagramData+xml"/>
  <Override PartName="/ppt/diagrams/layout252.xml" ContentType="application/vnd.openxmlformats-officedocument.drawingml.diagramLayout+xml"/>
  <Override PartName="/ppt/diagrams/quickStyle252.xml" ContentType="application/vnd.openxmlformats-officedocument.drawingml.diagramStyle+xml"/>
  <Override PartName="/ppt/diagrams/colors252.xml" ContentType="application/vnd.openxmlformats-officedocument.drawingml.diagramColors+xml"/>
  <Override PartName="/ppt/diagrams/drawing252.xml" ContentType="application/vnd.ms-office.drawingml.diagramDrawing+xml"/>
  <Override PartName="/ppt/diagrams/data253.xml" ContentType="application/vnd.openxmlformats-officedocument.drawingml.diagramData+xml"/>
  <Override PartName="/ppt/diagrams/layout253.xml" ContentType="application/vnd.openxmlformats-officedocument.drawingml.diagramLayout+xml"/>
  <Override PartName="/ppt/diagrams/quickStyle253.xml" ContentType="application/vnd.openxmlformats-officedocument.drawingml.diagramStyle+xml"/>
  <Override PartName="/ppt/diagrams/colors253.xml" ContentType="application/vnd.openxmlformats-officedocument.drawingml.diagramColors+xml"/>
  <Override PartName="/ppt/diagrams/drawing253.xml" ContentType="application/vnd.ms-office.drawingml.diagramDrawing+xml"/>
  <Override PartName="/ppt/diagrams/data254.xml" ContentType="application/vnd.openxmlformats-officedocument.drawingml.diagramData+xml"/>
  <Override PartName="/ppt/diagrams/layout254.xml" ContentType="application/vnd.openxmlformats-officedocument.drawingml.diagramLayout+xml"/>
  <Override PartName="/ppt/diagrams/quickStyle254.xml" ContentType="application/vnd.openxmlformats-officedocument.drawingml.diagramStyle+xml"/>
  <Override PartName="/ppt/diagrams/colors254.xml" ContentType="application/vnd.openxmlformats-officedocument.drawingml.diagramColors+xml"/>
  <Override PartName="/ppt/diagrams/drawing254.xml" ContentType="application/vnd.ms-office.drawingml.diagramDrawing+xml"/>
  <Override PartName="/ppt/diagrams/data255.xml" ContentType="application/vnd.openxmlformats-officedocument.drawingml.diagramData+xml"/>
  <Override PartName="/ppt/diagrams/layout255.xml" ContentType="application/vnd.openxmlformats-officedocument.drawingml.diagramLayout+xml"/>
  <Override PartName="/ppt/diagrams/quickStyle255.xml" ContentType="application/vnd.openxmlformats-officedocument.drawingml.diagramStyle+xml"/>
  <Override PartName="/ppt/diagrams/colors255.xml" ContentType="application/vnd.openxmlformats-officedocument.drawingml.diagramColors+xml"/>
  <Override PartName="/ppt/diagrams/drawing255.xml" ContentType="application/vnd.ms-office.drawingml.diagramDrawing+xml"/>
  <Override PartName="/ppt/diagrams/data256.xml" ContentType="application/vnd.openxmlformats-officedocument.drawingml.diagramData+xml"/>
  <Override PartName="/ppt/diagrams/layout256.xml" ContentType="application/vnd.openxmlformats-officedocument.drawingml.diagramLayout+xml"/>
  <Override PartName="/ppt/diagrams/quickStyle256.xml" ContentType="application/vnd.openxmlformats-officedocument.drawingml.diagramStyle+xml"/>
  <Override PartName="/ppt/diagrams/colors256.xml" ContentType="application/vnd.openxmlformats-officedocument.drawingml.diagramColors+xml"/>
  <Override PartName="/ppt/diagrams/drawing256.xml" ContentType="application/vnd.ms-office.drawingml.diagramDrawing+xml"/>
  <Override PartName="/ppt/diagrams/data257.xml" ContentType="application/vnd.openxmlformats-officedocument.drawingml.diagramData+xml"/>
  <Override PartName="/ppt/diagrams/layout257.xml" ContentType="application/vnd.openxmlformats-officedocument.drawingml.diagramLayout+xml"/>
  <Override PartName="/ppt/diagrams/quickStyle257.xml" ContentType="application/vnd.openxmlformats-officedocument.drawingml.diagramStyle+xml"/>
  <Override PartName="/ppt/diagrams/colors257.xml" ContentType="application/vnd.openxmlformats-officedocument.drawingml.diagramColors+xml"/>
  <Override PartName="/ppt/diagrams/drawing257.xml" ContentType="application/vnd.ms-office.drawingml.diagramDrawing+xml"/>
  <Override PartName="/ppt/diagrams/data258.xml" ContentType="application/vnd.openxmlformats-officedocument.drawingml.diagramData+xml"/>
  <Override PartName="/ppt/diagrams/layout258.xml" ContentType="application/vnd.openxmlformats-officedocument.drawingml.diagramLayout+xml"/>
  <Override PartName="/ppt/diagrams/quickStyle258.xml" ContentType="application/vnd.openxmlformats-officedocument.drawingml.diagramStyle+xml"/>
  <Override PartName="/ppt/diagrams/colors258.xml" ContentType="application/vnd.openxmlformats-officedocument.drawingml.diagramColors+xml"/>
  <Override PartName="/ppt/diagrams/drawing258.xml" ContentType="application/vnd.ms-office.drawingml.diagramDrawing+xml"/>
  <Override PartName="/ppt/diagrams/data259.xml" ContentType="application/vnd.openxmlformats-officedocument.drawingml.diagramData+xml"/>
  <Override PartName="/ppt/diagrams/layout259.xml" ContentType="application/vnd.openxmlformats-officedocument.drawingml.diagramLayout+xml"/>
  <Override PartName="/ppt/diagrams/quickStyle259.xml" ContentType="application/vnd.openxmlformats-officedocument.drawingml.diagramStyle+xml"/>
  <Override PartName="/ppt/diagrams/colors259.xml" ContentType="application/vnd.openxmlformats-officedocument.drawingml.diagramColors+xml"/>
  <Override PartName="/ppt/diagrams/drawing259.xml" ContentType="application/vnd.ms-office.drawingml.diagramDrawing+xml"/>
  <Override PartName="/ppt/diagrams/data260.xml" ContentType="application/vnd.openxmlformats-officedocument.drawingml.diagramData+xml"/>
  <Override PartName="/ppt/diagrams/layout260.xml" ContentType="application/vnd.openxmlformats-officedocument.drawingml.diagramLayout+xml"/>
  <Override PartName="/ppt/diagrams/quickStyle260.xml" ContentType="application/vnd.openxmlformats-officedocument.drawingml.diagramStyle+xml"/>
  <Override PartName="/ppt/diagrams/colors260.xml" ContentType="application/vnd.openxmlformats-officedocument.drawingml.diagramColors+xml"/>
  <Override PartName="/ppt/diagrams/drawing260.xml" ContentType="application/vnd.ms-office.drawingml.diagramDrawing+xml"/>
  <Override PartName="/ppt/diagrams/data261.xml" ContentType="application/vnd.openxmlformats-officedocument.drawingml.diagramData+xml"/>
  <Override PartName="/ppt/diagrams/layout261.xml" ContentType="application/vnd.openxmlformats-officedocument.drawingml.diagramLayout+xml"/>
  <Override PartName="/ppt/diagrams/quickStyle261.xml" ContentType="application/vnd.openxmlformats-officedocument.drawingml.diagramStyle+xml"/>
  <Override PartName="/ppt/diagrams/colors261.xml" ContentType="application/vnd.openxmlformats-officedocument.drawingml.diagramColors+xml"/>
  <Override PartName="/ppt/diagrams/drawing261.xml" ContentType="application/vnd.ms-office.drawingml.diagramDrawing+xml"/>
  <Override PartName="/ppt/diagrams/data262.xml" ContentType="application/vnd.openxmlformats-officedocument.drawingml.diagramData+xml"/>
  <Override PartName="/ppt/diagrams/layout262.xml" ContentType="application/vnd.openxmlformats-officedocument.drawingml.diagramLayout+xml"/>
  <Override PartName="/ppt/diagrams/quickStyle262.xml" ContentType="application/vnd.openxmlformats-officedocument.drawingml.diagramStyle+xml"/>
  <Override PartName="/ppt/diagrams/colors262.xml" ContentType="application/vnd.openxmlformats-officedocument.drawingml.diagramColors+xml"/>
  <Override PartName="/ppt/diagrams/drawing262.xml" ContentType="application/vnd.ms-office.drawingml.diagramDrawing+xml"/>
  <Override PartName="/ppt/diagrams/data263.xml" ContentType="application/vnd.openxmlformats-officedocument.drawingml.diagramData+xml"/>
  <Override PartName="/ppt/diagrams/layout263.xml" ContentType="application/vnd.openxmlformats-officedocument.drawingml.diagramLayout+xml"/>
  <Override PartName="/ppt/diagrams/quickStyle263.xml" ContentType="application/vnd.openxmlformats-officedocument.drawingml.diagramStyle+xml"/>
  <Override PartName="/ppt/diagrams/colors263.xml" ContentType="application/vnd.openxmlformats-officedocument.drawingml.diagramColors+xml"/>
  <Override PartName="/ppt/diagrams/drawing263.xml" ContentType="application/vnd.ms-office.drawingml.diagramDrawing+xml"/>
  <Override PartName="/ppt/diagrams/data264.xml" ContentType="application/vnd.openxmlformats-officedocument.drawingml.diagramData+xml"/>
  <Override PartName="/ppt/diagrams/layout264.xml" ContentType="application/vnd.openxmlformats-officedocument.drawingml.diagramLayout+xml"/>
  <Override PartName="/ppt/diagrams/quickStyle264.xml" ContentType="application/vnd.openxmlformats-officedocument.drawingml.diagramStyle+xml"/>
  <Override PartName="/ppt/diagrams/colors264.xml" ContentType="application/vnd.openxmlformats-officedocument.drawingml.diagramColors+xml"/>
  <Override PartName="/ppt/diagrams/drawing264.xml" ContentType="application/vnd.ms-office.drawingml.diagramDrawing+xml"/>
  <Override PartName="/ppt/diagrams/data265.xml" ContentType="application/vnd.openxmlformats-officedocument.drawingml.diagramData+xml"/>
  <Override PartName="/ppt/diagrams/layout265.xml" ContentType="application/vnd.openxmlformats-officedocument.drawingml.diagramLayout+xml"/>
  <Override PartName="/ppt/diagrams/quickStyle265.xml" ContentType="application/vnd.openxmlformats-officedocument.drawingml.diagramStyle+xml"/>
  <Override PartName="/ppt/diagrams/colors265.xml" ContentType="application/vnd.openxmlformats-officedocument.drawingml.diagramColors+xml"/>
  <Override PartName="/ppt/diagrams/drawing265.xml" ContentType="application/vnd.ms-office.drawingml.diagramDrawing+xml"/>
  <Override PartName="/ppt/diagrams/data266.xml" ContentType="application/vnd.openxmlformats-officedocument.drawingml.diagramData+xml"/>
  <Override PartName="/ppt/diagrams/layout266.xml" ContentType="application/vnd.openxmlformats-officedocument.drawingml.diagramLayout+xml"/>
  <Override PartName="/ppt/diagrams/quickStyle266.xml" ContentType="application/vnd.openxmlformats-officedocument.drawingml.diagramStyle+xml"/>
  <Override PartName="/ppt/diagrams/colors266.xml" ContentType="application/vnd.openxmlformats-officedocument.drawingml.diagramColors+xml"/>
  <Override PartName="/ppt/diagrams/drawing266.xml" ContentType="application/vnd.ms-office.drawingml.diagramDrawing+xml"/>
  <Override PartName="/ppt/diagrams/data267.xml" ContentType="application/vnd.openxmlformats-officedocument.drawingml.diagramData+xml"/>
  <Override PartName="/ppt/diagrams/layout267.xml" ContentType="application/vnd.openxmlformats-officedocument.drawingml.diagramLayout+xml"/>
  <Override PartName="/ppt/diagrams/quickStyle267.xml" ContentType="application/vnd.openxmlformats-officedocument.drawingml.diagramStyle+xml"/>
  <Override PartName="/ppt/diagrams/colors267.xml" ContentType="application/vnd.openxmlformats-officedocument.drawingml.diagramColors+xml"/>
  <Override PartName="/ppt/diagrams/drawing267.xml" ContentType="application/vnd.ms-office.drawingml.diagramDrawing+xml"/>
  <Override PartName="/ppt/diagrams/data268.xml" ContentType="application/vnd.openxmlformats-officedocument.drawingml.diagramData+xml"/>
  <Override PartName="/ppt/diagrams/layout268.xml" ContentType="application/vnd.openxmlformats-officedocument.drawingml.diagramLayout+xml"/>
  <Override PartName="/ppt/diagrams/quickStyle268.xml" ContentType="application/vnd.openxmlformats-officedocument.drawingml.diagramStyle+xml"/>
  <Override PartName="/ppt/diagrams/colors268.xml" ContentType="application/vnd.openxmlformats-officedocument.drawingml.diagramColors+xml"/>
  <Override PartName="/ppt/diagrams/drawing268.xml" ContentType="application/vnd.ms-office.drawingml.diagramDrawing+xml"/>
  <Override PartName="/ppt/diagrams/data269.xml" ContentType="application/vnd.openxmlformats-officedocument.drawingml.diagramData+xml"/>
  <Override PartName="/ppt/diagrams/layout269.xml" ContentType="application/vnd.openxmlformats-officedocument.drawingml.diagramLayout+xml"/>
  <Override PartName="/ppt/diagrams/quickStyle269.xml" ContentType="application/vnd.openxmlformats-officedocument.drawingml.diagramStyle+xml"/>
  <Override PartName="/ppt/diagrams/colors269.xml" ContentType="application/vnd.openxmlformats-officedocument.drawingml.diagramColors+xml"/>
  <Override PartName="/ppt/diagrams/drawing269.xml" ContentType="application/vnd.ms-office.drawingml.diagramDrawing+xml"/>
  <Override PartName="/ppt/diagrams/data270.xml" ContentType="application/vnd.openxmlformats-officedocument.drawingml.diagramData+xml"/>
  <Override PartName="/ppt/diagrams/layout270.xml" ContentType="application/vnd.openxmlformats-officedocument.drawingml.diagramLayout+xml"/>
  <Override PartName="/ppt/diagrams/quickStyle270.xml" ContentType="application/vnd.openxmlformats-officedocument.drawingml.diagramStyle+xml"/>
  <Override PartName="/ppt/diagrams/colors270.xml" ContentType="application/vnd.openxmlformats-officedocument.drawingml.diagramColors+xml"/>
  <Override PartName="/ppt/diagrams/drawing270.xml" ContentType="application/vnd.ms-office.drawingml.diagramDrawing+xml"/>
  <Override PartName="/ppt/diagrams/data271.xml" ContentType="application/vnd.openxmlformats-officedocument.drawingml.diagramData+xml"/>
  <Override PartName="/ppt/diagrams/layout271.xml" ContentType="application/vnd.openxmlformats-officedocument.drawingml.diagramLayout+xml"/>
  <Override PartName="/ppt/diagrams/quickStyle271.xml" ContentType="application/vnd.openxmlformats-officedocument.drawingml.diagramStyle+xml"/>
  <Override PartName="/ppt/diagrams/colors271.xml" ContentType="application/vnd.openxmlformats-officedocument.drawingml.diagramColors+xml"/>
  <Override PartName="/ppt/diagrams/drawing271.xml" ContentType="application/vnd.ms-office.drawingml.diagramDrawing+xml"/>
  <Override PartName="/ppt/diagrams/data272.xml" ContentType="application/vnd.openxmlformats-officedocument.drawingml.diagramData+xml"/>
  <Override PartName="/ppt/diagrams/layout272.xml" ContentType="application/vnd.openxmlformats-officedocument.drawingml.diagramLayout+xml"/>
  <Override PartName="/ppt/diagrams/quickStyle272.xml" ContentType="application/vnd.openxmlformats-officedocument.drawingml.diagramStyle+xml"/>
  <Override PartName="/ppt/diagrams/colors272.xml" ContentType="application/vnd.openxmlformats-officedocument.drawingml.diagramColors+xml"/>
  <Override PartName="/ppt/diagrams/drawing272.xml" ContentType="application/vnd.ms-office.drawingml.diagramDrawing+xml"/>
  <Override PartName="/ppt/diagrams/data273.xml" ContentType="application/vnd.openxmlformats-officedocument.drawingml.diagramData+xml"/>
  <Override PartName="/ppt/diagrams/layout273.xml" ContentType="application/vnd.openxmlformats-officedocument.drawingml.diagramLayout+xml"/>
  <Override PartName="/ppt/diagrams/quickStyle273.xml" ContentType="application/vnd.openxmlformats-officedocument.drawingml.diagramStyle+xml"/>
  <Override PartName="/ppt/diagrams/colors273.xml" ContentType="application/vnd.openxmlformats-officedocument.drawingml.diagramColors+xml"/>
  <Override PartName="/ppt/diagrams/drawing273.xml" ContentType="application/vnd.ms-office.drawingml.diagramDrawing+xml"/>
  <Override PartName="/ppt/diagrams/data274.xml" ContentType="application/vnd.openxmlformats-officedocument.drawingml.diagramData+xml"/>
  <Override PartName="/ppt/diagrams/layout274.xml" ContentType="application/vnd.openxmlformats-officedocument.drawingml.diagramLayout+xml"/>
  <Override PartName="/ppt/diagrams/quickStyle274.xml" ContentType="application/vnd.openxmlformats-officedocument.drawingml.diagramStyle+xml"/>
  <Override PartName="/ppt/diagrams/colors274.xml" ContentType="application/vnd.openxmlformats-officedocument.drawingml.diagramColors+xml"/>
  <Override PartName="/ppt/diagrams/drawing274.xml" ContentType="application/vnd.ms-office.drawingml.diagramDrawing+xml"/>
  <Override PartName="/ppt/diagrams/data275.xml" ContentType="application/vnd.openxmlformats-officedocument.drawingml.diagramData+xml"/>
  <Override PartName="/ppt/diagrams/layout275.xml" ContentType="application/vnd.openxmlformats-officedocument.drawingml.diagramLayout+xml"/>
  <Override PartName="/ppt/diagrams/quickStyle275.xml" ContentType="application/vnd.openxmlformats-officedocument.drawingml.diagramStyle+xml"/>
  <Override PartName="/ppt/diagrams/colors275.xml" ContentType="application/vnd.openxmlformats-officedocument.drawingml.diagramColors+xml"/>
  <Override PartName="/ppt/diagrams/drawing275.xml" ContentType="application/vnd.ms-office.drawingml.diagramDrawing+xml"/>
  <Override PartName="/ppt/diagrams/data276.xml" ContentType="application/vnd.openxmlformats-officedocument.drawingml.diagramData+xml"/>
  <Override PartName="/ppt/diagrams/layout276.xml" ContentType="application/vnd.openxmlformats-officedocument.drawingml.diagramLayout+xml"/>
  <Override PartName="/ppt/diagrams/quickStyle276.xml" ContentType="application/vnd.openxmlformats-officedocument.drawingml.diagramStyle+xml"/>
  <Override PartName="/ppt/diagrams/colors276.xml" ContentType="application/vnd.openxmlformats-officedocument.drawingml.diagramColors+xml"/>
  <Override PartName="/ppt/diagrams/drawing276.xml" ContentType="application/vnd.ms-office.drawingml.diagramDrawing+xml"/>
  <Override PartName="/ppt/diagrams/data277.xml" ContentType="application/vnd.openxmlformats-officedocument.drawingml.diagramData+xml"/>
  <Override PartName="/ppt/diagrams/layout277.xml" ContentType="application/vnd.openxmlformats-officedocument.drawingml.diagramLayout+xml"/>
  <Override PartName="/ppt/diagrams/quickStyle277.xml" ContentType="application/vnd.openxmlformats-officedocument.drawingml.diagramStyle+xml"/>
  <Override PartName="/ppt/diagrams/colors277.xml" ContentType="application/vnd.openxmlformats-officedocument.drawingml.diagramColors+xml"/>
  <Override PartName="/ppt/diagrams/drawing277.xml" ContentType="application/vnd.ms-office.drawingml.diagramDrawing+xml"/>
  <Override PartName="/ppt/diagrams/data278.xml" ContentType="application/vnd.openxmlformats-officedocument.drawingml.diagramData+xml"/>
  <Override PartName="/ppt/diagrams/layout278.xml" ContentType="application/vnd.openxmlformats-officedocument.drawingml.diagramLayout+xml"/>
  <Override PartName="/ppt/diagrams/quickStyle278.xml" ContentType="application/vnd.openxmlformats-officedocument.drawingml.diagramStyle+xml"/>
  <Override PartName="/ppt/diagrams/colors278.xml" ContentType="application/vnd.openxmlformats-officedocument.drawingml.diagramColors+xml"/>
  <Override PartName="/ppt/diagrams/drawing278.xml" ContentType="application/vnd.ms-office.drawingml.diagramDrawing+xml"/>
  <Override PartName="/ppt/diagrams/data279.xml" ContentType="application/vnd.openxmlformats-officedocument.drawingml.diagramData+xml"/>
  <Override PartName="/ppt/diagrams/layout279.xml" ContentType="application/vnd.openxmlformats-officedocument.drawingml.diagramLayout+xml"/>
  <Override PartName="/ppt/diagrams/quickStyle279.xml" ContentType="application/vnd.openxmlformats-officedocument.drawingml.diagramStyle+xml"/>
  <Override PartName="/ppt/diagrams/colors279.xml" ContentType="application/vnd.openxmlformats-officedocument.drawingml.diagramColors+xml"/>
  <Override PartName="/ppt/diagrams/drawing279.xml" ContentType="application/vnd.ms-office.drawingml.diagramDrawing+xml"/>
  <Override PartName="/ppt/diagrams/data280.xml" ContentType="application/vnd.openxmlformats-officedocument.drawingml.diagramData+xml"/>
  <Override PartName="/ppt/diagrams/layout280.xml" ContentType="application/vnd.openxmlformats-officedocument.drawingml.diagramLayout+xml"/>
  <Override PartName="/ppt/diagrams/quickStyle280.xml" ContentType="application/vnd.openxmlformats-officedocument.drawingml.diagramStyle+xml"/>
  <Override PartName="/ppt/diagrams/colors280.xml" ContentType="application/vnd.openxmlformats-officedocument.drawingml.diagramColors+xml"/>
  <Override PartName="/ppt/diagrams/drawing280.xml" ContentType="application/vnd.ms-office.drawingml.diagramDrawing+xml"/>
  <Override PartName="/ppt/diagrams/data281.xml" ContentType="application/vnd.openxmlformats-officedocument.drawingml.diagramData+xml"/>
  <Override PartName="/ppt/diagrams/layout281.xml" ContentType="application/vnd.openxmlformats-officedocument.drawingml.diagramLayout+xml"/>
  <Override PartName="/ppt/diagrams/quickStyle281.xml" ContentType="application/vnd.openxmlformats-officedocument.drawingml.diagramStyle+xml"/>
  <Override PartName="/ppt/diagrams/colors281.xml" ContentType="application/vnd.openxmlformats-officedocument.drawingml.diagramColors+xml"/>
  <Override PartName="/ppt/diagrams/drawing281.xml" ContentType="application/vnd.ms-office.drawingml.diagramDrawing+xml"/>
  <Override PartName="/ppt/diagrams/data282.xml" ContentType="application/vnd.openxmlformats-officedocument.drawingml.diagramData+xml"/>
  <Override PartName="/ppt/diagrams/layout282.xml" ContentType="application/vnd.openxmlformats-officedocument.drawingml.diagramLayout+xml"/>
  <Override PartName="/ppt/diagrams/quickStyle282.xml" ContentType="application/vnd.openxmlformats-officedocument.drawingml.diagramStyle+xml"/>
  <Override PartName="/ppt/diagrams/colors282.xml" ContentType="application/vnd.openxmlformats-officedocument.drawingml.diagramColors+xml"/>
  <Override PartName="/ppt/diagrams/drawing282.xml" ContentType="application/vnd.ms-office.drawingml.diagramDrawing+xml"/>
  <Override PartName="/ppt/diagrams/data283.xml" ContentType="application/vnd.openxmlformats-officedocument.drawingml.diagramData+xml"/>
  <Override PartName="/ppt/diagrams/layout283.xml" ContentType="application/vnd.openxmlformats-officedocument.drawingml.diagramLayout+xml"/>
  <Override PartName="/ppt/diagrams/quickStyle283.xml" ContentType="application/vnd.openxmlformats-officedocument.drawingml.diagramStyle+xml"/>
  <Override PartName="/ppt/diagrams/colors283.xml" ContentType="application/vnd.openxmlformats-officedocument.drawingml.diagramColors+xml"/>
  <Override PartName="/ppt/diagrams/drawing283.xml" ContentType="application/vnd.ms-office.drawingml.diagramDrawing+xml"/>
  <Override PartName="/ppt/diagrams/data284.xml" ContentType="application/vnd.openxmlformats-officedocument.drawingml.diagramData+xml"/>
  <Override PartName="/ppt/diagrams/layout284.xml" ContentType="application/vnd.openxmlformats-officedocument.drawingml.diagramLayout+xml"/>
  <Override PartName="/ppt/diagrams/quickStyle284.xml" ContentType="application/vnd.openxmlformats-officedocument.drawingml.diagramStyle+xml"/>
  <Override PartName="/ppt/diagrams/colors284.xml" ContentType="application/vnd.openxmlformats-officedocument.drawingml.diagramColors+xml"/>
  <Override PartName="/ppt/diagrams/drawing284.xml" ContentType="application/vnd.ms-office.drawingml.diagramDrawing+xml"/>
  <Override PartName="/ppt/diagrams/data285.xml" ContentType="application/vnd.openxmlformats-officedocument.drawingml.diagramData+xml"/>
  <Override PartName="/ppt/diagrams/layout285.xml" ContentType="application/vnd.openxmlformats-officedocument.drawingml.diagramLayout+xml"/>
  <Override PartName="/ppt/diagrams/quickStyle285.xml" ContentType="application/vnd.openxmlformats-officedocument.drawingml.diagramStyle+xml"/>
  <Override PartName="/ppt/diagrams/colors285.xml" ContentType="application/vnd.openxmlformats-officedocument.drawingml.diagramColors+xml"/>
  <Override PartName="/ppt/diagrams/drawing285.xml" ContentType="application/vnd.ms-office.drawingml.diagramDrawing+xml"/>
  <Override PartName="/ppt/diagrams/data286.xml" ContentType="application/vnd.openxmlformats-officedocument.drawingml.diagramData+xml"/>
  <Override PartName="/ppt/diagrams/layout286.xml" ContentType="application/vnd.openxmlformats-officedocument.drawingml.diagramLayout+xml"/>
  <Override PartName="/ppt/diagrams/quickStyle286.xml" ContentType="application/vnd.openxmlformats-officedocument.drawingml.diagramStyle+xml"/>
  <Override PartName="/ppt/diagrams/colors286.xml" ContentType="application/vnd.openxmlformats-officedocument.drawingml.diagramColors+xml"/>
  <Override PartName="/ppt/diagrams/drawing286.xml" ContentType="application/vnd.ms-office.drawingml.diagramDrawing+xml"/>
  <Override PartName="/ppt/diagrams/data287.xml" ContentType="application/vnd.openxmlformats-officedocument.drawingml.diagramData+xml"/>
  <Override PartName="/ppt/diagrams/layout287.xml" ContentType="application/vnd.openxmlformats-officedocument.drawingml.diagramLayout+xml"/>
  <Override PartName="/ppt/diagrams/quickStyle287.xml" ContentType="application/vnd.openxmlformats-officedocument.drawingml.diagramStyle+xml"/>
  <Override PartName="/ppt/diagrams/colors287.xml" ContentType="application/vnd.openxmlformats-officedocument.drawingml.diagramColors+xml"/>
  <Override PartName="/ppt/diagrams/drawing287.xml" ContentType="application/vnd.ms-office.drawingml.diagramDrawing+xml"/>
  <Override PartName="/ppt/diagrams/data288.xml" ContentType="application/vnd.openxmlformats-officedocument.drawingml.diagramData+xml"/>
  <Override PartName="/ppt/diagrams/layout288.xml" ContentType="application/vnd.openxmlformats-officedocument.drawingml.diagramLayout+xml"/>
  <Override PartName="/ppt/diagrams/quickStyle288.xml" ContentType="application/vnd.openxmlformats-officedocument.drawingml.diagramStyle+xml"/>
  <Override PartName="/ppt/diagrams/colors288.xml" ContentType="application/vnd.openxmlformats-officedocument.drawingml.diagramColors+xml"/>
  <Override PartName="/ppt/diagrams/drawing288.xml" ContentType="application/vnd.ms-office.drawingml.diagramDrawing+xml"/>
  <Override PartName="/ppt/diagrams/data289.xml" ContentType="application/vnd.openxmlformats-officedocument.drawingml.diagramData+xml"/>
  <Override PartName="/ppt/diagrams/layout289.xml" ContentType="application/vnd.openxmlformats-officedocument.drawingml.diagramLayout+xml"/>
  <Override PartName="/ppt/diagrams/quickStyle289.xml" ContentType="application/vnd.openxmlformats-officedocument.drawingml.diagramStyle+xml"/>
  <Override PartName="/ppt/diagrams/colors289.xml" ContentType="application/vnd.openxmlformats-officedocument.drawingml.diagramColors+xml"/>
  <Override PartName="/ppt/diagrams/drawing289.xml" ContentType="application/vnd.ms-office.drawingml.diagramDrawing+xml"/>
  <Override PartName="/ppt/diagrams/data290.xml" ContentType="application/vnd.openxmlformats-officedocument.drawingml.diagramData+xml"/>
  <Override PartName="/ppt/diagrams/layout290.xml" ContentType="application/vnd.openxmlformats-officedocument.drawingml.diagramLayout+xml"/>
  <Override PartName="/ppt/diagrams/quickStyle290.xml" ContentType="application/vnd.openxmlformats-officedocument.drawingml.diagramStyle+xml"/>
  <Override PartName="/ppt/diagrams/colors290.xml" ContentType="application/vnd.openxmlformats-officedocument.drawingml.diagramColors+xml"/>
  <Override PartName="/ppt/diagrams/drawing290.xml" ContentType="application/vnd.ms-office.drawingml.diagramDrawing+xml"/>
  <Override PartName="/ppt/diagrams/data291.xml" ContentType="application/vnd.openxmlformats-officedocument.drawingml.diagramData+xml"/>
  <Override PartName="/ppt/diagrams/layout291.xml" ContentType="application/vnd.openxmlformats-officedocument.drawingml.diagramLayout+xml"/>
  <Override PartName="/ppt/diagrams/quickStyle291.xml" ContentType="application/vnd.openxmlformats-officedocument.drawingml.diagramStyle+xml"/>
  <Override PartName="/ppt/diagrams/colors291.xml" ContentType="application/vnd.openxmlformats-officedocument.drawingml.diagramColors+xml"/>
  <Override PartName="/ppt/diagrams/drawing291.xml" ContentType="application/vnd.ms-office.drawingml.diagramDrawing+xml"/>
  <Override PartName="/ppt/diagrams/data292.xml" ContentType="application/vnd.openxmlformats-officedocument.drawingml.diagramData+xml"/>
  <Override PartName="/ppt/diagrams/layout292.xml" ContentType="application/vnd.openxmlformats-officedocument.drawingml.diagramLayout+xml"/>
  <Override PartName="/ppt/diagrams/quickStyle292.xml" ContentType="application/vnd.openxmlformats-officedocument.drawingml.diagramStyle+xml"/>
  <Override PartName="/ppt/diagrams/colors292.xml" ContentType="application/vnd.openxmlformats-officedocument.drawingml.diagramColors+xml"/>
  <Override PartName="/ppt/diagrams/drawing292.xml" ContentType="application/vnd.ms-office.drawingml.diagramDrawing+xml"/>
  <Override PartName="/ppt/diagrams/data293.xml" ContentType="application/vnd.openxmlformats-officedocument.drawingml.diagramData+xml"/>
  <Override PartName="/ppt/diagrams/layout293.xml" ContentType="application/vnd.openxmlformats-officedocument.drawingml.diagramLayout+xml"/>
  <Override PartName="/ppt/diagrams/quickStyle293.xml" ContentType="application/vnd.openxmlformats-officedocument.drawingml.diagramStyle+xml"/>
  <Override PartName="/ppt/diagrams/colors293.xml" ContentType="application/vnd.openxmlformats-officedocument.drawingml.diagramColors+xml"/>
  <Override PartName="/ppt/diagrams/drawing293.xml" ContentType="application/vnd.ms-office.drawingml.diagramDrawing+xml"/>
  <Override PartName="/ppt/diagrams/data294.xml" ContentType="application/vnd.openxmlformats-officedocument.drawingml.diagramData+xml"/>
  <Override PartName="/ppt/diagrams/layout294.xml" ContentType="application/vnd.openxmlformats-officedocument.drawingml.diagramLayout+xml"/>
  <Override PartName="/ppt/diagrams/quickStyle294.xml" ContentType="application/vnd.openxmlformats-officedocument.drawingml.diagramStyle+xml"/>
  <Override PartName="/ppt/diagrams/colors294.xml" ContentType="application/vnd.openxmlformats-officedocument.drawingml.diagramColors+xml"/>
  <Override PartName="/ppt/diagrams/drawing294.xml" ContentType="application/vnd.ms-office.drawingml.diagramDrawing+xml"/>
  <Override PartName="/ppt/diagrams/data295.xml" ContentType="application/vnd.openxmlformats-officedocument.drawingml.diagramData+xml"/>
  <Override PartName="/ppt/diagrams/layout295.xml" ContentType="application/vnd.openxmlformats-officedocument.drawingml.diagramLayout+xml"/>
  <Override PartName="/ppt/diagrams/quickStyle295.xml" ContentType="application/vnd.openxmlformats-officedocument.drawingml.diagramStyle+xml"/>
  <Override PartName="/ppt/diagrams/colors295.xml" ContentType="application/vnd.openxmlformats-officedocument.drawingml.diagramColors+xml"/>
  <Override PartName="/ppt/diagrams/drawing295.xml" ContentType="application/vnd.ms-office.drawingml.diagramDrawing+xml"/>
  <Override PartName="/ppt/diagrams/data296.xml" ContentType="application/vnd.openxmlformats-officedocument.drawingml.diagramData+xml"/>
  <Override PartName="/ppt/diagrams/layout296.xml" ContentType="application/vnd.openxmlformats-officedocument.drawingml.diagramLayout+xml"/>
  <Override PartName="/ppt/diagrams/quickStyle296.xml" ContentType="application/vnd.openxmlformats-officedocument.drawingml.diagramStyle+xml"/>
  <Override PartName="/ppt/diagrams/colors296.xml" ContentType="application/vnd.openxmlformats-officedocument.drawingml.diagramColors+xml"/>
  <Override PartName="/ppt/diagrams/drawing296.xml" ContentType="application/vnd.ms-office.drawingml.diagramDrawing+xml"/>
  <Override PartName="/ppt/diagrams/data297.xml" ContentType="application/vnd.openxmlformats-officedocument.drawingml.diagramData+xml"/>
  <Override PartName="/ppt/diagrams/layout297.xml" ContentType="application/vnd.openxmlformats-officedocument.drawingml.diagramLayout+xml"/>
  <Override PartName="/ppt/diagrams/quickStyle297.xml" ContentType="application/vnd.openxmlformats-officedocument.drawingml.diagramStyle+xml"/>
  <Override PartName="/ppt/diagrams/colors297.xml" ContentType="application/vnd.openxmlformats-officedocument.drawingml.diagramColors+xml"/>
  <Override PartName="/ppt/diagrams/drawing297.xml" ContentType="application/vnd.ms-office.drawingml.diagramDrawing+xml"/>
  <Override PartName="/ppt/diagrams/data298.xml" ContentType="application/vnd.openxmlformats-officedocument.drawingml.diagramData+xml"/>
  <Override PartName="/ppt/diagrams/layout298.xml" ContentType="application/vnd.openxmlformats-officedocument.drawingml.diagramLayout+xml"/>
  <Override PartName="/ppt/diagrams/quickStyle298.xml" ContentType="application/vnd.openxmlformats-officedocument.drawingml.diagramStyle+xml"/>
  <Override PartName="/ppt/diagrams/colors298.xml" ContentType="application/vnd.openxmlformats-officedocument.drawingml.diagramColors+xml"/>
  <Override PartName="/ppt/diagrams/drawing298.xml" ContentType="application/vnd.ms-office.drawingml.diagramDrawing+xml"/>
  <Override PartName="/ppt/diagrams/data299.xml" ContentType="application/vnd.openxmlformats-officedocument.drawingml.diagramData+xml"/>
  <Override PartName="/ppt/diagrams/layout299.xml" ContentType="application/vnd.openxmlformats-officedocument.drawingml.diagramLayout+xml"/>
  <Override PartName="/ppt/diagrams/quickStyle299.xml" ContentType="application/vnd.openxmlformats-officedocument.drawingml.diagramStyle+xml"/>
  <Override PartName="/ppt/diagrams/colors299.xml" ContentType="application/vnd.openxmlformats-officedocument.drawingml.diagramColors+xml"/>
  <Override PartName="/ppt/diagrams/drawing299.xml" ContentType="application/vnd.ms-office.drawingml.diagramDrawing+xml"/>
  <Override PartName="/ppt/diagrams/data300.xml" ContentType="application/vnd.openxmlformats-officedocument.drawingml.diagramData+xml"/>
  <Override PartName="/ppt/diagrams/layout300.xml" ContentType="application/vnd.openxmlformats-officedocument.drawingml.diagramLayout+xml"/>
  <Override PartName="/ppt/diagrams/quickStyle300.xml" ContentType="application/vnd.openxmlformats-officedocument.drawingml.diagramStyle+xml"/>
  <Override PartName="/ppt/diagrams/colors300.xml" ContentType="application/vnd.openxmlformats-officedocument.drawingml.diagramColors+xml"/>
  <Override PartName="/ppt/diagrams/drawing300.xml" ContentType="application/vnd.ms-office.drawingml.diagramDrawing+xml"/>
  <Override PartName="/ppt/diagrams/data301.xml" ContentType="application/vnd.openxmlformats-officedocument.drawingml.diagramData+xml"/>
  <Override PartName="/ppt/diagrams/layout301.xml" ContentType="application/vnd.openxmlformats-officedocument.drawingml.diagramLayout+xml"/>
  <Override PartName="/ppt/diagrams/quickStyle301.xml" ContentType="application/vnd.openxmlformats-officedocument.drawingml.diagramStyle+xml"/>
  <Override PartName="/ppt/diagrams/colors301.xml" ContentType="application/vnd.openxmlformats-officedocument.drawingml.diagramColors+xml"/>
  <Override PartName="/ppt/diagrams/drawing30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7"/>
  </p:notesMasterIdLst>
  <p:sldIdLst>
    <p:sldId id="256" r:id="rId5"/>
    <p:sldId id="297" r:id="rId6"/>
    <p:sldId id="298" r:id="rId7"/>
    <p:sldId id="299" r:id="rId8"/>
    <p:sldId id="300" r:id="rId9"/>
    <p:sldId id="301" r:id="rId10"/>
    <p:sldId id="302" r:id="rId11"/>
    <p:sldId id="303" r:id="rId12"/>
    <p:sldId id="304" r:id="rId13"/>
    <p:sldId id="753" r:id="rId14"/>
    <p:sldId id="751" r:id="rId15"/>
    <p:sldId id="752" r:id="rId16"/>
    <p:sldId id="754" r:id="rId17"/>
    <p:sldId id="756" r:id="rId18"/>
    <p:sldId id="755" r:id="rId19"/>
    <p:sldId id="305" r:id="rId20"/>
    <p:sldId id="306" r:id="rId21"/>
    <p:sldId id="307" r:id="rId22"/>
    <p:sldId id="308" r:id="rId23"/>
    <p:sldId id="309" r:id="rId24"/>
    <p:sldId id="310" r:id="rId25"/>
    <p:sldId id="312" r:id="rId26"/>
    <p:sldId id="313" r:id="rId27"/>
    <p:sldId id="571" r:id="rId28"/>
    <p:sldId id="1412" r:id="rId29"/>
    <p:sldId id="1411" r:id="rId30"/>
    <p:sldId id="575" r:id="rId31"/>
    <p:sldId id="314" r:id="rId32"/>
    <p:sldId id="376" r:id="rId33"/>
    <p:sldId id="749" r:id="rId34"/>
    <p:sldId id="737" r:id="rId35"/>
    <p:sldId id="776" r:id="rId36"/>
    <p:sldId id="777" r:id="rId37"/>
    <p:sldId id="778" r:id="rId38"/>
    <p:sldId id="779" r:id="rId39"/>
    <p:sldId id="780" r:id="rId40"/>
    <p:sldId id="781" r:id="rId41"/>
    <p:sldId id="782" r:id="rId42"/>
    <p:sldId id="784" r:id="rId43"/>
    <p:sldId id="783" r:id="rId44"/>
    <p:sldId id="785" r:id="rId45"/>
    <p:sldId id="1410" r:id="rId46"/>
    <p:sldId id="738" r:id="rId47"/>
    <p:sldId id="566" r:id="rId48"/>
    <p:sldId id="390" r:id="rId49"/>
    <p:sldId id="391" r:id="rId50"/>
    <p:sldId id="731" r:id="rId51"/>
    <p:sldId id="732" r:id="rId52"/>
    <p:sldId id="401" r:id="rId53"/>
    <p:sldId id="526" r:id="rId54"/>
    <p:sldId id="411" r:id="rId55"/>
    <p:sldId id="434" r:id="rId56"/>
    <p:sldId id="380" r:id="rId57"/>
    <p:sldId id="381" r:id="rId58"/>
    <p:sldId id="382" r:id="rId59"/>
    <p:sldId id="437" r:id="rId60"/>
    <p:sldId id="388" r:id="rId61"/>
    <p:sldId id="387" r:id="rId62"/>
    <p:sldId id="386" r:id="rId63"/>
    <p:sldId id="389" r:id="rId64"/>
    <p:sldId id="383" r:id="rId65"/>
    <p:sldId id="384" r:id="rId66"/>
    <p:sldId id="385" r:id="rId67"/>
    <p:sldId id="491" r:id="rId68"/>
    <p:sldId id="500" r:id="rId69"/>
    <p:sldId id="398" r:id="rId70"/>
    <p:sldId id="399" r:id="rId71"/>
    <p:sldId id="397" r:id="rId72"/>
    <p:sldId id="412" r:id="rId73"/>
    <p:sldId id="523" r:id="rId74"/>
    <p:sldId id="773" r:id="rId75"/>
    <p:sldId id="774" r:id="rId76"/>
    <p:sldId id="775" r:id="rId77"/>
    <p:sldId id="1397" r:id="rId78"/>
    <p:sldId id="1398" r:id="rId79"/>
    <p:sldId id="1399" r:id="rId80"/>
    <p:sldId id="1400" r:id="rId81"/>
    <p:sldId id="1401" r:id="rId82"/>
    <p:sldId id="1402" r:id="rId83"/>
    <p:sldId id="1403" r:id="rId84"/>
    <p:sldId id="1404" r:id="rId85"/>
    <p:sldId id="1405" r:id="rId86"/>
    <p:sldId id="1406" r:id="rId87"/>
    <p:sldId id="1407" r:id="rId88"/>
    <p:sldId id="1408" r:id="rId89"/>
    <p:sldId id="372" r:id="rId90"/>
    <p:sldId id="373" r:id="rId91"/>
    <p:sldId id="768" r:id="rId92"/>
    <p:sldId id="769" r:id="rId93"/>
    <p:sldId id="770" r:id="rId94"/>
    <p:sldId id="771" r:id="rId95"/>
    <p:sldId id="772" r:id="rId96"/>
    <p:sldId id="762" r:id="rId97"/>
    <p:sldId id="763" r:id="rId98"/>
    <p:sldId id="764" r:id="rId99"/>
    <p:sldId id="765" r:id="rId100"/>
    <p:sldId id="766" r:id="rId101"/>
    <p:sldId id="767" r:id="rId102"/>
    <p:sldId id="1409" r:id="rId103"/>
    <p:sldId id="1413" r:id="rId104"/>
    <p:sldId id="511" r:id="rId105"/>
    <p:sldId id="722" r:id="rId106"/>
    <p:sldId id="521" r:id="rId107"/>
    <p:sldId id="996" r:id="rId108"/>
    <p:sldId id="847" r:id="rId109"/>
    <p:sldId id="829" r:id="rId110"/>
    <p:sldId id="830" r:id="rId111"/>
    <p:sldId id="831" r:id="rId112"/>
    <p:sldId id="840" r:id="rId113"/>
    <p:sldId id="565" r:id="rId114"/>
    <p:sldId id="408" r:id="rId115"/>
    <p:sldId id="406" r:id="rId116"/>
    <p:sldId id="407" r:id="rId117"/>
    <p:sldId id="409" r:id="rId118"/>
    <p:sldId id="410" r:id="rId119"/>
    <p:sldId id="422" r:id="rId120"/>
    <p:sldId id="419" r:id="rId121"/>
    <p:sldId id="444" r:id="rId122"/>
    <p:sldId id="420" r:id="rId123"/>
    <p:sldId id="421" r:id="rId124"/>
    <p:sldId id="529" r:id="rId125"/>
    <p:sldId id="530" r:id="rId126"/>
    <p:sldId id="432" r:id="rId127"/>
    <p:sldId id="821" r:id="rId128"/>
    <p:sldId id="822" r:id="rId129"/>
    <p:sldId id="460" r:id="rId130"/>
    <p:sldId id="461" r:id="rId131"/>
    <p:sldId id="462" r:id="rId132"/>
    <p:sldId id="463" r:id="rId133"/>
    <p:sldId id="464" r:id="rId134"/>
    <p:sldId id="466" r:id="rId135"/>
    <p:sldId id="468" r:id="rId136"/>
    <p:sldId id="467" r:id="rId137"/>
    <p:sldId id="465" r:id="rId138"/>
    <p:sldId id="481" r:id="rId139"/>
    <p:sldId id="474" r:id="rId140"/>
    <p:sldId id="475" r:id="rId141"/>
    <p:sldId id="476" r:id="rId142"/>
    <p:sldId id="482" r:id="rId143"/>
    <p:sldId id="483" r:id="rId144"/>
    <p:sldId id="496" r:id="rId145"/>
    <p:sldId id="497" r:id="rId146"/>
    <p:sldId id="490" r:id="rId147"/>
    <p:sldId id="489" r:id="rId148"/>
    <p:sldId id="485" r:id="rId149"/>
    <p:sldId id="477" r:id="rId150"/>
    <p:sldId id="478" r:id="rId151"/>
    <p:sldId id="495" r:id="rId152"/>
    <p:sldId id="492" r:id="rId153"/>
    <p:sldId id="493" r:id="rId154"/>
    <p:sldId id="494" r:id="rId155"/>
    <p:sldId id="950" r:id="rId156"/>
    <p:sldId id="951" r:id="rId157"/>
    <p:sldId id="953" r:id="rId158"/>
    <p:sldId id="954" r:id="rId159"/>
    <p:sldId id="955" r:id="rId160"/>
    <p:sldId id="956" r:id="rId161"/>
    <p:sldId id="957" r:id="rId162"/>
    <p:sldId id="958" r:id="rId163"/>
    <p:sldId id="959" r:id="rId164"/>
    <p:sldId id="960" r:id="rId165"/>
    <p:sldId id="961" r:id="rId166"/>
    <p:sldId id="962" r:id="rId167"/>
    <p:sldId id="963" r:id="rId168"/>
    <p:sldId id="964" r:id="rId169"/>
    <p:sldId id="965" r:id="rId170"/>
    <p:sldId id="966" r:id="rId171"/>
    <p:sldId id="967" r:id="rId172"/>
    <p:sldId id="968" r:id="rId173"/>
    <p:sldId id="969" r:id="rId174"/>
    <p:sldId id="970" r:id="rId175"/>
    <p:sldId id="971" r:id="rId176"/>
    <p:sldId id="823" r:id="rId177"/>
    <p:sldId id="824" r:id="rId178"/>
    <p:sldId id="844" r:id="rId179"/>
    <p:sldId id="852" r:id="rId180"/>
    <p:sldId id="853" r:id="rId181"/>
    <p:sldId id="854" r:id="rId182"/>
    <p:sldId id="855" r:id="rId183"/>
    <p:sldId id="856" r:id="rId184"/>
    <p:sldId id="857" r:id="rId185"/>
    <p:sldId id="859" r:id="rId186"/>
    <p:sldId id="858" r:id="rId187"/>
    <p:sldId id="860" r:id="rId188"/>
    <p:sldId id="861" r:id="rId189"/>
    <p:sldId id="862" r:id="rId190"/>
    <p:sldId id="907" r:id="rId191"/>
    <p:sldId id="908" r:id="rId192"/>
    <p:sldId id="910" r:id="rId193"/>
    <p:sldId id="911" r:id="rId194"/>
    <p:sldId id="912" r:id="rId195"/>
    <p:sldId id="913" r:id="rId196"/>
    <p:sldId id="915" r:id="rId197"/>
    <p:sldId id="916" r:id="rId198"/>
    <p:sldId id="917" r:id="rId199"/>
    <p:sldId id="918" r:id="rId200"/>
    <p:sldId id="919" r:id="rId201"/>
    <p:sldId id="932" r:id="rId202"/>
    <p:sldId id="933" r:id="rId203"/>
    <p:sldId id="945" r:id="rId204"/>
    <p:sldId id="934" r:id="rId205"/>
    <p:sldId id="935" r:id="rId206"/>
    <p:sldId id="947" r:id="rId207"/>
    <p:sldId id="936" r:id="rId208"/>
    <p:sldId id="937" r:id="rId209"/>
    <p:sldId id="938" r:id="rId210"/>
    <p:sldId id="946" r:id="rId211"/>
    <p:sldId id="939" r:id="rId212"/>
    <p:sldId id="940" r:id="rId213"/>
    <p:sldId id="942" r:id="rId214"/>
    <p:sldId id="943" r:id="rId215"/>
    <p:sldId id="948" r:id="rId216"/>
    <p:sldId id="949" r:id="rId217"/>
    <p:sldId id="479" r:id="rId218"/>
    <p:sldId id="480" r:id="rId219"/>
    <p:sldId id="846" r:id="rId220"/>
    <p:sldId id="845" r:id="rId221"/>
    <p:sldId id="1163" r:id="rId222"/>
    <p:sldId id="848" r:id="rId223"/>
    <p:sldId id="863" r:id="rId224"/>
    <p:sldId id="864" r:id="rId225"/>
    <p:sldId id="865" r:id="rId226"/>
    <p:sldId id="866" r:id="rId227"/>
    <p:sldId id="867" r:id="rId228"/>
    <p:sldId id="868" r:id="rId229"/>
    <p:sldId id="469" r:id="rId230"/>
    <p:sldId id="321" r:id="rId231"/>
    <p:sldId id="1164" r:id="rId232"/>
    <p:sldId id="582" r:id="rId233"/>
    <p:sldId id="1165" r:id="rId234"/>
    <p:sldId id="1166" r:id="rId235"/>
    <p:sldId id="787" r:id="rId236"/>
    <p:sldId id="884" r:id="rId237"/>
    <p:sldId id="885" r:id="rId238"/>
    <p:sldId id="886" r:id="rId239"/>
    <p:sldId id="887" r:id="rId240"/>
    <p:sldId id="888" r:id="rId241"/>
    <p:sldId id="889" r:id="rId242"/>
    <p:sldId id="890" r:id="rId243"/>
    <p:sldId id="891" r:id="rId244"/>
    <p:sldId id="892" r:id="rId245"/>
    <p:sldId id="893" r:id="rId246"/>
    <p:sldId id="869" r:id="rId247"/>
    <p:sldId id="870" r:id="rId248"/>
    <p:sldId id="872" r:id="rId249"/>
    <p:sldId id="871" r:id="rId250"/>
    <p:sldId id="740" r:id="rId251"/>
    <p:sldId id="894" r:id="rId252"/>
    <p:sldId id="895" r:id="rId253"/>
    <p:sldId id="897" r:id="rId254"/>
    <p:sldId id="898" r:id="rId255"/>
    <p:sldId id="899" r:id="rId256"/>
    <p:sldId id="900" r:id="rId257"/>
    <p:sldId id="901" r:id="rId258"/>
    <p:sldId id="902" r:id="rId259"/>
    <p:sldId id="903" r:id="rId260"/>
    <p:sldId id="1167" r:id="rId261"/>
    <p:sldId id="1168" r:id="rId262"/>
    <p:sldId id="1169" r:id="rId263"/>
    <p:sldId id="1170" r:id="rId264"/>
    <p:sldId id="1171" r:id="rId265"/>
    <p:sldId id="1172" r:id="rId266"/>
    <p:sldId id="520" r:id="rId267"/>
    <p:sldId id="1173" r:id="rId268"/>
    <p:sldId id="747" r:id="rId269"/>
    <p:sldId id="1174" r:id="rId270"/>
    <p:sldId id="733" r:id="rId271"/>
    <p:sldId id="1175" r:id="rId272"/>
    <p:sldId id="1176" r:id="rId273"/>
    <p:sldId id="739" r:id="rId274"/>
    <p:sldId id="1177" r:id="rId275"/>
    <p:sldId id="1178" r:id="rId276"/>
    <p:sldId id="788" r:id="rId277"/>
    <p:sldId id="789" r:id="rId278"/>
    <p:sldId id="797" r:id="rId279"/>
    <p:sldId id="799" r:id="rId280"/>
    <p:sldId id="800" r:id="rId281"/>
    <p:sldId id="802" r:id="rId282"/>
    <p:sldId id="807" r:id="rId283"/>
    <p:sldId id="808" r:id="rId284"/>
    <p:sldId id="795" r:id="rId285"/>
    <p:sldId id="794" r:id="rId286"/>
    <p:sldId id="796" r:id="rId287"/>
    <p:sldId id="832" r:id="rId288"/>
    <p:sldId id="833" r:id="rId289"/>
    <p:sldId id="834" r:id="rId290"/>
    <p:sldId id="835" r:id="rId291"/>
    <p:sldId id="836" r:id="rId292"/>
    <p:sldId id="838" r:id="rId293"/>
    <p:sldId id="839" r:id="rId294"/>
    <p:sldId id="786" r:id="rId295"/>
    <p:sldId id="801" r:id="rId296"/>
    <p:sldId id="803" r:id="rId297"/>
    <p:sldId id="804" r:id="rId298"/>
    <p:sldId id="805" r:id="rId299"/>
    <p:sldId id="806" r:id="rId300"/>
    <p:sldId id="746" r:id="rId301"/>
    <p:sldId id="573" r:id="rId302"/>
    <p:sldId id="574" r:id="rId303"/>
    <p:sldId id="531" r:id="rId304"/>
    <p:sldId id="1179" r:id="rId305"/>
    <p:sldId id="294" r:id="rId306"/>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F2"/>
    <a:srgbClr val="1E1A20"/>
    <a:srgbClr val="727272"/>
    <a:srgbClr val="DFF7F1"/>
    <a:srgbClr val="F1EAFF"/>
    <a:srgbClr val="64597A"/>
    <a:srgbClr val="FFFFFF"/>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70" autoAdjust="0"/>
    <p:restoredTop sz="92876" autoAdjust="0"/>
  </p:normalViewPr>
  <p:slideViewPr>
    <p:cSldViewPr>
      <p:cViewPr varScale="1">
        <p:scale>
          <a:sx n="140" d="100"/>
          <a:sy n="140" d="100"/>
        </p:scale>
        <p:origin x="1208" y="184"/>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65" Type="http://schemas.openxmlformats.org/officeDocument/2006/relationships/slide" Target="slides/slide61.xml"/><Relationship Id="rId130" Type="http://schemas.openxmlformats.org/officeDocument/2006/relationships/slide" Target="slides/slide126.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slide" Target="slides/slide277.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openxmlformats.org/officeDocument/2006/relationships/slide" Target="slides/slide288.xml"/><Relationship Id="rId306" Type="http://schemas.openxmlformats.org/officeDocument/2006/relationships/slide" Target="slides/slide302.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notesMaster" Target="notesMasters/notesMaster1.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commentAuthors" Target="commentAuthors.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viewProps" Target="viewProps.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theme" Target="theme/theme1.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tableStyles" Target="tableStyles.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Software Architecture &amp; Patterns</a:t>
          </a:r>
        </a:p>
        <a:p>
          <a:r>
            <a:rPr lang="en-US" b="1" i="0" dirty="0"/>
            <a:t>(Refresher)</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937" custLinFactNeighborY="-108">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X="100000"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6343">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649" custLinFactNeighborY="-19698">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212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Critical Thinking – A Soft skill needed across </a:t>
          </a:r>
          <a:r>
            <a:rPr lang="en-US"/>
            <a:t>almost any IT </a:t>
          </a:r>
          <a:r>
            <a:rPr lang="en-US" dirty="0"/>
            <a:t>Role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Requirement Analysis – Soft Skills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1528" custLinFactNeighborY="1471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Requirement Analysis –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7639">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Estimation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6960"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3953">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Buy vs Build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62" custLinFactNeighborY="-13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Buy vs Build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62" custLinFactNeighborY="-13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HLD vs LLD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2119" custLinFactNeighborY="-1140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Architecture(/Design)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Architecture(&amp; Design) Trade-Offs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Architecture(&amp; Design) Trade-Offs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 vs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EAI(Enterprise Application Integration)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EAI(Enterprise Application Integration)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Microservices(&amp; Cloud)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Microservices(&amp; Cloud) Architecture Patterns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Capacity Planning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7639">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Demand Driven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94814" custLinFactNeighborY="-7639">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BPM &amp; BRE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BPM &amp; BRE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BPM &amp; BRE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BPM &amp; BRE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RPA(Robotic Process Automation)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557" custLinFactNeighborY="-636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RPA(Robotic Process Automation)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557" custLinFactNeighborY="-636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RPA(Robotic Process Automation)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557" custLinFactNeighborY="-636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RPA(Robotic Process Automation)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557" custLinFactNeighborY="-636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RPA(Robotic Process Automation)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557" custLinFactNeighborY="-636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X="-1937" custLinFactNeighborY="-5804">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X="-1937" custLinFactNeighborY="-5804">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Some Agile (&amp; Other) Resources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Katas &amp; Beyond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Katas &amp; Beyond </a:t>
          </a:r>
          <a:r>
            <a:rPr lang="en-US" sz="2800" kern="1200" dirty="0" err="1">
              <a:solidFill>
                <a:prstClr val="white"/>
              </a:solidFill>
              <a:latin typeface="Calibri"/>
              <a:ea typeface="+mn-ea"/>
              <a:cs typeface="+mn-cs"/>
            </a:rPr>
            <a:t>contd</a:t>
          </a:r>
          <a:r>
            <a:rPr lang="en-US" sz="2800" kern="1200" dirty="0">
              <a:solidFill>
                <a:prstClr val="white"/>
              </a:solidFill>
              <a:latin typeface="Calibri"/>
              <a:ea typeface="+mn-ea"/>
              <a:cs typeface="+mn-cs"/>
            </a:rPr>
            <a:t>…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a:solidFill>
                <a:prstClr val="white"/>
              </a:solidFill>
              <a:latin typeface="Calibri"/>
              <a:ea typeface="+mn-ea"/>
              <a:cs typeface="+mn-cs"/>
            </a:rPr>
            <a:t>Topics </a:t>
          </a:r>
          <a:r>
            <a:rPr lang="en-US" sz="2800" kern="1200" dirty="0">
              <a:solidFill>
                <a:prstClr val="white"/>
              </a:solidFill>
              <a:latin typeface="Calibri"/>
              <a:ea typeface="+mn-ea"/>
              <a:cs typeface="+mn-cs"/>
            </a:rPr>
            <a:t>Not Covered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2298"/>
          <a:ext cx="4982500" cy="186030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dirty="0"/>
            <a:t>Software Architecture &amp; Patterns</a:t>
          </a:r>
        </a:p>
        <a:p>
          <a:pPr marL="0" lvl="0" indent="0" algn="l" defTabSz="1333500">
            <a:lnSpc>
              <a:spcPct val="90000"/>
            </a:lnSpc>
            <a:spcBef>
              <a:spcPct val="0"/>
            </a:spcBef>
            <a:spcAft>
              <a:spcPct val="35000"/>
            </a:spcAft>
            <a:buNone/>
          </a:pPr>
          <a:r>
            <a:rPr lang="en-US" sz="3000" b="1" i="0" kern="1200" dirty="0"/>
            <a:t>(Refresher)</a:t>
          </a:r>
        </a:p>
      </dsp:txBody>
      <dsp:txXfrm>
        <a:off x="90812" y="103110"/>
        <a:ext cx="4800876" cy="1678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5785"/>
          <a:ext cx="7192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Design Thinking</a:t>
          </a:r>
        </a:p>
      </dsp:txBody>
      <dsp:txXfrm>
        <a:off x="76105" y="91890"/>
        <a:ext cx="7040090" cy="140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5785"/>
          <a:ext cx="7192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Design Thinking</a:t>
          </a:r>
        </a:p>
      </dsp:txBody>
      <dsp:txXfrm>
        <a:off x="76105" y="91890"/>
        <a:ext cx="7040090" cy="14068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17526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dirty="0"/>
            <a:t>Design Thinking - Steps</a:t>
          </a:r>
        </a:p>
      </dsp:txBody>
      <dsp:txXfrm>
        <a:off x="57372" y="57372"/>
        <a:ext cx="7077556" cy="10605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86087"/>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250484"/>
        <a:ext cx="7063506" cy="11903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04823"/>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269220"/>
        <a:ext cx="7063506" cy="119038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59875"/>
          <a:ext cx="8839200" cy="45552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Critical Thinking – A Soft skill needed across </a:t>
          </a:r>
          <a:r>
            <a:rPr lang="en-US" sz="1900" kern="1200"/>
            <a:t>almost any IT </a:t>
          </a:r>
          <a:r>
            <a:rPr lang="en-US" sz="1900" kern="1200" dirty="0"/>
            <a:t>Role</a:t>
          </a:r>
        </a:p>
      </dsp:txBody>
      <dsp:txXfrm>
        <a:off x="22237" y="82112"/>
        <a:ext cx="8794726" cy="4110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11107"/>
          <a:ext cx="7192300"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Requirement Analysis – Soft Skills</a:t>
          </a:r>
        </a:p>
      </dsp:txBody>
      <dsp:txXfrm>
        <a:off x="45663" y="356770"/>
        <a:ext cx="7100974" cy="8440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Requirement Analysis – NFRs</a:t>
          </a:r>
        </a:p>
      </dsp:txBody>
      <dsp:txXfrm>
        <a:off x="51517" y="51517"/>
        <a:ext cx="7089266" cy="95230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0278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Estimation</a:t>
          </a:r>
        </a:p>
      </dsp:txBody>
      <dsp:txXfrm>
        <a:off x="50176" y="50176"/>
        <a:ext cx="7091948" cy="92751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52940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Buy vs Build</a:t>
          </a:r>
        </a:p>
      </dsp:txBody>
      <dsp:txXfrm>
        <a:off x="25843" y="25843"/>
        <a:ext cx="8787514" cy="47771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52940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Buy vs Build</a:t>
          </a:r>
        </a:p>
      </dsp:txBody>
      <dsp:txXfrm>
        <a:off x="25843" y="25843"/>
        <a:ext cx="8787514" cy="47771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5543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HLD vs LLD</a:t>
          </a:r>
        </a:p>
      </dsp:txBody>
      <dsp:txXfrm>
        <a:off x="27114" y="27114"/>
        <a:ext cx="7138072" cy="50121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848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Architecture(/Design) Principles</a:t>
          </a:r>
        </a:p>
      </dsp:txBody>
      <dsp:txXfrm>
        <a:off x="36538" y="36538"/>
        <a:ext cx="7119224" cy="67541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Architecture(&amp; Design) Trade-Offs</a:t>
          </a:r>
        </a:p>
      </dsp:txBody>
      <dsp:txXfrm>
        <a:off x="21162" y="21162"/>
        <a:ext cx="7149976" cy="39118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Architecture(&amp; Design) Trade-Offs</a:t>
          </a:r>
        </a:p>
      </dsp:txBody>
      <dsp:txXfrm>
        <a:off x="21162" y="21162"/>
        <a:ext cx="7149976" cy="39118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 vs Patterns</a:t>
          </a:r>
        </a:p>
      </dsp:txBody>
      <dsp:txXfrm>
        <a:off x="21162" y="21162"/>
        <a:ext cx="7149976" cy="391189"/>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EAI(Enterprise Application Integration) Patterns - </a:t>
          </a:r>
        </a:p>
      </dsp:txBody>
      <dsp:txXfrm>
        <a:off x="21162" y="21162"/>
        <a:ext cx="8338983" cy="391189"/>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EAI(Enterprise Application Integration) Patterns - </a:t>
          </a:r>
        </a:p>
      </dsp:txBody>
      <dsp:txXfrm>
        <a:off x="21162" y="21162"/>
        <a:ext cx="8338983" cy="39118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6"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582612" cy="39118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Microservices(&amp; Cloud) Architecture Patterns</a:t>
          </a:r>
        </a:p>
      </dsp:txBody>
      <dsp:txXfrm>
        <a:off x="21162" y="21162"/>
        <a:ext cx="8338983" cy="391189"/>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Microservices(&amp; Cloud) Architecture Patterns  </a:t>
          </a:r>
        </a:p>
      </dsp:txBody>
      <dsp:txXfrm>
        <a:off x="21162" y="21162"/>
        <a:ext cx="8338983" cy="391189"/>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1272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dirty="0"/>
            <a:t>Capacity Planning</a:t>
          </a:r>
        </a:p>
      </dsp:txBody>
      <dsp:txXfrm>
        <a:off x="55030" y="55030"/>
        <a:ext cx="7082240" cy="1017235"/>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106883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Demand Driven Architecture</a:t>
          </a:r>
        </a:p>
      </dsp:txBody>
      <dsp:txXfrm>
        <a:off x="52176" y="52176"/>
        <a:ext cx="8963448" cy="964481"/>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BPM &amp; BRE  </a:t>
          </a:r>
        </a:p>
      </dsp:txBody>
      <dsp:txXfrm>
        <a:off x="21162" y="21162"/>
        <a:ext cx="8873075" cy="391189"/>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BPM &amp; BRE</a:t>
          </a:r>
        </a:p>
      </dsp:txBody>
      <dsp:txXfrm>
        <a:off x="21162" y="21162"/>
        <a:ext cx="7149976" cy="391189"/>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BPM &amp; BRE</a:t>
          </a:r>
        </a:p>
      </dsp:txBody>
      <dsp:txXfrm>
        <a:off x="21162" y="21162"/>
        <a:ext cx="7149976" cy="3911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BPM &amp; BRE</a:t>
          </a:r>
        </a:p>
      </dsp:txBody>
      <dsp:txXfrm>
        <a:off x="21162" y="21162"/>
        <a:ext cx="7149976" cy="3911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7016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RPA(Robotic Process Automation)</a:t>
          </a:r>
        </a:p>
      </dsp:txBody>
      <dsp:txXfrm>
        <a:off x="21162" y="21162"/>
        <a:ext cx="8727845" cy="3911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7016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RPA(Robotic Process Automation)</a:t>
          </a:r>
        </a:p>
      </dsp:txBody>
      <dsp:txXfrm>
        <a:off x="21162" y="21162"/>
        <a:ext cx="8727845" cy="391189"/>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7016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RPA(Robotic Process Automation)</a:t>
          </a:r>
        </a:p>
      </dsp:txBody>
      <dsp:txXfrm>
        <a:off x="21162" y="21162"/>
        <a:ext cx="8727845" cy="3911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7016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RPA(Robotic Process Automation)</a:t>
          </a:r>
        </a:p>
      </dsp:txBody>
      <dsp:txXfrm>
        <a:off x="21162" y="21162"/>
        <a:ext cx="8727845" cy="3911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7016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RPA(Robotic Process Automation)</a:t>
          </a:r>
        </a:p>
      </dsp:txBody>
      <dsp:txXfrm>
        <a:off x="21162" y="21162"/>
        <a:ext cx="8727845" cy="3911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8873074" cy="391189"/>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3563"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8871239" cy="391189"/>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1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1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1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1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2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2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2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2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2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5337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777" y="36777"/>
        <a:ext cx="7118746" cy="679819"/>
      </dsp:txXfrm>
    </dsp:sp>
  </dsp:spTree>
</dsp:drawing>
</file>

<file path=ppt/diagrams/drawing2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2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2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Some Agile (&amp; Other) Resources  </a:t>
          </a:r>
        </a:p>
      </dsp:txBody>
      <dsp:txXfrm>
        <a:off x="21162" y="21162"/>
        <a:ext cx="7149976" cy="391189"/>
      </dsp:txXfrm>
    </dsp:sp>
  </dsp:spTree>
</dsp:drawing>
</file>

<file path=ppt/diagrams/drawing2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Katas &amp; Beyond  </a:t>
          </a:r>
        </a:p>
      </dsp:txBody>
      <dsp:txXfrm>
        <a:off x="21162" y="21162"/>
        <a:ext cx="7149976" cy="391189"/>
      </dsp:txXfrm>
    </dsp:sp>
  </dsp:spTree>
</dsp:drawing>
</file>

<file path=ppt/diagrams/drawing3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Katas &amp; Beyond </a:t>
          </a:r>
          <a:r>
            <a:rPr lang="en-US" sz="2800" kern="1200" dirty="0" err="1">
              <a:solidFill>
                <a:prstClr val="white"/>
              </a:solidFill>
              <a:latin typeface="Calibri"/>
              <a:ea typeface="+mn-ea"/>
              <a:cs typeface="+mn-cs"/>
            </a:rPr>
            <a:t>contd</a:t>
          </a:r>
          <a:r>
            <a:rPr lang="en-US" sz="2800" kern="1200" dirty="0">
              <a:solidFill>
                <a:prstClr val="white"/>
              </a:solidFill>
              <a:latin typeface="Calibri"/>
              <a:ea typeface="+mn-ea"/>
              <a:cs typeface="+mn-cs"/>
            </a:rPr>
            <a:t>…  </a:t>
          </a:r>
        </a:p>
      </dsp:txBody>
      <dsp:txXfrm>
        <a:off x="21162" y="21162"/>
        <a:ext cx="7149976" cy="391189"/>
      </dsp:txXfrm>
    </dsp:sp>
  </dsp:spTree>
</dsp:drawing>
</file>

<file path=ppt/diagrams/drawing3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solidFill>
                <a:prstClr val="white"/>
              </a:solidFill>
              <a:latin typeface="Calibri"/>
              <a:ea typeface="+mn-ea"/>
              <a:cs typeface="+mn-cs"/>
            </a:rPr>
            <a:t>Topics </a:t>
          </a:r>
          <a:r>
            <a:rPr lang="en-US" sz="2800" kern="1200" dirty="0">
              <a:solidFill>
                <a:prstClr val="white"/>
              </a:solidFill>
              <a:latin typeface="Calibri"/>
              <a:ea typeface="+mn-ea"/>
              <a:cs typeface="+mn-cs"/>
            </a:rPr>
            <a:t>Not Covered  </a:t>
          </a:r>
        </a:p>
      </dsp:txBody>
      <dsp:txXfrm>
        <a:off x="21162" y="21162"/>
        <a:ext cx="7149976" cy="3911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3/24/26</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31</a:t>
            </a:fld>
            <a:endParaRPr lang="en-US" dirty="0"/>
          </a:p>
        </p:txBody>
      </p:sp>
    </p:spTree>
    <p:extLst>
      <p:ext uri="{BB962C8B-B14F-4D97-AF65-F5344CB8AC3E}">
        <p14:creationId xmlns:p14="http://schemas.microsoft.com/office/powerpoint/2010/main" val="3759342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85317-3A06-0767-8BE3-41AC25929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FD48-A569-8EB8-F706-F0E23D744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6939B-0B3D-2061-8661-5B744FB5C1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4628A9-F8EB-C6A8-3EF8-3D912B1148A0}"/>
              </a:ext>
            </a:extLst>
          </p:cNvPr>
          <p:cNvSpPr>
            <a:spLocks noGrp="1"/>
          </p:cNvSpPr>
          <p:nvPr>
            <p:ph type="sldNum" sz="quarter" idx="5"/>
          </p:nvPr>
        </p:nvSpPr>
        <p:spPr/>
        <p:txBody>
          <a:bodyPr/>
          <a:lstStyle/>
          <a:p>
            <a:fld id="{0C49AC16-2221-4935-809C-2A72A26F729C}" type="slidenum">
              <a:rPr lang="en-US" smtClean="0"/>
              <a:t>32</a:t>
            </a:fld>
            <a:endParaRPr lang="en-US" dirty="0"/>
          </a:p>
        </p:txBody>
      </p:sp>
    </p:spTree>
    <p:extLst>
      <p:ext uri="{BB962C8B-B14F-4D97-AF65-F5344CB8AC3E}">
        <p14:creationId xmlns:p14="http://schemas.microsoft.com/office/powerpoint/2010/main" val="2634514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389C-C3C0-2052-6915-46004254F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33639-C526-83AF-39CC-D924AE3E8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20C8A-3791-4897-3D4B-ED304133D1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AACCC3-757D-E8E2-7808-FE40D68D6856}"/>
              </a:ext>
            </a:extLst>
          </p:cNvPr>
          <p:cNvSpPr>
            <a:spLocks noGrp="1"/>
          </p:cNvSpPr>
          <p:nvPr>
            <p:ph type="sldNum" sz="quarter" idx="5"/>
          </p:nvPr>
        </p:nvSpPr>
        <p:spPr/>
        <p:txBody>
          <a:bodyPr/>
          <a:lstStyle/>
          <a:p>
            <a:fld id="{0C49AC16-2221-4935-809C-2A72A26F729C}" type="slidenum">
              <a:rPr lang="en-US" smtClean="0"/>
              <a:t>33</a:t>
            </a:fld>
            <a:endParaRPr lang="en-US" dirty="0"/>
          </a:p>
        </p:txBody>
      </p:sp>
    </p:spTree>
    <p:extLst>
      <p:ext uri="{BB962C8B-B14F-4D97-AF65-F5344CB8AC3E}">
        <p14:creationId xmlns:p14="http://schemas.microsoft.com/office/powerpoint/2010/main" val="147387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B9FE-7D2A-B464-B656-2B2DFD527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43487-53FF-161E-B0EC-3F2C800CA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BFA26-CBA1-A704-4365-CD3BA882EE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596EE1-3F41-CF51-ED30-0021ED8702F7}"/>
              </a:ext>
            </a:extLst>
          </p:cNvPr>
          <p:cNvSpPr>
            <a:spLocks noGrp="1"/>
          </p:cNvSpPr>
          <p:nvPr>
            <p:ph type="sldNum" sz="quarter" idx="5"/>
          </p:nvPr>
        </p:nvSpPr>
        <p:spPr/>
        <p:txBody>
          <a:bodyPr/>
          <a:lstStyle/>
          <a:p>
            <a:fld id="{0C49AC16-2221-4935-809C-2A72A26F729C}" type="slidenum">
              <a:rPr lang="en-US" smtClean="0"/>
              <a:t>34</a:t>
            </a:fld>
            <a:endParaRPr lang="en-US" dirty="0"/>
          </a:p>
        </p:txBody>
      </p:sp>
    </p:spTree>
    <p:extLst>
      <p:ext uri="{BB962C8B-B14F-4D97-AF65-F5344CB8AC3E}">
        <p14:creationId xmlns:p14="http://schemas.microsoft.com/office/powerpoint/2010/main" val="4223665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4E40-93DD-A6FD-CECA-A815307AC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B22D0-D453-2638-FCEA-0EFA9CB53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C9B48-A237-85C2-C9DA-D98FF79E79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77CBB5-0C2C-B57D-9676-781DF02234C8}"/>
              </a:ext>
            </a:extLst>
          </p:cNvPr>
          <p:cNvSpPr>
            <a:spLocks noGrp="1"/>
          </p:cNvSpPr>
          <p:nvPr>
            <p:ph type="sldNum" sz="quarter" idx="5"/>
          </p:nvPr>
        </p:nvSpPr>
        <p:spPr/>
        <p:txBody>
          <a:bodyPr/>
          <a:lstStyle/>
          <a:p>
            <a:fld id="{0C49AC16-2221-4935-809C-2A72A26F729C}" type="slidenum">
              <a:rPr lang="en-US" smtClean="0"/>
              <a:t>35</a:t>
            </a:fld>
            <a:endParaRPr lang="en-US" dirty="0"/>
          </a:p>
        </p:txBody>
      </p:sp>
    </p:spTree>
    <p:extLst>
      <p:ext uri="{BB962C8B-B14F-4D97-AF65-F5344CB8AC3E}">
        <p14:creationId xmlns:p14="http://schemas.microsoft.com/office/powerpoint/2010/main" val="2003005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283A-3AB9-A6FF-7648-32A68FB4F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F004F-54D6-7176-EC0B-059CD96AE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1A856-09DF-15AC-F33A-CB95983F864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9F465F3-2C4A-AFE5-A698-5517F0FBBA1D}"/>
              </a:ext>
            </a:extLst>
          </p:cNvPr>
          <p:cNvSpPr>
            <a:spLocks noGrp="1"/>
          </p:cNvSpPr>
          <p:nvPr>
            <p:ph type="sldNum" sz="quarter" idx="5"/>
          </p:nvPr>
        </p:nvSpPr>
        <p:spPr/>
        <p:txBody>
          <a:bodyPr/>
          <a:lstStyle/>
          <a:p>
            <a:fld id="{0C49AC16-2221-4935-809C-2A72A26F729C}" type="slidenum">
              <a:rPr lang="en-US" smtClean="0"/>
              <a:t>36</a:t>
            </a:fld>
            <a:endParaRPr lang="en-US" dirty="0"/>
          </a:p>
        </p:txBody>
      </p:sp>
    </p:spTree>
    <p:extLst>
      <p:ext uri="{BB962C8B-B14F-4D97-AF65-F5344CB8AC3E}">
        <p14:creationId xmlns:p14="http://schemas.microsoft.com/office/powerpoint/2010/main" val="267801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B88CE-7E73-979D-4533-25E27DB9B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1CF6E-421B-FD12-7DD5-FF3CC3742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357FA-C508-F599-7C05-B484C48129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814A13-B861-0169-4D3E-492CF8BA0025}"/>
              </a:ext>
            </a:extLst>
          </p:cNvPr>
          <p:cNvSpPr>
            <a:spLocks noGrp="1"/>
          </p:cNvSpPr>
          <p:nvPr>
            <p:ph type="sldNum" sz="quarter" idx="5"/>
          </p:nvPr>
        </p:nvSpPr>
        <p:spPr/>
        <p:txBody>
          <a:bodyPr/>
          <a:lstStyle/>
          <a:p>
            <a:fld id="{0C49AC16-2221-4935-809C-2A72A26F729C}" type="slidenum">
              <a:rPr lang="en-US" smtClean="0"/>
              <a:t>37</a:t>
            </a:fld>
            <a:endParaRPr lang="en-US" dirty="0"/>
          </a:p>
        </p:txBody>
      </p:sp>
    </p:spTree>
    <p:extLst>
      <p:ext uri="{BB962C8B-B14F-4D97-AF65-F5344CB8AC3E}">
        <p14:creationId xmlns:p14="http://schemas.microsoft.com/office/powerpoint/2010/main" val="2612625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446E-6A83-B493-E379-F509021A2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C9F5E-6F5E-5260-2F5D-D79E22A61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378EF-8E18-58D9-8AB4-D82852DC4B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0BC741-529E-23DF-27C8-4C56ACB0A9EF}"/>
              </a:ext>
            </a:extLst>
          </p:cNvPr>
          <p:cNvSpPr>
            <a:spLocks noGrp="1"/>
          </p:cNvSpPr>
          <p:nvPr>
            <p:ph type="sldNum" sz="quarter" idx="5"/>
          </p:nvPr>
        </p:nvSpPr>
        <p:spPr/>
        <p:txBody>
          <a:bodyPr/>
          <a:lstStyle/>
          <a:p>
            <a:fld id="{0C49AC16-2221-4935-809C-2A72A26F729C}" type="slidenum">
              <a:rPr lang="en-US" smtClean="0"/>
              <a:t>38</a:t>
            </a:fld>
            <a:endParaRPr lang="en-US" dirty="0"/>
          </a:p>
        </p:txBody>
      </p:sp>
    </p:spTree>
    <p:extLst>
      <p:ext uri="{BB962C8B-B14F-4D97-AF65-F5344CB8AC3E}">
        <p14:creationId xmlns:p14="http://schemas.microsoft.com/office/powerpoint/2010/main" val="2030944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64832-D2F6-50EC-CF39-1B52B7470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D0469-8D68-BC34-A1D9-64A32C813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023CB-AD55-5E06-3B59-7714BD40BA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783457-288F-4ADB-D1E1-3F34EAA22B75}"/>
              </a:ext>
            </a:extLst>
          </p:cNvPr>
          <p:cNvSpPr>
            <a:spLocks noGrp="1"/>
          </p:cNvSpPr>
          <p:nvPr>
            <p:ph type="sldNum" sz="quarter" idx="5"/>
          </p:nvPr>
        </p:nvSpPr>
        <p:spPr/>
        <p:txBody>
          <a:bodyPr/>
          <a:lstStyle/>
          <a:p>
            <a:fld id="{0C49AC16-2221-4935-809C-2A72A26F729C}" type="slidenum">
              <a:rPr lang="en-US" smtClean="0"/>
              <a:t>39</a:t>
            </a:fld>
            <a:endParaRPr lang="en-US" dirty="0"/>
          </a:p>
        </p:txBody>
      </p:sp>
    </p:spTree>
    <p:extLst>
      <p:ext uri="{BB962C8B-B14F-4D97-AF65-F5344CB8AC3E}">
        <p14:creationId xmlns:p14="http://schemas.microsoft.com/office/powerpoint/2010/main" val="3770695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B84B9-0690-C9EE-0015-34E6F47F2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37D51-2921-FD4C-65A3-C8BF951B4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C8EB3-E348-64A8-8222-CD021B729A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B53E3E-E02A-6807-8B63-DB77E94E33EC}"/>
              </a:ext>
            </a:extLst>
          </p:cNvPr>
          <p:cNvSpPr>
            <a:spLocks noGrp="1"/>
          </p:cNvSpPr>
          <p:nvPr>
            <p:ph type="sldNum" sz="quarter" idx="5"/>
          </p:nvPr>
        </p:nvSpPr>
        <p:spPr/>
        <p:txBody>
          <a:bodyPr/>
          <a:lstStyle/>
          <a:p>
            <a:fld id="{0C49AC16-2221-4935-809C-2A72A26F729C}" type="slidenum">
              <a:rPr lang="en-US" smtClean="0"/>
              <a:t>40</a:t>
            </a:fld>
            <a:endParaRPr lang="en-US" dirty="0"/>
          </a:p>
        </p:txBody>
      </p:sp>
    </p:spTree>
    <p:extLst>
      <p:ext uri="{BB962C8B-B14F-4D97-AF65-F5344CB8AC3E}">
        <p14:creationId xmlns:p14="http://schemas.microsoft.com/office/powerpoint/2010/main" val="178555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1C78E-96AA-E877-74FD-B6C98DC07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29E71-031A-72CD-F136-58317BCAC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957B5-3114-0356-2370-C5A4E82104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B92A1D-E281-0C47-687E-4608EF731C4F}"/>
              </a:ext>
            </a:extLst>
          </p:cNvPr>
          <p:cNvSpPr>
            <a:spLocks noGrp="1"/>
          </p:cNvSpPr>
          <p:nvPr>
            <p:ph type="sldNum" sz="quarter" idx="5"/>
          </p:nvPr>
        </p:nvSpPr>
        <p:spPr/>
        <p:txBody>
          <a:bodyPr/>
          <a:lstStyle/>
          <a:p>
            <a:fld id="{0C49AC16-2221-4935-809C-2A72A26F729C}" type="slidenum">
              <a:rPr lang="en-US" smtClean="0"/>
              <a:t>41</a:t>
            </a:fld>
            <a:endParaRPr lang="en-US" dirty="0"/>
          </a:p>
        </p:txBody>
      </p:sp>
    </p:spTree>
    <p:extLst>
      <p:ext uri="{BB962C8B-B14F-4D97-AF65-F5344CB8AC3E}">
        <p14:creationId xmlns:p14="http://schemas.microsoft.com/office/powerpoint/2010/main" val="1875883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4B5E0-F2D7-7F9D-BE4E-3DA58C757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511CB-D8AE-FA31-11B9-706874ED6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02514-66C8-5C18-147F-EC1E4CAE41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C91D46-B9C2-C5FD-262F-3E8F3B8FD5F5}"/>
              </a:ext>
            </a:extLst>
          </p:cNvPr>
          <p:cNvSpPr>
            <a:spLocks noGrp="1"/>
          </p:cNvSpPr>
          <p:nvPr>
            <p:ph type="sldNum" sz="quarter" idx="5"/>
          </p:nvPr>
        </p:nvSpPr>
        <p:spPr/>
        <p:txBody>
          <a:bodyPr/>
          <a:lstStyle/>
          <a:p>
            <a:fld id="{0C49AC16-2221-4935-809C-2A72A26F729C}" type="slidenum">
              <a:rPr lang="en-US" smtClean="0"/>
              <a:t>42</a:t>
            </a:fld>
            <a:endParaRPr lang="en-US" dirty="0"/>
          </a:p>
        </p:txBody>
      </p:sp>
    </p:spTree>
    <p:extLst>
      <p:ext uri="{BB962C8B-B14F-4D97-AF65-F5344CB8AC3E}">
        <p14:creationId xmlns:p14="http://schemas.microsoft.com/office/powerpoint/2010/main" val="3603929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19B3-2C63-4C75-E5DE-3C90DBD65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8CDC8-1D27-0685-7D71-DB106F8AA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59AE9-12F2-7D53-FEA1-FBAEF1DC3D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AD18D6-FA7E-ADB3-7AD8-9B9940D38CA1}"/>
              </a:ext>
            </a:extLst>
          </p:cNvPr>
          <p:cNvSpPr>
            <a:spLocks noGrp="1"/>
          </p:cNvSpPr>
          <p:nvPr>
            <p:ph type="sldNum" sz="quarter" idx="5"/>
          </p:nvPr>
        </p:nvSpPr>
        <p:spPr/>
        <p:txBody>
          <a:bodyPr/>
          <a:lstStyle/>
          <a:p>
            <a:fld id="{0C49AC16-2221-4935-809C-2A72A26F729C}" type="slidenum">
              <a:rPr lang="en-US" smtClean="0"/>
              <a:t>43</a:t>
            </a:fld>
            <a:endParaRPr lang="en-US" dirty="0"/>
          </a:p>
        </p:txBody>
      </p:sp>
    </p:spTree>
    <p:extLst>
      <p:ext uri="{BB962C8B-B14F-4D97-AF65-F5344CB8AC3E}">
        <p14:creationId xmlns:p14="http://schemas.microsoft.com/office/powerpoint/2010/main" val="2014125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48</a:t>
            </a:fld>
            <a:endParaRPr lang="en-US" dirty="0"/>
          </a:p>
        </p:txBody>
      </p:sp>
    </p:spTree>
    <p:extLst>
      <p:ext uri="{BB962C8B-B14F-4D97-AF65-F5344CB8AC3E}">
        <p14:creationId xmlns:p14="http://schemas.microsoft.com/office/powerpoint/2010/main" val="3212510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101</a:t>
            </a:fld>
            <a:endParaRPr lang="en-US" dirty="0"/>
          </a:p>
        </p:txBody>
      </p:sp>
    </p:spTree>
    <p:extLst>
      <p:ext uri="{BB962C8B-B14F-4D97-AF65-F5344CB8AC3E}">
        <p14:creationId xmlns:p14="http://schemas.microsoft.com/office/powerpoint/2010/main" val="780541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260EE96E-5996-4F85-A914-B0252298B744}" type="slidenum">
              <a:rPr lang="en-US" smtClean="0"/>
              <a:pPr/>
              <a:t>102</a:t>
            </a:fld>
            <a:endParaRPr lang="en-US" dirty="0"/>
          </a:p>
        </p:txBody>
      </p:sp>
    </p:spTree>
    <p:extLst>
      <p:ext uri="{BB962C8B-B14F-4D97-AF65-F5344CB8AC3E}">
        <p14:creationId xmlns:p14="http://schemas.microsoft.com/office/powerpoint/2010/main" val="2504116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490FD-B6EA-C0D3-7F12-90E3D7413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B861B-EA09-6C95-FE24-EBC0D5739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92256-6115-E0DC-B26A-C175C8B470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327686-9EDE-FC28-7159-2C79F2D61136}"/>
              </a:ext>
            </a:extLst>
          </p:cNvPr>
          <p:cNvSpPr>
            <a:spLocks noGrp="1"/>
          </p:cNvSpPr>
          <p:nvPr>
            <p:ph type="sldNum" sz="quarter" idx="5"/>
          </p:nvPr>
        </p:nvSpPr>
        <p:spPr/>
        <p:txBody>
          <a:bodyPr/>
          <a:lstStyle/>
          <a:p>
            <a:fld id="{0C49AC16-2221-4935-809C-2A72A26F729C}" type="slidenum">
              <a:rPr lang="en-US" smtClean="0"/>
              <a:t>105</a:t>
            </a:fld>
            <a:endParaRPr lang="en-US" dirty="0"/>
          </a:p>
        </p:txBody>
      </p:sp>
    </p:spTree>
    <p:extLst>
      <p:ext uri="{BB962C8B-B14F-4D97-AF65-F5344CB8AC3E}">
        <p14:creationId xmlns:p14="http://schemas.microsoft.com/office/powerpoint/2010/main" val="699987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8E2F2-026F-0A07-A6A1-8FA4B6EDC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18C98-4627-C87E-769C-D876DAC00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F484B-9D22-8788-5A7B-E71C94113F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D6A6BC-31A4-D875-5393-5FB57E4F9690}"/>
              </a:ext>
            </a:extLst>
          </p:cNvPr>
          <p:cNvSpPr>
            <a:spLocks noGrp="1"/>
          </p:cNvSpPr>
          <p:nvPr>
            <p:ph type="sldNum" sz="quarter" idx="5"/>
          </p:nvPr>
        </p:nvSpPr>
        <p:spPr/>
        <p:txBody>
          <a:bodyPr/>
          <a:lstStyle/>
          <a:p>
            <a:fld id="{0C49AC16-2221-4935-809C-2A72A26F729C}" type="slidenum">
              <a:rPr lang="en-US" smtClean="0"/>
              <a:t>106</a:t>
            </a:fld>
            <a:endParaRPr lang="en-US" dirty="0"/>
          </a:p>
        </p:txBody>
      </p:sp>
    </p:spTree>
    <p:extLst>
      <p:ext uri="{BB962C8B-B14F-4D97-AF65-F5344CB8AC3E}">
        <p14:creationId xmlns:p14="http://schemas.microsoft.com/office/powerpoint/2010/main" val="339934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A794-86DF-8406-4AB4-9CC53E1C4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40770-3081-1A96-302F-619EDB9E0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0A36E-125C-5259-2C1F-E54400E329B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0EBBFD-CA62-B173-6A03-EBBEA13670B8}"/>
              </a:ext>
            </a:extLst>
          </p:cNvPr>
          <p:cNvSpPr>
            <a:spLocks noGrp="1"/>
          </p:cNvSpPr>
          <p:nvPr>
            <p:ph type="sldNum" sz="quarter" idx="5"/>
          </p:nvPr>
        </p:nvSpPr>
        <p:spPr/>
        <p:txBody>
          <a:bodyPr/>
          <a:lstStyle/>
          <a:p>
            <a:fld id="{0C49AC16-2221-4935-809C-2A72A26F729C}" type="slidenum">
              <a:rPr lang="en-US" smtClean="0"/>
              <a:t>107</a:t>
            </a:fld>
            <a:endParaRPr lang="en-US" dirty="0"/>
          </a:p>
        </p:txBody>
      </p:sp>
    </p:spTree>
    <p:extLst>
      <p:ext uri="{BB962C8B-B14F-4D97-AF65-F5344CB8AC3E}">
        <p14:creationId xmlns:p14="http://schemas.microsoft.com/office/powerpoint/2010/main" val="2599042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2E7D-A849-CC10-726F-8FF08BAD4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041F3-4D47-FFE7-9D5A-D93119C5E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13D14-ADDC-BD00-FDE1-E7B683B25A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4D4E78-BFF4-7D37-0750-3D6C5CE530F8}"/>
              </a:ext>
            </a:extLst>
          </p:cNvPr>
          <p:cNvSpPr>
            <a:spLocks noGrp="1"/>
          </p:cNvSpPr>
          <p:nvPr>
            <p:ph type="sldNum" sz="quarter" idx="5"/>
          </p:nvPr>
        </p:nvSpPr>
        <p:spPr/>
        <p:txBody>
          <a:bodyPr/>
          <a:lstStyle/>
          <a:p>
            <a:fld id="{0C49AC16-2221-4935-809C-2A72A26F729C}" type="slidenum">
              <a:rPr lang="en-US" smtClean="0"/>
              <a:t>108</a:t>
            </a:fld>
            <a:endParaRPr lang="en-US" dirty="0"/>
          </a:p>
        </p:txBody>
      </p:sp>
    </p:spTree>
    <p:extLst>
      <p:ext uri="{BB962C8B-B14F-4D97-AF65-F5344CB8AC3E}">
        <p14:creationId xmlns:p14="http://schemas.microsoft.com/office/powerpoint/2010/main" val="4193214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15E61-58E0-C00B-3487-FEE969B9C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8A6AF-20E8-12A5-8B27-A2882764D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5E4C1-EBB0-88B2-1D48-AF37CA3F08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53DFFE-A717-E9C2-55D9-89E3DED92B69}"/>
              </a:ext>
            </a:extLst>
          </p:cNvPr>
          <p:cNvSpPr>
            <a:spLocks noGrp="1"/>
          </p:cNvSpPr>
          <p:nvPr>
            <p:ph type="sldNum" sz="quarter" idx="5"/>
          </p:nvPr>
        </p:nvSpPr>
        <p:spPr/>
        <p:txBody>
          <a:bodyPr/>
          <a:lstStyle/>
          <a:p>
            <a:fld id="{0C49AC16-2221-4935-809C-2A72A26F729C}" type="slidenum">
              <a:rPr lang="en-US" smtClean="0"/>
              <a:t>109</a:t>
            </a:fld>
            <a:endParaRPr lang="en-US" dirty="0"/>
          </a:p>
        </p:txBody>
      </p:sp>
    </p:spTree>
    <p:extLst>
      <p:ext uri="{BB962C8B-B14F-4D97-AF65-F5344CB8AC3E}">
        <p14:creationId xmlns:p14="http://schemas.microsoft.com/office/powerpoint/2010/main" val="40087641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with Header">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583680" y="5527548"/>
            <a:ext cx="2103120" cy="276999"/>
          </a:xfrm>
        </p:spPr>
        <p:txBody>
          <a:bodyPr/>
          <a:lstStyle/>
          <a:p>
            <a:fld id="{B32AB80A-78BA-6B42-BA0D-B44ACF890F5A}" type="slidenum">
              <a:rPr lang="en-US" smtClean="0"/>
              <a:pPr/>
              <a:t>‹#›</a:t>
            </a:fld>
            <a:endParaRPr lang="en-US" dirty="0"/>
          </a:p>
        </p:txBody>
      </p:sp>
      <p:sp>
        <p:nvSpPr>
          <p:cNvPr id="2" name="Title 1"/>
          <p:cNvSpPr>
            <a:spLocks noGrp="1"/>
          </p:cNvSpPr>
          <p:nvPr>
            <p:ph type="title" hasCustomPrompt="1"/>
          </p:nvPr>
        </p:nvSpPr>
        <p:spPr>
          <a:xfrm>
            <a:off x="304363" y="286226"/>
            <a:ext cx="8464987" cy="492443"/>
          </a:xfrm>
        </p:spPr>
        <p:txBody>
          <a:bodyPr/>
          <a:lstStyle>
            <a:lvl1pPr>
              <a:defRPr>
                <a:solidFill>
                  <a:srgbClr val="0099CC"/>
                </a:solidFill>
              </a:defRPr>
            </a:lvl1pPr>
          </a:lstStyle>
          <a:p>
            <a:r>
              <a:rPr lang="en-US" dirty="0"/>
              <a:t>Header</a:t>
            </a:r>
          </a:p>
        </p:txBody>
      </p:sp>
      <p:cxnSp>
        <p:nvCxnSpPr>
          <p:cNvPr id="9" name="Straight Connector 8"/>
          <p:cNvCxnSpPr/>
          <p:nvPr userDrawn="1"/>
        </p:nvCxnSpPr>
        <p:spPr>
          <a:xfrm>
            <a:off x="408217" y="275167"/>
            <a:ext cx="8363857" cy="0"/>
          </a:xfrm>
          <a:prstGeom prst="line">
            <a:avLst/>
          </a:prstGeom>
          <a:ln w="6350" cmpd="sng">
            <a:gradFill flip="none" rotWithShape="1">
              <a:gsLst>
                <a:gs pos="0">
                  <a:srgbClr val="0099FF"/>
                </a:gs>
                <a:gs pos="100000">
                  <a:srgbClr val="008000"/>
                </a:gs>
              </a:gsLst>
              <a:lin ang="0" scaled="1"/>
              <a:tileRect/>
            </a:gradFill>
            <a:beve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1684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3/24/26</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0.xml"/><Relationship Id="rId7" Type="http://schemas.openxmlformats.org/officeDocument/2006/relationships/image" Target="../media/image3.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8" Type="http://schemas.openxmlformats.org/officeDocument/2006/relationships/hyperlink" Target="https://www.linkedin.com/posts/arpitbhayani_careergrowth-activity-7272461615583649792-venm/?utm_source=share&amp;utm_medium=member_desktop" TargetMode="External"/><Relationship Id="rId3" Type="http://schemas.openxmlformats.org/officeDocument/2006/relationships/diagramLayout" Target="../diagrams/layout18.xml"/><Relationship Id="rId7" Type="http://schemas.openxmlformats.org/officeDocument/2006/relationships/hyperlink" Target="https://www.linkedin.com/pulse/estimation-prioritization-agile-safe-framework-samir/" TargetMode="Externa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8" Type="http://schemas.openxmlformats.org/officeDocument/2006/relationships/hyperlink" Target="https://www.visual-paradigm.com/guide/uml-unified-modeling-language/what-is-component-diagram/" TargetMode="External"/><Relationship Id="rId3" Type="http://schemas.openxmlformats.org/officeDocument/2006/relationships/diagramLayout" Target="../diagrams/layout19.xml"/><Relationship Id="rId7" Type="http://schemas.openxmlformats.org/officeDocument/2006/relationships/hyperlink" Target="https://www.differencebetween.com/difference-between-use-case-diagram-and-activity-diagram/"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 Id="rId9" Type="http://schemas.openxmlformats.org/officeDocument/2006/relationships/hyperlink" Target="https://www.lucidchart.com/pages/uml-class-diagram"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milanjovanovic.tech/blog/visualize-your-software-architecture-with-the-c4-model" TargetMode="External"/><Relationship Id="rId3" Type="http://schemas.openxmlformats.org/officeDocument/2006/relationships/diagramLayout" Target="../diagrams/layout20.xml"/><Relationship Id="rId7" Type="http://schemas.openxmlformats.org/officeDocument/2006/relationships/hyperlink" Target="https://www.geeksforgeeks.org/difference-between-sequence-diagram-and-collaboration-diagram/"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10" Type="http://schemas.openxmlformats.org/officeDocument/2006/relationships/hyperlink" Target="https://en.wikipedia.org/wiki/ArchiMate" TargetMode="External"/><Relationship Id="rId4" Type="http://schemas.openxmlformats.org/officeDocument/2006/relationships/diagramQuickStyle" Target="../diagrams/quickStyle20.xml"/><Relationship Id="rId9" Type="http://schemas.openxmlformats.org/officeDocument/2006/relationships/hyperlink" Target="https://www.bpmn.org/"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8" Type="http://schemas.openxmlformats.org/officeDocument/2006/relationships/hyperlink" Target="https://modeling-languages.com/text-uml-tools-complete-list/" TargetMode="External"/><Relationship Id="rId13" Type="http://schemas.openxmlformats.org/officeDocument/2006/relationships/hyperlink" Target="https://www.youtube.com/watch?v=MiZLwBsuEgw" TargetMode="External"/><Relationship Id="rId3" Type="http://schemas.openxmlformats.org/officeDocument/2006/relationships/diagramLayout" Target="../diagrams/layout23.xml"/><Relationship Id="rId7" Type="http://schemas.openxmlformats.org/officeDocument/2006/relationships/hyperlink" Target="https://awesome-architecture.com/modeling/modeling/" TargetMode="External"/><Relationship Id="rId12" Type="http://schemas.openxmlformats.org/officeDocument/2006/relationships/hyperlink" Target="https://stackoverflow.com/questions/1714438/are-there-good-tools-for-c-sharp-reverse-engineering" TargetMode="Externa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11" Type="http://schemas.openxmlformats.org/officeDocument/2006/relationships/hyperlink" Target="https://github.com/likec4/likec4" TargetMode="External"/><Relationship Id="rId5" Type="http://schemas.openxmlformats.org/officeDocument/2006/relationships/diagramColors" Target="../diagrams/colors23.xml"/><Relationship Id="rId15" Type="http://schemas.openxmlformats.org/officeDocument/2006/relationships/hyperlink" Target="https://www.copilot.live/blog/how-to-use-github-copilot" TargetMode="External"/><Relationship Id="rId10" Type="http://schemas.openxmlformats.org/officeDocument/2006/relationships/hyperlink" Target="https://www.linkedin.com/pulse/software-architecture-as-code-rajesh-verma/" TargetMode="External"/><Relationship Id="rId4" Type="http://schemas.openxmlformats.org/officeDocument/2006/relationships/diagramQuickStyle" Target="../diagrams/quickStyle23.xml"/><Relationship Id="rId9" Type="http://schemas.openxmlformats.org/officeDocument/2006/relationships/hyperlink" Target="https://architectelevator.com/cloud/iac-architecture-as-code/" TargetMode="External"/><Relationship Id="rId14" Type="http://schemas.openxmlformats.org/officeDocument/2006/relationships/hyperlink" Target="https://www.linkedin.com/posts/bibryam_from-diagram-to-code-with-amazon-q-developer-activity-7285402085947236352-P8z-/" TargetMode="Externa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iRBfsV9INkY&amp;t=180" TargetMode="External"/><Relationship Id="rId3" Type="http://schemas.openxmlformats.org/officeDocument/2006/relationships/diagramLayout" Target="../diagrams/layout25.xml"/><Relationship Id="rId7" Type="http://schemas.openxmlformats.org/officeDocument/2006/relationships/image" Target="../media/image5.png"/><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8" Type="http://schemas.openxmlformats.org/officeDocument/2006/relationships/hyperlink" Target="https://www.workingsoftware.dev/software-architecture-documentation-the-ultimate-guide/" TargetMode="External"/><Relationship Id="rId13" Type="http://schemas.openxmlformats.org/officeDocument/2006/relationships/hyperlink" Target="https://www.atlassian.com/software/confluence/templates/software-architecture-review" TargetMode="External"/><Relationship Id="rId18" Type="http://schemas.openxmlformats.org/officeDocument/2006/relationships/hyperlink" Target="https://www.packtpub.com/en-in/product/practical-model-driven-enterprise-architecture-9781801076166" TargetMode="External"/><Relationship Id="rId3" Type="http://schemas.openxmlformats.org/officeDocument/2006/relationships/diagramLayout" Target="../diagrams/layout27.xml"/><Relationship Id="rId7" Type="http://schemas.openxmlformats.org/officeDocument/2006/relationships/hyperlink" Target="https://newsletter.techworld-with-milan.com/p/documenting-software-architectures" TargetMode="External"/><Relationship Id="rId12" Type="http://schemas.openxmlformats.org/officeDocument/2006/relationships/hyperlink" Target="https://github.com/aretecode/system-design-templates-excalidraw" TargetMode="External"/><Relationship Id="rId17" Type="http://schemas.openxmlformats.org/officeDocument/2006/relationships/hyperlink" Target="https://www.oreilly.com/library/view/communication-patterns/9781098140533/" TargetMode="External"/><Relationship Id="rId2" Type="http://schemas.openxmlformats.org/officeDocument/2006/relationships/diagramData" Target="../diagrams/data27.xml"/><Relationship Id="rId16" Type="http://schemas.openxmlformats.org/officeDocument/2006/relationships/hyperlink" Target="https://www.udemy.com/course/enterprise-architecture-how-to-design-models-diagrams/?couponCode=NVDIN35" TargetMode="External"/><Relationship Id="rId1" Type="http://schemas.openxmlformats.org/officeDocument/2006/relationships/slideLayout" Target="../slideLayouts/slideLayout2.xml"/><Relationship Id="rId6" Type="http://schemas.microsoft.com/office/2007/relationships/diagramDrawing" Target="../diagrams/drawing27.xml"/><Relationship Id="rId11" Type="http://schemas.openxmlformats.org/officeDocument/2006/relationships/hyperlink" Target="https://theopenarch.com/writing-an-effective-end-to-end-high-level-design/" TargetMode="External"/><Relationship Id="rId5" Type="http://schemas.openxmlformats.org/officeDocument/2006/relationships/diagramColors" Target="../diagrams/colors27.xml"/><Relationship Id="rId15" Type="http://schemas.openxmlformats.org/officeDocument/2006/relationships/hyperlink" Target="https://github.com/joelparkerhenderson/architecture-decision-record" TargetMode="External"/><Relationship Id="rId10" Type="http://schemas.openxmlformats.org/officeDocument/2006/relationships/hyperlink" Target="https://tech.forums.softwareag.com/t/i-am-looking-high-level-design-template-which-i-can-use-in-my-project/280773" TargetMode="External"/><Relationship Id="rId19" Type="http://schemas.openxmlformats.org/officeDocument/2006/relationships/hyperlink" Target="https://www.oreilly.com/library/view/modeling-enterprise-architecture/9780124199842/" TargetMode="External"/><Relationship Id="rId4" Type="http://schemas.openxmlformats.org/officeDocument/2006/relationships/diagramQuickStyle" Target="../diagrams/quickStyle27.xml"/><Relationship Id="rId9" Type="http://schemas.openxmlformats.org/officeDocument/2006/relationships/hyperlink" Target="https://github.com/bflorat/architecture-document-template" TargetMode="External"/><Relationship Id="rId14" Type="http://schemas.openxmlformats.org/officeDocument/2006/relationships/hyperlink" Target="https://github.com/thepracticaldeveloper/practical-architecture"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github.com/debasishg/frdomain" TargetMode="External"/><Relationship Id="rId3" Type="http://schemas.openxmlformats.org/officeDocument/2006/relationships/diagramLayout" Target="../diagrams/layout28.xml"/><Relationship Id="rId7" Type="http://schemas.openxmlformats.org/officeDocument/2006/relationships/hyperlink" Target="https://awesome-architecture.com/architectural-design-principles/architectural-design-principles/" TargetMode="Externa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10" Type="http://schemas.openxmlformats.org/officeDocument/2006/relationships/hyperlink" Target="https://www.amazon.in/Reactive-Messaging-Patterns-Actor-Model-ebook/dp/B011S8YC5G?ref_=ast_author_dp" TargetMode="External"/><Relationship Id="rId4" Type="http://schemas.openxmlformats.org/officeDocument/2006/relationships/diagramQuickStyle" Target="../diagrams/quickStyle28.xml"/><Relationship Id="rId9" Type="http://schemas.openxmlformats.org/officeDocument/2006/relationships/hyperlink" Target="https://www.reactivedesignpatterns.com/"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medium.com/@alex.wauters/how-to-make-architecture-trade-off-decisions-cb23482e1dfe" TargetMode="External"/><Relationship Id="rId3" Type="http://schemas.openxmlformats.org/officeDocument/2006/relationships/diagramLayout" Target="../diagrams/layout29.xml"/><Relationship Id="rId7" Type="http://schemas.openxmlformats.org/officeDocument/2006/relationships/hyperlink" Target="https://www.geeksforgeeks.org/architecture-tradeoff-analysis-method-atam/" TargetMode="Externa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 Id="rId9" Type="http://schemas.openxmlformats.org/officeDocument/2006/relationships/hyperlink" Target="https://www.linkedin.com/advice/0/how-do-you-evaluate-communicate-trade-offs"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www.milanjovanovic.tech/blog/enforcing-software-architecture-with-architecture-tests" TargetMode="External"/><Relationship Id="rId13" Type="http://schemas.openxmlformats.org/officeDocument/2006/relationships/hyperlink" Target="https://github.com/evolutionary-architecture/evolutionary-architecture-by-example" TargetMode="External"/><Relationship Id="rId18" Type="http://schemas.openxmlformats.org/officeDocument/2006/relationships/hyperlink" Target="https://www.oreilly.com/library/view/software-architecture-metrics/9781098112226/" TargetMode="External"/><Relationship Id="rId3" Type="http://schemas.openxmlformats.org/officeDocument/2006/relationships/diagramLayout" Target="../diagrams/layout30.xml"/><Relationship Id="rId21" Type="http://schemas.openxmlformats.org/officeDocument/2006/relationships/hyperlink" Target="https://arturwierzbicki.notion.site/Designing-Software-Architectures-notes-787dac4f3ac7454bbb2bafb96119e17b" TargetMode="External"/><Relationship Id="rId7" Type="http://schemas.openxmlformats.org/officeDocument/2006/relationships/hyperlink" Target="https://www.thoughtworks.com/insights/articles/fitness-function-driven-development" TargetMode="External"/><Relationship Id="rId12" Type="http://schemas.openxmlformats.org/officeDocument/2006/relationships/hyperlink" Target="https://gist.github.com/scottwd9/ada88f963aac95893e1eba10d4ad8f6d" TargetMode="External"/><Relationship Id="rId17" Type="http://schemas.openxmlformats.org/officeDocument/2006/relationships/hyperlink" Target="https://evolutionaryarchitecture.com/resources/" TargetMode="External"/><Relationship Id="rId2" Type="http://schemas.openxmlformats.org/officeDocument/2006/relationships/diagramData" Target="../diagrams/data30.xml"/><Relationship Id="rId16" Type="http://schemas.openxmlformats.org/officeDocument/2006/relationships/hyperlink" Target="https://lethain.com/building-evolutionary-architectures/" TargetMode="External"/><Relationship Id="rId20" Type="http://schemas.openxmlformats.org/officeDocument/2006/relationships/hyperlink" Target="https://medium.com/oolooroo/metrics-for-software-architects-and-designers-25b736a17a99" TargetMode="External"/><Relationship Id="rId1" Type="http://schemas.openxmlformats.org/officeDocument/2006/relationships/slideLayout" Target="../slideLayouts/slideLayout2.xml"/><Relationship Id="rId6" Type="http://schemas.microsoft.com/office/2007/relationships/diagramDrawing" Target="../diagrams/drawing30.xml"/><Relationship Id="rId11" Type="http://schemas.openxmlformats.org/officeDocument/2006/relationships/hyperlink" Target="https://pragprog.com/titles/mkdsa/design-it/" TargetMode="External"/><Relationship Id="rId5" Type="http://schemas.openxmlformats.org/officeDocument/2006/relationships/diagramColors" Target="../diagrams/colors30.xml"/><Relationship Id="rId15" Type="http://schemas.openxmlformats.org/officeDocument/2006/relationships/hyperlink" Target="https://sodkiewiczm.medium.com/geek-read-building-evolutionary-architectures-2nd-edition-5f500f395dbb" TargetMode="External"/><Relationship Id="rId10" Type="http://schemas.openxmlformats.org/officeDocument/2006/relationships/hyperlink" Target="https://www.oreilly.com/library/view/semantic-software-design/9781492045946/app01.html" TargetMode="External"/><Relationship Id="rId19" Type="http://schemas.openxmlformats.org/officeDocument/2006/relationships/hyperlink" Target="https://github.com/csjcode/solutions-architect-metrics-cheatsheet" TargetMode="External"/><Relationship Id="rId4" Type="http://schemas.openxmlformats.org/officeDocument/2006/relationships/diagramQuickStyle" Target="../diagrams/quickStyle30.xml"/><Relationship Id="rId9" Type="http://schemas.openxmlformats.org/officeDocument/2006/relationships/hyperlink" Target="https://www.softwarearchitecturebook.com/resources/" TargetMode="External"/><Relationship Id="rId14" Type="http://schemas.openxmlformats.org/officeDocument/2006/relationships/hyperlink" Target="https://pablo-iorio.medium.com/evolutionary-architectures-fe5a1c6f93ab" TargetMode="External"/><Relationship Id="rId22" Type="http://schemas.openxmlformats.org/officeDocument/2006/relationships/hyperlink" Target="https://www.linkedin.com/posts/gkcs_system-design-tradeoff-series-1-an-introduction-activity-7207432736918118400-aQ4y" TargetMode="Externa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43.xml.rels><?xml version="1.0" encoding="UTF-8" standalone="yes"?>
<Relationships xmlns="http://schemas.openxmlformats.org/package/2006/relationships"><Relationship Id="rId8" Type="http://schemas.openxmlformats.org/officeDocument/2006/relationships/hyperlink" Target="https://www.linkedin.com/pulse/day-one-enterprise-architect-vivek-srivastava--iq5tc/" TargetMode="External"/><Relationship Id="rId13" Type="http://schemas.openxmlformats.org/officeDocument/2006/relationships/hyperlink" Target="https://www.udemy.com/course/practical-solution-architecture/?srsltid=AfmBOop0-SWxT3A3tPCnilJ7kJsOt5ndxhRBtEjw26CWfrU4fee6O9sY" TargetMode="External"/><Relationship Id="rId18" Type="http://schemas.openxmlformats.org/officeDocument/2006/relationships/hyperlink" Target="https://www.amazon.in/Enterprise-Architecture-Work-Communication-Engineering/dp/3662571692/ref=sr_1_3" TargetMode="External"/><Relationship Id="rId26" Type="http://schemas.openxmlformats.org/officeDocument/2006/relationships/hyperlink" Target="https://www.oreilly.com/library/view/technology-strategy-patterns/9781492040866/" TargetMode="External"/><Relationship Id="rId3" Type="http://schemas.openxmlformats.org/officeDocument/2006/relationships/diagramData" Target="../diagrams/data43.xml"/><Relationship Id="rId21" Type="http://schemas.openxmlformats.org/officeDocument/2006/relationships/hyperlink" Target="https://link.springer.com/book/10.1007/978-1-4842-4306-0" TargetMode="External"/><Relationship Id="rId7" Type="http://schemas.microsoft.com/office/2007/relationships/diagramDrawing" Target="../diagrams/drawing43.xml"/><Relationship Id="rId12" Type="http://schemas.openxmlformats.org/officeDocument/2006/relationships/hyperlink" Target="https://www.udemy.com/course/togaf-10-practitioner/?couponCode=LEARNNOWPLANS" TargetMode="External"/><Relationship Id="rId17" Type="http://schemas.openxmlformats.org/officeDocument/2006/relationships/hyperlink" Target="https://www.enterprisedesignpatterns.com/" TargetMode="External"/><Relationship Id="rId25" Type="http://schemas.openxmlformats.org/officeDocument/2006/relationships/hyperlink" Target="https://www.packtpub.com/en-in/product/realize-enterprise-architecture-with-aws-and-safe-9781801812078" TargetMode="External"/><Relationship Id="rId2" Type="http://schemas.openxmlformats.org/officeDocument/2006/relationships/notesSlide" Target="../notesSlides/notesSlide13.xml"/><Relationship Id="rId16" Type="http://schemas.openxmlformats.org/officeDocument/2006/relationships/hyperlink" Target="https://www.leanix.net/en/wiki/ea/enterprise-architecture-governance" TargetMode="External"/><Relationship Id="rId20" Type="http://schemas.openxmlformats.org/officeDocument/2006/relationships/hyperlink" Target="https://www.linkedin.com/pulse/developing-cloudgaf-tailored-togaf-framework-cloud-adoption-cvswe/" TargetMode="External"/><Relationship Id="rId1" Type="http://schemas.openxmlformats.org/officeDocument/2006/relationships/slideLayout" Target="../slideLayouts/slideLayout2.xml"/><Relationship Id="rId6" Type="http://schemas.openxmlformats.org/officeDocument/2006/relationships/diagramColors" Target="../diagrams/colors43.xml"/><Relationship Id="rId11" Type="http://schemas.openxmlformats.org/officeDocument/2006/relationships/hyperlink" Target="https://www.udemy.com/course/togaf-training-part2/?couponCode=LEARNNOWPLANS" TargetMode="External"/><Relationship Id="rId24" Type="http://schemas.openxmlformats.org/officeDocument/2006/relationships/hyperlink" Target="https://conexiam.com/enterprise-architecture/free-resources/" TargetMode="External"/><Relationship Id="rId5" Type="http://schemas.openxmlformats.org/officeDocument/2006/relationships/diagramQuickStyle" Target="../diagrams/quickStyle43.xml"/><Relationship Id="rId15" Type="http://schemas.openxmlformats.org/officeDocument/2006/relationships/hyperlink" Target="https://www.udemy.com/course/enterprise-architecture-by-example/" TargetMode="External"/><Relationship Id="rId23" Type="http://schemas.openxmlformats.org/officeDocument/2006/relationships/hyperlink" Target="https://www.oreilly.com/library/view/fundamentals-of-enterprise/9781098159368/" TargetMode="External"/><Relationship Id="rId10" Type="http://schemas.openxmlformats.org/officeDocument/2006/relationships/hyperlink" Target="https://www.udemy.com/course/togaf10-part1/?couponCode=LEARNNOWPLANS" TargetMode="External"/><Relationship Id="rId19" Type="http://schemas.openxmlformats.org/officeDocument/2006/relationships/hyperlink" Target="https://joerg-go.medium.com/togaf-quick-guide-855a3b0eb339" TargetMode="External"/><Relationship Id="rId4" Type="http://schemas.openxmlformats.org/officeDocument/2006/relationships/diagramLayout" Target="../diagrams/layout43.xml"/><Relationship Id="rId9" Type="http://schemas.openxmlformats.org/officeDocument/2006/relationships/hyperlink" Target="https://www.eacoe.org/" TargetMode="External"/><Relationship Id="rId14" Type="http://schemas.openxmlformats.org/officeDocument/2006/relationships/hyperlink" Target="https://www.udemy.com/course/the-practice-of-enterprise-architecture-part-iii/?couponCode=LOCLZDOFFPINTRMT#instructor-1" TargetMode="External"/><Relationship Id="rId22" Type="http://schemas.openxmlformats.org/officeDocument/2006/relationships/hyperlink" Target="https://eawheel.com/"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www.quora.com/Is-ASP-NET-MVC-a-framework-architecture-or-a-design-pattern" TargetMode="External"/><Relationship Id="rId3" Type="http://schemas.openxmlformats.org/officeDocument/2006/relationships/diagramLayout" Target="../diagrams/layout44.xml"/><Relationship Id="rId7" Type="http://schemas.openxmlformats.org/officeDocument/2006/relationships/image" Target="../media/image6.png"/><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 Id="rId9" Type="http://schemas.openxmlformats.org/officeDocument/2006/relationships/hyperlink" Target="https://www.linkedin.com/feed/update/urn:li:activity:7216040846343766016/"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awesome-architecture.com/modular-monolith/" TargetMode="External"/><Relationship Id="rId3" Type="http://schemas.openxmlformats.org/officeDocument/2006/relationships/diagramLayout" Target="../diagrams/layout45.xml"/><Relationship Id="rId7" Type="http://schemas.openxmlformats.org/officeDocument/2006/relationships/image" Target="../media/image7.png"/><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6.xml"/><Relationship Id="rId7" Type="http://schemas.openxmlformats.org/officeDocument/2006/relationships/image" Target="../media/image8.png"/><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7" Type="http://schemas.openxmlformats.org/officeDocument/2006/relationships/image" Target="../media/image9.png"/><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hyperlink" Target="https://zipkin.io/pages/architecture.html" TargetMode="External"/><Relationship Id="rId3" Type="http://schemas.openxmlformats.org/officeDocument/2006/relationships/diagramData" Target="../diagrams/data48.xml"/><Relationship Id="rId7" Type="http://schemas.microsoft.com/office/2007/relationships/diagramDrawing" Target="../diagrams/drawing48.xml"/><Relationship Id="rId12" Type="http://schemas.openxmlformats.org/officeDocument/2006/relationships/hyperlink" Target="https://github.com/Apress/practical-microservices-architectural-pattern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8.xml"/><Relationship Id="rId11" Type="http://schemas.openxmlformats.org/officeDocument/2006/relationships/hyperlink" Target="https://github.com/PacktPublishing/Microservices-with-Spring-Boot-and-Spring-Cloud-Third-Edition" TargetMode="External"/><Relationship Id="rId5" Type="http://schemas.openxmlformats.org/officeDocument/2006/relationships/diagramQuickStyle" Target="../diagrams/quickStyle48.xml"/><Relationship Id="rId15" Type="http://schemas.openxmlformats.org/officeDocument/2006/relationships/hyperlink" Target="https://learn.microsoft.com/en-us/dotnet/core/extensions/service-discovery?tabs=dotnet-cli" TargetMode="External"/><Relationship Id="rId10" Type="http://schemas.openxmlformats.org/officeDocument/2006/relationships/hyperlink" Target="https://github.com/bhuvnesharya/Perfect-Roadmap-To-Learn-Java-SpringBoot-In-2024" TargetMode="External"/><Relationship Id="rId4" Type="http://schemas.openxmlformats.org/officeDocument/2006/relationships/diagramLayout" Target="../diagrams/layout48.xml"/><Relationship Id="rId9" Type="http://schemas.openxmlformats.org/officeDocument/2006/relationships/hyperlink" Target="https://gist.github.com/sandipray63in/db20bf8ff13ad857af22e4844e2b09a9" TargetMode="External"/><Relationship Id="rId14" Type="http://schemas.openxmlformats.org/officeDocument/2006/relationships/hyperlink" Target="https://cloud.spring.io/spring-cloud-zookeeper/1.2.x/multi/multi_spring-cloud-zookeeper-discovery.html"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medium.com/riskified-technology/message-broker-vs-event-broker-when-to-use-each-one-of-them-15597320a8ba" TargetMode="External"/><Relationship Id="rId13" Type="http://schemas.openxmlformats.org/officeDocument/2006/relationships/hyperlink" Target="https://learn.microsoft.com/en-us/azure/service-bus-messaging/service-bus-amqp-protocol-guide" TargetMode="External"/><Relationship Id="rId3" Type="http://schemas.openxmlformats.org/officeDocument/2006/relationships/diagramLayout" Target="../diagrams/layout49.xml"/><Relationship Id="rId7" Type="http://schemas.openxmlformats.org/officeDocument/2006/relationships/image" Target="../media/image11.png"/><Relationship Id="rId12" Type="http://schemas.openxmlformats.org/officeDocument/2006/relationships/hyperlink" Target="https://learn.microsoft.com/en-us/azure/service-bus-messaging/service-bus-async-messaging" TargetMode="Externa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11" Type="http://schemas.openxmlformats.org/officeDocument/2006/relationships/hyperlink" Target="https://learn.microsoft.com/en-us/azure/service-bus-messaging/service-bus-performance-improvements?tabs=net-standard-sdk-2" TargetMode="External"/><Relationship Id="rId5" Type="http://schemas.openxmlformats.org/officeDocument/2006/relationships/diagramColors" Target="../diagrams/colors49.xml"/><Relationship Id="rId15" Type="http://schemas.openxmlformats.org/officeDocument/2006/relationships/hyperlink" Target="https://gist.github.com/sandipray63in/6e88a6d4470887716ec8bbcfb4181e73" TargetMode="External"/><Relationship Id="rId10" Type="http://schemas.openxmlformats.org/officeDocument/2006/relationships/hyperlink" Target="https://learn.microsoft.com/en-us/azure/service-bus-messaging/service-bus-queues-topics-subscriptions" TargetMode="External"/><Relationship Id="rId4" Type="http://schemas.openxmlformats.org/officeDocument/2006/relationships/diagramQuickStyle" Target="../diagrams/quickStyle49.xml"/><Relationship Id="rId9" Type="http://schemas.openxmlformats.org/officeDocument/2006/relationships/hyperlink" Target="https://x.com/bytebytego/status/1726861680880304638" TargetMode="External"/><Relationship Id="rId14" Type="http://schemas.openxmlformats.org/officeDocument/2006/relationships/hyperlink" Target="https://www.rabbitmq.com/tutorials/amqp-concepts"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www.syncfusion.com/succinctly-free-ebooks/aspnet-webhooks-succinctly" TargetMode="External"/><Relationship Id="rId3" Type="http://schemas.openxmlformats.org/officeDocument/2006/relationships/diagramLayout" Target="../diagrams/layout50.xml"/><Relationship Id="rId7" Type="http://schemas.openxmlformats.org/officeDocument/2006/relationships/hyperlink" Target="https://medium.com/ballerina-techblog/event-driven-apis-with-webhook-and-websub-83b0834f08f3" TargetMode="Externa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10" Type="http://schemas.openxmlformats.org/officeDocument/2006/relationships/image" Target="../media/image12.png"/><Relationship Id="rId4" Type="http://schemas.openxmlformats.org/officeDocument/2006/relationships/diagramQuickStyle" Target="../diagrams/quickStyle50.xml"/><Relationship Id="rId9" Type="http://schemas.openxmlformats.org/officeDocument/2006/relationships/hyperlink" Target="https://gist.github.com/sandipray63in/f7f793f39f06fe36d67da0891faa7d50"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ww.enterpriseintegrationpatterns.com/" TargetMode="External"/><Relationship Id="rId3" Type="http://schemas.openxmlformats.org/officeDocument/2006/relationships/diagramLayout" Target="../diagrams/layout51.xml"/><Relationship Id="rId7" Type="http://schemas.openxmlformats.org/officeDocument/2006/relationships/image" Target="../media/image13.gif"/><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11" Type="http://schemas.openxmlformats.org/officeDocument/2006/relationships/hyperlink" Target="https://aws.amazon.com/blogs/compute/implementing-enterprise-integration-patterns-with-aws-messaging-services-point-to-point-channels/" TargetMode="External"/><Relationship Id="rId5" Type="http://schemas.openxmlformats.org/officeDocument/2006/relationships/diagramColors" Target="../diagrams/colors51.xml"/><Relationship Id="rId10" Type="http://schemas.openxmlformats.org/officeDocument/2006/relationships/hyperlink" Target="https://pacodelacruz.io/enterprise-integration-patterns-on-azure-intro" TargetMode="External"/><Relationship Id="rId4" Type="http://schemas.openxmlformats.org/officeDocument/2006/relationships/diagramQuickStyle" Target="../diagrams/quickStyle51.xml"/><Relationship Id="rId9" Type="http://schemas.openxmlformats.org/officeDocument/2006/relationships/hyperlink" Target="https://learn.microsoft.com/en-us/dotnet/framework/wcf/extending/choosing-a-message-exchange-pattern" TargetMode="External"/></Relationships>
</file>

<file path=ppt/slides/_rels/slide5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52.xml"/><Relationship Id="rId7" Type="http://schemas.openxmlformats.org/officeDocument/2006/relationships/hyperlink" Target="https://www.techtarget.com/searchcloudcomputing/definition/iPaaS-integration-platform-as-a-service" TargetMode="Externa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7" Type="http://schemas.openxmlformats.org/officeDocument/2006/relationships/image" Target="../media/image15.png"/><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6.xml.rels><?xml version="1.0" encoding="UTF-8" standalone="yes"?>
<Relationships xmlns="http://schemas.openxmlformats.org/package/2006/relationships"><Relationship Id="rId8" Type="http://schemas.openxmlformats.org/officeDocument/2006/relationships/hyperlink" Target="https://github.com/sclark01/Swift_VIPER_Demo" TargetMode="External"/><Relationship Id="rId3" Type="http://schemas.openxmlformats.org/officeDocument/2006/relationships/diagramLayout" Target="../diagrams/layout56.xml"/><Relationship Id="rId7" Type="http://schemas.openxmlformats.org/officeDocument/2006/relationships/hyperlink" Target="https://github.com/PacktPublishing/MVVM-pattern-.NET-MAUI" TargetMode="Externa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 Id="rId9" Type="http://schemas.openxmlformats.org/officeDocument/2006/relationships/hyperlink" Target="https://github.com/strongself/The-Book-of-VIPER" TargetMode="External"/></Relationships>
</file>

<file path=ppt/slides/_rels/slide5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57.xml"/><Relationship Id="rId7" Type="http://schemas.openxmlformats.org/officeDocument/2006/relationships/hyperlink" Target="https://awesome-architecture.com/hexagonal-architecture/" TargetMode="Externa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58.xml"/><Relationship Id="rId7" Type="http://schemas.openxmlformats.org/officeDocument/2006/relationships/hyperlink" Target="https://awesome-architecture.com/onion-architecture/" TargetMode="Externa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8" Type="http://schemas.openxmlformats.org/officeDocument/2006/relationships/hyperlink" Target="https://www.milanjovanovic.tech/pragmatic-clean-architecture" TargetMode="External"/><Relationship Id="rId3" Type="http://schemas.openxmlformats.org/officeDocument/2006/relationships/diagramLayout" Target="../diagrams/layout59.xml"/><Relationship Id="rId7" Type="http://schemas.openxmlformats.org/officeDocument/2006/relationships/image" Target="../media/image18.jpe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10" Type="http://schemas.openxmlformats.org/officeDocument/2006/relationships/hyperlink" Target="https://www.linkedin.com/posts/goeleven_hexagonal-clean-onion-whats-the-difference-activity-7285626885605130240-5c76/" TargetMode="External"/><Relationship Id="rId4" Type="http://schemas.openxmlformats.org/officeDocument/2006/relationships/diagramQuickStyle" Target="../diagrams/quickStyle59.xml"/><Relationship Id="rId9" Type="http://schemas.openxmlformats.org/officeDocument/2006/relationships/hyperlink" Target="https://awesome-architecture.com/clean-architecture/" TargetMode="External"/></Relationships>
</file>

<file path=ppt/slides/_rels/slide60.xml.rels><?xml version="1.0" encoding="UTF-8" standalone="yes"?>
<Relationships xmlns="http://schemas.openxmlformats.org/package/2006/relationships"><Relationship Id="rId8" Type="http://schemas.openxmlformats.org/officeDocument/2006/relationships/hyperlink" Target="https://awesome-architecture.com/vertical-slice-architecture/" TargetMode="External"/><Relationship Id="rId3" Type="http://schemas.openxmlformats.org/officeDocument/2006/relationships/diagramLayout" Target="../diagrams/layout60.xml"/><Relationship Id="rId7" Type="http://schemas.openxmlformats.org/officeDocument/2006/relationships/hyperlink" Target="https://www.milanjovanovic.tech/blog/vertical-slice-architecture" TargetMode="Externa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 Id="rId9" Type="http://schemas.openxmlformats.org/officeDocument/2006/relationships/image" Target="../media/image19.jpeg"/></Relationships>
</file>

<file path=ppt/slides/_rels/slide61.xml.rels><?xml version="1.0" encoding="UTF-8" standalone="yes"?>
<Relationships xmlns="http://schemas.openxmlformats.org/package/2006/relationships"><Relationship Id="rId8" Type="http://schemas.openxmlformats.org/officeDocument/2006/relationships/hyperlink" Target="https://medium.com/@mishraabhinn/understanding-domain-objects-entities-dtos-and-models-in-c-207bb5c1d97c" TargetMode="External"/><Relationship Id="rId3" Type="http://schemas.openxmlformats.org/officeDocument/2006/relationships/diagramLayout" Target="../diagrams/layout61.xml"/><Relationship Id="rId7" Type="http://schemas.openxmlformats.org/officeDocument/2006/relationships/hyperlink" Target="https://github.com/sandipray63in/DDD-Based-Enterprise-Application-Framework" TargetMode="Externa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10" Type="http://schemas.openxmlformats.org/officeDocument/2006/relationships/hyperlink" Target="https://awesome-architecture.com/event-driven-architecture/" TargetMode="External"/><Relationship Id="rId4" Type="http://schemas.openxmlformats.org/officeDocument/2006/relationships/diagramQuickStyle" Target="../diagrams/quickStyle61.xml"/><Relationship Id="rId9" Type="http://schemas.openxmlformats.org/officeDocument/2006/relationships/hyperlink" Target="https://awesome-architecture.com/domain-driven-design/domain-driven-design/"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learn.microsoft.com/en-us/dotnet/architecture/microservices/microservice-ddd-cqrs-patterns/apply-simplified-microservice-cqrs-ddd-patterns" TargetMode="External"/><Relationship Id="rId3" Type="http://schemas.openxmlformats.org/officeDocument/2006/relationships/diagramLayout" Target="../diagrams/layout62.xml"/><Relationship Id="rId7" Type="http://schemas.openxmlformats.org/officeDocument/2006/relationships/image" Target="../media/image20.png"/><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 Id="rId9" Type="http://schemas.openxmlformats.org/officeDocument/2006/relationships/hyperlink" Target="https://awesome-architecture.com/cqrs/"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awesome-architecture.com/modeling/event-storming/" TargetMode="External"/><Relationship Id="rId3" Type="http://schemas.openxmlformats.org/officeDocument/2006/relationships/diagramLayout" Target="../diagrams/layout63.xml"/><Relationship Id="rId7" Type="http://schemas.openxmlformats.org/officeDocument/2006/relationships/image" Target="../media/image21.png"/><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 Id="rId9" Type="http://schemas.openxmlformats.org/officeDocument/2006/relationships/hyperlink" Target="https://awesome-architecture.com/event-sourcing/"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martinfowler.com/eaaDev/" TargetMode="External"/><Relationship Id="rId3" Type="http://schemas.openxmlformats.org/officeDocument/2006/relationships/diagramLayout" Target="../diagrams/layout64.xml"/><Relationship Id="rId7" Type="http://schemas.openxmlformats.org/officeDocument/2006/relationships/hyperlink" Target="https://martinfowler.com/eaaCatalog/" TargetMode="Externa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10" Type="http://schemas.openxmlformats.org/officeDocument/2006/relationships/hyperlink" Target="https://dotnet.microsoft.com/en-us/learn/dotnet/architecture-guides" TargetMode="External"/><Relationship Id="rId4" Type="http://schemas.openxmlformats.org/officeDocument/2006/relationships/diagramQuickStyle" Target="../diagrams/quickStyle64.xml"/><Relationship Id="rId9" Type="http://schemas.openxmlformats.org/officeDocument/2006/relationships/hyperlink" Target="http://www.corej2eepatterns.com/" TargetMode="External"/></Relationships>
</file>

<file path=ppt/slides/_rels/slide65.xml.rels><?xml version="1.0" encoding="UTF-8" standalone="yes"?>
<Relationships xmlns="http://schemas.openxmlformats.org/package/2006/relationships"><Relationship Id="rId8" Type="http://schemas.openxmlformats.org/officeDocument/2006/relationships/hyperlink" Target="https://aws.amazon.com/compare/the-difference-between-microservices-and-apis/" TargetMode="External"/><Relationship Id="rId3" Type="http://schemas.openxmlformats.org/officeDocument/2006/relationships/diagramLayout" Target="../diagrams/layout65.xml"/><Relationship Id="rId7" Type="http://schemas.openxmlformats.org/officeDocument/2006/relationships/hyperlink" Target="https://awesome-architecture.com/microservices/microservices/" TargetMode="External"/><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10" Type="http://schemas.openxmlformats.org/officeDocument/2006/relationships/image" Target="../media/image22.png"/><Relationship Id="rId4" Type="http://schemas.openxmlformats.org/officeDocument/2006/relationships/diagramQuickStyle" Target="../diagrams/quickStyle65.xml"/><Relationship Id="rId9" Type="http://schemas.openxmlformats.org/officeDocument/2006/relationships/hyperlink" Target="https://www.goodreads.com/book/show/28241543-microservices-vs-service-oriented-architecture"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prashanthpanduranga.wordpress.com/2015/03/25/inevitability-of-multi-tenancy-saas-in-product-engineering/" TargetMode="Externa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hyperlink" Target="https://github.com/microsoft/commercial-marketplace-client-dotnet" TargetMode="External"/><Relationship Id="rId5" Type="http://schemas.openxmlformats.org/officeDocument/2006/relationships/hyperlink" Target="https://www.amazon.in/Building-Multi-Tenant-SaaS-Architectures-Golding-ebook/dp/B0CW1HLHSP/ref=tmm_kin_swatch_0" TargetMode="External"/><Relationship Id="rId4" Type="http://schemas.openxmlformats.org/officeDocument/2006/relationships/hyperlink" Target="https://www.syncfusion.com/succinctly-free-ebooks/aspnet-multitenant-applications-succinctly"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kubernetes.io/docs/concepts/security/multi-tenancy/" TargetMode="External"/><Relationship Id="rId2" Type="http://schemas.openxmlformats.org/officeDocument/2006/relationships/hyperlink" Target="https://www.vamsitalkstech.com/architecture/kubernetes-multitenancy-best-practices-architecture-models-2-2/" TargetMode="Externa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www.cncf.io/blog/2022/11/09/multi-tenancy-in-kubernetes-implementation-and-optimization/"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loud.google.com/architecture/microservices-architecture-refactoring-monoliths" TargetMode="External"/><Relationship Id="rId3" Type="http://schemas.openxmlformats.org/officeDocument/2006/relationships/diagramLayout" Target="../diagrams/layout66.xml"/><Relationship Id="rId7" Type="http://schemas.openxmlformats.org/officeDocument/2006/relationships/image" Target="../media/image25.gif"/><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 Id="rId9" Type="http://schemas.openxmlformats.org/officeDocument/2006/relationships/hyperlink" Target="https://priyalwalpita.medium.com/monolith-to-microservices-migration-patters-a9e32d5adc9a"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github.com/mehdihadeli/awesome-software-architecture/blob/main/docs/cloud-design-patterns/cloud-design-patterns.md" TargetMode="External"/><Relationship Id="rId3" Type="http://schemas.openxmlformats.org/officeDocument/2006/relationships/diagramLayout" Target="../diagrams/layout67.xml"/><Relationship Id="rId7" Type="http://schemas.openxmlformats.org/officeDocument/2006/relationships/image" Target="../media/image26.png"/><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70.xml.rels><?xml version="1.0" encoding="UTF-8" standalone="yes"?>
<Relationships xmlns="http://schemas.openxmlformats.org/package/2006/relationships"><Relationship Id="rId8" Type="http://schemas.openxmlformats.org/officeDocument/2006/relationships/hyperlink" Target="https://github.com/prayagupa/SOA" TargetMode="External"/><Relationship Id="rId13" Type="http://schemas.openxmlformats.org/officeDocument/2006/relationships/hyperlink" Target="https://learn.microsoft.com/en-us/shows/on-dotnet/dave-tillman-and-zach-brown-resilient-microservices-with-steeltoe" TargetMode="External"/><Relationship Id="rId18" Type="http://schemas.openxmlformats.org/officeDocument/2006/relationships/hyperlink" Target="https://www.linkedin.com/feed/update/urn:li:activity:7223921187465150465/" TargetMode="External"/><Relationship Id="rId3" Type="http://schemas.openxmlformats.org/officeDocument/2006/relationships/diagramLayout" Target="../diagrams/layout68.xml"/><Relationship Id="rId7" Type="http://schemas.openxmlformats.org/officeDocument/2006/relationships/hyperlink" Target="https://microservices.io/patterns/" TargetMode="External"/><Relationship Id="rId12" Type="http://schemas.openxmlformats.org/officeDocument/2006/relationships/hyperlink" Target="https://learn.microsoft.com/en-us/shows/on-dotnet/net-microservices-with-steeltoe" TargetMode="External"/><Relationship Id="rId17" Type="http://schemas.openxmlformats.org/officeDocument/2006/relationships/hyperlink" Target="https://link.springer.com/book/10.1007/978-1-4842-7226-8" TargetMode="External"/><Relationship Id="rId2" Type="http://schemas.openxmlformats.org/officeDocument/2006/relationships/diagramData" Target="../diagrams/data68.xml"/><Relationship Id="rId16" Type="http://schemas.openxmlformats.org/officeDocument/2006/relationships/hyperlink" Target="https://www.linkedin.com/posts/juan-manuel-cubillos-avellaneda_design-patterns-used-across-different-software-activity-7144012408208986112-sBPR/" TargetMode="External"/><Relationship Id="rId1" Type="http://schemas.openxmlformats.org/officeDocument/2006/relationships/slideLayout" Target="../slideLayouts/slideLayout2.xml"/><Relationship Id="rId6" Type="http://schemas.microsoft.com/office/2007/relationships/diagramDrawing" Target="../diagrams/drawing68.xml"/><Relationship Id="rId11" Type="http://schemas.openxmlformats.org/officeDocument/2006/relationships/hyperlink" Target="https://www.linkedin.com/pulse/service-discovery-microservices-c-net-amir-doosti/" TargetMode="External"/><Relationship Id="rId5" Type="http://schemas.openxmlformats.org/officeDocument/2006/relationships/diagramColors" Target="../diagrams/colors68.xml"/><Relationship Id="rId15" Type="http://schemas.openxmlformats.org/officeDocument/2006/relationships/hyperlink" Target="https://www.oreilly.com/library/view/design-patterns-for/9781492090700/" TargetMode="External"/><Relationship Id="rId10" Type="http://schemas.openxmlformats.org/officeDocument/2006/relationships/hyperlink" Target="https://github.com/Netflix/ribbon" TargetMode="External"/><Relationship Id="rId4" Type="http://schemas.openxmlformats.org/officeDocument/2006/relationships/diagramQuickStyle" Target="../diagrams/quickStyle68.xml"/><Relationship Id="rId9" Type="http://schemas.openxmlformats.org/officeDocument/2006/relationships/hyperlink" Target="https://medium.com/@skpallewatta92/microservices-with-netflix-oss-spring-boot-and-non-jvm-applications-2d762768921a" TargetMode="External"/><Relationship Id="rId14" Type="http://schemas.openxmlformats.org/officeDocument/2006/relationships/hyperlink" Target="https://learn.microsoft.com/en-us/azure/azure-functions/durable/durable-functions-cloud-backup?tabs=csharp" TargetMode="Externa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70.xml"/><Relationship Id="rId7" Type="http://schemas.openxmlformats.org/officeDocument/2006/relationships/image" Target="../media/image27.png"/><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3.xml.rels><?xml version="1.0" encoding="UTF-8" standalone="yes"?>
<Relationships xmlns="http://schemas.openxmlformats.org/package/2006/relationships"><Relationship Id="rId8" Type="http://schemas.openxmlformats.org/officeDocument/2006/relationships/hyperlink" Target="https://en.wikipedia.org/wiki/Non-functional_requirement" TargetMode="External"/><Relationship Id="rId3" Type="http://schemas.openxmlformats.org/officeDocument/2006/relationships/diagramLayout" Target="../diagrams/layout71.xml"/><Relationship Id="rId7" Type="http://schemas.openxmlformats.org/officeDocument/2006/relationships/image" Target="../media/image28.png"/><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11" Type="http://schemas.openxmlformats.org/officeDocument/2006/relationships/hyperlink" Target="https://www.packtpub.com/en-in/product/mastering-non-functional-requirements-9781788297899" TargetMode="External"/><Relationship Id="rId5" Type="http://schemas.openxmlformats.org/officeDocument/2006/relationships/diagramColors" Target="../diagrams/colors71.xml"/><Relationship Id="rId10" Type="http://schemas.openxmlformats.org/officeDocument/2006/relationships/hyperlink" Target="https://msrviking.wordpress.com/tag/non-functional-requirement/" TargetMode="External"/><Relationship Id="rId4" Type="http://schemas.openxmlformats.org/officeDocument/2006/relationships/diagramQuickStyle" Target="../diagrams/quickStyle71.xml"/><Relationship Id="rId9" Type="http://schemas.openxmlformats.org/officeDocument/2006/relationships/hyperlink" Target="https://medium.com/@iagomodesto/rest-api-development-gentle-checklist-of-non-functional-requirements-for-success-df2170956190" TargetMode="Externa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2.xml"/><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5.xm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8.xm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82.xml"/><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83.xm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6.xml.rels><?xml version="1.0" encoding="UTF-8" standalone="yes"?>
<Relationships xmlns="http://schemas.openxmlformats.org/package/2006/relationships"><Relationship Id="rId8" Type="http://schemas.openxmlformats.org/officeDocument/2006/relationships/hyperlink" Target="https://www.linkedin.com/pulse/cross-industry-regtech-platform-pov-balaji-ramarajan-uj8uc/" TargetMode="External"/><Relationship Id="rId3" Type="http://schemas.openxmlformats.org/officeDocument/2006/relationships/diagramLayout" Target="../diagrams/layout84.xml"/><Relationship Id="rId7" Type="http://schemas.openxmlformats.org/officeDocument/2006/relationships/hyperlink" Target="https://www.linkedin.com/pulse/data-governance-digitally-intelligent-world-pov-balaji-ramarajan-q7hec/" TargetMode="Externa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10" Type="http://schemas.openxmlformats.org/officeDocument/2006/relationships/hyperlink" Target="https://learn.microsoft.com/en-us/azure/security/fundamentals/best-practices-and-patterns" TargetMode="External"/><Relationship Id="rId4" Type="http://schemas.openxmlformats.org/officeDocument/2006/relationships/diagramQuickStyle" Target="../diagrams/quickStyle84.xml"/><Relationship Id="rId9" Type="http://schemas.openxmlformats.org/officeDocument/2006/relationships/hyperlink" Target="https://aws.amazon.com/compliance/" TargetMode="External"/></Relationships>
</file>

<file path=ppt/slides/_rels/slide87.xml.rels><?xml version="1.0" encoding="UTF-8" standalone="yes"?>
<Relationships xmlns="http://schemas.openxmlformats.org/package/2006/relationships"><Relationship Id="rId8" Type="http://schemas.openxmlformats.org/officeDocument/2006/relationships/hyperlink" Target="https://timdeschryver.dev/blog/feature-flags-in-net-from-simple-to-more-advanced" TargetMode="External"/><Relationship Id="rId3" Type="http://schemas.openxmlformats.org/officeDocument/2006/relationships/diagramLayout" Target="../diagrams/layout85.xml"/><Relationship Id="rId7" Type="http://schemas.openxmlformats.org/officeDocument/2006/relationships/hyperlink" Target="https://launchdarkly.com/" TargetMode="Externa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 Id="rId9" Type="http://schemas.openxmlformats.org/officeDocument/2006/relationships/hyperlink" Target="https://www.harness.io/blog/test-driven-or-feature-flag-driven-development-whats-best-for-your-team" TargetMode="Externa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86.xm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87.xm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90.xml.rels><?xml version="1.0" encoding="UTF-8" standalone="yes"?>
<Relationships xmlns="http://schemas.openxmlformats.org/package/2006/relationships"><Relationship Id="rId8" Type="http://schemas.openxmlformats.org/officeDocument/2006/relationships/hyperlink" Target="https://www.packtpub.com/en-us/product/efficient-cloud-finops-9781805122579" TargetMode="External"/><Relationship Id="rId3" Type="http://schemas.openxmlformats.org/officeDocument/2006/relationships/diagramLayout" Target="../diagrams/layout88.xml"/><Relationship Id="rId7" Type="http://schemas.openxmlformats.org/officeDocument/2006/relationships/hyperlink" Target="https://github.com/jmfontaine/awesome-finops" TargetMode="External"/><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11" Type="http://schemas.openxmlformats.org/officeDocument/2006/relationships/hyperlink" Target="https://github.com/PacktPublishing/FinOps-Handbook-for-Microsoft-Azure" TargetMode="External"/><Relationship Id="rId5" Type="http://schemas.openxmlformats.org/officeDocument/2006/relationships/diagramColors" Target="../diagrams/colors88.xml"/><Relationship Id="rId10" Type="http://schemas.openxmlformats.org/officeDocument/2006/relationships/hyperlink" Target="https://github.com/dolevshor/azure-finops-guide" TargetMode="External"/><Relationship Id="rId4" Type="http://schemas.openxmlformats.org/officeDocument/2006/relationships/diagramQuickStyle" Target="../diagrams/quickStyle88.xml"/><Relationship Id="rId9" Type="http://schemas.openxmlformats.org/officeDocument/2006/relationships/hyperlink" Target="https://www.oreilly.com/library/view/cloud-finops/9781492054610/" TargetMode="Externa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89.xml"/><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s>
</file>

<file path=ppt/slides/_rels/slide92.xml.rels><?xml version="1.0" encoding="UTF-8" standalone="yes"?>
<Relationships xmlns="http://schemas.openxmlformats.org/package/2006/relationships"><Relationship Id="rId8" Type="http://schemas.openxmlformats.org/officeDocument/2006/relationships/hyperlink" Target="https://pragprog.com/titles/mnee2/release-it-second-edition/" TargetMode="External"/><Relationship Id="rId3" Type="http://schemas.openxmlformats.org/officeDocument/2006/relationships/diagramLayout" Target="../diagrams/layout90.xml"/><Relationship Id="rId7" Type="http://schemas.openxmlformats.org/officeDocument/2006/relationships/hyperlink" Target="https://martinfowler.com/books/continuousDelivery.html" TargetMode="External"/><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1.xm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2.xm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3.xm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4.xm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7.xml.rels><?xml version="1.0" encoding="UTF-8" standalone="yes"?>
<Relationships xmlns="http://schemas.openxmlformats.org/package/2006/relationships"><Relationship Id="rId8" Type="http://schemas.openxmlformats.org/officeDocument/2006/relationships/hyperlink" Target="https://www.packtpub.com/en-in/product/sustainable-cloud-development-9781836208402?srsltid=AfmBOorIHabgajTdx26bfXv__f5l-nk-SYfWq3v16aaOb21ScWwMd3_U" TargetMode="External"/><Relationship Id="rId3" Type="http://schemas.openxmlformats.org/officeDocument/2006/relationships/diagramLayout" Target="../diagrams/layout95.xml"/><Relationship Id="rId7" Type="http://schemas.openxmlformats.org/officeDocument/2006/relationships/hyperlink" Target="https://devm.io/software-architecture/sustainable-software-architecture-technical-debt-160372-003" TargetMode="Externa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8.xml.rels><?xml version="1.0" encoding="UTF-8" standalone="yes"?>
<Relationships xmlns="http://schemas.openxmlformats.org/package/2006/relationships"><Relationship Id="rId8" Type="http://schemas.openxmlformats.org/officeDocument/2006/relationships/hyperlink" Target="https://learn.microsoft.com/en-us/azure/well-architected/what-is-well-architected-framework" TargetMode="External"/><Relationship Id="rId3" Type="http://schemas.openxmlformats.org/officeDocument/2006/relationships/diagramLayout" Target="../diagrams/layout96.xml"/><Relationship Id="rId7" Type="http://schemas.openxmlformats.org/officeDocument/2006/relationships/hyperlink" Target="https://aws.amazon.com/blogs/architecture/announcing-updates-to-the-aws-well-architected-framework-guidance/" TargetMode="Externa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11" Type="http://schemas.openxmlformats.org/officeDocument/2006/relationships/hyperlink" Target="https://socadk.github.io/design-practice-repository/activities/DPR-SMART-NFR-Elicitation.html" TargetMode="External"/><Relationship Id="rId5" Type="http://schemas.openxmlformats.org/officeDocument/2006/relationships/diagramColors" Target="../diagrams/colors96.xml"/><Relationship Id="rId10" Type="http://schemas.openxmlformats.org/officeDocument/2006/relationships/hyperlink" Target="https://learn.microsoft.com/en-us/azure/cloud-adoption-framework/manage/considerations/criticality" TargetMode="External"/><Relationship Id="rId4" Type="http://schemas.openxmlformats.org/officeDocument/2006/relationships/diagramQuickStyle" Target="../diagrams/quickStyle96.xml"/><Relationship Id="rId9" Type="http://schemas.openxmlformats.org/officeDocument/2006/relationships/hyperlink" Target="https://techcommunity.microsoft.com/blog/azurearchitectureblog/optimizing-azure-kubernetes-service-aks-with-the-well-architected-framework/3352848" TargetMode="Externa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7.xml"/><Relationship Id="rId7" Type="http://schemas.openxmlformats.org/officeDocument/2006/relationships/hyperlink" Target="https://bytebytego.com/courses/system-design-interview/back-of-the-envelope-estimation" TargetMode="Externa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10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99.xml"/><Relationship Id="rId7" Type="http://schemas.microsoft.com/office/2007/relationships/diagramDrawing" Target="../diagrams/drawing9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99.xml"/><Relationship Id="rId5" Type="http://schemas.openxmlformats.org/officeDocument/2006/relationships/diagramQuickStyle" Target="../diagrams/quickStyle99.xml"/><Relationship Id="rId4" Type="http://schemas.openxmlformats.org/officeDocument/2006/relationships/diagramLayout" Target="../diagrams/layout99.xml"/></Relationships>
</file>

<file path=ppt/slides/_rels/slide102.xml.rels><?xml version="1.0" encoding="UTF-8" standalone="yes"?>
<Relationships xmlns="http://schemas.openxmlformats.org/package/2006/relationships"><Relationship Id="rId8" Type="http://schemas.openxmlformats.org/officeDocument/2006/relationships/hyperlink" Target="https://www.orkes.io/what-is-conductor" TargetMode="External"/><Relationship Id="rId3" Type="http://schemas.openxmlformats.org/officeDocument/2006/relationships/diagramData" Target="../diagrams/data100.xml"/><Relationship Id="rId7" Type="http://schemas.microsoft.com/office/2007/relationships/diagramDrawing" Target="../diagrams/drawing100.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100.xml"/><Relationship Id="rId5" Type="http://schemas.openxmlformats.org/officeDocument/2006/relationships/diagramQuickStyle" Target="../diagrams/quickStyle100.xml"/><Relationship Id="rId10" Type="http://schemas.openxmlformats.org/officeDocument/2006/relationships/hyperlink" Target="https://conductor-oss.github.io/conductor/index.html" TargetMode="External"/><Relationship Id="rId4" Type="http://schemas.openxmlformats.org/officeDocument/2006/relationships/diagramLayout" Target="../diagrams/layout100.xml"/><Relationship Id="rId9" Type="http://schemas.openxmlformats.org/officeDocument/2006/relationships/hyperlink" Target="https://conductor-oss.org/" TargetMode="External"/></Relationships>
</file>

<file path=ppt/slides/_rels/slide103.xml.rels><?xml version="1.0" encoding="UTF-8" standalone="yes"?>
<Relationships xmlns="http://schemas.openxmlformats.org/package/2006/relationships"><Relationship Id="rId8" Type="http://schemas.openxmlformats.org/officeDocument/2006/relationships/hyperlink" Target="https://www.nected.ai/blog/open-source-rules-engine" TargetMode="External"/><Relationship Id="rId3" Type="http://schemas.openxmlformats.org/officeDocument/2006/relationships/diagramLayout" Target="../diagrams/layout101.xml"/><Relationship Id="rId7" Type="http://schemas.openxmlformats.org/officeDocument/2006/relationships/image" Target="../media/image30.png"/><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10" Type="http://schemas.openxmlformats.org/officeDocument/2006/relationships/hyperlink" Target="https://www.codeproject.com/Articles/29165/Getting-Started-with-Drools-NET" TargetMode="External"/><Relationship Id="rId4" Type="http://schemas.openxmlformats.org/officeDocument/2006/relationships/diagramQuickStyle" Target="../diagrams/quickStyle101.xml"/><Relationship Id="rId9" Type="http://schemas.openxmlformats.org/officeDocument/2006/relationships/hyperlink" Target="https://microsoft.github.io/RulesEngine/" TargetMode="External"/></Relationships>
</file>

<file path=ppt/slides/_rels/slide104.xml.rels><?xml version="1.0" encoding="UTF-8" standalone="yes"?>
<Relationships xmlns="http://schemas.openxmlformats.org/package/2006/relationships"><Relationship Id="rId8" Type="http://schemas.openxmlformats.org/officeDocument/2006/relationships/hyperlink" Target="https://github.com/meirwah/awesome-workflow-engines" TargetMode="External"/><Relationship Id="rId13" Type="http://schemas.openxmlformats.org/officeDocument/2006/relationships/hyperlink" Target="https://workflowengine.io/" TargetMode="External"/><Relationship Id="rId18" Type="http://schemas.openxmlformats.org/officeDocument/2006/relationships/hyperlink" Target="https://www.fivetran.com/blog/airflow-scheduling-vs-orchestrating" TargetMode="External"/><Relationship Id="rId3" Type="http://schemas.openxmlformats.org/officeDocument/2006/relationships/diagramLayout" Target="../diagrams/layout102.xml"/><Relationship Id="rId7" Type="http://schemas.openxmlformats.org/officeDocument/2006/relationships/hyperlink" Target="http://www.workflowpatterns.com/" TargetMode="External"/><Relationship Id="rId12" Type="http://schemas.openxmlformats.org/officeDocument/2006/relationships/hyperlink" Target="https://github.com/orosandrei/Rehosted-Workflow-Designer" TargetMode="External"/><Relationship Id="rId17" Type="http://schemas.openxmlformats.org/officeDocument/2006/relationships/hyperlink" Target="https://www.amazon.in/Orchestration-Graphs-Modeling-Scalable-Education-ebook/dp/B017J935RO" TargetMode="External"/><Relationship Id="rId2" Type="http://schemas.openxmlformats.org/officeDocument/2006/relationships/diagramData" Target="../diagrams/data102.xml"/><Relationship Id="rId16" Type="http://schemas.openxmlformats.org/officeDocument/2006/relationships/hyperlink" Target="https://stackoverflow.com/questions/6984978/using-workflow-foundation-in-mvc3-to-handle-page-flow-as-in-a-wizard" TargetMode="External"/><Relationship Id="rId1" Type="http://schemas.openxmlformats.org/officeDocument/2006/relationships/slideLayout" Target="../slideLayouts/slideLayout2.xml"/><Relationship Id="rId6" Type="http://schemas.microsoft.com/office/2007/relationships/diagramDrawing" Target="../diagrams/drawing102.xml"/><Relationship Id="rId11" Type="http://schemas.openxmlformats.org/officeDocument/2006/relationships/hyperlink" Target="https://stackoverflow.com/questions/65708964/windows-workflow-foundation-for-net-core" TargetMode="External"/><Relationship Id="rId5" Type="http://schemas.openxmlformats.org/officeDocument/2006/relationships/diagramColors" Target="../diagrams/colors102.xml"/><Relationship Id="rId15" Type="http://schemas.openxmlformats.org/officeDocument/2006/relationships/hyperlink" Target="https://www.milanjovanovic.tech/blog/orchestration-vs-choreography" TargetMode="External"/><Relationship Id="rId10" Type="http://schemas.openxmlformats.org/officeDocument/2006/relationships/hyperlink" Target="https://www.berndruecker.io/books/" TargetMode="External"/><Relationship Id="rId19" Type="http://schemas.openxmlformats.org/officeDocument/2006/relationships/hyperlink" Target="https://medium.com/@chucksanders22/netflix-conductor-v-s-temporal-uber-cadence-v-s-zeebe-vs-airflow-320df0365948" TargetMode="External"/><Relationship Id="rId4" Type="http://schemas.openxmlformats.org/officeDocument/2006/relationships/diagramQuickStyle" Target="../diagrams/quickStyle102.xml"/><Relationship Id="rId9" Type="http://schemas.openxmlformats.org/officeDocument/2006/relationships/hyperlink" Target="https://ceur-ws.org/Vol-2825/paper3.pdf" TargetMode="External"/><Relationship Id="rId14" Type="http://schemas.openxmlformats.org/officeDocument/2006/relationships/hyperlink" Target="https://github.com/elsa-workflows/elsa-core" TargetMode="External"/></Relationships>
</file>

<file path=ppt/slides/_rels/slide10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103.xml"/><Relationship Id="rId7" Type="http://schemas.microsoft.com/office/2007/relationships/diagramDrawing" Target="../diagrams/drawing10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03.xml"/><Relationship Id="rId5" Type="http://schemas.openxmlformats.org/officeDocument/2006/relationships/diagramQuickStyle" Target="../diagrams/quickStyle103.xml"/><Relationship Id="rId4" Type="http://schemas.openxmlformats.org/officeDocument/2006/relationships/diagramLayout" Target="../diagrams/layout103.xml"/></Relationships>
</file>

<file path=ppt/slides/_rels/slide10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104.xml"/><Relationship Id="rId7" Type="http://schemas.microsoft.com/office/2007/relationships/diagramDrawing" Target="../diagrams/drawing10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04.xml"/><Relationship Id="rId5" Type="http://schemas.openxmlformats.org/officeDocument/2006/relationships/diagramQuickStyle" Target="../diagrams/quickStyle104.xml"/><Relationship Id="rId4" Type="http://schemas.openxmlformats.org/officeDocument/2006/relationships/diagramLayout" Target="../diagrams/layout104.xml"/></Relationships>
</file>

<file path=ppt/slides/_rels/slide10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Data" Target="../diagrams/data105.xml"/><Relationship Id="rId7" Type="http://schemas.microsoft.com/office/2007/relationships/diagramDrawing" Target="../diagrams/drawing10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05.xml"/><Relationship Id="rId5" Type="http://schemas.openxmlformats.org/officeDocument/2006/relationships/diagramQuickStyle" Target="../diagrams/quickStyle105.xml"/><Relationship Id="rId4" Type="http://schemas.openxmlformats.org/officeDocument/2006/relationships/diagramLayout" Target="../diagrams/layout105.xml"/></Relationships>
</file>

<file path=ppt/slides/_rels/slide108.xml.rels><?xml version="1.0" encoding="UTF-8" standalone="yes"?>
<Relationships xmlns="http://schemas.openxmlformats.org/package/2006/relationships"><Relationship Id="rId3" Type="http://schemas.openxmlformats.org/officeDocument/2006/relationships/diagramData" Target="../diagrams/data106.xml"/><Relationship Id="rId7" Type="http://schemas.microsoft.com/office/2007/relationships/diagramDrawing" Target="../diagrams/drawing10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06.xml"/><Relationship Id="rId5" Type="http://schemas.openxmlformats.org/officeDocument/2006/relationships/diagramQuickStyle" Target="../diagrams/quickStyle106.xml"/><Relationship Id="rId4" Type="http://schemas.openxmlformats.org/officeDocument/2006/relationships/diagramLayout" Target="../diagrams/layout106.xml"/></Relationships>
</file>

<file path=ppt/slides/_rels/slide109.xml.rels><?xml version="1.0" encoding="UTF-8" standalone="yes"?>
<Relationships xmlns="http://schemas.openxmlformats.org/package/2006/relationships"><Relationship Id="rId8" Type="http://schemas.openxmlformats.org/officeDocument/2006/relationships/hyperlink" Target="https://www.theknowledgeacademy.com/blog/rpa-architecture/" TargetMode="External"/><Relationship Id="rId13" Type="http://schemas.openxmlformats.org/officeDocument/2006/relationships/hyperlink" Target="https://www.packtpub.com/en-in/product/rpa-solution-architects-handbook-9781803249605" TargetMode="External"/><Relationship Id="rId3" Type="http://schemas.openxmlformats.org/officeDocument/2006/relationships/diagramData" Target="../diagrams/data107.xml"/><Relationship Id="rId7" Type="http://schemas.microsoft.com/office/2007/relationships/diagramDrawing" Target="../diagrams/drawing107.xml"/><Relationship Id="rId12" Type="http://schemas.openxmlformats.org/officeDocument/2006/relationships/hyperlink" Target="https://github.com/Andrey-Voinalovych/rpa_developer_roadmap"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07.xml"/><Relationship Id="rId11" Type="http://schemas.openxmlformats.org/officeDocument/2006/relationships/hyperlink" Target="https://mindmajix.com/rpa-architecture" TargetMode="External"/><Relationship Id="rId5" Type="http://schemas.openxmlformats.org/officeDocument/2006/relationships/diagramQuickStyle" Target="../diagrams/quickStyle107.xml"/><Relationship Id="rId10" Type="http://schemas.openxmlformats.org/officeDocument/2006/relationships/hyperlink" Target="https://www.vcubesoftsolutions.com/rpa-architecture/" TargetMode="External"/><Relationship Id="rId4" Type="http://schemas.openxmlformats.org/officeDocument/2006/relationships/diagramLayout" Target="../diagrams/layout107.xml"/><Relationship Id="rId9" Type="http://schemas.openxmlformats.org/officeDocument/2006/relationships/hyperlink" Target="https://www.ibm.com/docs/en/rpa/23.0.x?topic=architecture" TargetMode="External"/></Relationships>
</file>

<file path=ppt/slides/_rels/slide110.xml.rels><?xml version="1.0" encoding="UTF-8" standalone="yes"?>
<Relationships xmlns="http://schemas.openxmlformats.org/package/2006/relationships"><Relationship Id="rId8" Type="http://schemas.openxmlformats.org/officeDocument/2006/relationships/hyperlink" Target="https://cloudificationzone.com/2020/06/15/12-factor-apps-15-factor-apps/" TargetMode="External"/><Relationship Id="rId3" Type="http://schemas.openxmlformats.org/officeDocument/2006/relationships/diagramLayout" Target="../diagrams/layout108.xml"/><Relationship Id="rId7" Type="http://schemas.openxmlformats.org/officeDocument/2006/relationships/image" Target="../media/image34.png"/><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5" Type="http://schemas.openxmlformats.org/officeDocument/2006/relationships/diagramColors" Target="../diagrams/colors108.xml"/><Relationship Id="rId4" Type="http://schemas.openxmlformats.org/officeDocument/2006/relationships/diagramQuickStyle" Target="../diagrams/quickStyle108.xml"/><Relationship Id="rId9" Type="http://schemas.openxmlformats.org/officeDocument/2006/relationships/hyperlink" Target="https://www.handsonarchitect.com/2022/08/cloud-native-fifteen-factor-apps.html" TargetMode="External"/></Relationships>
</file>

<file path=ppt/slides/_rels/slide111.xml.rels><?xml version="1.0" encoding="UTF-8" standalone="yes"?>
<Relationships xmlns="http://schemas.openxmlformats.org/package/2006/relationships"><Relationship Id="rId8" Type="http://schemas.openxmlformats.org/officeDocument/2006/relationships/hyperlink" Target="https://learn.microsoft.com/en-us/dotnet/core/porting/project-structure" TargetMode="External"/><Relationship Id="rId3" Type="http://schemas.openxmlformats.org/officeDocument/2006/relationships/diagramLayout" Target="../diagrams/layout109.xml"/><Relationship Id="rId7" Type="http://schemas.openxmlformats.org/officeDocument/2006/relationships/image" Target="../media/image35.png"/><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10.xml"/><Relationship Id="rId7" Type="http://schemas.openxmlformats.org/officeDocument/2006/relationships/hyperlink" Target="https://builtin.com/software-engineering-perspectives/package-managers" TargetMode="External"/><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11.xml"/><Relationship Id="rId7" Type="http://schemas.openxmlformats.org/officeDocument/2006/relationships/image" Target="../media/image36.png"/><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4.xml.rels><?xml version="1.0" encoding="UTF-8" standalone="yes"?>
<Relationships xmlns="http://schemas.openxmlformats.org/package/2006/relationships"><Relationship Id="rId8" Type="http://schemas.openxmlformats.org/officeDocument/2006/relationships/hyperlink" Target="https://www.blackduck.com/glossary/what-is-software-composition-analysis.html" TargetMode="External"/><Relationship Id="rId3" Type="http://schemas.openxmlformats.org/officeDocument/2006/relationships/diagramLayout" Target="../diagrams/layout112.xml"/><Relationship Id="rId7" Type="http://schemas.openxmlformats.org/officeDocument/2006/relationships/image" Target="../media/image37.png"/><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5.xml.rels><?xml version="1.0" encoding="UTF-8" standalone="yes"?>
<Relationships xmlns="http://schemas.openxmlformats.org/package/2006/relationships"><Relationship Id="rId8" Type="http://schemas.openxmlformats.org/officeDocument/2006/relationships/hyperlink" Target="https://learn.microsoft.com/en-us/visualstudio/msbuild/msbuild?view=vs-2022" TargetMode="External"/><Relationship Id="rId3" Type="http://schemas.openxmlformats.org/officeDocument/2006/relationships/diagramLayout" Target="../diagrams/layout113.xml"/><Relationship Id="rId7" Type="http://schemas.openxmlformats.org/officeDocument/2006/relationships/hyperlink" Target="https://www.devopsschool.com/blog/top-5-build-management-tool/" TargetMode="Externa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5" Type="http://schemas.openxmlformats.org/officeDocument/2006/relationships/diagramColors" Target="../diagrams/colors113.xml"/><Relationship Id="rId4" Type="http://schemas.openxmlformats.org/officeDocument/2006/relationships/diagramQuickStyle" Target="../diagrams/quickStyle113.xml"/><Relationship Id="rId9" Type="http://schemas.openxmlformats.org/officeDocument/2006/relationships/image" Target="../media/image38.jpeg"/></Relationships>
</file>

<file path=ppt/slides/_rels/slide116.xml.rels><?xml version="1.0" encoding="UTF-8" standalone="yes"?>
<Relationships xmlns="http://schemas.openxmlformats.org/package/2006/relationships"><Relationship Id="rId8" Type="http://schemas.openxmlformats.org/officeDocument/2006/relationships/hyperlink" Target="https://inapp.com/blog/how-to-achieve-zero-downtime-deployment-a-journey-towards-uninterrupted-software-updates/" TargetMode="External"/><Relationship Id="rId3" Type="http://schemas.openxmlformats.org/officeDocument/2006/relationships/diagramLayout" Target="../diagrams/layout114.xml"/><Relationship Id="rId7" Type="http://schemas.openxmlformats.org/officeDocument/2006/relationships/image" Target="../media/image39.png"/><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5" Type="http://schemas.openxmlformats.org/officeDocument/2006/relationships/diagramColors" Target="../diagrams/colors114.xml"/><Relationship Id="rId10" Type="http://schemas.openxmlformats.org/officeDocument/2006/relationships/hyperlink" Target="https://learn.microsoft.com/en-us/answers/questions/1000007/azure-apim-arm-deployment-and-ongoing-traffic" TargetMode="External"/><Relationship Id="rId4" Type="http://schemas.openxmlformats.org/officeDocument/2006/relationships/diagramQuickStyle" Target="../diagrams/quickStyle114.xml"/><Relationship Id="rId9" Type="http://schemas.openxmlformats.org/officeDocument/2006/relationships/hyperlink" Target="https://spring.io/blog/2016/05/31/zero-downtime-deployment-with-a-database" TargetMode="External"/></Relationships>
</file>

<file path=ppt/slides/_rels/slide117.xml.rels><?xml version="1.0" encoding="UTF-8" standalone="yes"?>
<Relationships xmlns="http://schemas.openxmlformats.org/package/2006/relationships"><Relationship Id="rId8" Type="http://schemas.openxmlformats.org/officeDocument/2006/relationships/hyperlink" Target="https://learning.postman.com/docs/designing-and-developing-your-api/mocking-data/setting-up-mock/" TargetMode="External"/><Relationship Id="rId3" Type="http://schemas.openxmlformats.org/officeDocument/2006/relationships/diagramLayout" Target="../diagrams/layout115.xml"/><Relationship Id="rId7" Type="http://schemas.openxmlformats.org/officeDocument/2006/relationships/hyperlink" Target="https://paddy-krischa.medium.com/service-virtualization-dc384fd83f0a" TargetMode="External"/><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5" Type="http://schemas.openxmlformats.org/officeDocument/2006/relationships/diagramColors" Target="../diagrams/colors115.xml"/><Relationship Id="rId4" Type="http://schemas.openxmlformats.org/officeDocument/2006/relationships/diagramQuickStyle" Target="../diagrams/quickStyle115.xml"/><Relationship Id="rId9" Type="http://schemas.openxmlformats.org/officeDocument/2006/relationships/image" Target="../media/image40.png"/></Relationships>
</file>

<file path=ppt/slides/_rels/slide118.xml.rels><?xml version="1.0" encoding="UTF-8" standalone="yes"?>
<Relationships xmlns="http://schemas.openxmlformats.org/package/2006/relationships"><Relationship Id="rId8" Type="http://schemas.openxmlformats.org/officeDocument/2006/relationships/hyperlink" Target="https://www.atlassian.com/devops/devops-tools/test-automation" TargetMode="External"/><Relationship Id="rId13" Type="http://schemas.openxmlformats.org/officeDocument/2006/relationships/hyperlink" Target="https://www.linkedin.com/advice/1/how-do-you-test-apis-use-asynchronous-communication-k4zif" TargetMode="External"/><Relationship Id="rId18" Type="http://schemas.openxmlformats.org/officeDocument/2006/relationships/hyperlink" Target="https://zephyrdocs.atlassian.net/wiki/spaces/ZE61/pages/263587713/Test+Execution" TargetMode="External"/><Relationship Id="rId3" Type="http://schemas.openxmlformats.org/officeDocument/2006/relationships/diagramLayout" Target="../diagrams/layout116.xml"/><Relationship Id="rId7" Type="http://schemas.openxmlformats.org/officeDocument/2006/relationships/hyperlink" Target="https://www.amazon.in/Full-Stack-Testing-Gayathri-Mohan-ebook/dp/B0B3C15DR8/ref=tmm_kin_swatch_0" TargetMode="External"/><Relationship Id="rId12" Type="http://schemas.openxmlformats.org/officeDocument/2006/relationships/hyperlink" Target="https://medium.com/@sebas.viquez/challenging-the-page-object-model-e9045ee92ca7" TargetMode="External"/><Relationship Id="rId17" Type="http://schemas.openxmlformats.org/officeDocument/2006/relationships/hyperlink" Target="https://www.packtpub.com/en-us/product/hands-on-test-management-with-jira-9781789954876?srsltid=AfmBOorl5iSdlBrbj66xHuDQ9naadst1whuOocsOL9Tci9VE5BNOTohf" TargetMode="External"/><Relationship Id="rId2" Type="http://schemas.openxmlformats.org/officeDocument/2006/relationships/diagramData" Target="../diagrams/data116.xml"/><Relationship Id="rId16" Type="http://schemas.openxmlformats.org/officeDocument/2006/relationships/hyperlink" Target="https://github.com/PacktPublishing/Playwright-Python-and-Pytest-for-Web-Automation-Testing" TargetMode="External"/><Relationship Id="rId20" Type="http://schemas.openxmlformats.org/officeDocument/2006/relationships/image" Target="../media/image41.png"/><Relationship Id="rId1" Type="http://schemas.openxmlformats.org/officeDocument/2006/relationships/slideLayout" Target="../slideLayouts/slideLayout2.xml"/><Relationship Id="rId6" Type="http://schemas.microsoft.com/office/2007/relationships/diagramDrawing" Target="../diagrams/drawing116.xml"/><Relationship Id="rId11" Type="http://schemas.openxmlformats.org/officeDocument/2006/relationships/hyperlink" Target="https://www.linkedin.com/advice/0/what-common-challenges-pitfalls-using-page-object" TargetMode="External"/><Relationship Id="rId5" Type="http://schemas.openxmlformats.org/officeDocument/2006/relationships/diagramColors" Target="../diagrams/colors116.xml"/><Relationship Id="rId15" Type="http://schemas.openxmlformats.org/officeDocument/2006/relationships/hyperlink" Target="https://github.com/microsoft/playwright" TargetMode="External"/><Relationship Id="rId10" Type="http://schemas.openxmlformats.org/officeDocument/2006/relationships/hyperlink" Target="https://www.browserstack.com/guide/page-object-model-in-selenium" TargetMode="External"/><Relationship Id="rId19" Type="http://schemas.openxmlformats.org/officeDocument/2006/relationships/hyperlink" Target="https://learning.postman.com/docs/tests-and-scripts/write-scripts/intro-to-scripts/" TargetMode="External"/><Relationship Id="rId4" Type="http://schemas.openxmlformats.org/officeDocument/2006/relationships/diagramQuickStyle" Target="../diagrams/quickStyle116.xml"/><Relationship Id="rId9" Type="http://schemas.openxmlformats.org/officeDocument/2006/relationships/hyperlink" Target="https://www.packtpub.com/en-in/product/software-testing-strategies-9781837637850" TargetMode="External"/><Relationship Id="rId14" Type="http://schemas.openxmlformats.org/officeDocument/2006/relationships/hyperlink" Target="https://microsoft.github.io/code-with-engineering-playbook/automated-testing/cdc-testing/" TargetMode="External"/></Relationships>
</file>

<file path=ppt/slides/_rels/slide119.xml.rels><?xml version="1.0" encoding="UTF-8" standalone="yes"?>
<Relationships xmlns="http://schemas.openxmlformats.org/package/2006/relationships"><Relationship Id="rId8" Type="http://schemas.openxmlformats.org/officeDocument/2006/relationships/hyperlink" Target="https://quickstarts.postman.com/guide/load-testing/index.html?index=..%2F..index#0" TargetMode="External"/><Relationship Id="rId13" Type="http://schemas.openxmlformats.org/officeDocument/2006/relationships/hyperlink" Target="https://github.com/dotnet/BenchmarkDotNet" TargetMode="External"/><Relationship Id="rId3" Type="http://schemas.openxmlformats.org/officeDocument/2006/relationships/diagramLayout" Target="../diagrams/layout117.xml"/><Relationship Id="rId7" Type="http://schemas.openxmlformats.org/officeDocument/2006/relationships/hyperlink" Target="https://www.dynatrace.com/news/blog/why-averages-suck-and-percentiles-are-great/" TargetMode="External"/><Relationship Id="rId12" Type="http://schemas.openxmlformats.org/officeDocument/2006/relationships/hyperlink" Target="https://blog.octoperf.com/asynchronous-api-performance-testing-with-jmeter/" TargetMode="External"/><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11" Type="http://schemas.openxmlformats.org/officeDocument/2006/relationships/hyperlink" Target="https://www.microsoft.com/en-gb/industry/blog/technetuk/2023/02/16/how-you-should-be-load-testing-your-background-services/" TargetMode="External"/><Relationship Id="rId5" Type="http://schemas.openxmlformats.org/officeDocument/2006/relationships/diagramColors" Target="../diagrams/colors117.xml"/><Relationship Id="rId10" Type="http://schemas.openxmlformats.org/officeDocument/2006/relationships/hyperlink" Target="https://www.simplilearn.com/tutorials/jmeter-tutorial" TargetMode="External"/><Relationship Id="rId4" Type="http://schemas.openxmlformats.org/officeDocument/2006/relationships/diagramQuickStyle" Target="../diagrams/quickStyle117.xml"/><Relationship Id="rId9" Type="http://schemas.openxmlformats.org/officeDocument/2006/relationships/hyperlink" Target="https://learn.microsoft.com/en-us/visualstudio/profiling/?view=vs-2022" TargetMode="External"/><Relationship Id="rId14" Type="http://schemas.openxmlformats.org/officeDocument/2006/relationships/image" Target="../media/image42.png"/></Relationships>
</file>

<file path=ppt/slides/_rels/slide120.xml.rels><?xml version="1.0" encoding="UTF-8" standalone="yes"?>
<Relationships xmlns="http://schemas.openxmlformats.org/package/2006/relationships"><Relationship Id="rId8" Type="http://schemas.openxmlformats.org/officeDocument/2006/relationships/hyperlink" Target="https://insights.sei.cmu.edu/blog/10-types-of-application-security-testing-tools-when-and-how-to-use-them/" TargetMode="External"/><Relationship Id="rId3" Type="http://schemas.openxmlformats.org/officeDocument/2006/relationships/diagramLayout" Target="../diagrams/layout118.xml"/><Relationship Id="rId7" Type="http://schemas.openxmlformats.org/officeDocument/2006/relationships/hyperlink" Target="https://www.softwaretestinghelp.com/differences-between-sast-dast-iast-and-rasp/" TargetMode="External"/><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11" Type="http://schemas.openxmlformats.org/officeDocument/2006/relationships/image" Target="../media/image43.jpeg"/><Relationship Id="rId5" Type="http://schemas.openxmlformats.org/officeDocument/2006/relationships/diagramColors" Target="../diagrams/colors118.xml"/><Relationship Id="rId10" Type="http://schemas.openxmlformats.org/officeDocument/2006/relationships/hyperlink" Target="https://www.deepfactor.io/security-scanning-tools-defined-sast-iac-sca-dast-iast-rasp-container-runtime-security-and-runtime-sca/" TargetMode="External"/><Relationship Id="rId4" Type="http://schemas.openxmlformats.org/officeDocument/2006/relationships/diagramQuickStyle" Target="../diagrams/quickStyle118.xml"/><Relationship Id="rId9" Type="http://schemas.openxmlformats.org/officeDocument/2006/relationships/hyperlink" Target="https://github.com/iriusrisk/bdd-security" TargetMode="External"/></Relationships>
</file>

<file path=ppt/slides/_rels/slide121.xml.rels><?xml version="1.0" encoding="UTF-8" standalone="yes"?>
<Relationships xmlns="http://schemas.openxmlformats.org/package/2006/relationships"><Relationship Id="rId8" Type="http://schemas.openxmlformats.org/officeDocument/2006/relationships/diagramLayout" Target="../diagrams/layout120.xml"/><Relationship Id="rId3" Type="http://schemas.openxmlformats.org/officeDocument/2006/relationships/diagramLayout" Target="../diagrams/layout119.xml"/><Relationship Id="rId7" Type="http://schemas.openxmlformats.org/officeDocument/2006/relationships/diagramData" Target="../diagrams/data120.xml"/><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11" Type="http://schemas.microsoft.com/office/2007/relationships/diagramDrawing" Target="../diagrams/drawing120.xml"/><Relationship Id="rId5" Type="http://schemas.openxmlformats.org/officeDocument/2006/relationships/diagramColors" Target="../diagrams/colors119.xml"/><Relationship Id="rId10" Type="http://schemas.openxmlformats.org/officeDocument/2006/relationships/diagramColors" Target="../diagrams/colors120.xml"/><Relationship Id="rId4" Type="http://schemas.openxmlformats.org/officeDocument/2006/relationships/diagramQuickStyle" Target="../diagrams/quickStyle119.xml"/><Relationship Id="rId9" Type="http://schemas.openxmlformats.org/officeDocument/2006/relationships/diagramQuickStyle" Target="../diagrams/quickStyle120.xml"/></Relationships>
</file>

<file path=ppt/slides/_rels/slide122.xml.rels><?xml version="1.0" encoding="UTF-8" standalone="yes"?>
<Relationships xmlns="http://schemas.openxmlformats.org/package/2006/relationships"><Relationship Id="rId8" Type="http://schemas.openxmlformats.org/officeDocument/2006/relationships/diagramData" Target="../diagrams/data122.xml"/><Relationship Id="rId3" Type="http://schemas.openxmlformats.org/officeDocument/2006/relationships/diagramLayout" Target="../diagrams/layout121.xml"/><Relationship Id="rId7" Type="http://schemas.openxmlformats.org/officeDocument/2006/relationships/image" Target="../media/image44.png"/><Relationship Id="rId12" Type="http://schemas.microsoft.com/office/2007/relationships/diagramDrawing" Target="../diagrams/drawing122.xml"/><Relationship Id="rId2" Type="http://schemas.openxmlformats.org/officeDocument/2006/relationships/diagramData" Target="../diagrams/data121.xml"/><Relationship Id="rId1" Type="http://schemas.openxmlformats.org/officeDocument/2006/relationships/slideLayout" Target="../slideLayouts/slideLayout2.xml"/><Relationship Id="rId6" Type="http://schemas.microsoft.com/office/2007/relationships/diagramDrawing" Target="../diagrams/drawing121.xml"/><Relationship Id="rId11" Type="http://schemas.openxmlformats.org/officeDocument/2006/relationships/diagramColors" Target="../diagrams/colors122.xml"/><Relationship Id="rId5" Type="http://schemas.openxmlformats.org/officeDocument/2006/relationships/diagramColors" Target="../diagrams/colors121.xml"/><Relationship Id="rId10" Type="http://schemas.openxmlformats.org/officeDocument/2006/relationships/diagramQuickStyle" Target="../diagrams/quickStyle122.xml"/><Relationship Id="rId4" Type="http://schemas.openxmlformats.org/officeDocument/2006/relationships/diagramQuickStyle" Target="../diagrams/quickStyle121.xml"/><Relationship Id="rId9" Type="http://schemas.openxmlformats.org/officeDocument/2006/relationships/diagramLayout" Target="../diagrams/layout122.xml"/></Relationships>
</file>

<file path=ppt/slides/_rels/slide123.xml.rels><?xml version="1.0" encoding="UTF-8" standalone="yes"?>
<Relationships xmlns="http://schemas.openxmlformats.org/package/2006/relationships"><Relationship Id="rId8" Type="http://schemas.openxmlformats.org/officeDocument/2006/relationships/hyperlink" Target="https://www.thoughtworks.com/en-au/insights/blog/agile-engineering-practices/building-resiliency-chaos-engineering" TargetMode="External"/><Relationship Id="rId13" Type="http://schemas.openxmlformats.org/officeDocument/2006/relationships/hyperlink" Target="https://www.udemy.com/course/chaos-engineering-studio/?srsltid=AfmBOopaqH8rpGPnhIUneUcz-daqLxm-ug0dge-Sfgu9o1TtkLM9lTMK&amp;couponCode=ST20MT111124A" TargetMode="External"/><Relationship Id="rId18" Type="http://schemas.openxmlformats.org/officeDocument/2006/relationships/hyperlink" Target="https://medium.com/@jeroenverhaeghe/starting-with-chaos-engineering-in-net-pt-1-31405c5d3001" TargetMode="External"/><Relationship Id="rId3" Type="http://schemas.openxmlformats.org/officeDocument/2006/relationships/diagramLayout" Target="../diagrams/layout123.xml"/><Relationship Id="rId21" Type="http://schemas.openxmlformats.org/officeDocument/2006/relationships/diagramLayout" Target="../diagrams/layout124.xml"/><Relationship Id="rId7" Type="http://schemas.openxmlformats.org/officeDocument/2006/relationships/hyperlink" Target="https://www.gremlin.com/community/tutorials/chaos-engineering-the-history-principles-and-practice" TargetMode="External"/><Relationship Id="rId12" Type="http://schemas.openxmlformats.org/officeDocument/2006/relationships/hyperlink" Target="https://azure.microsoft.com/en-us/products/chaos-studio" TargetMode="External"/><Relationship Id="rId17" Type="http://schemas.openxmlformats.org/officeDocument/2006/relationships/hyperlink" Target="https://devblogs.microsoft.com/dotnet/resilience-and-chaos-engineering/" TargetMode="External"/><Relationship Id="rId2" Type="http://schemas.openxmlformats.org/officeDocument/2006/relationships/diagramData" Target="../diagrams/data123.xml"/><Relationship Id="rId16" Type="http://schemas.openxmlformats.org/officeDocument/2006/relationships/hyperlink" Target="https://www.udemy.com/course/chaos-engineering-with-chaos-toolkit/?utm_source=adwords&amp;utm_medium=udemyads&amp;utm_campaign=Search_DSA_Alpha_Prof_la.EN_cc.India&amp;campaigntype=Search&amp;portfolio=India&amp;language=EN&amp;product=Course&amp;test=&amp;audience=DSA&amp;topic=Kubernetes&amp;priority=Alpha&amp;utm_content=deal4584&amp;utm_term=_._ag_160270534465_._ad_696202838130_._kw__._de_c_._dm__._pl__._ti_dsa-1676636557879_._li_9061836_._pd__._&amp;matchtype=&amp;gad_source=1&amp;gad_campaignid=21178559971&amp;gbraid=0AAAAADROdO26GhBlmhGrkgrIYoKSXOtDP&amp;gclid=EAIaIQobChMI0L3koIDDjgMVN6VmAh0qTwDJEAAYASAAEgIjqPD_BwE&amp;couponCode=PMNVD2025" TargetMode="External"/><Relationship Id="rId20"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3.xml"/><Relationship Id="rId11" Type="http://schemas.openxmlformats.org/officeDocument/2006/relationships/hyperlink" Target="https://www.infoq.com/presentations/fault-isolation-cloud/" TargetMode="External"/><Relationship Id="rId24" Type="http://schemas.microsoft.com/office/2007/relationships/diagramDrawing" Target="../diagrams/drawing124.xml"/><Relationship Id="rId5" Type="http://schemas.openxmlformats.org/officeDocument/2006/relationships/diagramColors" Target="../diagrams/colors123.xml"/><Relationship Id="rId15" Type="http://schemas.openxmlformats.org/officeDocument/2006/relationships/hyperlink" Target="https://learn.microsoft.com/en-us/azure/chaos-studio/chaos-studio-tutorial-aks-portal" TargetMode="External"/><Relationship Id="rId23" Type="http://schemas.openxmlformats.org/officeDocument/2006/relationships/diagramColors" Target="../diagrams/colors124.xml"/><Relationship Id="rId10" Type="http://schemas.openxmlformats.org/officeDocument/2006/relationships/hyperlink" Target="https://dev.to/litmus-chaos/introducing-litmus-2-0-simplify-chaos-engineering-4g5e" TargetMode="External"/><Relationship Id="rId19" Type="http://schemas.openxmlformats.org/officeDocument/2006/relationships/hyperlink" Target="https://github.com/unmeshjoshi/tickloom" TargetMode="External"/><Relationship Id="rId4" Type="http://schemas.openxmlformats.org/officeDocument/2006/relationships/diagramQuickStyle" Target="../diagrams/quickStyle123.xml"/><Relationship Id="rId9" Type="http://schemas.openxmlformats.org/officeDocument/2006/relationships/hyperlink" Target="https://www.harness.io/resources/the-chaos-engineering-maturity-model" TargetMode="External"/><Relationship Id="rId14" Type="http://schemas.openxmlformats.org/officeDocument/2006/relationships/hyperlink" Target="https://github.com/asobti/kube-monkey" TargetMode="External"/><Relationship Id="rId22" Type="http://schemas.openxmlformats.org/officeDocument/2006/relationships/diagramQuickStyle" Target="../diagrams/quickStyle124.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125.xml"/><Relationship Id="rId2" Type="http://schemas.openxmlformats.org/officeDocument/2006/relationships/diagramData" Target="../diagrams/data125.xml"/><Relationship Id="rId1" Type="http://schemas.openxmlformats.org/officeDocument/2006/relationships/slideLayout" Target="../slideLayouts/slideLayout2.xml"/><Relationship Id="rId6" Type="http://schemas.microsoft.com/office/2007/relationships/diagramDrawing" Target="../diagrams/drawing125.xml"/><Relationship Id="rId5" Type="http://schemas.openxmlformats.org/officeDocument/2006/relationships/diagramColors" Target="../diagrams/colors125.xml"/><Relationship Id="rId4" Type="http://schemas.openxmlformats.org/officeDocument/2006/relationships/diagramQuickStyle" Target="../diagrams/quickStyle125.xml"/></Relationships>
</file>

<file path=ppt/slides/_rels/slide125.xml.rels><?xml version="1.0" encoding="UTF-8" standalone="yes"?>
<Relationships xmlns="http://schemas.openxmlformats.org/package/2006/relationships"><Relationship Id="rId8" Type="http://schemas.openxmlformats.org/officeDocument/2006/relationships/hyperlink" Target="https://www.youtube.com/watch?v=1MBpK_PxEnU" TargetMode="External"/><Relationship Id="rId3" Type="http://schemas.openxmlformats.org/officeDocument/2006/relationships/diagramLayout" Target="../diagrams/layout126.xml"/><Relationship Id="rId7" Type="http://schemas.openxmlformats.org/officeDocument/2006/relationships/hyperlink" Target="https://www.youtube.com/watch?v=ukgmp6uxQJc" TargetMode="External"/><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5" Type="http://schemas.openxmlformats.org/officeDocument/2006/relationships/diagramColors" Target="../diagrams/colors126.xml"/><Relationship Id="rId4" Type="http://schemas.openxmlformats.org/officeDocument/2006/relationships/diagramQuickStyle" Target="../diagrams/quickStyle126.xml"/></Relationships>
</file>

<file path=ppt/slides/_rels/slide126.xml.rels><?xml version="1.0" encoding="UTF-8" standalone="yes"?>
<Relationships xmlns="http://schemas.openxmlformats.org/package/2006/relationships"><Relationship Id="rId3" Type="http://schemas.openxmlformats.org/officeDocument/2006/relationships/diagramLayout" Target="../diagrams/layout127.xml"/><Relationship Id="rId7" Type="http://schemas.openxmlformats.org/officeDocument/2006/relationships/image" Target="../media/image45.png"/><Relationship Id="rId2" Type="http://schemas.openxmlformats.org/officeDocument/2006/relationships/diagramData" Target="../diagrams/data127.xml"/><Relationship Id="rId1" Type="http://schemas.openxmlformats.org/officeDocument/2006/relationships/slideLayout" Target="../slideLayouts/slideLayout2.xml"/><Relationship Id="rId6" Type="http://schemas.microsoft.com/office/2007/relationships/diagramDrawing" Target="../diagrams/drawing127.xml"/><Relationship Id="rId5" Type="http://schemas.openxmlformats.org/officeDocument/2006/relationships/diagramColors" Target="../diagrams/colors127.xml"/><Relationship Id="rId4" Type="http://schemas.openxmlformats.org/officeDocument/2006/relationships/diagramQuickStyle" Target="../diagrams/quickStyle127.xml"/></Relationships>
</file>

<file path=ppt/slides/_rels/slide127.xml.rels><?xml version="1.0" encoding="UTF-8" standalone="yes"?>
<Relationships xmlns="http://schemas.openxmlformats.org/package/2006/relationships"><Relationship Id="rId3" Type="http://schemas.openxmlformats.org/officeDocument/2006/relationships/diagramLayout" Target="../diagrams/layout128.xml"/><Relationship Id="rId7" Type="http://schemas.openxmlformats.org/officeDocument/2006/relationships/image" Target="../media/image46.png"/><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s>
</file>

<file path=ppt/slides/_rels/slide128.xml.rels><?xml version="1.0" encoding="UTF-8" standalone="yes"?>
<Relationships xmlns="http://schemas.openxmlformats.org/package/2006/relationships"><Relationship Id="rId3" Type="http://schemas.openxmlformats.org/officeDocument/2006/relationships/diagramLayout" Target="../diagrams/layout129.xml"/><Relationship Id="rId7" Type="http://schemas.openxmlformats.org/officeDocument/2006/relationships/image" Target="../media/image47.jpeg"/><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5" Type="http://schemas.openxmlformats.org/officeDocument/2006/relationships/diagramColors" Target="../diagrams/colors129.xml"/><Relationship Id="rId4" Type="http://schemas.openxmlformats.org/officeDocument/2006/relationships/diagramQuickStyle" Target="../diagrams/quickStyle129.xml"/></Relationships>
</file>

<file path=ppt/slides/_rels/slide12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diagramLayout" Target="../diagrams/layout130.xml"/><Relationship Id="rId7" Type="http://schemas.openxmlformats.org/officeDocument/2006/relationships/image" Target="../media/image48.png"/><Relationship Id="rId2" Type="http://schemas.openxmlformats.org/officeDocument/2006/relationships/diagramData" Target="../diagrams/data130.xml"/><Relationship Id="rId1" Type="http://schemas.openxmlformats.org/officeDocument/2006/relationships/slideLayout" Target="../slideLayouts/slideLayout2.xml"/><Relationship Id="rId6" Type="http://schemas.microsoft.com/office/2007/relationships/diagramDrawing" Target="../diagrams/drawing130.xml"/><Relationship Id="rId5" Type="http://schemas.openxmlformats.org/officeDocument/2006/relationships/diagramColors" Target="../diagrams/colors130.xml"/><Relationship Id="rId4" Type="http://schemas.openxmlformats.org/officeDocument/2006/relationships/diagramQuickStyle" Target="../diagrams/quickStyle130.xml"/></Relationships>
</file>

<file path=ppt/slides/_rels/slide13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diagramLayout" Target="../diagrams/layout131.xml"/><Relationship Id="rId7" Type="http://schemas.openxmlformats.org/officeDocument/2006/relationships/image" Target="../media/image48.png"/><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5" Type="http://schemas.openxmlformats.org/officeDocument/2006/relationships/diagramColors" Target="../diagrams/colors131.xml"/><Relationship Id="rId10" Type="http://schemas.openxmlformats.org/officeDocument/2006/relationships/hyperlink" Target="https://github.com/linkedin/ambry" TargetMode="External"/><Relationship Id="rId4" Type="http://schemas.openxmlformats.org/officeDocument/2006/relationships/diagramQuickStyle" Target="../diagrams/quickStyle131.xml"/><Relationship Id="rId9" Type="http://schemas.openxmlformats.org/officeDocument/2006/relationships/hyperlink" Target="https://docs.aws.amazon.com/transfer/" TargetMode="External"/></Relationships>
</file>

<file path=ppt/slides/_rels/slide13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Layout" Target="../diagrams/layout132.xml"/><Relationship Id="rId7" Type="http://schemas.openxmlformats.org/officeDocument/2006/relationships/image" Target="../media/image48.png"/><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diagramLayout" Target="../diagrams/layout133.xml"/><Relationship Id="rId7" Type="http://schemas.openxmlformats.org/officeDocument/2006/relationships/image" Target="../media/image48.png"/><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4" Type="http://schemas.openxmlformats.org/officeDocument/2006/relationships/diagramQuickStyle" Target="../diagrams/quickStyle133.xml"/><Relationship Id="rId9" Type="http://schemas.openxmlformats.org/officeDocument/2006/relationships/hyperlink" Target="https://www.openfaas.com/blog/asp-net-core/" TargetMode="External"/></Relationships>
</file>

<file path=ppt/slides/_rels/slide13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Layout" Target="../diagrams/layout134.xml"/><Relationship Id="rId7" Type="http://schemas.openxmlformats.org/officeDocument/2006/relationships/image" Target="../media/image48.png"/><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34.xml.rels><?xml version="1.0" encoding="UTF-8" standalone="yes"?>
<Relationships xmlns="http://schemas.openxmlformats.org/package/2006/relationships"><Relationship Id="rId8" Type="http://schemas.openxmlformats.org/officeDocument/2006/relationships/hyperlink" Target="https://aws.amazon.com/what-is/cidr/" TargetMode="External"/><Relationship Id="rId3" Type="http://schemas.openxmlformats.org/officeDocument/2006/relationships/diagramLayout" Target="../diagrams/layout135.xml"/><Relationship Id="rId7" Type="http://schemas.openxmlformats.org/officeDocument/2006/relationships/hyperlink" Target="https://www.javatpoint.com/ip-address-format-and-table" TargetMode="External"/><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10" Type="http://schemas.openxmlformats.org/officeDocument/2006/relationships/image" Target="../media/image54.png"/><Relationship Id="rId4" Type="http://schemas.openxmlformats.org/officeDocument/2006/relationships/diagramQuickStyle" Target="../diagrams/quickStyle135.xml"/><Relationship Id="rId9" Type="http://schemas.openxmlformats.org/officeDocument/2006/relationships/hyperlink" Target="https://dev.to/aws-builders/aws-networking-aws-vpc-subnets-security-groups-nat-gateway-ip-addresses-4p8c" TargetMode="External"/></Relationships>
</file>

<file path=ppt/slides/_rels/slide135.xml.rels><?xml version="1.0" encoding="UTF-8" standalone="yes"?>
<Relationships xmlns="http://schemas.openxmlformats.org/package/2006/relationships"><Relationship Id="rId3" Type="http://schemas.openxmlformats.org/officeDocument/2006/relationships/diagramLayout" Target="../diagrams/layout136.xml"/><Relationship Id="rId7" Type="http://schemas.openxmlformats.org/officeDocument/2006/relationships/image" Target="../media/image55.png"/><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5" Type="http://schemas.openxmlformats.org/officeDocument/2006/relationships/diagramColors" Target="../diagrams/colors136.xml"/><Relationship Id="rId4" Type="http://schemas.openxmlformats.org/officeDocument/2006/relationships/diagramQuickStyle" Target="../diagrams/quickStyle136.xml"/></Relationships>
</file>

<file path=ppt/slides/_rels/slide136.xml.rels><?xml version="1.0" encoding="UTF-8" standalone="yes"?>
<Relationships xmlns="http://schemas.openxmlformats.org/package/2006/relationships"><Relationship Id="rId3" Type="http://schemas.openxmlformats.org/officeDocument/2006/relationships/diagramLayout" Target="../diagrams/layout137.xml"/><Relationship Id="rId7" Type="http://schemas.openxmlformats.org/officeDocument/2006/relationships/image" Target="../media/image56.png"/><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5" Type="http://schemas.openxmlformats.org/officeDocument/2006/relationships/diagramColors" Target="../diagrams/colors137.xml"/><Relationship Id="rId4" Type="http://schemas.openxmlformats.org/officeDocument/2006/relationships/diagramQuickStyle" Target="../diagrams/quickStyle137.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38.xml"/><Relationship Id="rId7" Type="http://schemas.openxmlformats.org/officeDocument/2006/relationships/image" Target="../media/image57.png"/><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5" Type="http://schemas.openxmlformats.org/officeDocument/2006/relationships/diagramColors" Target="../diagrams/colors138.xml"/><Relationship Id="rId4" Type="http://schemas.openxmlformats.org/officeDocument/2006/relationships/diagramQuickStyle" Target="../diagrams/quickStyle138.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139.xml"/><Relationship Id="rId7" Type="http://schemas.openxmlformats.org/officeDocument/2006/relationships/image" Target="../media/image58.png"/><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5" Type="http://schemas.openxmlformats.org/officeDocument/2006/relationships/diagramColors" Target="../diagrams/colors139.xml"/><Relationship Id="rId4" Type="http://schemas.openxmlformats.org/officeDocument/2006/relationships/diagramQuickStyle" Target="../diagrams/quickStyle139.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40.xml"/><Relationship Id="rId7" Type="http://schemas.openxmlformats.org/officeDocument/2006/relationships/image" Target="../media/image59.png"/><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41.xml"/><Relationship Id="rId7" Type="http://schemas.openxmlformats.org/officeDocument/2006/relationships/image" Target="../media/image60.png"/><Relationship Id="rId2" Type="http://schemas.openxmlformats.org/officeDocument/2006/relationships/diagramData" Target="../diagrams/data141.xml"/><Relationship Id="rId1" Type="http://schemas.openxmlformats.org/officeDocument/2006/relationships/slideLayout" Target="../slideLayouts/slideLayout2.xml"/><Relationship Id="rId6" Type="http://schemas.microsoft.com/office/2007/relationships/diagramDrawing" Target="../diagrams/drawing141.xml"/><Relationship Id="rId5" Type="http://schemas.openxmlformats.org/officeDocument/2006/relationships/diagramColors" Target="../diagrams/colors141.xml"/><Relationship Id="rId4" Type="http://schemas.openxmlformats.org/officeDocument/2006/relationships/diagramQuickStyle" Target="../diagrams/quickStyle141.xml"/></Relationships>
</file>

<file path=ppt/slides/_rels/slide141.xml.rels><?xml version="1.0" encoding="UTF-8" standalone="yes"?>
<Relationships xmlns="http://schemas.openxmlformats.org/package/2006/relationships"><Relationship Id="rId8" Type="http://schemas.openxmlformats.org/officeDocument/2006/relationships/hyperlink" Target="https://learn.microsoft.com/en-us/azure/cloud-adoption-framework/ready/azure-setup-guide/organize-resources" TargetMode="External"/><Relationship Id="rId3" Type="http://schemas.openxmlformats.org/officeDocument/2006/relationships/diagramLayout" Target="../diagrams/layout142.xml"/><Relationship Id="rId7" Type="http://schemas.openxmlformats.org/officeDocument/2006/relationships/image" Target="../media/image61.png"/><Relationship Id="rId2" Type="http://schemas.openxmlformats.org/officeDocument/2006/relationships/diagramData" Target="../diagrams/data142.xml"/><Relationship Id="rId1" Type="http://schemas.openxmlformats.org/officeDocument/2006/relationships/slideLayout" Target="../slideLayouts/slideLayout2.xml"/><Relationship Id="rId6" Type="http://schemas.microsoft.com/office/2007/relationships/diagramDrawing" Target="../diagrams/drawing142.xml"/><Relationship Id="rId5" Type="http://schemas.openxmlformats.org/officeDocument/2006/relationships/diagramColors" Target="../diagrams/colors142.xml"/><Relationship Id="rId4" Type="http://schemas.openxmlformats.org/officeDocument/2006/relationships/diagramQuickStyle" Target="../diagrams/quickStyle142.xml"/></Relationships>
</file>

<file path=ppt/slides/_rels/slide142.xml.rels><?xml version="1.0" encoding="UTF-8" standalone="yes"?>
<Relationships xmlns="http://schemas.openxmlformats.org/package/2006/relationships"><Relationship Id="rId8" Type="http://schemas.openxmlformats.org/officeDocument/2006/relationships/hyperlink" Target="https://www.tenable.com/blog/aws-azure-and-gcp-the-ultimate-iam-comparison" TargetMode="External"/><Relationship Id="rId3" Type="http://schemas.openxmlformats.org/officeDocument/2006/relationships/diagramLayout" Target="../diagrams/layout143.xml"/><Relationship Id="rId7" Type="http://schemas.openxmlformats.org/officeDocument/2006/relationships/image" Target="../media/image62.png"/><Relationship Id="rId2" Type="http://schemas.openxmlformats.org/officeDocument/2006/relationships/diagramData" Target="../diagrams/data143.xml"/><Relationship Id="rId1" Type="http://schemas.openxmlformats.org/officeDocument/2006/relationships/slideLayout" Target="../slideLayouts/slideLayout2.xml"/><Relationship Id="rId6" Type="http://schemas.microsoft.com/office/2007/relationships/diagramDrawing" Target="../diagrams/drawing143.xml"/><Relationship Id="rId11" Type="http://schemas.openxmlformats.org/officeDocument/2006/relationships/hyperlink" Target="https://learn.microsoft.com/en-us/azure/security/fundamentals/identity-management-best-practices" TargetMode="External"/><Relationship Id="rId5" Type="http://schemas.openxmlformats.org/officeDocument/2006/relationships/diagramColors" Target="../diagrams/colors143.xml"/><Relationship Id="rId10" Type="http://schemas.openxmlformats.org/officeDocument/2006/relationships/hyperlink" Target="https://learn.microsoft.com/en-us/azure/well-architected/security/identity-access" TargetMode="External"/><Relationship Id="rId4" Type="http://schemas.openxmlformats.org/officeDocument/2006/relationships/diagramQuickStyle" Target="../diagrams/quickStyle143.xml"/><Relationship Id="rId9" Type="http://schemas.openxmlformats.org/officeDocument/2006/relationships/hyperlink" Target="https://learn.microsoft.com/en-us/entra/id-governance/privileged-identity-management/pim-configure" TargetMode="Externa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44.xml"/><Relationship Id="rId7" Type="http://schemas.openxmlformats.org/officeDocument/2006/relationships/image" Target="../media/image63.png"/><Relationship Id="rId2" Type="http://schemas.openxmlformats.org/officeDocument/2006/relationships/diagramData" Target="../diagrams/data144.xml"/><Relationship Id="rId1" Type="http://schemas.openxmlformats.org/officeDocument/2006/relationships/slideLayout" Target="../slideLayouts/slideLayout2.xml"/><Relationship Id="rId6" Type="http://schemas.microsoft.com/office/2007/relationships/diagramDrawing" Target="../diagrams/drawing144.xml"/><Relationship Id="rId5" Type="http://schemas.openxmlformats.org/officeDocument/2006/relationships/diagramColors" Target="../diagrams/colors144.xml"/><Relationship Id="rId4" Type="http://schemas.openxmlformats.org/officeDocument/2006/relationships/diagramQuickStyle" Target="../diagrams/quickStyle144.xml"/></Relationships>
</file>

<file path=ppt/slides/_rels/slide14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diagramLayout" Target="../diagrams/layout145.xml"/><Relationship Id="rId7" Type="http://schemas.openxmlformats.org/officeDocument/2006/relationships/image" Target="../media/image64.png"/><Relationship Id="rId2" Type="http://schemas.openxmlformats.org/officeDocument/2006/relationships/diagramData" Target="../diagrams/data145.xml"/><Relationship Id="rId1" Type="http://schemas.openxmlformats.org/officeDocument/2006/relationships/slideLayout" Target="../slideLayouts/slideLayout2.xml"/><Relationship Id="rId6" Type="http://schemas.microsoft.com/office/2007/relationships/diagramDrawing" Target="../diagrams/drawing145.xml"/><Relationship Id="rId5" Type="http://schemas.openxmlformats.org/officeDocument/2006/relationships/diagramColors" Target="../diagrams/colors145.xml"/><Relationship Id="rId4" Type="http://schemas.openxmlformats.org/officeDocument/2006/relationships/diagramQuickStyle" Target="../diagrams/quickStyle145.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46.xml"/><Relationship Id="rId7" Type="http://schemas.openxmlformats.org/officeDocument/2006/relationships/image" Target="../media/image66.png"/><Relationship Id="rId2" Type="http://schemas.openxmlformats.org/officeDocument/2006/relationships/diagramData" Target="../diagrams/data146.xml"/><Relationship Id="rId1" Type="http://schemas.openxmlformats.org/officeDocument/2006/relationships/slideLayout" Target="../slideLayouts/slideLayout2.xml"/><Relationship Id="rId6" Type="http://schemas.microsoft.com/office/2007/relationships/diagramDrawing" Target="../diagrams/drawing146.xml"/><Relationship Id="rId5" Type="http://schemas.openxmlformats.org/officeDocument/2006/relationships/diagramColors" Target="../diagrams/colors146.xml"/><Relationship Id="rId4" Type="http://schemas.openxmlformats.org/officeDocument/2006/relationships/diagramQuickStyle" Target="../diagrams/quickStyle146.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147.xml"/><Relationship Id="rId7" Type="http://schemas.openxmlformats.org/officeDocument/2006/relationships/image" Target="../media/image67.png"/><Relationship Id="rId2" Type="http://schemas.openxmlformats.org/officeDocument/2006/relationships/diagramData" Target="../diagrams/data147.xml"/><Relationship Id="rId1" Type="http://schemas.openxmlformats.org/officeDocument/2006/relationships/slideLayout" Target="../slideLayouts/slideLayout2.xml"/><Relationship Id="rId6" Type="http://schemas.microsoft.com/office/2007/relationships/diagramDrawing" Target="../diagrams/drawing147.xml"/><Relationship Id="rId5" Type="http://schemas.openxmlformats.org/officeDocument/2006/relationships/diagramColors" Target="../diagrams/colors147.xml"/><Relationship Id="rId4" Type="http://schemas.openxmlformats.org/officeDocument/2006/relationships/diagramQuickStyle" Target="../diagrams/quickStyle147.xml"/></Relationships>
</file>

<file path=ppt/slides/_rels/slide147.xml.rels><?xml version="1.0" encoding="UTF-8" standalone="yes"?>
<Relationships xmlns="http://schemas.openxmlformats.org/package/2006/relationships"><Relationship Id="rId8" Type="http://schemas.openxmlformats.org/officeDocument/2006/relationships/hyperlink" Target="https://www.cloud4c.com/blogs/cloud-adoption-framework-versus-well-architected-framework" TargetMode="External"/><Relationship Id="rId3" Type="http://schemas.openxmlformats.org/officeDocument/2006/relationships/diagramLayout" Target="../diagrams/layout148.xml"/><Relationship Id="rId7" Type="http://schemas.openxmlformats.org/officeDocument/2006/relationships/image" Target="../media/image68.png"/><Relationship Id="rId2" Type="http://schemas.openxmlformats.org/officeDocument/2006/relationships/diagramData" Target="../diagrams/data148.xml"/><Relationship Id="rId1" Type="http://schemas.openxmlformats.org/officeDocument/2006/relationships/slideLayout" Target="../slideLayouts/slideLayout2.xml"/><Relationship Id="rId6" Type="http://schemas.microsoft.com/office/2007/relationships/diagramDrawing" Target="../diagrams/drawing148.xml"/><Relationship Id="rId5" Type="http://schemas.openxmlformats.org/officeDocument/2006/relationships/diagramColors" Target="../diagrams/colors148.xml"/><Relationship Id="rId4" Type="http://schemas.openxmlformats.org/officeDocument/2006/relationships/diagramQuickStyle" Target="../diagrams/quickStyle148.xml"/><Relationship Id="rId9" Type="http://schemas.openxmlformats.org/officeDocument/2006/relationships/hyperlink" Target="https://www.syncfusion.com/succinctly-free-ebooks/app-modernization-on-azure-succinctly" TargetMode="External"/></Relationships>
</file>

<file path=ppt/slides/_rels/slide148.xml.rels><?xml version="1.0" encoding="UTF-8" standalone="yes"?>
<Relationships xmlns="http://schemas.openxmlformats.org/package/2006/relationships"><Relationship Id="rId8" Type="http://schemas.openxmlformats.org/officeDocument/2006/relationships/hyperlink" Target="https://www.linkedin.com/pulse/how-build-cloud-agnostic-enterprise-web-applications-sandeep-kaushal/" TargetMode="External"/><Relationship Id="rId3" Type="http://schemas.openxmlformats.org/officeDocument/2006/relationships/diagramLayout" Target="../diagrams/layout149.xml"/><Relationship Id="rId7" Type="http://schemas.openxmlformats.org/officeDocument/2006/relationships/image" Target="../media/image69.png"/><Relationship Id="rId2" Type="http://schemas.openxmlformats.org/officeDocument/2006/relationships/diagramData" Target="../diagrams/data149.xml"/><Relationship Id="rId1" Type="http://schemas.openxmlformats.org/officeDocument/2006/relationships/slideLayout" Target="../slideLayouts/slideLayout2.xml"/><Relationship Id="rId6" Type="http://schemas.microsoft.com/office/2007/relationships/diagramDrawing" Target="../diagrams/drawing149.xml"/><Relationship Id="rId5" Type="http://schemas.openxmlformats.org/officeDocument/2006/relationships/diagramColors" Target="../diagrams/colors149.xml"/><Relationship Id="rId4" Type="http://schemas.openxmlformats.org/officeDocument/2006/relationships/diagramQuickStyle" Target="../diagrams/quickStyle149.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150.xml"/><Relationship Id="rId2" Type="http://schemas.openxmlformats.org/officeDocument/2006/relationships/diagramData" Target="../diagrams/data150.xml"/><Relationship Id="rId1" Type="http://schemas.openxmlformats.org/officeDocument/2006/relationships/slideLayout" Target="../slideLayouts/slideLayout2.xml"/><Relationship Id="rId6" Type="http://schemas.microsoft.com/office/2007/relationships/diagramDrawing" Target="../diagrams/drawing150.xml"/><Relationship Id="rId5" Type="http://schemas.openxmlformats.org/officeDocument/2006/relationships/diagramColors" Target="../diagrams/colors150.xml"/><Relationship Id="rId4" Type="http://schemas.openxmlformats.org/officeDocument/2006/relationships/diagramQuickStyle" Target="../diagrams/quickStyle150.xm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51.xml"/><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151.xml.rels><?xml version="1.0" encoding="UTF-8" standalone="yes"?>
<Relationships xmlns="http://schemas.openxmlformats.org/package/2006/relationships"><Relationship Id="rId3" Type="http://schemas.openxmlformats.org/officeDocument/2006/relationships/diagramLayout" Target="../diagrams/layout152.xml"/><Relationship Id="rId2" Type="http://schemas.openxmlformats.org/officeDocument/2006/relationships/diagramData" Target="../diagrams/data152.xml"/><Relationship Id="rId1" Type="http://schemas.openxmlformats.org/officeDocument/2006/relationships/slideLayout" Target="../slideLayouts/slideLayout2.xml"/><Relationship Id="rId6" Type="http://schemas.microsoft.com/office/2007/relationships/diagramDrawing" Target="../diagrams/drawing152.xml"/><Relationship Id="rId5" Type="http://schemas.openxmlformats.org/officeDocument/2006/relationships/diagramColors" Target="../diagrams/colors152.xml"/><Relationship Id="rId4" Type="http://schemas.openxmlformats.org/officeDocument/2006/relationships/diagramQuickStyle" Target="../diagrams/quickStyle152.xml"/></Relationships>
</file>

<file path=ppt/slides/_rels/slide152.xml.rels><?xml version="1.0" encoding="UTF-8" standalone="yes"?>
<Relationships xmlns="http://schemas.openxmlformats.org/package/2006/relationships"><Relationship Id="rId3" Type="http://schemas.openxmlformats.org/officeDocument/2006/relationships/diagramLayout" Target="../diagrams/layout153.xml"/><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153.xml.rels><?xml version="1.0" encoding="UTF-8" standalone="yes"?>
<Relationships xmlns="http://schemas.openxmlformats.org/package/2006/relationships"><Relationship Id="rId3" Type="http://schemas.openxmlformats.org/officeDocument/2006/relationships/diagramLayout" Target="../diagrams/layout154.xml"/><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154.xml.rels><?xml version="1.0" encoding="UTF-8" standalone="yes"?>
<Relationships xmlns="http://schemas.openxmlformats.org/package/2006/relationships"><Relationship Id="rId3" Type="http://schemas.openxmlformats.org/officeDocument/2006/relationships/diagramLayout" Target="../diagrams/layout155.xml"/><Relationship Id="rId2" Type="http://schemas.openxmlformats.org/officeDocument/2006/relationships/diagramData" Target="../diagrams/data155.xml"/><Relationship Id="rId1" Type="http://schemas.openxmlformats.org/officeDocument/2006/relationships/slideLayout" Target="../slideLayouts/slideLayout2.xml"/><Relationship Id="rId6" Type="http://schemas.microsoft.com/office/2007/relationships/diagramDrawing" Target="../diagrams/drawing155.xml"/><Relationship Id="rId5" Type="http://schemas.openxmlformats.org/officeDocument/2006/relationships/diagramColors" Target="../diagrams/colors155.xml"/><Relationship Id="rId4" Type="http://schemas.openxmlformats.org/officeDocument/2006/relationships/diagramQuickStyle" Target="../diagrams/quickStyle155.xml"/></Relationships>
</file>

<file path=ppt/slides/_rels/slide155.xml.rels><?xml version="1.0" encoding="UTF-8" standalone="yes"?>
<Relationships xmlns="http://schemas.openxmlformats.org/package/2006/relationships"><Relationship Id="rId3" Type="http://schemas.openxmlformats.org/officeDocument/2006/relationships/diagramLayout" Target="../diagrams/layout156.xm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5" Type="http://schemas.openxmlformats.org/officeDocument/2006/relationships/diagramColors" Target="../diagrams/colors156.xml"/><Relationship Id="rId4" Type="http://schemas.openxmlformats.org/officeDocument/2006/relationships/diagramQuickStyle" Target="../diagrams/quickStyle156.xml"/></Relationships>
</file>

<file path=ppt/slides/_rels/slide156.xml.rels><?xml version="1.0" encoding="UTF-8" standalone="yes"?>
<Relationships xmlns="http://schemas.openxmlformats.org/package/2006/relationships"><Relationship Id="rId3" Type="http://schemas.openxmlformats.org/officeDocument/2006/relationships/diagramLayout" Target="../diagrams/layout157.xml"/><Relationship Id="rId2" Type="http://schemas.openxmlformats.org/officeDocument/2006/relationships/diagramData" Target="../diagrams/data157.xml"/><Relationship Id="rId1" Type="http://schemas.openxmlformats.org/officeDocument/2006/relationships/slideLayout" Target="../slideLayouts/slideLayout2.xml"/><Relationship Id="rId6" Type="http://schemas.microsoft.com/office/2007/relationships/diagramDrawing" Target="../diagrams/drawing157.xml"/><Relationship Id="rId5" Type="http://schemas.openxmlformats.org/officeDocument/2006/relationships/diagramColors" Target="../diagrams/colors157.xml"/><Relationship Id="rId4" Type="http://schemas.openxmlformats.org/officeDocument/2006/relationships/diagramQuickStyle" Target="../diagrams/quickStyle157.xml"/></Relationships>
</file>

<file path=ppt/slides/_rels/slide157.xml.rels><?xml version="1.0" encoding="UTF-8" standalone="yes"?>
<Relationships xmlns="http://schemas.openxmlformats.org/package/2006/relationships"><Relationship Id="rId3" Type="http://schemas.openxmlformats.org/officeDocument/2006/relationships/diagramLayout" Target="../diagrams/layout158.xml"/><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159.xml"/><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5" Type="http://schemas.openxmlformats.org/officeDocument/2006/relationships/diagramColors" Target="../diagrams/colors159.xml"/><Relationship Id="rId4" Type="http://schemas.openxmlformats.org/officeDocument/2006/relationships/diagramQuickStyle" Target="../diagrams/quickStyle159.xml"/></Relationships>
</file>

<file path=ppt/slides/_rels/slide159.xml.rels><?xml version="1.0" encoding="UTF-8" standalone="yes"?>
<Relationships xmlns="http://schemas.openxmlformats.org/package/2006/relationships"><Relationship Id="rId3" Type="http://schemas.openxmlformats.org/officeDocument/2006/relationships/diagramLayout" Target="../diagrams/layout160.xml"/><Relationship Id="rId2" Type="http://schemas.openxmlformats.org/officeDocument/2006/relationships/diagramData" Target="../diagrams/data160.xml"/><Relationship Id="rId1" Type="http://schemas.openxmlformats.org/officeDocument/2006/relationships/slideLayout" Target="../slideLayouts/slideLayout2.xml"/><Relationship Id="rId6" Type="http://schemas.microsoft.com/office/2007/relationships/diagramDrawing" Target="../diagrams/drawing160.xml"/><Relationship Id="rId5" Type="http://schemas.openxmlformats.org/officeDocument/2006/relationships/diagramColors" Target="../diagrams/colors160.xml"/><Relationship Id="rId4" Type="http://schemas.openxmlformats.org/officeDocument/2006/relationships/diagramQuickStyle" Target="../diagrams/quickStyle160.xml"/></Relationships>
</file>

<file path=ppt/slides/_rels/slide160.xml.rels><?xml version="1.0" encoding="UTF-8" standalone="yes"?>
<Relationships xmlns="http://schemas.openxmlformats.org/package/2006/relationships"><Relationship Id="rId3" Type="http://schemas.openxmlformats.org/officeDocument/2006/relationships/diagramLayout" Target="../diagrams/layout161.xml"/><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162.xm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4" Type="http://schemas.openxmlformats.org/officeDocument/2006/relationships/diagramQuickStyle" Target="../diagrams/quickStyle162.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163.xml"/><Relationship Id="rId2" Type="http://schemas.openxmlformats.org/officeDocument/2006/relationships/diagramData" Target="../diagrams/data163.xml"/><Relationship Id="rId1" Type="http://schemas.openxmlformats.org/officeDocument/2006/relationships/slideLayout" Target="../slideLayouts/slideLayout2.xml"/><Relationship Id="rId6" Type="http://schemas.microsoft.com/office/2007/relationships/diagramDrawing" Target="../diagrams/drawing163.xml"/><Relationship Id="rId5" Type="http://schemas.openxmlformats.org/officeDocument/2006/relationships/diagramColors" Target="../diagrams/colors163.xml"/><Relationship Id="rId4" Type="http://schemas.openxmlformats.org/officeDocument/2006/relationships/diagramQuickStyle" Target="../diagrams/quickStyle163.xml"/></Relationships>
</file>

<file path=ppt/slides/_rels/slide163.xml.rels><?xml version="1.0" encoding="UTF-8" standalone="yes"?>
<Relationships xmlns="http://schemas.openxmlformats.org/package/2006/relationships"><Relationship Id="rId8" Type="http://schemas.openxmlformats.org/officeDocument/2006/relationships/hyperlink" Target="https://www.sysdig.com/learn-cloud-native/threat-detection-in-the-cloud-defender-vs-guardduty-vs-security-command-center#:~:text=When%20it%20comes%20to%20integrations,hybrid%20and%20pure%20cloud%20environments." TargetMode="External"/><Relationship Id="rId3" Type="http://schemas.openxmlformats.org/officeDocument/2006/relationships/diagramLayout" Target="../diagrams/layout164.xml"/><Relationship Id="rId7" Type="http://schemas.openxmlformats.org/officeDocument/2006/relationships/hyperlink" Target="https://www.linkedin.com/pulse/cloud-security-comparison-aws-vs-azure-gcp-kamlesh-gs-singh-lmzqc/" TargetMode="External"/><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5" Type="http://schemas.openxmlformats.org/officeDocument/2006/relationships/diagramColors" Target="../diagrams/colors164.xml"/><Relationship Id="rId4" Type="http://schemas.openxmlformats.org/officeDocument/2006/relationships/diagramQuickStyle" Target="../diagrams/quickStyle164.xml"/><Relationship Id="rId9" Type="http://schemas.openxmlformats.org/officeDocument/2006/relationships/hyperlink" Target="https://www.pluralsight.com/resources/blog/cloud/cloud-security-comparison-aws-vs-azure-vs-gcp#:~:text=Azure%20has%20a%20service%20called,to%20store%20passwords%20and%20certificates." TargetMode="Externa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65.xm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66.xml"/><Relationship Id="rId2" Type="http://schemas.openxmlformats.org/officeDocument/2006/relationships/diagramData" Target="../diagrams/data166.xml"/><Relationship Id="rId1" Type="http://schemas.openxmlformats.org/officeDocument/2006/relationships/slideLayout" Target="../slideLayouts/slideLayout2.xml"/><Relationship Id="rId6" Type="http://schemas.microsoft.com/office/2007/relationships/diagramDrawing" Target="../diagrams/drawing166.xml"/><Relationship Id="rId5" Type="http://schemas.openxmlformats.org/officeDocument/2006/relationships/diagramColors" Target="../diagrams/colors166.xml"/><Relationship Id="rId4" Type="http://schemas.openxmlformats.org/officeDocument/2006/relationships/diagramQuickStyle" Target="../diagrams/quickStyle166.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67.xml"/><Relationship Id="rId2" Type="http://schemas.openxmlformats.org/officeDocument/2006/relationships/diagramData" Target="../diagrams/data167.xml"/><Relationship Id="rId1" Type="http://schemas.openxmlformats.org/officeDocument/2006/relationships/slideLayout" Target="../slideLayouts/slideLayout2.xml"/><Relationship Id="rId6" Type="http://schemas.microsoft.com/office/2007/relationships/diagramDrawing" Target="../diagrams/drawing167.xml"/><Relationship Id="rId5" Type="http://schemas.openxmlformats.org/officeDocument/2006/relationships/diagramColors" Target="../diagrams/colors167.xml"/><Relationship Id="rId4" Type="http://schemas.openxmlformats.org/officeDocument/2006/relationships/diagramQuickStyle" Target="../diagrams/quickStyle167.xml"/></Relationships>
</file>

<file path=ppt/slides/_rels/slide167.xml.rels><?xml version="1.0" encoding="UTF-8" standalone="yes"?>
<Relationships xmlns="http://schemas.openxmlformats.org/package/2006/relationships"><Relationship Id="rId3" Type="http://schemas.openxmlformats.org/officeDocument/2006/relationships/diagramLayout" Target="../diagrams/layout168.xml"/><Relationship Id="rId2" Type="http://schemas.openxmlformats.org/officeDocument/2006/relationships/diagramData" Target="../diagrams/data168.xml"/><Relationship Id="rId1" Type="http://schemas.openxmlformats.org/officeDocument/2006/relationships/slideLayout" Target="../slideLayouts/slideLayout2.xml"/><Relationship Id="rId6" Type="http://schemas.microsoft.com/office/2007/relationships/diagramDrawing" Target="../diagrams/drawing168.xml"/><Relationship Id="rId5" Type="http://schemas.openxmlformats.org/officeDocument/2006/relationships/diagramColors" Target="../diagrams/colors168.xml"/><Relationship Id="rId4" Type="http://schemas.openxmlformats.org/officeDocument/2006/relationships/diagramQuickStyle" Target="../diagrams/quickStyle168.xml"/></Relationships>
</file>

<file path=ppt/slides/_rels/slide168.xml.rels><?xml version="1.0" encoding="UTF-8" standalone="yes"?>
<Relationships xmlns="http://schemas.openxmlformats.org/package/2006/relationships"><Relationship Id="rId3" Type="http://schemas.openxmlformats.org/officeDocument/2006/relationships/diagramLayout" Target="../diagrams/layout169.xml"/><Relationship Id="rId2" Type="http://schemas.openxmlformats.org/officeDocument/2006/relationships/diagramData" Target="../diagrams/data169.xml"/><Relationship Id="rId1" Type="http://schemas.openxmlformats.org/officeDocument/2006/relationships/slideLayout" Target="../slideLayouts/slideLayout2.xml"/><Relationship Id="rId6" Type="http://schemas.microsoft.com/office/2007/relationships/diagramDrawing" Target="../diagrams/drawing169.xml"/><Relationship Id="rId5" Type="http://schemas.openxmlformats.org/officeDocument/2006/relationships/diagramColors" Target="../diagrams/colors169.xml"/><Relationship Id="rId4" Type="http://schemas.openxmlformats.org/officeDocument/2006/relationships/diagramQuickStyle" Target="../diagrams/quickStyle169.xml"/></Relationships>
</file>

<file path=ppt/slides/_rels/slide169.xml.rels><?xml version="1.0" encoding="UTF-8" standalone="yes"?>
<Relationships xmlns="http://schemas.openxmlformats.org/package/2006/relationships"><Relationship Id="rId3" Type="http://schemas.openxmlformats.org/officeDocument/2006/relationships/diagramLayout" Target="../diagrams/layout170.xml"/><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170.xml.rels><?xml version="1.0" encoding="UTF-8" standalone="yes"?>
<Relationships xmlns="http://schemas.openxmlformats.org/package/2006/relationships"><Relationship Id="rId3" Type="http://schemas.openxmlformats.org/officeDocument/2006/relationships/diagramLayout" Target="../diagrams/layout171.xml"/><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4" Type="http://schemas.openxmlformats.org/officeDocument/2006/relationships/diagramQuickStyle" Target="../diagrams/quickStyle171.xml"/></Relationships>
</file>

<file path=ppt/slides/_rels/slide171.xml.rels><?xml version="1.0" encoding="UTF-8" standalone="yes"?>
<Relationships xmlns="http://schemas.openxmlformats.org/package/2006/relationships"><Relationship Id="rId3" Type="http://schemas.openxmlformats.org/officeDocument/2006/relationships/diagramLayout" Target="../diagrams/layout172.xml"/><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73.xml"/><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5" Type="http://schemas.openxmlformats.org/officeDocument/2006/relationships/diagramColors" Target="../diagrams/colors173.xml"/><Relationship Id="rId4" Type="http://schemas.openxmlformats.org/officeDocument/2006/relationships/diagramQuickStyle" Target="../diagrams/quickStyle173.xml"/></Relationships>
</file>

<file path=ppt/slides/_rels/slide173.xml.rels><?xml version="1.0" encoding="UTF-8" standalone="yes"?>
<Relationships xmlns="http://schemas.openxmlformats.org/package/2006/relationships"><Relationship Id="rId3" Type="http://schemas.openxmlformats.org/officeDocument/2006/relationships/diagramLayout" Target="../diagrams/layout174.xml"/><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5" Type="http://schemas.openxmlformats.org/officeDocument/2006/relationships/diagramColors" Target="../diagrams/colors174.xml"/><Relationship Id="rId4" Type="http://schemas.openxmlformats.org/officeDocument/2006/relationships/diagramQuickStyle" Target="../diagrams/quickStyle174.xml"/></Relationships>
</file>

<file path=ppt/slides/_rels/slide174.xml.rels><?xml version="1.0" encoding="UTF-8" standalone="yes"?>
<Relationships xmlns="http://schemas.openxmlformats.org/package/2006/relationships"><Relationship Id="rId8" Type="http://schemas.openxmlformats.org/officeDocument/2006/relationships/hyperlink" Target="https://learn.microsoft.com/en-us/azure/cloud-adoption-framework/ready/landing-zone/" TargetMode="External"/><Relationship Id="rId3" Type="http://schemas.openxmlformats.org/officeDocument/2006/relationships/diagramLayout" Target="../diagrams/layout175.xml"/><Relationship Id="rId7" Type="http://schemas.openxmlformats.org/officeDocument/2006/relationships/hyperlink" Target="https://docs.aws.amazon.com/prescriptive-guidance/latest/strategy-migration/aws-landing-zone.html#:~:text=A%20landing%20zone%20is%20a,%2C%20network%20design%2C%20and%20logging." TargetMode="External"/><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5" Type="http://schemas.openxmlformats.org/officeDocument/2006/relationships/diagramColors" Target="../diagrams/colors175.xml"/><Relationship Id="rId4" Type="http://schemas.openxmlformats.org/officeDocument/2006/relationships/diagramQuickStyle" Target="../diagrams/quickStyle175.xml"/><Relationship Id="rId9" Type="http://schemas.openxmlformats.org/officeDocument/2006/relationships/hyperlink" Target="https://cloud.google.com/architecture/landing-zones" TargetMode="External"/></Relationships>
</file>

<file path=ppt/slides/_rels/slide175.xml.rels><?xml version="1.0" encoding="UTF-8" standalone="yes"?>
<Relationships xmlns="http://schemas.openxmlformats.org/package/2006/relationships"><Relationship Id="rId3" Type="http://schemas.openxmlformats.org/officeDocument/2006/relationships/diagramLayout" Target="../diagrams/layout176.xml"/><Relationship Id="rId7" Type="http://schemas.openxmlformats.org/officeDocument/2006/relationships/image" Target="../media/image70.png"/><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5" Type="http://schemas.openxmlformats.org/officeDocument/2006/relationships/diagramColors" Target="../diagrams/colors176.xml"/><Relationship Id="rId4" Type="http://schemas.openxmlformats.org/officeDocument/2006/relationships/diagramQuickStyle" Target="../diagrams/quickStyle176.xml"/></Relationships>
</file>

<file path=ppt/slides/_rels/slide176.xml.rels><?xml version="1.0" encoding="UTF-8" standalone="yes"?>
<Relationships xmlns="http://schemas.openxmlformats.org/package/2006/relationships"><Relationship Id="rId3" Type="http://schemas.openxmlformats.org/officeDocument/2006/relationships/diagramLayout" Target="../diagrams/layout177.xml"/><Relationship Id="rId7" Type="http://schemas.openxmlformats.org/officeDocument/2006/relationships/image" Target="../media/image71.png"/><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4" Type="http://schemas.openxmlformats.org/officeDocument/2006/relationships/diagramQuickStyle" Target="../diagrams/quickStyle177.xml"/></Relationships>
</file>

<file path=ppt/slides/_rels/slide177.xml.rels><?xml version="1.0" encoding="UTF-8" standalone="yes"?>
<Relationships xmlns="http://schemas.openxmlformats.org/package/2006/relationships"><Relationship Id="rId3" Type="http://schemas.openxmlformats.org/officeDocument/2006/relationships/diagramLayout" Target="../diagrams/layout178.xml"/><Relationship Id="rId7" Type="http://schemas.openxmlformats.org/officeDocument/2006/relationships/image" Target="../media/image72.png"/><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s>
</file>

<file path=ppt/slides/_rels/slide178.xml.rels><?xml version="1.0" encoding="UTF-8" standalone="yes"?>
<Relationships xmlns="http://schemas.openxmlformats.org/package/2006/relationships"><Relationship Id="rId3" Type="http://schemas.openxmlformats.org/officeDocument/2006/relationships/diagramLayout" Target="../diagrams/layout179.xml"/><Relationship Id="rId7" Type="http://schemas.openxmlformats.org/officeDocument/2006/relationships/image" Target="../media/image73.png"/><Relationship Id="rId2" Type="http://schemas.openxmlformats.org/officeDocument/2006/relationships/diagramData" Target="../diagrams/data179.xml"/><Relationship Id="rId1" Type="http://schemas.openxmlformats.org/officeDocument/2006/relationships/slideLayout" Target="../slideLayouts/slideLayout2.xml"/><Relationship Id="rId6" Type="http://schemas.microsoft.com/office/2007/relationships/diagramDrawing" Target="../diagrams/drawing179.xml"/><Relationship Id="rId5" Type="http://schemas.openxmlformats.org/officeDocument/2006/relationships/diagramColors" Target="../diagrams/colors179.xml"/><Relationship Id="rId4" Type="http://schemas.openxmlformats.org/officeDocument/2006/relationships/diagramQuickStyle" Target="../diagrams/quickStyle179.xml"/></Relationships>
</file>

<file path=ppt/slides/_rels/slide179.xml.rels><?xml version="1.0" encoding="UTF-8" standalone="yes"?>
<Relationships xmlns="http://schemas.openxmlformats.org/package/2006/relationships"><Relationship Id="rId3" Type="http://schemas.openxmlformats.org/officeDocument/2006/relationships/diagramLayout" Target="../diagrams/layout180.xml"/><Relationship Id="rId7" Type="http://schemas.openxmlformats.org/officeDocument/2006/relationships/image" Target="../media/image74.png"/><Relationship Id="rId2" Type="http://schemas.openxmlformats.org/officeDocument/2006/relationships/diagramData" Target="../diagrams/data180.xml"/><Relationship Id="rId1" Type="http://schemas.openxmlformats.org/officeDocument/2006/relationships/slideLayout" Target="../slideLayouts/slideLayout2.xml"/><Relationship Id="rId6" Type="http://schemas.microsoft.com/office/2007/relationships/diagramDrawing" Target="../diagrams/drawing180.xml"/><Relationship Id="rId5" Type="http://schemas.openxmlformats.org/officeDocument/2006/relationships/diagramColors" Target="../diagrams/colors180.xml"/><Relationship Id="rId4" Type="http://schemas.openxmlformats.org/officeDocument/2006/relationships/diagramQuickStyle" Target="../diagrams/quickStyle180.xml"/></Relationships>
</file>

<file path=ppt/slides/_rels/slide180.xml.rels><?xml version="1.0" encoding="UTF-8" standalone="yes"?>
<Relationships xmlns="http://schemas.openxmlformats.org/package/2006/relationships"><Relationship Id="rId3" Type="http://schemas.openxmlformats.org/officeDocument/2006/relationships/diagramLayout" Target="../diagrams/layout181.xml"/><Relationship Id="rId7" Type="http://schemas.openxmlformats.org/officeDocument/2006/relationships/image" Target="../media/image75.png"/><Relationship Id="rId2" Type="http://schemas.openxmlformats.org/officeDocument/2006/relationships/diagramData" Target="../diagrams/data181.xml"/><Relationship Id="rId1" Type="http://schemas.openxmlformats.org/officeDocument/2006/relationships/slideLayout" Target="../slideLayouts/slideLayout2.xml"/><Relationship Id="rId6" Type="http://schemas.microsoft.com/office/2007/relationships/diagramDrawing" Target="../diagrams/drawing181.xml"/><Relationship Id="rId5" Type="http://schemas.openxmlformats.org/officeDocument/2006/relationships/diagramColors" Target="../diagrams/colors181.xml"/><Relationship Id="rId4" Type="http://schemas.openxmlformats.org/officeDocument/2006/relationships/diagramQuickStyle" Target="../diagrams/quickStyle181.xml"/></Relationships>
</file>

<file path=ppt/slides/_rels/slide181.xml.rels><?xml version="1.0" encoding="UTF-8" standalone="yes"?>
<Relationships xmlns="http://schemas.openxmlformats.org/package/2006/relationships"><Relationship Id="rId3" Type="http://schemas.openxmlformats.org/officeDocument/2006/relationships/diagramLayout" Target="../diagrams/layout182.xml"/><Relationship Id="rId7" Type="http://schemas.openxmlformats.org/officeDocument/2006/relationships/image" Target="../media/image76.png"/><Relationship Id="rId2" Type="http://schemas.openxmlformats.org/officeDocument/2006/relationships/diagramData" Target="../diagrams/data182.xml"/><Relationship Id="rId1" Type="http://schemas.openxmlformats.org/officeDocument/2006/relationships/slideLayout" Target="../slideLayouts/slideLayout2.xml"/><Relationship Id="rId6" Type="http://schemas.microsoft.com/office/2007/relationships/diagramDrawing" Target="../diagrams/drawing182.xml"/><Relationship Id="rId5" Type="http://schemas.openxmlformats.org/officeDocument/2006/relationships/diagramColors" Target="../diagrams/colors182.xml"/><Relationship Id="rId4" Type="http://schemas.openxmlformats.org/officeDocument/2006/relationships/diagramQuickStyle" Target="../diagrams/quickStyle182.xml"/></Relationships>
</file>

<file path=ppt/slides/_rels/slide182.xml.rels><?xml version="1.0" encoding="UTF-8" standalone="yes"?>
<Relationships xmlns="http://schemas.openxmlformats.org/package/2006/relationships"><Relationship Id="rId3" Type="http://schemas.openxmlformats.org/officeDocument/2006/relationships/diagramLayout" Target="../diagrams/layout183.xml"/><Relationship Id="rId7" Type="http://schemas.openxmlformats.org/officeDocument/2006/relationships/image" Target="../media/image77.png"/><Relationship Id="rId2" Type="http://schemas.openxmlformats.org/officeDocument/2006/relationships/diagramData" Target="../diagrams/data183.xml"/><Relationship Id="rId1" Type="http://schemas.openxmlformats.org/officeDocument/2006/relationships/slideLayout" Target="../slideLayouts/slideLayout2.xml"/><Relationship Id="rId6" Type="http://schemas.microsoft.com/office/2007/relationships/diagramDrawing" Target="../diagrams/drawing183.xml"/><Relationship Id="rId5" Type="http://schemas.openxmlformats.org/officeDocument/2006/relationships/diagramColors" Target="../diagrams/colors183.xml"/><Relationship Id="rId4" Type="http://schemas.openxmlformats.org/officeDocument/2006/relationships/diagramQuickStyle" Target="../diagrams/quickStyle183.xml"/></Relationships>
</file>

<file path=ppt/slides/_rels/slide183.xml.rels><?xml version="1.0" encoding="UTF-8" standalone="yes"?>
<Relationships xmlns="http://schemas.openxmlformats.org/package/2006/relationships"><Relationship Id="rId3" Type="http://schemas.openxmlformats.org/officeDocument/2006/relationships/diagramLayout" Target="../diagrams/layout184.xml"/><Relationship Id="rId7" Type="http://schemas.openxmlformats.org/officeDocument/2006/relationships/image" Target="../media/image78.png"/><Relationship Id="rId2" Type="http://schemas.openxmlformats.org/officeDocument/2006/relationships/diagramData" Target="../diagrams/data184.xml"/><Relationship Id="rId1" Type="http://schemas.openxmlformats.org/officeDocument/2006/relationships/slideLayout" Target="../slideLayouts/slideLayout2.xml"/><Relationship Id="rId6" Type="http://schemas.microsoft.com/office/2007/relationships/diagramDrawing" Target="../diagrams/drawing184.xml"/><Relationship Id="rId5" Type="http://schemas.openxmlformats.org/officeDocument/2006/relationships/diagramColors" Target="../diagrams/colors184.xml"/><Relationship Id="rId4" Type="http://schemas.openxmlformats.org/officeDocument/2006/relationships/diagramQuickStyle" Target="../diagrams/quickStyle184.xm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185.xml"/><Relationship Id="rId7" Type="http://schemas.openxmlformats.org/officeDocument/2006/relationships/image" Target="../media/image79.png"/><Relationship Id="rId2" Type="http://schemas.openxmlformats.org/officeDocument/2006/relationships/diagramData" Target="../diagrams/data185.xml"/><Relationship Id="rId1" Type="http://schemas.openxmlformats.org/officeDocument/2006/relationships/slideLayout" Target="../slideLayouts/slideLayout2.xml"/><Relationship Id="rId6" Type="http://schemas.microsoft.com/office/2007/relationships/diagramDrawing" Target="../diagrams/drawing185.xml"/><Relationship Id="rId5" Type="http://schemas.openxmlformats.org/officeDocument/2006/relationships/diagramColors" Target="../diagrams/colors185.xml"/><Relationship Id="rId4" Type="http://schemas.openxmlformats.org/officeDocument/2006/relationships/diagramQuickStyle" Target="../diagrams/quickStyle185.xml"/></Relationships>
</file>

<file path=ppt/slides/_rels/slide185.xml.rels><?xml version="1.0" encoding="UTF-8" standalone="yes"?>
<Relationships xmlns="http://schemas.openxmlformats.org/package/2006/relationships"><Relationship Id="rId3" Type="http://schemas.openxmlformats.org/officeDocument/2006/relationships/diagramLayout" Target="../diagrams/layout186.xml"/><Relationship Id="rId7" Type="http://schemas.openxmlformats.org/officeDocument/2006/relationships/image" Target="../media/image80.png"/><Relationship Id="rId2" Type="http://schemas.openxmlformats.org/officeDocument/2006/relationships/diagramData" Target="../diagrams/data186.xml"/><Relationship Id="rId1" Type="http://schemas.openxmlformats.org/officeDocument/2006/relationships/slideLayout" Target="../slideLayouts/slideLayout2.xml"/><Relationship Id="rId6" Type="http://schemas.microsoft.com/office/2007/relationships/diagramDrawing" Target="../diagrams/drawing186.xml"/><Relationship Id="rId5" Type="http://schemas.openxmlformats.org/officeDocument/2006/relationships/diagramColors" Target="../diagrams/colors186.xml"/><Relationship Id="rId4" Type="http://schemas.openxmlformats.org/officeDocument/2006/relationships/diagramQuickStyle" Target="../diagrams/quickStyle186.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187.xml"/><Relationship Id="rId2" Type="http://schemas.openxmlformats.org/officeDocument/2006/relationships/diagramData" Target="../diagrams/data187.xml"/><Relationship Id="rId1" Type="http://schemas.openxmlformats.org/officeDocument/2006/relationships/slideLayout" Target="../slideLayouts/slideLayout2.xml"/><Relationship Id="rId6" Type="http://schemas.microsoft.com/office/2007/relationships/diagramDrawing" Target="../diagrams/drawing187.xml"/><Relationship Id="rId5" Type="http://schemas.openxmlformats.org/officeDocument/2006/relationships/diagramColors" Target="../diagrams/colors187.xml"/><Relationship Id="rId4" Type="http://schemas.openxmlformats.org/officeDocument/2006/relationships/diagramQuickStyle" Target="../diagrams/quickStyle187.xml"/></Relationships>
</file>

<file path=ppt/slides/_rels/slide187.xml.rels><?xml version="1.0" encoding="UTF-8" standalone="yes"?>
<Relationships xmlns="http://schemas.openxmlformats.org/package/2006/relationships"><Relationship Id="rId3" Type="http://schemas.openxmlformats.org/officeDocument/2006/relationships/diagramLayout" Target="../diagrams/layout188.xml"/><Relationship Id="rId2" Type="http://schemas.openxmlformats.org/officeDocument/2006/relationships/diagramData" Target="../diagrams/data188.xml"/><Relationship Id="rId1" Type="http://schemas.openxmlformats.org/officeDocument/2006/relationships/slideLayout" Target="../slideLayouts/slideLayout2.xml"/><Relationship Id="rId6" Type="http://schemas.microsoft.com/office/2007/relationships/diagramDrawing" Target="../diagrams/drawing188.xml"/><Relationship Id="rId5" Type="http://schemas.openxmlformats.org/officeDocument/2006/relationships/diagramColors" Target="../diagrams/colors188.xml"/><Relationship Id="rId4" Type="http://schemas.openxmlformats.org/officeDocument/2006/relationships/diagramQuickStyle" Target="../diagrams/quickStyle188.xml"/></Relationships>
</file>

<file path=ppt/slides/_rels/slide188.xml.rels><?xml version="1.0" encoding="UTF-8" standalone="yes"?>
<Relationships xmlns="http://schemas.openxmlformats.org/package/2006/relationships"><Relationship Id="rId3" Type="http://schemas.openxmlformats.org/officeDocument/2006/relationships/diagramLayout" Target="../diagrams/layout189.xml"/><Relationship Id="rId2" Type="http://schemas.openxmlformats.org/officeDocument/2006/relationships/diagramData" Target="../diagrams/data189.xml"/><Relationship Id="rId1" Type="http://schemas.openxmlformats.org/officeDocument/2006/relationships/slideLayout" Target="../slideLayouts/slideLayout2.xml"/><Relationship Id="rId6" Type="http://schemas.microsoft.com/office/2007/relationships/diagramDrawing" Target="../diagrams/drawing189.xml"/><Relationship Id="rId5" Type="http://schemas.openxmlformats.org/officeDocument/2006/relationships/diagramColors" Target="../diagrams/colors189.xml"/><Relationship Id="rId4" Type="http://schemas.openxmlformats.org/officeDocument/2006/relationships/diagramQuickStyle" Target="../diagrams/quickStyle189.xml"/></Relationships>
</file>

<file path=ppt/slides/_rels/slide189.xml.rels><?xml version="1.0" encoding="UTF-8" standalone="yes"?>
<Relationships xmlns="http://schemas.openxmlformats.org/package/2006/relationships"><Relationship Id="rId3" Type="http://schemas.openxmlformats.org/officeDocument/2006/relationships/diagramLayout" Target="../diagrams/layout190.xml"/><Relationship Id="rId2" Type="http://schemas.openxmlformats.org/officeDocument/2006/relationships/diagramData" Target="../diagrams/data190.xml"/><Relationship Id="rId1" Type="http://schemas.openxmlformats.org/officeDocument/2006/relationships/slideLayout" Target="../slideLayouts/slideLayout2.xml"/><Relationship Id="rId6" Type="http://schemas.microsoft.com/office/2007/relationships/diagramDrawing" Target="../diagrams/drawing190.xml"/><Relationship Id="rId5" Type="http://schemas.openxmlformats.org/officeDocument/2006/relationships/diagramColors" Target="../diagrams/colors190.xml"/><Relationship Id="rId4" Type="http://schemas.openxmlformats.org/officeDocument/2006/relationships/diagramQuickStyle" Target="../diagrams/quickStyle190.xml"/></Relationships>
</file>

<file path=ppt/slides/_rels/slide190.xml.rels><?xml version="1.0" encoding="UTF-8" standalone="yes"?>
<Relationships xmlns="http://schemas.openxmlformats.org/package/2006/relationships"><Relationship Id="rId3" Type="http://schemas.openxmlformats.org/officeDocument/2006/relationships/diagramLayout" Target="../diagrams/layout191.xml"/><Relationship Id="rId2" Type="http://schemas.openxmlformats.org/officeDocument/2006/relationships/diagramData" Target="../diagrams/data191.xml"/><Relationship Id="rId1" Type="http://schemas.openxmlformats.org/officeDocument/2006/relationships/slideLayout" Target="../slideLayouts/slideLayout2.xml"/><Relationship Id="rId6" Type="http://schemas.microsoft.com/office/2007/relationships/diagramDrawing" Target="../diagrams/drawing191.xml"/><Relationship Id="rId5" Type="http://schemas.openxmlformats.org/officeDocument/2006/relationships/diagramColors" Target="../diagrams/colors191.xml"/><Relationship Id="rId4" Type="http://schemas.openxmlformats.org/officeDocument/2006/relationships/diagramQuickStyle" Target="../diagrams/quickStyle191.xml"/></Relationships>
</file>

<file path=ppt/slides/_rels/slide191.xml.rels><?xml version="1.0" encoding="UTF-8" standalone="yes"?>
<Relationships xmlns="http://schemas.openxmlformats.org/package/2006/relationships"><Relationship Id="rId3" Type="http://schemas.openxmlformats.org/officeDocument/2006/relationships/diagramLayout" Target="../diagrams/layout192.xml"/><Relationship Id="rId2" Type="http://schemas.openxmlformats.org/officeDocument/2006/relationships/diagramData" Target="../diagrams/data192.xml"/><Relationship Id="rId1" Type="http://schemas.openxmlformats.org/officeDocument/2006/relationships/slideLayout" Target="../slideLayouts/slideLayout2.xml"/><Relationship Id="rId6" Type="http://schemas.microsoft.com/office/2007/relationships/diagramDrawing" Target="../diagrams/drawing192.xml"/><Relationship Id="rId5" Type="http://schemas.openxmlformats.org/officeDocument/2006/relationships/diagramColors" Target="../diagrams/colors192.xml"/><Relationship Id="rId4" Type="http://schemas.openxmlformats.org/officeDocument/2006/relationships/diagramQuickStyle" Target="../diagrams/quickStyle192.xml"/></Relationships>
</file>

<file path=ppt/slides/_rels/slide192.xml.rels><?xml version="1.0" encoding="UTF-8" standalone="yes"?>
<Relationships xmlns="http://schemas.openxmlformats.org/package/2006/relationships"><Relationship Id="rId3" Type="http://schemas.openxmlformats.org/officeDocument/2006/relationships/diagramLayout" Target="../diagrams/layout193.xml"/><Relationship Id="rId2" Type="http://schemas.openxmlformats.org/officeDocument/2006/relationships/diagramData" Target="../diagrams/data193.xml"/><Relationship Id="rId1" Type="http://schemas.openxmlformats.org/officeDocument/2006/relationships/slideLayout" Target="../slideLayouts/slideLayout2.xml"/><Relationship Id="rId6" Type="http://schemas.microsoft.com/office/2007/relationships/diagramDrawing" Target="../diagrams/drawing193.xml"/><Relationship Id="rId5" Type="http://schemas.openxmlformats.org/officeDocument/2006/relationships/diagramColors" Target="../diagrams/colors193.xml"/><Relationship Id="rId4" Type="http://schemas.openxmlformats.org/officeDocument/2006/relationships/diagramQuickStyle" Target="../diagrams/quickStyle193.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194.xml"/><Relationship Id="rId2" Type="http://schemas.openxmlformats.org/officeDocument/2006/relationships/diagramData" Target="../diagrams/data194.xml"/><Relationship Id="rId1" Type="http://schemas.openxmlformats.org/officeDocument/2006/relationships/slideLayout" Target="../slideLayouts/slideLayout2.xml"/><Relationship Id="rId6" Type="http://schemas.microsoft.com/office/2007/relationships/diagramDrawing" Target="../diagrams/drawing194.xml"/><Relationship Id="rId5" Type="http://schemas.openxmlformats.org/officeDocument/2006/relationships/diagramColors" Target="../diagrams/colors194.xml"/><Relationship Id="rId4" Type="http://schemas.openxmlformats.org/officeDocument/2006/relationships/diagramQuickStyle" Target="../diagrams/quickStyle194.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195.xml"/><Relationship Id="rId2" Type="http://schemas.openxmlformats.org/officeDocument/2006/relationships/diagramData" Target="../diagrams/data195.xml"/><Relationship Id="rId1" Type="http://schemas.openxmlformats.org/officeDocument/2006/relationships/slideLayout" Target="../slideLayouts/slideLayout2.xml"/><Relationship Id="rId6" Type="http://schemas.microsoft.com/office/2007/relationships/diagramDrawing" Target="../diagrams/drawing195.xml"/><Relationship Id="rId5" Type="http://schemas.openxmlformats.org/officeDocument/2006/relationships/diagramColors" Target="../diagrams/colors195.xml"/><Relationship Id="rId4" Type="http://schemas.openxmlformats.org/officeDocument/2006/relationships/diagramQuickStyle" Target="../diagrams/quickStyle195.xml"/></Relationships>
</file>

<file path=ppt/slides/_rels/slide195.xml.rels><?xml version="1.0" encoding="UTF-8" standalone="yes"?>
<Relationships xmlns="http://schemas.openxmlformats.org/package/2006/relationships"><Relationship Id="rId3" Type="http://schemas.openxmlformats.org/officeDocument/2006/relationships/diagramLayout" Target="../diagrams/layout196.xml"/><Relationship Id="rId2" Type="http://schemas.openxmlformats.org/officeDocument/2006/relationships/diagramData" Target="../diagrams/data196.xml"/><Relationship Id="rId1" Type="http://schemas.openxmlformats.org/officeDocument/2006/relationships/slideLayout" Target="../slideLayouts/slideLayout2.xml"/><Relationship Id="rId6" Type="http://schemas.microsoft.com/office/2007/relationships/diagramDrawing" Target="../diagrams/drawing196.xml"/><Relationship Id="rId5" Type="http://schemas.openxmlformats.org/officeDocument/2006/relationships/diagramColors" Target="../diagrams/colors196.xml"/><Relationship Id="rId4" Type="http://schemas.openxmlformats.org/officeDocument/2006/relationships/diagramQuickStyle" Target="../diagrams/quickStyle196.xml"/></Relationships>
</file>

<file path=ppt/slides/_rels/slide196.xml.rels><?xml version="1.0" encoding="UTF-8" standalone="yes"?>
<Relationships xmlns="http://schemas.openxmlformats.org/package/2006/relationships"><Relationship Id="rId3" Type="http://schemas.openxmlformats.org/officeDocument/2006/relationships/diagramLayout" Target="../diagrams/layout197.xml"/><Relationship Id="rId2" Type="http://schemas.openxmlformats.org/officeDocument/2006/relationships/diagramData" Target="../diagrams/data197.xml"/><Relationship Id="rId1" Type="http://schemas.openxmlformats.org/officeDocument/2006/relationships/slideLayout" Target="../slideLayouts/slideLayout2.xml"/><Relationship Id="rId6" Type="http://schemas.microsoft.com/office/2007/relationships/diagramDrawing" Target="../diagrams/drawing197.xml"/><Relationship Id="rId5" Type="http://schemas.openxmlformats.org/officeDocument/2006/relationships/diagramColors" Target="../diagrams/colors197.xml"/><Relationship Id="rId4" Type="http://schemas.openxmlformats.org/officeDocument/2006/relationships/diagramQuickStyle" Target="../diagrams/quickStyle197.xml"/></Relationships>
</file>

<file path=ppt/slides/_rels/slide197.xml.rels><?xml version="1.0" encoding="UTF-8" standalone="yes"?>
<Relationships xmlns="http://schemas.openxmlformats.org/package/2006/relationships"><Relationship Id="rId3" Type="http://schemas.openxmlformats.org/officeDocument/2006/relationships/diagramLayout" Target="../diagrams/layout198.xml"/><Relationship Id="rId2" Type="http://schemas.openxmlformats.org/officeDocument/2006/relationships/diagramData" Target="../diagrams/data198.xml"/><Relationship Id="rId1" Type="http://schemas.openxmlformats.org/officeDocument/2006/relationships/slideLayout" Target="../slideLayouts/slideLayout2.xml"/><Relationship Id="rId6" Type="http://schemas.microsoft.com/office/2007/relationships/diagramDrawing" Target="../diagrams/drawing198.xml"/><Relationship Id="rId5" Type="http://schemas.openxmlformats.org/officeDocument/2006/relationships/diagramColors" Target="../diagrams/colors198.xml"/><Relationship Id="rId4" Type="http://schemas.openxmlformats.org/officeDocument/2006/relationships/diagramQuickStyle" Target="../diagrams/quickStyle198.xml"/></Relationships>
</file>

<file path=ppt/slides/_rels/slide198.xml.rels><?xml version="1.0" encoding="UTF-8" standalone="yes"?>
<Relationships xmlns="http://schemas.openxmlformats.org/package/2006/relationships"><Relationship Id="rId3" Type="http://schemas.openxmlformats.org/officeDocument/2006/relationships/diagramLayout" Target="../diagrams/layout199.xml"/><Relationship Id="rId2" Type="http://schemas.openxmlformats.org/officeDocument/2006/relationships/diagramData" Target="../diagrams/data199.xml"/><Relationship Id="rId1" Type="http://schemas.openxmlformats.org/officeDocument/2006/relationships/slideLayout" Target="../slideLayouts/slideLayout2.xml"/><Relationship Id="rId6" Type="http://schemas.microsoft.com/office/2007/relationships/diagramDrawing" Target="../diagrams/drawing199.xml"/><Relationship Id="rId5" Type="http://schemas.openxmlformats.org/officeDocument/2006/relationships/diagramColors" Target="../diagrams/colors199.xml"/><Relationship Id="rId4" Type="http://schemas.openxmlformats.org/officeDocument/2006/relationships/diagramQuickStyle" Target="../diagrams/quickStyle199.xml"/></Relationships>
</file>

<file path=ppt/slides/_rels/slide199.xml.rels><?xml version="1.0" encoding="UTF-8" standalone="yes"?>
<Relationships xmlns="http://schemas.openxmlformats.org/package/2006/relationships"><Relationship Id="rId3" Type="http://schemas.openxmlformats.org/officeDocument/2006/relationships/diagramLayout" Target="../diagrams/layout200.xml"/><Relationship Id="rId2" Type="http://schemas.openxmlformats.org/officeDocument/2006/relationships/diagramData" Target="../diagrams/data200.xml"/><Relationship Id="rId1" Type="http://schemas.openxmlformats.org/officeDocument/2006/relationships/slideLayout" Target="../slideLayouts/slideLayout2.xml"/><Relationship Id="rId6" Type="http://schemas.microsoft.com/office/2007/relationships/diagramDrawing" Target="../diagrams/drawing200.xml"/><Relationship Id="rId5" Type="http://schemas.openxmlformats.org/officeDocument/2006/relationships/diagramColors" Target="../diagrams/colors200.xml"/><Relationship Id="rId4" Type="http://schemas.openxmlformats.org/officeDocument/2006/relationships/diagramQuickStyle" Target="../diagrams/quickStyle200.xml"/></Relationships>
</file>

<file path=ppt/slides/_rels/slide200.xml.rels><?xml version="1.0" encoding="UTF-8" standalone="yes"?>
<Relationships xmlns="http://schemas.openxmlformats.org/package/2006/relationships"><Relationship Id="rId3" Type="http://schemas.openxmlformats.org/officeDocument/2006/relationships/diagramLayout" Target="../diagrams/layout201.xml"/><Relationship Id="rId2" Type="http://schemas.openxmlformats.org/officeDocument/2006/relationships/diagramData" Target="../diagrams/data201.xml"/><Relationship Id="rId1" Type="http://schemas.openxmlformats.org/officeDocument/2006/relationships/slideLayout" Target="../slideLayouts/slideLayout2.xml"/><Relationship Id="rId6" Type="http://schemas.microsoft.com/office/2007/relationships/diagramDrawing" Target="../diagrams/drawing201.xml"/><Relationship Id="rId5" Type="http://schemas.openxmlformats.org/officeDocument/2006/relationships/diagramColors" Target="../diagrams/colors201.xml"/><Relationship Id="rId4" Type="http://schemas.openxmlformats.org/officeDocument/2006/relationships/diagramQuickStyle" Target="../diagrams/quickStyle201.xml"/></Relationships>
</file>

<file path=ppt/slides/_rels/slide201.xml.rels><?xml version="1.0" encoding="UTF-8" standalone="yes"?>
<Relationships xmlns="http://schemas.openxmlformats.org/package/2006/relationships"><Relationship Id="rId3" Type="http://schemas.openxmlformats.org/officeDocument/2006/relationships/diagramLayout" Target="../diagrams/layout202.xml"/><Relationship Id="rId2" Type="http://schemas.openxmlformats.org/officeDocument/2006/relationships/diagramData" Target="../diagrams/data202.xml"/><Relationship Id="rId1" Type="http://schemas.openxmlformats.org/officeDocument/2006/relationships/slideLayout" Target="../slideLayouts/slideLayout2.xml"/><Relationship Id="rId6" Type="http://schemas.microsoft.com/office/2007/relationships/diagramDrawing" Target="../diagrams/drawing202.xml"/><Relationship Id="rId5" Type="http://schemas.openxmlformats.org/officeDocument/2006/relationships/diagramColors" Target="../diagrams/colors202.xml"/><Relationship Id="rId4" Type="http://schemas.openxmlformats.org/officeDocument/2006/relationships/diagramQuickStyle" Target="../diagrams/quickStyle202.xml"/></Relationships>
</file>

<file path=ppt/slides/_rels/slide202.xml.rels><?xml version="1.0" encoding="UTF-8" standalone="yes"?>
<Relationships xmlns="http://schemas.openxmlformats.org/package/2006/relationships"><Relationship Id="rId3" Type="http://schemas.openxmlformats.org/officeDocument/2006/relationships/diagramLayout" Target="../diagrams/layout203.xml"/><Relationship Id="rId2" Type="http://schemas.openxmlformats.org/officeDocument/2006/relationships/diagramData" Target="../diagrams/data203.xml"/><Relationship Id="rId1" Type="http://schemas.openxmlformats.org/officeDocument/2006/relationships/slideLayout" Target="../slideLayouts/slideLayout2.xml"/><Relationship Id="rId6" Type="http://schemas.microsoft.com/office/2007/relationships/diagramDrawing" Target="../diagrams/drawing203.xml"/><Relationship Id="rId5" Type="http://schemas.openxmlformats.org/officeDocument/2006/relationships/diagramColors" Target="../diagrams/colors203.xml"/><Relationship Id="rId4" Type="http://schemas.openxmlformats.org/officeDocument/2006/relationships/diagramQuickStyle" Target="../diagrams/quickStyle203.xml"/></Relationships>
</file>

<file path=ppt/slides/_rels/slide203.xml.rels><?xml version="1.0" encoding="UTF-8" standalone="yes"?>
<Relationships xmlns="http://schemas.openxmlformats.org/package/2006/relationships"><Relationship Id="rId3" Type="http://schemas.openxmlformats.org/officeDocument/2006/relationships/diagramLayout" Target="../diagrams/layout204.xml"/><Relationship Id="rId2" Type="http://schemas.openxmlformats.org/officeDocument/2006/relationships/diagramData" Target="../diagrams/data204.xml"/><Relationship Id="rId1" Type="http://schemas.openxmlformats.org/officeDocument/2006/relationships/slideLayout" Target="../slideLayouts/slideLayout2.xml"/><Relationship Id="rId6" Type="http://schemas.microsoft.com/office/2007/relationships/diagramDrawing" Target="../diagrams/drawing204.xml"/><Relationship Id="rId5" Type="http://schemas.openxmlformats.org/officeDocument/2006/relationships/diagramColors" Target="../diagrams/colors204.xml"/><Relationship Id="rId4" Type="http://schemas.openxmlformats.org/officeDocument/2006/relationships/diagramQuickStyle" Target="../diagrams/quickStyle204.xml"/></Relationships>
</file>

<file path=ppt/slides/_rels/slide204.xml.rels><?xml version="1.0" encoding="UTF-8" standalone="yes"?>
<Relationships xmlns="http://schemas.openxmlformats.org/package/2006/relationships"><Relationship Id="rId3" Type="http://schemas.openxmlformats.org/officeDocument/2006/relationships/diagramLayout" Target="../diagrams/layout205.xml"/><Relationship Id="rId2" Type="http://schemas.openxmlformats.org/officeDocument/2006/relationships/diagramData" Target="../diagrams/data205.xml"/><Relationship Id="rId1" Type="http://schemas.openxmlformats.org/officeDocument/2006/relationships/slideLayout" Target="../slideLayouts/slideLayout2.xml"/><Relationship Id="rId6" Type="http://schemas.microsoft.com/office/2007/relationships/diagramDrawing" Target="../diagrams/drawing205.xml"/><Relationship Id="rId5" Type="http://schemas.openxmlformats.org/officeDocument/2006/relationships/diagramColors" Target="../diagrams/colors205.xml"/><Relationship Id="rId4" Type="http://schemas.openxmlformats.org/officeDocument/2006/relationships/diagramQuickStyle" Target="../diagrams/quickStyle205.xml"/></Relationships>
</file>

<file path=ppt/slides/_rels/slide205.xml.rels><?xml version="1.0" encoding="UTF-8" standalone="yes"?>
<Relationships xmlns="http://schemas.openxmlformats.org/package/2006/relationships"><Relationship Id="rId3" Type="http://schemas.openxmlformats.org/officeDocument/2006/relationships/diagramLayout" Target="../diagrams/layout206.xml"/><Relationship Id="rId2" Type="http://schemas.openxmlformats.org/officeDocument/2006/relationships/diagramData" Target="../diagrams/data206.xml"/><Relationship Id="rId1" Type="http://schemas.openxmlformats.org/officeDocument/2006/relationships/slideLayout" Target="../slideLayouts/slideLayout2.xml"/><Relationship Id="rId6" Type="http://schemas.microsoft.com/office/2007/relationships/diagramDrawing" Target="../diagrams/drawing206.xml"/><Relationship Id="rId5" Type="http://schemas.openxmlformats.org/officeDocument/2006/relationships/diagramColors" Target="../diagrams/colors206.xml"/><Relationship Id="rId4" Type="http://schemas.openxmlformats.org/officeDocument/2006/relationships/diagramQuickStyle" Target="../diagrams/quickStyle206.xml"/></Relationships>
</file>

<file path=ppt/slides/_rels/slide206.xml.rels><?xml version="1.0" encoding="UTF-8" standalone="yes"?>
<Relationships xmlns="http://schemas.openxmlformats.org/package/2006/relationships"><Relationship Id="rId3" Type="http://schemas.openxmlformats.org/officeDocument/2006/relationships/diagramLayout" Target="../diagrams/layout207.xml"/><Relationship Id="rId2" Type="http://schemas.openxmlformats.org/officeDocument/2006/relationships/diagramData" Target="../diagrams/data207.xml"/><Relationship Id="rId1" Type="http://schemas.openxmlformats.org/officeDocument/2006/relationships/slideLayout" Target="../slideLayouts/slideLayout2.xml"/><Relationship Id="rId6" Type="http://schemas.microsoft.com/office/2007/relationships/diagramDrawing" Target="../diagrams/drawing207.xml"/><Relationship Id="rId5" Type="http://schemas.openxmlformats.org/officeDocument/2006/relationships/diagramColors" Target="../diagrams/colors207.xml"/><Relationship Id="rId4" Type="http://schemas.openxmlformats.org/officeDocument/2006/relationships/diagramQuickStyle" Target="../diagrams/quickStyle207.xml"/></Relationships>
</file>

<file path=ppt/slides/_rels/slide207.xml.rels><?xml version="1.0" encoding="UTF-8" standalone="yes"?>
<Relationships xmlns="http://schemas.openxmlformats.org/package/2006/relationships"><Relationship Id="rId3" Type="http://schemas.openxmlformats.org/officeDocument/2006/relationships/diagramLayout" Target="../diagrams/layout208.xml"/><Relationship Id="rId2" Type="http://schemas.openxmlformats.org/officeDocument/2006/relationships/diagramData" Target="../diagrams/data208.xml"/><Relationship Id="rId1" Type="http://schemas.openxmlformats.org/officeDocument/2006/relationships/slideLayout" Target="../slideLayouts/slideLayout2.xml"/><Relationship Id="rId6" Type="http://schemas.microsoft.com/office/2007/relationships/diagramDrawing" Target="../diagrams/drawing208.xml"/><Relationship Id="rId5" Type="http://schemas.openxmlformats.org/officeDocument/2006/relationships/diagramColors" Target="../diagrams/colors208.xml"/><Relationship Id="rId4" Type="http://schemas.openxmlformats.org/officeDocument/2006/relationships/diagramQuickStyle" Target="../diagrams/quickStyle208.xml"/></Relationships>
</file>

<file path=ppt/slides/_rels/slide208.xml.rels><?xml version="1.0" encoding="UTF-8" standalone="yes"?>
<Relationships xmlns="http://schemas.openxmlformats.org/package/2006/relationships"><Relationship Id="rId3" Type="http://schemas.openxmlformats.org/officeDocument/2006/relationships/diagramLayout" Target="../diagrams/layout209.xml"/><Relationship Id="rId2" Type="http://schemas.openxmlformats.org/officeDocument/2006/relationships/diagramData" Target="../diagrams/data209.xml"/><Relationship Id="rId1" Type="http://schemas.openxmlformats.org/officeDocument/2006/relationships/slideLayout" Target="../slideLayouts/slideLayout2.xml"/><Relationship Id="rId6" Type="http://schemas.microsoft.com/office/2007/relationships/diagramDrawing" Target="../diagrams/drawing209.xml"/><Relationship Id="rId5" Type="http://schemas.openxmlformats.org/officeDocument/2006/relationships/diagramColors" Target="../diagrams/colors209.xml"/><Relationship Id="rId4" Type="http://schemas.openxmlformats.org/officeDocument/2006/relationships/diagramQuickStyle" Target="../diagrams/quickStyle209.xml"/></Relationships>
</file>

<file path=ppt/slides/_rels/slide209.xml.rels><?xml version="1.0" encoding="UTF-8" standalone="yes"?>
<Relationships xmlns="http://schemas.openxmlformats.org/package/2006/relationships"><Relationship Id="rId3" Type="http://schemas.openxmlformats.org/officeDocument/2006/relationships/diagramLayout" Target="../diagrams/layout210.xml"/><Relationship Id="rId2" Type="http://schemas.openxmlformats.org/officeDocument/2006/relationships/diagramData" Target="../diagrams/data210.xml"/><Relationship Id="rId1" Type="http://schemas.openxmlformats.org/officeDocument/2006/relationships/slideLayout" Target="../slideLayouts/slideLayout2.xml"/><Relationship Id="rId6" Type="http://schemas.microsoft.com/office/2007/relationships/diagramDrawing" Target="../diagrams/drawing210.xml"/><Relationship Id="rId5" Type="http://schemas.openxmlformats.org/officeDocument/2006/relationships/diagramColors" Target="../diagrams/colors210.xml"/><Relationship Id="rId4" Type="http://schemas.openxmlformats.org/officeDocument/2006/relationships/diagramQuickStyle" Target="../diagrams/quickStyle210.xml"/></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211.xml"/><Relationship Id="rId2" Type="http://schemas.openxmlformats.org/officeDocument/2006/relationships/diagramData" Target="../diagrams/data211.xml"/><Relationship Id="rId1" Type="http://schemas.openxmlformats.org/officeDocument/2006/relationships/slideLayout" Target="../slideLayouts/slideLayout2.xml"/><Relationship Id="rId6" Type="http://schemas.microsoft.com/office/2007/relationships/diagramDrawing" Target="../diagrams/drawing211.xml"/><Relationship Id="rId5" Type="http://schemas.openxmlformats.org/officeDocument/2006/relationships/diagramColors" Target="../diagrams/colors211.xml"/><Relationship Id="rId4" Type="http://schemas.openxmlformats.org/officeDocument/2006/relationships/diagramQuickStyle" Target="../diagrams/quickStyle211.xml"/></Relationships>
</file>

<file path=ppt/slides/_rels/slide211.xml.rels><?xml version="1.0" encoding="UTF-8" standalone="yes"?>
<Relationships xmlns="http://schemas.openxmlformats.org/package/2006/relationships"><Relationship Id="rId3" Type="http://schemas.openxmlformats.org/officeDocument/2006/relationships/diagramLayout" Target="../diagrams/layout212.xml"/><Relationship Id="rId2" Type="http://schemas.openxmlformats.org/officeDocument/2006/relationships/diagramData" Target="../diagrams/data212.xml"/><Relationship Id="rId1" Type="http://schemas.openxmlformats.org/officeDocument/2006/relationships/slideLayout" Target="../slideLayouts/slideLayout2.xml"/><Relationship Id="rId6" Type="http://schemas.microsoft.com/office/2007/relationships/diagramDrawing" Target="../diagrams/drawing212.xml"/><Relationship Id="rId5" Type="http://schemas.openxmlformats.org/officeDocument/2006/relationships/diagramColors" Target="../diagrams/colors212.xml"/><Relationship Id="rId4" Type="http://schemas.openxmlformats.org/officeDocument/2006/relationships/diagramQuickStyle" Target="../diagrams/quickStyle212.xml"/></Relationships>
</file>

<file path=ppt/slides/_rels/slide212.xml.rels><?xml version="1.0" encoding="UTF-8" standalone="yes"?>
<Relationships xmlns="http://schemas.openxmlformats.org/package/2006/relationships"><Relationship Id="rId3" Type="http://schemas.openxmlformats.org/officeDocument/2006/relationships/diagramLayout" Target="../diagrams/layout213.xml"/><Relationship Id="rId2" Type="http://schemas.openxmlformats.org/officeDocument/2006/relationships/diagramData" Target="../diagrams/data213.xml"/><Relationship Id="rId1" Type="http://schemas.openxmlformats.org/officeDocument/2006/relationships/slideLayout" Target="../slideLayouts/slideLayout2.xml"/><Relationship Id="rId6" Type="http://schemas.microsoft.com/office/2007/relationships/diagramDrawing" Target="../diagrams/drawing213.xml"/><Relationship Id="rId5" Type="http://schemas.openxmlformats.org/officeDocument/2006/relationships/diagramColors" Target="../diagrams/colors213.xml"/><Relationship Id="rId4" Type="http://schemas.openxmlformats.org/officeDocument/2006/relationships/diagramQuickStyle" Target="../diagrams/quickStyle213.xml"/></Relationships>
</file>

<file path=ppt/slides/_rels/slide213.xml.rels><?xml version="1.0" encoding="UTF-8" standalone="yes"?>
<Relationships xmlns="http://schemas.openxmlformats.org/package/2006/relationships"><Relationship Id="rId8" Type="http://schemas.openxmlformats.org/officeDocument/2006/relationships/hyperlink" Target="https://docs.openstack.org/2025.2/" TargetMode="External"/><Relationship Id="rId3" Type="http://schemas.openxmlformats.org/officeDocument/2006/relationships/diagramLayout" Target="../diagrams/layout214.xml"/><Relationship Id="rId7" Type="http://schemas.openxmlformats.org/officeDocument/2006/relationships/hyperlink" Target="https://www.amazon.in/Private-Cloud-Computing-Virtualization-Service-Oriented-ebook/dp/B005VNUQ64/ref=sr_1_1?crid=3AMBFGZ4ZCB17&amp;dib=eyJ2IjoiMSJ9.tqcNsz0NnQFdkY8e9CXUVuNRa91jjezPhlqF9lrEBEHgbq6Fk0XNPtwQW9qtgo_UuVg-c0wnITyKfU9w2QGpNg.UUtO1LkszjsbbYe2MAQtmJHMddDGHKMUVryly42czhE&amp;dib_tag=se&amp;keywords=Private+Cloud+Computing%3A+Consolidation%2C+Virtualization%2C+and+Service-Oriented+Infrastructure&amp;nsdOptOutParam=true&amp;qid=1768190831&amp;s=digital-text&amp;sprefix=private+cloud+computing+consolidation%2C+virtualization%2C+and+service-oriented+infrastructure+%2Cdigital-text%2C390&amp;sr=1-1" TargetMode="External"/><Relationship Id="rId2" Type="http://schemas.openxmlformats.org/officeDocument/2006/relationships/diagramData" Target="../diagrams/data214.xml"/><Relationship Id="rId1" Type="http://schemas.openxmlformats.org/officeDocument/2006/relationships/slideLayout" Target="../slideLayouts/slideLayout2.xml"/><Relationship Id="rId6" Type="http://schemas.microsoft.com/office/2007/relationships/diagramDrawing" Target="../diagrams/drawing214.xml"/><Relationship Id="rId11" Type="http://schemas.openxmlformats.org/officeDocument/2006/relationships/hyperlink" Target="https://openqrm-enterprise.com/community-edition/?srsltid=AfmBOoqC-QqssDiC5H1WwQC5P6dDFBUd_IpwW3i7NqgP41q86-DcZUrG" TargetMode="External"/><Relationship Id="rId5" Type="http://schemas.openxmlformats.org/officeDocument/2006/relationships/diagramColors" Target="../diagrams/colors214.xml"/><Relationship Id="rId10" Type="http://schemas.openxmlformats.org/officeDocument/2006/relationships/hyperlink" Target="https://learn.microsoft.com/en-us/azure-stack/" TargetMode="External"/><Relationship Id="rId4" Type="http://schemas.openxmlformats.org/officeDocument/2006/relationships/diagramQuickStyle" Target="../diagrams/quickStyle214.xml"/><Relationship Id="rId9" Type="http://schemas.openxmlformats.org/officeDocument/2006/relationships/hyperlink" Target="https://docs.cloudstack.apache.org/en/4.22.0.0/" TargetMode="External"/></Relationships>
</file>

<file path=ppt/slides/_rels/slide214.xml.rels><?xml version="1.0" encoding="UTF-8" standalone="yes"?>
<Relationships xmlns="http://schemas.openxmlformats.org/package/2006/relationships"><Relationship Id="rId8" Type="http://schemas.openxmlformats.org/officeDocument/2006/relationships/hyperlink" Target="https://github.com/PacktPublishing/Hybrid-Cloud-Security-Patterns" TargetMode="External"/><Relationship Id="rId3" Type="http://schemas.openxmlformats.org/officeDocument/2006/relationships/diagramLayout" Target="../diagrams/layout215.xml"/><Relationship Id="rId7" Type="http://schemas.openxmlformats.org/officeDocument/2006/relationships/hyperlink" Target="https://www.packtpub.com/en-us/product/achieving-digital-transformation-using-hybrid-cloud-9781837633692" TargetMode="External"/><Relationship Id="rId2" Type="http://schemas.openxmlformats.org/officeDocument/2006/relationships/diagramData" Target="../diagrams/data215.xml"/><Relationship Id="rId1" Type="http://schemas.openxmlformats.org/officeDocument/2006/relationships/slideLayout" Target="../slideLayouts/slideLayout2.xml"/><Relationship Id="rId6" Type="http://schemas.microsoft.com/office/2007/relationships/diagramDrawing" Target="../diagrams/drawing215.xml"/><Relationship Id="rId5" Type="http://schemas.openxmlformats.org/officeDocument/2006/relationships/diagramColors" Target="../diagrams/colors215.xml"/><Relationship Id="rId4" Type="http://schemas.openxmlformats.org/officeDocument/2006/relationships/diagramQuickStyle" Target="../diagrams/quickStyle215.xml"/></Relationships>
</file>

<file path=ppt/slides/_rels/slide215.xml.rels><?xml version="1.0" encoding="UTF-8" standalone="yes"?>
<Relationships xmlns="http://schemas.openxmlformats.org/package/2006/relationships"><Relationship Id="rId3" Type="http://schemas.openxmlformats.org/officeDocument/2006/relationships/diagramLayout" Target="../diagrams/layout216.xml"/><Relationship Id="rId2" Type="http://schemas.openxmlformats.org/officeDocument/2006/relationships/diagramData" Target="../diagrams/data216.xml"/><Relationship Id="rId1" Type="http://schemas.openxmlformats.org/officeDocument/2006/relationships/slideLayout" Target="../slideLayouts/slideLayout2.xml"/><Relationship Id="rId6" Type="http://schemas.microsoft.com/office/2007/relationships/diagramDrawing" Target="../diagrams/drawing216.xml"/><Relationship Id="rId5" Type="http://schemas.openxmlformats.org/officeDocument/2006/relationships/diagramColors" Target="../diagrams/colors216.xml"/><Relationship Id="rId4" Type="http://schemas.openxmlformats.org/officeDocument/2006/relationships/diagramQuickStyle" Target="../diagrams/quickStyle216.xml"/></Relationships>
</file>

<file path=ppt/slides/_rels/slide216.xml.rels><?xml version="1.0" encoding="UTF-8" standalone="yes"?>
<Relationships xmlns="http://schemas.openxmlformats.org/package/2006/relationships"><Relationship Id="rId3" Type="http://schemas.openxmlformats.org/officeDocument/2006/relationships/diagramLayout" Target="../diagrams/layout217.xml"/><Relationship Id="rId2" Type="http://schemas.openxmlformats.org/officeDocument/2006/relationships/diagramData" Target="../diagrams/data217.xml"/><Relationship Id="rId1" Type="http://schemas.openxmlformats.org/officeDocument/2006/relationships/slideLayout" Target="../slideLayouts/slideLayout2.xml"/><Relationship Id="rId6" Type="http://schemas.microsoft.com/office/2007/relationships/diagramDrawing" Target="../diagrams/drawing217.xml"/><Relationship Id="rId5" Type="http://schemas.openxmlformats.org/officeDocument/2006/relationships/diagramColors" Target="../diagrams/colors217.xml"/><Relationship Id="rId4" Type="http://schemas.openxmlformats.org/officeDocument/2006/relationships/diagramQuickStyle" Target="../diagrams/quickStyle217.xml"/></Relationships>
</file>

<file path=ppt/slides/_rels/slide217.xml.rels><?xml version="1.0" encoding="UTF-8" standalone="yes"?>
<Relationships xmlns="http://schemas.openxmlformats.org/package/2006/relationships"><Relationship Id="rId3" Type="http://schemas.openxmlformats.org/officeDocument/2006/relationships/diagramLayout" Target="../diagrams/layout218.xml"/><Relationship Id="rId2" Type="http://schemas.openxmlformats.org/officeDocument/2006/relationships/diagramData" Target="../diagrams/data218.xml"/><Relationship Id="rId1" Type="http://schemas.openxmlformats.org/officeDocument/2006/relationships/slideLayout" Target="../slideLayouts/slideLayout2.xml"/><Relationship Id="rId6" Type="http://schemas.microsoft.com/office/2007/relationships/diagramDrawing" Target="../diagrams/drawing218.xml"/><Relationship Id="rId5" Type="http://schemas.openxmlformats.org/officeDocument/2006/relationships/diagramColors" Target="../diagrams/colors218.xml"/><Relationship Id="rId4" Type="http://schemas.openxmlformats.org/officeDocument/2006/relationships/diagramQuickStyle" Target="../diagrams/quickStyle218.xml"/></Relationships>
</file>

<file path=ppt/slides/_rels/slide218.xml.rels><?xml version="1.0" encoding="UTF-8" standalone="yes"?>
<Relationships xmlns="http://schemas.openxmlformats.org/package/2006/relationships"><Relationship Id="rId3" Type="http://schemas.openxmlformats.org/officeDocument/2006/relationships/diagramLayout" Target="../diagrams/layout219.xml"/><Relationship Id="rId2" Type="http://schemas.openxmlformats.org/officeDocument/2006/relationships/diagramData" Target="../diagrams/data219.xml"/><Relationship Id="rId1" Type="http://schemas.openxmlformats.org/officeDocument/2006/relationships/slideLayout" Target="../slideLayouts/slideLayout2.xml"/><Relationship Id="rId6" Type="http://schemas.microsoft.com/office/2007/relationships/diagramDrawing" Target="../diagrams/drawing219.xml"/><Relationship Id="rId5" Type="http://schemas.openxmlformats.org/officeDocument/2006/relationships/diagramColors" Target="../diagrams/colors219.xml"/><Relationship Id="rId4" Type="http://schemas.openxmlformats.org/officeDocument/2006/relationships/diagramQuickStyle" Target="../diagrams/quickStyle219.xml"/></Relationships>
</file>

<file path=ppt/slides/_rels/slide219.xml.rels><?xml version="1.0" encoding="UTF-8" standalone="yes"?>
<Relationships xmlns="http://schemas.openxmlformats.org/package/2006/relationships"><Relationship Id="rId8" Type="http://schemas.openxmlformats.org/officeDocument/2006/relationships/hyperlink" Target="https://www.simform.com/blog/multi-cloud-management/" TargetMode="External"/><Relationship Id="rId13" Type="http://schemas.openxmlformats.org/officeDocument/2006/relationships/hyperlink" Target="https://content.akka.io/guide/principles-and-patterns-for-distributed-application-architecture" TargetMode="External"/><Relationship Id="rId3" Type="http://schemas.openxmlformats.org/officeDocument/2006/relationships/diagramLayout" Target="../diagrams/layout220.xml"/><Relationship Id="rId7" Type="http://schemas.openxmlformats.org/officeDocument/2006/relationships/hyperlink" Target="https://www.esparkinfo.com/blog/multi-cloud-architecture.html" TargetMode="External"/><Relationship Id="rId12" Type="http://schemas.openxmlformats.org/officeDocument/2006/relationships/hyperlink" Target="https://www.packtpub.com/en-in/product/enterprise-grade-hybrid-and-multi-cloud-strategies-9781804615119" TargetMode="External"/><Relationship Id="rId2" Type="http://schemas.openxmlformats.org/officeDocument/2006/relationships/diagramData" Target="../diagrams/data220.xml"/><Relationship Id="rId1" Type="http://schemas.openxmlformats.org/officeDocument/2006/relationships/slideLayout" Target="../slideLayouts/slideLayout2.xml"/><Relationship Id="rId6" Type="http://schemas.microsoft.com/office/2007/relationships/diagramDrawing" Target="../diagrams/drawing220.xml"/><Relationship Id="rId11" Type="http://schemas.openxmlformats.org/officeDocument/2006/relationships/hyperlink" Target="https://github.com/PacktPublishing/Multi-Cloud-Strategy-for-Cloud-Architects" TargetMode="External"/><Relationship Id="rId5" Type="http://schemas.openxmlformats.org/officeDocument/2006/relationships/diagramColors" Target="../diagrams/colors220.xml"/><Relationship Id="rId10" Type="http://schemas.openxmlformats.org/officeDocument/2006/relationships/hyperlink" Target="https://github.com/PacktPublishing/Multi-Cloud-Handbook-for-Developers" TargetMode="External"/><Relationship Id="rId4" Type="http://schemas.openxmlformats.org/officeDocument/2006/relationships/diagramQuickStyle" Target="../diagrams/quickStyle220.xml"/><Relationship Id="rId9" Type="http://schemas.openxmlformats.org/officeDocument/2006/relationships/hyperlink" Target="https://cloud.google.com/architecture/hybrid-multicloud-patterns-and-practices/one-page-view" TargetMode="External"/></Relationships>
</file>

<file path=ppt/slides/_rels/slide220.xml.rels><?xml version="1.0" encoding="UTF-8" standalone="yes"?>
<Relationships xmlns="http://schemas.openxmlformats.org/package/2006/relationships"><Relationship Id="rId3" Type="http://schemas.openxmlformats.org/officeDocument/2006/relationships/diagramLayout" Target="../diagrams/layout221.xml"/><Relationship Id="rId2" Type="http://schemas.openxmlformats.org/officeDocument/2006/relationships/diagramData" Target="../diagrams/data221.xml"/><Relationship Id="rId1" Type="http://schemas.openxmlformats.org/officeDocument/2006/relationships/slideLayout" Target="../slideLayouts/slideLayout2.xml"/><Relationship Id="rId6" Type="http://schemas.microsoft.com/office/2007/relationships/diagramDrawing" Target="../diagrams/drawing221.xml"/><Relationship Id="rId5" Type="http://schemas.openxmlformats.org/officeDocument/2006/relationships/diagramColors" Target="../diagrams/colors221.xml"/><Relationship Id="rId4" Type="http://schemas.openxmlformats.org/officeDocument/2006/relationships/diagramQuickStyle" Target="../diagrams/quickStyle221.xml"/></Relationships>
</file>

<file path=ppt/slides/_rels/slide221.xml.rels><?xml version="1.0" encoding="UTF-8" standalone="yes"?>
<Relationships xmlns="http://schemas.openxmlformats.org/package/2006/relationships"><Relationship Id="rId3" Type="http://schemas.openxmlformats.org/officeDocument/2006/relationships/diagramLayout" Target="../diagrams/layout222.xml"/><Relationship Id="rId2" Type="http://schemas.openxmlformats.org/officeDocument/2006/relationships/diagramData" Target="../diagrams/data222.xml"/><Relationship Id="rId1" Type="http://schemas.openxmlformats.org/officeDocument/2006/relationships/slideLayout" Target="../slideLayouts/slideLayout2.xml"/><Relationship Id="rId6" Type="http://schemas.microsoft.com/office/2007/relationships/diagramDrawing" Target="../diagrams/drawing222.xml"/><Relationship Id="rId5" Type="http://schemas.openxmlformats.org/officeDocument/2006/relationships/diagramColors" Target="../diagrams/colors222.xml"/><Relationship Id="rId4" Type="http://schemas.openxmlformats.org/officeDocument/2006/relationships/diagramQuickStyle" Target="../diagrams/quickStyle222.xml"/></Relationships>
</file>

<file path=ppt/slides/_rels/slide222.xml.rels><?xml version="1.0" encoding="UTF-8" standalone="yes"?>
<Relationships xmlns="http://schemas.openxmlformats.org/package/2006/relationships"><Relationship Id="rId3" Type="http://schemas.openxmlformats.org/officeDocument/2006/relationships/diagramLayout" Target="../diagrams/layout223.xml"/><Relationship Id="rId2" Type="http://schemas.openxmlformats.org/officeDocument/2006/relationships/diagramData" Target="../diagrams/data223.xml"/><Relationship Id="rId1" Type="http://schemas.openxmlformats.org/officeDocument/2006/relationships/slideLayout" Target="../slideLayouts/slideLayout2.xml"/><Relationship Id="rId6" Type="http://schemas.microsoft.com/office/2007/relationships/diagramDrawing" Target="../diagrams/drawing223.xml"/><Relationship Id="rId5" Type="http://schemas.openxmlformats.org/officeDocument/2006/relationships/diagramColors" Target="../diagrams/colors223.xml"/><Relationship Id="rId4" Type="http://schemas.openxmlformats.org/officeDocument/2006/relationships/diagramQuickStyle" Target="../diagrams/quickStyle223.xml"/></Relationships>
</file>

<file path=ppt/slides/_rels/slide223.xml.rels><?xml version="1.0" encoding="UTF-8" standalone="yes"?>
<Relationships xmlns="http://schemas.openxmlformats.org/package/2006/relationships"><Relationship Id="rId3" Type="http://schemas.openxmlformats.org/officeDocument/2006/relationships/diagramLayout" Target="../diagrams/layout224.xml"/><Relationship Id="rId2" Type="http://schemas.openxmlformats.org/officeDocument/2006/relationships/diagramData" Target="../diagrams/data224.xml"/><Relationship Id="rId1" Type="http://schemas.openxmlformats.org/officeDocument/2006/relationships/slideLayout" Target="../slideLayouts/slideLayout2.xml"/><Relationship Id="rId6" Type="http://schemas.microsoft.com/office/2007/relationships/diagramDrawing" Target="../diagrams/drawing224.xml"/><Relationship Id="rId5" Type="http://schemas.openxmlformats.org/officeDocument/2006/relationships/diagramColors" Target="../diagrams/colors224.xml"/><Relationship Id="rId4" Type="http://schemas.openxmlformats.org/officeDocument/2006/relationships/diagramQuickStyle" Target="../diagrams/quickStyle224.xml"/></Relationships>
</file>

<file path=ppt/slides/_rels/slide224.xml.rels><?xml version="1.0" encoding="UTF-8" standalone="yes"?>
<Relationships xmlns="http://schemas.openxmlformats.org/package/2006/relationships"><Relationship Id="rId3" Type="http://schemas.openxmlformats.org/officeDocument/2006/relationships/diagramLayout" Target="../diagrams/layout225.xml"/><Relationship Id="rId2" Type="http://schemas.openxmlformats.org/officeDocument/2006/relationships/diagramData" Target="../diagrams/data225.xml"/><Relationship Id="rId1" Type="http://schemas.openxmlformats.org/officeDocument/2006/relationships/slideLayout" Target="../slideLayouts/slideLayout2.xml"/><Relationship Id="rId6" Type="http://schemas.microsoft.com/office/2007/relationships/diagramDrawing" Target="../diagrams/drawing225.xml"/><Relationship Id="rId5" Type="http://schemas.openxmlformats.org/officeDocument/2006/relationships/diagramColors" Target="../diagrams/colors225.xml"/><Relationship Id="rId4" Type="http://schemas.openxmlformats.org/officeDocument/2006/relationships/diagramQuickStyle" Target="../diagrams/quickStyle225.xml"/></Relationships>
</file>

<file path=ppt/slides/_rels/slide225.xml.rels><?xml version="1.0" encoding="UTF-8" standalone="yes"?>
<Relationships xmlns="http://schemas.openxmlformats.org/package/2006/relationships"><Relationship Id="rId8" Type="http://schemas.openxmlformats.org/officeDocument/2006/relationships/hyperlink" Target="https://learn.microsoft.com/en-us/training/educator-center/instructor-materials/datacenter-academy/introduction-to-datacenter" TargetMode="External"/><Relationship Id="rId3" Type="http://schemas.openxmlformats.org/officeDocument/2006/relationships/diagramLayout" Target="../diagrams/layout226.xml"/><Relationship Id="rId7" Type="http://schemas.openxmlformats.org/officeDocument/2006/relationships/hyperlink" Target="https://www.databank.com/resources/blogs/data-centers-101-a-beginners-guide-to-understanding-core-concepts/" TargetMode="External"/><Relationship Id="rId2" Type="http://schemas.openxmlformats.org/officeDocument/2006/relationships/diagramData" Target="../diagrams/data226.xml"/><Relationship Id="rId1" Type="http://schemas.openxmlformats.org/officeDocument/2006/relationships/slideLayout" Target="../slideLayouts/slideLayout2.xml"/><Relationship Id="rId6" Type="http://schemas.microsoft.com/office/2007/relationships/diagramDrawing" Target="../diagrams/drawing226.xml"/><Relationship Id="rId5" Type="http://schemas.openxmlformats.org/officeDocument/2006/relationships/diagramColors" Target="../diagrams/colors226.xml"/><Relationship Id="rId10" Type="http://schemas.openxmlformats.org/officeDocument/2006/relationships/hyperlink" Target="https://www.ashrae.org/technical-resources/bookstore/datacom-series" TargetMode="External"/><Relationship Id="rId4" Type="http://schemas.openxmlformats.org/officeDocument/2006/relationships/diagramQuickStyle" Target="../diagrams/quickStyle226.xml"/><Relationship Id="rId9" Type="http://schemas.openxmlformats.org/officeDocument/2006/relationships/hyperlink" Target="https://www.cisco.com/c/en/us/solutions/design-zone/data-center-design-guides/data-center-design-guides-all.html" TargetMode="External"/></Relationships>
</file>

<file path=ppt/slides/_rels/slide226.xml.rels><?xml version="1.0" encoding="UTF-8" standalone="yes"?>
<Relationships xmlns="http://schemas.openxmlformats.org/package/2006/relationships"><Relationship Id="rId8" Type="http://schemas.openxmlformats.org/officeDocument/2006/relationships/hyperlink" Target="https://www.veritis.com/blog/aws-vs-azure-vs-gcp-the-cloud-platform-of-your-choice/" TargetMode="External"/><Relationship Id="rId13" Type="http://schemas.openxmlformats.org/officeDocument/2006/relationships/hyperlink" Target="https://www.amazon.in/gp/product/032194318X" TargetMode="External"/><Relationship Id="rId3" Type="http://schemas.openxmlformats.org/officeDocument/2006/relationships/diagramLayout" Target="../diagrams/layout227.xml"/><Relationship Id="rId7" Type="http://schemas.openxmlformats.org/officeDocument/2006/relationships/hyperlink" Target="https://comparecloud.in/" TargetMode="External"/><Relationship Id="rId12" Type="http://schemas.openxmlformats.org/officeDocument/2006/relationships/hyperlink" Target="https://query.prod.cms.rt.microsoft.com/cms/api/am/binary/RE2PjDI" TargetMode="External"/><Relationship Id="rId2" Type="http://schemas.openxmlformats.org/officeDocument/2006/relationships/diagramData" Target="../diagrams/data227.xml"/><Relationship Id="rId1" Type="http://schemas.openxmlformats.org/officeDocument/2006/relationships/slideLayout" Target="../slideLayouts/slideLayout2.xml"/><Relationship Id="rId6" Type="http://schemas.microsoft.com/office/2007/relationships/diagramDrawing" Target="../diagrams/drawing227.xml"/><Relationship Id="rId11" Type="http://schemas.openxmlformats.org/officeDocument/2006/relationships/hyperlink" Target="https://analogiescloud.com/" TargetMode="External"/><Relationship Id="rId5" Type="http://schemas.openxmlformats.org/officeDocument/2006/relationships/diagramColors" Target="../diagrams/colors227.xml"/><Relationship Id="rId10" Type="http://schemas.openxmlformats.org/officeDocument/2006/relationships/hyperlink" Target="https://learn.microsoft.com/en-us/azure/architecture/guide/" TargetMode="External"/><Relationship Id="rId4" Type="http://schemas.openxmlformats.org/officeDocument/2006/relationships/diagramQuickStyle" Target="../diagrams/quickStyle227.xml"/><Relationship Id="rId9" Type="http://schemas.openxmlformats.org/officeDocument/2006/relationships/hyperlink" Target="https://roadmap.sh/aws" TargetMode="External"/></Relationships>
</file>

<file path=ppt/slides/_rels/slide227.xml.rels><?xml version="1.0" encoding="UTF-8" standalone="yes"?>
<Relationships xmlns="http://schemas.openxmlformats.org/package/2006/relationships"><Relationship Id="rId3" Type="http://schemas.openxmlformats.org/officeDocument/2006/relationships/diagramLayout" Target="../diagrams/layout228.xml"/><Relationship Id="rId7" Type="http://schemas.openxmlformats.org/officeDocument/2006/relationships/image" Target="../media/image81.gif"/><Relationship Id="rId2" Type="http://schemas.openxmlformats.org/officeDocument/2006/relationships/diagramData" Target="../diagrams/data228.xml"/><Relationship Id="rId1" Type="http://schemas.openxmlformats.org/officeDocument/2006/relationships/slideLayout" Target="../slideLayouts/slideLayout2.xml"/><Relationship Id="rId6" Type="http://schemas.microsoft.com/office/2007/relationships/diagramDrawing" Target="../diagrams/drawing228.xml"/><Relationship Id="rId5" Type="http://schemas.openxmlformats.org/officeDocument/2006/relationships/diagramColors" Target="../diagrams/colors228.xml"/><Relationship Id="rId4" Type="http://schemas.openxmlformats.org/officeDocument/2006/relationships/diagramQuickStyle" Target="../diagrams/quickStyle228.xml"/></Relationships>
</file>

<file path=ppt/slides/_rels/slide228.xml.rels><?xml version="1.0" encoding="UTF-8" standalone="yes"?>
<Relationships xmlns="http://schemas.openxmlformats.org/package/2006/relationships"><Relationship Id="rId3" Type="http://schemas.openxmlformats.org/officeDocument/2006/relationships/diagramLayout" Target="../diagrams/layout229.xml"/><Relationship Id="rId2" Type="http://schemas.openxmlformats.org/officeDocument/2006/relationships/diagramData" Target="../diagrams/data229.xml"/><Relationship Id="rId1" Type="http://schemas.openxmlformats.org/officeDocument/2006/relationships/slideLayout" Target="../slideLayouts/slideLayout2.xml"/><Relationship Id="rId6" Type="http://schemas.microsoft.com/office/2007/relationships/diagramDrawing" Target="../diagrams/drawing229.xml"/><Relationship Id="rId5" Type="http://schemas.openxmlformats.org/officeDocument/2006/relationships/diagramColors" Target="../diagrams/colors229.xml"/><Relationship Id="rId4" Type="http://schemas.openxmlformats.org/officeDocument/2006/relationships/diagramQuickStyle" Target="../diagrams/quickStyle229.xml"/></Relationships>
</file>

<file path=ppt/slides/_rels/slide229.xml.rels><?xml version="1.0" encoding="UTF-8" standalone="yes"?>
<Relationships xmlns="http://schemas.openxmlformats.org/package/2006/relationships"><Relationship Id="rId3" Type="http://schemas.openxmlformats.org/officeDocument/2006/relationships/diagramLayout" Target="../diagrams/layout230.xml"/><Relationship Id="rId7" Type="http://schemas.openxmlformats.org/officeDocument/2006/relationships/image" Target="../media/image82.png"/><Relationship Id="rId2" Type="http://schemas.openxmlformats.org/officeDocument/2006/relationships/diagramData" Target="../diagrams/data230.xml"/><Relationship Id="rId1" Type="http://schemas.openxmlformats.org/officeDocument/2006/relationships/slideLayout" Target="../slideLayouts/slideLayout2.xml"/><Relationship Id="rId6" Type="http://schemas.microsoft.com/office/2007/relationships/diagramDrawing" Target="../diagrams/drawing230.xml"/><Relationship Id="rId5" Type="http://schemas.openxmlformats.org/officeDocument/2006/relationships/diagramColors" Target="../diagrams/colors230.xml"/><Relationship Id="rId4" Type="http://schemas.openxmlformats.org/officeDocument/2006/relationships/diagramQuickStyle" Target="../diagrams/quickStyle230.xml"/></Relationships>
</file>

<file path=ppt/slides/_rels/slide230.xml.rels><?xml version="1.0" encoding="UTF-8" standalone="yes"?>
<Relationships xmlns="http://schemas.openxmlformats.org/package/2006/relationships"><Relationship Id="rId3" Type="http://schemas.openxmlformats.org/officeDocument/2006/relationships/diagramLayout" Target="../diagrams/layout231.xml"/><Relationship Id="rId2" Type="http://schemas.openxmlformats.org/officeDocument/2006/relationships/diagramData" Target="../diagrams/data231.xml"/><Relationship Id="rId1" Type="http://schemas.openxmlformats.org/officeDocument/2006/relationships/slideLayout" Target="../slideLayouts/slideLayout2.xml"/><Relationship Id="rId6" Type="http://schemas.microsoft.com/office/2007/relationships/diagramDrawing" Target="../diagrams/drawing231.xml"/><Relationship Id="rId5" Type="http://schemas.openxmlformats.org/officeDocument/2006/relationships/diagramColors" Target="../diagrams/colors231.xml"/><Relationship Id="rId4" Type="http://schemas.openxmlformats.org/officeDocument/2006/relationships/diagramQuickStyle" Target="../diagrams/quickStyle231.xml"/></Relationships>
</file>

<file path=ppt/slides/_rels/slide231.xml.rels><?xml version="1.0" encoding="UTF-8" standalone="yes"?>
<Relationships xmlns="http://schemas.openxmlformats.org/package/2006/relationships"><Relationship Id="rId3" Type="http://schemas.openxmlformats.org/officeDocument/2006/relationships/diagramLayout" Target="../diagrams/layout232.xml"/><Relationship Id="rId2" Type="http://schemas.openxmlformats.org/officeDocument/2006/relationships/diagramData" Target="../diagrams/data232.xml"/><Relationship Id="rId1" Type="http://schemas.openxmlformats.org/officeDocument/2006/relationships/slideLayout" Target="../slideLayouts/slideLayout2.xml"/><Relationship Id="rId6" Type="http://schemas.microsoft.com/office/2007/relationships/diagramDrawing" Target="../diagrams/drawing232.xml"/><Relationship Id="rId5" Type="http://schemas.openxmlformats.org/officeDocument/2006/relationships/diagramColors" Target="../diagrams/colors232.xml"/><Relationship Id="rId4" Type="http://schemas.openxmlformats.org/officeDocument/2006/relationships/diagramQuickStyle" Target="../diagrams/quickStyle232.xml"/></Relationships>
</file>

<file path=ppt/slides/_rels/slide232.xml.rels><?xml version="1.0" encoding="UTF-8" standalone="yes"?>
<Relationships xmlns="http://schemas.openxmlformats.org/package/2006/relationships"><Relationship Id="rId8" Type="http://schemas.openxmlformats.org/officeDocument/2006/relationships/hyperlink" Target="https://backstage.spotify.com/discover/backstage-101/" TargetMode="External"/><Relationship Id="rId13" Type="http://schemas.openxmlformats.org/officeDocument/2006/relationships/hyperlink" Target="https://github.com/salaboy/platforms-on-k8s" TargetMode="External"/><Relationship Id="rId3" Type="http://schemas.openxmlformats.org/officeDocument/2006/relationships/diagramLayout" Target="../diagrams/layout233.xml"/><Relationship Id="rId7" Type="http://schemas.openxmlformats.org/officeDocument/2006/relationships/hyperlink" Target="https://pronovix.com/blog/components-developer-portal" TargetMode="External"/><Relationship Id="rId12" Type="http://schemas.openxmlformats.org/officeDocument/2006/relationships/hyperlink" Target="https://www.packtpub.com/en-in/product/the-platform-engineering-playbook-9781837632695?srsltid=AfmBOoq0lB41293CSpZKEhz3XQhReu8vN_xVRXlUDoDFtVI9A4Q5L3PO" TargetMode="External"/><Relationship Id="rId2" Type="http://schemas.openxmlformats.org/officeDocument/2006/relationships/diagramData" Target="../diagrams/data233.xml"/><Relationship Id="rId1" Type="http://schemas.openxmlformats.org/officeDocument/2006/relationships/slideLayout" Target="../slideLayouts/slideLayout2.xml"/><Relationship Id="rId6" Type="http://schemas.microsoft.com/office/2007/relationships/diagramDrawing" Target="../diagrams/drawing233.xml"/><Relationship Id="rId11" Type="http://schemas.openxmlformats.org/officeDocument/2006/relationships/hyperlink" Target="https://www.packtpub.com/en-in/product/mastering-enterprise-platform-engineering-9781835880494" TargetMode="External"/><Relationship Id="rId5" Type="http://schemas.openxmlformats.org/officeDocument/2006/relationships/diagramColors" Target="../diagrams/colors233.xml"/><Relationship Id="rId10" Type="http://schemas.openxmlformats.org/officeDocument/2006/relationships/hyperlink" Target="https://github.com/PacktPublishing/Platform-Engineer-s-Handbook" TargetMode="External"/><Relationship Id="rId4" Type="http://schemas.openxmlformats.org/officeDocument/2006/relationships/diagramQuickStyle" Target="../diagrams/quickStyle233.xml"/><Relationship Id="rId9" Type="http://schemas.openxmlformats.org/officeDocument/2006/relationships/hyperlink" Target="https://github.com/PacktPublishing/Platform-Engineering-for-Architects" TargetMode="External"/></Relationships>
</file>

<file path=ppt/slides/_rels/slide233.xml.rels><?xml version="1.0" encoding="UTF-8" standalone="yes"?>
<Relationships xmlns="http://schemas.openxmlformats.org/package/2006/relationships"><Relationship Id="rId3" Type="http://schemas.openxmlformats.org/officeDocument/2006/relationships/diagramLayout" Target="../diagrams/layout234.xml"/><Relationship Id="rId2" Type="http://schemas.openxmlformats.org/officeDocument/2006/relationships/diagramData" Target="../diagrams/data234.xml"/><Relationship Id="rId1" Type="http://schemas.openxmlformats.org/officeDocument/2006/relationships/slideLayout" Target="../slideLayouts/slideLayout2.xml"/><Relationship Id="rId6" Type="http://schemas.microsoft.com/office/2007/relationships/diagramDrawing" Target="../diagrams/drawing234.xml"/><Relationship Id="rId5" Type="http://schemas.openxmlformats.org/officeDocument/2006/relationships/diagramColors" Target="../diagrams/colors234.xml"/><Relationship Id="rId4" Type="http://schemas.openxmlformats.org/officeDocument/2006/relationships/diagramQuickStyle" Target="../diagrams/quickStyle234.xml"/></Relationships>
</file>

<file path=ppt/slides/_rels/slide234.xml.rels><?xml version="1.0" encoding="UTF-8" standalone="yes"?>
<Relationships xmlns="http://schemas.openxmlformats.org/package/2006/relationships"><Relationship Id="rId3" Type="http://schemas.openxmlformats.org/officeDocument/2006/relationships/diagramLayout" Target="../diagrams/layout235.xml"/><Relationship Id="rId2" Type="http://schemas.openxmlformats.org/officeDocument/2006/relationships/diagramData" Target="../diagrams/data235.xml"/><Relationship Id="rId1" Type="http://schemas.openxmlformats.org/officeDocument/2006/relationships/slideLayout" Target="../slideLayouts/slideLayout2.xml"/><Relationship Id="rId6" Type="http://schemas.microsoft.com/office/2007/relationships/diagramDrawing" Target="../diagrams/drawing235.xml"/><Relationship Id="rId5" Type="http://schemas.openxmlformats.org/officeDocument/2006/relationships/diagramColors" Target="../diagrams/colors235.xml"/><Relationship Id="rId4" Type="http://schemas.openxmlformats.org/officeDocument/2006/relationships/diagramQuickStyle" Target="../diagrams/quickStyle235.xml"/></Relationships>
</file>

<file path=ppt/slides/_rels/slide235.xml.rels><?xml version="1.0" encoding="UTF-8" standalone="yes"?>
<Relationships xmlns="http://schemas.openxmlformats.org/package/2006/relationships"><Relationship Id="rId3" Type="http://schemas.openxmlformats.org/officeDocument/2006/relationships/diagramLayout" Target="../diagrams/layout236.xml"/><Relationship Id="rId2" Type="http://schemas.openxmlformats.org/officeDocument/2006/relationships/diagramData" Target="../diagrams/data236.xml"/><Relationship Id="rId1" Type="http://schemas.openxmlformats.org/officeDocument/2006/relationships/slideLayout" Target="../slideLayouts/slideLayout2.xml"/><Relationship Id="rId6" Type="http://schemas.microsoft.com/office/2007/relationships/diagramDrawing" Target="../diagrams/drawing236.xml"/><Relationship Id="rId5" Type="http://schemas.openxmlformats.org/officeDocument/2006/relationships/diagramColors" Target="../diagrams/colors236.xml"/><Relationship Id="rId4" Type="http://schemas.openxmlformats.org/officeDocument/2006/relationships/diagramQuickStyle" Target="../diagrams/quickStyle236.xml"/></Relationships>
</file>

<file path=ppt/slides/_rels/slide236.xml.rels><?xml version="1.0" encoding="UTF-8" standalone="yes"?>
<Relationships xmlns="http://schemas.openxmlformats.org/package/2006/relationships"><Relationship Id="rId3" Type="http://schemas.openxmlformats.org/officeDocument/2006/relationships/diagramLayout" Target="../diagrams/layout237.xml"/><Relationship Id="rId2" Type="http://schemas.openxmlformats.org/officeDocument/2006/relationships/diagramData" Target="../diagrams/data237.xml"/><Relationship Id="rId1" Type="http://schemas.openxmlformats.org/officeDocument/2006/relationships/slideLayout" Target="../slideLayouts/slideLayout2.xml"/><Relationship Id="rId6" Type="http://schemas.microsoft.com/office/2007/relationships/diagramDrawing" Target="../diagrams/drawing237.xml"/><Relationship Id="rId5" Type="http://schemas.openxmlformats.org/officeDocument/2006/relationships/diagramColors" Target="../diagrams/colors237.xml"/><Relationship Id="rId4" Type="http://schemas.openxmlformats.org/officeDocument/2006/relationships/diagramQuickStyle" Target="../diagrams/quickStyle237.xml"/></Relationships>
</file>

<file path=ppt/slides/_rels/slide237.xml.rels><?xml version="1.0" encoding="UTF-8" standalone="yes"?>
<Relationships xmlns="http://schemas.openxmlformats.org/package/2006/relationships"><Relationship Id="rId3" Type="http://schemas.openxmlformats.org/officeDocument/2006/relationships/diagramLayout" Target="../diagrams/layout238.xml"/><Relationship Id="rId2" Type="http://schemas.openxmlformats.org/officeDocument/2006/relationships/diagramData" Target="../diagrams/data238.xml"/><Relationship Id="rId1" Type="http://schemas.openxmlformats.org/officeDocument/2006/relationships/slideLayout" Target="../slideLayouts/slideLayout2.xml"/><Relationship Id="rId6" Type="http://schemas.microsoft.com/office/2007/relationships/diagramDrawing" Target="../diagrams/drawing238.xml"/><Relationship Id="rId5" Type="http://schemas.openxmlformats.org/officeDocument/2006/relationships/diagramColors" Target="../diagrams/colors238.xml"/><Relationship Id="rId4" Type="http://schemas.openxmlformats.org/officeDocument/2006/relationships/diagramQuickStyle" Target="../diagrams/quickStyle238.xml"/></Relationships>
</file>

<file path=ppt/slides/_rels/slide238.xml.rels><?xml version="1.0" encoding="UTF-8" standalone="yes"?>
<Relationships xmlns="http://schemas.openxmlformats.org/package/2006/relationships"><Relationship Id="rId3" Type="http://schemas.openxmlformats.org/officeDocument/2006/relationships/diagramLayout" Target="../diagrams/layout239.xml"/><Relationship Id="rId2" Type="http://schemas.openxmlformats.org/officeDocument/2006/relationships/diagramData" Target="../diagrams/data239.xml"/><Relationship Id="rId1" Type="http://schemas.openxmlformats.org/officeDocument/2006/relationships/slideLayout" Target="../slideLayouts/slideLayout2.xml"/><Relationship Id="rId6" Type="http://schemas.microsoft.com/office/2007/relationships/diagramDrawing" Target="../diagrams/drawing239.xml"/><Relationship Id="rId5" Type="http://schemas.openxmlformats.org/officeDocument/2006/relationships/diagramColors" Target="../diagrams/colors239.xml"/><Relationship Id="rId4" Type="http://schemas.openxmlformats.org/officeDocument/2006/relationships/diagramQuickStyle" Target="../diagrams/quickStyle239.xml"/></Relationships>
</file>

<file path=ppt/slides/_rels/slide239.xml.rels><?xml version="1.0" encoding="UTF-8" standalone="yes"?>
<Relationships xmlns="http://schemas.openxmlformats.org/package/2006/relationships"><Relationship Id="rId3" Type="http://schemas.openxmlformats.org/officeDocument/2006/relationships/diagramLayout" Target="../diagrams/layout240.xml"/><Relationship Id="rId2" Type="http://schemas.openxmlformats.org/officeDocument/2006/relationships/diagramData" Target="../diagrams/data240.xml"/><Relationship Id="rId1" Type="http://schemas.openxmlformats.org/officeDocument/2006/relationships/slideLayout" Target="../slideLayouts/slideLayout2.xml"/><Relationship Id="rId6" Type="http://schemas.microsoft.com/office/2007/relationships/diagramDrawing" Target="../diagrams/drawing240.xml"/><Relationship Id="rId5" Type="http://schemas.openxmlformats.org/officeDocument/2006/relationships/diagramColors" Target="../diagrams/colors240.xml"/><Relationship Id="rId4" Type="http://schemas.openxmlformats.org/officeDocument/2006/relationships/diagramQuickStyle" Target="../diagrams/quickStyle240.xml"/></Relationships>
</file>

<file path=ppt/slides/_rels/slide240.xml.rels><?xml version="1.0" encoding="UTF-8" standalone="yes"?>
<Relationships xmlns="http://schemas.openxmlformats.org/package/2006/relationships"><Relationship Id="rId3" Type="http://schemas.openxmlformats.org/officeDocument/2006/relationships/diagramLayout" Target="../diagrams/layout241.xml"/><Relationship Id="rId2" Type="http://schemas.openxmlformats.org/officeDocument/2006/relationships/diagramData" Target="../diagrams/data241.xml"/><Relationship Id="rId1" Type="http://schemas.openxmlformats.org/officeDocument/2006/relationships/slideLayout" Target="../slideLayouts/slideLayout2.xml"/><Relationship Id="rId6" Type="http://schemas.microsoft.com/office/2007/relationships/diagramDrawing" Target="../diagrams/drawing241.xml"/><Relationship Id="rId5" Type="http://schemas.openxmlformats.org/officeDocument/2006/relationships/diagramColors" Target="../diagrams/colors241.xml"/><Relationship Id="rId4" Type="http://schemas.openxmlformats.org/officeDocument/2006/relationships/diagramQuickStyle" Target="../diagrams/quickStyle241.xml"/></Relationships>
</file>

<file path=ppt/slides/_rels/slide241.xml.rels><?xml version="1.0" encoding="UTF-8" standalone="yes"?>
<Relationships xmlns="http://schemas.openxmlformats.org/package/2006/relationships"><Relationship Id="rId3" Type="http://schemas.openxmlformats.org/officeDocument/2006/relationships/diagramLayout" Target="../diagrams/layout242.xml"/><Relationship Id="rId2" Type="http://schemas.openxmlformats.org/officeDocument/2006/relationships/diagramData" Target="../diagrams/data242.xml"/><Relationship Id="rId1" Type="http://schemas.openxmlformats.org/officeDocument/2006/relationships/slideLayout" Target="../slideLayouts/slideLayout2.xml"/><Relationship Id="rId6" Type="http://schemas.microsoft.com/office/2007/relationships/diagramDrawing" Target="../diagrams/drawing242.xml"/><Relationship Id="rId5" Type="http://schemas.openxmlformats.org/officeDocument/2006/relationships/diagramColors" Target="../diagrams/colors242.xml"/><Relationship Id="rId4" Type="http://schemas.openxmlformats.org/officeDocument/2006/relationships/diagramQuickStyle" Target="../diagrams/quickStyle242.xml"/></Relationships>
</file>

<file path=ppt/slides/_rels/slide242.xml.rels><?xml version="1.0" encoding="UTF-8" standalone="yes"?>
<Relationships xmlns="http://schemas.openxmlformats.org/package/2006/relationships"><Relationship Id="rId3" Type="http://schemas.openxmlformats.org/officeDocument/2006/relationships/diagramLayout" Target="../diagrams/layout243.xml"/><Relationship Id="rId2" Type="http://schemas.openxmlformats.org/officeDocument/2006/relationships/diagramData" Target="../diagrams/data243.xml"/><Relationship Id="rId1" Type="http://schemas.openxmlformats.org/officeDocument/2006/relationships/slideLayout" Target="../slideLayouts/slideLayout2.xml"/><Relationship Id="rId6" Type="http://schemas.microsoft.com/office/2007/relationships/diagramDrawing" Target="../diagrams/drawing243.xml"/><Relationship Id="rId5" Type="http://schemas.openxmlformats.org/officeDocument/2006/relationships/diagramColors" Target="../diagrams/colors243.xml"/><Relationship Id="rId4" Type="http://schemas.openxmlformats.org/officeDocument/2006/relationships/diagramQuickStyle" Target="../diagrams/quickStyle243.xml"/></Relationships>
</file>

<file path=ppt/slides/_rels/slide243.xml.rels><?xml version="1.0" encoding="UTF-8" standalone="yes"?>
<Relationships xmlns="http://schemas.openxmlformats.org/package/2006/relationships"><Relationship Id="rId3" Type="http://schemas.openxmlformats.org/officeDocument/2006/relationships/diagramLayout" Target="../diagrams/layout244.xml"/><Relationship Id="rId7" Type="http://schemas.openxmlformats.org/officeDocument/2006/relationships/image" Target="../media/image83.png"/><Relationship Id="rId2" Type="http://schemas.openxmlformats.org/officeDocument/2006/relationships/diagramData" Target="../diagrams/data244.xml"/><Relationship Id="rId1" Type="http://schemas.openxmlformats.org/officeDocument/2006/relationships/slideLayout" Target="../slideLayouts/slideLayout2.xml"/><Relationship Id="rId6" Type="http://schemas.microsoft.com/office/2007/relationships/diagramDrawing" Target="../diagrams/drawing244.xml"/><Relationship Id="rId5" Type="http://schemas.openxmlformats.org/officeDocument/2006/relationships/diagramColors" Target="../diagrams/colors244.xml"/><Relationship Id="rId4" Type="http://schemas.openxmlformats.org/officeDocument/2006/relationships/diagramQuickStyle" Target="../diagrams/quickStyle244.xml"/></Relationships>
</file>

<file path=ppt/slides/_rels/slide244.xml.rels><?xml version="1.0" encoding="UTF-8" standalone="yes"?>
<Relationships xmlns="http://schemas.openxmlformats.org/package/2006/relationships"><Relationship Id="rId3" Type="http://schemas.openxmlformats.org/officeDocument/2006/relationships/diagramLayout" Target="../diagrams/layout245.xml"/><Relationship Id="rId2" Type="http://schemas.openxmlformats.org/officeDocument/2006/relationships/diagramData" Target="../diagrams/data245.xml"/><Relationship Id="rId1" Type="http://schemas.openxmlformats.org/officeDocument/2006/relationships/slideLayout" Target="../slideLayouts/slideLayout2.xml"/><Relationship Id="rId6" Type="http://schemas.microsoft.com/office/2007/relationships/diagramDrawing" Target="../diagrams/drawing245.xml"/><Relationship Id="rId5" Type="http://schemas.openxmlformats.org/officeDocument/2006/relationships/diagramColors" Target="../diagrams/colors245.xml"/><Relationship Id="rId4" Type="http://schemas.openxmlformats.org/officeDocument/2006/relationships/diagramQuickStyle" Target="../diagrams/quickStyle245.xml"/></Relationships>
</file>

<file path=ppt/slides/_rels/slide245.xml.rels><?xml version="1.0" encoding="UTF-8" standalone="yes"?>
<Relationships xmlns="http://schemas.openxmlformats.org/package/2006/relationships"><Relationship Id="rId3" Type="http://schemas.openxmlformats.org/officeDocument/2006/relationships/diagramLayout" Target="../diagrams/layout246.xml"/><Relationship Id="rId2" Type="http://schemas.openxmlformats.org/officeDocument/2006/relationships/diagramData" Target="../diagrams/data246.xml"/><Relationship Id="rId1" Type="http://schemas.openxmlformats.org/officeDocument/2006/relationships/slideLayout" Target="../slideLayouts/slideLayout2.xml"/><Relationship Id="rId6" Type="http://schemas.microsoft.com/office/2007/relationships/diagramDrawing" Target="../diagrams/drawing246.xml"/><Relationship Id="rId5" Type="http://schemas.openxmlformats.org/officeDocument/2006/relationships/diagramColors" Target="../diagrams/colors246.xml"/><Relationship Id="rId4" Type="http://schemas.openxmlformats.org/officeDocument/2006/relationships/diagramQuickStyle" Target="../diagrams/quickStyle246.xml"/></Relationships>
</file>

<file path=ppt/slides/_rels/slide246.xml.rels><?xml version="1.0" encoding="UTF-8" standalone="yes"?>
<Relationships xmlns="http://schemas.openxmlformats.org/package/2006/relationships"><Relationship Id="rId8" Type="http://schemas.openxmlformats.org/officeDocument/2006/relationships/hyperlink" Target="https://www.innovatefinance.com/blogs/how-to-build-an-open-banking-architecture-that-scales/" TargetMode="External"/><Relationship Id="rId13" Type="http://schemas.openxmlformats.org/officeDocument/2006/relationships/hyperlink" Target="https://fintechcircle.com/paytech-book/" TargetMode="External"/><Relationship Id="rId3" Type="http://schemas.openxmlformats.org/officeDocument/2006/relationships/diagramLayout" Target="../diagrams/layout247.xml"/><Relationship Id="rId7" Type="http://schemas.openxmlformats.org/officeDocument/2006/relationships/hyperlink" Target="https://www.softwareag.com/en_corporate/resources/api/article/open-banking.html" TargetMode="External"/><Relationship Id="rId12" Type="http://schemas.openxmlformats.org/officeDocument/2006/relationships/hyperlink" Target="https://learn.microsoft.com/en-us/entra/identity/enterprise-apps/manage-consent-requests" TargetMode="External"/><Relationship Id="rId2" Type="http://schemas.openxmlformats.org/officeDocument/2006/relationships/diagramData" Target="../diagrams/data247.xml"/><Relationship Id="rId1" Type="http://schemas.openxmlformats.org/officeDocument/2006/relationships/slideLayout" Target="../slideLayouts/slideLayout2.xml"/><Relationship Id="rId6" Type="http://schemas.microsoft.com/office/2007/relationships/diagramDrawing" Target="../diagrams/drawing247.xml"/><Relationship Id="rId11" Type="http://schemas.openxmlformats.org/officeDocument/2006/relationships/hyperlink" Target="https://learn.microsoft.com/en-us/entra/identity-platform/permissions-consent-overview" TargetMode="External"/><Relationship Id="rId5" Type="http://schemas.openxmlformats.org/officeDocument/2006/relationships/diagramColors" Target="../diagrams/colors247.xml"/><Relationship Id="rId10" Type="http://schemas.openxmlformats.org/officeDocument/2006/relationships/hyperlink" Target="https://www.pwc.in/assets/pdfs/consulting/technology/data-and-analytics/govern-your-data/insights/a-blueprint-for-robust-consent-management.pdf" TargetMode="External"/><Relationship Id="rId4" Type="http://schemas.openxmlformats.org/officeDocument/2006/relationships/diagramQuickStyle" Target="../diagrams/quickStyle247.xml"/><Relationship Id="rId9" Type="http://schemas.openxmlformats.org/officeDocument/2006/relationships/hyperlink" Target="https://gocardless.com/guides/posts/what-is-tpp-in-open-banking/" TargetMode="External"/></Relationships>
</file>

<file path=ppt/slides/_rels/slide247.xml.rels><?xml version="1.0" encoding="UTF-8" standalone="yes"?>
<Relationships xmlns="http://schemas.openxmlformats.org/package/2006/relationships"><Relationship Id="rId8" Type="http://schemas.openxmlformats.org/officeDocument/2006/relationships/hyperlink" Target="https://www.businessarchitecture.info/insurance-business-architecture-reference-framework" TargetMode="External"/><Relationship Id="rId13" Type="http://schemas.openxmlformats.org/officeDocument/2006/relationships/hyperlink" Target="https://d-nb.info/1288718373/34" TargetMode="External"/><Relationship Id="rId3" Type="http://schemas.openxmlformats.org/officeDocument/2006/relationships/diagramLayout" Target="../diagrams/layout248.xml"/><Relationship Id="rId7" Type="http://schemas.openxmlformats.org/officeDocument/2006/relationships/hyperlink" Target="https://cloud.ibm.com/docs/industry-ref-arch?topic=industry-ref-arch-insurance" TargetMode="External"/><Relationship Id="rId12" Type="http://schemas.openxmlformats.org/officeDocument/2006/relationships/hyperlink" Target="https://www.linkedin.com/pulse/importance-enterprise-reference-architecture-kishore-ramchandani/" TargetMode="External"/><Relationship Id="rId2" Type="http://schemas.openxmlformats.org/officeDocument/2006/relationships/diagramData" Target="../diagrams/data248.xml"/><Relationship Id="rId1" Type="http://schemas.openxmlformats.org/officeDocument/2006/relationships/slideLayout" Target="../slideLayouts/slideLayout2.xml"/><Relationship Id="rId6" Type="http://schemas.microsoft.com/office/2007/relationships/diagramDrawing" Target="../diagrams/drawing248.xml"/><Relationship Id="rId11" Type="http://schemas.openxmlformats.org/officeDocument/2006/relationships/hyperlink" Target="https://www.acord.org/standards-architecture/reference-architecture" TargetMode="External"/><Relationship Id="rId5" Type="http://schemas.openxmlformats.org/officeDocument/2006/relationships/diagramColors" Target="../diagrams/colors248.xml"/><Relationship Id="rId15" Type="http://schemas.openxmlformats.org/officeDocument/2006/relationships/image" Target="../media/image84.png"/><Relationship Id="rId10" Type="http://schemas.openxmlformats.org/officeDocument/2006/relationships/hyperlink" Target="https://www.infotech.com/research/ss/life-and-annuity-insurance-industry-business-reference-architecture" TargetMode="External"/><Relationship Id="rId4" Type="http://schemas.openxmlformats.org/officeDocument/2006/relationships/diagramQuickStyle" Target="../diagrams/quickStyle248.xml"/><Relationship Id="rId9" Type="http://schemas.openxmlformats.org/officeDocument/2006/relationships/hyperlink" Target="https://cloud.google.com/blog/topics/financial-services/insurance-claim-processing-reference-architecture" TargetMode="External"/><Relationship Id="rId14" Type="http://schemas.openxmlformats.org/officeDocument/2006/relationships/hyperlink" Target="https://www.cognizant.com/us/en/industries/insurance-digital-transformation/life-annuities" TargetMode="External"/></Relationships>
</file>

<file path=ppt/slides/_rels/slide248.xml.rels><?xml version="1.0" encoding="UTF-8" standalone="yes"?>
<Relationships xmlns="http://schemas.openxmlformats.org/package/2006/relationships"><Relationship Id="rId3" Type="http://schemas.openxmlformats.org/officeDocument/2006/relationships/diagramLayout" Target="../diagrams/layout249.xml"/><Relationship Id="rId2" Type="http://schemas.openxmlformats.org/officeDocument/2006/relationships/diagramData" Target="../diagrams/data249.xml"/><Relationship Id="rId1" Type="http://schemas.openxmlformats.org/officeDocument/2006/relationships/slideLayout" Target="../slideLayouts/slideLayout2.xml"/><Relationship Id="rId6" Type="http://schemas.microsoft.com/office/2007/relationships/diagramDrawing" Target="../diagrams/drawing249.xml"/><Relationship Id="rId5" Type="http://schemas.openxmlformats.org/officeDocument/2006/relationships/diagramColors" Target="../diagrams/colors249.xml"/><Relationship Id="rId4" Type="http://schemas.openxmlformats.org/officeDocument/2006/relationships/diagramQuickStyle" Target="../diagrams/quickStyle249.xml"/></Relationships>
</file>

<file path=ppt/slides/_rels/slide249.xml.rels><?xml version="1.0" encoding="UTF-8" standalone="yes"?>
<Relationships xmlns="http://schemas.openxmlformats.org/package/2006/relationships"><Relationship Id="rId3" Type="http://schemas.openxmlformats.org/officeDocument/2006/relationships/diagramLayout" Target="../diagrams/layout250.xml"/><Relationship Id="rId2" Type="http://schemas.openxmlformats.org/officeDocument/2006/relationships/diagramData" Target="../diagrams/data250.xml"/><Relationship Id="rId1" Type="http://schemas.openxmlformats.org/officeDocument/2006/relationships/slideLayout" Target="../slideLayouts/slideLayout2.xml"/><Relationship Id="rId6" Type="http://schemas.microsoft.com/office/2007/relationships/diagramDrawing" Target="../diagrams/drawing250.xml"/><Relationship Id="rId5" Type="http://schemas.openxmlformats.org/officeDocument/2006/relationships/diagramColors" Target="../diagrams/colors250.xml"/><Relationship Id="rId4" Type="http://schemas.openxmlformats.org/officeDocument/2006/relationships/diagramQuickStyle" Target="../diagrams/quickStyle250.xml"/></Relationships>
</file>

<file path=ppt/slides/_rels/slide250.xml.rels><?xml version="1.0" encoding="UTF-8" standalone="yes"?>
<Relationships xmlns="http://schemas.openxmlformats.org/package/2006/relationships"><Relationship Id="rId3" Type="http://schemas.openxmlformats.org/officeDocument/2006/relationships/diagramLayout" Target="../diagrams/layout251.xml"/><Relationship Id="rId2" Type="http://schemas.openxmlformats.org/officeDocument/2006/relationships/diagramData" Target="../diagrams/data251.xml"/><Relationship Id="rId1" Type="http://schemas.openxmlformats.org/officeDocument/2006/relationships/slideLayout" Target="../slideLayouts/slideLayout2.xml"/><Relationship Id="rId6" Type="http://schemas.microsoft.com/office/2007/relationships/diagramDrawing" Target="../diagrams/drawing251.xml"/><Relationship Id="rId5" Type="http://schemas.openxmlformats.org/officeDocument/2006/relationships/diagramColors" Target="../diagrams/colors251.xml"/><Relationship Id="rId4" Type="http://schemas.openxmlformats.org/officeDocument/2006/relationships/diagramQuickStyle" Target="../diagrams/quickStyle251.xml"/></Relationships>
</file>

<file path=ppt/slides/_rels/slide251.xml.rels><?xml version="1.0" encoding="UTF-8" standalone="yes"?>
<Relationships xmlns="http://schemas.openxmlformats.org/package/2006/relationships"><Relationship Id="rId3" Type="http://schemas.openxmlformats.org/officeDocument/2006/relationships/diagramLayout" Target="../diagrams/layout252.xml"/><Relationship Id="rId2" Type="http://schemas.openxmlformats.org/officeDocument/2006/relationships/diagramData" Target="../diagrams/data252.xml"/><Relationship Id="rId1" Type="http://schemas.openxmlformats.org/officeDocument/2006/relationships/slideLayout" Target="../slideLayouts/slideLayout2.xml"/><Relationship Id="rId6" Type="http://schemas.microsoft.com/office/2007/relationships/diagramDrawing" Target="../diagrams/drawing252.xml"/><Relationship Id="rId5" Type="http://schemas.openxmlformats.org/officeDocument/2006/relationships/diagramColors" Target="../diagrams/colors252.xml"/><Relationship Id="rId4" Type="http://schemas.openxmlformats.org/officeDocument/2006/relationships/diagramQuickStyle" Target="../diagrams/quickStyle252.xml"/></Relationships>
</file>

<file path=ppt/slides/_rels/slide252.xml.rels><?xml version="1.0" encoding="UTF-8" standalone="yes"?>
<Relationships xmlns="http://schemas.openxmlformats.org/package/2006/relationships"><Relationship Id="rId3" Type="http://schemas.openxmlformats.org/officeDocument/2006/relationships/diagramLayout" Target="../diagrams/layout253.xml"/><Relationship Id="rId2" Type="http://schemas.openxmlformats.org/officeDocument/2006/relationships/diagramData" Target="../diagrams/data253.xml"/><Relationship Id="rId1" Type="http://schemas.openxmlformats.org/officeDocument/2006/relationships/slideLayout" Target="../slideLayouts/slideLayout2.xml"/><Relationship Id="rId6" Type="http://schemas.microsoft.com/office/2007/relationships/diagramDrawing" Target="../diagrams/drawing253.xml"/><Relationship Id="rId5" Type="http://schemas.openxmlformats.org/officeDocument/2006/relationships/diagramColors" Target="../diagrams/colors253.xml"/><Relationship Id="rId4" Type="http://schemas.openxmlformats.org/officeDocument/2006/relationships/diagramQuickStyle" Target="../diagrams/quickStyle253.xml"/></Relationships>
</file>

<file path=ppt/slides/_rels/slide253.xml.rels><?xml version="1.0" encoding="UTF-8" standalone="yes"?>
<Relationships xmlns="http://schemas.openxmlformats.org/package/2006/relationships"><Relationship Id="rId3" Type="http://schemas.openxmlformats.org/officeDocument/2006/relationships/diagramLayout" Target="../diagrams/layout254.xml"/><Relationship Id="rId2" Type="http://schemas.openxmlformats.org/officeDocument/2006/relationships/diagramData" Target="../diagrams/data254.xml"/><Relationship Id="rId1" Type="http://schemas.openxmlformats.org/officeDocument/2006/relationships/slideLayout" Target="../slideLayouts/slideLayout2.xml"/><Relationship Id="rId6" Type="http://schemas.microsoft.com/office/2007/relationships/diagramDrawing" Target="../diagrams/drawing254.xml"/><Relationship Id="rId5" Type="http://schemas.openxmlformats.org/officeDocument/2006/relationships/diagramColors" Target="../diagrams/colors254.xml"/><Relationship Id="rId4" Type="http://schemas.openxmlformats.org/officeDocument/2006/relationships/diagramQuickStyle" Target="../diagrams/quickStyle254.xml"/></Relationships>
</file>

<file path=ppt/slides/_rels/slide254.xml.rels><?xml version="1.0" encoding="UTF-8" standalone="yes"?>
<Relationships xmlns="http://schemas.openxmlformats.org/package/2006/relationships"><Relationship Id="rId3" Type="http://schemas.openxmlformats.org/officeDocument/2006/relationships/diagramLayout" Target="../diagrams/layout255.xml"/><Relationship Id="rId2" Type="http://schemas.openxmlformats.org/officeDocument/2006/relationships/diagramData" Target="../diagrams/data255.xml"/><Relationship Id="rId1" Type="http://schemas.openxmlformats.org/officeDocument/2006/relationships/slideLayout" Target="../slideLayouts/slideLayout2.xml"/><Relationship Id="rId6" Type="http://schemas.microsoft.com/office/2007/relationships/diagramDrawing" Target="../diagrams/drawing255.xml"/><Relationship Id="rId5" Type="http://schemas.openxmlformats.org/officeDocument/2006/relationships/diagramColors" Target="../diagrams/colors255.xml"/><Relationship Id="rId4" Type="http://schemas.openxmlformats.org/officeDocument/2006/relationships/diagramQuickStyle" Target="../diagrams/quickStyle255.xml"/></Relationships>
</file>

<file path=ppt/slides/_rels/slide255.xml.rels><?xml version="1.0" encoding="UTF-8" standalone="yes"?>
<Relationships xmlns="http://schemas.openxmlformats.org/package/2006/relationships"><Relationship Id="rId3" Type="http://schemas.openxmlformats.org/officeDocument/2006/relationships/diagramLayout" Target="../diagrams/layout256.xml"/><Relationship Id="rId2" Type="http://schemas.openxmlformats.org/officeDocument/2006/relationships/diagramData" Target="../diagrams/data256.xml"/><Relationship Id="rId1" Type="http://schemas.openxmlformats.org/officeDocument/2006/relationships/slideLayout" Target="../slideLayouts/slideLayout2.xml"/><Relationship Id="rId6" Type="http://schemas.microsoft.com/office/2007/relationships/diagramDrawing" Target="../diagrams/drawing256.xml"/><Relationship Id="rId5" Type="http://schemas.openxmlformats.org/officeDocument/2006/relationships/diagramColors" Target="../diagrams/colors256.xml"/><Relationship Id="rId4" Type="http://schemas.openxmlformats.org/officeDocument/2006/relationships/diagramQuickStyle" Target="../diagrams/quickStyle256.xml"/></Relationships>
</file>

<file path=ppt/slides/_rels/slide256.xml.rels><?xml version="1.0" encoding="UTF-8" standalone="yes"?>
<Relationships xmlns="http://schemas.openxmlformats.org/package/2006/relationships"><Relationship Id="rId3" Type="http://schemas.openxmlformats.org/officeDocument/2006/relationships/diagramLayout" Target="../diagrams/layout257.xml"/><Relationship Id="rId2" Type="http://schemas.openxmlformats.org/officeDocument/2006/relationships/diagramData" Target="../diagrams/data257.xml"/><Relationship Id="rId1" Type="http://schemas.openxmlformats.org/officeDocument/2006/relationships/slideLayout" Target="../slideLayouts/slideLayout2.xml"/><Relationship Id="rId6" Type="http://schemas.microsoft.com/office/2007/relationships/diagramDrawing" Target="../diagrams/drawing257.xml"/><Relationship Id="rId5" Type="http://schemas.openxmlformats.org/officeDocument/2006/relationships/diagramColors" Target="../diagrams/colors257.xml"/><Relationship Id="rId4" Type="http://schemas.openxmlformats.org/officeDocument/2006/relationships/diagramQuickStyle" Target="../diagrams/quickStyle257.xml"/></Relationships>
</file>

<file path=ppt/slides/_rels/slide257.xml.rels><?xml version="1.0" encoding="UTF-8" standalone="yes"?>
<Relationships xmlns="http://schemas.openxmlformats.org/package/2006/relationships"><Relationship Id="rId3" Type="http://schemas.openxmlformats.org/officeDocument/2006/relationships/diagramLayout" Target="../diagrams/layout258.xml"/><Relationship Id="rId7" Type="http://schemas.openxmlformats.org/officeDocument/2006/relationships/image" Target="../media/image85.png"/><Relationship Id="rId2" Type="http://schemas.openxmlformats.org/officeDocument/2006/relationships/diagramData" Target="../diagrams/data258.xml"/><Relationship Id="rId1" Type="http://schemas.openxmlformats.org/officeDocument/2006/relationships/slideLayout" Target="../slideLayouts/slideLayout2.xml"/><Relationship Id="rId6" Type="http://schemas.microsoft.com/office/2007/relationships/diagramDrawing" Target="../diagrams/drawing258.xml"/><Relationship Id="rId5" Type="http://schemas.openxmlformats.org/officeDocument/2006/relationships/diagramColors" Target="../diagrams/colors258.xml"/><Relationship Id="rId4" Type="http://schemas.openxmlformats.org/officeDocument/2006/relationships/diagramQuickStyle" Target="../diagrams/quickStyle258.xml"/></Relationships>
</file>

<file path=ppt/slides/_rels/slide258.xml.rels><?xml version="1.0" encoding="UTF-8" standalone="yes"?>
<Relationships xmlns="http://schemas.openxmlformats.org/package/2006/relationships"><Relationship Id="rId8" Type="http://schemas.openxmlformats.org/officeDocument/2006/relationships/hyperlink" Target="https://handbook.gitlab.com/handbook/marketing/" TargetMode="External"/><Relationship Id="rId13" Type="http://schemas.openxmlformats.org/officeDocument/2006/relationships/hyperlink" Target="https://experienceleague.adobe.com/en/docs/blueprints-learn/architecture/audience-activation/known-customer-audience-activation/known" TargetMode="External"/><Relationship Id="rId3" Type="http://schemas.openxmlformats.org/officeDocument/2006/relationships/diagramLayout" Target="../diagrams/layout259.xml"/><Relationship Id="rId7" Type="http://schemas.openxmlformats.org/officeDocument/2006/relationships/hyperlink" Target="https://www.credera.com/en-us/insights/crederas-martech-reference-architecture-part-1-overview-works" TargetMode="External"/><Relationship Id="rId12" Type="http://schemas.openxmlformats.org/officeDocument/2006/relationships/hyperlink" Target="https://business.adobe.com/resources/ebooks/6-steps-to-design-the-ideal-martech-stack.html" TargetMode="External"/><Relationship Id="rId2" Type="http://schemas.openxmlformats.org/officeDocument/2006/relationships/diagramData" Target="../diagrams/data259.xml"/><Relationship Id="rId1" Type="http://schemas.openxmlformats.org/officeDocument/2006/relationships/slideLayout" Target="../slideLayouts/slideLayout2.xml"/><Relationship Id="rId6" Type="http://schemas.microsoft.com/office/2007/relationships/diagramDrawing" Target="../diagrams/drawing259.xml"/><Relationship Id="rId11" Type="http://schemas.openxmlformats.org/officeDocument/2006/relationships/hyperlink" Target="https://www.transfunnel.com/ebooks/the-ultimate-martech-stack-handbook" TargetMode="External"/><Relationship Id="rId5" Type="http://schemas.openxmlformats.org/officeDocument/2006/relationships/diagramColors" Target="../diagrams/colors259.xml"/><Relationship Id="rId10" Type="http://schemas.openxmlformats.org/officeDocument/2006/relationships/hyperlink" Target="https://www.m8l.com/blog/book-summary-the-martech-handbook" TargetMode="External"/><Relationship Id="rId4" Type="http://schemas.openxmlformats.org/officeDocument/2006/relationships/diagramQuickStyle" Target="../diagrams/quickStyle259.xml"/><Relationship Id="rId9" Type="http://schemas.openxmlformats.org/officeDocument/2006/relationships/hyperlink" Target="https://handbook.teamsimmer.com/" TargetMode="External"/><Relationship Id="rId14" Type="http://schemas.openxmlformats.org/officeDocument/2006/relationships/hyperlink" Target="https://learn.microsoft.com/en-us/dynamics365/guidance/#main" TargetMode="External"/></Relationships>
</file>

<file path=ppt/slides/_rels/slide259.xml.rels><?xml version="1.0" encoding="UTF-8" standalone="yes"?>
<Relationships xmlns="http://schemas.openxmlformats.org/package/2006/relationships"><Relationship Id="rId3" Type="http://schemas.openxmlformats.org/officeDocument/2006/relationships/diagramLayout" Target="../diagrams/layout260.xml"/><Relationship Id="rId7" Type="http://schemas.openxmlformats.org/officeDocument/2006/relationships/image" Target="../media/image86.png"/><Relationship Id="rId2" Type="http://schemas.openxmlformats.org/officeDocument/2006/relationships/diagramData" Target="../diagrams/data260.xml"/><Relationship Id="rId1" Type="http://schemas.openxmlformats.org/officeDocument/2006/relationships/slideLayout" Target="../slideLayouts/slideLayout2.xml"/><Relationship Id="rId6" Type="http://schemas.microsoft.com/office/2007/relationships/diagramDrawing" Target="../diagrams/drawing260.xml"/><Relationship Id="rId5" Type="http://schemas.openxmlformats.org/officeDocument/2006/relationships/diagramColors" Target="../diagrams/colors260.xml"/><Relationship Id="rId4" Type="http://schemas.openxmlformats.org/officeDocument/2006/relationships/diagramQuickStyle" Target="../diagrams/quickStyle260.xml"/></Relationships>
</file>

<file path=ppt/slides/_rels/slide260.xml.rels><?xml version="1.0" encoding="UTF-8" standalone="yes"?>
<Relationships xmlns="http://schemas.openxmlformats.org/package/2006/relationships"><Relationship Id="rId3" Type="http://schemas.openxmlformats.org/officeDocument/2006/relationships/diagramLayout" Target="../diagrams/layout261.xml"/><Relationship Id="rId2" Type="http://schemas.openxmlformats.org/officeDocument/2006/relationships/diagramData" Target="../diagrams/data261.xml"/><Relationship Id="rId1" Type="http://schemas.openxmlformats.org/officeDocument/2006/relationships/slideLayout" Target="../slideLayouts/slideLayout2.xml"/><Relationship Id="rId6" Type="http://schemas.microsoft.com/office/2007/relationships/diagramDrawing" Target="../diagrams/drawing261.xml"/><Relationship Id="rId5" Type="http://schemas.openxmlformats.org/officeDocument/2006/relationships/diagramColors" Target="../diagrams/colors261.xml"/><Relationship Id="rId4" Type="http://schemas.openxmlformats.org/officeDocument/2006/relationships/diagramQuickStyle" Target="../diagrams/quickStyle261.xml"/></Relationships>
</file>

<file path=ppt/slides/_rels/slide261.xml.rels><?xml version="1.0" encoding="UTF-8" standalone="yes"?>
<Relationships xmlns="http://schemas.openxmlformats.org/package/2006/relationships"><Relationship Id="rId3" Type="http://schemas.openxmlformats.org/officeDocument/2006/relationships/diagramLayout" Target="../diagrams/layout262.xml"/><Relationship Id="rId2" Type="http://schemas.openxmlformats.org/officeDocument/2006/relationships/diagramData" Target="../diagrams/data262.xml"/><Relationship Id="rId1" Type="http://schemas.openxmlformats.org/officeDocument/2006/relationships/slideLayout" Target="../slideLayouts/slideLayout2.xml"/><Relationship Id="rId6" Type="http://schemas.microsoft.com/office/2007/relationships/diagramDrawing" Target="../diagrams/drawing262.xml"/><Relationship Id="rId5" Type="http://schemas.openxmlformats.org/officeDocument/2006/relationships/diagramColors" Target="../diagrams/colors262.xml"/><Relationship Id="rId4" Type="http://schemas.openxmlformats.org/officeDocument/2006/relationships/diagramQuickStyle" Target="../diagrams/quickStyle262.xml"/></Relationships>
</file>

<file path=ppt/slides/_rels/slide262.xml.rels><?xml version="1.0" encoding="UTF-8" standalone="yes"?>
<Relationships xmlns="http://schemas.openxmlformats.org/package/2006/relationships"><Relationship Id="rId8" Type="http://schemas.openxmlformats.org/officeDocument/2006/relationships/hyperlink" Target="https://advertising.amazon.com/blog/programmatic-advertising" TargetMode="External"/><Relationship Id="rId13" Type="http://schemas.openxmlformats.org/officeDocument/2006/relationships/hyperlink" Target="https://business.adobe.com/in/resources/main.html" TargetMode="External"/><Relationship Id="rId18" Type="http://schemas.openxmlformats.org/officeDocument/2006/relationships/hyperlink" Target="https://u-next.com/blogs/career/4-must-read-web-analytics-books-that-will-help-your-career/" TargetMode="External"/><Relationship Id="rId3" Type="http://schemas.openxmlformats.org/officeDocument/2006/relationships/diagramLayout" Target="../diagrams/layout263.xml"/><Relationship Id="rId7" Type="http://schemas.openxmlformats.org/officeDocument/2006/relationships/hyperlink" Target="https://aerospike.com/files/white-papers/adtech-reference-architecture-whitepaper.pdf" TargetMode="External"/><Relationship Id="rId12" Type="http://schemas.openxmlformats.org/officeDocument/2006/relationships/hyperlink" Target="https://clearcode.cc/resources/" TargetMode="External"/><Relationship Id="rId17" Type="http://schemas.openxmlformats.org/officeDocument/2006/relationships/hyperlink" Target="https://medium.com/airbnb-engineering/airbnbs-promotions-and-communications-platform-6266f1ffe2bd" TargetMode="External"/><Relationship Id="rId2" Type="http://schemas.openxmlformats.org/officeDocument/2006/relationships/diagramData" Target="../diagrams/data263.xml"/><Relationship Id="rId16" Type="http://schemas.openxmlformats.org/officeDocument/2006/relationships/hyperlink" Target="https://www.iab.com/guidelines/openrtb/" TargetMode="External"/><Relationship Id="rId1" Type="http://schemas.openxmlformats.org/officeDocument/2006/relationships/slideLayout" Target="../slideLayouts/slideLayout2.xml"/><Relationship Id="rId6" Type="http://schemas.microsoft.com/office/2007/relationships/diagramDrawing" Target="../diagrams/drawing263.xml"/><Relationship Id="rId11" Type="http://schemas.openxmlformats.org/officeDocument/2006/relationships/hyperlink" Target="https://adtechbook.clearcode.cc/" TargetMode="External"/><Relationship Id="rId5" Type="http://schemas.openxmlformats.org/officeDocument/2006/relationships/diagramColors" Target="../diagrams/colors263.xml"/><Relationship Id="rId15" Type="http://schemas.openxmlformats.org/officeDocument/2006/relationships/hyperlink" Target="https://www.redpanda.com/blog/reference-architecture-demand-side-platform-adtech" TargetMode="External"/><Relationship Id="rId10" Type="http://schemas.openxmlformats.org/officeDocument/2006/relationships/hyperlink" Target="https://www.unboundb2b.com/ebook/programmatic-advertising-ebook/" TargetMode="External"/><Relationship Id="rId4" Type="http://schemas.openxmlformats.org/officeDocument/2006/relationships/diagramQuickStyle" Target="../diagrams/quickStyle263.xml"/><Relationship Id="rId9" Type="http://schemas.openxmlformats.org/officeDocument/2006/relationships/hyperlink" Target="https://aws.amazon.com/solutions/guidance/adtech-private-network-on-aws/" TargetMode="External"/><Relationship Id="rId14" Type="http://schemas.openxmlformats.org/officeDocument/2006/relationships/hyperlink" Target="https://www.udemy.com/course/programmatic-advertising-master-course/" TargetMode="External"/></Relationships>
</file>

<file path=ppt/slides/_rels/slide263.xml.rels><?xml version="1.0" encoding="UTF-8" standalone="yes"?>
<Relationships xmlns="http://schemas.openxmlformats.org/package/2006/relationships"><Relationship Id="rId3" Type="http://schemas.openxmlformats.org/officeDocument/2006/relationships/diagramLayout" Target="../diagrams/layout264.xml"/><Relationship Id="rId7" Type="http://schemas.openxmlformats.org/officeDocument/2006/relationships/image" Target="../media/image87.png"/><Relationship Id="rId2" Type="http://schemas.openxmlformats.org/officeDocument/2006/relationships/diagramData" Target="../diagrams/data264.xml"/><Relationship Id="rId1" Type="http://schemas.openxmlformats.org/officeDocument/2006/relationships/slideLayout" Target="../slideLayouts/slideLayout2.xml"/><Relationship Id="rId6" Type="http://schemas.microsoft.com/office/2007/relationships/diagramDrawing" Target="../diagrams/drawing264.xml"/><Relationship Id="rId5" Type="http://schemas.openxmlformats.org/officeDocument/2006/relationships/diagramColors" Target="../diagrams/colors264.xml"/><Relationship Id="rId4" Type="http://schemas.openxmlformats.org/officeDocument/2006/relationships/diagramQuickStyle" Target="../diagrams/quickStyle264.xml"/></Relationships>
</file>

<file path=ppt/slides/_rels/slide264.xml.rels><?xml version="1.0" encoding="UTF-8" standalone="yes"?>
<Relationships xmlns="http://schemas.openxmlformats.org/package/2006/relationships"><Relationship Id="rId3" Type="http://schemas.openxmlformats.org/officeDocument/2006/relationships/diagramLayout" Target="../diagrams/layout265.xml"/><Relationship Id="rId7" Type="http://schemas.openxmlformats.org/officeDocument/2006/relationships/hyperlink" Target="https://www.comarch.com/trade-and-services/loyalty-marketing/blog/discover-livelos-latest-successes-revealed-on-lets-talk-loyalty/" TargetMode="External"/><Relationship Id="rId2" Type="http://schemas.openxmlformats.org/officeDocument/2006/relationships/diagramData" Target="../diagrams/data265.xml"/><Relationship Id="rId1" Type="http://schemas.openxmlformats.org/officeDocument/2006/relationships/slideLayout" Target="../slideLayouts/slideLayout2.xml"/><Relationship Id="rId6" Type="http://schemas.microsoft.com/office/2007/relationships/diagramDrawing" Target="../diagrams/drawing265.xml"/><Relationship Id="rId5" Type="http://schemas.openxmlformats.org/officeDocument/2006/relationships/diagramColors" Target="../diagrams/colors265.xml"/><Relationship Id="rId4" Type="http://schemas.openxmlformats.org/officeDocument/2006/relationships/diagramQuickStyle" Target="../diagrams/quickStyle265.xml"/></Relationships>
</file>

<file path=ppt/slides/_rels/slide265.xml.rels><?xml version="1.0" encoding="UTF-8" standalone="yes"?>
<Relationships xmlns="http://schemas.openxmlformats.org/package/2006/relationships"><Relationship Id="rId3" Type="http://schemas.openxmlformats.org/officeDocument/2006/relationships/diagramLayout" Target="../diagrams/layout266.xml"/><Relationship Id="rId7" Type="http://schemas.openxmlformats.org/officeDocument/2006/relationships/image" Target="../media/image88.png"/><Relationship Id="rId2" Type="http://schemas.openxmlformats.org/officeDocument/2006/relationships/diagramData" Target="../diagrams/data266.xml"/><Relationship Id="rId1" Type="http://schemas.openxmlformats.org/officeDocument/2006/relationships/slideLayout" Target="../slideLayouts/slideLayout2.xml"/><Relationship Id="rId6" Type="http://schemas.microsoft.com/office/2007/relationships/diagramDrawing" Target="../diagrams/drawing266.xml"/><Relationship Id="rId5" Type="http://schemas.openxmlformats.org/officeDocument/2006/relationships/diagramColors" Target="../diagrams/colors266.xml"/><Relationship Id="rId4" Type="http://schemas.openxmlformats.org/officeDocument/2006/relationships/diagramQuickStyle" Target="../diagrams/quickStyle266.xml"/></Relationships>
</file>

<file path=ppt/slides/_rels/slide266.xml.rels><?xml version="1.0" encoding="UTF-8" standalone="yes"?>
<Relationships xmlns="http://schemas.openxmlformats.org/package/2006/relationships"><Relationship Id="rId8" Type="http://schemas.openxmlformats.org/officeDocument/2006/relationships/hyperlink" Target="https://theleanmarketplace.com/" TargetMode="External"/><Relationship Id="rId3" Type="http://schemas.openxmlformats.org/officeDocument/2006/relationships/diagramLayout" Target="../diagrams/layout267.xml"/><Relationship Id="rId7" Type="http://schemas.openxmlformats.org/officeDocument/2006/relationships/hyperlink" Target="https://marketplacebestpractices.com/" TargetMode="External"/><Relationship Id="rId2" Type="http://schemas.openxmlformats.org/officeDocument/2006/relationships/diagramData" Target="../diagrams/data267.xml"/><Relationship Id="rId1" Type="http://schemas.openxmlformats.org/officeDocument/2006/relationships/slideLayout" Target="../slideLayouts/slideLayout2.xml"/><Relationship Id="rId6" Type="http://schemas.microsoft.com/office/2007/relationships/diagramDrawing" Target="../diagrams/drawing267.xml"/><Relationship Id="rId5" Type="http://schemas.openxmlformats.org/officeDocument/2006/relationships/diagramColors" Target="../diagrams/colors267.xml"/><Relationship Id="rId4" Type="http://schemas.openxmlformats.org/officeDocument/2006/relationships/diagramQuickStyle" Target="../diagrams/quickStyle267.xml"/></Relationships>
</file>

<file path=ppt/slides/_rels/slide267.xml.rels><?xml version="1.0" encoding="UTF-8" standalone="yes"?>
<Relationships xmlns="http://schemas.openxmlformats.org/package/2006/relationships"><Relationship Id="rId3" Type="http://schemas.openxmlformats.org/officeDocument/2006/relationships/diagramLayout" Target="../diagrams/layout268.xml"/><Relationship Id="rId7" Type="http://schemas.openxmlformats.org/officeDocument/2006/relationships/image" Target="../media/image89.png"/><Relationship Id="rId2" Type="http://schemas.openxmlformats.org/officeDocument/2006/relationships/diagramData" Target="../diagrams/data268.xml"/><Relationship Id="rId1" Type="http://schemas.openxmlformats.org/officeDocument/2006/relationships/slideLayout" Target="../slideLayouts/slideLayout2.xml"/><Relationship Id="rId6" Type="http://schemas.microsoft.com/office/2007/relationships/diagramDrawing" Target="../diagrams/drawing268.xml"/><Relationship Id="rId5" Type="http://schemas.openxmlformats.org/officeDocument/2006/relationships/diagramColors" Target="../diagrams/colors268.xml"/><Relationship Id="rId4" Type="http://schemas.openxmlformats.org/officeDocument/2006/relationships/diagramQuickStyle" Target="../diagrams/quickStyle268.xml"/></Relationships>
</file>

<file path=ppt/slides/_rels/slide268.xml.rels><?xml version="1.0" encoding="UTF-8" standalone="yes"?>
<Relationships xmlns="http://schemas.openxmlformats.org/package/2006/relationships"><Relationship Id="rId3" Type="http://schemas.openxmlformats.org/officeDocument/2006/relationships/diagramLayout" Target="../diagrams/layout269.xml"/><Relationship Id="rId2" Type="http://schemas.openxmlformats.org/officeDocument/2006/relationships/diagramData" Target="../diagrams/data269.xml"/><Relationship Id="rId1" Type="http://schemas.openxmlformats.org/officeDocument/2006/relationships/slideLayout" Target="../slideLayouts/slideLayout2.xml"/><Relationship Id="rId6" Type="http://schemas.microsoft.com/office/2007/relationships/diagramDrawing" Target="../diagrams/drawing269.xml"/><Relationship Id="rId5" Type="http://schemas.openxmlformats.org/officeDocument/2006/relationships/diagramColors" Target="../diagrams/colors269.xml"/><Relationship Id="rId4" Type="http://schemas.openxmlformats.org/officeDocument/2006/relationships/diagramQuickStyle" Target="../diagrams/quickStyle269.xml"/></Relationships>
</file>

<file path=ppt/slides/_rels/slide269.xml.rels><?xml version="1.0" encoding="UTF-8" standalone="yes"?>
<Relationships xmlns="http://schemas.openxmlformats.org/package/2006/relationships"><Relationship Id="rId8" Type="http://schemas.openxmlformats.org/officeDocument/2006/relationships/hyperlink" Target="https://www.nseindia.com/products-services/equity-market-trading-system" TargetMode="External"/><Relationship Id="rId13" Type="http://schemas.openxmlformats.org/officeDocument/2006/relationships/hyperlink" Target="https://github.com/tigeryant/order-matching-engine" TargetMode="External"/><Relationship Id="rId18" Type="http://schemas.openxmlformats.org/officeDocument/2006/relationships/hyperlink" Target="https://github.com/thomdixon/SaltwaterTaffy" TargetMode="External"/><Relationship Id="rId3" Type="http://schemas.openxmlformats.org/officeDocument/2006/relationships/diagramLayout" Target="../diagrams/layout270.xml"/><Relationship Id="rId21" Type="http://schemas.openxmlformats.org/officeDocument/2006/relationships/hyperlink" Target="https://github.com/disruptor-net/Disruptor-net" TargetMode="External"/><Relationship Id="rId7" Type="http://schemas.openxmlformats.org/officeDocument/2006/relationships/hyperlink" Target="https://medium.com/@sanchety.deepak/exchange-architecture-fbec72643df6" TargetMode="External"/><Relationship Id="rId12" Type="http://schemas.openxmlformats.org/officeDocument/2006/relationships/hyperlink" Target="https://gist.github.com/halfelf/db1ae032dc34278968f8bf31ee999a25" TargetMode="External"/><Relationship Id="rId17" Type="http://schemas.openxmlformats.org/officeDocument/2006/relationships/hyperlink" Target="https://www.fool.com/investing/how-to-invest/stocks/how-are-stock-prices-determined/" TargetMode="External"/><Relationship Id="rId2" Type="http://schemas.openxmlformats.org/officeDocument/2006/relationships/diagramData" Target="../diagrams/data270.xml"/><Relationship Id="rId16" Type="http://schemas.openxmlformats.org/officeDocument/2006/relationships/hyperlink" Target="https://www.angelone.in/knowledge-center/share-market/how-share-price-is-calculated" TargetMode="External"/><Relationship Id="rId20" Type="http://schemas.openxmlformats.org/officeDocument/2006/relationships/hyperlink" Target="https://martinfowler.com/articles/lmax.html?ref=wellarchitected" TargetMode="External"/><Relationship Id="rId1" Type="http://schemas.openxmlformats.org/officeDocument/2006/relationships/slideLayout" Target="../slideLayouts/slideLayout2.xml"/><Relationship Id="rId6" Type="http://schemas.microsoft.com/office/2007/relationships/diagramDrawing" Target="../diagrams/drawing270.xml"/><Relationship Id="rId11" Type="http://schemas.openxmlformats.org/officeDocument/2006/relationships/hyperlink" Target="https://www.alwin.io/order-matching-algorithms-in-crypto-exchange" TargetMode="External"/><Relationship Id="rId5" Type="http://schemas.openxmlformats.org/officeDocument/2006/relationships/diagramColors" Target="../diagrams/colors270.xml"/><Relationship Id="rId15" Type="http://schemas.openxmlformats.org/officeDocument/2006/relationships/hyperlink" Target="https://www.5paisa.com/blog/how-are-stock-prices-determined" TargetMode="External"/><Relationship Id="rId10" Type="http://schemas.openxmlformats.org/officeDocument/2006/relationships/hyperlink" Target="https://www.nseindia.com/trade/platform-services-co-location-facility" TargetMode="External"/><Relationship Id="rId19" Type="http://schemas.openxmlformats.org/officeDocument/2006/relationships/hyperlink" Target="https://code.kx.com/q/" TargetMode="External"/><Relationship Id="rId4" Type="http://schemas.openxmlformats.org/officeDocument/2006/relationships/diagramQuickStyle" Target="../diagrams/quickStyle270.xml"/><Relationship Id="rId9" Type="http://schemas.openxmlformats.org/officeDocument/2006/relationships/hyperlink" Target="https://www.nseindia.com/trade/platform-services-neat-trading-system" TargetMode="External"/><Relationship Id="rId14" Type="http://schemas.openxmlformats.org/officeDocument/2006/relationships/hyperlink" Target="https://www.stash.com/learn/understanding-stock-price/" TargetMode="External"/></Relationships>
</file>

<file path=ppt/slides/_rels/slide270.xml.rels><?xml version="1.0" encoding="UTF-8" standalone="yes"?>
<Relationships xmlns="http://schemas.openxmlformats.org/package/2006/relationships"><Relationship Id="rId3" Type="http://schemas.openxmlformats.org/officeDocument/2006/relationships/diagramLayout" Target="../diagrams/layout271.xml"/><Relationship Id="rId7" Type="http://schemas.openxmlformats.org/officeDocument/2006/relationships/image" Target="../media/image90.png"/><Relationship Id="rId2" Type="http://schemas.openxmlformats.org/officeDocument/2006/relationships/diagramData" Target="../diagrams/data271.xml"/><Relationship Id="rId1" Type="http://schemas.openxmlformats.org/officeDocument/2006/relationships/slideLayout" Target="../slideLayouts/slideLayout2.xml"/><Relationship Id="rId6" Type="http://schemas.microsoft.com/office/2007/relationships/diagramDrawing" Target="../diagrams/drawing271.xml"/><Relationship Id="rId5" Type="http://schemas.openxmlformats.org/officeDocument/2006/relationships/diagramColors" Target="../diagrams/colors271.xml"/><Relationship Id="rId4" Type="http://schemas.openxmlformats.org/officeDocument/2006/relationships/diagramQuickStyle" Target="../diagrams/quickStyle271.xml"/></Relationships>
</file>

<file path=ppt/slides/_rels/slide271.xml.rels><?xml version="1.0" encoding="UTF-8" standalone="yes"?>
<Relationships xmlns="http://schemas.openxmlformats.org/package/2006/relationships"><Relationship Id="rId3" Type="http://schemas.openxmlformats.org/officeDocument/2006/relationships/diagramLayout" Target="../diagrams/layout272.xml"/><Relationship Id="rId2" Type="http://schemas.openxmlformats.org/officeDocument/2006/relationships/diagramData" Target="../diagrams/data272.xml"/><Relationship Id="rId1" Type="http://schemas.openxmlformats.org/officeDocument/2006/relationships/slideLayout" Target="../slideLayouts/slideLayout2.xml"/><Relationship Id="rId6" Type="http://schemas.microsoft.com/office/2007/relationships/diagramDrawing" Target="../diagrams/drawing272.xml"/><Relationship Id="rId5" Type="http://schemas.openxmlformats.org/officeDocument/2006/relationships/diagramColors" Target="../diagrams/colors272.xml"/><Relationship Id="rId4" Type="http://schemas.openxmlformats.org/officeDocument/2006/relationships/diagramQuickStyle" Target="../diagrams/quickStyle272.xml"/></Relationships>
</file>

<file path=ppt/slides/_rels/slide272.xml.rels><?xml version="1.0" encoding="UTF-8" standalone="yes"?>
<Relationships xmlns="http://schemas.openxmlformats.org/package/2006/relationships"><Relationship Id="rId8" Type="http://schemas.openxmlformats.org/officeDocument/2006/relationships/hyperlink" Target="https://www.turingfinance.com/algorithmic-trading-system-architecture-post/" TargetMode="External"/><Relationship Id="rId13" Type="http://schemas.openxmlformats.org/officeDocument/2006/relationships/hyperlink" Target="https://github.com/Marketcetera/marketcetera" TargetMode="External"/><Relationship Id="rId3" Type="http://schemas.openxmlformats.org/officeDocument/2006/relationships/diagramLayout" Target="../diagrams/layout273.xml"/><Relationship Id="rId7" Type="http://schemas.openxmlformats.org/officeDocument/2006/relationships/hyperlink" Target="https://blog.quantinsti.com/automated-trading-system/" TargetMode="External"/><Relationship Id="rId12" Type="http://schemas.openxmlformats.org/officeDocument/2006/relationships/hyperlink" Target="https://github.com/StockSharp/StockSharp" TargetMode="External"/><Relationship Id="rId2" Type="http://schemas.openxmlformats.org/officeDocument/2006/relationships/diagramData" Target="../diagrams/data273.xml"/><Relationship Id="rId1" Type="http://schemas.openxmlformats.org/officeDocument/2006/relationships/slideLayout" Target="../slideLayouts/slideLayout2.xml"/><Relationship Id="rId6" Type="http://schemas.microsoft.com/office/2007/relationships/diagramDrawing" Target="../diagrams/drawing273.xml"/><Relationship Id="rId11" Type="http://schemas.openxmlformats.org/officeDocument/2006/relationships/hyperlink" Target="https://github.com/aws-samples/algorithmic-trading/" TargetMode="External"/><Relationship Id="rId5" Type="http://schemas.openxmlformats.org/officeDocument/2006/relationships/diagramColors" Target="../diagrams/colors273.xml"/><Relationship Id="rId10" Type="http://schemas.openxmlformats.org/officeDocument/2006/relationships/hyperlink" Target="https://medium.com/prooftrading/proof-engineering-the-algorithmic-trading-platform-b9c2f195433d" TargetMode="External"/><Relationship Id="rId4" Type="http://schemas.openxmlformats.org/officeDocument/2006/relationships/diagramQuickStyle" Target="../diagrams/quickStyle273.xml"/><Relationship Id="rId9" Type="http://schemas.openxmlformats.org/officeDocument/2006/relationships/hyperlink" Target="https://www.vamsitalkstech.com/architecture/design-and-architecture-of-a-real-world-trading-platform-23/" TargetMode="External"/><Relationship Id="rId14" Type="http://schemas.openxmlformats.org/officeDocument/2006/relationships/hyperlink" Target="https://modulusglobal.com/" TargetMode="External"/></Relationships>
</file>

<file path=ppt/slides/_rels/slide273.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cba1f4f3559086d0&amp;sxsrf=AE3TifNGB6ludsHQVuewuoyAnnuQZpdyxw%3A1758868653232&amp;q=Graphics%2FGUI&amp;sa=X&amp;ved=2ahUKEwj_s_mp6PWPAxUoU2wGHbSiGIQQxccNegQIKRAB&amp;mstk=AUtExfBk0NI6Esu6KtLVe3jY0XI9O3WFDZ1D3aFdqSOWI6yo09ZO_Xkmfk7BIkVIP6vNKqs_wWDbHI-MUFtzv8f4SfhLCmK1qD-eZDfPPQrf4iTez507T0hdQ4ZcplHeiAasWhzhYOgqiO6cQpRmPm1fwsOYgvOXtABh7x6Y8C_ver3foZk&amp;csui=3" TargetMode="External"/><Relationship Id="rId3" Type="http://schemas.openxmlformats.org/officeDocument/2006/relationships/diagramLayout" Target="../diagrams/layout274.xml"/><Relationship Id="rId7" Type="http://schemas.openxmlformats.org/officeDocument/2006/relationships/hyperlink" Target="https://www.google.com/search?safe=active&amp;rlz=1C1GCEW_enIN1075IN1075&amp;cs=0&amp;sca_esv=cba1f4f3559086d0&amp;sxsrf=AE3TifNGB6ludsHQVuewuoyAnnuQZpdyxw%3A1758868653232&amp;q=Networking&amp;sa=X&amp;ved=2ahUKEwj_s_mp6PWPAxUoU2wGHbSiGIQQxccNegQIKBAB&amp;mstk=AUtExfBk0NI6Esu6KtLVe3jY0XI9O3WFDZ1D3aFdqSOWI6yo09ZO_Xkmfk7BIkVIP6vNKqs_wWDbHI-MUFtzv8f4SfhLCmK1qD-eZDfPPQrf4iTez507T0hdQ4ZcplHeiAasWhzhYOgqiO6cQpRmPm1fwsOYgvOXtABh7x6Y8C_ver3foZk&amp;csui=3" TargetMode="External"/><Relationship Id="rId2" Type="http://schemas.openxmlformats.org/officeDocument/2006/relationships/diagramData" Target="../diagrams/data274.xml"/><Relationship Id="rId1" Type="http://schemas.openxmlformats.org/officeDocument/2006/relationships/slideLayout" Target="../slideLayouts/slideLayout2.xml"/><Relationship Id="rId6" Type="http://schemas.microsoft.com/office/2007/relationships/diagramDrawing" Target="../diagrams/drawing274.xml"/><Relationship Id="rId11" Type="http://schemas.openxmlformats.org/officeDocument/2006/relationships/image" Target="../media/image91.png"/><Relationship Id="rId5" Type="http://schemas.openxmlformats.org/officeDocument/2006/relationships/diagramColors" Target="../diagrams/colors274.xml"/><Relationship Id="rId10" Type="http://schemas.openxmlformats.org/officeDocument/2006/relationships/hyperlink" Target="https://www.google.com/search?safe=active&amp;rlz=1C1GCEW_enIN1075IN1075&amp;cs=0&amp;sca_esv=cba1f4f3559086d0&amp;sxsrf=AE3TifNGB6ludsHQVuewuoyAnnuQZpdyxw%3A1758868653232&amp;q=Artificial+Intelligence&amp;sa=X&amp;ved=2ahUKEwj_s_mp6PWPAxUoU2wGHbSiGIQQxccNegQIKhAB&amp;mstk=AUtExfBk0NI6Esu6KtLVe3jY0XI9O3WFDZ1D3aFdqSOWI6yo09ZO_Xkmfk7BIkVIP6vNKqs_wWDbHI-MUFtzv8f4SfhLCmK1qD-eZDfPPQrf4iTez507T0hdQ4ZcplHeiAasWhzhYOgqiO6cQpRmPm1fwsOYgvOXtABh7x6Y8C_ver3foZk&amp;csui=3" TargetMode="External"/><Relationship Id="rId4" Type="http://schemas.openxmlformats.org/officeDocument/2006/relationships/diagramQuickStyle" Target="../diagrams/quickStyle274.xml"/><Relationship Id="rId9" Type="http://schemas.openxmlformats.org/officeDocument/2006/relationships/hyperlink" Target="https://www.google.com/search?safe=active&amp;rlz=1C1GCEW_enIN1075IN1075&amp;cs=0&amp;sca_esv=cba1f4f3559086d0&amp;sxsrf=AE3TifNGB6ludsHQVuewuoyAnnuQZpdyxw%3A1758868653232&amp;q=Physics&amp;sa=X&amp;ved=2ahUKEwj_s_mp6PWPAxUoU2wGHbSiGIQQxccNegQIMBAB&amp;mstk=AUtExfBk0NI6Esu6KtLVe3jY0XI9O3WFDZ1D3aFdqSOWI6yo09ZO_Xkmfk7BIkVIP6vNKqs_wWDbHI-MUFtzv8f4SfhLCmK1qD-eZDfPPQrf4iTez507T0hdQ4ZcplHeiAasWhzhYOgqiO6cQpRmPm1fwsOYgvOXtABh7x6Y8C_ver3foZk&amp;csui=3" TargetMode="External"/></Relationships>
</file>

<file path=ppt/slides/_rels/slide274.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cba1f4f3559086d0&amp;sxsrf=AE3TifNGB6ludsHQVuewuoyAnnuQZpdyxw%3A1758868653232&amp;q=Player+Authentication&amp;sa=X&amp;ved=2ahUKEwj_s_mp6PWPAxUoU2wGHbSiGIQQxccNegQITBAB&amp;mstk=AUtExfBk0NI6Esu6KtLVe3jY0XI9O3WFDZ1D3aFdqSOWI6yo09ZO_Xkmfk7BIkVIP6vNKqs_wWDbHI-MUFtzv8f4SfhLCmK1qD-eZDfPPQrf4iTez507T0hdQ4ZcplHeiAasWhzhYOgqiO6cQpRmPm1fwsOYgvOXtABh7x6Y8C_ver3foZk&amp;csui=3" TargetMode="External"/><Relationship Id="rId13" Type="http://schemas.openxmlformats.org/officeDocument/2006/relationships/hyperlink" Target="https://docs.aws.amazon.com/wellarchitected/latest/games-industry-lens/container-based-backend.html" TargetMode="External"/><Relationship Id="rId3" Type="http://schemas.openxmlformats.org/officeDocument/2006/relationships/diagramLayout" Target="../diagrams/layout275.xml"/><Relationship Id="rId7" Type="http://schemas.openxmlformats.org/officeDocument/2006/relationships/hyperlink" Target="https://www.google.com/search?safe=active&amp;rlz=1C1GCEW_enIN1075IN1075&amp;cs=0&amp;sca_esv=cba1f4f3559086d0&amp;sxsrf=AE3TifNGB6ludsHQVuewuoyAnnuQZpdyxw%3A1758868653232&amp;q=Content+Delivery+Network+%28CDN%29&amp;sa=X&amp;ved=2ahUKEwj_s_mp6PWPAxUoU2wGHbSiGIQQxccNegQIRBAB&amp;mstk=AUtExfBk0NI6Esu6KtLVe3jY0XI9O3WFDZ1D3aFdqSOWI6yo09ZO_Xkmfk7BIkVIP6vNKqs_wWDbHI-MUFtzv8f4SfhLCmK1qD-eZDfPPQrf4iTez507T0hdQ4ZcplHeiAasWhzhYOgqiO6cQpRmPm1fwsOYgvOXtABh7x6Y8C_ver3foZk&amp;csui=3" TargetMode="External"/><Relationship Id="rId12" Type="http://schemas.openxmlformats.org/officeDocument/2006/relationships/hyperlink" Target="https://docs.aws.amazon.com/wellarchitected/latest/games-industry-lens/serverless-backend.html" TargetMode="External"/><Relationship Id="rId2" Type="http://schemas.openxmlformats.org/officeDocument/2006/relationships/diagramData" Target="../diagrams/data275.xml"/><Relationship Id="rId1" Type="http://schemas.openxmlformats.org/officeDocument/2006/relationships/slideLayout" Target="../slideLayouts/slideLayout2.xml"/><Relationship Id="rId6" Type="http://schemas.microsoft.com/office/2007/relationships/diagramDrawing" Target="../diagrams/drawing275.xml"/><Relationship Id="rId11" Type="http://schemas.openxmlformats.org/officeDocument/2006/relationships/hyperlink" Target="https://www.alibabacloud.com/blog/alibaba-cloud-gaming-architecture-for-infrastructure-whitepaper_598322" TargetMode="External"/><Relationship Id="rId5" Type="http://schemas.openxmlformats.org/officeDocument/2006/relationships/diagramColors" Target="../diagrams/colors275.xml"/><Relationship Id="rId15" Type="http://schemas.openxmlformats.org/officeDocument/2006/relationships/hyperlink" Target="https://github.com/Apress/ar-vr-using-webxr-api" TargetMode="External"/><Relationship Id="rId10" Type="http://schemas.openxmlformats.org/officeDocument/2006/relationships/hyperlink" Target="https://www.researchgate.net/figure/Functional-reference-architecture-for-online-gaming-with-main-topics-1-level-of-depth_fig3_323217259" TargetMode="External"/><Relationship Id="rId4" Type="http://schemas.openxmlformats.org/officeDocument/2006/relationships/diagramQuickStyle" Target="../diagrams/quickStyle275.xml"/><Relationship Id="rId9" Type="http://schemas.openxmlformats.org/officeDocument/2006/relationships/hyperlink" Target="https://www.google.com/search?safe=active&amp;rlz=1C1GCEW_enIN1075IN1075&amp;cs=0&amp;sca_esv=cba1f4f3559086d0&amp;sxsrf=AE3TifNGB6ludsHQVuewuoyAnnuQZpdyxw%3A1758868653232&amp;q=Social+Platforms&amp;sa=X&amp;ved=2ahUKEwj_s_mp6PWPAxUoU2wGHbSiGIQQxccNegQIRhAB&amp;mstk=AUtExfBk0NI6Esu6KtLVe3jY0XI9O3WFDZ1D3aFdqSOWI6yo09ZO_Xkmfk7BIkVIP6vNKqs_wWDbHI-MUFtzv8f4SfhLCmK1qD-eZDfPPQrf4iTez507T0hdQ4ZcplHeiAasWhzhYOgqiO6cQpRmPm1fwsOYgvOXtABh7x6Y8C_ver3foZk&amp;csui=3" TargetMode="External"/><Relationship Id="rId14" Type="http://schemas.openxmlformats.org/officeDocument/2006/relationships/hyperlink" Target="https://gist.github.com/sandipray63in/194e7615344976fc67631d6951008bce" TargetMode="External"/></Relationships>
</file>

<file path=ppt/slides/_rels/slide275.xml.rels><?xml version="1.0" encoding="UTF-8" standalone="yes"?>
<Relationships xmlns="http://schemas.openxmlformats.org/package/2006/relationships"><Relationship Id="rId3" Type="http://schemas.openxmlformats.org/officeDocument/2006/relationships/diagramLayout" Target="../diagrams/layout276.xml"/><Relationship Id="rId7" Type="http://schemas.openxmlformats.org/officeDocument/2006/relationships/image" Target="../media/image92.jpeg"/><Relationship Id="rId2" Type="http://schemas.openxmlformats.org/officeDocument/2006/relationships/diagramData" Target="../diagrams/data276.xml"/><Relationship Id="rId1" Type="http://schemas.openxmlformats.org/officeDocument/2006/relationships/slideLayout" Target="../slideLayouts/slideLayout2.xml"/><Relationship Id="rId6" Type="http://schemas.microsoft.com/office/2007/relationships/diagramDrawing" Target="../diagrams/drawing276.xml"/><Relationship Id="rId5" Type="http://schemas.openxmlformats.org/officeDocument/2006/relationships/diagramColors" Target="../diagrams/colors276.xml"/><Relationship Id="rId4" Type="http://schemas.openxmlformats.org/officeDocument/2006/relationships/diagramQuickStyle" Target="../diagrams/quickStyle276.xml"/></Relationships>
</file>

<file path=ppt/slides/_rels/slide276.xml.rels><?xml version="1.0" encoding="UTF-8" standalone="yes"?>
<Relationships xmlns="http://schemas.openxmlformats.org/package/2006/relationships"><Relationship Id="rId8" Type="http://schemas.openxmlformats.org/officeDocument/2006/relationships/hyperlink" Target="https://standards.ieee.org/ieee/2413/6226/" TargetMode="External"/><Relationship Id="rId3" Type="http://schemas.openxmlformats.org/officeDocument/2006/relationships/diagramLayout" Target="../diagrams/layout277.xml"/><Relationship Id="rId7" Type="http://schemas.openxmlformats.org/officeDocument/2006/relationships/hyperlink" Target="https://www.iot-a.eu/" TargetMode="External"/><Relationship Id="rId2" Type="http://schemas.openxmlformats.org/officeDocument/2006/relationships/diagramData" Target="../diagrams/data277.xml"/><Relationship Id="rId1" Type="http://schemas.openxmlformats.org/officeDocument/2006/relationships/slideLayout" Target="../slideLayouts/slideLayout2.xml"/><Relationship Id="rId6" Type="http://schemas.microsoft.com/office/2007/relationships/diagramDrawing" Target="../diagrams/drawing277.xml"/><Relationship Id="rId5" Type="http://schemas.openxmlformats.org/officeDocument/2006/relationships/diagramColors" Target="../diagrams/colors277.xml"/><Relationship Id="rId10" Type="http://schemas.openxmlformats.org/officeDocument/2006/relationships/hyperlink" Target="https://www.iso.org/standard/88800.html" TargetMode="External"/><Relationship Id="rId4" Type="http://schemas.openxmlformats.org/officeDocument/2006/relationships/diagramQuickStyle" Target="../diagrams/quickStyle277.xml"/><Relationship Id="rId9" Type="http://schemas.openxmlformats.org/officeDocument/2006/relationships/hyperlink" Target="https://www.iiconsortium.org/iira/" TargetMode="External"/></Relationships>
</file>

<file path=ppt/slides/_rels/slide277.xml.rels><?xml version="1.0" encoding="UTF-8" standalone="yes"?>
<Relationships xmlns="http://schemas.openxmlformats.org/package/2006/relationships"><Relationship Id="rId8" Type="http://schemas.openxmlformats.org/officeDocument/2006/relationships/hyperlink" Target="https://www.alibabacloud.com/blog/alibaba-cloud-gaming-architecture-for-infrastructure-whitepaper_598322" TargetMode="External"/><Relationship Id="rId13" Type="http://schemas.openxmlformats.org/officeDocument/2006/relationships/hyperlink" Target="https://gist.github.com/sandipray63in/19e4a48e6a30de846e740ebfa906ef23" TargetMode="External"/><Relationship Id="rId18" Type="http://schemas.openxmlformats.org/officeDocument/2006/relationships/hyperlink" Target="https://www.packtpub.com/en-in/product/architectural-patterns-and-techniques-for-developing-iot-solutions-9781803247632" TargetMode="External"/><Relationship Id="rId3" Type="http://schemas.openxmlformats.org/officeDocument/2006/relationships/diagramLayout" Target="../diagrams/layout278.xml"/><Relationship Id="rId21" Type="http://schemas.openxmlformats.org/officeDocument/2006/relationships/hyperlink" Target="https://github.com/PacktPublishing/IoT-Edge-Computing-with-MicroK8s" TargetMode="External"/><Relationship Id="rId7" Type="http://schemas.openxmlformats.org/officeDocument/2006/relationships/hyperlink" Target="https://www.geeksforgeeks.org/computer-networks/architecture-of-internet-of-things-iot/" TargetMode="External"/><Relationship Id="rId12" Type="http://schemas.openxmlformats.org/officeDocument/2006/relationships/hyperlink" Target="https://gist.github.com/sandipray63in/48e6bdcf77d512b8db0e12732db5a358" TargetMode="External"/><Relationship Id="rId17" Type="http://schemas.openxmlformats.org/officeDocument/2006/relationships/hyperlink" Target="https://www.packtpub.com/en-in/product/iot-and-edge-computing-for-architects-9781803237336" TargetMode="External"/><Relationship Id="rId2" Type="http://schemas.openxmlformats.org/officeDocument/2006/relationships/diagramData" Target="../diagrams/data278.xml"/><Relationship Id="rId16" Type="http://schemas.openxmlformats.org/officeDocument/2006/relationships/hyperlink" Target="https://gist.github.com/sandipray63in/d831a23ae0e3251d056a1d1706ee2316" TargetMode="External"/><Relationship Id="rId20" Type="http://schemas.openxmlformats.org/officeDocument/2006/relationships/hyperlink" Target="https://github.com/PacktPublishing/Edge-Computing-Patterns-for-Solution-Architects" TargetMode="External"/><Relationship Id="rId1" Type="http://schemas.openxmlformats.org/officeDocument/2006/relationships/slideLayout" Target="../slideLayouts/slideLayout2.xml"/><Relationship Id="rId6" Type="http://schemas.microsoft.com/office/2007/relationships/diagramDrawing" Target="../diagrams/drawing278.xml"/><Relationship Id="rId11" Type="http://schemas.openxmlformats.org/officeDocument/2006/relationships/hyperlink" Target="https://gist.github.com/sandipray63in/514cf0d4449b29b65b39e0f8225ada63" TargetMode="External"/><Relationship Id="rId5" Type="http://schemas.openxmlformats.org/officeDocument/2006/relationships/diagramColors" Target="../diagrams/colors278.xml"/><Relationship Id="rId15" Type="http://schemas.openxmlformats.org/officeDocument/2006/relationships/hyperlink" Target="https://gist.github.com/sandipray63in/f72b3fb23ab938ae3710008fc16c48d1" TargetMode="External"/><Relationship Id="rId10" Type="http://schemas.openxmlformats.org/officeDocument/2006/relationships/hyperlink" Target="https://gist.github.com/sandipray63in/c64e2c586aaf0c66d33f4e8f994975d3" TargetMode="External"/><Relationship Id="rId19" Type="http://schemas.openxmlformats.org/officeDocument/2006/relationships/hyperlink" Target="https://github.com/PacktPublishing/Industrial-IoT-for-Architects-and-Engineers" TargetMode="External"/><Relationship Id="rId4" Type="http://schemas.openxmlformats.org/officeDocument/2006/relationships/diagramQuickStyle" Target="../diagrams/quickStyle278.xml"/><Relationship Id="rId9" Type="http://schemas.openxmlformats.org/officeDocument/2006/relationships/hyperlink" Target="https://arxiv.org/pdf/2204.01872" TargetMode="External"/><Relationship Id="rId14" Type="http://schemas.openxmlformats.org/officeDocument/2006/relationships/hyperlink" Target="https://gist.github.com/sandipray63in/8c1d55cdab89222560dff2cb18ed8034" TargetMode="External"/><Relationship Id="rId22" Type="http://schemas.openxmlformats.org/officeDocument/2006/relationships/hyperlink" Target="https://subscription.packtpub.com/expert-reading-lists/advanced-embedded-architectures-and-socs" TargetMode="External"/></Relationships>
</file>

<file path=ppt/slides/_rels/slide278.xml.rels><?xml version="1.0" encoding="UTF-8" standalone="yes"?>
<Relationships xmlns="http://schemas.openxmlformats.org/package/2006/relationships"><Relationship Id="rId3" Type="http://schemas.openxmlformats.org/officeDocument/2006/relationships/diagramLayout" Target="../diagrams/layout279.xml"/><Relationship Id="rId7" Type="http://schemas.openxmlformats.org/officeDocument/2006/relationships/image" Target="../media/image93.png"/><Relationship Id="rId2" Type="http://schemas.openxmlformats.org/officeDocument/2006/relationships/diagramData" Target="../diagrams/data279.xml"/><Relationship Id="rId1" Type="http://schemas.openxmlformats.org/officeDocument/2006/relationships/slideLayout" Target="../slideLayouts/slideLayout2.xml"/><Relationship Id="rId6" Type="http://schemas.microsoft.com/office/2007/relationships/diagramDrawing" Target="../diagrams/drawing279.xml"/><Relationship Id="rId5" Type="http://schemas.openxmlformats.org/officeDocument/2006/relationships/diagramColors" Target="../diagrams/colors279.xml"/><Relationship Id="rId4" Type="http://schemas.openxmlformats.org/officeDocument/2006/relationships/diagramQuickStyle" Target="../diagrams/quickStyle279.xml"/></Relationships>
</file>

<file path=ppt/slides/_rels/slide279.xml.rels><?xml version="1.0" encoding="UTF-8" standalone="yes"?>
<Relationships xmlns="http://schemas.openxmlformats.org/package/2006/relationships"><Relationship Id="rId3" Type="http://schemas.openxmlformats.org/officeDocument/2006/relationships/diagramLayout" Target="../diagrams/layout280.xml"/><Relationship Id="rId2" Type="http://schemas.openxmlformats.org/officeDocument/2006/relationships/diagramData" Target="../diagrams/data280.xml"/><Relationship Id="rId1" Type="http://schemas.openxmlformats.org/officeDocument/2006/relationships/slideLayout" Target="../slideLayouts/slideLayout2.xml"/><Relationship Id="rId6" Type="http://schemas.microsoft.com/office/2007/relationships/diagramDrawing" Target="../diagrams/drawing280.xml"/><Relationship Id="rId5" Type="http://schemas.openxmlformats.org/officeDocument/2006/relationships/diagramColors" Target="../diagrams/colors280.xml"/><Relationship Id="rId4" Type="http://schemas.openxmlformats.org/officeDocument/2006/relationships/diagramQuickStyle" Target="../diagrams/quickStyle280.xml"/></Relationships>
</file>

<file path=ppt/slides/_rels/slide280.xml.rels><?xml version="1.0" encoding="UTF-8" standalone="yes"?>
<Relationships xmlns="http://schemas.openxmlformats.org/package/2006/relationships"><Relationship Id="rId8" Type="http://schemas.openxmlformats.org/officeDocument/2006/relationships/hyperlink" Target="https://developer.ibm.com/articles/what-are-digital-twins/" TargetMode="External"/><Relationship Id="rId13" Type="http://schemas.openxmlformats.org/officeDocument/2006/relationships/hyperlink" Target="https://github.com/PacktPublishing/Building-Industrial-Digital-Twin" TargetMode="External"/><Relationship Id="rId3" Type="http://schemas.openxmlformats.org/officeDocument/2006/relationships/diagramLayout" Target="../diagrams/layout281.xml"/><Relationship Id="rId7" Type="http://schemas.openxmlformats.org/officeDocument/2006/relationships/hyperlink" Target="https://learn.microsoft.com/en-us/azure/digital-twins/overview" TargetMode="External"/><Relationship Id="rId12" Type="http://schemas.openxmlformats.org/officeDocument/2006/relationships/hyperlink" Target="https://www.bentley.com/software/itwin-platform/" TargetMode="External"/><Relationship Id="rId2" Type="http://schemas.openxmlformats.org/officeDocument/2006/relationships/diagramData" Target="../diagrams/data281.xml"/><Relationship Id="rId1" Type="http://schemas.openxmlformats.org/officeDocument/2006/relationships/slideLayout" Target="../slideLayouts/slideLayout2.xml"/><Relationship Id="rId6" Type="http://schemas.microsoft.com/office/2007/relationships/diagramDrawing" Target="../diagrams/drawing281.xml"/><Relationship Id="rId11" Type="http://schemas.openxmlformats.org/officeDocument/2006/relationships/hyperlink" Target="https://resources.nvidia.com/l/en-us-digital-twin-reference-architecture" TargetMode="External"/><Relationship Id="rId5" Type="http://schemas.openxmlformats.org/officeDocument/2006/relationships/diagramColors" Target="../diagrams/colors281.xml"/><Relationship Id="rId15" Type="http://schemas.openxmlformats.org/officeDocument/2006/relationships/hyperlink" Target="https://www.manning.com/books/digital-twins-in-action" TargetMode="External"/><Relationship Id="rId10" Type="http://schemas.openxmlformats.org/officeDocument/2006/relationships/hyperlink" Target="https://www.digitaltwinconsortium.org/wp-content/uploads/sites/3/2023/07/Platform-Stack-Architectural-Framework-2023-07-11.pdf" TargetMode="External"/><Relationship Id="rId4" Type="http://schemas.openxmlformats.org/officeDocument/2006/relationships/diagramQuickStyle" Target="../diagrams/quickStyle281.xml"/><Relationship Id="rId9" Type="http://schemas.openxmlformats.org/officeDocument/2006/relationships/hyperlink" Target="https://arxiv.org/abs/2504.07530" TargetMode="External"/><Relationship Id="rId14" Type="http://schemas.openxmlformats.org/officeDocument/2006/relationships/hyperlink" Target="https://github.com/PacktPublishing/Hands-on-Azure-Digital-Twins" TargetMode="External"/></Relationships>
</file>

<file path=ppt/slides/_rels/slide281.xml.rels><?xml version="1.0" encoding="UTF-8" standalone="yes"?>
<Relationships xmlns="http://schemas.openxmlformats.org/package/2006/relationships"><Relationship Id="rId3" Type="http://schemas.openxmlformats.org/officeDocument/2006/relationships/diagramLayout" Target="../diagrams/layout282.xml"/><Relationship Id="rId7" Type="http://schemas.openxmlformats.org/officeDocument/2006/relationships/image" Target="../media/image94.png"/><Relationship Id="rId2" Type="http://schemas.openxmlformats.org/officeDocument/2006/relationships/diagramData" Target="../diagrams/data282.xml"/><Relationship Id="rId1" Type="http://schemas.openxmlformats.org/officeDocument/2006/relationships/slideLayout" Target="../slideLayouts/slideLayout2.xml"/><Relationship Id="rId6" Type="http://schemas.microsoft.com/office/2007/relationships/diagramDrawing" Target="../diagrams/drawing282.xml"/><Relationship Id="rId5" Type="http://schemas.openxmlformats.org/officeDocument/2006/relationships/diagramColors" Target="../diagrams/colors282.xml"/><Relationship Id="rId4" Type="http://schemas.openxmlformats.org/officeDocument/2006/relationships/diagramQuickStyle" Target="../diagrams/quickStyle282.xml"/></Relationships>
</file>

<file path=ppt/slides/_rels/slide282.xml.rels><?xml version="1.0" encoding="UTF-8" standalone="yes"?>
<Relationships xmlns="http://schemas.openxmlformats.org/package/2006/relationships"><Relationship Id="rId3" Type="http://schemas.openxmlformats.org/officeDocument/2006/relationships/diagramLayout" Target="../diagrams/layout283.xml"/><Relationship Id="rId2" Type="http://schemas.openxmlformats.org/officeDocument/2006/relationships/diagramData" Target="../diagrams/data283.xml"/><Relationship Id="rId1" Type="http://schemas.openxmlformats.org/officeDocument/2006/relationships/slideLayout" Target="../slideLayouts/slideLayout2.xml"/><Relationship Id="rId6" Type="http://schemas.microsoft.com/office/2007/relationships/diagramDrawing" Target="../diagrams/drawing283.xml"/><Relationship Id="rId5" Type="http://schemas.openxmlformats.org/officeDocument/2006/relationships/diagramColors" Target="../diagrams/colors283.xml"/><Relationship Id="rId4" Type="http://schemas.openxmlformats.org/officeDocument/2006/relationships/diagramQuickStyle" Target="../diagrams/quickStyle283.xml"/></Relationships>
</file>

<file path=ppt/slides/_rels/slide283.xml.rels><?xml version="1.0" encoding="UTF-8" standalone="yes"?>
<Relationships xmlns="http://schemas.openxmlformats.org/package/2006/relationships"><Relationship Id="rId8" Type="http://schemas.openxmlformats.org/officeDocument/2006/relationships/hyperlink" Target="https://arxiv.org/pdf/2308.10559" TargetMode="External"/><Relationship Id="rId13" Type="http://schemas.openxmlformats.org/officeDocument/2006/relationships/hyperlink" Target="https://www.amazon.in/Creating-Augmented-Virtual-Realities-Next-Generation-ebook/dp/B07PSL7NM4/ref=tmm_kin_swatch_0" TargetMode="External"/><Relationship Id="rId3" Type="http://schemas.openxmlformats.org/officeDocument/2006/relationships/diagramLayout" Target="../diagrams/layout284.xml"/><Relationship Id="rId7" Type="http://schemas.openxmlformats.org/officeDocument/2006/relationships/hyperlink" Target="https://www.mdpi.com/1999-5903/17/7/283" TargetMode="External"/><Relationship Id="rId12" Type="http://schemas.openxmlformats.org/officeDocument/2006/relationships/hyperlink" Target="https://www.amazon.in/Practical-Augmented-Reality-Technologies-Applications-ebook/dp/B01LQLIVFC/ref=tmm_kin_swatch_0" TargetMode="External"/><Relationship Id="rId2" Type="http://schemas.openxmlformats.org/officeDocument/2006/relationships/diagramData" Target="../diagrams/data284.xml"/><Relationship Id="rId1" Type="http://schemas.openxmlformats.org/officeDocument/2006/relationships/slideLayout" Target="../slideLayouts/slideLayout2.xml"/><Relationship Id="rId6" Type="http://schemas.microsoft.com/office/2007/relationships/diagramDrawing" Target="../diagrams/drawing284.xml"/><Relationship Id="rId11" Type="http://schemas.openxmlformats.org/officeDocument/2006/relationships/hyperlink" Target="https://www.amazon.in/Learning-Virtual-Reality-Tony-Parisi/dp/1491922834" TargetMode="External"/><Relationship Id="rId5" Type="http://schemas.openxmlformats.org/officeDocument/2006/relationships/diagramColors" Target="../diagrams/colors284.xml"/><Relationship Id="rId15" Type="http://schemas.openxmlformats.org/officeDocument/2006/relationships/hyperlink" Target="https://www.amazon.in/Handbook-Augmented-Virtual-Reality-Badotra-ebook/dp/B0CGPSWHTC?asin=B0CGPSWHTC&amp;revisionId=d573e034&amp;format=3&amp;depth=1" TargetMode="External"/><Relationship Id="rId10" Type="http://schemas.openxmlformats.org/officeDocument/2006/relationships/hyperlink" Target="https://github.com/Apress/ar-vr-using-webxr-api" TargetMode="External"/><Relationship Id="rId4" Type="http://schemas.openxmlformats.org/officeDocument/2006/relationships/diagramQuickStyle" Target="../diagrams/quickStyle284.xml"/><Relationship Id="rId9" Type="http://schemas.openxmlformats.org/officeDocument/2006/relationships/hyperlink" Target="https://www.udemy.com/course/metaverse-masterclass-learn-everything-about-the-metaverse/?srsltid=AfmBOoraFJtzD46yb59v8lhEfdsnT7AIkF2IB01TYfJMCNPE3arWXpN5" TargetMode="External"/><Relationship Id="rId14" Type="http://schemas.openxmlformats.org/officeDocument/2006/relationships/hyperlink" Target="https://www.amazon.in/UX-Experience-Strategies-Immersive-Technologies-ebook/dp/B0975JY3KQ/ref=tmm_kin_swatch_0" TargetMode="External"/></Relationships>
</file>

<file path=ppt/slides/_rels/slide284.xml.rels><?xml version="1.0" encoding="UTF-8" standalone="yes"?>
<Relationships xmlns="http://schemas.openxmlformats.org/package/2006/relationships"><Relationship Id="rId3" Type="http://schemas.openxmlformats.org/officeDocument/2006/relationships/diagramLayout" Target="../diagrams/layout285.xml"/><Relationship Id="rId7" Type="http://schemas.openxmlformats.org/officeDocument/2006/relationships/image" Target="../media/image95.png"/><Relationship Id="rId2" Type="http://schemas.openxmlformats.org/officeDocument/2006/relationships/diagramData" Target="../diagrams/data285.xml"/><Relationship Id="rId1" Type="http://schemas.openxmlformats.org/officeDocument/2006/relationships/slideLayout" Target="../slideLayouts/slideLayout2.xml"/><Relationship Id="rId6" Type="http://schemas.microsoft.com/office/2007/relationships/diagramDrawing" Target="../diagrams/drawing285.xml"/><Relationship Id="rId5" Type="http://schemas.openxmlformats.org/officeDocument/2006/relationships/diagramColors" Target="../diagrams/colors285.xml"/><Relationship Id="rId4" Type="http://schemas.openxmlformats.org/officeDocument/2006/relationships/diagramQuickStyle" Target="../diagrams/quickStyle285.xml"/></Relationships>
</file>

<file path=ppt/slides/_rels/slide285.xml.rels><?xml version="1.0" encoding="UTF-8" standalone="yes"?>
<Relationships xmlns="http://schemas.openxmlformats.org/package/2006/relationships"><Relationship Id="rId3" Type="http://schemas.openxmlformats.org/officeDocument/2006/relationships/diagramLayout" Target="../diagrams/layout286.xml"/><Relationship Id="rId2" Type="http://schemas.openxmlformats.org/officeDocument/2006/relationships/diagramData" Target="../diagrams/data286.xml"/><Relationship Id="rId1" Type="http://schemas.openxmlformats.org/officeDocument/2006/relationships/slideLayout" Target="../slideLayouts/slideLayout2.xml"/><Relationship Id="rId6" Type="http://schemas.microsoft.com/office/2007/relationships/diagramDrawing" Target="../diagrams/drawing286.xml"/><Relationship Id="rId5" Type="http://schemas.openxmlformats.org/officeDocument/2006/relationships/diagramColors" Target="../diagrams/colors286.xml"/><Relationship Id="rId4" Type="http://schemas.openxmlformats.org/officeDocument/2006/relationships/diagramQuickStyle" Target="../diagrams/quickStyle286.xml"/></Relationships>
</file>

<file path=ppt/slides/_rels/slide286.xml.rels><?xml version="1.0" encoding="UTF-8" standalone="yes"?>
<Relationships xmlns="http://schemas.openxmlformats.org/package/2006/relationships"><Relationship Id="rId3" Type="http://schemas.openxmlformats.org/officeDocument/2006/relationships/diagramLayout" Target="../diagrams/layout287.xml"/><Relationship Id="rId2" Type="http://schemas.openxmlformats.org/officeDocument/2006/relationships/diagramData" Target="../diagrams/data287.xml"/><Relationship Id="rId1" Type="http://schemas.openxmlformats.org/officeDocument/2006/relationships/slideLayout" Target="../slideLayouts/slideLayout2.xml"/><Relationship Id="rId6" Type="http://schemas.microsoft.com/office/2007/relationships/diagramDrawing" Target="../diagrams/drawing287.xml"/><Relationship Id="rId5" Type="http://schemas.openxmlformats.org/officeDocument/2006/relationships/diagramColors" Target="../diagrams/colors287.xml"/><Relationship Id="rId4" Type="http://schemas.openxmlformats.org/officeDocument/2006/relationships/diagramQuickStyle" Target="../diagrams/quickStyle287.xml"/></Relationships>
</file>

<file path=ppt/slides/_rels/slide287.xml.rels><?xml version="1.0" encoding="UTF-8" standalone="yes"?>
<Relationships xmlns="http://schemas.openxmlformats.org/package/2006/relationships"><Relationship Id="rId3" Type="http://schemas.openxmlformats.org/officeDocument/2006/relationships/diagramLayout" Target="../diagrams/layout288.xml"/><Relationship Id="rId2" Type="http://schemas.openxmlformats.org/officeDocument/2006/relationships/diagramData" Target="../diagrams/data288.xml"/><Relationship Id="rId1" Type="http://schemas.openxmlformats.org/officeDocument/2006/relationships/slideLayout" Target="../slideLayouts/slideLayout2.xml"/><Relationship Id="rId6" Type="http://schemas.microsoft.com/office/2007/relationships/diagramDrawing" Target="../diagrams/drawing288.xml"/><Relationship Id="rId5" Type="http://schemas.openxmlformats.org/officeDocument/2006/relationships/diagramColors" Target="../diagrams/colors288.xml"/><Relationship Id="rId4" Type="http://schemas.openxmlformats.org/officeDocument/2006/relationships/diagramQuickStyle" Target="../diagrams/quickStyle288.xml"/></Relationships>
</file>

<file path=ppt/slides/_rels/slide288.xml.rels><?xml version="1.0" encoding="UTF-8" standalone="yes"?>
<Relationships xmlns="http://schemas.openxmlformats.org/package/2006/relationships"><Relationship Id="rId3" Type="http://schemas.openxmlformats.org/officeDocument/2006/relationships/diagramLayout" Target="../diagrams/layout289.xml"/><Relationship Id="rId7" Type="http://schemas.openxmlformats.org/officeDocument/2006/relationships/image" Target="../media/image96.png"/><Relationship Id="rId2" Type="http://schemas.openxmlformats.org/officeDocument/2006/relationships/diagramData" Target="../diagrams/data289.xml"/><Relationship Id="rId1" Type="http://schemas.openxmlformats.org/officeDocument/2006/relationships/slideLayout" Target="../slideLayouts/slideLayout2.xml"/><Relationship Id="rId6" Type="http://schemas.microsoft.com/office/2007/relationships/diagramDrawing" Target="../diagrams/drawing289.xml"/><Relationship Id="rId5" Type="http://schemas.openxmlformats.org/officeDocument/2006/relationships/diagramColors" Target="../diagrams/colors289.xml"/><Relationship Id="rId4" Type="http://schemas.openxmlformats.org/officeDocument/2006/relationships/diagramQuickStyle" Target="../diagrams/quickStyle289.xml"/></Relationships>
</file>

<file path=ppt/slides/_rels/slide289.xml.rels><?xml version="1.0" encoding="UTF-8" standalone="yes"?>
<Relationships xmlns="http://schemas.openxmlformats.org/package/2006/relationships"><Relationship Id="rId3" Type="http://schemas.openxmlformats.org/officeDocument/2006/relationships/diagramLayout" Target="../diagrams/layout290.xml"/><Relationship Id="rId2" Type="http://schemas.openxmlformats.org/officeDocument/2006/relationships/diagramData" Target="../diagrams/data290.xml"/><Relationship Id="rId1" Type="http://schemas.openxmlformats.org/officeDocument/2006/relationships/slideLayout" Target="../slideLayouts/slideLayout2.xml"/><Relationship Id="rId6" Type="http://schemas.microsoft.com/office/2007/relationships/diagramDrawing" Target="../diagrams/drawing290.xml"/><Relationship Id="rId5" Type="http://schemas.openxmlformats.org/officeDocument/2006/relationships/diagramColors" Target="../diagrams/colors290.xml"/><Relationship Id="rId4" Type="http://schemas.openxmlformats.org/officeDocument/2006/relationships/diagramQuickStyle" Target="../diagrams/quickStyle290.xml"/></Relationships>
</file>

<file path=ppt/slides/_rels/slide290.xml.rels><?xml version="1.0" encoding="UTF-8" standalone="yes"?>
<Relationships xmlns="http://schemas.openxmlformats.org/package/2006/relationships"><Relationship Id="rId8" Type="http://schemas.openxmlformats.org/officeDocument/2006/relationships/hyperlink" Target="https://www.ibm.com/think/topics/intelligent-automation" TargetMode="External"/><Relationship Id="rId13" Type="http://schemas.openxmlformats.org/officeDocument/2006/relationships/hyperlink" Target="https://www.redhat.com/en/blog/automation-portfolio-architecture" TargetMode="External"/><Relationship Id="rId3" Type="http://schemas.openxmlformats.org/officeDocument/2006/relationships/diagramLayout" Target="../diagrams/layout291.xml"/><Relationship Id="rId7" Type="http://schemas.openxmlformats.org/officeDocument/2006/relationships/hyperlink" Target="https://www.automationanywhere.com/rpa/intelligent-automation" TargetMode="External"/><Relationship Id="rId12" Type="http://schemas.openxmlformats.org/officeDocument/2006/relationships/hyperlink" Target="https://intelligentautomationbook.com/" TargetMode="External"/><Relationship Id="rId2" Type="http://schemas.openxmlformats.org/officeDocument/2006/relationships/diagramData" Target="../diagrams/data291.xml"/><Relationship Id="rId1" Type="http://schemas.openxmlformats.org/officeDocument/2006/relationships/slideLayout" Target="../slideLayouts/slideLayout2.xml"/><Relationship Id="rId6" Type="http://schemas.microsoft.com/office/2007/relationships/diagramDrawing" Target="../diagrams/drawing291.xml"/><Relationship Id="rId11" Type="http://schemas.openxmlformats.org/officeDocument/2006/relationships/hyperlink" Target="https://konverge.co.in/blog-intelligent-automation/" TargetMode="External"/><Relationship Id="rId5" Type="http://schemas.openxmlformats.org/officeDocument/2006/relationships/diagramColors" Target="../diagrams/colors291.xml"/><Relationship Id="rId15" Type="http://schemas.openxmlformats.org/officeDocument/2006/relationships/hyperlink" Target="https://www.packtpub.com/en-in/product/intelligent-automation-with-ibm-cloud-pak-for-business-automation-9781801811125" TargetMode="External"/><Relationship Id="rId10" Type="http://schemas.openxmlformats.org/officeDocument/2006/relationships/hyperlink" Target="https://isg-one.com/articles/building-an-intelligent-automation-reference-architecture" TargetMode="External"/><Relationship Id="rId4" Type="http://schemas.openxmlformats.org/officeDocument/2006/relationships/diagramQuickStyle" Target="../diagrams/quickStyle291.xml"/><Relationship Id="rId9" Type="http://schemas.openxmlformats.org/officeDocument/2006/relationships/hyperlink" Target="https://www.uipath.com/automation/intelligent-automation" TargetMode="External"/><Relationship Id="rId14" Type="http://schemas.openxmlformats.org/officeDocument/2006/relationships/hyperlink" Target="https://learn.microsoft.com/en-us/power-platform/architecture/products/power-automate" TargetMode="External"/></Relationships>
</file>

<file path=ppt/slides/_rels/slide291.xml.rels><?xml version="1.0" encoding="UTF-8" standalone="yes"?>
<Relationships xmlns="http://schemas.openxmlformats.org/package/2006/relationships"><Relationship Id="rId8" Type="http://schemas.openxmlformats.org/officeDocument/2006/relationships/hyperlink" Target="https://cloud.ibm.com/docs/industry-ref-arch?topic=industry-ref-arch-supplychain" TargetMode="External"/><Relationship Id="rId3" Type="http://schemas.openxmlformats.org/officeDocument/2006/relationships/diagramLayout" Target="../diagrams/layout292.xml"/><Relationship Id="rId7" Type="http://schemas.openxmlformats.org/officeDocument/2006/relationships/image" Target="../media/image97.png"/><Relationship Id="rId12" Type="http://schemas.openxmlformats.org/officeDocument/2006/relationships/hyperlink" Target="https://arxiv.org/pdf/2302.06184" TargetMode="External"/><Relationship Id="rId2" Type="http://schemas.openxmlformats.org/officeDocument/2006/relationships/diagramData" Target="../diagrams/data292.xml"/><Relationship Id="rId1" Type="http://schemas.openxmlformats.org/officeDocument/2006/relationships/slideLayout" Target="../slideLayouts/slideLayout2.xml"/><Relationship Id="rId6" Type="http://schemas.microsoft.com/office/2007/relationships/diagramDrawing" Target="../diagrams/drawing292.xml"/><Relationship Id="rId11" Type="http://schemas.openxmlformats.org/officeDocument/2006/relationships/hyperlink" Target="https://throughput.world/blog/supply-chain-operations-reference-scor-model" TargetMode="External"/><Relationship Id="rId5" Type="http://schemas.openxmlformats.org/officeDocument/2006/relationships/diagramColors" Target="../diagrams/colors292.xml"/><Relationship Id="rId10" Type="http://schemas.openxmlformats.org/officeDocument/2006/relationships/hyperlink" Target="https://www.databricks.com/resources/architectures/manufacturing-digital-supply-chain-reference-architecture" TargetMode="External"/><Relationship Id="rId4" Type="http://schemas.openxmlformats.org/officeDocument/2006/relationships/diagramQuickStyle" Target="../diagrams/quickStyle292.xml"/><Relationship Id="rId9" Type="http://schemas.openxmlformats.org/officeDocument/2006/relationships/hyperlink" Target="https://learn.microsoft.com/en-us/industry/manufacturing/architecture/ra-overview" TargetMode="External"/></Relationships>
</file>

<file path=ppt/slides/_rels/slide292.xml.rels><?xml version="1.0" encoding="UTF-8" standalone="yes"?>
<Relationships xmlns="http://schemas.openxmlformats.org/package/2006/relationships"><Relationship Id="rId3" Type="http://schemas.openxmlformats.org/officeDocument/2006/relationships/diagramLayout" Target="../diagrams/layout293.xml"/><Relationship Id="rId7" Type="http://schemas.openxmlformats.org/officeDocument/2006/relationships/image" Target="../media/image98.png"/><Relationship Id="rId2" Type="http://schemas.openxmlformats.org/officeDocument/2006/relationships/diagramData" Target="../diagrams/data293.xml"/><Relationship Id="rId1" Type="http://schemas.openxmlformats.org/officeDocument/2006/relationships/slideLayout" Target="../slideLayouts/slideLayout2.xml"/><Relationship Id="rId6" Type="http://schemas.microsoft.com/office/2007/relationships/diagramDrawing" Target="../diagrams/drawing293.xml"/><Relationship Id="rId5" Type="http://schemas.openxmlformats.org/officeDocument/2006/relationships/diagramColors" Target="../diagrams/colors293.xml"/><Relationship Id="rId4" Type="http://schemas.openxmlformats.org/officeDocument/2006/relationships/diagramQuickStyle" Target="../diagrams/quickStyle293.xml"/></Relationships>
</file>

<file path=ppt/slides/_rels/slide293.xml.rels><?xml version="1.0" encoding="UTF-8" standalone="yes"?>
<Relationships xmlns="http://schemas.openxmlformats.org/package/2006/relationships"><Relationship Id="rId3" Type="http://schemas.openxmlformats.org/officeDocument/2006/relationships/diagramLayout" Target="../diagrams/layout294.xml"/><Relationship Id="rId2" Type="http://schemas.openxmlformats.org/officeDocument/2006/relationships/diagramData" Target="../diagrams/data294.xml"/><Relationship Id="rId1" Type="http://schemas.openxmlformats.org/officeDocument/2006/relationships/slideLayout" Target="../slideLayouts/slideLayout2.xml"/><Relationship Id="rId6" Type="http://schemas.microsoft.com/office/2007/relationships/diagramDrawing" Target="../diagrams/drawing294.xml"/><Relationship Id="rId5" Type="http://schemas.openxmlformats.org/officeDocument/2006/relationships/diagramColors" Target="../diagrams/colors294.xml"/><Relationship Id="rId4" Type="http://schemas.openxmlformats.org/officeDocument/2006/relationships/diagramQuickStyle" Target="../diagrams/quickStyle294.xml"/></Relationships>
</file>

<file path=ppt/slides/_rels/slide294.xml.rels><?xml version="1.0" encoding="UTF-8" standalone="yes"?>
<Relationships xmlns="http://schemas.openxmlformats.org/package/2006/relationships"><Relationship Id="rId3" Type="http://schemas.openxmlformats.org/officeDocument/2006/relationships/diagramLayout" Target="../diagrams/layout295.xml"/><Relationship Id="rId2" Type="http://schemas.openxmlformats.org/officeDocument/2006/relationships/diagramData" Target="../diagrams/data295.xml"/><Relationship Id="rId1" Type="http://schemas.openxmlformats.org/officeDocument/2006/relationships/slideLayout" Target="../slideLayouts/slideLayout2.xml"/><Relationship Id="rId6" Type="http://schemas.microsoft.com/office/2007/relationships/diagramDrawing" Target="../diagrams/drawing295.xml"/><Relationship Id="rId5" Type="http://schemas.openxmlformats.org/officeDocument/2006/relationships/diagramColors" Target="../diagrams/colors295.xml"/><Relationship Id="rId4" Type="http://schemas.openxmlformats.org/officeDocument/2006/relationships/diagramQuickStyle" Target="../diagrams/quickStyle295.xml"/></Relationships>
</file>

<file path=ppt/slides/_rels/slide295.xml.rels><?xml version="1.0" encoding="UTF-8" standalone="yes"?>
<Relationships xmlns="http://schemas.openxmlformats.org/package/2006/relationships"><Relationship Id="rId3" Type="http://schemas.openxmlformats.org/officeDocument/2006/relationships/diagramLayout" Target="../diagrams/layout296.xml"/><Relationship Id="rId2" Type="http://schemas.openxmlformats.org/officeDocument/2006/relationships/diagramData" Target="../diagrams/data296.xml"/><Relationship Id="rId1" Type="http://schemas.openxmlformats.org/officeDocument/2006/relationships/slideLayout" Target="../slideLayouts/slideLayout2.xml"/><Relationship Id="rId6" Type="http://schemas.microsoft.com/office/2007/relationships/diagramDrawing" Target="../diagrams/drawing296.xml"/><Relationship Id="rId5" Type="http://schemas.openxmlformats.org/officeDocument/2006/relationships/diagramColors" Target="../diagrams/colors296.xml"/><Relationship Id="rId4" Type="http://schemas.openxmlformats.org/officeDocument/2006/relationships/diagramQuickStyle" Target="../diagrams/quickStyle296.xml"/></Relationships>
</file>

<file path=ppt/slides/_rels/slide296.xml.rels><?xml version="1.0" encoding="UTF-8" standalone="yes"?>
<Relationships xmlns="http://schemas.openxmlformats.org/package/2006/relationships"><Relationship Id="rId3" Type="http://schemas.openxmlformats.org/officeDocument/2006/relationships/diagramLayout" Target="../diagrams/layout297.xml"/><Relationship Id="rId2" Type="http://schemas.openxmlformats.org/officeDocument/2006/relationships/diagramData" Target="../diagrams/data297.xml"/><Relationship Id="rId1" Type="http://schemas.openxmlformats.org/officeDocument/2006/relationships/slideLayout" Target="../slideLayouts/slideLayout2.xml"/><Relationship Id="rId6" Type="http://schemas.microsoft.com/office/2007/relationships/diagramDrawing" Target="../diagrams/drawing297.xml"/><Relationship Id="rId5" Type="http://schemas.openxmlformats.org/officeDocument/2006/relationships/diagramColors" Target="../diagrams/colors297.xml"/><Relationship Id="rId4" Type="http://schemas.openxmlformats.org/officeDocument/2006/relationships/diagramQuickStyle" Target="../diagrams/quickStyle297.xml"/></Relationships>
</file>

<file path=ppt/slides/_rels/slide297.xml.rels><?xml version="1.0" encoding="UTF-8" standalone="yes"?>
<Relationships xmlns="http://schemas.openxmlformats.org/package/2006/relationships"><Relationship Id="rId8" Type="http://schemas.openxmlformats.org/officeDocument/2006/relationships/hyperlink" Target="https://www.linkedin.com/posts/pradeep-gauda_agile-terminology-handbook-activity-7161291942062866432-pmUF/" TargetMode="External"/><Relationship Id="rId13" Type="http://schemas.openxmlformats.org/officeDocument/2006/relationships/hyperlink" Target="https://www.udemy.com/course/jira-confluence-masterclass-2025-for-users-projects/?couponCode=LETSLEARNNOW" TargetMode="External"/><Relationship Id="rId18" Type="http://schemas.openxmlformats.org/officeDocument/2006/relationships/hyperlink" Target="https://theleanstartup.com/" TargetMode="External"/><Relationship Id="rId26" Type="http://schemas.openxmlformats.org/officeDocument/2006/relationships/hyperlink" Target="https://www.atlassian.com/blog/loom/cross-functional-collaboration" TargetMode="External"/><Relationship Id="rId3" Type="http://schemas.openxmlformats.org/officeDocument/2006/relationships/diagramLayout" Target="../diagrams/layout298.xml"/><Relationship Id="rId21" Type="http://schemas.openxmlformats.org/officeDocument/2006/relationships/hyperlink" Target="https://readingraphics.com/book-summary-thinking-in-systems/" TargetMode="External"/><Relationship Id="rId7" Type="http://schemas.openxmlformats.org/officeDocument/2006/relationships/hyperlink" Target="https://www.linkedin.com/posts/shraddha-sahu-5b99b8142_they-say-the-secret-to-scrum-success-lies-activity-7340955607169945600-VJH7/" TargetMode="External"/><Relationship Id="rId12" Type="http://schemas.openxmlformats.org/officeDocument/2006/relationships/hyperlink" Target="https://www.udemy.com/course/the-complete-guide-to-jira-with-real-world-examples/?couponCode=KEEPLEARNING" TargetMode="External"/><Relationship Id="rId17" Type="http://schemas.openxmlformats.org/officeDocument/2006/relationships/hyperlink" Target="https://www.packtpub.com/en-in/product/jira-work-management-for-business-teams-9781803249148" TargetMode="External"/><Relationship Id="rId25" Type="http://schemas.openxmlformats.org/officeDocument/2006/relationships/hyperlink" Target="https://www.walkme.com/blog/change-management-techniques/" TargetMode="External"/><Relationship Id="rId2" Type="http://schemas.openxmlformats.org/officeDocument/2006/relationships/diagramData" Target="../diagrams/data298.xml"/><Relationship Id="rId16" Type="http://schemas.openxmlformats.org/officeDocument/2006/relationships/hyperlink" Target="https://www.packtpub.com/en-in/product/hands-on-agile-software-development-with-jira-9781789539622" TargetMode="External"/><Relationship Id="rId20" Type="http://schemas.openxmlformats.org/officeDocument/2006/relationships/hyperlink" Target="https://maa1.medium.com/book-review-inspired-how-to-create-tech-products-customers-love-4fc8e8f26739" TargetMode="External"/><Relationship Id="rId29" Type="http://schemas.openxmlformats.org/officeDocument/2006/relationships/hyperlink" Target="https://www.oreilly.com/library/view/beyond-software-architecture/0201775948/" TargetMode="External"/><Relationship Id="rId1" Type="http://schemas.openxmlformats.org/officeDocument/2006/relationships/slideLayout" Target="../slideLayouts/slideLayout2.xml"/><Relationship Id="rId6" Type="http://schemas.microsoft.com/office/2007/relationships/diagramDrawing" Target="../diagrams/drawing298.xml"/><Relationship Id="rId11" Type="http://schemas.openxmlformats.org/officeDocument/2006/relationships/hyperlink" Target="https://github.com/PacktPublishing/SAFe-Coaches-Handbook" TargetMode="External"/><Relationship Id="rId24" Type="http://schemas.openxmlformats.org/officeDocument/2006/relationships/hyperlink" Target="https://www.coursera.org/articles/conflict-management" TargetMode="External"/><Relationship Id="rId5" Type="http://schemas.openxmlformats.org/officeDocument/2006/relationships/diagramColors" Target="../diagrams/colors298.xml"/><Relationship Id="rId15" Type="http://schemas.openxmlformats.org/officeDocument/2006/relationships/hyperlink" Target="https://github.com/PacktPublishing/Automate-Everyday-Tasks-in-Jira" TargetMode="External"/><Relationship Id="rId23" Type="http://schemas.openxmlformats.org/officeDocument/2006/relationships/hyperlink" Target="https://asana.com/resources/communication-styles" TargetMode="External"/><Relationship Id="rId28" Type="http://schemas.openxmlformats.org/officeDocument/2006/relationships/hyperlink" Target="https://www.myperfectresume.com/career-center/resumes/how-to/star-method" TargetMode="External"/><Relationship Id="rId10" Type="http://schemas.openxmlformats.org/officeDocument/2006/relationships/hyperlink" Target="https://github.com/PacktPublishing/Agile-Project-Management" TargetMode="External"/><Relationship Id="rId19" Type="http://schemas.openxmlformats.org/officeDocument/2006/relationships/hyperlink" Target="https://alumni.lincolncollege.ac.uk/files/2016/11/The-Lean-Startup-by-Eric-Ries-Book-Summary.pdf" TargetMode="External"/><Relationship Id="rId4" Type="http://schemas.openxmlformats.org/officeDocument/2006/relationships/diagramQuickStyle" Target="../diagrams/quickStyle298.xml"/><Relationship Id="rId9" Type="http://schemas.openxmlformats.org/officeDocument/2006/relationships/hyperlink" Target="https://resources.scrumalliance.org/Article/definition-vs-ready" TargetMode="External"/><Relationship Id="rId14" Type="http://schemas.openxmlformats.org/officeDocument/2006/relationships/hyperlink" Target="https://www.udemy.com/course/agile-project-planning-with-jira-portfolio/?couponCode=PMNVD2025" TargetMode="External"/><Relationship Id="rId22" Type="http://schemas.openxmlformats.org/officeDocument/2006/relationships/hyperlink" Target="https://trainingmag.com/10-proven-team-building-strategies/" TargetMode="External"/><Relationship Id="rId27" Type="http://schemas.openxmlformats.org/officeDocument/2006/relationships/hyperlink" Target="https://www.indeed.com/career-advice/career-development/project-management-budgeting-methods" TargetMode="External"/></Relationships>
</file>

<file path=ppt/slides/_rels/slide298.xml.rels><?xml version="1.0" encoding="UTF-8" standalone="yes"?>
<Relationships xmlns="http://schemas.openxmlformats.org/package/2006/relationships"><Relationship Id="rId8" Type="http://schemas.openxmlformats.org/officeDocument/2006/relationships/hyperlink" Target="https://github.com/TheKataLog" TargetMode="External"/><Relationship Id="rId13" Type="http://schemas.openxmlformats.org/officeDocument/2006/relationships/hyperlink" Target="https://roadmap.sh/software-design-architecture" TargetMode="External"/><Relationship Id="rId18" Type="http://schemas.openxmlformats.org/officeDocument/2006/relationships/hyperlink" Target="https://www.amazon.com/dp/B087M96JTF?binding=kindle_edition&amp;ref=dbs_m_mng_rwt_sft_tkin_tpbk&amp;qid=1613933190&amp;sr=8-1-spons" TargetMode="External"/><Relationship Id="rId26" Type="http://schemas.openxmlformats.org/officeDocument/2006/relationships/hyperlink" Target="https://www.packtpub.com/en-in/product/solutions-architects-handbook-9781835084236?srsltid=AfmBOooFgWKN2eWG5Z3ux3g3vAyENwQqqCWRyyKOjlX7zFW6sTmeI36T" TargetMode="External"/><Relationship Id="rId3" Type="http://schemas.openxmlformats.org/officeDocument/2006/relationships/diagramLayout" Target="../diagrams/layout299.xml"/><Relationship Id="rId21" Type="http://schemas.openxmlformats.org/officeDocument/2006/relationships/hyperlink" Target="https://github.com/unlight/solution-architecture" TargetMode="External"/><Relationship Id="rId7" Type="http://schemas.openxmlformats.org/officeDocument/2006/relationships/hyperlink" Target="https://www.architecturalkatas.com/about.html" TargetMode="External"/><Relationship Id="rId12" Type="http://schemas.openxmlformats.org/officeDocument/2006/relationships/hyperlink" Target="https://github.com/microsoft/code-with-engineering-playbook" TargetMode="External"/><Relationship Id="rId17" Type="http://schemas.openxmlformats.org/officeDocument/2006/relationships/hyperlink" Target="https://github.com/NikAshanin/Solution-Architect-Road-Map" TargetMode="External"/><Relationship Id="rId25" Type="http://schemas.openxmlformats.org/officeDocument/2006/relationships/hyperlink" Target="https://www.fractionalarchitect.io/books/master-software-architecture" TargetMode="External"/><Relationship Id="rId2" Type="http://schemas.openxmlformats.org/officeDocument/2006/relationships/diagramData" Target="../diagrams/data299.xml"/><Relationship Id="rId16" Type="http://schemas.openxmlformats.org/officeDocument/2006/relationships/hyperlink" Target="https://roadmap.sh/software-architect" TargetMode="External"/><Relationship Id="rId20" Type="http://schemas.openxmlformats.org/officeDocument/2006/relationships/hyperlink" Target="https://github.com/gtonic/awesome-it-architect?tab=readme-ov-file" TargetMode="External"/><Relationship Id="rId29" Type="http://schemas.openxmlformats.org/officeDocument/2006/relationships/hyperlink" Target="https://www.amazon.in/dp/B09B511D47?binding=kindle_edition&amp;ref=dbs_m_mng_rwt_sft_tkin_tpbk&amp;qid=1722843955&amp;sr=8-1" TargetMode="External"/><Relationship Id="rId1" Type="http://schemas.openxmlformats.org/officeDocument/2006/relationships/slideLayout" Target="../slideLayouts/slideLayout2.xml"/><Relationship Id="rId6" Type="http://schemas.microsoft.com/office/2007/relationships/diagramDrawing" Target="../diagrams/drawing299.xml"/><Relationship Id="rId11" Type="http://schemas.openxmlformats.org/officeDocument/2006/relationships/hyperlink" Target="https://learn.microsoft.com/en-us/industry/playbook/cross-industry/" TargetMode="External"/><Relationship Id="rId24" Type="http://schemas.openxmlformats.org/officeDocument/2006/relationships/hyperlink" Target="https://github.com/alexpulver/awesome-architecture" TargetMode="External"/><Relationship Id="rId5" Type="http://schemas.openxmlformats.org/officeDocument/2006/relationships/diagramColors" Target="../diagrams/colors299.xml"/><Relationship Id="rId15" Type="http://schemas.openxmlformats.org/officeDocument/2006/relationships/hyperlink" Target="https://github.com/vvsevolodovich/solution-architect-roadmap?tab=readme-ov-file" TargetMode="External"/><Relationship Id="rId23" Type="http://schemas.openxmlformats.org/officeDocument/2006/relationships/hyperlink" Target="https://github.com/domrost/software-architecture-resources" TargetMode="External"/><Relationship Id="rId28" Type="http://schemas.openxmlformats.org/officeDocument/2006/relationships/hyperlink" Target="https://www.packtpub.com/en-in/product/architectural-patterns-9781787287495?srsltid=AfmBOooD9NWzME_8F8LO6cet9Gm5DGa-cRe50ZmJnArbJQrYNYdMlbC1" TargetMode="External"/><Relationship Id="rId10" Type="http://schemas.openxmlformats.org/officeDocument/2006/relationships/hyperlink" Target="https://github.com/DovAmir/awesome-design-patterns" TargetMode="External"/><Relationship Id="rId19" Type="http://schemas.openxmlformats.org/officeDocument/2006/relationships/hyperlink" Target="https://www.amazon.in/Practical-Guide-Software-Architecture-architecture-ebook/dp/B0CK8QWPYZ/ref=tmm_kin_swatch_0" TargetMode="External"/><Relationship Id="rId4" Type="http://schemas.openxmlformats.org/officeDocument/2006/relationships/diagramQuickStyle" Target="../diagrams/quickStyle299.xml"/><Relationship Id="rId9" Type="http://schemas.openxmlformats.org/officeDocument/2006/relationships/hyperlink" Target="https://www.planetgeek.ch/2019/09/12/clean-simple-flexible-evolvable-and-agile-architecture-cheat-sheet-update-v1-5/" TargetMode="External"/><Relationship Id="rId14" Type="http://schemas.openxmlformats.org/officeDocument/2006/relationships/hyperlink" Target="https://blog.bytebytego.com/archive?sort=new" TargetMode="External"/><Relationship Id="rId22" Type="http://schemas.openxmlformats.org/officeDocument/2006/relationships/hyperlink" Target="https://github.com/chanakaudaya/solution-architecture-patterns" TargetMode="External"/><Relationship Id="rId27" Type="http://schemas.openxmlformats.org/officeDocument/2006/relationships/hyperlink" Target="https://www.packtpub.com/en-us/product/software-architecture-patterns-for-serverless-systems-9781800207035?srsltid=AfmBOopK-Rxg4PUfTOelQJwPdHVFmyZ9QQHlnl-AEfJ-ZwRlzGe63Zze" TargetMode="External"/><Relationship Id="rId30" Type="http://schemas.openxmlformats.org/officeDocument/2006/relationships/hyperlink" Target="https://www.oreilly.com/library/view/beyond-software-architecture/0201775948/" TargetMode="External"/></Relationships>
</file>

<file path=ppt/slides/_rels/slide299.xml.rels><?xml version="1.0" encoding="UTF-8" standalone="yes"?>
<Relationships xmlns="http://schemas.openxmlformats.org/package/2006/relationships"><Relationship Id="rId13" Type="http://schemas.openxmlformats.org/officeDocument/2006/relationships/hyperlink" Target="https://medium.com/@techworldwithmilan/what-i-learned-from-the-software-architecture-the-hard-parts-0498c9eae88e" TargetMode="External"/><Relationship Id="rId18" Type="http://schemas.openxmlformats.org/officeDocument/2006/relationships/hyperlink" Target="https://www.linkedin.com/pulse/architecture-modernization-book-notes-hari-mallepally/" TargetMode="External"/><Relationship Id="rId26" Type="http://schemas.openxmlformats.org/officeDocument/2006/relationships/hyperlink" Target="https://www.manning.com/books/collaborative-software-design" TargetMode="External"/><Relationship Id="rId3" Type="http://schemas.openxmlformats.org/officeDocument/2006/relationships/diagramLayout" Target="../diagrams/layout300.xml"/><Relationship Id="rId21" Type="http://schemas.openxmlformats.org/officeDocument/2006/relationships/hyperlink" Target="https://www.udemy.com/course/enterprise-architecture-by-example/" TargetMode="External"/><Relationship Id="rId7" Type="http://schemas.openxmlformats.org/officeDocument/2006/relationships/hyperlink" Target="https://www.researchgate.net/publication/228883029_The_Process_of_Software_Architecting" TargetMode="External"/><Relationship Id="rId12" Type="http://schemas.openxmlformats.org/officeDocument/2006/relationships/hyperlink" Target="https://www.georgefairbanks.com/book/" TargetMode="External"/><Relationship Id="rId17" Type="http://schemas.openxmlformats.org/officeDocument/2006/relationships/hyperlink" Target="https://medium.com/@code.brain/key-learnings-from-the-book-the-software-architect-elevator-by-gregor-hohpe-b6a4944bf293" TargetMode="External"/><Relationship Id="rId25" Type="http://schemas.openxmlformats.org/officeDocument/2006/relationships/hyperlink" Target="https://martinfowler.com/articles/patterns-legacy-displacement/" TargetMode="External"/><Relationship Id="rId33" Type="http://schemas.openxmlformats.org/officeDocument/2006/relationships/hyperlink" Target="https://medium.com/@sujathamudadla1213/here-is-an-expanded-list-of-engineering-blogs-from-well-known-companies-edccca5d9530" TargetMode="External"/><Relationship Id="rId2" Type="http://schemas.openxmlformats.org/officeDocument/2006/relationships/diagramData" Target="../diagrams/data300.xml"/><Relationship Id="rId16" Type="http://schemas.openxmlformats.org/officeDocument/2006/relationships/hyperlink" Target="https://obren.io/tools/reading-notes-pro/notes/The%20Software%20Architect%20Elevator_%20Redefining%20the%20Architect's%20Role%20in%20the%20Digital%20Enterprise-Notebook.pdf" TargetMode="External"/><Relationship Id="rId20" Type="http://schemas.openxmlformats.org/officeDocument/2006/relationships/hyperlink" Target="https://leaddev.com/technical-direction/facilitating-software-architecture-andrew-harmel-law-conversation" TargetMode="External"/><Relationship Id="rId29" Type="http://schemas.openxmlformats.org/officeDocument/2006/relationships/hyperlink" Target="https://roadmap.sh/product-manager" TargetMode="External"/><Relationship Id="rId1" Type="http://schemas.openxmlformats.org/officeDocument/2006/relationships/slideLayout" Target="../slideLayouts/slideLayout2.xml"/><Relationship Id="rId6" Type="http://schemas.microsoft.com/office/2007/relationships/diagramDrawing" Target="../diagrams/drawing300.xml"/><Relationship Id="rId11" Type="http://schemas.openxmlformats.org/officeDocument/2006/relationships/hyperlink" Target="https://danlebrero.com/2022/03/30/software-architecture-the-hard-parts-book-summary/" TargetMode="External"/><Relationship Id="rId24" Type="http://schemas.openxmlformats.org/officeDocument/2006/relationships/hyperlink" Target="https://www.linkedin.com/posts/arpit-adlakha-30691a101_if-you-want-to-rock-your-software-engineering-activity-7201084788508614657--Ioa/" TargetMode="External"/><Relationship Id="rId32" Type="http://schemas.openxmlformats.org/officeDocument/2006/relationships/hyperlink" Target="https://github.com/ashishps1/awesome-behavioral-interviews" TargetMode="External"/><Relationship Id="rId5" Type="http://schemas.openxmlformats.org/officeDocument/2006/relationships/diagramColors" Target="../diagrams/colors300.xml"/><Relationship Id="rId15" Type="http://schemas.openxmlformats.org/officeDocument/2006/relationships/hyperlink" Target="https://kartick.substack.com/p/summary-of-the-software-architect" TargetMode="External"/><Relationship Id="rId23" Type="http://schemas.openxmlformats.org/officeDocument/2006/relationships/hyperlink" Target="https://hamvocke.com/blog/path-to-production/" TargetMode="External"/><Relationship Id="rId28" Type="http://schemas.openxmlformats.org/officeDocument/2006/relationships/hyperlink" Target="https://roadmap.sh/engineering-manager" TargetMode="External"/><Relationship Id="rId10" Type="http://schemas.openxmlformats.org/officeDocument/2006/relationships/hyperlink" Target="https://www.oreilly.com/library/view/beyond-software-architecture/0201775948/" TargetMode="External"/><Relationship Id="rId19" Type="http://schemas.openxmlformats.org/officeDocument/2006/relationships/hyperlink" Target="https://medium.com/@srinathperera/book-software-architecture-and-decision-making-0757fbc1c186" TargetMode="External"/><Relationship Id="rId31" Type="http://schemas.openxmlformats.org/officeDocument/2006/relationships/hyperlink" Target="https://roadmap.sh/devrel" TargetMode="External"/><Relationship Id="rId4" Type="http://schemas.openxmlformats.org/officeDocument/2006/relationships/diagramQuickStyle" Target="../diagrams/quickStyle300.xml"/><Relationship Id="rId9" Type="http://schemas.openxmlformats.org/officeDocument/2006/relationships/hyperlink" Target="https://insights.sei.cmu.edu/training/software-architecture-principles-practices/" TargetMode="External"/><Relationship Id="rId14" Type="http://schemas.openxmlformats.org/officeDocument/2006/relationships/hyperlink" Target="https://srihari-sridharan.medium.com/" TargetMode="External"/><Relationship Id="rId22" Type="http://schemas.openxmlformats.org/officeDocument/2006/relationships/hyperlink" Target="https://opensource.microsoft.com/blog/2018/03/26/new-oreilly-e-book-on-designing-distributed-systems-available-for-free-download/" TargetMode="External"/><Relationship Id="rId27" Type="http://schemas.openxmlformats.org/officeDocument/2006/relationships/hyperlink" Target="http://www.martinlippert.org/publications/review/LargeRefactoringsReviewVersion.pdf" TargetMode="External"/><Relationship Id="rId30" Type="http://schemas.openxmlformats.org/officeDocument/2006/relationships/hyperlink" Target="https://www.smartsheet.com/content/create-value-stream-map" TargetMode="External"/><Relationship Id="rId8" Type="http://schemas.openxmlformats.org/officeDocument/2006/relationships/hyperlink" Target="https://www.viewpoints-and-perspectives.info/" TargetMode="External"/></Relationships>
</file>

<file path=ppt/slides/_rels/slide300.xml.rels><?xml version="1.0" encoding="UTF-8" standalone="yes"?>
<Relationships xmlns="http://schemas.openxmlformats.org/package/2006/relationships"><Relationship Id="rId3" Type="http://schemas.openxmlformats.org/officeDocument/2006/relationships/diagramLayout" Target="../diagrams/layout301.xml"/><Relationship Id="rId2" Type="http://schemas.openxmlformats.org/officeDocument/2006/relationships/diagramData" Target="../diagrams/data301.xml"/><Relationship Id="rId1" Type="http://schemas.openxmlformats.org/officeDocument/2006/relationships/slideLayout" Target="../slideLayouts/slideLayout2.xml"/><Relationship Id="rId6" Type="http://schemas.microsoft.com/office/2007/relationships/diagramDrawing" Target="../diagrams/drawing301.xml"/><Relationship Id="rId5" Type="http://schemas.openxmlformats.org/officeDocument/2006/relationships/diagramColors" Target="../diagrams/colors301.xml"/><Relationship Id="rId4" Type="http://schemas.openxmlformats.org/officeDocument/2006/relationships/diagramQuickStyle" Target="../diagrams/quickStyle301.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209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411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91086117"/>
              </p:ext>
            </p:extLst>
          </p:nvPr>
        </p:nvGraphicFramePr>
        <p:xfrm>
          <a:off x="199100" y="304800"/>
          <a:ext cx="4982500" cy="1888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18596458"/>
              </p:ext>
            </p:extLst>
          </p:nvPr>
        </p:nvGraphicFramePr>
        <p:xfrm>
          <a:off x="275300" y="1"/>
          <a:ext cx="7192300" cy="2057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C9E6E50-70F6-85D6-A0B8-63945C435386}"/>
              </a:ext>
            </a:extLst>
          </p:cNvPr>
          <p:cNvSpPr txBox="1">
            <a:spLocks/>
          </p:cNvSpPr>
          <p:nvPr/>
        </p:nvSpPr>
        <p:spPr>
          <a:xfrm>
            <a:off x="442863" y="20574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Design</a:t>
            </a:r>
            <a:r>
              <a:rPr lang="en-US" sz="2400" kern="0" spc="-220" dirty="0">
                <a:solidFill>
                  <a:schemeClr val="accent6"/>
                </a:solidFill>
              </a:rPr>
              <a:t> – Process of developing a product or service, considering the needs &amp; wants of users</a:t>
            </a:r>
          </a:p>
          <a:p>
            <a:pPr marL="12700" marR="5080"/>
            <a:endParaRPr lang="en-US" sz="2400" kern="0" spc="-220" dirty="0">
              <a:solidFill>
                <a:schemeClr val="accent6"/>
              </a:solidFill>
            </a:endParaRPr>
          </a:p>
          <a:p>
            <a:pPr marL="12700" marR="5080"/>
            <a:r>
              <a:rPr lang="en-US" sz="2400" kern="0" spc="-220" dirty="0">
                <a:solidFill>
                  <a:schemeClr val="accent2"/>
                </a:solidFill>
              </a:rPr>
              <a:t>Thinking</a:t>
            </a:r>
            <a:r>
              <a:rPr lang="en-US" sz="2400" kern="0" spc="-220" dirty="0">
                <a:solidFill>
                  <a:schemeClr val="accent6"/>
                </a:solidFill>
              </a:rPr>
              <a:t> – A mindset where users are kept in mind at each stage of development of  a product or service</a:t>
            </a:r>
          </a:p>
          <a:p>
            <a:pPr marL="12700" marR="5080"/>
            <a:endParaRPr lang="en-US" sz="2400" kern="0" spc="-220" dirty="0">
              <a:solidFill>
                <a:schemeClr val="accent6"/>
              </a:solidFill>
            </a:endParaRPr>
          </a:p>
          <a:p>
            <a:pPr marL="12700" marR="5080"/>
            <a:r>
              <a:rPr lang="en-US" sz="2400" kern="0" spc="-220" dirty="0">
                <a:solidFill>
                  <a:schemeClr val="accent6"/>
                </a:solidFill>
              </a:rPr>
              <a:t>In summary,  Design Thinking is human </a:t>
            </a:r>
            <a:r>
              <a:rPr lang="en-US" sz="2400" kern="0" spc="-220" dirty="0" err="1">
                <a:solidFill>
                  <a:schemeClr val="accent6"/>
                </a:solidFill>
              </a:rPr>
              <a:t>centrix</a:t>
            </a:r>
            <a:r>
              <a:rPr lang="en-US" sz="2400" kern="0" spc="-220" dirty="0">
                <a:solidFill>
                  <a:schemeClr val="accent6"/>
                </a:solidFill>
              </a:rPr>
              <a:t> approach to solve complex problems.</a:t>
            </a:r>
            <a:endParaRPr lang="en-US" sz="2400" kern="0" spc="-80" dirty="0">
              <a:solidFill>
                <a:schemeClr val="accent6"/>
              </a:solidFill>
            </a:endParaRPr>
          </a:p>
        </p:txBody>
      </p:sp>
    </p:spTree>
    <p:extLst>
      <p:ext uri="{BB962C8B-B14F-4D97-AF65-F5344CB8AC3E}">
        <p14:creationId xmlns:p14="http://schemas.microsoft.com/office/powerpoint/2010/main" val="381904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113176351"/>
              </p:ext>
            </p:extLst>
          </p:nvPr>
        </p:nvGraphicFramePr>
        <p:xfrm>
          <a:off x="275300" y="1"/>
          <a:ext cx="7192300" cy="2057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C9E6E50-70F6-85D6-A0B8-63945C435386}"/>
              </a:ext>
            </a:extLst>
          </p:cNvPr>
          <p:cNvSpPr txBox="1">
            <a:spLocks/>
          </p:cNvSpPr>
          <p:nvPr/>
        </p:nvSpPr>
        <p:spPr>
          <a:xfrm>
            <a:off x="442863" y="20574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Complex Problems Examples – </a:t>
            </a:r>
          </a:p>
          <a:p>
            <a:pPr marL="469900" marR="5080" indent="-457200">
              <a:buAutoNum type="arabicParenR"/>
            </a:pPr>
            <a:r>
              <a:rPr lang="en-US" sz="2400" kern="0" spc="-220" dirty="0">
                <a:solidFill>
                  <a:schemeClr val="accent6"/>
                </a:solidFill>
              </a:rPr>
              <a:t>Improving Customer Satisfaction for Onboarding</a:t>
            </a:r>
          </a:p>
          <a:p>
            <a:pPr marL="469900" marR="5080" indent="-457200">
              <a:buAutoNum type="arabicParenR"/>
            </a:pPr>
            <a:endParaRPr lang="en-US" sz="2400" kern="0" spc="-220" dirty="0">
              <a:solidFill>
                <a:schemeClr val="accent6"/>
              </a:solidFill>
            </a:endParaRPr>
          </a:p>
          <a:p>
            <a:pPr marL="469900" marR="5080" indent="-457200">
              <a:buAutoNum type="arabicParenR"/>
            </a:pPr>
            <a:r>
              <a:rPr lang="en-US" sz="2400" kern="0" spc="-80" dirty="0">
                <a:solidFill>
                  <a:schemeClr val="accent6"/>
                </a:solidFill>
              </a:rPr>
              <a:t>Improving the adoption of Solar Energy in any country</a:t>
            </a:r>
          </a:p>
          <a:p>
            <a:pPr marL="469900" marR="5080" indent="-457200">
              <a:buAutoNum type="arabicParenR"/>
            </a:pPr>
            <a:endParaRPr lang="en-US" sz="2400" kern="0" spc="-80" dirty="0">
              <a:solidFill>
                <a:schemeClr val="accent6"/>
              </a:solidFill>
            </a:endParaRPr>
          </a:p>
          <a:p>
            <a:pPr marL="469900" marR="5080" indent="-457200">
              <a:buAutoNum type="arabicParenR"/>
            </a:pPr>
            <a:r>
              <a:rPr lang="en-US" sz="2400" kern="0" spc="-80" dirty="0">
                <a:solidFill>
                  <a:schemeClr val="accent6"/>
                </a:solidFill>
              </a:rPr>
              <a:t>Reducing the Attrition Rate in a Team to X%</a:t>
            </a:r>
          </a:p>
          <a:p>
            <a:pPr marL="469900" marR="5080" indent="-457200">
              <a:buAutoNum type="arabicParenR"/>
            </a:pPr>
            <a:endParaRPr lang="en-US" sz="2400" kern="0" spc="-80" dirty="0">
              <a:solidFill>
                <a:schemeClr val="accent6"/>
              </a:solidFill>
            </a:endParaRPr>
          </a:p>
          <a:p>
            <a:pPr marL="469900" marR="5080" indent="-457200">
              <a:buAutoNum type="arabicParenR"/>
            </a:pPr>
            <a:r>
              <a:rPr lang="en-US" sz="2400" kern="0" spc="-80" dirty="0">
                <a:solidFill>
                  <a:schemeClr val="accent6"/>
                </a:solidFill>
              </a:rPr>
              <a:t>Reducing the churn rate of customers in some retail platform</a:t>
            </a:r>
          </a:p>
        </p:txBody>
      </p:sp>
    </p:spTree>
    <p:extLst>
      <p:ext uri="{BB962C8B-B14F-4D97-AF65-F5344CB8AC3E}">
        <p14:creationId xmlns:p14="http://schemas.microsoft.com/office/powerpoint/2010/main" val="150971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2600" y="16222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2600" y="14698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43474184"/>
              </p:ext>
            </p:extLst>
          </p:nvPr>
        </p:nvGraphicFramePr>
        <p:xfrm>
          <a:off x="275300" y="1"/>
          <a:ext cx="7192300" cy="1600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No alt text provided for this image">
            <a:extLst>
              <a:ext uri="{FF2B5EF4-FFF2-40B4-BE49-F238E27FC236}">
                <a16:creationId xmlns:a16="http://schemas.microsoft.com/office/drawing/2014/main" id="{0A23A8F8-246C-4D1D-3602-33422F78A3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905000"/>
            <a:ext cx="6191250" cy="3807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389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28797475"/>
              </p:ext>
            </p:extLst>
          </p:nvPr>
        </p:nvGraphicFramePr>
        <p:xfrm>
          <a:off x="275300" y="1"/>
          <a:ext cx="7192300" cy="1181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22122" y="16002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Empathize</a:t>
            </a:r>
            <a:r>
              <a:rPr lang="en-US" sz="2400" kern="0" spc="-220" dirty="0">
                <a:solidFill>
                  <a:schemeClr val="accent6"/>
                </a:solidFill>
              </a:rPr>
              <a:t> – During this stage, we empathize with the users to understand the real problem(s).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Focus to understand the user’s point of view</a:t>
            </a:r>
          </a:p>
          <a:p>
            <a:pPr marL="12700" marR="5080"/>
            <a:r>
              <a:rPr lang="en-US" sz="2400" kern="0" spc="-80" dirty="0">
                <a:solidFill>
                  <a:schemeClr val="accent6"/>
                </a:solidFill>
              </a:rPr>
              <a:t>Ask users how they interact with the product and service</a:t>
            </a:r>
          </a:p>
          <a:p>
            <a:pPr marL="12700" marR="5080"/>
            <a:r>
              <a:rPr lang="en-US" sz="2400" kern="0" spc="-80" dirty="0">
                <a:solidFill>
                  <a:schemeClr val="accent6"/>
                </a:solidFill>
              </a:rPr>
              <a:t>Engage with a diverse group of users(highly satisfied &amp; highly dissatisfied), Mainstream users </a:t>
            </a:r>
            <a:r>
              <a:rPr lang="en-US" sz="2400" kern="0" spc="-80" dirty="0" err="1">
                <a:solidFill>
                  <a:schemeClr val="accent6"/>
                </a:solidFill>
              </a:rPr>
              <a:t>etc</a:t>
            </a:r>
            <a:endParaRPr lang="en-US" sz="2400" kern="0" spc="-80" dirty="0">
              <a:solidFill>
                <a:schemeClr val="accent6"/>
              </a:solidFill>
            </a:endParaRPr>
          </a:p>
          <a:p>
            <a:pPr marL="12700" marR="5080"/>
            <a:r>
              <a:rPr lang="en-US" sz="2400" kern="0" spc="-80" dirty="0">
                <a:solidFill>
                  <a:schemeClr val="accent6"/>
                </a:solidFill>
              </a:rPr>
              <a:t>The focus is on divergent thinking(creating choices)</a:t>
            </a:r>
          </a:p>
        </p:txBody>
      </p:sp>
      <p:sp>
        <p:nvSpPr>
          <p:cNvPr id="3" name="object 4">
            <a:extLst>
              <a:ext uri="{FF2B5EF4-FFF2-40B4-BE49-F238E27FC236}">
                <a16:creationId xmlns:a16="http://schemas.microsoft.com/office/drawing/2014/main" id="{AB26959E-FE3A-E72D-2086-A3FC5CB8C98A}"/>
              </a:ext>
            </a:extLst>
          </p:cNvPr>
          <p:cNvSpPr/>
          <p:nvPr/>
        </p:nvSpPr>
        <p:spPr>
          <a:xfrm>
            <a:off x="1600200" y="13561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8670AB22-8350-41F1-569E-1EB6EE7EDBE6}"/>
              </a:ext>
            </a:extLst>
          </p:cNvPr>
          <p:cNvSpPr/>
          <p:nvPr/>
        </p:nvSpPr>
        <p:spPr>
          <a:xfrm>
            <a:off x="1600200" y="12037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2166352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375780835"/>
              </p:ext>
            </p:extLst>
          </p:nvPr>
        </p:nvGraphicFramePr>
        <p:xfrm>
          <a:off x="194897" y="-286067"/>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Define</a:t>
            </a:r>
            <a:r>
              <a:rPr lang="en-US" sz="2400" kern="0" spc="-220" dirty="0">
                <a:solidFill>
                  <a:schemeClr val="accent6"/>
                </a:solidFill>
              </a:rPr>
              <a:t> – During this stage, we define the problem statement by synthesizing all the observations we gathered during the Empathize phase.</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Prioritize the major issues &amp; frame the problem statement</a:t>
            </a:r>
          </a:p>
          <a:p>
            <a:pPr marL="12700" marR="5080"/>
            <a:r>
              <a:rPr lang="en-US" sz="2400" kern="0" spc="-80" dirty="0">
                <a:solidFill>
                  <a:schemeClr val="accent6"/>
                </a:solidFill>
              </a:rPr>
              <a:t>Focus on solving the selected &amp; most impactful issues instead of solving all in one single statement</a:t>
            </a:r>
          </a:p>
          <a:p>
            <a:pPr marL="12700" marR="5080"/>
            <a:r>
              <a:rPr lang="en-US" sz="2400" kern="0" spc="-80" dirty="0">
                <a:solidFill>
                  <a:schemeClr val="accent6"/>
                </a:solidFill>
              </a:rPr>
              <a:t>Focus on convergent thinking(making choices)</a:t>
            </a:r>
          </a:p>
          <a:p>
            <a:pPr marL="12700" marR="5080"/>
            <a:r>
              <a:rPr lang="en-US" sz="2400" kern="0" spc="-80" dirty="0">
                <a:solidFill>
                  <a:schemeClr val="accent6"/>
                </a:solidFill>
              </a:rPr>
              <a:t>The problem statement framed in this stage is also called “Point of View”</a:t>
            </a:r>
          </a:p>
        </p:txBody>
      </p:sp>
      <p:sp>
        <p:nvSpPr>
          <p:cNvPr id="3" name="object 4">
            <a:extLst>
              <a:ext uri="{FF2B5EF4-FFF2-40B4-BE49-F238E27FC236}">
                <a16:creationId xmlns:a16="http://schemas.microsoft.com/office/drawing/2014/main" id="{3AD45397-E410-63F8-64F4-38C6E00218E1}"/>
              </a:ext>
            </a:extLst>
          </p:cNvPr>
          <p:cNvSpPr/>
          <p:nvPr/>
        </p:nvSpPr>
        <p:spPr>
          <a:xfrm>
            <a:off x="1752600" y="144532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2A769072-07A7-C6C0-8C76-50F3995FA5F8}"/>
              </a:ext>
            </a:extLst>
          </p:cNvPr>
          <p:cNvSpPr/>
          <p:nvPr/>
        </p:nvSpPr>
        <p:spPr>
          <a:xfrm>
            <a:off x="1752600" y="129292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1664073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7096818"/>
              </p:ext>
            </p:extLst>
          </p:nvPr>
        </p:nvGraphicFramePr>
        <p:xfrm>
          <a:off x="194897" y="-76199"/>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Ideate</a:t>
            </a:r>
            <a:r>
              <a:rPr lang="en-US" sz="2400" kern="0" spc="-220" dirty="0">
                <a:solidFill>
                  <a:schemeClr val="accent6"/>
                </a:solidFill>
              </a:rPr>
              <a:t> – Brainstorming to come up with Solution </a:t>
            </a:r>
            <a:r>
              <a:rPr lang="en-US" sz="2400" kern="0" spc="-220" dirty="0" err="1">
                <a:solidFill>
                  <a:schemeClr val="accent6"/>
                </a:solidFill>
              </a:rPr>
              <a:t>Ideas.Gather</a:t>
            </a:r>
            <a:r>
              <a:rPr lang="en-US" sz="2400" kern="0" spc="-220" dirty="0">
                <a:solidFill>
                  <a:schemeClr val="accent6"/>
                </a:solidFill>
              </a:rPr>
              <a:t> as many solution ideas as possible and synthesize all of them for further brainstorming </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Let the ideas flow, do not interrupt even if the ideas are irrelevant, instead accumulate the feasible ideas &amp; build upon them</a:t>
            </a:r>
          </a:p>
          <a:p>
            <a:pPr marL="12700" marR="5080"/>
            <a:r>
              <a:rPr lang="en-US" sz="2400" kern="0" spc="-80" dirty="0">
                <a:solidFill>
                  <a:schemeClr val="accent6"/>
                </a:solidFill>
              </a:rPr>
              <a:t>Do both create choices by divergent thinking(coming up with as many ideas as possible) &amp; make choices through convergent thinking(concluding a few ideas)</a:t>
            </a:r>
          </a:p>
        </p:txBody>
      </p:sp>
    </p:spTree>
    <p:extLst>
      <p:ext uri="{BB962C8B-B14F-4D97-AF65-F5344CB8AC3E}">
        <p14:creationId xmlns:p14="http://schemas.microsoft.com/office/powerpoint/2010/main" val="91081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36502714"/>
              </p:ext>
            </p:extLst>
          </p:nvPr>
        </p:nvGraphicFramePr>
        <p:xfrm>
          <a:off x="194897" y="-54165"/>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Prototype</a:t>
            </a:r>
            <a:r>
              <a:rPr lang="en-US" sz="2400" kern="0" spc="-220" dirty="0">
                <a:solidFill>
                  <a:schemeClr val="accent6"/>
                </a:solidFill>
              </a:rPr>
              <a:t> – Develop a prototype of the ideas. Usually a quick prototype but capable enough to interact with users &amp; get their feedback. It’s more of Thinking with your hands. If a picture is worth of thousand words, a prototype is worth of thousand meetings.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Do not try to develop the final product itself</a:t>
            </a:r>
          </a:p>
          <a:p>
            <a:pPr marL="12700" marR="5080"/>
            <a:r>
              <a:rPr lang="en-US" sz="2400" kern="0" spc="-80" dirty="0">
                <a:solidFill>
                  <a:schemeClr val="accent6"/>
                </a:solidFill>
              </a:rPr>
              <a:t>Objective here is to share it with users and get an early feedback</a:t>
            </a:r>
          </a:p>
          <a:p>
            <a:pPr marL="12700" marR="5080"/>
            <a:r>
              <a:rPr lang="en-US" sz="2400" kern="0" spc="-80" dirty="0">
                <a:solidFill>
                  <a:schemeClr val="accent6"/>
                </a:solidFill>
              </a:rPr>
              <a:t>Focus on aesthetics</a:t>
            </a:r>
          </a:p>
        </p:txBody>
      </p:sp>
    </p:spTree>
    <p:extLst>
      <p:ext uri="{BB962C8B-B14F-4D97-AF65-F5344CB8AC3E}">
        <p14:creationId xmlns:p14="http://schemas.microsoft.com/office/powerpoint/2010/main" val="337781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507531949"/>
              </p:ext>
            </p:extLst>
          </p:nvPr>
        </p:nvGraphicFramePr>
        <p:xfrm>
          <a:off x="194897" y="-304799"/>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Test</a:t>
            </a:r>
            <a:r>
              <a:rPr lang="en-US" sz="2400" kern="0" spc="-220" dirty="0">
                <a:solidFill>
                  <a:schemeClr val="accent6"/>
                </a:solidFill>
              </a:rPr>
              <a:t> – During this stage we share the prototype with the users and gather their feedback. This, helps in understanding if we are on the right track, or some correction is required. After getting the feedback we may need to go back to any of the first 4 stages.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Test the users with all the users we interacted in the 1</a:t>
            </a:r>
            <a:r>
              <a:rPr lang="en-US" sz="2400" kern="0" spc="-80" baseline="30000" dirty="0">
                <a:solidFill>
                  <a:schemeClr val="accent6"/>
                </a:solidFill>
              </a:rPr>
              <a:t>st</a:t>
            </a:r>
            <a:r>
              <a:rPr lang="en-US" sz="2400" kern="0" spc="-80" dirty="0">
                <a:solidFill>
                  <a:schemeClr val="accent6"/>
                </a:solidFill>
              </a:rPr>
              <a:t> stage.</a:t>
            </a:r>
          </a:p>
          <a:p>
            <a:pPr marL="12700" marR="5080"/>
            <a:r>
              <a:rPr lang="en-US" sz="2400" kern="0" spc="-80" dirty="0">
                <a:solidFill>
                  <a:schemeClr val="accent6"/>
                </a:solidFill>
              </a:rPr>
              <a:t>Gather feedback to make adjustments &amp; even be ready to discard the idea</a:t>
            </a:r>
          </a:p>
          <a:p>
            <a:pPr marL="12700" marR="5080"/>
            <a:r>
              <a:rPr lang="en-US" sz="2400" kern="0" spc="-80" dirty="0">
                <a:solidFill>
                  <a:schemeClr val="accent6"/>
                </a:solidFill>
              </a:rPr>
              <a:t>Maintain a history of all the prototypes for future reference</a:t>
            </a:r>
          </a:p>
        </p:txBody>
      </p:sp>
    </p:spTree>
    <p:extLst>
      <p:ext uri="{BB962C8B-B14F-4D97-AF65-F5344CB8AC3E}">
        <p14:creationId xmlns:p14="http://schemas.microsoft.com/office/powerpoint/2010/main" val="787049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BC22-1B18-BDEE-6C31-81208D921C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6F3619-7A68-0355-6324-B2BD7AC2EFB3}"/>
              </a:ext>
            </a:extLst>
          </p:cNvPr>
          <p:cNvSpPr/>
          <p:nvPr/>
        </p:nvSpPr>
        <p:spPr>
          <a:xfrm>
            <a:off x="1756802" y="70516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4B751B-2B53-6C74-4430-9BB260299E23}"/>
              </a:ext>
            </a:extLst>
          </p:cNvPr>
          <p:cNvSpPr/>
          <p:nvPr/>
        </p:nvSpPr>
        <p:spPr>
          <a:xfrm>
            <a:off x="1756802" y="55937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FD0D0F-562D-9DFB-2463-F5A9165D2314}"/>
              </a:ext>
            </a:extLst>
          </p:cNvPr>
          <p:cNvGraphicFramePr/>
          <p:nvPr/>
        </p:nvGraphicFramePr>
        <p:xfrm>
          <a:off x="304800" y="0"/>
          <a:ext cx="88392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descr="A group of questions on a table&#10;&#10;AI-generated content may be incorrect.">
            <a:extLst>
              <a:ext uri="{FF2B5EF4-FFF2-40B4-BE49-F238E27FC236}">
                <a16:creationId xmlns:a16="http://schemas.microsoft.com/office/drawing/2014/main" id="{6C80D26A-29F4-DDFE-D39A-EB63BDA8E7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723" y="850966"/>
            <a:ext cx="9093667" cy="2597228"/>
          </a:xfrm>
          <a:prstGeom prst="rect">
            <a:avLst/>
          </a:prstGeom>
        </p:spPr>
      </p:pic>
      <p:pic>
        <p:nvPicPr>
          <p:cNvPr id="13" name="Picture 12" descr="A group of questions on a screen&#10;&#10;AI-generated content may be incorrect.">
            <a:extLst>
              <a:ext uri="{FF2B5EF4-FFF2-40B4-BE49-F238E27FC236}">
                <a16:creationId xmlns:a16="http://schemas.microsoft.com/office/drawing/2014/main" id="{C7AF28C4-BE34-B495-EB7C-3C72764E26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511" y="3448194"/>
            <a:ext cx="9119069" cy="2463273"/>
          </a:xfrm>
          <a:prstGeom prst="rect">
            <a:avLst/>
          </a:prstGeom>
        </p:spPr>
      </p:pic>
    </p:spTree>
    <p:extLst>
      <p:ext uri="{BB962C8B-B14F-4D97-AF65-F5344CB8AC3E}">
        <p14:creationId xmlns:p14="http://schemas.microsoft.com/office/powerpoint/2010/main" val="330360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9DA3D-90D1-9452-47FB-009800C9A5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C960F8-CAA1-EAE3-2C23-F415274CB1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58192C-3C5C-CCE2-87BD-9CE71DA5BB8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A79983-3C46-8DC1-9508-426248A9EF6B}"/>
              </a:ext>
            </a:extLst>
          </p:cNvPr>
          <p:cNvGraphicFramePr/>
          <p:nvPr>
            <p:extLst>
              <p:ext uri="{D42A27DB-BD31-4B8C-83A1-F6EECF244321}">
                <p14:modId xmlns:p14="http://schemas.microsoft.com/office/powerpoint/2010/main" val="124817733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A093303-8E53-4887-12E6-29CBEE15D3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99BDDFE-B3DA-A092-CA7B-BCB44684CC85}"/>
              </a:ext>
            </a:extLst>
          </p:cNvPr>
          <p:cNvSpPr txBox="1">
            <a:spLocks/>
          </p:cNvSpPr>
          <p:nvPr/>
        </p:nvSpPr>
        <p:spPr>
          <a:xfrm>
            <a:off x="137369" y="6858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70" kern="0" spc="-80" dirty="0">
                <a:solidFill>
                  <a:schemeClr val="accent2"/>
                </a:solidFill>
              </a:rPr>
              <a:t>1. Business Context &amp; Goals.</a:t>
            </a:r>
          </a:p>
          <a:p>
            <a:pPr marL="12700" marR="5080"/>
            <a:r>
              <a:rPr lang="en-US" sz="1670" kern="0" spc="-80" dirty="0">
                <a:solidFill>
                  <a:schemeClr val="accent2"/>
                </a:solidFill>
              </a:rPr>
              <a:t>🎯 Business Objectives.</a:t>
            </a:r>
          </a:p>
          <a:p>
            <a:pPr marL="12700" marR="5080"/>
            <a:r>
              <a:rPr lang="en-US" sz="1670" kern="0" spc="-80" dirty="0">
                <a:solidFill>
                  <a:schemeClr val="accent6"/>
                </a:solidFill>
              </a:rPr>
              <a:t>What are the core business goals or drivers for this initiative?</a:t>
            </a:r>
          </a:p>
          <a:p>
            <a:pPr marL="12700" marR="5080"/>
            <a:r>
              <a:rPr lang="en-US" sz="1670" kern="0" spc="-80" dirty="0">
                <a:solidFill>
                  <a:schemeClr val="accent6"/>
                </a:solidFill>
              </a:rPr>
              <a:t>What business outcomes are expected (e.g., cost savings, scalability, new capabilities)?</a:t>
            </a:r>
          </a:p>
          <a:p>
            <a:pPr marL="12700" marR="5080"/>
            <a:r>
              <a:rPr lang="en-US" sz="1670" kern="0" spc="-80" dirty="0">
                <a:solidFill>
                  <a:schemeClr val="accent6"/>
                </a:solidFill>
              </a:rPr>
              <a:t>How will success be measured (KPIs, OKRs)?</a:t>
            </a:r>
          </a:p>
          <a:p>
            <a:pPr marL="12700" marR="5080"/>
            <a:r>
              <a:rPr lang="en-US" sz="1670" kern="0" spc="-80" dirty="0">
                <a:solidFill>
                  <a:schemeClr val="accent6"/>
                </a:solidFill>
              </a:rPr>
              <a:t>What are the critical timelines or milestones?</a:t>
            </a:r>
          </a:p>
          <a:p>
            <a:pPr marL="12700" marR="5080"/>
            <a:r>
              <a:rPr lang="en-US" sz="1670" kern="0" spc="-80" dirty="0">
                <a:solidFill>
                  <a:schemeClr val="accent2"/>
                </a:solidFill>
              </a:rPr>
              <a:t>💼 Stakeholders.</a:t>
            </a:r>
          </a:p>
          <a:p>
            <a:pPr marL="12700" marR="5080"/>
            <a:r>
              <a:rPr lang="en-US" sz="1670" kern="0" spc="-80" dirty="0">
                <a:solidFill>
                  <a:schemeClr val="accent6"/>
                </a:solidFill>
              </a:rPr>
              <a:t>Who are the key stakeholders (business, IT, operations, compliance)?</a:t>
            </a:r>
          </a:p>
          <a:p>
            <a:pPr marL="12700" marR="5080"/>
            <a:r>
              <a:rPr lang="en-US" sz="1670" kern="0" spc="-80" dirty="0">
                <a:solidFill>
                  <a:schemeClr val="accent6"/>
                </a:solidFill>
              </a:rPr>
              <a:t>Who are the decision makers and approvers?</a:t>
            </a:r>
          </a:p>
          <a:p>
            <a:pPr marL="12700" marR="5080"/>
            <a:r>
              <a:rPr lang="en-US" sz="1670" kern="0" spc="-80" dirty="0">
                <a:solidFill>
                  <a:schemeClr val="accent6"/>
                </a:solidFill>
              </a:rPr>
              <a:t>Who are the end users or consumers of the solution?</a:t>
            </a:r>
          </a:p>
          <a:p>
            <a:pPr marL="12700" marR="5080"/>
            <a:r>
              <a:rPr lang="en-US" sz="1670" kern="0" spc="-80" dirty="0">
                <a:solidFill>
                  <a:schemeClr val="accent6"/>
                </a:solidFill>
              </a:rPr>
              <a:t>What are their pain points and expectations?</a:t>
            </a:r>
          </a:p>
          <a:p>
            <a:pPr marL="12700" marR="5080"/>
            <a:r>
              <a:rPr lang="en-US" sz="1670" kern="0" spc="-80" dirty="0">
                <a:solidFill>
                  <a:schemeClr val="accent2"/>
                </a:solidFill>
              </a:rPr>
              <a:t>🧩 2. Current State (As-Is) Architecture.</a:t>
            </a:r>
          </a:p>
          <a:p>
            <a:pPr marL="12700" marR="5080"/>
            <a:r>
              <a:rPr lang="en-US" sz="1670" kern="0" spc="-80" dirty="0">
                <a:solidFill>
                  <a:schemeClr val="accent2"/>
                </a:solidFill>
              </a:rPr>
              <a:t>🔍 Systems &amp; Integrations.</a:t>
            </a:r>
          </a:p>
          <a:p>
            <a:pPr marL="12700" marR="5080"/>
            <a:r>
              <a:rPr lang="en-US" sz="1670" kern="0" spc="-80" dirty="0">
                <a:solidFill>
                  <a:schemeClr val="accent6"/>
                </a:solidFill>
              </a:rPr>
              <a:t>What are the existing systems, services, and integrations involved?</a:t>
            </a:r>
          </a:p>
          <a:p>
            <a:pPr marL="12700" marR="5080"/>
            <a:r>
              <a:rPr lang="en-US" sz="1670" kern="0" spc="-80" dirty="0">
                <a:solidFill>
                  <a:schemeClr val="accent6"/>
                </a:solidFill>
              </a:rPr>
              <a:t>What are their interfaces (APIs, events, files, message queues)?</a:t>
            </a:r>
          </a:p>
          <a:p>
            <a:pPr marL="12700" marR="5080"/>
            <a:r>
              <a:rPr lang="en-US" sz="1670" kern="0" spc="-80" dirty="0">
                <a:solidFill>
                  <a:schemeClr val="accent6"/>
                </a:solidFill>
              </a:rPr>
              <a:t>What data flows currently exist between systems?</a:t>
            </a:r>
          </a:p>
          <a:p>
            <a:pPr marL="12700" marR="5080"/>
            <a:r>
              <a:rPr lang="en-US" sz="1670" kern="0" spc="-80" dirty="0">
                <a:solidFill>
                  <a:schemeClr val="accent2"/>
                </a:solidFill>
              </a:rPr>
              <a:t>⚙️ Technology Landscape.</a:t>
            </a:r>
          </a:p>
          <a:p>
            <a:pPr marL="12700" marR="5080"/>
            <a:r>
              <a:rPr lang="en-US" sz="1670" kern="0" spc="-80" dirty="0">
                <a:solidFill>
                  <a:schemeClr val="accent6"/>
                </a:solidFill>
              </a:rPr>
              <a:t>What technologies, languages, and frameworks are used today?</a:t>
            </a:r>
          </a:p>
          <a:p>
            <a:pPr marL="12700" marR="5080"/>
            <a:r>
              <a:rPr lang="en-US" sz="1670" kern="0" spc="-80" dirty="0">
                <a:solidFill>
                  <a:schemeClr val="accent6"/>
                </a:solidFill>
              </a:rPr>
              <a:t>What infrastructure is in place (cloud, on-prem, hybrid)?</a:t>
            </a:r>
          </a:p>
          <a:p>
            <a:pPr marL="12700" marR="5080"/>
            <a:r>
              <a:rPr lang="en-US" sz="1670" kern="0" spc="-80" dirty="0">
                <a:solidFill>
                  <a:schemeClr val="accent6"/>
                </a:solidFill>
              </a:rPr>
              <a:t>What are the dependencies and technical debt areas?</a:t>
            </a:r>
          </a:p>
        </p:txBody>
      </p:sp>
    </p:spTree>
    <p:extLst>
      <p:ext uri="{BB962C8B-B14F-4D97-AF65-F5344CB8AC3E}">
        <p14:creationId xmlns:p14="http://schemas.microsoft.com/office/powerpoint/2010/main" val="407121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CB4A-6808-7A85-E290-82C5625DF9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5DFD19-D177-1D82-0955-283802F524C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BA3B707-93D4-6311-E0F0-74DE847600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43194C-A6B0-5916-502F-D4F7BB603D00}"/>
              </a:ext>
            </a:extLst>
          </p:cNvPr>
          <p:cNvGraphicFramePr/>
          <p:nvPr>
            <p:extLst>
              <p:ext uri="{D42A27DB-BD31-4B8C-83A1-F6EECF244321}">
                <p14:modId xmlns:p14="http://schemas.microsoft.com/office/powerpoint/2010/main" val="336511376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C374D03-1F5D-796F-24BF-39C62EEBA7E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971D389-5FEB-ACF1-7F99-F29C4F594C95}"/>
              </a:ext>
            </a:extLst>
          </p:cNvPr>
          <p:cNvSpPr txBox="1">
            <a:spLocks/>
          </p:cNvSpPr>
          <p:nvPr/>
        </p:nvSpPr>
        <p:spPr>
          <a:xfrm>
            <a:off x="137369" y="6858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 Operational Metrics.</a:t>
            </a:r>
          </a:p>
          <a:p>
            <a:pPr marL="12700" marR="5080"/>
            <a:r>
              <a:rPr lang="en-US" sz="1800" kern="0" spc="-80" dirty="0">
                <a:solidFill>
                  <a:schemeClr val="accent6"/>
                </a:solidFill>
              </a:rPr>
              <a:t>What are the current performance, availability, and scalability metrics?</a:t>
            </a:r>
          </a:p>
          <a:p>
            <a:pPr marL="12700" marR="5080"/>
            <a:r>
              <a:rPr lang="en-US" sz="1800" kern="0" spc="-80" dirty="0">
                <a:solidFill>
                  <a:schemeClr val="accent6"/>
                </a:solidFill>
              </a:rPr>
              <a:t>How are monitoring and alerting handled today?</a:t>
            </a:r>
          </a:p>
          <a:p>
            <a:pPr marL="12700" marR="5080"/>
            <a:r>
              <a:rPr lang="en-US" sz="1800" kern="0" spc="-80" dirty="0">
                <a:solidFill>
                  <a:schemeClr val="accent6"/>
                </a:solidFill>
              </a:rPr>
              <a:t>What SLAs/SLOs/SLIs exist?</a:t>
            </a:r>
          </a:p>
          <a:p>
            <a:pPr marL="12700" marR="5080"/>
            <a:r>
              <a:rPr lang="en-US" sz="1800" kern="0" spc="-80" dirty="0">
                <a:solidFill>
                  <a:schemeClr val="accent2"/>
                </a:solidFill>
              </a:rPr>
              <a:t>🧱 3. Target State (To-Be) Vision.</a:t>
            </a:r>
          </a:p>
          <a:p>
            <a:pPr marL="12700" marR="5080"/>
            <a:r>
              <a:rPr lang="en-US" sz="1800" kern="0" spc="-80" dirty="0">
                <a:solidFill>
                  <a:schemeClr val="accent2"/>
                </a:solidFill>
              </a:rPr>
              <a:t>🧠 Strategic Direction.</a:t>
            </a:r>
          </a:p>
          <a:p>
            <a:pPr marL="12700" marR="5080"/>
            <a:r>
              <a:rPr lang="en-US" sz="1800" kern="0" spc="-80" dirty="0">
                <a:solidFill>
                  <a:schemeClr val="accent6"/>
                </a:solidFill>
              </a:rPr>
              <a:t>What is the target vision for the system or platform?</a:t>
            </a:r>
          </a:p>
          <a:p>
            <a:pPr marL="12700" marR="5080"/>
            <a:r>
              <a:rPr lang="en-US" sz="1800" kern="0" spc="-80" dirty="0">
                <a:solidFill>
                  <a:schemeClr val="accent6"/>
                </a:solidFill>
              </a:rPr>
              <a:t>What capabilities or features are required?</a:t>
            </a:r>
          </a:p>
          <a:p>
            <a:pPr marL="12700" marR="5080"/>
            <a:r>
              <a:rPr lang="en-US" sz="1800" kern="0" spc="-80" dirty="0">
                <a:solidFill>
                  <a:schemeClr val="accent6"/>
                </a:solidFill>
              </a:rPr>
              <a:t>What architectural qualities (scalability, modularity, portability) are desired?</a:t>
            </a:r>
          </a:p>
          <a:p>
            <a:pPr marL="12700" marR="5080"/>
            <a:r>
              <a:rPr lang="en-US" sz="1800" kern="0" spc="-80" dirty="0">
                <a:solidFill>
                  <a:schemeClr val="accent2"/>
                </a:solidFill>
              </a:rPr>
              <a:t>🧭 Non-Functional Requirements (NFRs).</a:t>
            </a:r>
          </a:p>
          <a:p>
            <a:pPr marL="12700" marR="5080"/>
            <a:r>
              <a:rPr lang="en-US" sz="1800" kern="0" spc="-80" dirty="0">
                <a:solidFill>
                  <a:schemeClr val="accent2"/>
                </a:solidFill>
              </a:rPr>
              <a:t>Category               Key Questions.</a:t>
            </a:r>
          </a:p>
          <a:p>
            <a:pPr marL="12700" marR="5080"/>
            <a:r>
              <a:rPr lang="en-US" sz="1800" kern="0" spc="-80" dirty="0">
                <a:solidFill>
                  <a:schemeClr val="accent6"/>
                </a:solidFill>
              </a:rPr>
              <a:t>Performance         Expected response times, throughput, latency?</a:t>
            </a:r>
          </a:p>
          <a:p>
            <a:pPr marL="12700" marR="5080"/>
            <a:r>
              <a:rPr lang="en-US" sz="1800" kern="0" spc="-80" dirty="0">
                <a:solidFill>
                  <a:schemeClr val="accent6"/>
                </a:solidFill>
              </a:rPr>
              <a:t>Scalability              Vertical/horizontal scaling needs? Auto-scaling?</a:t>
            </a:r>
          </a:p>
          <a:p>
            <a:pPr marL="12700" marR="5080"/>
            <a:r>
              <a:rPr lang="en-US" sz="1800" kern="0" spc="-80" dirty="0">
                <a:solidFill>
                  <a:schemeClr val="accent6"/>
                </a:solidFill>
              </a:rPr>
              <a:t>Availability            Required uptime, failover mechanisms?</a:t>
            </a:r>
          </a:p>
          <a:p>
            <a:pPr marL="12700" marR="5080"/>
            <a:r>
              <a:rPr lang="en-US" sz="1800" kern="0" spc="-80" dirty="0">
                <a:solidFill>
                  <a:schemeClr val="accent6"/>
                </a:solidFill>
              </a:rPr>
              <a:t>Security                  Authentication, authorization, encryption, compliance?</a:t>
            </a:r>
          </a:p>
          <a:p>
            <a:pPr marL="12700" marR="5080"/>
            <a:r>
              <a:rPr lang="en-US" sz="1800" kern="0" spc="-80" dirty="0">
                <a:solidFill>
                  <a:schemeClr val="accent6"/>
                </a:solidFill>
              </a:rPr>
              <a:t>Maintainability      How easily can the system evolve?</a:t>
            </a:r>
          </a:p>
          <a:p>
            <a:pPr marL="12700" marR="5080"/>
            <a:r>
              <a:rPr lang="en-US" sz="1800" kern="0" spc="-80" dirty="0">
                <a:solidFill>
                  <a:schemeClr val="accent6"/>
                </a:solidFill>
              </a:rPr>
              <a:t>Observability         Logging, tracing, metrics collection requirements?</a:t>
            </a:r>
          </a:p>
          <a:p>
            <a:pPr marL="12700" marR="5080"/>
            <a:r>
              <a:rPr lang="en-US" sz="1800" kern="0" spc="-80" dirty="0">
                <a:solidFill>
                  <a:schemeClr val="accent6"/>
                </a:solidFill>
              </a:rPr>
              <a:t>Cost Efficiency      Budget limits, cost-optimization constraints?</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4036435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C75C-AD95-2015-4FB5-DFD81A40AC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A9CEA8-5F17-AD9F-7211-F14A92B779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AE7C96-EF9C-07EC-2EE8-F068A52E08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4AA749-C585-5ED6-F12E-B87DC5821209}"/>
              </a:ext>
            </a:extLst>
          </p:cNvPr>
          <p:cNvGraphicFramePr/>
          <p:nvPr>
            <p:extLst>
              <p:ext uri="{D42A27DB-BD31-4B8C-83A1-F6EECF244321}">
                <p14:modId xmlns:p14="http://schemas.microsoft.com/office/powerpoint/2010/main" val="81527982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00F4405-D8D1-FEF2-8C7C-9072B42F600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B18A3E1-55B4-B05C-3C2C-5865883CB624}"/>
              </a:ext>
            </a:extLst>
          </p:cNvPr>
          <p:cNvSpPr txBox="1">
            <a:spLocks/>
          </p:cNvSpPr>
          <p:nvPr/>
        </p:nvSpPr>
        <p:spPr>
          <a:xfrm>
            <a:off x="137369" y="685800"/>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 4. Data &amp; Integration Discovery.</a:t>
            </a:r>
          </a:p>
          <a:p>
            <a:pPr marL="12700" marR="5080"/>
            <a:r>
              <a:rPr lang="en-US" sz="1600" kern="0" spc="-80" dirty="0">
                <a:solidFill>
                  <a:schemeClr val="accent2"/>
                </a:solidFill>
              </a:rPr>
              <a:t>📦 Data Landscape.</a:t>
            </a:r>
          </a:p>
          <a:p>
            <a:pPr marL="12700" marR="5080"/>
            <a:r>
              <a:rPr lang="en-US" sz="1600" kern="0" spc="-80" dirty="0">
                <a:solidFill>
                  <a:schemeClr val="accent6"/>
                </a:solidFill>
              </a:rPr>
              <a:t>What are the key data entities and their relationships?</a:t>
            </a:r>
          </a:p>
          <a:p>
            <a:pPr marL="12700" marR="5080"/>
            <a:r>
              <a:rPr lang="en-US" sz="1600" kern="0" spc="-80" dirty="0">
                <a:solidFill>
                  <a:schemeClr val="accent6"/>
                </a:solidFill>
              </a:rPr>
              <a:t>What is the volume, velocity, and variety of data?</a:t>
            </a:r>
          </a:p>
          <a:p>
            <a:pPr marL="12700" marR="5080"/>
            <a:r>
              <a:rPr lang="en-US" sz="1600" kern="0" spc="-80" dirty="0">
                <a:solidFill>
                  <a:schemeClr val="accent6"/>
                </a:solidFill>
              </a:rPr>
              <a:t>What data sources (internal, external, streaming) are used?</a:t>
            </a:r>
          </a:p>
          <a:p>
            <a:pPr marL="12700" marR="5080"/>
            <a:r>
              <a:rPr lang="en-US" sz="1600" kern="0" spc="-80" dirty="0">
                <a:solidFill>
                  <a:schemeClr val="accent6"/>
                </a:solidFill>
              </a:rPr>
              <a:t>What are the data quality and governance concerns?</a:t>
            </a:r>
          </a:p>
          <a:p>
            <a:pPr marL="12700" marR="5080"/>
            <a:r>
              <a:rPr lang="en-US" sz="1600" kern="0" spc="-80" dirty="0">
                <a:solidFill>
                  <a:schemeClr val="accent2"/>
                </a:solidFill>
              </a:rPr>
              <a:t>🔄 Integration Patterns.</a:t>
            </a:r>
          </a:p>
          <a:p>
            <a:pPr marL="12700" marR="5080"/>
            <a:r>
              <a:rPr lang="en-US" sz="1600" kern="0" spc="-80" dirty="0">
                <a:solidFill>
                  <a:schemeClr val="accent6"/>
                </a:solidFill>
              </a:rPr>
              <a:t>What integration mechanisms are required (APIs, events, ETL, messaging)?</a:t>
            </a:r>
          </a:p>
          <a:p>
            <a:pPr marL="12700" marR="5080"/>
            <a:r>
              <a:rPr lang="en-US" sz="1600" kern="0" spc="-80" dirty="0">
                <a:solidFill>
                  <a:schemeClr val="accent6"/>
                </a:solidFill>
              </a:rPr>
              <a:t>Is there a need for real-time vs batch processing?</a:t>
            </a:r>
          </a:p>
          <a:p>
            <a:pPr marL="12700" marR="5080"/>
            <a:r>
              <a:rPr lang="en-US" sz="1600" kern="0" spc="-80" dirty="0">
                <a:solidFill>
                  <a:schemeClr val="accent6"/>
                </a:solidFill>
              </a:rPr>
              <a:t>Are there legacy interfaces to modernize?</a:t>
            </a:r>
          </a:p>
          <a:p>
            <a:pPr marL="12700" marR="5080"/>
            <a:r>
              <a:rPr lang="en-US" sz="1600" kern="0" spc="-80" dirty="0">
                <a:solidFill>
                  <a:schemeClr val="accent2"/>
                </a:solidFill>
              </a:rPr>
              <a:t>☁️ 5. Infrastructure &amp; Deployment.</a:t>
            </a:r>
          </a:p>
          <a:p>
            <a:pPr marL="12700" marR="5080"/>
            <a:r>
              <a:rPr lang="en-US" sz="1600" kern="0" spc="-80" dirty="0">
                <a:solidFill>
                  <a:schemeClr val="accent2"/>
                </a:solidFill>
              </a:rPr>
              <a:t>🧱 Environment Discovery.</a:t>
            </a:r>
          </a:p>
          <a:p>
            <a:pPr marL="12700" marR="5080"/>
            <a:r>
              <a:rPr lang="en-US" sz="1600" kern="0" spc="-80" dirty="0">
                <a:solidFill>
                  <a:schemeClr val="accent6"/>
                </a:solidFill>
              </a:rPr>
              <a:t>Where will workloads run? (On-prem, Azure, AWS, GCP, Hybrid, Edge).</a:t>
            </a:r>
          </a:p>
          <a:p>
            <a:pPr marL="12700" marR="5080"/>
            <a:r>
              <a:rPr lang="en-US" sz="1600" kern="0" spc="-80" dirty="0">
                <a:solidFill>
                  <a:schemeClr val="accent6"/>
                </a:solidFill>
              </a:rPr>
              <a:t>What environments exist (Dev/Test/Prod)?</a:t>
            </a:r>
          </a:p>
          <a:p>
            <a:pPr marL="12700" marR="5080"/>
            <a:r>
              <a:rPr lang="en-US" sz="1600" kern="0" spc="-80" dirty="0">
                <a:solidFill>
                  <a:schemeClr val="accent6"/>
                </a:solidFill>
              </a:rPr>
              <a:t>How is infrastructure provisioned (manual, </a:t>
            </a:r>
            <a:r>
              <a:rPr lang="en-US" sz="1600" kern="0" spc="-80" dirty="0" err="1">
                <a:solidFill>
                  <a:schemeClr val="accent6"/>
                </a:solidFill>
              </a:rPr>
              <a:t>IaC</a:t>
            </a:r>
            <a:r>
              <a:rPr lang="en-US" sz="1600" kern="0" spc="-80" dirty="0">
                <a:solidFill>
                  <a:schemeClr val="accent6"/>
                </a:solidFill>
              </a:rPr>
              <a:t> – Terraform/Bicep)?</a:t>
            </a:r>
          </a:p>
          <a:p>
            <a:pPr marL="12700" marR="5080"/>
            <a:r>
              <a:rPr lang="en-US" sz="1600" kern="0" spc="-80" dirty="0">
                <a:solidFill>
                  <a:schemeClr val="accent6"/>
                </a:solidFill>
              </a:rPr>
              <a:t>What are the network and connectivity constraints?</a:t>
            </a:r>
          </a:p>
          <a:p>
            <a:pPr marL="12700" marR="5080"/>
            <a:r>
              <a:rPr lang="en-US" sz="1600" kern="0" spc="-80" dirty="0">
                <a:solidFill>
                  <a:schemeClr val="accent6"/>
                </a:solidFill>
              </a:rPr>
              <a:t>What compute, storage, and network resources are available?</a:t>
            </a:r>
          </a:p>
          <a:p>
            <a:pPr marL="12700" marR="5080"/>
            <a:r>
              <a:rPr lang="en-US" sz="1600" kern="0" spc="-80" dirty="0">
                <a:solidFill>
                  <a:schemeClr val="accent2"/>
                </a:solidFill>
              </a:rPr>
              <a:t>🚀 Deployment &amp; Operations.</a:t>
            </a:r>
          </a:p>
          <a:p>
            <a:pPr marL="12700" marR="5080"/>
            <a:r>
              <a:rPr lang="en-US" sz="1600" kern="0" spc="-80" dirty="0">
                <a:solidFill>
                  <a:schemeClr val="accent6"/>
                </a:solidFill>
              </a:rPr>
              <a:t>What is the CI/CD pipeline strategy?</a:t>
            </a:r>
          </a:p>
          <a:p>
            <a:pPr marL="12700" marR="5080"/>
            <a:r>
              <a:rPr lang="en-US" sz="1600" kern="0" spc="-80" dirty="0">
                <a:solidFill>
                  <a:schemeClr val="accent6"/>
                </a:solidFill>
              </a:rPr>
              <a:t>How are rollouts, rollbacks, and versioning handled?</a:t>
            </a:r>
          </a:p>
          <a:p>
            <a:pPr marL="12700" marR="5080"/>
            <a:r>
              <a:rPr lang="en-US" sz="1600" kern="0" spc="-80" dirty="0">
                <a:solidFill>
                  <a:schemeClr val="accent6"/>
                </a:solidFill>
              </a:rPr>
              <a:t>What’s the monitoring, logging, and alerting setup?</a:t>
            </a:r>
          </a:p>
          <a:p>
            <a:pPr marL="12700" marR="5080"/>
            <a:r>
              <a:rPr lang="en-US" sz="1600" kern="0" spc="-80" dirty="0">
                <a:solidFill>
                  <a:schemeClr val="accent6"/>
                </a:solidFill>
              </a:rPr>
              <a:t>Who handles incident response and SRE functions?</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1100225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15CF-7B3D-A031-1155-041E86AC75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471D53-8A67-04B4-2583-14EC356C28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5FB2B1-B1D2-AD1C-7C62-2C4077E609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BF0B749-72B6-691F-2564-DB3C84009BE4}"/>
              </a:ext>
            </a:extLst>
          </p:cNvPr>
          <p:cNvGraphicFramePr/>
          <p:nvPr>
            <p:extLst>
              <p:ext uri="{D42A27DB-BD31-4B8C-83A1-F6EECF244321}">
                <p14:modId xmlns:p14="http://schemas.microsoft.com/office/powerpoint/2010/main" val="337190444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BA155E-E20F-5F42-869E-C5AF3BBF206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CCE9CE-A9AA-3269-E71D-075E33FF2EC7}"/>
              </a:ext>
            </a:extLst>
          </p:cNvPr>
          <p:cNvSpPr txBox="1">
            <a:spLocks/>
          </p:cNvSpPr>
          <p:nvPr/>
        </p:nvSpPr>
        <p:spPr>
          <a:xfrm>
            <a:off x="137369" y="685800"/>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 6. Security, Compliance &amp; Governance.</a:t>
            </a:r>
          </a:p>
          <a:p>
            <a:pPr marL="12700" marR="5080"/>
            <a:r>
              <a:rPr lang="en-US" sz="1700" kern="0" spc="-80" dirty="0">
                <a:solidFill>
                  <a:schemeClr val="accent2"/>
                </a:solidFill>
              </a:rPr>
              <a:t>🔒 Security.</a:t>
            </a:r>
          </a:p>
          <a:p>
            <a:pPr marL="12700" marR="5080"/>
            <a:r>
              <a:rPr lang="en-US" sz="1700" kern="0" spc="-80" dirty="0">
                <a:solidFill>
                  <a:schemeClr val="accent6"/>
                </a:solidFill>
              </a:rPr>
              <a:t>How is identity and access management (IAM) handled?</a:t>
            </a:r>
          </a:p>
          <a:p>
            <a:pPr marL="12700" marR="5080"/>
            <a:r>
              <a:rPr lang="en-US" sz="1700" kern="0" spc="-80" dirty="0">
                <a:solidFill>
                  <a:schemeClr val="accent6"/>
                </a:solidFill>
              </a:rPr>
              <a:t>Are there encryption requirements (at rest, in transit)?</a:t>
            </a:r>
          </a:p>
          <a:p>
            <a:pPr marL="12700" marR="5080"/>
            <a:r>
              <a:rPr lang="en-US" sz="1700" kern="0" spc="-80" dirty="0">
                <a:solidFill>
                  <a:schemeClr val="accent6"/>
                </a:solidFill>
              </a:rPr>
              <a:t>How are secrets managed?</a:t>
            </a:r>
          </a:p>
          <a:p>
            <a:pPr marL="12700" marR="5080"/>
            <a:r>
              <a:rPr lang="en-US" sz="1700" kern="0" spc="-80" dirty="0">
                <a:solidFill>
                  <a:schemeClr val="accent6"/>
                </a:solidFill>
              </a:rPr>
              <a:t>Any known vulnerabilities or threats?</a:t>
            </a:r>
          </a:p>
          <a:p>
            <a:pPr marL="12700" marR="5080"/>
            <a:r>
              <a:rPr lang="en-US" sz="1700" kern="0" spc="-80" dirty="0">
                <a:solidFill>
                  <a:schemeClr val="accent2"/>
                </a:solidFill>
              </a:rPr>
              <a:t>🧾 Compliance.</a:t>
            </a:r>
          </a:p>
          <a:p>
            <a:pPr marL="12700" marR="5080"/>
            <a:r>
              <a:rPr lang="en-US" sz="1700" kern="0" spc="-80" dirty="0">
                <a:solidFill>
                  <a:schemeClr val="accent6"/>
                </a:solidFill>
              </a:rPr>
              <a:t>What regulatory frameworks apply (GDPR, HIPAA, ISO, RBI, etc.)?</a:t>
            </a:r>
          </a:p>
          <a:p>
            <a:pPr marL="12700" marR="5080"/>
            <a:r>
              <a:rPr lang="en-US" sz="1700" kern="0" spc="-80" dirty="0">
                <a:solidFill>
                  <a:schemeClr val="accent6"/>
                </a:solidFill>
              </a:rPr>
              <a:t>What are the audit and logging requirements?</a:t>
            </a:r>
          </a:p>
          <a:p>
            <a:pPr marL="12700" marR="5080"/>
            <a:r>
              <a:rPr lang="en-US" sz="1700" kern="0" spc="-80" dirty="0">
                <a:solidFill>
                  <a:schemeClr val="accent6"/>
                </a:solidFill>
              </a:rPr>
              <a:t>Are there data residency or sovereignty constraints?</a:t>
            </a:r>
          </a:p>
          <a:p>
            <a:pPr marL="12700" marR="5080"/>
            <a:r>
              <a:rPr lang="en-US" sz="1700" kern="0" spc="-80" dirty="0">
                <a:solidFill>
                  <a:schemeClr val="accent2"/>
                </a:solidFill>
              </a:rPr>
              <a:t>🧠 7. People, Process &amp; Change Management.</a:t>
            </a:r>
          </a:p>
          <a:p>
            <a:pPr marL="12700" marR="5080"/>
            <a:r>
              <a:rPr lang="en-US" sz="1700" kern="0" spc="-80" dirty="0">
                <a:solidFill>
                  <a:schemeClr val="accent6"/>
                </a:solidFill>
              </a:rPr>
              <a:t>Who will own and maintain the solution post-deployment?</a:t>
            </a:r>
          </a:p>
          <a:p>
            <a:pPr marL="12700" marR="5080"/>
            <a:r>
              <a:rPr lang="en-US" sz="1700" kern="0" spc="-80" dirty="0">
                <a:solidFill>
                  <a:schemeClr val="accent6"/>
                </a:solidFill>
              </a:rPr>
              <a:t>What skills are available in-house vs. need upskilling?</a:t>
            </a:r>
          </a:p>
          <a:p>
            <a:pPr marL="12700" marR="5080"/>
            <a:r>
              <a:rPr lang="en-US" sz="1700" kern="0" spc="-80" dirty="0">
                <a:solidFill>
                  <a:schemeClr val="accent6"/>
                </a:solidFill>
              </a:rPr>
              <a:t>Are there existing DevOps/SRE or </a:t>
            </a:r>
            <a:r>
              <a:rPr lang="en-US" sz="1700" kern="0" spc="-80" dirty="0" err="1">
                <a:solidFill>
                  <a:schemeClr val="accent6"/>
                </a:solidFill>
              </a:rPr>
              <a:t>MLOps</a:t>
            </a:r>
            <a:r>
              <a:rPr lang="en-US" sz="1700" kern="0" spc="-80" dirty="0">
                <a:solidFill>
                  <a:schemeClr val="accent6"/>
                </a:solidFill>
              </a:rPr>
              <a:t> practices?</a:t>
            </a:r>
          </a:p>
          <a:p>
            <a:pPr marL="12700" marR="5080"/>
            <a:r>
              <a:rPr lang="en-US" sz="1700" kern="0" spc="-80" dirty="0">
                <a:solidFill>
                  <a:schemeClr val="accent6"/>
                </a:solidFill>
              </a:rPr>
              <a:t>What change management or training plans are required?</a:t>
            </a:r>
          </a:p>
          <a:p>
            <a:pPr marL="12700" marR="5080"/>
            <a:r>
              <a:rPr lang="en-US" sz="1700" kern="0" spc="-80" dirty="0">
                <a:solidFill>
                  <a:schemeClr val="accent2"/>
                </a:solidFill>
              </a:rPr>
              <a:t>📈 8. Risks, Constraints &amp; Assumptions.</a:t>
            </a:r>
          </a:p>
          <a:p>
            <a:pPr marL="12700" marR="5080"/>
            <a:r>
              <a:rPr lang="en-US" sz="1700" kern="0" spc="-80" dirty="0">
                <a:solidFill>
                  <a:schemeClr val="accent2"/>
                </a:solidFill>
              </a:rPr>
              <a:t>Category             Example.</a:t>
            </a:r>
          </a:p>
          <a:p>
            <a:pPr marL="12700" marR="5080"/>
            <a:r>
              <a:rPr lang="en-US" sz="1700" kern="0" spc="-80" dirty="0">
                <a:solidFill>
                  <a:schemeClr val="accent6"/>
                </a:solidFill>
              </a:rPr>
              <a:t>Risks                   Legacy dependency, integration complexity, unclear requirements.</a:t>
            </a:r>
          </a:p>
          <a:p>
            <a:pPr marL="12700" marR="5080"/>
            <a:r>
              <a:rPr lang="en-US" sz="1700" kern="0" spc="-80" dirty="0">
                <a:solidFill>
                  <a:schemeClr val="accent6"/>
                </a:solidFill>
              </a:rPr>
              <a:t>Constraints        Budget, licensing, regulatory, cloud choice.</a:t>
            </a:r>
          </a:p>
          <a:p>
            <a:pPr marL="12700" marR="5080"/>
            <a:r>
              <a:rPr lang="en-US" sz="1700" kern="0" spc="-80" dirty="0">
                <a:solidFill>
                  <a:schemeClr val="accent6"/>
                </a:solidFill>
              </a:rPr>
              <a:t>Assumptions     APIs available, data access permitted, team resources allocated.</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290693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835C-8533-C09C-F17F-DCDF0F55D7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EE7E59-AA8A-451C-E613-639CA795E1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021537-0BC7-DFD4-10AA-CDDD647649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8EE37B-688D-F71D-5000-29839B001495}"/>
              </a:ext>
            </a:extLst>
          </p:cNvPr>
          <p:cNvGraphicFramePr/>
          <p:nvPr>
            <p:extLst>
              <p:ext uri="{D42A27DB-BD31-4B8C-83A1-F6EECF244321}">
                <p14:modId xmlns:p14="http://schemas.microsoft.com/office/powerpoint/2010/main" val="365279577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B304389-F981-CD37-7E12-03F79C4A09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03C7FDA-4039-63C0-2C79-7AF7CCDD99C2}"/>
              </a:ext>
            </a:extLst>
          </p:cNvPr>
          <p:cNvSpPr txBox="1">
            <a:spLocks/>
          </p:cNvSpPr>
          <p:nvPr/>
        </p:nvSpPr>
        <p:spPr>
          <a:xfrm>
            <a:off x="137369" y="685800"/>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r>
              <a:rPr lang="en-US" sz="1700" kern="0" spc="-80" dirty="0">
                <a:solidFill>
                  <a:schemeClr val="accent2"/>
                </a:solidFill>
              </a:rPr>
              <a:t>9. Architecture Decision Inputs.</a:t>
            </a:r>
          </a:p>
          <a:p>
            <a:pPr marL="12700" marR="5080"/>
            <a:r>
              <a:rPr lang="en-US" sz="1700" kern="0" spc="-80" dirty="0">
                <a:solidFill>
                  <a:schemeClr val="accent2"/>
                </a:solidFill>
              </a:rPr>
              <a:t>Prepare to capture Architecture Decision Records (ADRs) based on:</a:t>
            </a:r>
          </a:p>
          <a:p>
            <a:pPr marL="12700" marR="5080"/>
            <a:r>
              <a:rPr lang="en-US" sz="1700" kern="0" spc="-80" dirty="0">
                <a:solidFill>
                  <a:schemeClr val="accent6"/>
                </a:solidFill>
              </a:rPr>
              <a:t>Chosen architecture style (Microservices, Event-driven, Data , etc.).</a:t>
            </a:r>
          </a:p>
          <a:p>
            <a:pPr marL="12700" marR="5080"/>
            <a:r>
              <a:rPr lang="en-US" sz="1700" kern="0" spc="-80" dirty="0">
                <a:solidFill>
                  <a:schemeClr val="accent6"/>
                </a:solidFill>
              </a:rPr>
              <a:t>Key trade-offs (complexity vs flexibility, performance vs cost).</a:t>
            </a:r>
          </a:p>
          <a:p>
            <a:pPr marL="12700" marR="5080"/>
            <a:r>
              <a:rPr lang="en-US" sz="1700" kern="0" spc="-80" dirty="0">
                <a:solidFill>
                  <a:schemeClr val="accent6"/>
                </a:solidFill>
              </a:rPr>
              <a:t>Tooling &amp; framework selection rationale.</a:t>
            </a:r>
          </a:p>
          <a:p>
            <a:pPr marL="12700" marR="5080"/>
            <a:r>
              <a:rPr lang="en-US" sz="1700" kern="0" spc="-80" dirty="0">
                <a:solidFill>
                  <a:schemeClr val="accent6"/>
                </a:solidFill>
              </a:rPr>
              <a:t>Cloud or platform strategy (Azure, AWS, hybrid).</a:t>
            </a:r>
          </a:p>
          <a:p>
            <a:pPr marL="12700" marR="5080"/>
            <a:r>
              <a:rPr lang="en-US" sz="1700" kern="0" spc="-80" dirty="0">
                <a:solidFill>
                  <a:schemeClr val="accent2"/>
                </a:solidFill>
              </a:rPr>
              <a:t>🧩 10. Artifacts to Produce.</a:t>
            </a:r>
          </a:p>
          <a:p>
            <a:pPr marL="12700" marR="5080"/>
            <a:r>
              <a:rPr lang="en-US" sz="1700" kern="0" spc="-80" dirty="0">
                <a:solidFill>
                  <a:schemeClr val="accent2"/>
                </a:solidFill>
              </a:rPr>
              <a:t>During or after discovery, architects should aim to deliver:</a:t>
            </a:r>
          </a:p>
          <a:p>
            <a:pPr marL="12700" marR="5080"/>
            <a:r>
              <a:rPr lang="en-US" sz="1700" kern="0" spc="-80" dirty="0">
                <a:solidFill>
                  <a:schemeClr val="accent6"/>
                </a:solidFill>
              </a:rPr>
              <a:t>Current-State (As-Is) architecture diagram.</a:t>
            </a:r>
          </a:p>
          <a:p>
            <a:pPr marL="12700" marR="5080"/>
            <a:r>
              <a:rPr lang="en-US" sz="1700" kern="0" spc="-80" dirty="0">
                <a:solidFill>
                  <a:schemeClr val="accent6"/>
                </a:solidFill>
              </a:rPr>
              <a:t>Target-State (To-Be) architecture diagram.</a:t>
            </a:r>
          </a:p>
          <a:p>
            <a:pPr marL="12700" marR="5080"/>
            <a:r>
              <a:rPr lang="en-US" sz="1700" kern="0" spc="-80" dirty="0">
                <a:solidFill>
                  <a:schemeClr val="accent6"/>
                </a:solidFill>
              </a:rPr>
              <a:t>Strategy Diagram to transform from As-Is to To-Be</a:t>
            </a:r>
          </a:p>
          <a:p>
            <a:pPr marL="12700" marR="5080"/>
            <a:r>
              <a:rPr lang="en-US" sz="1700" kern="0" spc="-80" dirty="0">
                <a:solidFill>
                  <a:schemeClr val="accent6"/>
                </a:solidFill>
              </a:rPr>
              <a:t>Context and container views (C4 model).</a:t>
            </a:r>
          </a:p>
          <a:p>
            <a:pPr marL="12700" marR="5080"/>
            <a:r>
              <a:rPr lang="en-US" sz="1700" kern="0" spc="-80" dirty="0">
                <a:solidFill>
                  <a:schemeClr val="accent6"/>
                </a:solidFill>
              </a:rPr>
              <a:t>Integration/data flow diagrams.</a:t>
            </a:r>
          </a:p>
          <a:p>
            <a:pPr marL="12700" marR="5080"/>
            <a:r>
              <a:rPr lang="en-US" sz="1700" kern="0" spc="-80" dirty="0">
                <a:solidFill>
                  <a:schemeClr val="accent6"/>
                </a:solidFill>
              </a:rPr>
              <a:t>NFR matrix.</a:t>
            </a:r>
          </a:p>
          <a:p>
            <a:pPr marL="12700" marR="5080"/>
            <a:r>
              <a:rPr lang="en-US" sz="1700" kern="0" spc="-80" dirty="0">
                <a:solidFill>
                  <a:schemeClr val="accent6"/>
                </a:solidFill>
              </a:rPr>
              <a:t>Risk and mitigation log.</a:t>
            </a:r>
          </a:p>
          <a:p>
            <a:pPr marL="12700" marR="5080"/>
            <a:r>
              <a:rPr lang="en-US" sz="1700" kern="0" spc="-80" dirty="0">
                <a:solidFill>
                  <a:schemeClr val="accent6"/>
                </a:solidFill>
              </a:rPr>
              <a:t>Architecture Decision Records (ADRs)</a:t>
            </a:r>
            <a:endParaRPr lang="en-IN" sz="1700" kern="0" spc="-80" dirty="0">
              <a:solidFill>
                <a:schemeClr val="accent6"/>
              </a:solidFill>
            </a:endParaRPr>
          </a:p>
        </p:txBody>
      </p:sp>
    </p:spTree>
    <p:extLst>
      <p:ext uri="{BB962C8B-B14F-4D97-AF65-F5344CB8AC3E}">
        <p14:creationId xmlns:p14="http://schemas.microsoft.com/office/powerpoint/2010/main" val="198214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31784771"/>
              </p:ext>
            </p:extLst>
          </p:nvPr>
        </p:nvGraphicFramePr>
        <p:xfrm>
          <a:off x="194897" y="-311105"/>
          <a:ext cx="7192300" cy="1282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04800" y="13716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Is some As-Is(/Current-State) Architecture/Design/Implementation available?</a:t>
            </a:r>
          </a:p>
          <a:p>
            <a:pPr marL="12700" marR="5080"/>
            <a:endParaRPr lang="en-US" sz="2000" kern="0" spc="-220" dirty="0">
              <a:solidFill>
                <a:schemeClr val="accent6"/>
              </a:solidFill>
            </a:endParaRPr>
          </a:p>
          <a:p>
            <a:pPr marL="12700" marR="5080"/>
            <a:r>
              <a:rPr lang="en-US" sz="2000" kern="0" spc="-220" dirty="0">
                <a:solidFill>
                  <a:schemeClr val="accent6"/>
                </a:solidFill>
              </a:rPr>
              <a:t>If yes, how things are done currently – the whole process.</a:t>
            </a:r>
          </a:p>
          <a:p>
            <a:pPr marL="12700" marR="5080"/>
            <a:endParaRPr lang="en-US" sz="2000" kern="0" spc="-220" dirty="0">
              <a:solidFill>
                <a:schemeClr val="accent6"/>
              </a:solidFill>
            </a:endParaRPr>
          </a:p>
          <a:p>
            <a:pPr marL="12700" marR="5080"/>
            <a:r>
              <a:rPr lang="en-US" sz="2000" kern="0" spc="-220" dirty="0">
                <a:solidFill>
                  <a:schemeClr val="accent6"/>
                </a:solidFill>
              </a:rPr>
              <a:t>Is there any To-Be(/Target) diagram? </a:t>
            </a:r>
          </a:p>
          <a:p>
            <a:pPr marL="12700" marR="5080"/>
            <a:endParaRPr lang="en-US" sz="2000" kern="0" spc="-220" dirty="0">
              <a:solidFill>
                <a:schemeClr val="accent6"/>
              </a:solidFill>
            </a:endParaRPr>
          </a:p>
          <a:p>
            <a:pPr marL="12700" marR="5080"/>
            <a:r>
              <a:rPr lang="en-US" sz="2000" kern="0" spc="-220" dirty="0">
                <a:solidFill>
                  <a:schemeClr val="accent6"/>
                </a:solidFill>
              </a:rPr>
              <a:t>If needed, ask why transforming from As-Is to To-Be? And why now?</a:t>
            </a:r>
          </a:p>
          <a:p>
            <a:pPr marL="12700" marR="5080"/>
            <a:endParaRPr lang="en-US" sz="2000" kern="0" spc="-220" dirty="0">
              <a:solidFill>
                <a:schemeClr val="accent6"/>
              </a:solidFill>
            </a:endParaRPr>
          </a:p>
          <a:p>
            <a:pPr marL="12700" marR="5080"/>
            <a:r>
              <a:rPr lang="en-US" sz="2000" kern="0" spc="-220" dirty="0">
                <a:solidFill>
                  <a:schemeClr val="accent6"/>
                </a:solidFill>
              </a:rPr>
              <a:t>Being Customer Centric rather than just Requirements Centric  i.e. if needed, modify the requirements for better customer satisfaction.</a:t>
            </a:r>
          </a:p>
          <a:p>
            <a:pPr marL="12700" marR="5080"/>
            <a:endParaRPr lang="en-US" sz="2000" kern="0" spc="-220" dirty="0">
              <a:solidFill>
                <a:schemeClr val="accent6"/>
              </a:solidFill>
            </a:endParaRPr>
          </a:p>
          <a:p>
            <a:pPr marL="12700" marR="5080"/>
            <a:r>
              <a:rPr lang="en-US" sz="2000" kern="0" spc="-220" dirty="0">
                <a:solidFill>
                  <a:schemeClr val="accent6"/>
                </a:solidFill>
              </a:rPr>
              <a:t>Proactively ask relevant queries in Requirements Analysis phase  &amp; envision (design) tasks which can turn out to be really very helpful to make the product/service better in the Product Engineering landscape.</a:t>
            </a:r>
          </a:p>
          <a:p>
            <a:pPr marL="12700" marR="5080"/>
            <a:endParaRPr lang="en-US" sz="2400" kern="0" spc="-80" dirty="0">
              <a:solidFill>
                <a:schemeClr val="accent6"/>
              </a:solidFill>
            </a:endParaRPr>
          </a:p>
        </p:txBody>
      </p:sp>
      <p:sp>
        <p:nvSpPr>
          <p:cNvPr id="3" name="object 4">
            <a:extLst>
              <a:ext uri="{FF2B5EF4-FFF2-40B4-BE49-F238E27FC236}">
                <a16:creationId xmlns:a16="http://schemas.microsoft.com/office/drawing/2014/main" id="{AA9CCAEE-3766-F0E4-5E82-9F8EB6CAEFB6}"/>
              </a:ext>
            </a:extLst>
          </p:cNvPr>
          <p:cNvSpPr/>
          <p:nvPr/>
        </p:nvSpPr>
        <p:spPr>
          <a:xfrm>
            <a:off x="1871620" y="11339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937EDB09-A356-4297-DD47-3F27FD65CABA}"/>
              </a:ext>
            </a:extLst>
          </p:cNvPr>
          <p:cNvSpPr/>
          <p:nvPr/>
        </p:nvSpPr>
        <p:spPr>
          <a:xfrm>
            <a:off x="1871620" y="9815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1968098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029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99831909"/>
              </p:ext>
            </p:extLst>
          </p:nvPr>
        </p:nvGraphicFramePr>
        <p:xfrm>
          <a:off x="76200" y="-60735"/>
          <a:ext cx="7192300" cy="11469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2954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QPS/RPS/TPS(Queries/Requests/Transactions per second)</a:t>
            </a:r>
            <a:r>
              <a:rPr lang="en-US" sz="1800" kern="0" spc="-220" dirty="0">
                <a:solidFill>
                  <a:schemeClr val="accent6"/>
                </a:solidFill>
              </a:rPr>
              <a:t> – As thumb rule, assume(/start with) 1K QPS can be handled by a standard server (&amp; API(s) response time within 100ms in general).</a:t>
            </a:r>
          </a:p>
          <a:p>
            <a:pPr marL="12700" marR="5080"/>
            <a:endParaRPr lang="en-US" sz="1800" kern="0" spc="-220" dirty="0">
              <a:solidFill>
                <a:schemeClr val="accent6"/>
              </a:solidFill>
            </a:endParaRPr>
          </a:p>
          <a:p>
            <a:pPr marL="12700" marR="5080"/>
            <a:r>
              <a:rPr lang="en-US" sz="1800" kern="0" spc="-220" dirty="0">
                <a:solidFill>
                  <a:schemeClr val="accent2"/>
                </a:solidFill>
              </a:rPr>
              <a:t>Read/Write Ratio</a:t>
            </a:r>
            <a:r>
              <a:rPr lang="en-US" sz="1800" kern="0" spc="-220" dirty="0">
                <a:solidFill>
                  <a:schemeClr val="accent6"/>
                </a:solidFill>
              </a:rPr>
              <a:t> – Calculate the tentative/assumed Read/Write</a:t>
            </a:r>
          </a:p>
          <a:p>
            <a:pPr marL="12700" marR="5080"/>
            <a:r>
              <a:rPr lang="en-US" sz="1800" kern="0" spc="-220" dirty="0">
                <a:solidFill>
                  <a:schemeClr val="accent6"/>
                </a:solidFill>
              </a:rPr>
              <a:t>Ratio. This can be helpful in scaling the reads &amp; writes separately.</a:t>
            </a:r>
          </a:p>
          <a:p>
            <a:pPr marL="12700" marR="5080"/>
            <a:endParaRPr lang="en-US" sz="1800" kern="0" spc="-220" dirty="0">
              <a:solidFill>
                <a:schemeClr val="accent6"/>
              </a:solidFill>
            </a:endParaRPr>
          </a:p>
          <a:p>
            <a:pPr marL="12700" marR="5080"/>
            <a:r>
              <a:rPr lang="en-US" sz="1800" kern="0" spc="-220" dirty="0">
                <a:solidFill>
                  <a:schemeClr val="accent2"/>
                </a:solidFill>
              </a:rPr>
              <a:t>Infra Considerations -  </a:t>
            </a:r>
            <a:r>
              <a:rPr lang="en-US" sz="1800" kern="0" spc="-220" dirty="0">
                <a:solidFill>
                  <a:schemeClr val="accent6"/>
                </a:solidFill>
              </a:rPr>
              <a:t>Number of Servers/VMs needed &amp; CPU/Disk/RAM Size needed in each Server/</a:t>
            </a:r>
            <a:r>
              <a:rPr lang="en-US" sz="1800" kern="0" spc="-220" dirty="0" err="1">
                <a:solidFill>
                  <a:schemeClr val="accent6"/>
                </a:solidFill>
              </a:rPr>
              <a:t>Vm</a:t>
            </a:r>
            <a:r>
              <a:rPr lang="en-US" sz="1800" kern="0" spc="-220" dirty="0">
                <a:solidFill>
                  <a:schemeClr val="accent6"/>
                </a:solidFill>
              </a:rPr>
              <a:t>. Network Bandwidth considerations are also important here.</a:t>
            </a:r>
          </a:p>
          <a:p>
            <a:pPr marL="12700" marR="5080"/>
            <a:endParaRPr lang="en-US" sz="1800" kern="0" spc="-220" dirty="0">
              <a:solidFill>
                <a:schemeClr val="accent6"/>
              </a:solidFill>
            </a:endParaRPr>
          </a:p>
          <a:p>
            <a:pPr marL="12700" marR="5080"/>
            <a:r>
              <a:rPr lang="en-US" sz="1800" kern="0" spc="-220" dirty="0">
                <a:solidFill>
                  <a:schemeClr val="accent2"/>
                </a:solidFill>
              </a:rPr>
              <a:t>Storage Size</a:t>
            </a:r>
            <a:r>
              <a:rPr lang="en-US" sz="1800" kern="0" spc="-220" dirty="0">
                <a:solidFill>
                  <a:schemeClr val="accent6"/>
                </a:solidFill>
              </a:rPr>
              <a:t> – Evaluate the size of blobs, DBs </a:t>
            </a:r>
            <a:r>
              <a:rPr lang="en-US" sz="1800" kern="0" spc="-220" dirty="0" err="1">
                <a:solidFill>
                  <a:schemeClr val="accent6"/>
                </a:solidFill>
              </a:rPr>
              <a:t>etc</a:t>
            </a:r>
            <a:r>
              <a:rPr lang="en-US" sz="1800" kern="0" spc="-220" dirty="0">
                <a:solidFill>
                  <a:schemeClr val="accent6"/>
                </a:solidFill>
              </a:rPr>
              <a:t> needed.</a:t>
            </a:r>
          </a:p>
          <a:p>
            <a:pPr marL="12700" marR="5080"/>
            <a:endParaRPr lang="en-US" sz="1800" kern="0" spc="-220" dirty="0">
              <a:solidFill>
                <a:schemeClr val="accent6"/>
              </a:solidFill>
            </a:endParaRPr>
          </a:p>
          <a:p>
            <a:pPr marL="12700" marR="5080"/>
            <a:r>
              <a:rPr lang="en-US" sz="1800" kern="0" spc="-220" dirty="0">
                <a:solidFill>
                  <a:schemeClr val="accent2"/>
                </a:solidFill>
              </a:rPr>
              <a:t>YoY(Year on Year [including  Day 0,1…N]) Growth[for all the above] </a:t>
            </a:r>
            <a:r>
              <a:rPr lang="en-US" sz="1800" kern="0" spc="-220" dirty="0">
                <a:solidFill>
                  <a:schemeClr val="accent6"/>
                </a:solidFill>
              </a:rPr>
              <a:t>– Can be helpful in capacity planning for initial cloud assessment or full on-premise assessment</a:t>
            </a:r>
          </a:p>
          <a:p>
            <a:pPr marL="12700" marR="5080"/>
            <a:endParaRPr lang="en-US" sz="1800" kern="0" spc="-220" dirty="0">
              <a:solidFill>
                <a:schemeClr val="accent6"/>
              </a:solidFill>
            </a:endParaRPr>
          </a:p>
        </p:txBody>
      </p:sp>
    </p:spTree>
    <p:extLst>
      <p:ext uri="{BB962C8B-B14F-4D97-AF65-F5344CB8AC3E}">
        <p14:creationId xmlns:p14="http://schemas.microsoft.com/office/powerpoint/2010/main" val="34267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334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08736320"/>
              </p:ext>
            </p:extLst>
          </p:nvPr>
        </p:nvGraphicFramePr>
        <p:xfrm>
          <a:off x="304800" y="76200"/>
          <a:ext cx="7192300" cy="14129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411843"/>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WBS(Work Breakdown Structure)</a:t>
            </a:r>
            <a:r>
              <a:rPr lang="en-US" sz="1400" kern="0" spc="-80" dirty="0">
                <a:solidFill>
                  <a:schemeClr val="accent6"/>
                </a:solidFill>
              </a:rPr>
              <a:t> – Used for normal User Stories in most agile projects. </a:t>
            </a:r>
            <a:r>
              <a:rPr lang="en-US" sz="1400" kern="0" spc="-80" dirty="0" err="1">
                <a:solidFill>
                  <a:schemeClr val="accent6"/>
                </a:solidFill>
              </a:rPr>
              <a:t>Infact</a:t>
            </a:r>
            <a:r>
              <a:rPr lang="en-US" sz="1400" kern="0" spc="-80" dirty="0">
                <a:solidFill>
                  <a:schemeClr val="accent6"/>
                </a:solidFill>
              </a:rPr>
              <a:t> when you do Story-Pointing, you are implicitly using WBS.</a:t>
            </a:r>
          </a:p>
          <a:p>
            <a:pPr marL="12700" marR="5080"/>
            <a:endParaRPr lang="en-US" sz="1400" kern="0" spc="-80" dirty="0">
              <a:solidFill>
                <a:schemeClr val="accent6"/>
              </a:solidFill>
            </a:endParaRPr>
          </a:p>
          <a:p>
            <a:pPr marL="12700" marR="5080"/>
            <a:r>
              <a:rPr lang="en-US" sz="1400" kern="0" spc="-80" dirty="0">
                <a:solidFill>
                  <a:schemeClr val="accent2"/>
                </a:solidFill>
              </a:rPr>
              <a:t>Use Case Estimation</a:t>
            </a:r>
            <a:r>
              <a:rPr lang="en-US" sz="1400" kern="0" spc="-80" dirty="0">
                <a:solidFill>
                  <a:schemeClr val="accent6"/>
                </a:solidFill>
              </a:rPr>
              <a:t> – Used for whole new or Enhancement projects. WBS can be used for each use case for better granularity.</a:t>
            </a:r>
          </a:p>
          <a:p>
            <a:pPr marL="12700" marR="5080"/>
            <a:endParaRPr lang="en-US" sz="1400" kern="0" spc="-80" dirty="0">
              <a:solidFill>
                <a:schemeClr val="accent6"/>
              </a:solidFill>
            </a:endParaRPr>
          </a:p>
          <a:p>
            <a:pPr marL="12700" marR="5080"/>
            <a:r>
              <a:rPr lang="en-US" sz="1400" kern="0" spc="-80" dirty="0">
                <a:solidFill>
                  <a:schemeClr val="accent2"/>
                </a:solidFill>
              </a:rPr>
              <a:t>Function Point Estimation</a:t>
            </a:r>
            <a:r>
              <a:rPr lang="en-US" sz="1400" kern="0" spc="-80" dirty="0">
                <a:solidFill>
                  <a:schemeClr val="accent6"/>
                </a:solidFill>
              </a:rPr>
              <a:t> – Used in some migration projects if source code of existing project is available.</a:t>
            </a:r>
          </a:p>
          <a:p>
            <a:pPr marL="12700" marR="5080"/>
            <a:r>
              <a:rPr lang="en-US" sz="1400" kern="0" spc="-80" dirty="0">
                <a:solidFill>
                  <a:schemeClr val="accent6"/>
                </a:solidFill>
              </a:rPr>
              <a:t>N.B. -&gt; If its some totally new concept/technology, do a PoC using Design Thinking approach and then give the overall estimate using WBS.</a:t>
            </a:r>
          </a:p>
          <a:p>
            <a:pPr marL="12700" marR="5080"/>
            <a:endParaRPr lang="en-US" sz="1400" kern="0" spc="-80" dirty="0">
              <a:solidFill>
                <a:schemeClr val="accent6"/>
              </a:solidFill>
            </a:endParaRPr>
          </a:p>
          <a:p>
            <a:pPr marL="12700" marR="5080"/>
            <a:r>
              <a:rPr lang="en-US" sz="1400" kern="0" spc="-80" dirty="0" err="1">
                <a:solidFill>
                  <a:schemeClr val="accent2"/>
                </a:solidFill>
              </a:rPr>
              <a:t>SAFe</a:t>
            </a:r>
            <a:r>
              <a:rPr lang="en-US" sz="1400" kern="0" spc="-80" dirty="0">
                <a:solidFill>
                  <a:schemeClr val="accent2"/>
                </a:solidFill>
              </a:rPr>
              <a:t> Estimation Techniques</a:t>
            </a:r>
            <a:r>
              <a:rPr lang="en-US" sz="1400" kern="0" spc="-80" dirty="0">
                <a:solidFill>
                  <a:schemeClr val="accent6"/>
                </a:solidFill>
              </a:rPr>
              <a:t> - </a:t>
            </a:r>
            <a:r>
              <a:rPr lang="en-US" sz="1500" dirty="0">
                <a:hlinkClick r:id="rId7"/>
              </a:rPr>
              <a:t>Estimation &amp; Prioritization : Agile &amp; </a:t>
            </a:r>
            <a:r>
              <a:rPr lang="en-US" sz="1500" dirty="0" err="1">
                <a:hlinkClick r:id="rId7"/>
              </a:rPr>
              <a:t>SAFe</a:t>
            </a:r>
            <a:r>
              <a:rPr lang="en-US" sz="1500" dirty="0">
                <a:hlinkClick r:id="rId7"/>
              </a:rPr>
              <a:t> Framework | LinkedIn</a:t>
            </a:r>
            <a:endParaRPr lang="en-US" sz="1500" kern="0" spc="-80" dirty="0">
              <a:solidFill>
                <a:schemeClr val="accent6"/>
              </a:solidFill>
            </a:endParaRPr>
          </a:p>
          <a:p>
            <a:pPr marL="12700" marR="5080"/>
            <a:endParaRPr lang="en-US" sz="1800" kern="0" spc="-80" dirty="0">
              <a:solidFill>
                <a:schemeClr val="accent6"/>
              </a:solidFill>
            </a:endParaRPr>
          </a:p>
          <a:p>
            <a:pPr marL="12700" marR="5080"/>
            <a:r>
              <a:rPr lang="en-US" sz="1400" kern="0" spc="-80" dirty="0">
                <a:solidFill>
                  <a:schemeClr val="accent6"/>
                </a:solidFill>
              </a:rPr>
              <a:t>Some Most Important “Common-Sense” points to keep in consideration while doing any estimate are(although common sense but sometimes we forget these the most) – </a:t>
            </a:r>
          </a:p>
          <a:p>
            <a:pPr marL="355600" marR="5080" indent="-342900">
              <a:buFontTx/>
              <a:buAutoNum type="arabicParenR"/>
            </a:pPr>
            <a:r>
              <a:rPr lang="en-US" sz="1400" kern="0" spc="-80" dirty="0">
                <a:solidFill>
                  <a:schemeClr val="accent6"/>
                </a:solidFill>
              </a:rPr>
              <a:t>Work Load(as per Granular Scoping &amp; Prioritization as per need of the hour), Complexity &amp; Uncertainty. </a:t>
            </a:r>
          </a:p>
          <a:p>
            <a:pPr marL="355600" marR="5080" indent="-342900">
              <a:buAutoNum type="arabicParenR"/>
            </a:pPr>
            <a:r>
              <a:rPr lang="en-US" sz="1400" kern="0" spc="-80" dirty="0">
                <a:solidFill>
                  <a:schemeClr val="accent6"/>
                </a:solidFill>
              </a:rPr>
              <a:t>Always consider 20-30% buffer on overall base estimates you give. It’s always better to commit less &amp; deliver more than vice versa. Check </a:t>
            </a:r>
            <a:r>
              <a:rPr lang="en-IN" sz="1500" dirty="0">
                <a:hlinkClick r:id="rId8"/>
              </a:rPr>
              <a:t>Arpit </a:t>
            </a:r>
            <a:r>
              <a:rPr lang="en-IN" sz="1500" dirty="0" err="1">
                <a:hlinkClick r:id="rId8"/>
              </a:rPr>
              <a:t>Bhayani’s</a:t>
            </a:r>
            <a:r>
              <a:rPr lang="en-IN" sz="1500" dirty="0">
                <a:hlinkClick r:id="rId8"/>
              </a:rPr>
              <a:t> Post on Estimation| LinkedIn</a:t>
            </a:r>
            <a:endParaRPr lang="en-US" sz="1500" kern="0" spc="-80" dirty="0">
              <a:solidFill>
                <a:schemeClr val="accent6"/>
              </a:solidFill>
            </a:endParaRPr>
          </a:p>
          <a:p>
            <a:pPr marL="355600" marR="5080" indent="-342900">
              <a:buAutoNum type="arabicParenR"/>
            </a:pPr>
            <a:r>
              <a:rPr lang="en-US" sz="1400" kern="0" spc="-80" dirty="0">
                <a:solidFill>
                  <a:schemeClr val="accent6"/>
                </a:solidFill>
              </a:rPr>
              <a:t>Team Capacity or Timelines may be needed to be increased/decreased as per need of the hour.</a:t>
            </a:r>
          </a:p>
          <a:p>
            <a:pPr marL="12700" marR="5080"/>
            <a:endParaRPr lang="en-US" sz="1800" kern="0" spc="-80" dirty="0">
              <a:solidFill>
                <a:schemeClr val="accent6"/>
              </a:solidFill>
            </a:endParaRPr>
          </a:p>
          <a:p>
            <a:pPr marL="355600" marR="5080" indent="-342900">
              <a:buAutoNum type="arabicParenR"/>
            </a:pPr>
            <a:endParaRPr lang="en-US" sz="1800" kern="0" spc="-80" dirty="0">
              <a:solidFill>
                <a:schemeClr val="accent6"/>
              </a:solidFill>
            </a:endParaRPr>
          </a:p>
        </p:txBody>
      </p:sp>
    </p:spTree>
    <p:extLst>
      <p:ext uri="{BB962C8B-B14F-4D97-AF65-F5344CB8AC3E}">
        <p14:creationId xmlns:p14="http://schemas.microsoft.com/office/powerpoint/2010/main" val="169117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26594620"/>
              </p:ext>
            </p:extLst>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90600"/>
            <a:ext cx="8624937" cy="43704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UML </a:t>
            </a:r>
            <a:r>
              <a:rPr lang="en-US" sz="2400" kern="0" spc="-80" dirty="0">
                <a:solidFill>
                  <a:schemeClr val="accent6"/>
                </a:solidFill>
              </a:rPr>
              <a:t>– </a:t>
            </a:r>
          </a:p>
          <a:p>
            <a:pPr marL="12700" marR="5080"/>
            <a:r>
              <a:rPr lang="en-US" sz="2400" kern="0" spc="-80" dirty="0">
                <a:solidFill>
                  <a:schemeClr val="accent2"/>
                </a:solidFill>
              </a:rPr>
              <a:t>Use Case &amp; Activity Diagrams</a:t>
            </a:r>
            <a:r>
              <a:rPr lang="en-US" sz="2400" kern="0" spc="-80" dirty="0">
                <a:solidFill>
                  <a:schemeClr val="accent6"/>
                </a:solidFill>
              </a:rPr>
              <a:t> – </a:t>
            </a:r>
            <a:r>
              <a:rPr lang="en-US" sz="2000" kern="0" spc="-80" dirty="0">
                <a:solidFill>
                  <a:schemeClr val="accent6"/>
                </a:solidFill>
              </a:rPr>
              <a:t>Used for interaction between Dev team and BAs/</a:t>
            </a:r>
            <a:r>
              <a:rPr lang="en-US" sz="2000" kern="0" spc="-80" dirty="0" err="1">
                <a:solidFill>
                  <a:schemeClr val="accent6"/>
                </a:solidFill>
              </a:rPr>
              <a:t>POs.</a:t>
            </a:r>
            <a:r>
              <a:rPr lang="en-US" sz="2000" kern="0" spc="-80" dirty="0">
                <a:solidFill>
                  <a:schemeClr val="accent6"/>
                </a:solidFill>
              </a:rPr>
              <a:t> </a:t>
            </a:r>
          </a:p>
          <a:p>
            <a:pPr marL="12700" marR="5080"/>
            <a:r>
              <a:rPr lang="en-US" sz="1500" dirty="0">
                <a:hlinkClick r:id="rId7"/>
              </a:rPr>
              <a:t>Difference Between Use Case Diagram and Activity Diagram | Compare the Difference Between Similar Terms</a:t>
            </a:r>
            <a:endParaRPr lang="en-US" sz="1500" dirty="0"/>
          </a:p>
          <a:p>
            <a:pPr marL="12700" marR="5080"/>
            <a:endParaRPr lang="en-US" sz="2400" kern="0" spc="-80" dirty="0">
              <a:solidFill>
                <a:schemeClr val="accent6"/>
              </a:solidFill>
            </a:endParaRPr>
          </a:p>
          <a:p>
            <a:pPr marL="12700" marR="5080"/>
            <a:r>
              <a:rPr lang="en-US" sz="2400" kern="0" spc="-80" dirty="0">
                <a:solidFill>
                  <a:schemeClr val="accent2"/>
                </a:solidFill>
              </a:rPr>
              <a:t>Component Diagrams</a:t>
            </a:r>
            <a:r>
              <a:rPr lang="en-US" sz="2400" kern="0" spc="-80" dirty="0">
                <a:solidFill>
                  <a:schemeClr val="accent6"/>
                </a:solidFill>
              </a:rPr>
              <a:t> – </a:t>
            </a:r>
            <a:r>
              <a:rPr lang="en-US" sz="2000" kern="0" spc="-80" dirty="0">
                <a:solidFill>
                  <a:schemeClr val="accent6"/>
                </a:solidFill>
              </a:rPr>
              <a:t>To show how components/services interact with each other</a:t>
            </a:r>
          </a:p>
          <a:p>
            <a:pPr marL="12700" marR="5080"/>
            <a:r>
              <a:rPr lang="en-IN" sz="1500" dirty="0">
                <a:hlinkClick r:id="rId8"/>
              </a:rPr>
              <a:t>What is Component Diagram?</a:t>
            </a:r>
            <a:endParaRPr lang="en-IN" sz="1500" dirty="0"/>
          </a:p>
          <a:p>
            <a:pPr marL="12700" marR="5080"/>
            <a:endParaRPr lang="en-US" sz="1500" kern="0" spc="-80" dirty="0">
              <a:solidFill>
                <a:schemeClr val="accent6"/>
              </a:solidFill>
            </a:endParaRPr>
          </a:p>
          <a:p>
            <a:pPr marL="12700" marR="5080"/>
            <a:r>
              <a:rPr lang="en-US" sz="2400" kern="0" spc="-80" dirty="0">
                <a:solidFill>
                  <a:schemeClr val="accent2"/>
                </a:solidFill>
              </a:rPr>
              <a:t>Class Diagrams</a:t>
            </a:r>
            <a:r>
              <a:rPr lang="en-US" sz="2400" kern="0" spc="-80" dirty="0">
                <a:solidFill>
                  <a:schemeClr val="accent6"/>
                </a:solidFill>
              </a:rPr>
              <a:t> – </a:t>
            </a:r>
            <a:r>
              <a:rPr lang="en-US" sz="2000" kern="0" spc="-80" dirty="0">
                <a:solidFill>
                  <a:schemeClr val="accent6"/>
                </a:solidFill>
              </a:rPr>
              <a:t>To show how components/services are build using class(es)/interface(s).Can be helpful in Reverse Engineering as well. </a:t>
            </a:r>
          </a:p>
          <a:p>
            <a:pPr marL="12700" marR="5080"/>
            <a:r>
              <a:rPr lang="pt-BR" sz="1500" dirty="0">
                <a:hlinkClick r:id="rId9"/>
              </a:rPr>
              <a:t>UML Class Diagram Tutorial | Lucidchart</a:t>
            </a:r>
            <a:r>
              <a:rPr lang="en-US" sz="2000" kern="0" spc="-80" dirty="0">
                <a:solidFill>
                  <a:schemeClr val="accent6"/>
                </a:solidFill>
              </a:rPr>
              <a:t> </a:t>
            </a:r>
            <a:r>
              <a:rPr lang="en-US" sz="2400" kern="0" spc="-80" dirty="0">
                <a:solidFill>
                  <a:schemeClr val="accent6"/>
                </a:solidFill>
              </a:rPr>
              <a:t> </a:t>
            </a:r>
          </a:p>
        </p:txBody>
      </p:sp>
    </p:spTree>
    <p:extLst>
      <p:ext uri="{BB962C8B-B14F-4D97-AF65-F5344CB8AC3E}">
        <p14:creationId xmlns:p14="http://schemas.microsoft.com/office/powerpoint/2010/main" val="3299617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04800" y="949674"/>
            <a:ext cx="8624937" cy="42780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UML </a:t>
            </a:r>
            <a:r>
              <a:rPr lang="en-US" sz="2400" kern="0" spc="-80" dirty="0" err="1">
                <a:solidFill>
                  <a:schemeClr val="accent2"/>
                </a:solidFill>
              </a:rPr>
              <a:t>contd</a:t>
            </a:r>
            <a:r>
              <a:rPr lang="en-US" sz="2400" kern="0" spc="-80" dirty="0">
                <a:solidFill>
                  <a:schemeClr val="accent2"/>
                </a:solidFill>
              </a:rPr>
              <a:t>… </a:t>
            </a:r>
            <a:r>
              <a:rPr lang="en-US" sz="2400" kern="0" spc="-80" dirty="0">
                <a:solidFill>
                  <a:schemeClr val="accent6"/>
                </a:solidFill>
              </a:rPr>
              <a:t>– </a:t>
            </a:r>
          </a:p>
          <a:p>
            <a:pPr marL="12700" marR="5080"/>
            <a:r>
              <a:rPr lang="en-US" sz="2000" kern="0" spc="-80" dirty="0">
                <a:solidFill>
                  <a:schemeClr val="accent2"/>
                </a:solidFill>
              </a:rPr>
              <a:t>Sequence(&amp; Collaboration Diagrams)</a:t>
            </a:r>
            <a:r>
              <a:rPr lang="en-US" sz="2000" kern="0" spc="-80" dirty="0">
                <a:solidFill>
                  <a:schemeClr val="accent6"/>
                </a:solidFill>
              </a:rPr>
              <a:t> </a:t>
            </a:r>
            <a:r>
              <a:rPr lang="en-US" sz="2400" kern="0" spc="-80" dirty="0">
                <a:solidFill>
                  <a:schemeClr val="accent6"/>
                </a:solidFill>
              </a:rPr>
              <a:t>– </a:t>
            </a:r>
            <a:r>
              <a:rPr lang="en-US" sz="2000" kern="0" spc="-80" dirty="0">
                <a:solidFill>
                  <a:schemeClr val="accent6"/>
                </a:solidFill>
              </a:rPr>
              <a:t>Can be used to show interactions flow between classes/components/services. </a:t>
            </a:r>
          </a:p>
          <a:p>
            <a:pPr marL="12700" marR="5080"/>
            <a:r>
              <a:rPr lang="en-US" sz="1500" dirty="0">
                <a:hlinkClick r:id="rId7"/>
              </a:rPr>
              <a:t>Difference between Sequence diagram and Collaboration diagram – </a:t>
            </a:r>
            <a:r>
              <a:rPr lang="en-US" sz="1500" dirty="0" err="1">
                <a:hlinkClick r:id="rId7"/>
              </a:rPr>
              <a:t>GeeksforGeeks</a:t>
            </a:r>
            <a:endParaRPr lang="en-US" sz="1500" dirty="0"/>
          </a:p>
          <a:p>
            <a:pPr marL="12700" marR="5080"/>
            <a:endParaRPr lang="en-US" sz="2400" kern="0" spc="-80" dirty="0">
              <a:solidFill>
                <a:schemeClr val="accent2"/>
              </a:solidFill>
            </a:endParaRPr>
          </a:p>
          <a:p>
            <a:pPr marL="12700" marR="5080"/>
            <a:r>
              <a:rPr lang="en-US" sz="2000" kern="0" spc="-80" dirty="0">
                <a:solidFill>
                  <a:schemeClr val="accent2"/>
                </a:solidFill>
              </a:rPr>
              <a:t>Other Diagramming Models</a:t>
            </a:r>
            <a:r>
              <a:rPr lang="en-US" sz="2000" kern="0" spc="-80" dirty="0">
                <a:solidFill>
                  <a:schemeClr val="accent6"/>
                </a:solidFill>
              </a:rPr>
              <a:t> –</a:t>
            </a:r>
          </a:p>
          <a:p>
            <a:pPr marL="12700" marR="5080"/>
            <a:r>
              <a:rPr lang="en-US" sz="2000" kern="0" spc="-80" dirty="0">
                <a:solidFill>
                  <a:schemeClr val="accent2"/>
                </a:solidFill>
              </a:rPr>
              <a:t>C4 Model</a:t>
            </a:r>
            <a:r>
              <a:rPr lang="en-US" sz="2000" kern="0" spc="-80" dirty="0">
                <a:solidFill>
                  <a:schemeClr val="accent6"/>
                </a:solidFill>
              </a:rPr>
              <a:t> -</a:t>
            </a:r>
            <a:r>
              <a:rPr lang="en-US" sz="2800" kern="0" spc="-80" dirty="0">
                <a:solidFill>
                  <a:schemeClr val="accent6"/>
                </a:solidFill>
              </a:rPr>
              <a:t> </a:t>
            </a:r>
            <a:r>
              <a:rPr lang="en-US" sz="1500" dirty="0">
                <a:hlinkClick r:id="rId8"/>
              </a:rPr>
              <a:t>Visualize Your Software Architecture With The C4 Model</a:t>
            </a:r>
            <a:endParaRPr lang="en-US" sz="1500" dirty="0"/>
          </a:p>
          <a:p>
            <a:pPr marL="12700" marR="5080"/>
            <a:r>
              <a:rPr lang="en-US" sz="2000" kern="0" spc="-80" dirty="0">
                <a:solidFill>
                  <a:schemeClr val="accent2"/>
                </a:solidFill>
              </a:rPr>
              <a:t>BPMN</a:t>
            </a:r>
            <a:r>
              <a:rPr lang="en-US" sz="2000" kern="0" spc="-80" dirty="0">
                <a:solidFill>
                  <a:schemeClr val="accent6"/>
                </a:solidFill>
              </a:rPr>
              <a:t> -</a:t>
            </a:r>
            <a:r>
              <a:rPr lang="en-US" sz="2400" kern="0" spc="-80" dirty="0">
                <a:solidFill>
                  <a:schemeClr val="accent6"/>
                </a:solidFill>
              </a:rPr>
              <a:t> </a:t>
            </a:r>
            <a:r>
              <a:rPr lang="en-US" sz="1500" dirty="0">
                <a:hlinkClick r:id="rId9"/>
              </a:rPr>
              <a:t>BPMN Specification - Business Process Model and Notation</a:t>
            </a:r>
            <a:r>
              <a:rPr lang="en-US" sz="2000" kern="0" spc="-80" dirty="0">
                <a:solidFill>
                  <a:schemeClr val="accent6"/>
                </a:solidFill>
              </a:rPr>
              <a:t> </a:t>
            </a:r>
          </a:p>
          <a:p>
            <a:pPr marL="12700" marR="5080"/>
            <a:r>
              <a:rPr lang="en-US" sz="2000" kern="0" spc="-80" dirty="0" err="1">
                <a:solidFill>
                  <a:schemeClr val="accent2"/>
                </a:solidFill>
              </a:rPr>
              <a:t>Archimate</a:t>
            </a:r>
            <a:r>
              <a:rPr lang="en-US" sz="2000" kern="0" spc="-80" dirty="0">
                <a:solidFill>
                  <a:schemeClr val="accent6"/>
                </a:solidFill>
              </a:rPr>
              <a:t> -</a:t>
            </a:r>
            <a:r>
              <a:rPr lang="en-US" sz="2400" kern="0" spc="-80" dirty="0">
                <a:solidFill>
                  <a:schemeClr val="accent6"/>
                </a:solidFill>
              </a:rPr>
              <a:t> </a:t>
            </a:r>
            <a:r>
              <a:rPr lang="en-IN" sz="1500" dirty="0">
                <a:hlinkClick r:id="rId10"/>
              </a:rPr>
              <a:t>ArchiMate – Wikipedia</a:t>
            </a:r>
            <a:endParaRPr lang="en-IN" sz="1500" dirty="0"/>
          </a:p>
          <a:p>
            <a:pPr marL="12700" marR="5080"/>
            <a:endParaRPr lang="en-US" sz="1500" kern="0" spc="-80" dirty="0">
              <a:solidFill>
                <a:schemeClr val="accent6"/>
              </a:solidFill>
            </a:endParaRPr>
          </a:p>
          <a:p>
            <a:pPr marL="12700" marR="5080"/>
            <a:r>
              <a:rPr lang="en-US" sz="2000" kern="0" spc="-80" dirty="0">
                <a:solidFill>
                  <a:schemeClr val="accent6"/>
                </a:solidFill>
              </a:rPr>
              <a:t>N.B. – Use </a:t>
            </a:r>
            <a:r>
              <a:rPr lang="en-US" sz="2000" kern="0" spc="-80" dirty="0" err="1">
                <a:solidFill>
                  <a:schemeClr val="accent6"/>
                </a:solidFill>
              </a:rPr>
              <a:t>Colour</a:t>
            </a:r>
            <a:r>
              <a:rPr lang="en-US" sz="2000" kern="0" spc="-80" dirty="0">
                <a:solidFill>
                  <a:schemeClr val="accent6"/>
                </a:solidFill>
              </a:rPr>
              <a:t> Coding(border or full box) for Legends for Architectural Components like “New”, “Existing To Be used”, “Modified” or “To be </a:t>
            </a:r>
            <a:r>
              <a:rPr lang="en-US" sz="2000" kern="0" spc="-80" dirty="0" err="1">
                <a:solidFill>
                  <a:schemeClr val="accent6"/>
                </a:solidFill>
              </a:rPr>
              <a:t>Decomissioned</a:t>
            </a:r>
            <a:r>
              <a:rPr lang="en-US" sz="2000" kern="0" spc="-80" dirty="0">
                <a:solidFill>
                  <a:schemeClr val="accent6"/>
                </a:solidFill>
              </a:rPr>
              <a:t>”</a:t>
            </a:r>
            <a:endParaRPr lang="en-US" sz="2400" kern="0" spc="-80" dirty="0">
              <a:solidFill>
                <a:schemeClr val="accent6"/>
              </a:solidFill>
            </a:endParaRPr>
          </a:p>
        </p:txBody>
      </p:sp>
    </p:spTree>
    <p:extLst>
      <p:ext uri="{BB962C8B-B14F-4D97-AF65-F5344CB8AC3E}">
        <p14:creationId xmlns:p14="http://schemas.microsoft.com/office/powerpoint/2010/main" val="2645385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0668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Important Architecture Diagrams and Documentation</a:t>
            </a:r>
          </a:p>
          <a:p>
            <a:pPr marL="12700" marR="5080"/>
            <a:r>
              <a:rPr lang="en-US" sz="2400" kern="0" spc="-80" dirty="0">
                <a:solidFill>
                  <a:schemeClr val="accent2"/>
                </a:solidFill>
              </a:rPr>
              <a:t>Vision &amp; Strategy</a:t>
            </a:r>
            <a:r>
              <a:rPr lang="en-US" sz="2400" kern="0" spc="-80" dirty="0">
                <a:solidFill>
                  <a:schemeClr val="accent6"/>
                </a:solidFill>
              </a:rPr>
              <a:t> </a:t>
            </a:r>
            <a:r>
              <a:rPr lang="en-US" sz="2000" kern="0" spc="-80" dirty="0">
                <a:solidFill>
                  <a:schemeClr val="accent6"/>
                </a:solidFill>
              </a:rPr>
              <a:t>using Roadmaps/Milestones/</a:t>
            </a:r>
            <a:r>
              <a:rPr lang="en-US" sz="2000" kern="0" spc="-80" dirty="0" err="1">
                <a:solidFill>
                  <a:schemeClr val="accent6"/>
                </a:solidFill>
              </a:rPr>
              <a:t>TimeLines</a:t>
            </a:r>
            <a:endParaRPr lang="en-US" sz="2000" kern="0" spc="-80" dirty="0">
              <a:solidFill>
                <a:schemeClr val="accent6"/>
              </a:solidFill>
            </a:endParaRPr>
          </a:p>
          <a:p>
            <a:pPr marL="12700" marR="5080"/>
            <a:endParaRPr lang="en-US" sz="2000" kern="0" spc="-80" dirty="0">
              <a:solidFill>
                <a:schemeClr val="accent6"/>
              </a:solidFill>
            </a:endParaRPr>
          </a:p>
          <a:p>
            <a:pPr marL="12700" marR="5080"/>
            <a:r>
              <a:rPr lang="en-US" sz="2400" kern="0" spc="-80" dirty="0">
                <a:solidFill>
                  <a:schemeClr val="accent2"/>
                </a:solidFill>
              </a:rPr>
              <a:t>Enterprise Landscape</a:t>
            </a:r>
            <a:r>
              <a:rPr lang="en-US" sz="2400" kern="0" spc="-80" dirty="0">
                <a:solidFill>
                  <a:schemeClr val="accent6"/>
                </a:solidFill>
              </a:rPr>
              <a:t> – </a:t>
            </a:r>
            <a:r>
              <a:rPr lang="en-US" sz="2000" kern="0" spc="-80" dirty="0">
                <a:solidFill>
                  <a:schemeClr val="accent6"/>
                </a:solidFill>
              </a:rPr>
              <a:t>for overall high-level view of the entire Enterprise Landscape</a:t>
            </a:r>
          </a:p>
          <a:p>
            <a:pPr marL="12700" marR="5080"/>
            <a:endParaRPr lang="en-US" sz="2000" kern="0" spc="-80" dirty="0">
              <a:solidFill>
                <a:schemeClr val="accent6"/>
              </a:solidFill>
            </a:endParaRPr>
          </a:p>
          <a:p>
            <a:pPr marL="12700" marR="5080"/>
            <a:r>
              <a:rPr lang="en-US" sz="2400" kern="0" spc="-80" dirty="0">
                <a:solidFill>
                  <a:schemeClr val="accent2"/>
                </a:solidFill>
              </a:rPr>
              <a:t>Business Architecture</a:t>
            </a:r>
            <a:r>
              <a:rPr lang="en-US" sz="2400" kern="0" spc="-80" dirty="0">
                <a:solidFill>
                  <a:schemeClr val="accent6"/>
                </a:solidFill>
              </a:rPr>
              <a:t> – </a:t>
            </a:r>
            <a:r>
              <a:rPr lang="en-US" sz="2000" kern="0" spc="-80" dirty="0">
                <a:solidFill>
                  <a:schemeClr val="accent6"/>
                </a:solidFill>
              </a:rPr>
              <a:t>Shows the high-level Business Components &amp; flows/interactions between them</a:t>
            </a:r>
          </a:p>
          <a:p>
            <a:pPr marL="12700" marR="5080"/>
            <a:endParaRPr lang="en-US" sz="2000" kern="0" spc="-80" dirty="0">
              <a:solidFill>
                <a:schemeClr val="accent6"/>
              </a:solidFill>
            </a:endParaRPr>
          </a:p>
          <a:p>
            <a:pPr marL="12700" marR="5080"/>
            <a:r>
              <a:rPr lang="en-US" sz="2400" kern="0" spc="-80" dirty="0">
                <a:solidFill>
                  <a:schemeClr val="accent2"/>
                </a:solidFill>
              </a:rPr>
              <a:t>Application Architecture</a:t>
            </a:r>
            <a:r>
              <a:rPr lang="en-US" sz="2400" kern="0" spc="-80" dirty="0">
                <a:solidFill>
                  <a:schemeClr val="accent6"/>
                </a:solidFill>
              </a:rPr>
              <a:t> – </a:t>
            </a:r>
            <a:r>
              <a:rPr lang="en-US" sz="2000" kern="0" spc="-80" dirty="0">
                <a:solidFill>
                  <a:schemeClr val="accent6"/>
                </a:solidFill>
              </a:rPr>
              <a:t>Various components(showing clearly what technologies are used to build the app) and interactions between them in project(s). </a:t>
            </a:r>
          </a:p>
          <a:p>
            <a:pPr marL="12700" marR="5080"/>
            <a:endParaRPr lang="en-US" sz="2000" kern="0" spc="-80" dirty="0">
              <a:solidFill>
                <a:schemeClr val="accent6"/>
              </a:solidFill>
            </a:endParaRPr>
          </a:p>
          <a:p>
            <a:pPr marL="12700" marR="5080"/>
            <a:r>
              <a:rPr lang="en-US" sz="2000" kern="0" spc="-80" dirty="0">
                <a:solidFill>
                  <a:schemeClr val="accent2"/>
                </a:solidFill>
              </a:rPr>
              <a:t>Technology Architecture</a:t>
            </a:r>
            <a:r>
              <a:rPr lang="en-US" sz="2000" kern="0" spc="-80" dirty="0">
                <a:solidFill>
                  <a:schemeClr val="accent6"/>
                </a:solidFill>
              </a:rPr>
              <a:t> – Showing the Infra &amp; Deployment strategies</a:t>
            </a:r>
          </a:p>
          <a:p>
            <a:pPr marL="12700" marR="5080"/>
            <a:endParaRPr lang="en-US" sz="2000" kern="0" spc="-80" dirty="0">
              <a:solidFill>
                <a:schemeClr val="accent6"/>
              </a:solidFill>
            </a:endParaRPr>
          </a:p>
        </p:txBody>
      </p:sp>
    </p:spTree>
    <p:extLst>
      <p:ext uri="{BB962C8B-B14F-4D97-AF65-F5344CB8AC3E}">
        <p14:creationId xmlns:p14="http://schemas.microsoft.com/office/powerpoint/2010/main" val="208759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046838832"/>
              </p:ext>
            </p:extLst>
          </p:nvPr>
        </p:nvGraphicFramePr>
        <p:xfrm>
          <a:off x="304800" y="-38736"/>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10709"/>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Important Architecture Diagrams and Documentation </a:t>
            </a:r>
            <a:r>
              <a:rPr lang="en-US" sz="2400" kern="0" spc="-80" dirty="0" err="1">
                <a:solidFill>
                  <a:schemeClr val="accent2"/>
                </a:solidFill>
              </a:rPr>
              <a:t>contd</a:t>
            </a:r>
            <a:r>
              <a:rPr lang="en-US" sz="2400" kern="0" spc="-80" dirty="0">
                <a:solidFill>
                  <a:schemeClr val="accent2"/>
                </a:solidFill>
              </a:rPr>
              <a:t> …</a:t>
            </a:r>
          </a:p>
          <a:p>
            <a:pPr marL="12700" marR="5080"/>
            <a:r>
              <a:rPr lang="en-US" sz="2000" kern="0" spc="-80" dirty="0">
                <a:solidFill>
                  <a:schemeClr val="accent2"/>
                </a:solidFill>
              </a:rPr>
              <a:t>Integration Architecture</a:t>
            </a:r>
            <a:r>
              <a:rPr lang="en-US" sz="2400" kern="0" spc="-80" dirty="0">
                <a:solidFill>
                  <a:schemeClr val="accent2"/>
                </a:solidFill>
              </a:rPr>
              <a:t> </a:t>
            </a:r>
            <a:r>
              <a:rPr lang="en-US" sz="2400" kern="0" spc="-80" dirty="0">
                <a:solidFill>
                  <a:schemeClr val="accent6"/>
                </a:solidFill>
              </a:rPr>
              <a:t>– </a:t>
            </a:r>
            <a:r>
              <a:rPr lang="en-US" sz="1800" kern="0" spc="-80" dirty="0">
                <a:solidFill>
                  <a:schemeClr val="accent6"/>
                </a:solidFill>
              </a:rPr>
              <a:t>Showing the major internal/external integrations.</a:t>
            </a:r>
          </a:p>
          <a:p>
            <a:pPr marL="12700" marR="5080"/>
            <a:r>
              <a:rPr lang="en-US" sz="2000" kern="0" spc="-80" dirty="0">
                <a:solidFill>
                  <a:schemeClr val="accent2"/>
                </a:solidFill>
              </a:rPr>
              <a:t>DB Architecture</a:t>
            </a:r>
            <a:r>
              <a:rPr lang="en-US" sz="2400" kern="0" spc="-80" dirty="0">
                <a:solidFill>
                  <a:schemeClr val="accent2"/>
                </a:solidFill>
              </a:rPr>
              <a:t> </a:t>
            </a:r>
            <a:r>
              <a:rPr lang="en-US" sz="2400" kern="0" spc="-80" dirty="0">
                <a:solidFill>
                  <a:schemeClr val="accent6"/>
                </a:solidFill>
              </a:rPr>
              <a:t>– </a:t>
            </a:r>
            <a:r>
              <a:rPr lang="en-US" sz="1800" kern="0" spc="-80" dirty="0">
                <a:solidFill>
                  <a:schemeClr val="accent6"/>
                </a:solidFill>
              </a:rPr>
              <a:t>Showing the conceptual, logical &amp; physical DB models and ER diagrams &amp; the DB Tables metadata structure.</a:t>
            </a:r>
          </a:p>
          <a:p>
            <a:pPr marL="12700" marR="5080"/>
            <a:endParaRPr lang="en-US" sz="2000" kern="0" spc="-80" dirty="0">
              <a:solidFill>
                <a:schemeClr val="accent6"/>
              </a:solidFill>
            </a:endParaRPr>
          </a:p>
          <a:p>
            <a:pPr marL="12700" marR="5080"/>
            <a:r>
              <a:rPr lang="en-US" sz="1800" kern="0" spc="-80" dirty="0">
                <a:solidFill>
                  <a:schemeClr val="accent6"/>
                </a:solidFill>
              </a:rPr>
              <a:t>Also important is to document the NFRs(Non Functional Requirements), ADRs(Architecture Decision Records) &amp; AIRs(Architecture Improvement Logs). </a:t>
            </a:r>
            <a:r>
              <a:rPr lang="en-US" sz="1800" kern="0" spc="-80" dirty="0">
                <a:solidFill>
                  <a:schemeClr val="tx2">
                    <a:lumMod val="60000"/>
                    <a:lumOff val="40000"/>
                  </a:schemeClr>
                </a:solidFill>
              </a:rPr>
              <a:t>For ADRs &amp; AIRs, do check the gotchas associated with any (new) Technology tool.</a:t>
            </a:r>
          </a:p>
          <a:p>
            <a:pPr marL="12700" marR="5080"/>
            <a:r>
              <a:rPr lang="en-US" sz="2000" kern="0" spc="-80" dirty="0">
                <a:solidFill>
                  <a:schemeClr val="accent2"/>
                </a:solidFill>
              </a:rPr>
              <a:t>Other Stuffs to Document</a:t>
            </a:r>
            <a:r>
              <a:rPr lang="en-US" sz="2000" kern="0" spc="-80" dirty="0">
                <a:solidFill>
                  <a:schemeClr val="accent6"/>
                </a:solidFill>
              </a:rPr>
              <a:t> –</a:t>
            </a:r>
            <a:r>
              <a:rPr lang="en-US" sz="2400" kern="0" spc="-80" dirty="0">
                <a:solidFill>
                  <a:schemeClr val="accent6"/>
                </a:solidFill>
              </a:rPr>
              <a:t> </a:t>
            </a:r>
          </a:p>
          <a:p>
            <a:pPr marL="12700" marR="5080"/>
            <a:r>
              <a:rPr lang="en-US" sz="1800" kern="0" spc="-80" dirty="0">
                <a:solidFill>
                  <a:schemeClr val="accent6"/>
                </a:solidFill>
              </a:rPr>
              <a:t>Architecture Principles</a:t>
            </a:r>
          </a:p>
          <a:p>
            <a:pPr marL="12700" marR="5080"/>
            <a:r>
              <a:rPr lang="en-US" sz="1800" kern="0" spc="-80" dirty="0">
                <a:solidFill>
                  <a:schemeClr val="accent6"/>
                </a:solidFill>
              </a:rPr>
              <a:t>Governance Processes</a:t>
            </a:r>
          </a:p>
          <a:p>
            <a:pPr marL="12700" marR="5080"/>
            <a:r>
              <a:rPr lang="en-US" sz="1800" kern="0" spc="-80" dirty="0">
                <a:solidFill>
                  <a:schemeClr val="accent6"/>
                </a:solidFill>
              </a:rPr>
              <a:t>Development Architecture</a:t>
            </a:r>
          </a:p>
          <a:p>
            <a:pPr marL="12700" marR="5080"/>
            <a:r>
              <a:rPr lang="en-US" sz="1800" kern="0" spc="-80" dirty="0">
                <a:solidFill>
                  <a:schemeClr val="accent2"/>
                </a:solidFill>
              </a:rPr>
              <a:t>N.B. – In general, search/google/</a:t>
            </a:r>
            <a:r>
              <a:rPr lang="en-US" sz="1800" kern="0" spc="-80" dirty="0" err="1">
                <a:solidFill>
                  <a:schemeClr val="accent2"/>
                </a:solidFill>
              </a:rPr>
              <a:t>chatGPT</a:t>
            </a:r>
            <a:r>
              <a:rPr lang="en-US" sz="1800" kern="0" spc="-80" dirty="0">
                <a:solidFill>
                  <a:schemeClr val="accent2"/>
                </a:solidFill>
              </a:rPr>
              <a:t> for templates of the aforementioned docs &amp; refer them to prepare your own project specific template.</a:t>
            </a:r>
          </a:p>
        </p:txBody>
      </p:sp>
    </p:spTree>
    <p:extLst>
      <p:ext uri="{BB962C8B-B14F-4D97-AF65-F5344CB8AC3E}">
        <p14:creationId xmlns:p14="http://schemas.microsoft.com/office/powerpoint/2010/main" val="2015240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066800"/>
            <a:ext cx="8624937" cy="15696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 Good Modelling compilation Resource – </a:t>
            </a:r>
          </a:p>
          <a:p>
            <a:pPr marL="12700" marR="5080"/>
            <a:r>
              <a:rPr lang="en-IN" sz="1500" dirty="0" err="1">
                <a:hlinkClick r:id="rId7"/>
              </a:rPr>
              <a:t>Modeling</a:t>
            </a:r>
            <a:r>
              <a:rPr lang="en-IN" sz="1500" dirty="0">
                <a:hlinkClick r:id="rId7"/>
              </a:rPr>
              <a:t> - Awesome Software Architecture</a:t>
            </a:r>
            <a:endParaRPr lang="en-IN" sz="1500" dirty="0"/>
          </a:p>
          <a:p>
            <a:pPr marL="12700" marR="5080"/>
            <a:endParaRPr lang="en-US" sz="1500" kern="0" spc="-80" dirty="0">
              <a:solidFill>
                <a:schemeClr val="accent6"/>
              </a:solidFill>
            </a:endParaRPr>
          </a:p>
          <a:p>
            <a:pPr marL="12700" marR="5080"/>
            <a:endParaRPr lang="en-US" sz="2400" kern="0" spc="-80" dirty="0">
              <a:solidFill>
                <a:schemeClr val="accent6"/>
              </a:solidFill>
            </a:endParaRPr>
          </a:p>
          <a:p>
            <a:pPr marL="12700" marR="5080"/>
            <a:endParaRPr lang="en-US" sz="2400" kern="0" spc="-80" dirty="0">
              <a:solidFill>
                <a:schemeClr val="accent6"/>
              </a:solidFill>
            </a:endParaRPr>
          </a:p>
        </p:txBody>
      </p:sp>
      <p:sp>
        <p:nvSpPr>
          <p:cNvPr id="7" name="object 2">
            <a:extLst>
              <a:ext uri="{FF2B5EF4-FFF2-40B4-BE49-F238E27FC236}">
                <a16:creationId xmlns:a16="http://schemas.microsoft.com/office/drawing/2014/main" id="{01192CCC-E239-75BD-56A7-3C039152FBAB}"/>
              </a:ext>
            </a:extLst>
          </p:cNvPr>
          <p:cNvSpPr txBox="1">
            <a:spLocks/>
          </p:cNvSpPr>
          <p:nvPr/>
        </p:nvSpPr>
        <p:spPr>
          <a:xfrm>
            <a:off x="358395" y="2071821"/>
            <a:ext cx="8624937" cy="35625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Software Architecture As Code Tools –</a:t>
            </a:r>
          </a:p>
          <a:p>
            <a:pPr marL="12700" marR="5080"/>
            <a:r>
              <a:rPr lang="en-US" sz="1500" dirty="0">
                <a:hlinkClick r:id="rId8"/>
              </a:rPr>
              <a:t>From Text to Models</a:t>
            </a:r>
            <a:endParaRPr lang="en-US" sz="1500" dirty="0"/>
          </a:p>
          <a:p>
            <a:pPr marL="12700" marR="5080"/>
            <a:r>
              <a:rPr lang="en-US" sz="1500" dirty="0">
                <a:hlinkClick r:id="rId9"/>
              </a:rPr>
              <a:t>Application Architecture as Code - The Architect Elevator</a:t>
            </a:r>
            <a:endParaRPr lang="en-US" sz="1500" dirty="0"/>
          </a:p>
          <a:p>
            <a:pPr marL="12700" marR="5080"/>
            <a:r>
              <a:rPr lang="en-US" sz="1500" dirty="0">
                <a:hlinkClick r:id="rId10"/>
              </a:rPr>
              <a:t>How to automate software-architecture, using architecture-as-code (</a:t>
            </a:r>
            <a:r>
              <a:rPr lang="en-US" sz="1500" dirty="0" err="1">
                <a:hlinkClick r:id="rId10"/>
              </a:rPr>
              <a:t>SAaC</a:t>
            </a:r>
            <a:r>
              <a:rPr lang="en-US" sz="1500" dirty="0">
                <a:hlinkClick r:id="rId10"/>
              </a:rPr>
              <a:t>) approach</a:t>
            </a:r>
            <a:endParaRPr lang="en-US" sz="1500" dirty="0"/>
          </a:p>
          <a:p>
            <a:pPr marL="12700" marR="5080"/>
            <a:r>
              <a:rPr lang="en-US" sz="1600" dirty="0">
                <a:hlinkClick r:id="rId11"/>
              </a:rPr>
              <a:t>Likec4</a:t>
            </a:r>
            <a:endParaRPr lang="en-US" sz="1600" dirty="0"/>
          </a:p>
          <a:p>
            <a:pPr marL="12700" marR="5080"/>
            <a:endParaRPr lang="en-US" sz="1500" kern="0" spc="-80" dirty="0">
              <a:solidFill>
                <a:schemeClr val="accent6"/>
              </a:solidFill>
            </a:endParaRPr>
          </a:p>
          <a:p>
            <a:pPr marL="12700" marR="5080"/>
            <a:r>
              <a:rPr lang="en-US" sz="2400" kern="0" spc="-80" dirty="0">
                <a:solidFill>
                  <a:schemeClr val="accent2"/>
                </a:solidFill>
              </a:rPr>
              <a:t>Reverse Engineering Tools – </a:t>
            </a:r>
          </a:p>
          <a:p>
            <a:pPr marL="12700" marR="5080"/>
            <a:r>
              <a:rPr lang="en-US" sz="1500" dirty="0">
                <a:hlinkClick r:id="rId12"/>
              </a:rPr>
              <a:t>UML - Are there good tools for C# reverse engineering? - Stack Overflow</a:t>
            </a:r>
            <a:endParaRPr lang="en-US" sz="1500" dirty="0"/>
          </a:p>
          <a:p>
            <a:pPr marL="12700" marR="5080"/>
            <a:r>
              <a:rPr lang="en-US" sz="1500" dirty="0">
                <a:hlinkClick r:id="rId13"/>
              </a:rPr>
              <a:t>Software Design Diagrams Using GitHub Copilot – YouTube</a:t>
            </a:r>
            <a:endParaRPr lang="en-US" sz="1500" dirty="0"/>
          </a:p>
          <a:p>
            <a:pPr marL="12700" marR="5080"/>
            <a:endParaRPr lang="en-US" sz="1050" dirty="0"/>
          </a:p>
          <a:p>
            <a:pPr marL="12700" marR="5080"/>
            <a:r>
              <a:rPr lang="en-US" sz="2400" kern="0" spc="-80" dirty="0">
                <a:solidFill>
                  <a:schemeClr val="accent2"/>
                </a:solidFill>
              </a:rPr>
              <a:t>Other Related Tools – </a:t>
            </a:r>
          </a:p>
          <a:p>
            <a:pPr marL="12700" marR="5080"/>
            <a:r>
              <a:rPr lang="en-IN" sz="1400" dirty="0">
                <a:hlinkClick r:id="rId14"/>
              </a:rPr>
              <a:t>Diagram to Code using Amazon Q | LinkedIn</a:t>
            </a:r>
            <a:endParaRPr lang="en-IN" sz="1400" dirty="0"/>
          </a:p>
          <a:p>
            <a:pPr marL="12700" marR="5080"/>
            <a:r>
              <a:rPr lang="en-US" sz="1400" dirty="0">
                <a:hlinkClick r:id="rId15"/>
              </a:rPr>
              <a:t>How to use GitHub Copilot? A Detailed, Comprehensive Guide 2025</a:t>
            </a:r>
            <a:endParaRPr lang="en-US" sz="2400" kern="0" spc="-80" dirty="0">
              <a:solidFill>
                <a:schemeClr val="accent2"/>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702978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1" y="69388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2" y="54533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61123035"/>
              </p:ext>
            </p:extLst>
          </p:nvPr>
        </p:nvGraphicFramePr>
        <p:xfrm>
          <a:off x="152400" y="0"/>
          <a:ext cx="8839200"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76B2BA3F-1B64-DCAC-3488-841F18A28A35}"/>
              </a:ext>
            </a:extLst>
          </p:cNvPr>
          <p:cNvSpPr txBox="1"/>
          <p:nvPr/>
        </p:nvSpPr>
        <p:spPr>
          <a:xfrm>
            <a:off x="152400" y="842437"/>
            <a:ext cx="8839200" cy="4832092"/>
          </a:xfrm>
          <a:prstGeom prst="rect">
            <a:avLst/>
          </a:prstGeom>
          <a:noFill/>
        </p:spPr>
        <p:txBody>
          <a:bodyPr wrap="square">
            <a:spAutoFit/>
          </a:bodyPr>
          <a:lstStyle/>
          <a:p>
            <a:r>
              <a:rPr lang="en-US" sz="1400" b="1" kern="0" spc="-80" dirty="0">
                <a:solidFill>
                  <a:schemeClr val="accent6"/>
                </a:solidFill>
                <a:latin typeface="Lucida Sans"/>
                <a:ea typeface="+mj-ea"/>
              </a:rPr>
              <a:t>Deciding between building and buying involves evaluating cost, time-to-market, and strategic necessity. Buy when the solution is not a core differentiator, requires speed, and cheaper off-the-shelf options exist. Build when you need a unique competitive advantage, have specific customization needs, or proprietary data requires in-house control.</a:t>
            </a:r>
          </a:p>
          <a:p>
            <a:endParaRPr lang="en-US" sz="1400" b="1" kern="0" spc="-80" dirty="0">
              <a:solidFill>
                <a:schemeClr val="accent6"/>
              </a:solidFill>
              <a:latin typeface="Lucida Sans"/>
              <a:ea typeface="+mj-ea"/>
            </a:endParaRPr>
          </a:p>
          <a:p>
            <a:r>
              <a:rPr lang="en-US" sz="1400" b="1" kern="0" spc="-80" dirty="0">
                <a:solidFill>
                  <a:schemeClr val="accent2"/>
                </a:solidFill>
                <a:latin typeface="Lucida Sans"/>
                <a:ea typeface="+mj-ea"/>
              </a:rPr>
              <a:t>Key Decision Factors</a:t>
            </a:r>
          </a:p>
          <a:p>
            <a:r>
              <a:rPr lang="en-US" sz="1400" b="1" kern="0" spc="-80" dirty="0">
                <a:solidFill>
                  <a:schemeClr val="accent2"/>
                </a:solidFill>
                <a:latin typeface="Lucida Sans"/>
                <a:ea typeface="+mj-ea"/>
              </a:rPr>
              <a:t>Core Competency: </a:t>
            </a:r>
            <a:r>
              <a:rPr lang="en-US" sz="1400" b="1" kern="0" spc="-80" dirty="0">
                <a:solidFill>
                  <a:schemeClr val="accent6"/>
                </a:solidFill>
                <a:latin typeface="Lucida Sans"/>
                <a:ea typeface="+mj-ea"/>
              </a:rPr>
              <a:t>If the solution is central to your business value (e.g., a proprietary algorithm), build it. If it is a utility (e.g., email, CRM), buy it.</a:t>
            </a:r>
          </a:p>
          <a:p>
            <a:r>
              <a:rPr lang="en-US" sz="1400" b="1" kern="0" spc="-80" dirty="0">
                <a:solidFill>
                  <a:schemeClr val="accent2"/>
                </a:solidFill>
                <a:latin typeface="Lucida Sans"/>
                <a:ea typeface="+mj-ea"/>
              </a:rPr>
              <a:t>Total Cost of Ownership (TCO): </a:t>
            </a:r>
            <a:r>
              <a:rPr lang="en-US" sz="1400" b="1" kern="0" spc="-80" dirty="0">
                <a:solidFill>
                  <a:schemeClr val="accent6"/>
                </a:solidFill>
                <a:latin typeface="Lucida Sans"/>
                <a:ea typeface="+mj-ea"/>
              </a:rPr>
              <a:t>Compare upfront, subscription, and customization costs (Buy) against development, infrastructure, and long-term maintenance costs (Build).</a:t>
            </a:r>
          </a:p>
          <a:p>
            <a:r>
              <a:rPr lang="en-US" sz="1400" b="1" kern="0" spc="-80" dirty="0">
                <a:solidFill>
                  <a:schemeClr val="accent2"/>
                </a:solidFill>
                <a:latin typeface="Lucida Sans"/>
                <a:ea typeface="+mj-ea"/>
              </a:rPr>
              <a:t>Time-to-Market: </a:t>
            </a:r>
            <a:r>
              <a:rPr lang="en-US" sz="1400" b="1" kern="0" spc="-80" dirty="0">
                <a:solidFill>
                  <a:schemeClr val="accent6"/>
                </a:solidFill>
                <a:latin typeface="Lucida Sans"/>
                <a:ea typeface="+mj-ea"/>
              </a:rPr>
              <a:t>Buying offers immediate implementation, while building requires significant time for development, testing, and deployment.</a:t>
            </a:r>
          </a:p>
          <a:p>
            <a:r>
              <a:rPr lang="en-US" sz="1400" b="1" kern="0" spc="-80" dirty="0">
                <a:solidFill>
                  <a:schemeClr val="accent2"/>
                </a:solidFill>
                <a:latin typeface="Lucida Sans"/>
                <a:ea typeface="+mj-ea"/>
              </a:rPr>
              <a:t>Customization &amp; Control: </a:t>
            </a:r>
            <a:r>
              <a:rPr lang="en-US" sz="1400" b="1" kern="0" spc="-80" dirty="0">
                <a:solidFill>
                  <a:schemeClr val="accent6"/>
                </a:solidFill>
                <a:latin typeface="Lucida Sans"/>
                <a:ea typeface="+mj-ea"/>
              </a:rPr>
              <a:t>Building offers complete control and flexibility. Buying often requires adapting your processes to the vendor's software.</a:t>
            </a:r>
          </a:p>
          <a:p>
            <a:r>
              <a:rPr lang="en-US" sz="1400" b="1" kern="0" spc="-80" dirty="0">
                <a:solidFill>
                  <a:schemeClr val="accent2"/>
                </a:solidFill>
                <a:latin typeface="Lucida Sans"/>
                <a:ea typeface="+mj-ea"/>
              </a:rPr>
              <a:t>Internal Expertise:</a:t>
            </a:r>
            <a:r>
              <a:rPr lang="en-US" sz="1400" b="1" kern="0" spc="-80" dirty="0">
                <a:solidFill>
                  <a:schemeClr val="accent6"/>
                </a:solidFill>
                <a:latin typeface="Lucida Sans"/>
                <a:ea typeface="+mj-ea"/>
              </a:rPr>
              <a:t> Assess if your team has the skills and bandwidth to build and maintain the solution, or if outsourcing/hiring is required. </a:t>
            </a:r>
          </a:p>
          <a:p>
            <a:endParaRPr lang="en-US" sz="1400" b="1" kern="0" spc="-80" dirty="0">
              <a:solidFill>
                <a:schemeClr val="accent6"/>
              </a:solidFill>
              <a:latin typeface="Lucida Sans"/>
              <a:ea typeface="+mj-ea"/>
            </a:endParaRPr>
          </a:p>
          <a:p>
            <a:r>
              <a:rPr lang="en-US" sz="1400" b="1" kern="0" spc="-80" dirty="0">
                <a:solidFill>
                  <a:schemeClr val="accent2"/>
                </a:solidFill>
                <a:latin typeface="Lucida Sans"/>
                <a:ea typeface="+mj-ea"/>
              </a:rPr>
              <a:t>Decision Process</a:t>
            </a:r>
          </a:p>
          <a:p>
            <a:r>
              <a:rPr lang="en-US" sz="1400" b="1" kern="0" spc="-80" dirty="0">
                <a:solidFill>
                  <a:schemeClr val="accent2"/>
                </a:solidFill>
                <a:latin typeface="Lucida Sans"/>
                <a:ea typeface="+mj-ea"/>
              </a:rPr>
              <a:t>Define Requirements: </a:t>
            </a:r>
            <a:r>
              <a:rPr lang="en-US" sz="1400" b="1" kern="0" spc="-80" dirty="0">
                <a:solidFill>
                  <a:schemeClr val="accent6"/>
                </a:solidFill>
                <a:latin typeface="Lucida Sans"/>
                <a:ea typeface="+mj-ea"/>
              </a:rPr>
              <a:t>Determine if a, "must-have" solution exists in the market.</a:t>
            </a:r>
          </a:p>
          <a:p>
            <a:r>
              <a:rPr lang="en-US" sz="1400" b="1" kern="0" spc="-80" dirty="0">
                <a:solidFill>
                  <a:schemeClr val="accent2"/>
                </a:solidFill>
                <a:latin typeface="Lucida Sans"/>
                <a:ea typeface="+mj-ea"/>
              </a:rPr>
              <a:t>Evaluate Strategy: </a:t>
            </a:r>
            <a:r>
              <a:rPr lang="en-US" sz="1400" b="1" kern="0" spc="-80" dirty="0">
                <a:solidFill>
                  <a:schemeClr val="accent6"/>
                </a:solidFill>
                <a:latin typeface="Lucida Sans"/>
                <a:ea typeface="+mj-ea"/>
              </a:rPr>
              <a:t>Is this functionality crucial to your competitive advantage?</a:t>
            </a:r>
          </a:p>
          <a:p>
            <a:r>
              <a:rPr lang="en-US" sz="1400" b="1" kern="0" spc="-80" dirty="0">
                <a:solidFill>
                  <a:schemeClr val="accent2"/>
                </a:solidFill>
                <a:latin typeface="Lucida Sans"/>
                <a:ea typeface="+mj-ea"/>
              </a:rPr>
              <a:t>Calculate ROI:</a:t>
            </a:r>
            <a:r>
              <a:rPr lang="en-US" sz="1400" b="1" kern="0" spc="-80" dirty="0">
                <a:solidFill>
                  <a:schemeClr val="accent6"/>
                </a:solidFill>
                <a:latin typeface="Lucida Sans"/>
                <a:ea typeface="+mj-ea"/>
              </a:rPr>
              <a:t> Factor in both direct costs and the cost of time (opportunity cost).</a:t>
            </a:r>
          </a:p>
          <a:p>
            <a:r>
              <a:rPr lang="en-US" sz="1400" b="1" kern="0" spc="-80" dirty="0">
                <a:solidFill>
                  <a:schemeClr val="accent2"/>
                </a:solidFill>
                <a:latin typeface="Lucida Sans"/>
                <a:ea typeface="+mj-ea"/>
              </a:rPr>
              <a:t>Assess Capabilities: </a:t>
            </a:r>
            <a:r>
              <a:rPr lang="en-US" sz="1400" b="1" kern="0" spc="-80" dirty="0">
                <a:solidFill>
                  <a:schemeClr val="accent6"/>
                </a:solidFill>
                <a:latin typeface="Lucida Sans"/>
                <a:ea typeface="+mj-ea"/>
              </a:rPr>
              <a:t>Honestly evaluate if your team can build it better than a vendor</a:t>
            </a:r>
            <a:endParaRPr lang="en-IN" sz="1400" b="1" kern="0" spc="-80" dirty="0">
              <a:solidFill>
                <a:schemeClr val="accent6"/>
              </a:solidFill>
              <a:latin typeface="Lucida Sans"/>
              <a:ea typeface="+mj-ea"/>
            </a:endParaRPr>
          </a:p>
        </p:txBody>
      </p:sp>
    </p:spTree>
    <p:extLst>
      <p:ext uri="{BB962C8B-B14F-4D97-AF65-F5344CB8AC3E}">
        <p14:creationId xmlns:p14="http://schemas.microsoft.com/office/powerpoint/2010/main" val="2207233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0BB7F-89D4-02C3-C82C-BB96CA87CF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64EAB5-EB1E-7D2A-CDCB-98A395216B69}"/>
              </a:ext>
            </a:extLst>
          </p:cNvPr>
          <p:cNvSpPr/>
          <p:nvPr/>
        </p:nvSpPr>
        <p:spPr>
          <a:xfrm>
            <a:off x="1756801" y="69388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DAC1FA5-BDB1-84EF-9BE7-58CA2D434816}"/>
              </a:ext>
            </a:extLst>
          </p:cNvPr>
          <p:cNvSpPr/>
          <p:nvPr/>
        </p:nvSpPr>
        <p:spPr>
          <a:xfrm>
            <a:off x="1756802" y="54533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F21392-76E3-49DA-522B-CFC7B9BC0AC7}"/>
              </a:ext>
            </a:extLst>
          </p:cNvPr>
          <p:cNvGraphicFramePr/>
          <p:nvPr/>
        </p:nvGraphicFramePr>
        <p:xfrm>
          <a:off x="152400" y="0"/>
          <a:ext cx="8839200"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8F25C19A-E4B4-5BDD-3C38-988DEC364E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6990" y="882503"/>
            <a:ext cx="8987010" cy="3537097"/>
          </a:xfrm>
          <a:prstGeom prst="rect">
            <a:avLst/>
          </a:prstGeom>
        </p:spPr>
      </p:pic>
      <p:sp>
        <p:nvSpPr>
          <p:cNvPr id="7" name="TextBox 6">
            <a:extLst>
              <a:ext uri="{FF2B5EF4-FFF2-40B4-BE49-F238E27FC236}">
                <a16:creationId xmlns:a16="http://schemas.microsoft.com/office/drawing/2014/main" id="{4EFDD7F8-E323-6FAF-E66A-C96F69EFDBDA}"/>
              </a:ext>
            </a:extLst>
          </p:cNvPr>
          <p:cNvSpPr txBox="1"/>
          <p:nvPr/>
        </p:nvSpPr>
        <p:spPr>
          <a:xfrm>
            <a:off x="76200" y="5281880"/>
            <a:ext cx="8839200" cy="661720"/>
          </a:xfrm>
          <a:prstGeom prst="rect">
            <a:avLst/>
          </a:prstGeom>
          <a:noFill/>
        </p:spPr>
        <p:txBody>
          <a:bodyPr wrap="square">
            <a:spAutoFit/>
          </a:bodyPr>
          <a:lstStyle/>
          <a:p>
            <a:r>
              <a:rPr lang="en-US" sz="2000" b="1" kern="0" spc="-80" dirty="0">
                <a:solidFill>
                  <a:schemeClr val="accent2"/>
                </a:solidFill>
                <a:latin typeface="Lucida Sans"/>
                <a:ea typeface="+mj-ea"/>
              </a:rPr>
              <a:t>For Further Exploration</a:t>
            </a:r>
          </a:p>
          <a:p>
            <a:r>
              <a:rPr lang="en-US" sz="1700" dirty="0">
                <a:hlinkClick r:id="rId8"/>
              </a:rPr>
              <a:t>Buy Software or Build It? The 4-Step Framework That Prevents Costly Mistakes - YouTube</a:t>
            </a:r>
            <a:endParaRPr lang="en-IN" sz="1700" b="1" kern="0" spc="-80" dirty="0">
              <a:solidFill>
                <a:schemeClr val="accent2"/>
              </a:solidFill>
              <a:latin typeface="Lucida Sans"/>
              <a:ea typeface="+mj-ea"/>
            </a:endParaRPr>
          </a:p>
        </p:txBody>
      </p:sp>
    </p:spTree>
    <p:extLst>
      <p:ext uri="{BB962C8B-B14F-4D97-AF65-F5344CB8AC3E}">
        <p14:creationId xmlns:p14="http://schemas.microsoft.com/office/powerpoint/2010/main" val="225996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C9F1-90F3-C65B-D5D9-8F098DFB55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C014145-0AA5-D787-4B13-8C628FB475B2}"/>
              </a:ext>
            </a:extLst>
          </p:cNvPr>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192CBEE-44FD-E406-78C0-FDAC962751FE}"/>
              </a:ext>
            </a:extLst>
          </p:cNvPr>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DC0F7AA-E153-D9F5-E54D-B3A4EE8096B8}"/>
              </a:ext>
            </a:extLst>
          </p:cNvPr>
          <p:cNvGraphicFramePr/>
          <p:nvPr>
            <p:extLst>
              <p:ext uri="{D42A27DB-BD31-4B8C-83A1-F6EECF244321}">
                <p14:modId xmlns:p14="http://schemas.microsoft.com/office/powerpoint/2010/main" val="2528577049"/>
              </p:ext>
            </p:extLst>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7C4229-EF85-0DB2-8E9B-0A7C43BF0E4E}"/>
              </a:ext>
            </a:extLst>
          </p:cNvPr>
          <p:cNvSpPr txBox="1">
            <a:spLocks/>
          </p:cNvSpPr>
          <p:nvPr/>
        </p:nvSpPr>
        <p:spPr>
          <a:xfrm>
            <a:off x="354723" y="914400"/>
            <a:ext cx="8624937" cy="60016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Some closing points w.r.t Documentation  - </a:t>
            </a:r>
          </a:p>
          <a:p>
            <a:pPr marL="355600" marR="5080" indent="-342900">
              <a:buAutoNum type="arabicParenR"/>
            </a:pPr>
            <a:r>
              <a:rPr lang="en-US" sz="1400" kern="0" spc="-80" dirty="0">
                <a:solidFill>
                  <a:schemeClr val="accent6"/>
                </a:solidFill>
              </a:rPr>
              <a:t>Analyze the as-is &amp; to-be system state e2e thoroughly from product requirements perspective. If needed, clarify all your queries/doubts, pro-actively. </a:t>
            </a:r>
          </a:p>
          <a:p>
            <a:pPr marL="355600" marR="5080" indent="-342900">
              <a:buAutoNum type="arabicParenR"/>
            </a:pPr>
            <a:r>
              <a:rPr lang="en-US" sz="1400" kern="0" spc="-80" dirty="0">
                <a:solidFill>
                  <a:schemeClr val="accent6"/>
                </a:solidFill>
              </a:rPr>
              <a:t>Document the Business Architecture in as detail as possible for both as-is &amp; to-be states based on 1 above (maybe using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Component/Sequence Diagrams etc.). Also check if the to-be processes can be made better, process-wise(maybe simpler or providing some tactical solution instead of strategic solution or providing additional capabilities).           </a:t>
            </a:r>
          </a:p>
          <a:p>
            <a:pPr marL="355600" marR="5080" indent="-342900">
              <a:buAutoNum type="arabicParenR"/>
            </a:pPr>
            <a:r>
              <a:rPr lang="en-US" sz="1400" kern="0" spc="-80" dirty="0">
                <a:solidFill>
                  <a:schemeClr val="accent6"/>
                </a:solidFill>
              </a:rPr>
              <a:t>Document the Application[including Integration] Architecture in as detail as possible(mainly for the to-be state) along-with associated NFRs(ideally both as-is &amp; to-be). Try to use technologies(old or emerging) that suits your contextual requirements &amp; not based on hype associated with some technology. Again, can use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a:t>
            </a:r>
            <a:r>
              <a:rPr lang="en-US" sz="1400" kern="0" spc="-80" dirty="0" err="1">
                <a:solidFill>
                  <a:schemeClr val="accent6"/>
                </a:solidFill>
              </a:rPr>
              <a:t>Compoinent</a:t>
            </a:r>
            <a:r>
              <a:rPr lang="en-US" sz="1400" kern="0" spc="-80" dirty="0">
                <a:solidFill>
                  <a:schemeClr val="accent6"/>
                </a:solidFill>
              </a:rPr>
              <a:t>/Sequence Diagrams etc.</a:t>
            </a:r>
          </a:p>
          <a:p>
            <a:pPr marL="355600" marR="5080" indent="-342900">
              <a:buFontTx/>
              <a:buAutoNum type="arabicParenR"/>
            </a:pPr>
            <a:r>
              <a:rPr lang="en-US" sz="1400" kern="0" spc="-80" dirty="0">
                <a:solidFill>
                  <a:schemeClr val="accent6"/>
                </a:solidFill>
              </a:rPr>
              <a:t>Document the Infra(also called Technology) Architecture[including </a:t>
            </a:r>
            <a:r>
              <a:rPr lang="en-US" sz="1400" kern="0" spc="-80" dirty="0" err="1">
                <a:solidFill>
                  <a:schemeClr val="accent6"/>
                </a:solidFill>
              </a:rPr>
              <a:t>DevSecOps</a:t>
            </a:r>
            <a:r>
              <a:rPr lang="en-US" sz="1400" kern="0" spc="-80" dirty="0">
                <a:solidFill>
                  <a:schemeClr val="accent6"/>
                </a:solidFill>
              </a:rPr>
              <a:t> &amp; SRE]  in as detail as possible(mainly for the to-be state) along-with associated NFRs(ideally both as-is &amp; to-be with comparison if needed). Try to use technologies(old or emerging) that suits your contextual requirements &amp; not based on hype associated with some technology. Again, can use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Component/Sequence Diagrams etc.</a:t>
            </a:r>
          </a:p>
          <a:p>
            <a:pPr marL="355600" marR="5080" indent="-342900">
              <a:buFontTx/>
              <a:buAutoNum type="arabicParenR"/>
            </a:pPr>
            <a:r>
              <a:rPr lang="en-US" sz="1400" kern="0" spc="-80" dirty="0">
                <a:solidFill>
                  <a:schemeClr val="accent6"/>
                </a:solidFill>
              </a:rPr>
              <a:t>Document the Data Architecture[including Data Engineering &amp; Data Science needs with explicit Data Models{ER Diagrams &amp; DB Tables}], in as detail as possible(mainly for the to-be state) along-with associated NFRs(ideally both as-is &amp; to-be with comparison if needed). Try to use technologies(old or emerging – e.g. </a:t>
            </a:r>
            <a:r>
              <a:rPr lang="en-US" sz="1400" kern="0" spc="-80" dirty="0" err="1">
                <a:solidFill>
                  <a:schemeClr val="accent6"/>
                </a:solidFill>
              </a:rPr>
              <a:t>NoSql</a:t>
            </a:r>
            <a:r>
              <a:rPr lang="en-US" sz="1400" kern="0" spc="-80" dirty="0">
                <a:solidFill>
                  <a:schemeClr val="accent6"/>
                </a:solidFill>
              </a:rPr>
              <a:t>/RDBMS) that suits your contextual requirements.</a:t>
            </a:r>
          </a:p>
          <a:p>
            <a:pPr marL="355600" marR="5080" indent="-342900">
              <a:buFontTx/>
              <a:buAutoNum type="arabicParenR"/>
            </a:pPr>
            <a:r>
              <a:rPr lang="en-US" sz="1400" kern="0" spc="-80" dirty="0">
                <a:solidFill>
                  <a:schemeClr val="accent6"/>
                </a:solidFill>
              </a:rPr>
              <a:t>Maybe after all the above, document the ADRs &amp; AIRs. We may need AIRs since we might be going for some tactical solution &amp; thereby create technical debts.</a:t>
            </a:r>
          </a:p>
          <a:p>
            <a:pPr marL="355600" marR="5080" indent="-342900">
              <a:buAutoNum type="arabicParenR"/>
            </a:pPr>
            <a:endParaRPr lang="en-US" sz="1600" kern="0" spc="-80" dirty="0">
              <a:solidFill>
                <a:schemeClr val="accent6"/>
              </a:solidFill>
            </a:endParaRPr>
          </a:p>
          <a:p>
            <a:pPr marL="12700" marR="5080"/>
            <a:endParaRPr lang="en-US" sz="1800" kern="0" spc="-80" dirty="0">
              <a:solidFill>
                <a:schemeClr val="accent6"/>
              </a:solidFill>
            </a:endParaRPr>
          </a:p>
          <a:p>
            <a:pPr marL="12700" marR="5080"/>
            <a:endParaRPr lang="en-US" sz="2400" kern="0" spc="-80" dirty="0">
              <a:solidFill>
                <a:schemeClr val="accent6"/>
              </a:solidFill>
            </a:endParaRPr>
          </a:p>
        </p:txBody>
      </p:sp>
    </p:spTree>
    <p:extLst>
      <p:ext uri="{BB962C8B-B14F-4D97-AF65-F5344CB8AC3E}">
        <p14:creationId xmlns:p14="http://schemas.microsoft.com/office/powerpoint/2010/main" val="2191938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14400"/>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IN" sz="2100" dirty="0">
                <a:hlinkClick r:id="rId7"/>
              </a:rPr>
              <a:t>Documenting Software Architectures - by Dr Milan Milanović</a:t>
            </a:r>
            <a:r>
              <a:rPr lang="en-US" sz="2100" kern="0" spc="-80" dirty="0">
                <a:solidFill>
                  <a:schemeClr val="accent2"/>
                </a:solidFill>
              </a:rPr>
              <a:t>    </a:t>
            </a:r>
          </a:p>
          <a:p>
            <a:pPr marL="12700" marR="5080"/>
            <a:r>
              <a:rPr lang="en-IN" sz="2100" dirty="0">
                <a:hlinkClick r:id="rId8"/>
              </a:rPr>
              <a:t>The Ultimate Guide To Software Architecture Documentation</a:t>
            </a:r>
            <a:endParaRPr lang="en-IN" sz="2100" dirty="0"/>
          </a:p>
          <a:p>
            <a:pPr marL="12700" marR="5080"/>
            <a:r>
              <a:rPr lang="en-IN" sz="2100" dirty="0">
                <a:hlinkClick r:id="rId9"/>
              </a:rPr>
              <a:t>Architecture-Document-Template</a:t>
            </a:r>
            <a:endParaRPr lang="en-IN" sz="2100" dirty="0"/>
          </a:p>
          <a:p>
            <a:pPr marL="12700" marR="5080"/>
            <a:r>
              <a:rPr lang="en-US" sz="2100" dirty="0">
                <a:hlinkClick r:id="rId10"/>
              </a:rPr>
              <a:t>High Level Design Template</a:t>
            </a:r>
          </a:p>
          <a:p>
            <a:pPr marL="12700" marR="5080"/>
            <a:r>
              <a:rPr lang="en-US" sz="2100" dirty="0" err="1">
                <a:hlinkClick r:id="rId10"/>
              </a:rPr>
              <a:t>WebMethods</a:t>
            </a:r>
            <a:r>
              <a:rPr lang="en-US" sz="2100" dirty="0">
                <a:hlinkClick r:id="rId10"/>
              </a:rPr>
              <a:t> - Software AG Tech Community &amp; Forums</a:t>
            </a:r>
            <a:endParaRPr lang="en-US" sz="2100" dirty="0"/>
          </a:p>
          <a:p>
            <a:pPr marL="12700" marR="5080"/>
            <a:r>
              <a:rPr lang="en-US" sz="2100" dirty="0">
                <a:hlinkClick r:id="rId11"/>
              </a:rPr>
              <a:t>Writing an effective End-to-End High-Level Design</a:t>
            </a:r>
            <a:endParaRPr lang="en-US" sz="2100" dirty="0"/>
          </a:p>
          <a:p>
            <a:pPr marL="12700" marR="5080"/>
            <a:r>
              <a:rPr lang="en-US" sz="2100" dirty="0">
                <a:hlinkClick r:id="rId12"/>
              </a:rPr>
              <a:t>System-Design-Templates-</a:t>
            </a:r>
            <a:r>
              <a:rPr lang="en-US" sz="2100" dirty="0" err="1">
                <a:hlinkClick r:id="rId12"/>
              </a:rPr>
              <a:t>Excalidraw</a:t>
            </a:r>
            <a:endParaRPr lang="en-US" sz="2100" dirty="0"/>
          </a:p>
          <a:p>
            <a:pPr marL="12700" marR="5080"/>
            <a:r>
              <a:rPr lang="en-US" sz="2100" dirty="0">
                <a:hlinkClick r:id="rId13"/>
              </a:rPr>
              <a:t>Free Software architecture review template | Confluence</a:t>
            </a:r>
            <a:endParaRPr lang="en-US" sz="2100" dirty="0"/>
          </a:p>
          <a:p>
            <a:pPr marL="12700" marR="5080"/>
            <a:r>
              <a:rPr lang="en-US" sz="2100" dirty="0">
                <a:hlinkClick r:id="rId14"/>
              </a:rPr>
              <a:t>Practical-Architecture</a:t>
            </a:r>
            <a:endParaRPr lang="en-US" sz="2100" dirty="0"/>
          </a:p>
          <a:p>
            <a:pPr marL="12700" marR="5080"/>
            <a:r>
              <a:rPr lang="en-US" sz="2100" dirty="0">
                <a:hlinkClick r:id="rId15"/>
              </a:rPr>
              <a:t>Architecture-Decision-Record</a:t>
            </a:r>
            <a:endParaRPr lang="en-US" sz="2100" dirty="0"/>
          </a:p>
          <a:p>
            <a:pPr marL="12700" marR="5080"/>
            <a:r>
              <a:rPr lang="en-US" sz="2100" dirty="0">
                <a:hlinkClick r:id="rId16"/>
              </a:rPr>
              <a:t>Enterprise Architecture: How to Design Models &amp; Diagrams</a:t>
            </a:r>
            <a:endParaRPr lang="en-US" sz="2100" dirty="0"/>
          </a:p>
          <a:p>
            <a:pPr marL="12700" marR="5080"/>
            <a:r>
              <a:rPr lang="en-IN" sz="2100" dirty="0">
                <a:hlinkClick r:id="rId17"/>
              </a:rPr>
              <a:t>Communication Patterns[Book]</a:t>
            </a:r>
            <a:endParaRPr lang="en-US" sz="2100" kern="0" spc="-80" dirty="0">
              <a:solidFill>
                <a:schemeClr val="accent2"/>
              </a:solidFill>
            </a:endParaRPr>
          </a:p>
          <a:p>
            <a:pPr marL="12700" marR="5080"/>
            <a:r>
              <a:rPr lang="en-IN" sz="2100" dirty="0">
                <a:hlinkClick r:id="rId18"/>
              </a:rPr>
              <a:t>Practical Model-Driven Enterprise Architecture</a:t>
            </a:r>
            <a:endParaRPr lang="en-IN" sz="2100" dirty="0"/>
          </a:p>
          <a:p>
            <a:pPr marL="12700" marR="5080"/>
            <a:r>
              <a:rPr lang="en-US" sz="2100" dirty="0">
                <a:hlinkClick r:id="rId19"/>
              </a:rPr>
              <a:t>Modeling Enterprise Architecture with TOGAF[Book]</a:t>
            </a:r>
            <a:endParaRPr lang="en-US" sz="2100" kern="0" spc="-80" dirty="0">
              <a:solidFill>
                <a:schemeClr val="accent6"/>
              </a:solidFill>
            </a:endParaRPr>
          </a:p>
          <a:p>
            <a:pPr marL="12700" marR="5080"/>
            <a:endParaRPr lang="en-US" sz="1800" kern="0" spc="-80" dirty="0">
              <a:solidFill>
                <a:schemeClr val="accent6"/>
              </a:solidFill>
            </a:endParaRPr>
          </a:p>
          <a:p>
            <a:pPr marL="12700" marR="5080"/>
            <a:endParaRPr lang="en-US" sz="2400" kern="0" spc="-80" dirty="0">
              <a:solidFill>
                <a:schemeClr val="accent6"/>
              </a:solidFill>
            </a:endParaRPr>
          </a:p>
        </p:txBody>
      </p:sp>
    </p:spTree>
    <p:extLst>
      <p:ext uri="{BB962C8B-B14F-4D97-AF65-F5344CB8AC3E}">
        <p14:creationId xmlns:p14="http://schemas.microsoft.com/office/powerpoint/2010/main" val="275422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61189477"/>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1095613"/>
            <a:ext cx="8624937" cy="25391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Architecture(/Design) Principles - </a:t>
            </a:r>
            <a:endParaRPr lang="en-US" sz="2400" kern="0" spc="-220" dirty="0">
              <a:solidFill>
                <a:schemeClr val="accent6"/>
              </a:solidFill>
              <a:hlinkClick r:id="rId7"/>
            </a:endParaRPr>
          </a:p>
          <a:p>
            <a:pPr marL="12700" marR="5080"/>
            <a:r>
              <a:rPr lang="en-US" sz="1500" dirty="0">
                <a:hlinkClick r:id="rId7"/>
              </a:rPr>
              <a:t>Architectural Design Principles - Awesome Software Architecture</a:t>
            </a:r>
            <a:r>
              <a:rPr lang="en-US" sz="1500" kern="0" spc="-220" dirty="0">
                <a:solidFill>
                  <a:schemeClr val="accent6"/>
                </a:solidFill>
              </a:rPr>
              <a:t> </a:t>
            </a: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r>
              <a:rPr lang="en-US" sz="2400" kern="0" spc="-80" dirty="0">
                <a:solidFill>
                  <a:schemeClr val="accent2"/>
                </a:solidFill>
              </a:rPr>
              <a:t>Reactive Design- </a:t>
            </a:r>
          </a:p>
          <a:p>
            <a:pPr marL="12700" marR="5080"/>
            <a:r>
              <a:rPr lang="en-US" sz="2400" kern="0" spc="-80" dirty="0">
                <a:solidFill>
                  <a:schemeClr val="accent2"/>
                </a:solidFill>
              </a:rPr>
              <a:t>  </a:t>
            </a:r>
            <a:r>
              <a:rPr lang="en-US" sz="1500" dirty="0">
                <a:hlinkClick r:id="rId8"/>
              </a:rPr>
              <a:t>Code repo for Functional and Reactive Domain Modeling</a:t>
            </a:r>
            <a:endParaRPr lang="en-US" sz="1500" dirty="0"/>
          </a:p>
          <a:p>
            <a:pPr marL="12700" marR="5080"/>
            <a:r>
              <a:rPr lang="en-US" sz="1500" kern="0" spc="-80" dirty="0">
                <a:solidFill>
                  <a:schemeClr val="accent2"/>
                </a:solidFill>
              </a:rPr>
              <a:t>   </a:t>
            </a:r>
            <a:r>
              <a:rPr lang="en-IN" sz="1500" dirty="0">
                <a:hlinkClick r:id="rId9"/>
              </a:rPr>
              <a:t>Reactive Design Patterns </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10"/>
              </a:rPr>
              <a:t>Reactive Messaging Patterns with the Actor Model</a:t>
            </a:r>
            <a:endParaRPr lang="en-US" sz="2000" kern="0" spc="-80" dirty="0">
              <a:solidFill>
                <a:schemeClr val="accent6"/>
              </a:solidFill>
            </a:endParaRPr>
          </a:p>
        </p:txBody>
      </p:sp>
    </p:spTree>
    <p:extLst>
      <p:ext uri="{BB962C8B-B14F-4D97-AF65-F5344CB8AC3E}">
        <p14:creationId xmlns:p14="http://schemas.microsoft.com/office/powerpoint/2010/main" val="2064048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10ADAC8-BBD2-11C3-47E4-6817457B3382}"/>
              </a:ext>
            </a:extLst>
          </p:cNvPr>
          <p:cNvSpPr txBox="1">
            <a:spLocks/>
          </p:cNvSpPr>
          <p:nvPr/>
        </p:nvSpPr>
        <p:spPr>
          <a:xfrm>
            <a:off x="381000" y="780395"/>
            <a:ext cx="8624937" cy="31547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Architecture(/Design) is mainly </a:t>
            </a:r>
            <a:r>
              <a:rPr lang="en-US" sz="1600" kern="0" spc="-80" dirty="0">
                <a:solidFill>
                  <a:schemeClr val="accent1"/>
                </a:solidFill>
              </a:rPr>
              <a:t>taking decisions </a:t>
            </a:r>
            <a:r>
              <a:rPr lang="en-US" sz="1600" kern="0" spc="-80" dirty="0">
                <a:solidFill>
                  <a:schemeClr val="accent6"/>
                </a:solidFill>
              </a:rPr>
              <a:t>based on trade-offs wherein the goal is to build the </a:t>
            </a:r>
            <a:r>
              <a:rPr lang="en-US" sz="1600" kern="0" spc="-80" dirty="0">
                <a:solidFill>
                  <a:schemeClr val="accent1"/>
                </a:solidFill>
              </a:rPr>
              <a:t>Least Worst Architecture(/Design)</a:t>
            </a:r>
            <a:r>
              <a:rPr lang="en-US" sz="1600" kern="0" spc="-80" dirty="0">
                <a:solidFill>
                  <a:schemeClr val="accent6"/>
                </a:solidFill>
              </a:rPr>
              <a:t>.</a:t>
            </a:r>
          </a:p>
          <a:p>
            <a:pPr marL="12700" marR="5080"/>
            <a:endParaRPr lang="en-US" sz="1600" kern="0" spc="-80" dirty="0">
              <a:solidFill>
                <a:schemeClr val="accent6"/>
              </a:solidFill>
            </a:endParaRPr>
          </a:p>
          <a:p>
            <a:pPr marL="12700" marR="5080"/>
            <a:r>
              <a:rPr lang="en-US" sz="1800" kern="0" spc="-80" dirty="0">
                <a:solidFill>
                  <a:schemeClr val="accent2"/>
                </a:solidFill>
              </a:rPr>
              <a:t>ATAM(Architecture Trade-Off Analysis Method) – </a:t>
            </a:r>
          </a:p>
          <a:p>
            <a:pPr marL="12700" marR="5080"/>
            <a:r>
              <a:rPr lang="en-IN" sz="1500" dirty="0">
                <a:hlinkClick r:id="rId7"/>
              </a:rPr>
              <a:t>Architecture </a:t>
            </a:r>
            <a:r>
              <a:rPr lang="en-IN" sz="1500" dirty="0" err="1">
                <a:hlinkClick r:id="rId7"/>
              </a:rPr>
              <a:t>Tradeoff</a:t>
            </a:r>
            <a:r>
              <a:rPr lang="en-IN" sz="1500" dirty="0">
                <a:hlinkClick r:id="rId7"/>
              </a:rPr>
              <a:t> Analysis Method (ATAM) - </a:t>
            </a:r>
            <a:r>
              <a:rPr lang="en-IN" sz="1500" dirty="0" err="1">
                <a:hlinkClick r:id="rId7"/>
              </a:rPr>
              <a:t>GeeksforGeeks</a:t>
            </a:r>
            <a:r>
              <a:rPr lang="en-US" sz="1500" kern="0" spc="-80" dirty="0">
                <a:solidFill>
                  <a:schemeClr val="accent2"/>
                </a:solidFill>
              </a:rPr>
              <a:t> </a:t>
            </a:r>
          </a:p>
          <a:p>
            <a:pPr marL="12700" marR="5080"/>
            <a:endParaRPr lang="en-US" sz="1800" kern="0" spc="-80" dirty="0">
              <a:solidFill>
                <a:schemeClr val="accent2"/>
              </a:solidFill>
            </a:endParaRPr>
          </a:p>
          <a:p>
            <a:pPr marL="12700" marR="5080"/>
            <a:r>
              <a:rPr lang="en-US" sz="1800" kern="0" spc="-80" dirty="0">
                <a:solidFill>
                  <a:schemeClr val="accent2"/>
                </a:solidFill>
              </a:rPr>
              <a:t>Architecture Trade-Off Examples – </a:t>
            </a:r>
          </a:p>
          <a:p>
            <a:pPr marL="12700" marR="5080"/>
            <a:r>
              <a:rPr lang="en-US" sz="1100" kern="0" spc="-80" dirty="0">
                <a:solidFill>
                  <a:schemeClr val="accent2"/>
                </a:solidFill>
              </a:rPr>
              <a:t> </a:t>
            </a:r>
            <a:r>
              <a:rPr lang="en-US" sz="1500" kern="0" spc="-80" dirty="0">
                <a:solidFill>
                  <a:schemeClr val="accent2"/>
                </a:solidFill>
              </a:rPr>
              <a:t> </a:t>
            </a:r>
            <a:r>
              <a:rPr lang="en-US" sz="1500" dirty="0">
                <a:hlinkClick r:id="rId8"/>
              </a:rPr>
              <a:t>How to make software architecture trade-off decisions | by Alex </a:t>
            </a:r>
            <a:r>
              <a:rPr lang="en-US" sz="1500" dirty="0" err="1">
                <a:hlinkClick r:id="rId8"/>
              </a:rPr>
              <a:t>Wauters</a:t>
            </a:r>
            <a:r>
              <a:rPr lang="en-US" sz="1500" dirty="0">
                <a:hlinkClick r:id="rId8"/>
              </a:rPr>
              <a:t> | Medium</a:t>
            </a:r>
            <a:endParaRPr lang="en-US" sz="1500" dirty="0"/>
          </a:p>
          <a:p>
            <a:pPr marL="12700" marR="5080"/>
            <a:r>
              <a:rPr lang="en-US" sz="1500" kern="0" spc="-80" dirty="0">
                <a:solidFill>
                  <a:schemeClr val="accent2"/>
                </a:solidFill>
              </a:rPr>
              <a:t>  </a:t>
            </a:r>
            <a:r>
              <a:rPr lang="en-US" sz="1500" dirty="0">
                <a:hlinkClick r:id="rId9"/>
              </a:rPr>
              <a:t>How do you evaluate and communicate the trade-offs of different architectural choices?</a:t>
            </a:r>
            <a:endParaRPr lang="en-US" sz="1500" dirty="0"/>
          </a:p>
          <a:p>
            <a:pPr marL="12700" marR="5080"/>
            <a:endParaRPr lang="en-US" sz="1800" kern="0" spc="-80" dirty="0">
              <a:solidFill>
                <a:schemeClr val="accent2"/>
              </a:solidFill>
            </a:endParaRPr>
          </a:p>
          <a:p>
            <a:pPr marL="12700" marR="5080"/>
            <a:endParaRPr lang="en-US" sz="1100" kern="0" spc="-80" dirty="0">
              <a:solidFill>
                <a:schemeClr val="accent2"/>
              </a:solidFill>
            </a:endParaRPr>
          </a:p>
          <a:p>
            <a:pPr marL="12700" marR="5080"/>
            <a:r>
              <a:rPr lang="en-US" sz="1400" kern="0" spc="-80" dirty="0">
                <a:solidFill>
                  <a:schemeClr val="accent2"/>
                </a:solidFill>
              </a:rPr>
              <a:t> </a:t>
            </a:r>
            <a:r>
              <a:rPr lang="en-US" sz="1200" kern="0" spc="-80" dirty="0">
                <a:solidFill>
                  <a:schemeClr val="accent2"/>
                </a:solidFill>
              </a:rPr>
              <a:t> </a:t>
            </a:r>
            <a:endParaRPr lang="en-IN" sz="1200" kern="0" spc="-80" dirty="0">
              <a:solidFill>
                <a:schemeClr val="accent2"/>
              </a:solidFill>
            </a:endParaRPr>
          </a:p>
        </p:txBody>
      </p:sp>
    </p:spTree>
    <p:extLst>
      <p:ext uri="{BB962C8B-B14F-4D97-AF65-F5344CB8AC3E}">
        <p14:creationId xmlns:p14="http://schemas.microsoft.com/office/powerpoint/2010/main" val="2252512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E0BB-44A4-442D-90A7-1935526853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7C4CCB-03A8-7529-F5C8-D764709905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D371F26-5FE6-FCAA-A4D1-2CEE5A8F53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5A79FD-A69E-7968-C868-FA170F265A3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0758D7C-CC11-5499-61A2-7123A9CE2ED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2623863-CB36-CCEB-BF92-4646ADD1857A}"/>
              </a:ext>
            </a:extLst>
          </p:cNvPr>
          <p:cNvSpPr txBox="1">
            <a:spLocks/>
          </p:cNvSpPr>
          <p:nvPr/>
        </p:nvSpPr>
        <p:spPr>
          <a:xfrm>
            <a:off x="381000" y="780395"/>
            <a:ext cx="8624937" cy="45858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a:t>
            </a:r>
          </a:p>
          <a:p>
            <a:pPr marL="12700" marR="5080"/>
            <a:r>
              <a:rPr lang="en-IN" sz="1700" dirty="0">
                <a:hlinkClick r:id="rId7"/>
              </a:rPr>
              <a:t>Fitness function-driven development | Thoughtworks</a:t>
            </a:r>
            <a:endParaRPr lang="en-IN" sz="1700" dirty="0"/>
          </a:p>
          <a:p>
            <a:pPr marL="12700" marR="5080"/>
            <a:r>
              <a:rPr lang="en-US" sz="1700" dirty="0">
                <a:hlinkClick r:id="rId8"/>
              </a:rPr>
              <a:t>Enforcing Software Architecture With Architecture Tests</a:t>
            </a:r>
            <a:endParaRPr lang="en-US" sz="1700" dirty="0"/>
          </a:p>
          <a:p>
            <a:pPr marL="12700" marR="5080"/>
            <a:r>
              <a:rPr lang="en-US" sz="1700" dirty="0">
                <a:hlinkClick r:id="rId9"/>
              </a:rPr>
              <a:t>Software Architecture: Foundations, Theory, and Practice </a:t>
            </a:r>
            <a:r>
              <a:rPr lang="en-US" sz="1700" dirty="0">
                <a:hlinkClick r:id="rId10"/>
              </a:rPr>
              <a:t>–</a:t>
            </a:r>
            <a:r>
              <a:rPr lang="en-US" sz="1700" dirty="0">
                <a:hlinkClick r:id="rId9"/>
              </a:rPr>
              <a:t> Resources</a:t>
            </a:r>
            <a:endParaRPr lang="en-US" sz="1700" dirty="0"/>
          </a:p>
          <a:p>
            <a:pPr marL="12700" marR="5080"/>
            <a:r>
              <a:rPr lang="en-US" sz="1700" dirty="0">
                <a:hlinkClick r:id="rId10"/>
              </a:rPr>
              <a:t>The Semantic Design Toolbox - Semantic Software Design [Book]</a:t>
            </a:r>
            <a:endParaRPr lang="en-US" sz="1700" dirty="0"/>
          </a:p>
          <a:p>
            <a:pPr marL="12700" marR="5080"/>
            <a:r>
              <a:rPr lang="en-US" sz="1700" dirty="0">
                <a:hlinkClick r:id="rId11"/>
              </a:rPr>
              <a:t>Design It!: From Programmer to Software Architect by Michael Keeling</a:t>
            </a:r>
            <a:endParaRPr lang="en-US" sz="1700" dirty="0"/>
          </a:p>
          <a:p>
            <a:pPr marL="12700" marR="5080"/>
            <a:r>
              <a:rPr lang="en-IN" sz="1700" dirty="0">
                <a:hlinkClick r:id="rId12"/>
              </a:rPr>
              <a:t>Building Evolutionary Architectures · GitHub</a:t>
            </a:r>
            <a:endParaRPr lang="en-IN" sz="1700" dirty="0"/>
          </a:p>
          <a:p>
            <a:pPr marL="12700" marR="5080"/>
            <a:r>
              <a:rPr lang="en-US" sz="1700" dirty="0">
                <a:hlinkClick r:id="rId13"/>
              </a:rPr>
              <a:t>Evolutionary-Architecture-by-example</a:t>
            </a:r>
            <a:endParaRPr lang="en-US" sz="1700" dirty="0"/>
          </a:p>
          <a:p>
            <a:pPr marL="12700" marR="5080"/>
            <a:r>
              <a:rPr lang="en-US" sz="1700" dirty="0">
                <a:hlinkClick r:id="rId14"/>
              </a:rPr>
              <a:t>Evolutionary Architectures. This is a summary of some interesting…</a:t>
            </a:r>
            <a:endParaRPr lang="en-US" sz="1700" dirty="0"/>
          </a:p>
          <a:p>
            <a:pPr marL="12700" marR="5080"/>
            <a:r>
              <a:rPr lang="en-US" sz="1700" dirty="0">
                <a:hlinkClick r:id="rId15"/>
              </a:rPr>
              <a:t>Geek read: Building Evolutionary Architectures 2nd edition</a:t>
            </a:r>
            <a:endParaRPr lang="en-US" sz="1700" dirty="0"/>
          </a:p>
          <a:p>
            <a:pPr marL="12700" marR="5080"/>
            <a:r>
              <a:rPr lang="en-US" sz="1700" dirty="0">
                <a:hlinkClick r:id="rId16"/>
              </a:rPr>
              <a:t>Notes on Building Evolutionary Architectures. | Irrational Exuberance</a:t>
            </a:r>
            <a:endParaRPr lang="en-US" sz="1700" dirty="0"/>
          </a:p>
          <a:p>
            <a:pPr marL="12700" marR="5080"/>
            <a:r>
              <a:rPr lang="en-IN" sz="1700" dirty="0">
                <a:hlinkClick r:id="rId17"/>
              </a:rPr>
              <a:t>Building Evolutionary Architectures</a:t>
            </a:r>
            <a:endParaRPr lang="en-IN" sz="1700" dirty="0"/>
          </a:p>
          <a:p>
            <a:pPr marL="12700" marR="5080"/>
            <a:r>
              <a:rPr lang="en-IN" sz="1700" dirty="0">
                <a:hlinkClick r:id="rId18"/>
              </a:rPr>
              <a:t>Software Architecture Metrics[Book]</a:t>
            </a:r>
            <a:endParaRPr lang="en-IN" sz="1700" dirty="0"/>
          </a:p>
          <a:p>
            <a:pPr marL="12700" marR="5080"/>
            <a:r>
              <a:rPr lang="en-US" sz="1700" dirty="0">
                <a:hlinkClick r:id="rId19"/>
              </a:rPr>
              <a:t>Solutions-Architect-metrics-</a:t>
            </a:r>
            <a:r>
              <a:rPr lang="en-US" sz="1700" dirty="0" err="1">
                <a:hlinkClick r:id="rId19"/>
              </a:rPr>
              <a:t>cheatsheet</a:t>
            </a:r>
            <a:endParaRPr lang="en-US" sz="1700" dirty="0"/>
          </a:p>
          <a:p>
            <a:pPr marL="12700" marR="5080"/>
            <a:r>
              <a:rPr lang="en-US" sz="1700" dirty="0">
                <a:hlinkClick r:id="rId20"/>
              </a:rPr>
              <a:t>Metrics For Software Architects and Designers</a:t>
            </a:r>
            <a:endParaRPr lang="en-US" sz="1700" dirty="0"/>
          </a:p>
          <a:p>
            <a:pPr marL="12700" marR="5080"/>
            <a:r>
              <a:rPr lang="en-IN" sz="1700" dirty="0">
                <a:hlinkClick r:id="rId21"/>
              </a:rPr>
              <a:t>Designing Software Architectures </a:t>
            </a:r>
            <a:r>
              <a:rPr lang="en-IN" sz="1700" dirty="0">
                <a:hlinkClick r:id="rId22"/>
              </a:rPr>
              <a:t>–</a:t>
            </a:r>
            <a:r>
              <a:rPr lang="en-IN" sz="1700" dirty="0">
                <a:hlinkClick r:id="rId21"/>
              </a:rPr>
              <a:t> notes</a:t>
            </a:r>
            <a:endParaRPr lang="en-IN" sz="1700" dirty="0"/>
          </a:p>
          <a:p>
            <a:pPr marL="12700" marR="5080"/>
            <a:endParaRPr lang="en-US" sz="1100" kern="0" spc="-80" dirty="0">
              <a:solidFill>
                <a:schemeClr val="accent2"/>
              </a:solidFill>
            </a:endParaRPr>
          </a:p>
          <a:p>
            <a:pPr marL="12700" marR="5080"/>
            <a:r>
              <a:rPr lang="en-US" sz="1400" kern="0" spc="-80" dirty="0">
                <a:solidFill>
                  <a:schemeClr val="accent2"/>
                </a:solidFill>
              </a:rPr>
              <a:t> </a:t>
            </a:r>
            <a:r>
              <a:rPr lang="en-US" sz="1200" kern="0" spc="-80" dirty="0">
                <a:solidFill>
                  <a:schemeClr val="accent2"/>
                </a:solidFill>
              </a:rPr>
              <a:t> </a:t>
            </a:r>
            <a:endParaRPr lang="en-IN" sz="1200" kern="0" spc="-80" dirty="0">
              <a:solidFill>
                <a:schemeClr val="accent2"/>
              </a:solidFill>
            </a:endParaRPr>
          </a:p>
        </p:txBody>
      </p:sp>
    </p:spTree>
    <p:extLst>
      <p:ext uri="{BB962C8B-B14F-4D97-AF65-F5344CB8AC3E}">
        <p14:creationId xmlns:p14="http://schemas.microsoft.com/office/powerpoint/2010/main" val="246230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FFC3-2BD3-AB43-09AB-168738357B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A62B29-CFAA-6ADF-5360-5E23B387AC8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5C0F84-A906-D723-69EE-BBDE9EB471E2}"/>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F1AC55-FAC5-DB51-383B-42A24B452A89}"/>
              </a:ext>
            </a:extLst>
          </p:cNvPr>
          <p:cNvGraphicFramePr/>
          <p:nvPr>
            <p:extLst>
              <p:ext uri="{D42A27DB-BD31-4B8C-83A1-F6EECF244321}">
                <p14:modId xmlns:p14="http://schemas.microsoft.com/office/powerpoint/2010/main" val="263912142"/>
              </p:ext>
            </p:extLst>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5EF32BA-4918-37C3-392F-CBE3C77E2805}"/>
              </a:ext>
            </a:extLst>
          </p:cNvPr>
          <p:cNvSpPr txBox="1">
            <a:spLocks/>
          </p:cNvSpPr>
          <p:nvPr/>
        </p:nvSpPr>
        <p:spPr>
          <a:xfrm>
            <a:off x="313400" y="694301"/>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What is TOGAF?</a:t>
            </a:r>
          </a:p>
          <a:p>
            <a:pPr marL="12700" marR="5080"/>
            <a:r>
              <a:rPr lang="en-US" sz="1300" kern="0" spc="-80" dirty="0">
                <a:solidFill>
                  <a:schemeClr val="accent6"/>
                </a:solidFill>
              </a:rPr>
              <a:t>TOGAF (The Open Group Architecture Framework) is a framework for designing, planning, implementing, and governing enterprise architecture. The heart of TOGAF is the ADM (Architecture Development Method) — a step-by-step, iterative process for developing and evolving enterprise architecture.</a:t>
            </a:r>
          </a:p>
          <a:p>
            <a:pPr marL="12700" marR="5080"/>
            <a:r>
              <a:rPr lang="en-US" sz="1300" kern="0" spc="-80" dirty="0">
                <a:solidFill>
                  <a:schemeClr val="accent2"/>
                </a:solidFill>
              </a:rPr>
              <a:t>ADM (Architecture Development Method) – Overview</a:t>
            </a:r>
          </a:p>
          <a:p>
            <a:pPr marL="12700" marR="5080"/>
            <a:r>
              <a:rPr lang="en-US" sz="1300" kern="0" spc="-80" dirty="0">
                <a:solidFill>
                  <a:schemeClr val="accent6"/>
                </a:solidFill>
              </a:rPr>
              <a:t>The ADM is a cycle that you repeat continuously. Each iteration can update one layer or the entire architecture.</a:t>
            </a:r>
          </a:p>
          <a:p>
            <a:pPr marL="12700" marR="5080"/>
            <a:r>
              <a:rPr lang="en-US" sz="1300" kern="0" spc="-80" dirty="0">
                <a:solidFill>
                  <a:schemeClr val="accent6"/>
                </a:solidFill>
              </a:rPr>
              <a:t>      Preliminary</a:t>
            </a:r>
          </a:p>
          <a:p>
            <a:pPr marL="12700" marR="5080"/>
            <a:r>
              <a:rPr lang="en-US" sz="1300" kern="0" spc="-80" dirty="0">
                <a:solidFill>
                  <a:schemeClr val="accent6"/>
                </a:solidFill>
              </a:rPr>
              <a:t>           ↓</a:t>
            </a:r>
          </a:p>
          <a:p>
            <a:pPr marL="12700" marR="5080"/>
            <a:r>
              <a:rPr lang="en-US" sz="1300" kern="0" spc="-80" dirty="0">
                <a:solidFill>
                  <a:schemeClr val="accent6"/>
                </a:solidFill>
              </a:rPr>
              <a:t>       A. Architecture Vision</a:t>
            </a:r>
          </a:p>
          <a:p>
            <a:pPr marL="12700" marR="5080"/>
            <a:r>
              <a:rPr lang="en-US" sz="1300" kern="0" spc="-80" dirty="0">
                <a:solidFill>
                  <a:schemeClr val="accent6"/>
                </a:solidFill>
              </a:rPr>
              <a:t>           ↓</a:t>
            </a:r>
          </a:p>
          <a:p>
            <a:pPr marL="12700" marR="5080"/>
            <a:r>
              <a:rPr lang="en-US" sz="1300" kern="0" spc="-80" dirty="0">
                <a:solidFill>
                  <a:schemeClr val="accent6"/>
                </a:solidFill>
              </a:rPr>
              <a:t>       B. Business Architecture</a:t>
            </a:r>
          </a:p>
          <a:p>
            <a:pPr marL="12700" marR="5080"/>
            <a:r>
              <a:rPr lang="en-US" sz="1300" kern="0" spc="-80" dirty="0">
                <a:solidFill>
                  <a:schemeClr val="accent6"/>
                </a:solidFill>
              </a:rPr>
              <a:t>           ↓</a:t>
            </a:r>
          </a:p>
          <a:p>
            <a:pPr marL="12700" marR="5080"/>
            <a:r>
              <a:rPr lang="en-US" sz="1300" kern="0" spc="-80" dirty="0">
                <a:solidFill>
                  <a:schemeClr val="accent6"/>
                </a:solidFill>
              </a:rPr>
              <a:t>       C. Information Systems Architecture</a:t>
            </a:r>
          </a:p>
          <a:p>
            <a:pPr marL="12700" marR="5080"/>
            <a:r>
              <a:rPr lang="en-US" sz="1300" kern="0" spc="-80" dirty="0">
                <a:solidFill>
                  <a:schemeClr val="accent6"/>
                </a:solidFill>
              </a:rPr>
              <a:t>             (Data + Application)</a:t>
            </a:r>
          </a:p>
          <a:p>
            <a:pPr marL="12700" marR="5080"/>
            <a:r>
              <a:rPr lang="en-US" sz="1300" kern="0" spc="-80" dirty="0">
                <a:solidFill>
                  <a:schemeClr val="accent6"/>
                </a:solidFill>
              </a:rPr>
              <a:t>           ↓</a:t>
            </a:r>
          </a:p>
          <a:p>
            <a:pPr marL="12700" marR="5080"/>
            <a:r>
              <a:rPr lang="en-US" sz="1300" kern="0" spc="-80" dirty="0">
                <a:solidFill>
                  <a:schemeClr val="accent6"/>
                </a:solidFill>
              </a:rPr>
              <a:t>       D. Technology Architecture</a:t>
            </a:r>
          </a:p>
          <a:p>
            <a:pPr marL="12700" marR="5080"/>
            <a:r>
              <a:rPr lang="en-US" sz="1300" kern="0" spc="-80" dirty="0">
                <a:solidFill>
                  <a:schemeClr val="accent6"/>
                </a:solidFill>
              </a:rPr>
              <a:t>           ↓</a:t>
            </a:r>
          </a:p>
          <a:p>
            <a:pPr marL="12700" marR="5080"/>
            <a:r>
              <a:rPr lang="en-US" sz="1300" kern="0" spc="-80" dirty="0">
                <a:solidFill>
                  <a:schemeClr val="accent6"/>
                </a:solidFill>
              </a:rPr>
              <a:t>       E. Opportunities &amp; Solutions</a:t>
            </a:r>
          </a:p>
          <a:p>
            <a:pPr marL="12700" marR="5080"/>
            <a:r>
              <a:rPr lang="en-US" sz="1300" kern="0" spc="-80" dirty="0">
                <a:solidFill>
                  <a:schemeClr val="accent6"/>
                </a:solidFill>
              </a:rPr>
              <a:t>           ↓</a:t>
            </a:r>
          </a:p>
          <a:p>
            <a:pPr marL="12700" marR="5080"/>
            <a:r>
              <a:rPr lang="en-US" sz="1300" kern="0" spc="-80" dirty="0">
                <a:solidFill>
                  <a:schemeClr val="accent6"/>
                </a:solidFill>
              </a:rPr>
              <a:t>       F. Migration Planning</a:t>
            </a:r>
          </a:p>
          <a:p>
            <a:pPr marL="12700" marR="5080"/>
            <a:r>
              <a:rPr lang="en-US" sz="1300" kern="0" spc="-80" dirty="0">
                <a:solidFill>
                  <a:schemeClr val="accent6"/>
                </a:solidFill>
              </a:rPr>
              <a:t>           ↓</a:t>
            </a:r>
          </a:p>
          <a:p>
            <a:pPr marL="12700" marR="5080"/>
            <a:r>
              <a:rPr lang="en-US" sz="1300" kern="0" spc="-80" dirty="0">
                <a:solidFill>
                  <a:schemeClr val="accent6"/>
                </a:solidFill>
              </a:rPr>
              <a:t>       G. Implementation Governance</a:t>
            </a:r>
          </a:p>
          <a:p>
            <a:pPr marL="12700" marR="5080"/>
            <a:r>
              <a:rPr lang="en-US" sz="1300" kern="0" spc="-80" dirty="0">
                <a:solidFill>
                  <a:schemeClr val="accent6"/>
                </a:solidFill>
              </a:rPr>
              <a:t>           ↓</a:t>
            </a:r>
          </a:p>
          <a:p>
            <a:pPr marL="12700" marR="5080"/>
            <a:r>
              <a:rPr lang="en-US" sz="1300" kern="0" spc="-80" dirty="0">
                <a:solidFill>
                  <a:schemeClr val="accent6"/>
                </a:solidFill>
              </a:rPr>
              <a:t>       H. Architecture Change Management</a:t>
            </a:r>
          </a:p>
          <a:p>
            <a:pPr marL="12700" marR="5080"/>
            <a:r>
              <a:rPr lang="en-US" sz="1300" kern="0" spc="-80" dirty="0">
                <a:solidFill>
                  <a:schemeClr val="accent6"/>
                </a:solidFill>
              </a:rPr>
              <a:t>           ↺ (back to A/B/C etc.)</a:t>
            </a:r>
          </a:p>
          <a:p>
            <a:pPr marL="12700" marR="5080"/>
            <a:r>
              <a:rPr lang="en-US" sz="1300" kern="0" spc="-80" dirty="0">
                <a:solidFill>
                  <a:schemeClr val="accent6"/>
                </a:solidFill>
              </a:rPr>
              <a:t>Additionally, the Requirements Management phase runs through all phases.</a:t>
            </a:r>
          </a:p>
        </p:txBody>
      </p:sp>
    </p:spTree>
    <p:extLst>
      <p:ext uri="{BB962C8B-B14F-4D97-AF65-F5344CB8AC3E}">
        <p14:creationId xmlns:p14="http://schemas.microsoft.com/office/powerpoint/2010/main" val="1046292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ED3F-829C-F391-7F77-C16F45D724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ED76A3-428B-C420-81AB-0E79B797412A}"/>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EA5E1E-ABAF-7EB8-79FB-E2971323985C}"/>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E7CC427-8FD6-0236-00FE-8F223B470D3E}"/>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0F7B61A-B356-BA96-F22B-4D6601ADD5DC}"/>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Preliminary Phase – Prepare &amp; Set the Stage</a:t>
            </a:r>
          </a:p>
          <a:p>
            <a:pPr marL="12700" marR="5080"/>
            <a:r>
              <a:rPr lang="en-US" sz="1400" kern="0" spc="-80" dirty="0">
                <a:solidFill>
                  <a:schemeClr val="accent2"/>
                </a:solidFill>
              </a:rPr>
              <a:t>Purpose</a:t>
            </a:r>
          </a:p>
          <a:p>
            <a:pPr marL="12700" marR="5080"/>
            <a:r>
              <a:rPr lang="en-US" sz="1400" kern="0" spc="-80" dirty="0">
                <a:solidFill>
                  <a:schemeClr val="accent2"/>
                </a:solidFill>
              </a:rPr>
              <a:t>Define:</a:t>
            </a:r>
          </a:p>
          <a:p>
            <a:pPr marL="12700" marR="5080"/>
            <a:r>
              <a:rPr lang="en-US" sz="1400" kern="0" spc="-80" dirty="0">
                <a:solidFill>
                  <a:schemeClr val="accent6"/>
                </a:solidFill>
              </a:rPr>
              <a:t>Why we are doing architecture</a:t>
            </a:r>
          </a:p>
          <a:p>
            <a:pPr marL="12700" marR="5080"/>
            <a:r>
              <a:rPr lang="en-US" sz="1400" kern="0" spc="-80" dirty="0">
                <a:solidFill>
                  <a:schemeClr val="accent6"/>
                </a:solidFill>
              </a:rPr>
              <a:t>Scope of transformation</a:t>
            </a:r>
          </a:p>
          <a:p>
            <a:pPr marL="12700" marR="5080"/>
            <a:r>
              <a:rPr lang="en-US" sz="1400" kern="0" spc="-80" dirty="0">
                <a:solidFill>
                  <a:schemeClr val="accent6"/>
                </a:solidFill>
              </a:rPr>
              <a:t>Architecture principles</a:t>
            </a:r>
          </a:p>
          <a:p>
            <a:pPr marL="12700" marR="5080"/>
            <a:r>
              <a:rPr lang="en-US" sz="1400" kern="0" spc="-80" dirty="0">
                <a:solidFill>
                  <a:schemeClr val="accent6"/>
                </a:solidFill>
              </a:rPr>
              <a:t>Governance model</a:t>
            </a:r>
          </a:p>
          <a:p>
            <a:pPr marL="12700" marR="5080"/>
            <a:r>
              <a:rPr lang="en-US" sz="1400" kern="0" spc="-80" dirty="0">
                <a:solidFill>
                  <a:schemeClr val="accent6"/>
                </a:solidFill>
              </a:rPr>
              <a:t>Tools and repository</a:t>
            </a:r>
          </a:p>
          <a:p>
            <a:pPr marL="12700" marR="5080"/>
            <a:r>
              <a:rPr lang="en-US" sz="1400" kern="0" spc="-80" dirty="0">
                <a:solidFill>
                  <a:schemeClr val="accent2"/>
                </a:solidFill>
              </a:rPr>
              <a:t>Key Outputs</a:t>
            </a:r>
          </a:p>
          <a:p>
            <a:pPr marL="12700" marR="5080"/>
            <a:r>
              <a:rPr lang="en-US" sz="1400" kern="0" spc="-80" dirty="0">
                <a:solidFill>
                  <a:schemeClr val="accent6"/>
                </a:solidFill>
              </a:rPr>
              <a:t>Organizational context</a:t>
            </a:r>
          </a:p>
          <a:p>
            <a:pPr marL="12700" marR="5080"/>
            <a:r>
              <a:rPr lang="en-US" sz="1400" kern="0" spc="-80" dirty="0">
                <a:solidFill>
                  <a:schemeClr val="accent6"/>
                </a:solidFill>
              </a:rPr>
              <a:t>Architecture principles (e.g., reuse before buy before build)</a:t>
            </a:r>
          </a:p>
          <a:p>
            <a:pPr marL="12700" marR="5080"/>
            <a:r>
              <a:rPr lang="en-US" sz="1400" kern="0" spc="-80" dirty="0">
                <a:solidFill>
                  <a:schemeClr val="accent6"/>
                </a:solidFill>
              </a:rPr>
              <a:t>Architecture governance framework</a:t>
            </a:r>
          </a:p>
          <a:p>
            <a:pPr marL="12700" marR="5080"/>
            <a:r>
              <a:rPr lang="en-US" sz="1400" kern="0" spc="-80" dirty="0">
                <a:solidFill>
                  <a:schemeClr val="accent6"/>
                </a:solidFill>
              </a:rPr>
              <a:t>EA repository structure</a:t>
            </a:r>
          </a:p>
          <a:p>
            <a:pPr marL="12700" marR="5080"/>
            <a:r>
              <a:rPr lang="en-US" sz="1400" kern="0" spc="-80" dirty="0">
                <a:solidFill>
                  <a:schemeClr val="accent2"/>
                </a:solidFill>
              </a:rPr>
              <a:t>Phase A: Architecture Vision</a:t>
            </a:r>
          </a:p>
          <a:p>
            <a:pPr marL="12700" marR="5080"/>
            <a:r>
              <a:rPr lang="en-US" sz="1400" kern="0" spc="-80" dirty="0">
                <a:solidFill>
                  <a:schemeClr val="accent2"/>
                </a:solidFill>
              </a:rPr>
              <a:t>Purpose</a:t>
            </a:r>
          </a:p>
          <a:p>
            <a:pPr marL="12700" marR="5080"/>
            <a:r>
              <a:rPr lang="en-US" sz="1400" kern="0" spc="-80" dirty="0">
                <a:solidFill>
                  <a:schemeClr val="accent6"/>
                </a:solidFill>
              </a:rPr>
              <a:t>Create a high-level vision to:</a:t>
            </a:r>
          </a:p>
          <a:p>
            <a:pPr marL="12700" marR="5080"/>
            <a:r>
              <a:rPr lang="en-US" sz="1400" kern="0" spc="-80" dirty="0">
                <a:solidFill>
                  <a:schemeClr val="accent6"/>
                </a:solidFill>
              </a:rPr>
              <a:t>Align stakeholders</a:t>
            </a:r>
          </a:p>
          <a:p>
            <a:pPr marL="12700" marR="5080"/>
            <a:r>
              <a:rPr lang="en-US" sz="1400" kern="0" spc="-80" dirty="0">
                <a:solidFill>
                  <a:schemeClr val="accent6"/>
                </a:solidFill>
              </a:rPr>
              <a:t>Secure funding and approval</a:t>
            </a:r>
          </a:p>
          <a:p>
            <a:pPr marL="12700" marR="5080"/>
            <a:r>
              <a:rPr lang="en-US" sz="1400" kern="0" spc="-80" dirty="0">
                <a:solidFill>
                  <a:schemeClr val="accent6"/>
                </a:solidFill>
              </a:rPr>
              <a:t>Set initial scope and boundaries</a:t>
            </a:r>
          </a:p>
          <a:p>
            <a:pPr marL="12700" marR="5080"/>
            <a:r>
              <a:rPr lang="en-US" sz="1400" kern="0" spc="-80" dirty="0">
                <a:solidFill>
                  <a:schemeClr val="accent2"/>
                </a:solidFill>
              </a:rPr>
              <a:t>Activities</a:t>
            </a:r>
          </a:p>
          <a:p>
            <a:pPr marL="12700" marR="5080"/>
            <a:r>
              <a:rPr lang="en-US" sz="1400" kern="0" spc="-80" dirty="0">
                <a:solidFill>
                  <a:schemeClr val="accent6"/>
                </a:solidFill>
              </a:rPr>
              <a:t>Identify stakeholders</a:t>
            </a:r>
          </a:p>
          <a:p>
            <a:pPr marL="12700" marR="5080"/>
            <a:r>
              <a:rPr lang="en-US" sz="1400" kern="0" spc="-80" dirty="0">
                <a:solidFill>
                  <a:schemeClr val="accent6"/>
                </a:solidFill>
              </a:rPr>
              <a:t>Define business context and drivers</a:t>
            </a:r>
          </a:p>
          <a:p>
            <a:pPr marL="12700" marR="5080"/>
            <a:r>
              <a:rPr lang="en-US" sz="1400" kern="0" spc="-80" dirty="0">
                <a:solidFill>
                  <a:schemeClr val="accent6"/>
                </a:solidFill>
              </a:rPr>
              <a:t>Form a high-level Target Architecture (not detailed yet)</a:t>
            </a:r>
          </a:p>
          <a:p>
            <a:pPr marL="12700" marR="5080"/>
            <a:r>
              <a:rPr lang="en-US" sz="1400" kern="0" spc="-80" dirty="0">
                <a:solidFill>
                  <a:schemeClr val="accent6"/>
                </a:solidFill>
              </a:rPr>
              <a:t>Develop the Business Case</a:t>
            </a:r>
          </a:p>
          <a:p>
            <a:pPr marL="12700" marR="5080"/>
            <a:r>
              <a:rPr lang="en-US" sz="1400" kern="0" spc="-80" dirty="0">
                <a:solidFill>
                  <a:schemeClr val="accent6"/>
                </a:solidFill>
              </a:rPr>
              <a:t>Create Architecture Vision Document</a:t>
            </a:r>
          </a:p>
        </p:txBody>
      </p:sp>
    </p:spTree>
    <p:extLst>
      <p:ext uri="{BB962C8B-B14F-4D97-AF65-F5344CB8AC3E}">
        <p14:creationId xmlns:p14="http://schemas.microsoft.com/office/powerpoint/2010/main" val="4160458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C2B83-2B36-7498-E434-AC3553F194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0F0D54-90D8-07DC-C648-ED22A939A2BF}"/>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33B5EB-BDB4-7F16-C6DF-3B700B29BFFD}"/>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0C98B5D-88FE-3886-8A66-8C628BFFFC34}"/>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06A249D-1984-351F-B288-0AF55AC8DE83}"/>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Outputs</a:t>
            </a:r>
          </a:p>
          <a:p>
            <a:pPr marL="12700" marR="5080"/>
            <a:r>
              <a:rPr lang="en-US" sz="1400" kern="0" spc="-80" dirty="0">
                <a:solidFill>
                  <a:schemeClr val="accent6"/>
                </a:solidFill>
              </a:rPr>
              <a:t>Statement of Architecture Work</a:t>
            </a:r>
          </a:p>
          <a:p>
            <a:pPr marL="12700" marR="5080"/>
            <a:r>
              <a:rPr lang="en-US" sz="1400" kern="0" spc="-80" dirty="0">
                <a:solidFill>
                  <a:schemeClr val="accent6"/>
                </a:solidFill>
              </a:rPr>
              <a:t>Architecture Vision (with high-level diagrams)</a:t>
            </a:r>
          </a:p>
          <a:p>
            <a:pPr marL="12700" marR="5080"/>
            <a:r>
              <a:rPr lang="en-US" sz="1400" kern="0" spc="-80" dirty="0">
                <a:solidFill>
                  <a:schemeClr val="accent6"/>
                </a:solidFill>
              </a:rPr>
              <a:t>Stakeholder maps and communication plan</a:t>
            </a:r>
          </a:p>
          <a:p>
            <a:pPr marL="12700" marR="5080"/>
            <a:r>
              <a:rPr lang="en-US" sz="1400" kern="0" spc="-80" dirty="0">
                <a:solidFill>
                  <a:schemeClr val="accent2"/>
                </a:solidFill>
              </a:rPr>
              <a:t>Phase B: Business Architecture</a:t>
            </a:r>
          </a:p>
          <a:p>
            <a:pPr marL="12700" marR="5080"/>
            <a:r>
              <a:rPr lang="en-US" sz="1400" kern="0" spc="-80" dirty="0">
                <a:solidFill>
                  <a:schemeClr val="accent2"/>
                </a:solidFill>
              </a:rPr>
              <a:t>Purpose</a:t>
            </a:r>
          </a:p>
          <a:p>
            <a:pPr marL="12700" marR="5080"/>
            <a:r>
              <a:rPr lang="en-US" sz="1400" kern="0" spc="-80" dirty="0">
                <a:solidFill>
                  <a:schemeClr val="accent6"/>
                </a:solidFill>
              </a:rPr>
              <a:t>Define the Target Business Architecture:</a:t>
            </a:r>
          </a:p>
          <a:p>
            <a:pPr marL="12700" marR="5080"/>
            <a:r>
              <a:rPr lang="en-US" sz="1400" kern="0" spc="-80" dirty="0">
                <a:solidFill>
                  <a:schemeClr val="accent6"/>
                </a:solidFill>
              </a:rPr>
              <a:t>Business capabilities</a:t>
            </a:r>
          </a:p>
          <a:p>
            <a:pPr marL="12700" marR="5080"/>
            <a:r>
              <a:rPr lang="en-US" sz="1400" kern="0" spc="-80" dirty="0">
                <a:solidFill>
                  <a:schemeClr val="accent2"/>
                </a:solidFill>
              </a:rPr>
              <a:t>Processes</a:t>
            </a:r>
          </a:p>
          <a:p>
            <a:pPr marL="12700" marR="5080"/>
            <a:r>
              <a:rPr lang="en-US" sz="1400" kern="0" spc="-80" dirty="0">
                <a:solidFill>
                  <a:schemeClr val="accent6"/>
                </a:solidFill>
              </a:rPr>
              <a:t>Organization structure</a:t>
            </a:r>
          </a:p>
          <a:p>
            <a:pPr marL="12700" marR="5080"/>
            <a:r>
              <a:rPr lang="en-US" sz="1400" kern="0" spc="-80" dirty="0">
                <a:solidFill>
                  <a:schemeClr val="accent6"/>
                </a:solidFill>
              </a:rPr>
              <a:t>Value streams</a:t>
            </a:r>
          </a:p>
          <a:p>
            <a:pPr marL="12700" marR="5080"/>
            <a:r>
              <a:rPr lang="en-US" sz="1400" kern="0" spc="-80" dirty="0">
                <a:solidFill>
                  <a:schemeClr val="accent6"/>
                </a:solidFill>
              </a:rPr>
              <a:t>Business rules</a:t>
            </a:r>
          </a:p>
          <a:p>
            <a:pPr marL="12700" marR="5080"/>
            <a:r>
              <a:rPr lang="en-US" sz="1400" kern="0" spc="-80" dirty="0">
                <a:solidFill>
                  <a:schemeClr val="accent2"/>
                </a:solidFill>
              </a:rPr>
              <a:t>Inputs</a:t>
            </a:r>
          </a:p>
          <a:p>
            <a:pPr marL="12700" marR="5080"/>
            <a:r>
              <a:rPr lang="en-US" sz="1400" kern="0" spc="-80" dirty="0">
                <a:solidFill>
                  <a:schemeClr val="accent6"/>
                </a:solidFill>
              </a:rPr>
              <a:t>Architecture Vision</a:t>
            </a:r>
          </a:p>
          <a:p>
            <a:pPr marL="12700" marR="5080"/>
            <a:r>
              <a:rPr lang="en-US" sz="1400" kern="0" spc="-80" dirty="0">
                <a:solidFill>
                  <a:schemeClr val="accent6"/>
                </a:solidFill>
              </a:rPr>
              <a:t>Business strategies</a:t>
            </a:r>
          </a:p>
          <a:p>
            <a:pPr marL="12700" marR="5080"/>
            <a:r>
              <a:rPr lang="en-US" sz="1400" kern="0" spc="-80" dirty="0">
                <a:solidFill>
                  <a:schemeClr val="accent2"/>
                </a:solidFill>
              </a:rPr>
              <a:t>Activitie</a:t>
            </a:r>
            <a:r>
              <a:rPr lang="en-US" sz="1400" kern="0" spc="-80" dirty="0">
                <a:solidFill>
                  <a:schemeClr val="accent6"/>
                </a:solidFill>
              </a:rPr>
              <a:t>s</a:t>
            </a:r>
          </a:p>
          <a:p>
            <a:pPr marL="12700" marR="5080"/>
            <a:r>
              <a:rPr lang="en-US" sz="1400" kern="0" spc="-80" dirty="0">
                <a:solidFill>
                  <a:schemeClr val="accent6"/>
                </a:solidFill>
              </a:rPr>
              <a:t>Baseline Business Architecture (current state As-Is)</a:t>
            </a:r>
          </a:p>
          <a:p>
            <a:pPr marL="12700" marR="5080"/>
            <a:r>
              <a:rPr lang="en-US" sz="1400" kern="0" spc="-80" dirty="0">
                <a:solidFill>
                  <a:schemeClr val="accent6"/>
                </a:solidFill>
              </a:rPr>
              <a:t>Target Business Architecture (future state To-Be)</a:t>
            </a:r>
          </a:p>
          <a:p>
            <a:pPr marL="12700" marR="5080"/>
            <a:r>
              <a:rPr lang="en-US" sz="1400" kern="0" spc="-80" dirty="0">
                <a:solidFill>
                  <a:schemeClr val="accent6"/>
                </a:solidFill>
              </a:rPr>
              <a:t>Identify gaps (Gap Analysis)</a:t>
            </a:r>
          </a:p>
          <a:p>
            <a:pPr marL="12700" marR="5080"/>
            <a:r>
              <a:rPr lang="en-US" sz="1400" kern="0" spc="-80" dirty="0">
                <a:solidFill>
                  <a:schemeClr val="accent2"/>
                </a:solidFill>
              </a:rPr>
              <a:t>Outputs</a:t>
            </a:r>
          </a:p>
          <a:p>
            <a:pPr marL="12700" marR="5080"/>
            <a:r>
              <a:rPr lang="en-US" sz="1400" kern="0" spc="-80" dirty="0">
                <a:solidFill>
                  <a:schemeClr val="accent6"/>
                </a:solidFill>
              </a:rPr>
              <a:t>Business Capability Model</a:t>
            </a:r>
          </a:p>
          <a:p>
            <a:pPr marL="12700" marR="5080"/>
            <a:r>
              <a:rPr lang="en-US" sz="1400" kern="0" spc="-80" dirty="0">
                <a:solidFill>
                  <a:schemeClr val="accent6"/>
                </a:solidFill>
              </a:rPr>
              <a:t>Value Stream Maps</a:t>
            </a:r>
          </a:p>
          <a:p>
            <a:pPr marL="12700" marR="5080"/>
            <a:r>
              <a:rPr lang="en-US" sz="1400" kern="0" spc="-80" dirty="0">
                <a:solidFill>
                  <a:schemeClr val="accent6"/>
                </a:solidFill>
              </a:rPr>
              <a:t>Business Process Models</a:t>
            </a:r>
          </a:p>
          <a:p>
            <a:pPr marL="12700" marR="5080"/>
            <a:r>
              <a:rPr lang="en-US" sz="1400" kern="0" spc="-80" dirty="0">
                <a:solidFill>
                  <a:schemeClr val="accent6"/>
                </a:solidFill>
              </a:rPr>
              <a:t>Business Domain/Data impact analysis</a:t>
            </a:r>
          </a:p>
        </p:txBody>
      </p:sp>
    </p:spTree>
    <p:extLst>
      <p:ext uri="{BB962C8B-B14F-4D97-AF65-F5344CB8AC3E}">
        <p14:creationId xmlns:p14="http://schemas.microsoft.com/office/powerpoint/2010/main" val="1200986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1A53-41EC-407B-7026-A1CE2F889D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0B61D2-9DE3-F30E-EB8E-9486342785AF}"/>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F5B268-983F-7955-B87F-2400A162729E}"/>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B25ED5-151F-9158-186E-BBE79BEDCAB8}"/>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1924F79-7405-F655-7F74-F66AB57D012F}"/>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Phase C: Information Systems Architectures</a:t>
            </a:r>
          </a:p>
          <a:p>
            <a:pPr marL="12700" marR="5080"/>
            <a:r>
              <a:rPr lang="en-US" sz="1400" kern="0" spc="-80" dirty="0">
                <a:solidFill>
                  <a:schemeClr val="accent2"/>
                </a:solidFill>
              </a:rPr>
              <a:t>Divided into:</a:t>
            </a:r>
          </a:p>
          <a:p>
            <a:pPr marL="12700" marR="5080"/>
            <a:r>
              <a:rPr lang="en-US" sz="1400" kern="0" spc="-80" dirty="0">
                <a:solidFill>
                  <a:schemeClr val="accent6"/>
                </a:solidFill>
              </a:rPr>
              <a:t>Data Architecture</a:t>
            </a:r>
          </a:p>
          <a:p>
            <a:pPr marL="12700" marR="5080"/>
            <a:r>
              <a:rPr lang="en-US" sz="1400" kern="0" spc="-80" dirty="0">
                <a:solidFill>
                  <a:schemeClr val="accent6"/>
                </a:solidFill>
              </a:rPr>
              <a:t>Application Architecture</a:t>
            </a:r>
          </a:p>
          <a:p>
            <a:pPr marL="12700" marR="5080"/>
            <a:r>
              <a:rPr lang="en-US" sz="1400" kern="0" spc="-80" dirty="0">
                <a:solidFill>
                  <a:schemeClr val="accent2"/>
                </a:solidFill>
              </a:rPr>
              <a:t>C1. Data Architecture</a:t>
            </a:r>
          </a:p>
          <a:p>
            <a:pPr marL="12700" marR="5080"/>
            <a:r>
              <a:rPr lang="en-US" sz="1400" kern="0" spc="-80" dirty="0">
                <a:solidFill>
                  <a:schemeClr val="accent2"/>
                </a:solidFill>
              </a:rPr>
              <a:t>Define:</a:t>
            </a:r>
          </a:p>
          <a:p>
            <a:pPr marL="12700" marR="5080"/>
            <a:r>
              <a:rPr lang="en-US" sz="1400" kern="0" spc="-80" dirty="0">
                <a:solidFill>
                  <a:schemeClr val="accent6"/>
                </a:solidFill>
              </a:rPr>
              <a:t>Data entities &amp; relationships</a:t>
            </a:r>
          </a:p>
          <a:p>
            <a:pPr marL="12700" marR="5080"/>
            <a:r>
              <a:rPr lang="en-US" sz="1400" kern="0" spc="-80" dirty="0">
                <a:solidFill>
                  <a:schemeClr val="accent6"/>
                </a:solidFill>
              </a:rPr>
              <a:t>Data ownership</a:t>
            </a:r>
          </a:p>
          <a:p>
            <a:pPr marL="12700" marR="5080"/>
            <a:r>
              <a:rPr lang="en-US" sz="1400" kern="0" spc="-80" dirty="0">
                <a:solidFill>
                  <a:schemeClr val="accent6"/>
                </a:solidFill>
              </a:rPr>
              <a:t>Data flows &amp; lifecycle</a:t>
            </a:r>
          </a:p>
          <a:p>
            <a:pPr marL="12700" marR="5080"/>
            <a:r>
              <a:rPr lang="en-US" sz="1400" kern="0" spc="-80" dirty="0">
                <a:solidFill>
                  <a:schemeClr val="accent6"/>
                </a:solidFill>
              </a:rPr>
              <a:t>Master data boundaries</a:t>
            </a:r>
          </a:p>
          <a:p>
            <a:pPr marL="12700" marR="5080"/>
            <a:r>
              <a:rPr lang="en-US" sz="1400" kern="0" spc="-80" dirty="0">
                <a:solidFill>
                  <a:schemeClr val="accent2"/>
                </a:solidFill>
              </a:rPr>
              <a:t>C2. Application Architecture</a:t>
            </a:r>
          </a:p>
          <a:p>
            <a:pPr marL="12700" marR="5080"/>
            <a:r>
              <a:rPr lang="en-US" sz="1400" kern="0" spc="-80" dirty="0">
                <a:solidFill>
                  <a:schemeClr val="accent2"/>
                </a:solidFill>
              </a:rPr>
              <a:t>Define:</a:t>
            </a:r>
          </a:p>
          <a:p>
            <a:pPr marL="12700" marR="5080"/>
            <a:r>
              <a:rPr lang="en-US" sz="1400" kern="0" spc="-80" dirty="0">
                <a:solidFill>
                  <a:schemeClr val="accent6"/>
                </a:solidFill>
              </a:rPr>
              <a:t>Application components &amp; services</a:t>
            </a:r>
          </a:p>
          <a:p>
            <a:pPr marL="12700" marR="5080"/>
            <a:r>
              <a:rPr lang="en-US" sz="1400" kern="0" spc="-80" dirty="0">
                <a:solidFill>
                  <a:schemeClr val="accent6"/>
                </a:solidFill>
              </a:rPr>
              <a:t>Integration patterns (e.g., API, ESB, events)</a:t>
            </a:r>
          </a:p>
          <a:p>
            <a:pPr marL="12700" marR="5080"/>
            <a:r>
              <a:rPr lang="en-US" sz="1400" kern="0" spc="-80" dirty="0">
                <a:solidFill>
                  <a:schemeClr val="accent6"/>
                </a:solidFill>
              </a:rPr>
              <a:t>Application-to-capability mapping</a:t>
            </a:r>
          </a:p>
          <a:p>
            <a:pPr marL="12700" marR="5080"/>
            <a:r>
              <a:rPr lang="en-US" sz="1400" kern="0" spc="-80" dirty="0">
                <a:solidFill>
                  <a:schemeClr val="accent2"/>
                </a:solidFill>
              </a:rPr>
              <a:t>Outputs (combined)</a:t>
            </a:r>
          </a:p>
          <a:p>
            <a:pPr marL="12700" marR="5080"/>
            <a:r>
              <a:rPr lang="en-US" sz="1400" kern="0" spc="-80" dirty="0">
                <a:solidFill>
                  <a:schemeClr val="accent6"/>
                </a:solidFill>
              </a:rPr>
              <a:t>Logical Data Model</a:t>
            </a:r>
          </a:p>
          <a:p>
            <a:pPr marL="12700" marR="5080"/>
            <a:r>
              <a:rPr lang="en-US" sz="1400" kern="0" spc="-80" dirty="0">
                <a:solidFill>
                  <a:schemeClr val="accent6"/>
                </a:solidFill>
              </a:rPr>
              <a:t>Application Interaction Diagram</a:t>
            </a:r>
          </a:p>
          <a:p>
            <a:pPr marL="12700" marR="5080"/>
            <a:r>
              <a:rPr lang="en-US" sz="1400" kern="0" spc="-80" dirty="0">
                <a:solidFill>
                  <a:schemeClr val="accent6"/>
                </a:solidFill>
              </a:rPr>
              <a:t>Data/Application Gap Analysis</a:t>
            </a:r>
          </a:p>
          <a:p>
            <a:pPr marL="12700" marR="5080"/>
            <a:r>
              <a:rPr lang="en-US" sz="1400" kern="0" spc="-80" dirty="0">
                <a:solidFill>
                  <a:schemeClr val="accent2"/>
                </a:solidFill>
              </a:rPr>
              <a:t>Phase D: Technology Architecture</a:t>
            </a:r>
          </a:p>
          <a:p>
            <a:pPr marL="12700" marR="5080"/>
            <a:r>
              <a:rPr lang="en-US" sz="1400" kern="0" spc="-80" dirty="0">
                <a:solidFill>
                  <a:schemeClr val="accent2"/>
                </a:solidFill>
              </a:rPr>
              <a:t>Purpose</a:t>
            </a:r>
          </a:p>
          <a:p>
            <a:pPr marL="12700" marR="5080"/>
            <a:r>
              <a:rPr lang="en-US" sz="1400" kern="0" spc="-80" dirty="0">
                <a:solidFill>
                  <a:schemeClr val="accent6"/>
                </a:solidFill>
              </a:rPr>
              <a:t>Define the technical platform needed to realize the applications &amp; data.</a:t>
            </a:r>
          </a:p>
          <a:p>
            <a:pPr marL="12700" marR="5080"/>
            <a:r>
              <a:rPr lang="en-US" sz="1400" kern="0" spc="-80" dirty="0">
                <a:solidFill>
                  <a:schemeClr val="accent2"/>
                </a:solidFill>
              </a:rPr>
              <a:t>This includes:</a:t>
            </a:r>
          </a:p>
          <a:p>
            <a:pPr marL="12700" marR="5080"/>
            <a:r>
              <a:rPr lang="en-US" sz="1400" kern="0" spc="-80" dirty="0">
                <a:solidFill>
                  <a:schemeClr val="accent6"/>
                </a:solidFill>
              </a:rPr>
              <a:t>Infrastructure</a:t>
            </a:r>
          </a:p>
          <a:p>
            <a:pPr marL="12700" marR="5080"/>
            <a:r>
              <a:rPr lang="en-US" sz="1400" kern="0" spc="-80" dirty="0">
                <a:solidFill>
                  <a:schemeClr val="accent6"/>
                </a:solidFill>
              </a:rPr>
              <a:t>Networking</a:t>
            </a:r>
          </a:p>
        </p:txBody>
      </p:sp>
    </p:spTree>
    <p:extLst>
      <p:ext uri="{BB962C8B-B14F-4D97-AF65-F5344CB8AC3E}">
        <p14:creationId xmlns:p14="http://schemas.microsoft.com/office/powerpoint/2010/main" val="958560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17C5A-0656-BD3B-7985-FCFDF35C32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6698F6-8B3A-6151-52ED-55FAF8765AC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8D9366-453A-BAC7-70AD-1174A4D814EF}"/>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5C0CF1-83A1-87F4-51B7-2979AA4B1C49}"/>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F757D3A-B153-FE45-2110-434631DD6557}"/>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Security</a:t>
            </a:r>
          </a:p>
          <a:p>
            <a:pPr marL="12700" marR="5080"/>
            <a:r>
              <a:rPr lang="en-US" sz="1400" kern="0" spc="-80" dirty="0">
                <a:solidFill>
                  <a:schemeClr val="accent6"/>
                </a:solidFill>
              </a:rPr>
              <a:t>Cloud Platforms (IaaS/PaaS)</a:t>
            </a:r>
          </a:p>
          <a:p>
            <a:pPr marL="12700" marR="5080"/>
            <a:r>
              <a:rPr lang="en-US" sz="1400" kern="0" spc="-80" dirty="0">
                <a:solidFill>
                  <a:schemeClr val="accent6"/>
                </a:solidFill>
              </a:rPr>
              <a:t>DevOps / CI/CD environments</a:t>
            </a:r>
          </a:p>
          <a:p>
            <a:pPr marL="12700" marR="5080"/>
            <a:r>
              <a:rPr lang="en-US" sz="1400" kern="0" spc="-80" dirty="0">
                <a:solidFill>
                  <a:schemeClr val="accent6"/>
                </a:solidFill>
              </a:rPr>
              <a:t>Runtime environments (EKS/AKS, App Service, VMs, Containers, etc.)</a:t>
            </a:r>
          </a:p>
          <a:p>
            <a:pPr marL="12700" marR="5080"/>
            <a:r>
              <a:rPr lang="en-US" sz="1400" kern="0" spc="-80" dirty="0">
                <a:solidFill>
                  <a:schemeClr val="accent2"/>
                </a:solidFill>
              </a:rPr>
              <a:t>Outputs</a:t>
            </a:r>
          </a:p>
          <a:p>
            <a:pPr marL="12700" marR="5080"/>
            <a:r>
              <a:rPr lang="en-US" sz="1400" kern="0" spc="-80" dirty="0">
                <a:solidFill>
                  <a:schemeClr val="accent6"/>
                </a:solidFill>
              </a:rPr>
              <a:t>Platform Reference Architecture</a:t>
            </a:r>
          </a:p>
          <a:p>
            <a:pPr marL="12700" marR="5080"/>
            <a:r>
              <a:rPr lang="en-US" sz="1400" kern="0" spc="-80" dirty="0">
                <a:solidFill>
                  <a:schemeClr val="accent6"/>
                </a:solidFill>
              </a:rPr>
              <a:t>Infrastructure designs (logical &gt; physical)</a:t>
            </a:r>
          </a:p>
          <a:p>
            <a:pPr marL="12700" marR="5080"/>
            <a:r>
              <a:rPr lang="en-US" sz="1400" kern="0" spc="-80" dirty="0">
                <a:solidFill>
                  <a:schemeClr val="accent6"/>
                </a:solidFill>
              </a:rPr>
              <a:t>Tech standards and policies</a:t>
            </a:r>
          </a:p>
          <a:p>
            <a:pPr marL="12700" marR="5080"/>
            <a:r>
              <a:rPr lang="en-US" sz="1400" kern="0" spc="-80" dirty="0">
                <a:solidFill>
                  <a:schemeClr val="accent2"/>
                </a:solidFill>
              </a:rPr>
              <a:t>Phase E: Opportunities &amp; Solutions</a:t>
            </a:r>
          </a:p>
          <a:p>
            <a:pPr marL="12700" marR="5080"/>
            <a:r>
              <a:rPr lang="en-US" sz="1400" kern="0" spc="-80" dirty="0">
                <a:solidFill>
                  <a:schemeClr val="accent2"/>
                </a:solidFill>
              </a:rPr>
              <a:t>Purpose</a:t>
            </a:r>
          </a:p>
          <a:p>
            <a:pPr marL="12700" marR="5080"/>
            <a:r>
              <a:rPr lang="en-US" sz="1400" kern="0" spc="-80" dirty="0">
                <a:solidFill>
                  <a:schemeClr val="accent6"/>
                </a:solidFill>
              </a:rPr>
              <a:t>Convert architectures into solution direction.</a:t>
            </a:r>
          </a:p>
          <a:p>
            <a:pPr marL="12700" marR="5080"/>
            <a:r>
              <a:rPr lang="en-US" sz="1400" kern="0" spc="-80" dirty="0">
                <a:solidFill>
                  <a:schemeClr val="accent2"/>
                </a:solidFill>
              </a:rPr>
              <a:t>Identify:</a:t>
            </a:r>
          </a:p>
          <a:p>
            <a:pPr marL="12700" marR="5080"/>
            <a:r>
              <a:rPr lang="en-US" sz="1400" kern="0" spc="-80" dirty="0">
                <a:solidFill>
                  <a:schemeClr val="accent6"/>
                </a:solidFill>
              </a:rPr>
              <a:t>Projects</a:t>
            </a:r>
          </a:p>
          <a:p>
            <a:pPr marL="12700" marR="5080"/>
            <a:r>
              <a:rPr lang="en-US" sz="1400" kern="0" spc="-80" dirty="0">
                <a:solidFill>
                  <a:schemeClr val="accent6"/>
                </a:solidFill>
              </a:rPr>
              <a:t>Work packages</a:t>
            </a:r>
          </a:p>
          <a:p>
            <a:pPr marL="12700" marR="5080"/>
            <a:r>
              <a:rPr lang="en-US" sz="1400" kern="0" spc="-80" dirty="0">
                <a:solidFill>
                  <a:schemeClr val="accent6"/>
                </a:solidFill>
              </a:rPr>
              <a:t>Reusable building blocks</a:t>
            </a:r>
          </a:p>
          <a:p>
            <a:pPr marL="12700" marR="5080"/>
            <a:r>
              <a:rPr lang="en-US" sz="1400" kern="0" spc="-80" dirty="0">
                <a:solidFill>
                  <a:schemeClr val="accent6"/>
                </a:solidFill>
              </a:rPr>
              <a:t>Technology enablers</a:t>
            </a:r>
          </a:p>
          <a:p>
            <a:pPr marL="12700" marR="5080"/>
            <a:r>
              <a:rPr lang="en-US" sz="1400" kern="0" spc="-80" dirty="0">
                <a:solidFill>
                  <a:schemeClr val="accent2"/>
                </a:solidFill>
              </a:rPr>
              <a:t>Outputs</a:t>
            </a:r>
          </a:p>
          <a:p>
            <a:pPr marL="12700" marR="5080"/>
            <a:r>
              <a:rPr lang="en-US" sz="1400" kern="0" spc="-80" dirty="0">
                <a:solidFill>
                  <a:schemeClr val="accent6"/>
                </a:solidFill>
              </a:rPr>
              <a:t>Solution Architecture Roadmap</a:t>
            </a:r>
          </a:p>
          <a:p>
            <a:pPr marL="12700" marR="5080"/>
            <a:r>
              <a:rPr lang="en-US" sz="1400" kern="0" spc="-80" dirty="0">
                <a:solidFill>
                  <a:schemeClr val="accent6"/>
                </a:solidFill>
              </a:rPr>
              <a:t>Work Package Definitions</a:t>
            </a:r>
          </a:p>
          <a:p>
            <a:pPr marL="12700" marR="5080"/>
            <a:r>
              <a:rPr lang="en-US" sz="1400" kern="0" spc="-80" dirty="0">
                <a:solidFill>
                  <a:schemeClr val="accent2"/>
                </a:solidFill>
              </a:rPr>
              <a:t>Phase F: Migration Planning</a:t>
            </a:r>
          </a:p>
          <a:p>
            <a:pPr marL="12700" marR="5080"/>
            <a:r>
              <a:rPr lang="en-US" sz="1400" kern="0" spc="-80" dirty="0">
                <a:solidFill>
                  <a:schemeClr val="accent2"/>
                </a:solidFill>
              </a:rPr>
              <a:t>Purpose</a:t>
            </a:r>
          </a:p>
          <a:p>
            <a:pPr marL="12700" marR="5080"/>
            <a:r>
              <a:rPr lang="en-US" sz="1400" kern="0" spc="-80" dirty="0">
                <a:solidFill>
                  <a:schemeClr val="accent6"/>
                </a:solidFill>
              </a:rPr>
              <a:t>Create a phased implementation roadmap based on:</a:t>
            </a:r>
          </a:p>
          <a:p>
            <a:pPr marL="12700" marR="5080"/>
            <a:r>
              <a:rPr lang="en-US" sz="1400" kern="0" spc="-80" dirty="0">
                <a:solidFill>
                  <a:schemeClr val="accent6"/>
                </a:solidFill>
              </a:rPr>
              <a:t>Business priorities</a:t>
            </a:r>
          </a:p>
          <a:p>
            <a:pPr marL="12700" marR="5080"/>
            <a:r>
              <a:rPr lang="en-US" sz="1400" kern="0" spc="-80" dirty="0">
                <a:solidFill>
                  <a:schemeClr val="accent6"/>
                </a:solidFill>
              </a:rPr>
              <a:t>Dependencies</a:t>
            </a:r>
          </a:p>
        </p:txBody>
      </p:sp>
    </p:spTree>
    <p:extLst>
      <p:ext uri="{BB962C8B-B14F-4D97-AF65-F5344CB8AC3E}">
        <p14:creationId xmlns:p14="http://schemas.microsoft.com/office/powerpoint/2010/main" val="869233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27FE2-832C-3FF3-8070-FC88000399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F9750F-E405-3DA6-9FAF-2C3EF6A5EA8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04140B-5F02-840F-C927-83A89112436F}"/>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F3A19FC-27A9-C301-61EF-1665E8DAD5BA}"/>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2E47DEC4-7C91-66A7-5D9A-C0DC83D9DD8E}"/>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Budget</a:t>
            </a:r>
          </a:p>
          <a:p>
            <a:pPr marL="12700" marR="5080"/>
            <a:r>
              <a:rPr lang="en-US" sz="1400" kern="0" spc="-80" dirty="0">
                <a:solidFill>
                  <a:schemeClr val="accent6"/>
                </a:solidFill>
              </a:rPr>
              <a:t>Risk</a:t>
            </a:r>
          </a:p>
          <a:p>
            <a:pPr marL="12700" marR="5080"/>
            <a:r>
              <a:rPr lang="en-US" sz="1400" kern="0" spc="-80" dirty="0">
                <a:solidFill>
                  <a:schemeClr val="accent2"/>
                </a:solidFill>
              </a:rPr>
              <a:t>Outputs</a:t>
            </a:r>
          </a:p>
          <a:p>
            <a:pPr marL="12700" marR="5080"/>
            <a:r>
              <a:rPr lang="en-US" sz="1400" kern="0" spc="-80" dirty="0">
                <a:solidFill>
                  <a:schemeClr val="accent6"/>
                </a:solidFill>
              </a:rPr>
              <a:t>Prioritized Migration Roadmap (e.g., Phase 1, Phase 2…)</a:t>
            </a:r>
          </a:p>
          <a:p>
            <a:pPr marL="12700" marR="5080"/>
            <a:r>
              <a:rPr lang="en-US" sz="1400" kern="0" spc="-80" dirty="0">
                <a:solidFill>
                  <a:schemeClr val="accent6"/>
                </a:solidFill>
              </a:rPr>
              <a:t>Implementation Plan aligned with PMO governance</a:t>
            </a:r>
          </a:p>
          <a:p>
            <a:pPr marL="12700" marR="5080"/>
            <a:r>
              <a:rPr lang="en-US" sz="1400" kern="0" spc="-80" dirty="0">
                <a:solidFill>
                  <a:schemeClr val="accent2"/>
                </a:solidFill>
              </a:rPr>
              <a:t>Phase G: Implementation Governance</a:t>
            </a:r>
          </a:p>
          <a:p>
            <a:pPr marL="12700" marR="5080"/>
            <a:r>
              <a:rPr lang="en-US" sz="1400" kern="0" spc="-80" dirty="0">
                <a:solidFill>
                  <a:schemeClr val="accent2"/>
                </a:solidFill>
              </a:rPr>
              <a:t>Purpose</a:t>
            </a:r>
          </a:p>
          <a:p>
            <a:pPr marL="12700" marR="5080"/>
            <a:r>
              <a:rPr lang="en-US" sz="1400" kern="0" spc="-80" dirty="0">
                <a:solidFill>
                  <a:schemeClr val="accent6"/>
                </a:solidFill>
              </a:rPr>
              <a:t>Ensure that implementation follows the architecture.</a:t>
            </a:r>
          </a:p>
          <a:p>
            <a:pPr marL="12700" marR="5080"/>
            <a:r>
              <a:rPr lang="en-US" sz="1400" kern="0" spc="-80" dirty="0">
                <a:solidFill>
                  <a:schemeClr val="accent2"/>
                </a:solidFill>
              </a:rPr>
              <a:t>Activities</a:t>
            </a:r>
          </a:p>
          <a:p>
            <a:pPr marL="12700" marR="5080"/>
            <a:r>
              <a:rPr lang="en-US" sz="1400" kern="0" spc="-80" dirty="0">
                <a:solidFill>
                  <a:schemeClr val="accent6"/>
                </a:solidFill>
              </a:rPr>
              <a:t>Architecture review boards</a:t>
            </a:r>
          </a:p>
          <a:p>
            <a:pPr marL="12700" marR="5080"/>
            <a:r>
              <a:rPr lang="en-US" sz="1400" kern="0" spc="-80" dirty="0">
                <a:solidFill>
                  <a:schemeClr val="accent6"/>
                </a:solidFill>
              </a:rPr>
              <a:t>Design approvals</a:t>
            </a:r>
          </a:p>
          <a:p>
            <a:pPr marL="12700" marR="5080"/>
            <a:r>
              <a:rPr lang="en-US" sz="1400" kern="0" spc="-80" dirty="0">
                <a:solidFill>
                  <a:schemeClr val="accent6"/>
                </a:solidFill>
              </a:rPr>
              <a:t>Solution alignment checks</a:t>
            </a:r>
          </a:p>
          <a:p>
            <a:pPr marL="12700" marR="5080"/>
            <a:r>
              <a:rPr lang="en-US" sz="1400" kern="0" spc="-80" dirty="0">
                <a:solidFill>
                  <a:schemeClr val="accent2"/>
                </a:solidFill>
              </a:rPr>
              <a:t>Outputs</a:t>
            </a:r>
          </a:p>
          <a:p>
            <a:pPr marL="12700" marR="5080"/>
            <a:r>
              <a:rPr lang="en-US" sz="1400" kern="0" spc="-80" dirty="0">
                <a:solidFill>
                  <a:schemeClr val="accent6"/>
                </a:solidFill>
              </a:rPr>
              <a:t>Compliance assessment reports</a:t>
            </a:r>
          </a:p>
          <a:p>
            <a:pPr marL="12700" marR="5080"/>
            <a:r>
              <a:rPr lang="en-US" sz="1400" kern="0" spc="-80" dirty="0">
                <a:solidFill>
                  <a:schemeClr val="accent6"/>
                </a:solidFill>
              </a:rPr>
              <a:t>Waivers / justification logs (when deviation required)</a:t>
            </a:r>
          </a:p>
          <a:p>
            <a:pPr marL="12700" marR="5080"/>
            <a:r>
              <a:rPr lang="en-US" sz="1400" kern="0" spc="-80" dirty="0">
                <a:solidFill>
                  <a:schemeClr val="accent2"/>
                </a:solidFill>
              </a:rPr>
              <a:t>Phase H: Architecture Change Management</a:t>
            </a:r>
          </a:p>
          <a:p>
            <a:pPr marL="12700" marR="5080"/>
            <a:r>
              <a:rPr lang="en-US" sz="1400" kern="0" spc="-80" dirty="0">
                <a:solidFill>
                  <a:schemeClr val="accent2"/>
                </a:solidFill>
              </a:rPr>
              <a:t>Purpose</a:t>
            </a:r>
          </a:p>
          <a:p>
            <a:pPr marL="12700" marR="5080"/>
            <a:r>
              <a:rPr lang="en-US" sz="1400" kern="0" spc="-80" dirty="0">
                <a:solidFill>
                  <a:schemeClr val="accent6"/>
                </a:solidFill>
              </a:rPr>
              <a:t>Keep architecture live and relevant.</a:t>
            </a:r>
          </a:p>
          <a:p>
            <a:pPr marL="12700" marR="5080"/>
            <a:r>
              <a:rPr lang="en-US" sz="1400" kern="0" spc="-80" dirty="0">
                <a:solidFill>
                  <a:schemeClr val="accent2"/>
                </a:solidFill>
              </a:rPr>
              <a:t>Actions</a:t>
            </a:r>
          </a:p>
          <a:p>
            <a:pPr marL="12700" marR="5080"/>
            <a:r>
              <a:rPr lang="en-US" sz="1400" kern="0" spc="-80" dirty="0">
                <a:solidFill>
                  <a:schemeClr val="accent6"/>
                </a:solidFill>
              </a:rPr>
              <a:t>Monitor changes in business, technology, regulations</a:t>
            </a:r>
          </a:p>
          <a:p>
            <a:pPr marL="12700" marR="5080"/>
            <a:r>
              <a:rPr lang="en-US" sz="1400" kern="0" spc="-80" dirty="0">
                <a:solidFill>
                  <a:schemeClr val="accent6"/>
                </a:solidFill>
              </a:rPr>
              <a:t>Decide whether to update architecture or start new ADM cycle</a:t>
            </a:r>
          </a:p>
          <a:p>
            <a:pPr marL="12700" marR="5080"/>
            <a:r>
              <a:rPr lang="en-US" sz="1400" kern="0" spc="-80" dirty="0">
                <a:solidFill>
                  <a:schemeClr val="accent2"/>
                </a:solidFill>
              </a:rPr>
              <a:t>Outputs</a:t>
            </a:r>
          </a:p>
          <a:p>
            <a:pPr marL="12700" marR="5080"/>
            <a:r>
              <a:rPr lang="en-US" sz="1400" kern="0" spc="-80" dirty="0">
                <a:solidFill>
                  <a:schemeClr val="accent6"/>
                </a:solidFill>
              </a:rPr>
              <a:t>Updated architecture repository</a:t>
            </a:r>
          </a:p>
          <a:p>
            <a:pPr marL="12700" marR="5080"/>
            <a:r>
              <a:rPr lang="en-US" sz="1400" kern="0" spc="-80" dirty="0">
                <a:solidFill>
                  <a:schemeClr val="accent6"/>
                </a:solidFill>
              </a:rPr>
              <a:t>Architecture Change Requests</a:t>
            </a:r>
          </a:p>
          <a:p>
            <a:pPr marL="12700" marR="5080"/>
            <a:r>
              <a:rPr lang="en-US" sz="1400" kern="0" spc="-80" dirty="0">
                <a:solidFill>
                  <a:schemeClr val="accent6"/>
                </a:solidFill>
              </a:rPr>
              <a:t>Requirements Management</a:t>
            </a:r>
          </a:p>
        </p:txBody>
      </p:sp>
    </p:spTree>
    <p:extLst>
      <p:ext uri="{BB962C8B-B14F-4D97-AF65-F5344CB8AC3E}">
        <p14:creationId xmlns:p14="http://schemas.microsoft.com/office/powerpoint/2010/main" val="2163923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57A3-CFD7-9B1E-EB56-4D4C55AF99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FD5B953-441C-2B87-6308-422B3DE8891E}"/>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54E5AA-72A3-6197-4331-2A1D5AA5BF0C}"/>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D0A28AD-B492-02D4-FDA6-F7BE49A28A5B}"/>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A3A7A22-DEF4-68F0-A7CA-6EEEBBEA07D6}"/>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Operates across all phases:</a:t>
            </a:r>
          </a:p>
          <a:p>
            <a:pPr marL="12700" marR="5080"/>
            <a:r>
              <a:rPr lang="en-US" sz="1400" kern="0" spc="-80" dirty="0">
                <a:solidFill>
                  <a:schemeClr val="accent6"/>
                </a:solidFill>
              </a:rPr>
              <a:t>Collects, stores, traces, updates requirements</a:t>
            </a:r>
          </a:p>
          <a:p>
            <a:pPr marL="12700" marR="5080"/>
            <a:r>
              <a:rPr lang="en-US" sz="1400" kern="0" spc="-80" dirty="0">
                <a:solidFill>
                  <a:schemeClr val="accent6"/>
                </a:solidFill>
              </a:rPr>
              <a:t>Ensures traceability from strategy → architecture → implementation</a:t>
            </a:r>
          </a:p>
          <a:p>
            <a:pPr marL="12700" marR="5080"/>
            <a:r>
              <a:rPr lang="en-US" sz="1400" kern="0" spc="-80" dirty="0">
                <a:solidFill>
                  <a:schemeClr val="accent2"/>
                </a:solidFill>
              </a:rPr>
              <a:t>Artifacts (Documents) Produced Across ADM</a:t>
            </a:r>
          </a:p>
          <a:p>
            <a:pPr marL="12700" marR="5080"/>
            <a:r>
              <a:rPr lang="en-US" sz="1400" kern="0" spc="-80" dirty="0">
                <a:solidFill>
                  <a:schemeClr val="accent2"/>
                </a:solidFill>
              </a:rPr>
              <a:t>Phase	                    Key Deliverables</a:t>
            </a:r>
          </a:p>
          <a:p>
            <a:pPr marL="12700" marR="5080"/>
            <a:r>
              <a:rPr lang="en-US" sz="1400" kern="0" spc="-80" dirty="0">
                <a:solidFill>
                  <a:schemeClr val="accent6"/>
                </a:solidFill>
              </a:rPr>
              <a:t>Preliminary	Architecture Principles, Governance Model</a:t>
            </a:r>
          </a:p>
          <a:p>
            <a:pPr marL="12700" marR="5080"/>
            <a:r>
              <a:rPr lang="en-US" sz="1400" kern="0" spc="-80" dirty="0">
                <a:solidFill>
                  <a:schemeClr val="accent6"/>
                </a:solidFill>
              </a:rPr>
              <a:t>A: Vision	                    Architecture Vision, Statement of Work, Business Case</a:t>
            </a:r>
          </a:p>
          <a:p>
            <a:pPr marL="12700" marR="5080"/>
            <a:r>
              <a:rPr lang="en-US" sz="1400" kern="0" spc="-80" dirty="0">
                <a:solidFill>
                  <a:schemeClr val="accent6"/>
                </a:solidFill>
              </a:rPr>
              <a:t>B: Business	Capability Map, Value Streams, Business Process Models</a:t>
            </a:r>
          </a:p>
          <a:p>
            <a:pPr marL="12700" marR="5080"/>
            <a:r>
              <a:rPr lang="en-US" sz="1400" kern="0" spc="-80" dirty="0">
                <a:solidFill>
                  <a:schemeClr val="accent6"/>
                </a:solidFill>
              </a:rPr>
              <a:t>C: Data/App	Logical Data Model, Application Interaction Diagrams</a:t>
            </a:r>
          </a:p>
          <a:p>
            <a:pPr marL="12700" marR="5080"/>
            <a:r>
              <a:rPr lang="en-US" sz="1400" kern="0" spc="-80" dirty="0">
                <a:solidFill>
                  <a:schemeClr val="accent6"/>
                </a:solidFill>
              </a:rPr>
              <a:t>D: Technology	Platform Reference Architecture, Tech Standards</a:t>
            </a:r>
          </a:p>
          <a:p>
            <a:pPr marL="12700" marR="5080"/>
            <a:r>
              <a:rPr lang="en-US" sz="1400" kern="0" spc="-80" dirty="0">
                <a:solidFill>
                  <a:schemeClr val="accent6"/>
                </a:solidFill>
              </a:rPr>
              <a:t>E: Opportunities	Solution Building Blocks, Roadmap</a:t>
            </a:r>
          </a:p>
          <a:p>
            <a:pPr marL="12700" marR="5080"/>
            <a:r>
              <a:rPr lang="en-US" sz="1400" kern="0" spc="-80" dirty="0">
                <a:solidFill>
                  <a:schemeClr val="accent6"/>
                </a:solidFill>
              </a:rPr>
              <a:t>F: Migration	Migration Plan, Dependency Map</a:t>
            </a:r>
          </a:p>
          <a:p>
            <a:pPr marL="12700" marR="5080"/>
            <a:r>
              <a:rPr lang="en-US" sz="1400" kern="0" spc="-80" dirty="0">
                <a:solidFill>
                  <a:schemeClr val="accent6"/>
                </a:solidFill>
              </a:rPr>
              <a:t>G: Governance	Architecture Compliance Report</a:t>
            </a:r>
          </a:p>
          <a:p>
            <a:pPr marL="12700" marR="5080"/>
            <a:r>
              <a:rPr lang="en-US" sz="1400" kern="0" spc="-80" dirty="0">
                <a:solidFill>
                  <a:schemeClr val="accent2"/>
                </a:solidFill>
              </a:rPr>
              <a:t>H: Change	Change Request Log</a:t>
            </a:r>
          </a:p>
          <a:p>
            <a:pPr marL="12700" marR="5080"/>
            <a:r>
              <a:rPr lang="en-US" sz="1400" kern="0" spc="-80" dirty="0">
                <a:solidFill>
                  <a:schemeClr val="accent2"/>
                </a:solidFill>
              </a:rPr>
              <a:t>How Iteration Works</a:t>
            </a:r>
          </a:p>
          <a:p>
            <a:pPr marL="12700" marR="5080"/>
            <a:r>
              <a:rPr lang="en-US" sz="1400" kern="0" spc="-80" dirty="0">
                <a:solidFill>
                  <a:schemeClr val="accent6"/>
                </a:solidFill>
              </a:rPr>
              <a:t>TOGAF does not expect you to finish everything then move on.</a:t>
            </a:r>
          </a:p>
          <a:p>
            <a:pPr marL="12700" marR="5080"/>
            <a:r>
              <a:rPr lang="en-US" sz="1400" kern="0" spc="-80" dirty="0">
                <a:solidFill>
                  <a:schemeClr val="accent2"/>
                </a:solidFill>
              </a:rPr>
              <a:t>Each phase:</a:t>
            </a:r>
          </a:p>
          <a:p>
            <a:pPr marL="12700" marR="5080"/>
            <a:r>
              <a:rPr lang="en-US" sz="1400" kern="0" spc="-80" dirty="0">
                <a:solidFill>
                  <a:schemeClr val="accent6"/>
                </a:solidFill>
              </a:rPr>
              <a:t>Can be revisited</a:t>
            </a:r>
          </a:p>
          <a:p>
            <a:pPr marL="12700" marR="5080"/>
            <a:r>
              <a:rPr lang="en-US" sz="1400" kern="0" spc="-80" dirty="0">
                <a:solidFill>
                  <a:schemeClr val="accent6"/>
                </a:solidFill>
              </a:rPr>
              <a:t>Can be done in domain-specific cycles (e.g., only Application Architecture)</a:t>
            </a:r>
          </a:p>
          <a:p>
            <a:pPr marL="12700" marR="5080"/>
            <a:r>
              <a:rPr lang="en-US" sz="1400" kern="0" spc="-80" dirty="0">
                <a:solidFill>
                  <a:schemeClr val="accent6"/>
                </a:solidFill>
              </a:rPr>
              <a:t>Can be scaled (lightweight for small projects, detailed for large)</a:t>
            </a:r>
          </a:p>
          <a:p>
            <a:pPr marL="12700" marR="5080"/>
            <a:r>
              <a:rPr lang="en-US" sz="1400" kern="0" spc="-80" dirty="0">
                <a:solidFill>
                  <a:schemeClr val="accent2"/>
                </a:solidFill>
              </a:rPr>
              <a:t>In Simple Terms</a:t>
            </a:r>
          </a:p>
          <a:p>
            <a:pPr marL="12700" marR="5080"/>
            <a:r>
              <a:rPr lang="en-US" sz="1400" kern="0" spc="-80" dirty="0">
                <a:solidFill>
                  <a:schemeClr val="accent2"/>
                </a:solidFill>
              </a:rPr>
              <a:t>TOGAF Step	              Practical Meaning</a:t>
            </a:r>
          </a:p>
          <a:p>
            <a:pPr marL="12700" marR="5080"/>
            <a:r>
              <a:rPr lang="en-US" sz="1400" kern="0" spc="-80" dirty="0">
                <a:solidFill>
                  <a:schemeClr val="accent6"/>
                </a:solidFill>
              </a:rPr>
              <a:t>Vision	                                 Why are we doing this? What is the high-level target?</a:t>
            </a:r>
          </a:p>
          <a:p>
            <a:pPr marL="12700" marR="5080"/>
            <a:r>
              <a:rPr lang="en-US" sz="1400" kern="0" spc="-80" dirty="0">
                <a:solidFill>
                  <a:schemeClr val="accent6"/>
                </a:solidFill>
              </a:rPr>
              <a:t>Business Architecture	              What the business needs to do.</a:t>
            </a:r>
          </a:p>
          <a:p>
            <a:pPr marL="12700" marR="5080"/>
            <a:r>
              <a:rPr lang="en-US" sz="1400" kern="0" spc="-80" dirty="0">
                <a:solidFill>
                  <a:schemeClr val="accent6"/>
                </a:solidFill>
              </a:rPr>
              <a:t>Data + Application	              What systems and data are needed.</a:t>
            </a:r>
          </a:p>
        </p:txBody>
      </p:sp>
    </p:spTree>
    <p:extLst>
      <p:ext uri="{BB962C8B-B14F-4D97-AF65-F5344CB8AC3E}">
        <p14:creationId xmlns:p14="http://schemas.microsoft.com/office/powerpoint/2010/main" val="1124899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1A4D3-0FF9-C676-A26E-0AAC6A4F4B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978700-3F1C-AD83-0BA9-5183C9A090BB}"/>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CCC8D9-2D9B-CDC6-E714-C91873A3E758}"/>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CEDF428-C2DF-C9A9-D175-AA7F03779607}"/>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7A65E3B-847B-B17F-1975-94B7F6682DED}"/>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TOGAF Step	             Practical Meaning</a:t>
            </a:r>
          </a:p>
          <a:p>
            <a:pPr marL="12700" marR="5080"/>
            <a:r>
              <a:rPr lang="en-US" sz="1400" kern="0" spc="-80" dirty="0">
                <a:solidFill>
                  <a:schemeClr val="accent6"/>
                </a:solidFill>
              </a:rPr>
              <a:t>Technology	             Which platforms and tech we will use.</a:t>
            </a:r>
          </a:p>
          <a:p>
            <a:pPr marL="12700" marR="5080"/>
            <a:r>
              <a:rPr lang="en-US" sz="1400" kern="0" spc="-80" dirty="0">
                <a:solidFill>
                  <a:schemeClr val="accent6"/>
                </a:solidFill>
              </a:rPr>
              <a:t>Opportunities &amp; Solutions       How to translate architecture to executable solutions.</a:t>
            </a:r>
          </a:p>
          <a:p>
            <a:pPr marL="12700" marR="5080"/>
            <a:r>
              <a:rPr lang="en-US" sz="1400" kern="0" spc="-80" dirty="0">
                <a:solidFill>
                  <a:schemeClr val="accent6"/>
                </a:solidFill>
              </a:rPr>
              <a:t>Migration Planning	             When and in what order.</a:t>
            </a:r>
          </a:p>
          <a:p>
            <a:pPr marL="12700" marR="5080"/>
            <a:r>
              <a:rPr lang="en-US" sz="1400" kern="0" spc="-80" dirty="0">
                <a:solidFill>
                  <a:schemeClr val="accent6"/>
                </a:solidFill>
              </a:rPr>
              <a:t>Governance	             Ensure execution follows design.</a:t>
            </a:r>
          </a:p>
          <a:p>
            <a:pPr marL="12700" marR="5080"/>
            <a:r>
              <a:rPr lang="en-US" sz="1400" kern="0" spc="-80" dirty="0">
                <a:solidFill>
                  <a:schemeClr val="accent6"/>
                </a:solidFill>
              </a:rPr>
              <a:t>Change Management	             Keep architecture relevant over time. </a:t>
            </a:r>
          </a:p>
          <a:p>
            <a:pPr marL="12700" marR="5080"/>
            <a:endParaRPr lang="en-US" sz="1400" kern="0" spc="-80" dirty="0">
              <a:solidFill>
                <a:schemeClr val="accent6"/>
              </a:solidFill>
            </a:endParaRPr>
          </a:p>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Phase A – Architecture Vision</a:t>
            </a:r>
          </a:p>
          <a:p>
            <a:pPr marL="12700" marR="5080"/>
            <a:r>
              <a:rPr lang="en-US" sz="1400" kern="0" spc="-80" dirty="0">
                <a:solidFill>
                  <a:schemeClr val="accent2"/>
                </a:solidFill>
              </a:rPr>
              <a:t>Objective: </a:t>
            </a:r>
            <a:r>
              <a:rPr lang="en-US" sz="1400" kern="0" spc="-80" dirty="0">
                <a:solidFill>
                  <a:schemeClr val="accent6"/>
                </a:solidFill>
              </a:rPr>
              <a:t>Define high-level target architecture, stakeholders, and business case.</a:t>
            </a:r>
          </a:p>
          <a:p>
            <a:pPr marL="12700" marR="5080"/>
            <a:r>
              <a:rPr lang="en-US" sz="1400" kern="0" spc="-80" dirty="0">
                <a:solidFill>
                  <a:schemeClr val="accent2"/>
                </a:solidFill>
              </a:rPr>
              <a:t>Key Artifacts:</a:t>
            </a:r>
          </a:p>
          <a:p>
            <a:pPr marL="12700" marR="5080"/>
            <a:r>
              <a:rPr lang="en-US" sz="1400" kern="0" spc="-80" dirty="0">
                <a:solidFill>
                  <a:schemeClr val="accent2"/>
                </a:solidFill>
              </a:rPr>
              <a:t>Architecture Vision Deck (PPTX) – includes:</a:t>
            </a:r>
          </a:p>
          <a:p>
            <a:pPr marL="12700" marR="5080"/>
            <a:r>
              <a:rPr lang="en-US" sz="1400" kern="0" spc="-80" dirty="0">
                <a:solidFill>
                  <a:schemeClr val="accent2"/>
                </a:solidFill>
              </a:rPr>
              <a:t>Business drivers: </a:t>
            </a:r>
            <a:r>
              <a:rPr lang="en-US" sz="1400" kern="0" spc="-80" dirty="0">
                <a:solidFill>
                  <a:schemeClr val="accent6"/>
                </a:solidFill>
              </a:rPr>
              <a:t>legacy monolith, slow product launches, regulatory pressure, digital channels</a:t>
            </a:r>
          </a:p>
          <a:p>
            <a:pPr marL="12700" marR="5080"/>
            <a:r>
              <a:rPr lang="en-US" sz="1400" kern="0" spc="-80" dirty="0">
                <a:solidFill>
                  <a:schemeClr val="accent2"/>
                </a:solidFill>
              </a:rPr>
              <a:t>Stakeholder map: </a:t>
            </a:r>
            <a:r>
              <a:rPr lang="en-US" sz="1400" kern="0" spc="-80" dirty="0">
                <a:solidFill>
                  <a:schemeClr val="accent6"/>
                </a:solidFill>
              </a:rPr>
              <a:t>CIO, CTO, Business Heads, Risk &amp; Compliance, PMO</a:t>
            </a:r>
          </a:p>
          <a:p>
            <a:pPr marL="12700" marR="5080"/>
            <a:r>
              <a:rPr lang="en-US" sz="1400" kern="0" spc="-80" dirty="0">
                <a:solidFill>
                  <a:schemeClr val="accent6"/>
                </a:solidFill>
              </a:rPr>
              <a:t>High-level Target Architecture Diagram (Cloud + Microservices + API layer)</a:t>
            </a:r>
          </a:p>
          <a:p>
            <a:pPr marL="12700" marR="5080"/>
            <a:r>
              <a:rPr lang="en-US" sz="1400" kern="0" spc="-80" dirty="0">
                <a:solidFill>
                  <a:schemeClr val="accent6"/>
                </a:solidFill>
              </a:rPr>
              <a:t>Business case &amp; KPIs (time-to-market, cost reduction, reliability)</a:t>
            </a:r>
          </a:p>
          <a:p>
            <a:pPr marL="12700" marR="5080"/>
            <a:r>
              <a:rPr lang="en-US" sz="1400" kern="0" spc="-80" dirty="0">
                <a:solidFill>
                  <a:schemeClr val="accent2"/>
                </a:solidFill>
              </a:rPr>
              <a:t>Phase B – Business Architecture</a:t>
            </a:r>
          </a:p>
          <a:p>
            <a:pPr marL="12700" marR="5080"/>
            <a:r>
              <a:rPr lang="en-US" sz="1400" kern="0" spc="-80" dirty="0">
                <a:solidFill>
                  <a:schemeClr val="accent2"/>
                </a:solidFill>
              </a:rPr>
              <a:t>Objective:</a:t>
            </a:r>
            <a:r>
              <a:rPr lang="en-US" sz="1400" kern="0" spc="-80" dirty="0">
                <a:solidFill>
                  <a:schemeClr val="accent6"/>
                </a:solidFill>
              </a:rPr>
              <a:t> Map current and target business capabilities.</a:t>
            </a:r>
          </a:p>
          <a:p>
            <a:pPr marL="12700" marR="5080"/>
            <a:r>
              <a:rPr lang="en-US" sz="1400" kern="0" spc="-80" dirty="0">
                <a:solidFill>
                  <a:schemeClr val="accent2"/>
                </a:solidFill>
              </a:rPr>
              <a:t>Artifacts:</a:t>
            </a:r>
          </a:p>
          <a:p>
            <a:pPr marL="12700" marR="5080"/>
            <a:r>
              <a:rPr lang="en-US" sz="1400" kern="0" spc="-80" dirty="0">
                <a:solidFill>
                  <a:schemeClr val="accent6"/>
                </a:solidFill>
              </a:rPr>
              <a:t>Business Capability Map (PPTX)</a:t>
            </a:r>
          </a:p>
          <a:p>
            <a:pPr marL="12700" marR="5080"/>
            <a:r>
              <a:rPr lang="en-US" sz="1400" kern="0" spc="-80" dirty="0">
                <a:solidFill>
                  <a:schemeClr val="accent2"/>
                </a:solidFill>
              </a:rPr>
              <a:t>Key domains: </a:t>
            </a:r>
            <a:r>
              <a:rPr lang="en-US" sz="1400" kern="0" spc="-80" dirty="0">
                <a:solidFill>
                  <a:schemeClr val="accent6"/>
                </a:solidFill>
              </a:rPr>
              <a:t>Retail Banking, Corporate Banking, Treasury, Risk, Compliance, Payments</a:t>
            </a:r>
          </a:p>
          <a:p>
            <a:pPr marL="12700" marR="5080"/>
            <a:r>
              <a:rPr lang="en-US" sz="1400" kern="0" spc="-80" dirty="0">
                <a:solidFill>
                  <a:schemeClr val="accent6"/>
                </a:solidFill>
              </a:rPr>
              <a:t>Highlight which capabilities are enhanced, migrated, or modernized</a:t>
            </a:r>
          </a:p>
          <a:p>
            <a:pPr marL="12700" marR="5080"/>
            <a:r>
              <a:rPr lang="en-US" sz="1400" kern="0" spc="-80" dirty="0">
                <a:solidFill>
                  <a:schemeClr val="accent6"/>
                </a:solidFill>
              </a:rPr>
              <a:t>Value Streams &amp; Process Models</a:t>
            </a:r>
          </a:p>
          <a:p>
            <a:pPr marL="12700" marR="5080"/>
            <a:r>
              <a:rPr lang="en-US" sz="1400" kern="0" spc="-80" dirty="0">
                <a:solidFill>
                  <a:schemeClr val="accent2"/>
                </a:solidFill>
              </a:rPr>
              <a:t>Example:</a:t>
            </a:r>
            <a:r>
              <a:rPr lang="en-US" sz="1400" kern="0" spc="-80" dirty="0">
                <a:solidFill>
                  <a:schemeClr val="accent6"/>
                </a:solidFill>
              </a:rPr>
              <a:t> Account Opening, Loan Origination, Transaction Processing</a:t>
            </a:r>
          </a:p>
        </p:txBody>
      </p:sp>
    </p:spTree>
    <p:extLst>
      <p:ext uri="{BB962C8B-B14F-4D97-AF65-F5344CB8AC3E}">
        <p14:creationId xmlns:p14="http://schemas.microsoft.com/office/powerpoint/2010/main" val="2302376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04909-193A-AD99-6C9C-2AA93C28E7B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3580F4E-D5CA-17F0-79BE-3B253A1D20FE}"/>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10B3DE-3B1F-CA1C-AFA0-BFEDB6F518B7}"/>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1F8976-8558-99B3-473D-CD021F8477F1}"/>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505E220-3269-A58F-EACF-C43006146921}"/>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Business Gap Analysis</a:t>
            </a:r>
          </a:p>
          <a:p>
            <a:pPr marL="12700" marR="5080"/>
            <a:r>
              <a:rPr lang="en-US" sz="1400" kern="0" spc="-80" dirty="0">
                <a:solidFill>
                  <a:schemeClr val="accent6"/>
                </a:solidFill>
              </a:rPr>
              <a:t>Manual processes → automated microservices</a:t>
            </a:r>
          </a:p>
          <a:p>
            <a:pPr marL="12700" marR="5080"/>
            <a:r>
              <a:rPr lang="en-US" sz="1400" kern="0" spc="-80" dirty="0">
                <a:solidFill>
                  <a:schemeClr val="accent6"/>
                </a:solidFill>
              </a:rPr>
              <a:t>Siloed product lines → integrated product platform</a:t>
            </a:r>
          </a:p>
          <a:p>
            <a:pPr marL="12700" marR="5080"/>
            <a:r>
              <a:rPr lang="en-US" sz="1400" kern="0" spc="-80" dirty="0">
                <a:solidFill>
                  <a:schemeClr val="accent2"/>
                </a:solidFill>
              </a:rPr>
              <a:t>Phase C – Information Systems Architecture</a:t>
            </a:r>
          </a:p>
          <a:p>
            <a:pPr marL="12700" marR="5080"/>
            <a:r>
              <a:rPr lang="en-US" sz="1400" kern="0" spc="-80" dirty="0">
                <a:solidFill>
                  <a:schemeClr val="accent6"/>
                </a:solidFill>
              </a:rPr>
              <a:t>Data Architecture</a:t>
            </a:r>
          </a:p>
          <a:p>
            <a:pPr marL="12700" marR="5080"/>
            <a:r>
              <a:rPr lang="en-US" sz="1400" kern="0" spc="-80" dirty="0">
                <a:solidFill>
                  <a:schemeClr val="accent6"/>
                </a:solidFill>
              </a:rPr>
              <a:t>Canonical data model for Customer, Account, Transaction, Loan, Product, KYC</a:t>
            </a:r>
          </a:p>
          <a:p>
            <a:pPr marL="12700" marR="5080"/>
            <a:r>
              <a:rPr lang="en-US" sz="1400" kern="0" spc="-80" dirty="0">
                <a:solidFill>
                  <a:schemeClr val="accent6"/>
                </a:solidFill>
              </a:rPr>
              <a:t>Master Data Management boundaries</a:t>
            </a:r>
          </a:p>
          <a:p>
            <a:pPr marL="12700" marR="5080"/>
            <a:r>
              <a:rPr lang="en-US" sz="1400" kern="0" spc="-80" dirty="0">
                <a:solidFill>
                  <a:schemeClr val="accent6"/>
                </a:solidFill>
              </a:rPr>
              <a:t>Data flow diagrams showing source systems → microservices → reporting</a:t>
            </a:r>
          </a:p>
          <a:p>
            <a:pPr marL="12700" marR="5080"/>
            <a:r>
              <a:rPr lang="en-US" sz="1400" kern="0" spc="-80" dirty="0">
                <a:solidFill>
                  <a:schemeClr val="accent6"/>
                </a:solidFill>
              </a:rPr>
              <a:t>Application Architecture</a:t>
            </a:r>
          </a:p>
          <a:p>
            <a:pPr marL="12700" marR="5080"/>
            <a:r>
              <a:rPr lang="en-US" sz="1400" kern="0" spc="-80" dirty="0">
                <a:solidFill>
                  <a:schemeClr val="accent6"/>
                </a:solidFill>
              </a:rPr>
              <a:t>Domain-driven microservices mapped to business capabilities</a:t>
            </a:r>
          </a:p>
          <a:p>
            <a:pPr marL="12700" marR="5080"/>
            <a:r>
              <a:rPr lang="en-US" sz="1400" kern="0" spc="-80" dirty="0">
                <a:solidFill>
                  <a:schemeClr val="accent6"/>
                </a:solidFill>
              </a:rPr>
              <a:t>API Gateway for internal/external integration</a:t>
            </a:r>
          </a:p>
          <a:p>
            <a:pPr marL="12700" marR="5080"/>
            <a:r>
              <a:rPr lang="en-US" sz="1400" kern="0" spc="-80" dirty="0">
                <a:solidFill>
                  <a:schemeClr val="accent6"/>
                </a:solidFill>
              </a:rPr>
              <a:t>Event-driven architecture (Kafka, RabbitMQ)</a:t>
            </a:r>
          </a:p>
          <a:p>
            <a:pPr marL="12700" marR="5080"/>
            <a:r>
              <a:rPr lang="en-US" sz="1400" kern="0" spc="-80" dirty="0">
                <a:solidFill>
                  <a:schemeClr val="accent6"/>
                </a:solidFill>
              </a:rPr>
              <a:t>Integration with legacy core for phased migration</a:t>
            </a:r>
          </a:p>
          <a:p>
            <a:pPr marL="12700" marR="5080"/>
            <a:r>
              <a:rPr lang="en-US" sz="1400" kern="0" spc="-80" dirty="0">
                <a:solidFill>
                  <a:schemeClr val="accent2"/>
                </a:solidFill>
              </a:rPr>
              <a:t>Artifacts:</a:t>
            </a:r>
          </a:p>
          <a:p>
            <a:pPr marL="12700" marR="5080"/>
            <a:r>
              <a:rPr lang="en-US" sz="1400" kern="0" spc="-80" dirty="0">
                <a:solidFill>
                  <a:schemeClr val="accent6"/>
                </a:solidFill>
              </a:rPr>
              <a:t>Logical Data Model Diagram (PPTX)</a:t>
            </a:r>
          </a:p>
          <a:p>
            <a:pPr marL="12700" marR="5080"/>
            <a:r>
              <a:rPr lang="en-US" sz="1400" kern="0" spc="-80" dirty="0">
                <a:solidFill>
                  <a:schemeClr val="accent6"/>
                </a:solidFill>
              </a:rPr>
              <a:t>Application Interaction Diagram (PPTX)</a:t>
            </a:r>
          </a:p>
          <a:p>
            <a:pPr marL="12700" marR="5080"/>
            <a:r>
              <a:rPr lang="en-US" sz="1400" kern="0" spc="-80" dirty="0">
                <a:solidFill>
                  <a:schemeClr val="accent6"/>
                </a:solidFill>
              </a:rPr>
              <a:t>Gap Analysis Table (XLSX)</a:t>
            </a:r>
          </a:p>
          <a:p>
            <a:pPr marL="12700" marR="5080"/>
            <a:r>
              <a:rPr lang="en-US" sz="1400" kern="0" spc="-80" dirty="0">
                <a:solidFill>
                  <a:schemeClr val="accent2"/>
                </a:solidFill>
              </a:rPr>
              <a:t>Phase D – Technology Architecture</a:t>
            </a:r>
          </a:p>
          <a:p>
            <a:pPr marL="12700" marR="5080"/>
            <a:r>
              <a:rPr lang="en-US" sz="1400" kern="0" spc="-80" dirty="0">
                <a:solidFill>
                  <a:schemeClr val="accent2"/>
                </a:solidFill>
              </a:rPr>
              <a:t>Objective: </a:t>
            </a:r>
            <a:r>
              <a:rPr lang="en-US" sz="1400" kern="0" spc="-80" dirty="0">
                <a:solidFill>
                  <a:schemeClr val="accent6"/>
                </a:solidFill>
              </a:rPr>
              <a:t>Define platform to support microservices and hybrid cloud.</a:t>
            </a:r>
          </a:p>
          <a:p>
            <a:pPr marL="12700" marR="5080"/>
            <a:r>
              <a:rPr lang="en-US" sz="1400" kern="0" spc="-80" dirty="0">
                <a:solidFill>
                  <a:schemeClr val="accent2"/>
                </a:solidFill>
              </a:rPr>
              <a:t>Components:</a:t>
            </a:r>
          </a:p>
          <a:p>
            <a:pPr marL="12700" marR="5080"/>
            <a:r>
              <a:rPr lang="en-US" sz="1400" kern="0" spc="-80" dirty="0">
                <a:solidFill>
                  <a:schemeClr val="accent2"/>
                </a:solidFill>
              </a:rPr>
              <a:t>Hybrid cloud: </a:t>
            </a:r>
            <a:r>
              <a:rPr lang="en-US" sz="1400" kern="0" spc="-80" dirty="0">
                <a:solidFill>
                  <a:schemeClr val="accent6"/>
                </a:solidFill>
              </a:rPr>
              <a:t>On-prem DC + Azure/AWS for microservices</a:t>
            </a:r>
          </a:p>
          <a:p>
            <a:pPr marL="12700" marR="5080"/>
            <a:r>
              <a:rPr lang="en-US" sz="1400" kern="0" spc="-80" dirty="0">
                <a:solidFill>
                  <a:schemeClr val="accent6"/>
                </a:solidFill>
              </a:rPr>
              <a:t>Kubernetes (AKS/EKS) clusters for microservices</a:t>
            </a:r>
          </a:p>
          <a:p>
            <a:pPr marL="12700" marR="5080"/>
            <a:r>
              <a:rPr lang="en-US" sz="1400" kern="0" spc="-80" dirty="0">
                <a:solidFill>
                  <a:schemeClr val="accent6"/>
                </a:solidFill>
              </a:rPr>
              <a:t>CI/CD pipeline with Jenkins/GitHub Actions</a:t>
            </a:r>
          </a:p>
        </p:txBody>
      </p:sp>
    </p:spTree>
    <p:extLst>
      <p:ext uri="{BB962C8B-B14F-4D97-AF65-F5344CB8AC3E}">
        <p14:creationId xmlns:p14="http://schemas.microsoft.com/office/powerpoint/2010/main" val="3660863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A551D-FF61-F773-78BC-8EC845EB6D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8855D4-15EA-7BB0-DBD9-954DE7C39C4B}"/>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893102-E187-2E88-84D4-4D909FD0C4E0}"/>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F89CFC1-5F54-CF28-D722-00E8E583663B}"/>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81E425D-4C78-2DF4-E8A0-EC851F87CB0C}"/>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6"/>
                </a:solidFill>
              </a:rPr>
              <a:t>Security, IAM, monitoring, disaster recovery</a:t>
            </a:r>
          </a:p>
          <a:p>
            <a:pPr marL="12700" marR="5080"/>
            <a:r>
              <a:rPr lang="en-US" sz="1400" kern="0" spc="-80" dirty="0">
                <a:solidFill>
                  <a:schemeClr val="accent2"/>
                </a:solidFill>
              </a:rPr>
              <a:t>Artifacts:</a:t>
            </a:r>
          </a:p>
          <a:p>
            <a:pPr marL="12700" marR="5080"/>
            <a:r>
              <a:rPr lang="en-US" sz="1400" kern="0" spc="-80" dirty="0">
                <a:solidFill>
                  <a:schemeClr val="accent6"/>
                </a:solidFill>
              </a:rPr>
              <a:t>Technology Reference Architecture Diagram (PPTX)</a:t>
            </a:r>
          </a:p>
          <a:p>
            <a:pPr marL="12700" marR="5080"/>
            <a:r>
              <a:rPr lang="en-US" sz="1400" kern="0" spc="-80" dirty="0">
                <a:solidFill>
                  <a:schemeClr val="accent6"/>
                </a:solidFill>
              </a:rPr>
              <a:t>Infrastructure Components Heatmap</a:t>
            </a:r>
          </a:p>
          <a:p>
            <a:pPr marL="12700" marR="5080"/>
            <a:r>
              <a:rPr lang="en-US" sz="1400" kern="0" spc="-80" dirty="0">
                <a:solidFill>
                  <a:schemeClr val="accent2"/>
                </a:solidFill>
              </a:rPr>
              <a:t>Phase E – Opportunities &amp; Solutions</a:t>
            </a:r>
          </a:p>
          <a:p>
            <a:pPr marL="12700" marR="5080"/>
            <a:r>
              <a:rPr lang="en-US" sz="1400" kern="0" spc="-80" dirty="0">
                <a:solidFill>
                  <a:schemeClr val="accent2"/>
                </a:solidFill>
              </a:rPr>
              <a:t>Objective: </a:t>
            </a:r>
            <a:r>
              <a:rPr lang="en-US" sz="1400" kern="0" spc="-80" dirty="0">
                <a:solidFill>
                  <a:schemeClr val="accent6"/>
                </a:solidFill>
              </a:rPr>
              <a:t>Map architectures to executable projects.</a:t>
            </a:r>
          </a:p>
          <a:p>
            <a:pPr marL="12700" marR="5080"/>
            <a:r>
              <a:rPr lang="en-US" sz="1400" kern="0" spc="-80" dirty="0">
                <a:solidFill>
                  <a:schemeClr val="accent2"/>
                </a:solidFill>
              </a:rPr>
              <a:t>Artifacts:</a:t>
            </a:r>
          </a:p>
          <a:p>
            <a:pPr marL="12700" marR="5080"/>
            <a:r>
              <a:rPr lang="en-US" sz="1400" kern="0" spc="-80" dirty="0">
                <a:solidFill>
                  <a:schemeClr val="accent6"/>
                </a:solidFill>
              </a:rPr>
              <a:t>Solution building blocks</a:t>
            </a:r>
          </a:p>
          <a:p>
            <a:pPr marL="12700" marR="5080"/>
            <a:r>
              <a:rPr lang="en-US" sz="1400" kern="0" spc="-80" dirty="0">
                <a:solidFill>
                  <a:schemeClr val="accent2"/>
                </a:solidFill>
              </a:rPr>
              <a:t>Work packages:</a:t>
            </a:r>
          </a:p>
          <a:p>
            <a:pPr marL="12700" marR="5080"/>
            <a:r>
              <a:rPr lang="en-US" sz="1400" kern="0" spc="-80" dirty="0">
                <a:solidFill>
                  <a:schemeClr val="accent6"/>
                </a:solidFill>
              </a:rPr>
              <a:t>Domain microservices development (Customer, Account, Transaction, Loan)</a:t>
            </a:r>
          </a:p>
          <a:p>
            <a:pPr marL="12700" marR="5080"/>
            <a:r>
              <a:rPr lang="en-US" sz="1400" kern="0" spc="-80" dirty="0">
                <a:solidFill>
                  <a:schemeClr val="accent6"/>
                </a:solidFill>
              </a:rPr>
              <a:t>API Gateway implementation</a:t>
            </a:r>
          </a:p>
          <a:p>
            <a:pPr marL="12700" marR="5080"/>
            <a:r>
              <a:rPr lang="en-US" sz="1400" kern="0" spc="-80" dirty="0">
                <a:solidFill>
                  <a:schemeClr val="accent6"/>
                </a:solidFill>
              </a:rPr>
              <a:t>Hybrid cloud platform provisioning</a:t>
            </a:r>
          </a:p>
          <a:p>
            <a:pPr marL="12700" marR="5080"/>
            <a:r>
              <a:rPr lang="en-US" sz="1400" kern="0" spc="-80" dirty="0">
                <a:solidFill>
                  <a:schemeClr val="accent6"/>
                </a:solidFill>
              </a:rPr>
              <a:t>Data migration &amp; MDM rollout</a:t>
            </a:r>
          </a:p>
          <a:p>
            <a:pPr marL="12700" marR="5080"/>
            <a:r>
              <a:rPr lang="en-US" sz="1400" kern="0" spc="-80" dirty="0">
                <a:solidFill>
                  <a:schemeClr val="accent6"/>
                </a:solidFill>
              </a:rPr>
              <a:t>Roadmap for each domain</a:t>
            </a:r>
          </a:p>
          <a:p>
            <a:pPr marL="12700" marR="5080"/>
            <a:r>
              <a:rPr lang="en-US" sz="1400" kern="0" spc="-80" dirty="0">
                <a:solidFill>
                  <a:schemeClr val="accent2"/>
                </a:solidFill>
              </a:rPr>
              <a:t>Phase F – Migration Planning</a:t>
            </a:r>
          </a:p>
          <a:p>
            <a:pPr marL="12700" marR="5080"/>
            <a:r>
              <a:rPr lang="en-US" sz="1400" kern="0" spc="-80" dirty="0">
                <a:solidFill>
                  <a:schemeClr val="accent2"/>
                </a:solidFill>
              </a:rPr>
              <a:t>Objective: </a:t>
            </a:r>
            <a:r>
              <a:rPr lang="en-US" sz="1400" kern="0" spc="-80" dirty="0">
                <a:solidFill>
                  <a:schemeClr val="accent6"/>
                </a:solidFill>
              </a:rPr>
              <a:t>Define phased implementation.</a:t>
            </a:r>
          </a:p>
          <a:p>
            <a:pPr marL="12700" marR="5080"/>
            <a:r>
              <a:rPr lang="en-US" sz="1400" kern="0" spc="-80" dirty="0">
                <a:solidFill>
                  <a:schemeClr val="accent2"/>
                </a:solidFill>
              </a:rPr>
              <a:t>Artifacts:</a:t>
            </a:r>
          </a:p>
          <a:p>
            <a:pPr marL="12700" marR="5080"/>
            <a:r>
              <a:rPr lang="en-US" sz="1400" kern="0" spc="-80" dirty="0">
                <a:solidFill>
                  <a:schemeClr val="accent6"/>
                </a:solidFill>
              </a:rPr>
              <a:t>Migration roadmap (XLSX)</a:t>
            </a:r>
          </a:p>
          <a:p>
            <a:pPr marL="12700" marR="5080"/>
            <a:r>
              <a:rPr lang="en-US" sz="1400" kern="0" spc="-80" dirty="0">
                <a:solidFill>
                  <a:schemeClr val="accent6"/>
                </a:solidFill>
              </a:rPr>
              <a:t>Phase 1: Customer &amp; Account services</a:t>
            </a:r>
          </a:p>
          <a:p>
            <a:pPr marL="12700" marR="5080"/>
            <a:r>
              <a:rPr lang="en-US" sz="1400" kern="0" spc="-80" dirty="0">
                <a:solidFill>
                  <a:schemeClr val="accent6"/>
                </a:solidFill>
              </a:rPr>
              <a:t>Phase 2: Loan &amp; Transaction services</a:t>
            </a:r>
          </a:p>
          <a:p>
            <a:pPr marL="12700" marR="5080"/>
            <a:r>
              <a:rPr lang="en-US" sz="1400" kern="0" spc="-80" dirty="0">
                <a:solidFill>
                  <a:schemeClr val="accent6"/>
                </a:solidFill>
              </a:rPr>
              <a:t>Phase 3: Payments &amp; Treasury services</a:t>
            </a:r>
          </a:p>
          <a:p>
            <a:pPr marL="12700" marR="5080"/>
            <a:r>
              <a:rPr lang="en-US" sz="1400" kern="0" spc="-80" dirty="0">
                <a:solidFill>
                  <a:schemeClr val="accent6"/>
                </a:solidFill>
              </a:rPr>
              <a:t>Dependencies, cost estimates, resource planning</a:t>
            </a:r>
          </a:p>
          <a:p>
            <a:pPr marL="12700" marR="5080"/>
            <a:r>
              <a:rPr lang="en-US" sz="1400" kern="0" spc="-80" dirty="0">
                <a:solidFill>
                  <a:schemeClr val="accent2"/>
                </a:solidFill>
              </a:rPr>
              <a:t>Phase G – Implementation Governance</a:t>
            </a:r>
          </a:p>
          <a:p>
            <a:pPr marL="12700" marR="5080"/>
            <a:r>
              <a:rPr lang="en-US" sz="1400" kern="0" spc="-80" dirty="0">
                <a:solidFill>
                  <a:schemeClr val="accent2"/>
                </a:solidFill>
              </a:rPr>
              <a:t>Objective:</a:t>
            </a:r>
            <a:r>
              <a:rPr lang="en-US" sz="1400" kern="0" spc="-80" dirty="0">
                <a:solidFill>
                  <a:schemeClr val="accent6"/>
                </a:solidFill>
              </a:rPr>
              <a:t> Ensure compliance with architecture.</a:t>
            </a:r>
          </a:p>
        </p:txBody>
      </p:sp>
    </p:spTree>
    <p:extLst>
      <p:ext uri="{BB962C8B-B14F-4D97-AF65-F5344CB8AC3E}">
        <p14:creationId xmlns:p14="http://schemas.microsoft.com/office/powerpoint/2010/main" val="1217197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42DC-059E-BAAF-8046-9DCFA8825C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14FBDD-4277-4701-06CE-D364E3279D39}"/>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3EE82C-9245-4158-8657-A9DAEF0BDCC2}"/>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C817F4-0E67-A66B-95E4-9B91E60811E4}"/>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E210A32-090C-1402-EAEF-BD7FA4AD4945}"/>
              </a:ext>
            </a:extLst>
          </p:cNvPr>
          <p:cNvSpPr txBox="1">
            <a:spLocks/>
          </p:cNvSpPr>
          <p:nvPr/>
        </p:nvSpPr>
        <p:spPr>
          <a:xfrm>
            <a:off x="313400" y="694301"/>
            <a:ext cx="8624937" cy="36625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Artifacts:</a:t>
            </a:r>
          </a:p>
          <a:p>
            <a:pPr marL="12700" marR="5080"/>
            <a:r>
              <a:rPr lang="en-US" sz="1400" kern="0" spc="-80" dirty="0">
                <a:solidFill>
                  <a:schemeClr val="accent6"/>
                </a:solidFill>
              </a:rPr>
              <a:t>Architecture compliance checklist</a:t>
            </a:r>
          </a:p>
          <a:p>
            <a:pPr marL="12700" marR="5080"/>
            <a:r>
              <a:rPr lang="en-US" sz="1400" kern="0" spc="-80" dirty="0">
                <a:solidFill>
                  <a:schemeClr val="accent6"/>
                </a:solidFill>
              </a:rPr>
              <a:t>Review board schedule</a:t>
            </a:r>
          </a:p>
          <a:p>
            <a:pPr marL="12700" marR="5080"/>
            <a:r>
              <a:rPr lang="en-US" sz="1400" kern="0" spc="-80" dirty="0">
                <a:solidFill>
                  <a:schemeClr val="accent6"/>
                </a:solidFill>
              </a:rPr>
              <a:t>Deviation approval templates</a:t>
            </a:r>
          </a:p>
          <a:p>
            <a:pPr marL="12700" marR="5080"/>
            <a:r>
              <a:rPr lang="en-US" sz="1400" kern="0" spc="-80" dirty="0">
                <a:solidFill>
                  <a:schemeClr val="accent2"/>
                </a:solidFill>
              </a:rPr>
              <a:t>Phase H – Architecture Change Management</a:t>
            </a:r>
          </a:p>
          <a:p>
            <a:pPr marL="12700" marR="5080"/>
            <a:r>
              <a:rPr lang="en-US" sz="1400" kern="0" spc="-80" dirty="0">
                <a:solidFill>
                  <a:schemeClr val="accent2"/>
                </a:solidFill>
              </a:rPr>
              <a:t>Objective: </a:t>
            </a:r>
            <a:r>
              <a:rPr lang="en-US" sz="1400" kern="0" spc="-80" dirty="0">
                <a:solidFill>
                  <a:schemeClr val="accent6"/>
                </a:solidFill>
              </a:rPr>
              <a:t>Ensure EA evolves with business.</a:t>
            </a:r>
          </a:p>
          <a:p>
            <a:pPr marL="12700" marR="5080"/>
            <a:r>
              <a:rPr lang="en-US" sz="1400" kern="0" spc="-80" dirty="0">
                <a:solidFill>
                  <a:schemeClr val="accent2"/>
                </a:solidFill>
              </a:rPr>
              <a:t>Artifacts:</a:t>
            </a:r>
          </a:p>
          <a:p>
            <a:pPr marL="12700" marR="5080"/>
            <a:r>
              <a:rPr lang="en-US" sz="1400" kern="0" spc="-80" dirty="0">
                <a:solidFill>
                  <a:schemeClr val="accent6"/>
                </a:solidFill>
              </a:rPr>
              <a:t>Change management log template (DOCX)</a:t>
            </a:r>
          </a:p>
          <a:p>
            <a:pPr marL="12700" marR="5080"/>
            <a:r>
              <a:rPr lang="en-US" sz="1400" kern="0" spc="-80" dirty="0">
                <a:solidFill>
                  <a:schemeClr val="accent6"/>
                </a:solidFill>
              </a:rPr>
              <a:t>Architecture update guidelines</a:t>
            </a:r>
          </a:p>
          <a:p>
            <a:pPr marL="12700" marR="5080"/>
            <a:r>
              <a:rPr lang="en-US" sz="1400" kern="0" spc="-80" dirty="0">
                <a:solidFill>
                  <a:schemeClr val="accent6"/>
                </a:solidFill>
              </a:rPr>
              <a:t>Periodic assessment metrics</a:t>
            </a:r>
          </a:p>
          <a:p>
            <a:pPr marL="12700" marR="5080"/>
            <a:r>
              <a:rPr lang="en-US" sz="1400" kern="0" spc="-80" dirty="0">
                <a:solidFill>
                  <a:schemeClr val="accent6"/>
                </a:solidFill>
              </a:rPr>
              <a:t>Requirements Management</a:t>
            </a:r>
          </a:p>
          <a:p>
            <a:pPr marL="12700" marR="5080"/>
            <a:r>
              <a:rPr lang="en-US" sz="1400" kern="0" spc="-80" dirty="0">
                <a:solidFill>
                  <a:schemeClr val="accent6"/>
                </a:solidFill>
              </a:rPr>
              <a:t>Central repository linking business drivers → capabilities → data → applications → technology → solutions</a:t>
            </a:r>
          </a:p>
          <a:p>
            <a:pPr marL="12700" marR="5080"/>
            <a:r>
              <a:rPr lang="en-US" sz="1400" kern="0" spc="-80" dirty="0">
                <a:solidFill>
                  <a:schemeClr val="accent6"/>
                </a:solidFill>
              </a:rPr>
              <a:t>Traceability ensured for audit &amp; regulatory compliance.</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4961665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71553-00DF-D3C8-C378-289D4D4489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15AA5E-8B37-C700-019C-03FFDEEFA02A}"/>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0CF5EED-E0E9-6E0E-FFA9-1E3E67F11B37}"/>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B4C32F-CA0E-8ED7-FF98-55E47927F4D6}"/>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2FB2A9F-5EFE-8E30-C0C4-579DD6425C6F}"/>
              </a:ext>
            </a:extLst>
          </p:cNvPr>
          <p:cNvSpPr txBox="1">
            <a:spLocks/>
          </p:cNvSpPr>
          <p:nvPr/>
        </p:nvSpPr>
        <p:spPr>
          <a:xfrm>
            <a:off x="313400" y="694301"/>
            <a:ext cx="8624937" cy="6463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EACOE(Enterprise Architecture Centre of Excellence)</a:t>
            </a:r>
            <a:endParaRPr lang="en-US" sz="1400" kern="0" spc="-80" dirty="0">
              <a:solidFill>
                <a:schemeClr val="accent6"/>
              </a:solidFill>
            </a:endParaRPr>
          </a:p>
          <a:p>
            <a:pPr marL="12700" marR="5080"/>
            <a:endParaRPr lang="en-US" sz="1400" kern="0" spc="-80" dirty="0">
              <a:solidFill>
                <a:schemeClr val="accent6"/>
              </a:solidFill>
            </a:endParaRPr>
          </a:p>
          <a:p>
            <a:pPr marL="12700" marR="5080"/>
            <a:r>
              <a:rPr lang="en-US" sz="1400" kern="0" spc="-80" dirty="0">
                <a:solidFill>
                  <a:srgbClr val="00B0F0"/>
                </a:solidFill>
              </a:rPr>
              <a:t>TODO</a:t>
            </a:r>
          </a:p>
        </p:txBody>
      </p:sp>
    </p:spTree>
    <p:extLst>
      <p:ext uri="{BB962C8B-B14F-4D97-AF65-F5344CB8AC3E}">
        <p14:creationId xmlns:p14="http://schemas.microsoft.com/office/powerpoint/2010/main" val="4243771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34C3E-3C7D-8891-E508-8888FE3CDD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59E37F-EFBD-64EC-0355-AD65A8E1C839}"/>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82794C-F2BC-7623-F46B-0A5D7A6EFD34}"/>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99E9BE-638C-0C7E-C293-24C903C7434F}"/>
              </a:ext>
            </a:extLst>
          </p:cNvPr>
          <p:cNvGraphicFramePr/>
          <p:nvPr>
            <p:extLst>
              <p:ext uri="{D42A27DB-BD31-4B8C-83A1-F6EECF244321}">
                <p14:modId xmlns:p14="http://schemas.microsoft.com/office/powerpoint/2010/main" val="3408768351"/>
              </p:ext>
            </p:extLst>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E1641EC-9BC1-924F-1691-4720CF22AD07}"/>
              </a:ext>
            </a:extLst>
          </p:cNvPr>
          <p:cNvSpPr txBox="1">
            <a:spLocks/>
          </p:cNvSpPr>
          <p:nvPr/>
        </p:nvSpPr>
        <p:spPr>
          <a:xfrm>
            <a:off x="282645" y="694301"/>
            <a:ext cx="8624937" cy="54245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  </a:t>
            </a:r>
          </a:p>
          <a:p>
            <a:pPr marL="12700" marR="5080"/>
            <a:r>
              <a:rPr lang="en-US" sz="1700" dirty="0">
                <a:hlinkClick r:id="rId8"/>
              </a:rPr>
              <a:t>Day One as an Enterprise Architect | LinkedIn</a:t>
            </a:r>
            <a:endParaRPr lang="en-US" sz="1700" dirty="0"/>
          </a:p>
          <a:p>
            <a:pPr marL="12700" marR="5080"/>
            <a:r>
              <a:rPr lang="en-IN" sz="1800" dirty="0">
                <a:hlinkClick r:id="rId9"/>
              </a:rPr>
              <a:t>Enterprise Architecture Certifications And Solutions | EACOE</a:t>
            </a:r>
            <a:endParaRPr lang="en-US" sz="1700" kern="0" spc="-80" dirty="0">
              <a:solidFill>
                <a:schemeClr val="accent2"/>
              </a:solidFill>
            </a:endParaRPr>
          </a:p>
          <a:p>
            <a:pPr marL="12700" marR="5080"/>
            <a:r>
              <a:rPr lang="en-US" sz="1700" dirty="0">
                <a:hlinkClick r:id="rId10"/>
              </a:rPr>
              <a:t>Standard 10.0 - Level 1 Enterprise Architect Course | Udemy</a:t>
            </a:r>
            <a:r>
              <a:rPr lang="en-US" sz="1700" dirty="0"/>
              <a:t> </a:t>
            </a:r>
          </a:p>
          <a:p>
            <a:pPr marL="12700" marR="5080"/>
            <a:r>
              <a:rPr lang="en-US" sz="1700" dirty="0">
                <a:hlinkClick r:id="rId11"/>
              </a:rPr>
              <a:t>Standard 9.2 - Part 2 Certified Enterprise Architect Course | Udemy</a:t>
            </a:r>
            <a:endParaRPr lang="en-US" sz="1700" dirty="0"/>
          </a:p>
          <a:p>
            <a:pPr marL="12700" marR="5080"/>
            <a:r>
              <a:rPr lang="en-US" sz="1700" dirty="0">
                <a:hlinkClick r:id="rId12"/>
              </a:rPr>
              <a:t>Enterprise Architecture Practitioner with TOGAF 10 Standard | Udemy</a:t>
            </a:r>
            <a:r>
              <a:rPr lang="en-US" sz="1700" dirty="0"/>
              <a:t> </a:t>
            </a:r>
          </a:p>
          <a:p>
            <a:pPr marL="12700" marR="5080"/>
            <a:r>
              <a:rPr lang="en-IN" sz="1700" dirty="0">
                <a:hlinkClick r:id="rId13"/>
              </a:rPr>
              <a:t>Practical Solution Architecture | Udemy</a:t>
            </a:r>
            <a:endParaRPr lang="en-IN" sz="1700" dirty="0"/>
          </a:p>
          <a:p>
            <a:pPr marL="12700" marR="5080"/>
            <a:r>
              <a:rPr lang="en-US" sz="1700" dirty="0">
                <a:hlinkClick r:id="rId14"/>
              </a:rPr>
              <a:t>The Practice of Enterprise Architecture (Part III) | Udemy</a:t>
            </a:r>
            <a:endParaRPr lang="en-US" sz="1700" dirty="0"/>
          </a:p>
          <a:p>
            <a:r>
              <a:rPr lang="en-US" sz="1700" dirty="0">
                <a:hlinkClick r:id="rId15"/>
              </a:rPr>
              <a:t>Enterprise Architecture by Example | Udemy</a:t>
            </a:r>
            <a:endParaRPr lang="en-US" sz="1700" dirty="0"/>
          </a:p>
          <a:p>
            <a:r>
              <a:rPr lang="en-US" sz="1700" dirty="0">
                <a:hlinkClick r:id="rId16"/>
              </a:rPr>
              <a:t>Enterprise Architecture Governance | The Definitive Guide | </a:t>
            </a:r>
            <a:r>
              <a:rPr lang="en-US" sz="1700" dirty="0" err="1">
                <a:hlinkClick r:id="rId16"/>
              </a:rPr>
              <a:t>LeanIX</a:t>
            </a:r>
            <a:endParaRPr lang="en-US" sz="1700" dirty="0"/>
          </a:p>
          <a:p>
            <a:r>
              <a:rPr lang="en-IN" sz="1700" dirty="0">
                <a:hlinkClick r:id="rId17"/>
              </a:rPr>
              <a:t>Enterprise Design Patterns Book — Enterprise Design Patterns</a:t>
            </a:r>
            <a:endParaRPr lang="en-IN" sz="1700" dirty="0"/>
          </a:p>
          <a:p>
            <a:r>
              <a:rPr lang="en-US" sz="1700" dirty="0">
                <a:hlinkClick r:id="rId18"/>
              </a:rPr>
              <a:t>Enterprise Architecture at Work</a:t>
            </a:r>
            <a:endParaRPr lang="en-US" sz="1700" dirty="0"/>
          </a:p>
          <a:p>
            <a:r>
              <a:rPr lang="en-IN" sz="1700" dirty="0">
                <a:hlinkClick r:id="rId19"/>
              </a:rPr>
              <a:t>TOGAF Skill Guide. When I started my TOGAF Learning…</a:t>
            </a:r>
            <a:endParaRPr lang="en-IN" sz="1700" dirty="0"/>
          </a:p>
          <a:p>
            <a:r>
              <a:rPr lang="en-US" sz="1700" dirty="0" err="1">
                <a:hlinkClick r:id="rId20"/>
              </a:rPr>
              <a:t>CloudGAF</a:t>
            </a:r>
            <a:r>
              <a:rPr lang="en-US" sz="1700" dirty="0">
                <a:hlinkClick r:id="rId20"/>
              </a:rPr>
              <a:t> - A Tailored TOGAF Framework for Cloud Adoption</a:t>
            </a:r>
            <a:endParaRPr lang="en-US" sz="1700" dirty="0"/>
          </a:p>
          <a:p>
            <a:r>
              <a:rPr lang="en-US" sz="1700" dirty="0">
                <a:hlinkClick r:id="rId21"/>
              </a:rPr>
              <a:t>Complex Enterprise Architecture: A New Adaptive Systems Approach</a:t>
            </a:r>
            <a:endParaRPr lang="en-US" sz="1700" dirty="0"/>
          </a:p>
          <a:p>
            <a:r>
              <a:rPr lang="en-IN" sz="1700" dirty="0" err="1">
                <a:hlinkClick r:id="rId22"/>
              </a:rPr>
              <a:t>EAWheel</a:t>
            </a:r>
            <a:endParaRPr lang="en-IN" sz="1700" dirty="0"/>
          </a:p>
          <a:p>
            <a:r>
              <a:rPr lang="en-US" sz="1700" dirty="0">
                <a:hlinkClick r:id="rId23"/>
              </a:rPr>
              <a:t>Fundamentals of Enterprise Architecture[Book]</a:t>
            </a:r>
            <a:endParaRPr lang="en-US" sz="1700" dirty="0"/>
          </a:p>
          <a:p>
            <a:r>
              <a:rPr lang="en-IN" sz="1700" dirty="0">
                <a:hlinkClick r:id="rId24"/>
              </a:rPr>
              <a:t>Free Enterprise Architecture Resources – </a:t>
            </a:r>
            <a:r>
              <a:rPr lang="en-IN" sz="1700" dirty="0" err="1">
                <a:hlinkClick r:id="rId24"/>
              </a:rPr>
              <a:t>Conexiam</a:t>
            </a:r>
            <a:r>
              <a:rPr lang="en-IN" sz="1700" dirty="0"/>
              <a:t> </a:t>
            </a:r>
          </a:p>
          <a:p>
            <a:r>
              <a:rPr lang="en-US" sz="1700" dirty="0">
                <a:hlinkClick r:id="rId25"/>
              </a:rPr>
              <a:t>Realize Enterprise Architecture with AWS and </a:t>
            </a:r>
            <a:r>
              <a:rPr lang="en-US" sz="1700" dirty="0" err="1">
                <a:hlinkClick r:id="rId25"/>
              </a:rPr>
              <a:t>SAFe</a:t>
            </a:r>
            <a:endParaRPr lang="en-US" sz="1700" dirty="0"/>
          </a:p>
          <a:p>
            <a:r>
              <a:rPr lang="en-IN" sz="1700" dirty="0">
                <a:hlinkClick r:id="rId26"/>
              </a:rPr>
              <a:t>Technology Strategy Patterns[Book]</a:t>
            </a:r>
            <a:endParaRPr lang="en-IN" sz="1700" dirty="0"/>
          </a:p>
          <a:p>
            <a:pPr marL="12700" marR="5080"/>
            <a:endParaRPr lang="en-US" sz="1150" kern="0" spc="-80" dirty="0">
              <a:solidFill>
                <a:schemeClr val="accent6"/>
              </a:solidFill>
            </a:endParaRPr>
          </a:p>
        </p:txBody>
      </p:sp>
    </p:spTree>
    <p:extLst>
      <p:ext uri="{BB962C8B-B14F-4D97-AF65-F5344CB8AC3E}">
        <p14:creationId xmlns:p14="http://schemas.microsoft.com/office/powerpoint/2010/main" val="25138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87D2BB94-61CD-4B89-6E92-2F393F8507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199" y="838200"/>
            <a:ext cx="8396337" cy="41148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2BE392FD-A773-2249-0C48-A53E7BD034F6}"/>
              </a:ext>
            </a:extLst>
          </p:cNvPr>
          <p:cNvSpPr txBox="1">
            <a:spLocks/>
          </p:cNvSpPr>
          <p:nvPr/>
        </p:nvSpPr>
        <p:spPr>
          <a:xfrm>
            <a:off x="259531" y="5067161"/>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1500" dirty="0">
                <a:hlinkClick r:id="rId8"/>
              </a:rPr>
              <a:t>Is ASP.NET MVC a framework, architecture, or a design pattern? </a:t>
            </a:r>
            <a:r>
              <a:rPr lang="en-US" sz="1500" dirty="0">
                <a:hlinkClick r:id="rId9"/>
              </a:rPr>
              <a:t>–</a:t>
            </a:r>
            <a:r>
              <a:rPr lang="en-US" sz="1500" dirty="0">
                <a:hlinkClick r:id="rId8"/>
              </a:rPr>
              <a:t> Quora</a:t>
            </a:r>
            <a:endParaRPr lang="en-US" sz="1500" dirty="0"/>
          </a:p>
          <a:p>
            <a:pPr marL="12700" marR="5080"/>
            <a:r>
              <a:rPr lang="en-IN" sz="1500" dirty="0">
                <a:hlinkClick r:id="rId9"/>
              </a:rPr>
              <a:t>Are Architectural Styles, Patterns &amp; Design Patterns Different | LinkedIn</a:t>
            </a:r>
            <a:endParaRPr lang="en-US" sz="1500" kern="0" spc="-80" dirty="0">
              <a:solidFill>
                <a:schemeClr val="accent6"/>
              </a:solidFill>
            </a:endParaRPr>
          </a:p>
        </p:txBody>
      </p:sp>
    </p:spTree>
    <p:extLst>
      <p:ext uri="{BB962C8B-B14F-4D97-AF65-F5344CB8AC3E}">
        <p14:creationId xmlns:p14="http://schemas.microsoft.com/office/powerpoint/2010/main" val="610263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(Modular/Distributed) Monolith Architecture – </a:t>
            </a:r>
          </a:p>
        </p:txBody>
      </p:sp>
      <p:pic>
        <p:nvPicPr>
          <p:cNvPr id="8194" name="Picture 2" descr="Monolith Architecture | by Chien Hoang | Chien's tech blogs">
            <a:extLst>
              <a:ext uri="{FF2B5EF4-FFF2-40B4-BE49-F238E27FC236}">
                <a16:creationId xmlns:a16="http://schemas.microsoft.com/office/drawing/2014/main" id="{6B1FB9AA-30EE-545A-37DA-B22B28EAAF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27113"/>
            <a:ext cx="9144000" cy="4245473"/>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47D59599-FF81-59EA-AC89-252258F49DA2}"/>
              </a:ext>
            </a:extLst>
          </p:cNvPr>
          <p:cNvSpPr txBox="1">
            <a:spLocks/>
          </p:cNvSpPr>
          <p:nvPr/>
        </p:nvSpPr>
        <p:spPr>
          <a:xfrm>
            <a:off x="137369" y="52578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Modular Monolith - Awesome Software Architecture </a:t>
            </a:r>
            <a:r>
              <a:rPr lang="en-US" sz="1600" kern="0" spc="-80" dirty="0">
                <a:solidFill>
                  <a:schemeClr val="accent2"/>
                </a:solidFill>
                <a:hlinkClick r:id="rId8"/>
              </a:rPr>
              <a:t>/</a:t>
            </a:r>
            <a:r>
              <a:rPr lang="en-US" sz="1600" kern="0" spc="-80" dirty="0">
                <a:solidFill>
                  <a:schemeClr val="accent2"/>
                </a:solidFill>
              </a:rPr>
              <a:t> </a:t>
            </a:r>
          </a:p>
        </p:txBody>
      </p:sp>
    </p:spTree>
    <p:extLst>
      <p:ext uri="{BB962C8B-B14F-4D97-AF65-F5344CB8AC3E}">
        <p14:creationId xmlns:p14="http://schemas.microsoft.com/office/powerpoint/2010/main" val="633119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p:txBody>
      </p:sp>
      <p:pic>
        <p:nvPicPr>
          <p:cNvPr id="10244" name="Picture 4" descr="Microservices architecture on Google Cloud | Google Cloud Blog">
            <a:extLst>
              <a:ext uri="{FF2B5EF4-FFF2-40B4-BE49-F238E27FC236}">
                <a16:creationId xmlns:a16="http://schemas.microsoft.com/office/drawing/2014/main" id="{69CA7AFF-EC15-E698-A044-1EE7F62EEB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79082"/>
            <a:ext cx="9144000" cy="471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866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E1C0-8CEF-6C59-C9F8-A2BA0585812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116C060-BAA4-A1C4-EB2F-873A54A601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2DAE36-24BA-F0BE-7209-6F5C8D7B60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A6ABF3E-8AE3-A5CB-535C-41E24830B64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5133D7-C455-3F7F-175F-BFE0947D5CB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3216752-B850-697F-95EC-38E2DB48C9F3}"/>
              </a:ext>
            </a:extLst>
          </p:cNvPr>
          <p:cNvSpPr txBox="1">
            <a:spLocks/>
          </p:cNvSpPr>
          <p:nvPr/>
        </p:nvSpPr>
        <p:spPr>
          <a:xfrm>
            <a:off x="137369" y="67101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a:p>
            <a:pPr marL="12700" marR="5080"/>
            <a:r>
              <a:rPr lang="en-US" sz="2400" kern="0" spc="-80" dirty="0">
                <a:solidFill>
                  <a:schemeClr val="accent2"/>
                </a:solidFill>
              </a:rPr>
              <a:t>Reference Architecture - </a:t>
            </a:r>
          </a:p>
        </p:txBody>
      </p:sp>
      <p:pic>
        <p:nvPicPr>
          <p:cNvPr id="8" name="Picture 7">
            <a:extLst>
              <a:ext uri="{FF2B5EF4-FFF2-40B4-BE49-F238E27FC236}">
                <a16:creationId xmlns:a16="http://schemas.microsoft.com/office/drawing/2014/main" id="{1CDC749F-FEAF-8BCA-2BEC-980345239A0C}"/>
              </a:ext>
            </a:extLst>
          </p:cNvPr>
          <p:cNvPicPr>
            <a:picLocks noChangeAspect="1"/>
          </p:cNvPicPr>
          <p:nvPr/>
        </p:nvPicPr>
        <p:blipFill>
          <a:blip r:embed="rId7"/>
          <a:stretch>
            <a:fillRect/>
          </a:stretch>
        </p:blipFill>
        <p:spPr>
          <a:xfrm>
            <a:off x="0" y="1448413"/>
            <a:ext cx="9144000" cy="4495187"/>
          </a:xfrm>
          <a:prstGeom prst="rect">
            <a:avLst/>
          </a:prstGeom>
        </p:spPr>
      </p:pic>
    </p:spTree>
    <p:extLst>
      <p:ext uri="{BB962C8B-B14F-4D97-AF65-F5344CB8AC3E}">
        <p14:creationId xmlns:p14="http://schemas.microsoft.com/office/powerpoint/2010/main" val="556119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099A7-413A-9CF3-1D34-72656DA541D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BE636C-361A-036F-CA99-58B19D25B6F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49619CD-0B12-3497-9193-CA37D94DFDA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362C3D6-9DE5-53C5-F444-C5BCBD30BE4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CDCBF72-4976-C065-78F6-E3848516BA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F280CF0-4166-4A49-E2F3-D5DDE7E0DC53}"/>
              </a:ext>
            </a:extLst>
          </p:cNvPr>
          <p:cNvSpPr txBox="1">
            <a:spLocks/>
          </p:cNvSpPr>
          <p:nvPr/>
        </p:nvSpPr>
        <p:spPr>
          <a:xfrm>
            <a:off x="137369" y="67101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a:p>
            <a:pPr marL="12700" marR="5080"/>
            <a:r>
              <a:rPr lang="en-US" sz="2400" kern="0" spc="-80" dirty="0">
                <a:solidFill>
                  <a:schemeClr val="accent2"/>
                </a:solidFill>
              </a:rPr>
              <a:t>(Typical Java Based) Technology Architecture - </a:t>
            </a:r>
          </a:p>
        </p:txBody>
      </p:sp>
      <p:pic>
        <p:nvPicPr>
          <p:cNvPr id="8" name="Picture 7">
            <a:extLst>
              <a:ext uri="{FF2B5EF4-FFF2-40B4-BE49-F238E27FC236}">
                <a16:creationId xmlns:a16="http://schemas.microsoft.com/office/drawing/2014/main" id="{D68724A5-C64E-6019-9D62-0535852F0473}"/>
              </a:ext>
            </a:extLst>
          </p:cNvPr>
          <p:cNvPicPr>
            <a:picLocks noChangeAspect="1"/>
          </p:cNvPicPr>
          <p:nvPr/>
        </p:nvPicPr>
        <p:blipFill>
          <a:blip r:embed="rId8"/>
          <a:stretch>
            <a:fillRect/>
          </a:stretch>
        </p:blipFill>
        <p:spPr>
          <a:xfrm>
            <a:off x="-30932" y="1365130"/>
            <a:ext cx="9144000" cy="2431435"/>
          </a:xfrm>
          <a:prstGeom prst="rect">
            <a:avLst/>
          </a:prstGeom>
        </p:spPr>
      </p:pic>
      <p:sp>
        <p:nvSpPr>
          <p:cNvPr id="7" name="object 2">
            <a:extLst>
              <a:ext uri="{FF2B5EF4-FFF2-40B4-BE49-F238E27FC236}">
                <a16:creationId xmlns:a16="http://schemas.microsoft.com/office/drawing/2014/main" id="{6A11736F-DC2D-C8FF-5368-064AD76144FF}"/>
              </a:ext>
            </a:extLst>
          </p:cNvPr>
          <p:cNvSpPr txBox="1">
            <a:spLocks/>
          </p:cNvSpPr>
          <p:nvPr/>
        </p:nvSpPr>
        <p:spPr>
          <a:xfrm>
            <a:off x="38100" y="3856583"/>
            <a:ext cx="8624937" cy="20774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IN" sz="1500" dirty="0">
                <a:hlinkClick r:id="rId9"/>
              </a:rPr>
              <a:t>Java Notes · GitHub</a:t>
            </a:r>
            <a:endParaRPr lang="en-US" sz="1500" kern="0" spc="-80" dirty="0">
              <a:solidFill>
                <a:schemeClr val="accent2"/>
              </a:solidFill>
            </a:endParaRPr>
          </a:p>
          <a:p>
            <a:pPr marL="12700" marR="5080"/>
            <a:r>
              <a:rPr lang="en-IN" sz="1500" dirty="0">
                <a:hlinkClick r:id="rId10"/>
              </a:rPr>
              <a:t>Perfect-Roadmap-To-Learn-Java-SpringBoot-In-2024</a:t>
            </a:r>
            <a:endParaRPr lang="en-IN" sz="1500" dirty="0"/>
          </a:p>
          <a:p>
            <a:pPr marL="12700" marR="5080"/>
            <a:r>
              <a:rPr lang="en-US" sz="1500" dirty="0">
                <a:hlinkClick r:id="rId11"/>
              </a:rPr>
              <a:t>Microservices-with-Spring-Boot-and-Spring-Cloud</a:t>
            </a:r>
            <a:endParaRPr lang="en-US" sz="1500" dirty="0"/>
          </a:p>
          <a:p>
            <a:pPr marL="12700" marR="5080"/>
            <a:r>
              <a:rPr lang="en-US" sz="1500" dirty="0">
                <a:hlinkClick r:id="rId12"/>
              </a:rPr>
              <a:t>Practical-Microservices-Architectural-Patterns</a:t>
            </a:r>
          </a:p>
          <a:p>
            <a:pPr marL="12700" marR="5080"/>
            <a:r>
              <a:rPr lang="en-US" sz="1500" dirty="0">
                <a:hlinkClick r:id="rId12"/>
              </a:rPr>
              <a:t>Patterns' by </a:t>
            </a:r>
            <a:r>
              <a:rPr lang="en-US" sz="1500" dirty="0" err="1">
                <a:hlinkClick r:id="rId12"/>
              </a:rPr>
              <a:t>Binildas</a:t>
            </a:r>
            <a:r>
              <a:rPr lang="en-US" sz="1500" dirty="0">
                <a:hlinkClick r:id="rId12"/>
              </a:rPr>
              <a:t> </a:t>
            </a:r>
            <a:r>
              <a:rPr lang="en-US" sz="1500" dirty="0" err="1">
                <a:hlinkClick r:id="rId12"/>
              </a:rPr>
              <a:t>Christudas</a:t>
            </a:r>
            <a:endParaRPr lang="en-US" sz="1500" dirty="0"/>
          </a:p>
          <a:p>
            <a:pPr marL="12700" marR="5080"/>
            <a:r>
              <a:rPr lang="en-IN" sz="1500" dirty="0">
                <a:hlinkClick r:id="rId13"/>
              </a:rPr>
              <a:t>Architecture · </a:t>
            </a:r>
            <a:r>
              <a:rPr lang="en-IN" sz="1500" dirty="0" err="1">
                <a:hlinkClick r:id="rId13"/>
              </a:rPr>
              <a:t>OpenZipkin</a:t>
            </a:r>
            <a:endParaRPr lang="en-IN" sz="1500" dirty="0"/>
          </a:p>
          <a:p>
            <a:pPr marL="12700" marR="5080"/>
            <a:r>
              <a:rPr lang="en-US" sz="1500" dirty="0">
                <a:hlinkClick r:id="rId14"/>
              </a:rPr>
              <a:t>Service Discovery with Zookeeper</a:t>
            </a:r>
            <a:endParaRPr lang="en-US" sz="1500" dirty="0"/>
          </a:p>
          <a:p>
            <a:pPr marL="12700" marR="5080"/>
            <a:r>
              <a:rPr lang="en-US" sz="1500" dirty="0">
                <a:hlinkClick r:id="rId15"/>
              </a:rPr>
              <a:t>Service discovery in .NET - .NET | Microsoft Learn</a:t>
            </a:r>
            <a:endParaRPr lang="en-US" sz="1500" kern="0" spc="-80" dirty="0">
              <a:solidFill>
                <a:schemeClr val="accent2"/>
              </a:solidFill>
            </a:endParaRPr>
          </a:p>
        </p:txBody>
      </p:sp>
    </p:spTree>
    <p:extLst>
      <p:ext uri="{BB962C8B-B14F-4D97-AF65-F5344CB8AC3E}">
        <p14:creationId xmlns:p14="http://schemas.microsoft.com/office/powerpoint/2010/main" val="1992267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71014"/>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EDA(Event Driven Architecture) using Messaging –</a:t>
            </a:r>
          </a:p>
        </p:txBody>
      </p:sp>
      <p:pic>
        <p:nvPicPr>
          <p:cNvPr id="21506" name="Picture 2" descr="Communicating Between Microservices - DZone">
            <a:extLst>
              <a:ext uri="{FF2B5EF4-FFF2-40B4-BE49-F238E27FC236}">
                <a16:creationId xmlns:a16="http://schemas.microsoft.com/office/drawing/2014/main" id="{FDD4DEBC-C35D-66A5-5309-B7A80CD0F6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34" y="1025560"/>
            <a:ext cx="8624937" cy="2915260"/>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1B330A2D-BF5F-8CF4-B650-24603B0B4A3E}"/>
              </a:ext>
            </a:extLst>
          </p:cNvPr>
          <p:cNvSpPr txBox="1">
            <a:spLocks/>
          </p:cNvSpPr>
          <p:nvPr/>
        </p:nvSpPr>
        <p:spPr>
          <a:xfrm>
            <a:off x="131717" y="4187041"/>
            <a:ext cx="8624937" cy="17927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endParaRPr lang="en-US" sz="2400" kern="0" spc="-80" dirty="0">
              <a:solidFill>
                <a:schemeClr val="accent2"/>
              </a:solidFill>
            </a:endParaRPr>
          </a:p>
          <a:p>
            <a:pPr marL="12700" marR="5080"/>
            <a:r>
              <a:rPr lang="en-US" sz="1250" dirty="0">
                <a:hlinkClick r:id="rId8"/>
              </a:rPr>
              <a:t>Message Broker vs. Event Broker: When to Use Each One Of Them | </a:t>
            </a:r>
            <a:r>
              <a:rPr lang="en-US" sz="1250" dirty="0" err="1">
                <a:hlinkClick r:id="rId8"/>
              </a:rPr>
              <a:t>Riskified</a:t>
            </a:r>
            <a:r>
              <a:rPr lang="en-US" sz="1250" dirty="0">
                <a:hlinkClick r:id="rId8"/>
              </a:rPr>
              <a:t> Tech</a:t>
            </a:r>
            <a:r>
              <a:rPr lang="en-US" sz="1250" kern="0" spc="-80" dirty="0">
                <a:solidFill>
                  <a:schemeClr val="accent2"/>
                </a:solidFill>
              </a:rPr>
              <a:t>  </a:t>
            </a:r>
          </a:p>
          <a:p>
            <a:pPr marL="12700" marR="5080"/>
            <a:r>
              <a:rPr lang="en-IN" sz="1250" dirty="0" err="1">
                <a:hlinkClick r:id="rId9"/>
              </a:rPr>
              <a:t>Bytebytego</a:t>
            </a:r>
            <a:r>
              <a:rPr lang="en-IN" sz="1250" dirty="0">
                <a:hlinkClick r:id="rId9"/>
              </a:rPr>
              <a:t> on X: "IBM MQ -&gt; RabbitMQ -&gt; Kafka -&gt;Pulsar, </a:t>
            </a:r>
            <a:endParaRPr lang="en-IN" sz="1250" dirty="0"/>
          </a:p>
          <a:p>
            <a:pPr marL="12700" marR="5080"/>
            <a:r>
              <a:rPr lang="en-US" sz="1250" dirty="0">
                <a:hlinkClick r:id="rId10"/>
              </a:rPr>
              <a:t>Azure Service Bus messaging - queues, topics, and subscriptions - Azure Service Bus | Microsoft Learn</a:t>
            </a:r>
            <a:r>
              <a:rPr lang="en-US" sz="1250" kern="0" spc="-80" dirty="0">
                <a:solidFill>
                  <a:schemeClr val="accent2"/>
                </a:solidFill>
              </a:rPr>
              <a:t> </a:t>
            </a:r>
          </a:p>
          <a:p>
            <a:pPr marL="12700" marR="5080"/>
            <a:r>
              <a:rPr lang="en-US" sz="1250" dirty="0">
                <a:hlinkClick r:id="rId11"/>
              </a:rPr>
              <a:t>Best practices for improving performance using Azure Service Bus - Azure Service Bus | Microsoft Learn</a:t>
            </a:r>
            <a:endParaRPr lang="en-US" sz="1250" dirty="0"/>
          </a:p>
          <a:p>
            <a:pPr marL="12700" marR="5080"/>
            <a:r>
              <a:rPr lang="en-US" sz="1250" dirty="0">
                <a:hlinkClick r:id="rId12"/>
              </a:rPr>
              <a:t>Service Bus asynchronous messaging - Azure Service Bus | Microsoft Learn</a:t>
            </a:r>
            <a:endParaRPr lang="en-US" sz="1250" dirty="0"/>
          </a:p>
          <a:p>
            <a:pPr marL="12700" marR="5080"/>
            <a:r>
              <a:rPr lang="en-US" sz="1250" dirty="0">
                <a:hlinkClick r:id="rId13"/>
              </a:rPr>
              <a:t>AMQP 1.0 in Azure Service Bus and Event Hubs - Azure Service Bus | Microsoft Learn</a:t>
            </a:r>
            <a:endParaRPr lang="en-US" sz="1250" dirty="0"/>
          </a:p>
          <a:p>
            <a:pPr marL="12700" marR="5080"/>
            <a:r>
              <a:rPr lang="en-US" sz="1250" dirty="0">
                <a:hlinkClick r:id="rId14"/>
              </a:rPr>
              <a:t>AMQP 0-9-1 Model Explained | RabbitMQ</a:t>
            </a:r>
            <a:endParaRPr lang="en-US" sz="1250" dirty="0"/>
          </a:p>
          <a:p>
            <a:pPr marL="12700" marR="5080"/>
            <a:r>
              <a:rPr lang="en-IN" sz="1400" dirty="0">
                <a:hlinkClick r:id="rId15"/>
              </a:rPr>
              <a:t>Some EDA Notes</a:t>
            </a:r>
            <a:endParaRPr lang="en-US" sz="1250" dirty="0"/>
          </a:p>
        </p:txBody>
      </p:sp>
      <p:sp>
        <p:nvSpPr>
          <p:cNvPr id="8" name="object 2">
            <a:extLst>
              <a:ext uri="{FF2B5EF4-FFF2-40B4-BE49-F238E27FC236}">
                <a16:creationId xmlns:a16="http://schemas.microsoft.com/office/drawing/2014/main" id="{6D6A65F8-6FA1-933B-CE1D-1309F823DCB2}"/>
              </a:ext>
            </a:extLst>
          </p:cNvPr>
          <p:cNvSpPr txBox="1">
            <a:spLocks/>
          </p:cNvSpPr>
          <p:nvPr/>
        </p:nvSpPr>
        <p:spPr>
          <a:xfrm>
            <a:off x="131717" y="3940820"/>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Erratum – Polish/Subscribe above is a typo mistake. Should be Publish/Subscribe.</a:t>
            </a:r>
          </a:p>
        </p:txBody>
      </p:sp>
    </p:spTree>
    <p:extLst>
      <p:ext uri="{BB962C8B-B14F-4D97-AF65-F5344CB8AC3E}">
        <p14:creationId xmlns:p14="http://schemas.microsoft.com/office/powerpoint/2010/main" val="1279231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71014"/>
            <a:ext cx="89915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EDA(Event Driven Architecture) using </a:t>
            </a:r>
            <a:r>
              <a:rPr lang="en-US" sz="2400" kern="0" spc="-80" dirty="0" err="1">
                <a:solidFill>
                  <a:schemeClr val="accent2"/>
                </a:solidFill>
              </a:rPr>
              <a:t>WebHooks</a:t>
            </a:r>
            <a:r>
              <a:rPr lang="en-US" sz="2400" kern="0" spc="-80" dirty="0">
                <a:solidFill>
                  <a:schemeClr val="accent2"/>
                </a:solidFill>
              </a:rPr>
              <a:t> &amp; </a:t>
            </a:r>
            <a:r>
              <a:rPr lang="en-US" sz="2400" kern="0" spc="-80" dirty="0" err="1">
                <a:solidFill>
                  <a:schemeClr val="accent2"/>
                </a:solidFill>
              </a:rPr>
              <a:t>WebSub</a:t>
            </a:r>
            <a:r>
              <a:rPr lang="en-US" sz="2400" kern="0" spc="-80" dirty="0">
                <a:solidFill>
                  <a:schemeClr val="accent2"/>
                </a:solidFill>
              </a:rPr>
              <a:t> –</a:t>
            </a:r>
          </a:p>
        </p:txBody>
      </p:sp>
      <p:sp>
        <p:nvSpPr>
          <p:cNvPr id="7" name="object 2">
            <a:extLst>
              <a:ext uri="{FF2B5EF4-FFF2-40B4-BE49-F238E27FC236}">
                <a16:creationId xmlns:a16="http://schemas.microsoft.com/office/drawing/2014/main" id="{1B330A2D-BF5F-8CF4-B650-24603B0B4A3E}"/>
              </a:ext>
            </a:extLst>
          </p:cNvPr>
          <p:cNvSpPr txBox="1">
            <a:spLocks/>
          </p:cNvSpPr>
          <p:nvPr/>
        </p:nvSpPr>
        <p:spPr>
          <a:xfrm>
            <a:off x="259531" y="4892408"/>
            <a:ext cx="8624937" cy="10772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Event-Driven APIs With Webhook and </a:t>
            </a:r>
            <a:r>
              <a:rPr lang="en-IN" sz="1500" dirty="0" err="1">
                <a:hlinkClick r:id="rId7"/>
              </a:rPr>
              <a:t>WebSub</a:t>
            </a:r>
            <a:endParaRPr lang="en-IN" sz="1500" dirty="0"/>
          </a:p>
          <a:p>
            <a:pPr marL="12700" marR="5080"/>
            <a:r>
              <a:rPr lang="en-US" sz="1500" dirty="0">
                <a:hlinkClick r:id="rId8"/>
              </a:rPr>
              <a:t>ASP.NET </a:t>
            </a:r>
            <a:r>
              <a:rPr lang="en-US" sz="1500" dirty="0" err="1">
                <a:hlinkClick r:id="rId8"/>
              </a:rPr>
              <a:t>WebHooks</a:t>
            </a:r>
            <a:r>
              <a:rPr lang="en-US" sz="1500" dirty="0">
                <a:hlinkClick r:id="rId8"/>
              </a:rPr>
              <a:t> Succinctly</a:t>
            </a:r>
            <a:endParaRPr lang="en-US" sz="1500" dirty="0"/>
          </a:p>
          <a:p>
            <a:pPr marL="12700" marR="5080"/>
            <a:r>
              <a:rPr lang="en-US" sz="1600" dirty="0">
                <a:hlinkClick r:id="rId9"/>
              </a:rPr>
              <a:t>Some </a:t>
            </a:r>
            <a:r>
              <a:rPr lang="en-US" sz="1600" dirty="0" err="1">
                <a:hlinkClick r:id="rId9"/>
              </a:rPr>
              <a:t>WebHook</a:t>
            </a:r>
            <a:r>
              <a:rPr lang="en-US" sz="1600" dirty="0">
                <a:hlinkClick r:id="rId9"/>
              </a:rPr>
              <a:t> and </a:t>
            </a:r>
            <a:r>
              <a:rPr lang="en-US" sz="1600" dirty="0" err="1">
                <a:hlinkClick r:id="rId9"/>
              </a:rPr>
              <a:t>WebSub</a:t>
            </a:r>
            <a:r>
              <a:rPr lang="en-US" sz="1600" dirty="0">
                <a:hlinkClick r:id="rId9"/>
              </a:rPr>
              <a:t> Notes</a:t>
            </a:r>
            <a:endParaRPr lang="en-US" sz="1500" kern="0" spc="-80" dirty="0">
              <a:solidFill>
                <a:schemeClr val="accent2"/>
              </a:solidFill>
            </a:endParaRPr>
          </a:p>
        </p:txBody>
      </p:sp>
      <p:pic>
        <p:nvPicPr>
          <p:cNvPr id="1026" name="Picture 2">
            <a:extLst>
              <a:ext uri="{FF2B5EF4-FFF2-40B4-BE49-F238E27FC236}">
                <a16:creationId xmlns:a16="http://schemas.microsoft.com/office/drawing/2014/main" id="{50DDEE9E-B61C-F56B-B655-82D758CB76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066799"/>
            <a:ext cx="9144000" cy="3145305"/>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F34E919-7E20-37B4-34B6-53F676978B40}"/>
              </a:ext>
            </a:extLst>
          </p:cNvPr>
          <p:cNvSpPr txBox="1">
            <a:spLocks/>
          </p:cNvSpPr>
          <p:nvPr/>
        </p:nvSpPr>
        <p:spPr>
          <a:xfrm>
            <a:off x="259531" y="42121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lumMod val="75000"/>
                  </a:schemeClr>
                </a:solidFill>
              </a:rPr>
              <a:t>Seems, most legacy/old MQ or Service bus based approaches can be replaced by </a:t>
            </a:r>
            <a:r>
              <a:rPr lang="en-US" sz="1600" kern="0" spc="-80" dirty="0" err="1">
                <a:solidFill>
                  <a:schemeClr val="accent6">
                    <a:lumMod val="75000"/>
                  </a:schemeClr>
                </a:solidFill>
              </a:rPr>
              <a:t>WebHooks</a:t>
            </a:r>
            <a:r>
              <a:rPr lang="en-US" sz="1600" kern="0" spc="-80" dirty="0">
                <a:solidFill>
                  <a:schemeClr val="accent6">
                    <a:lumMod val="75000"/>
                  </a:schemeClr>
                </a:solidFill>
              </a:rPr>
              <a:t> &amp; </a:t>
            </a:r>
            <a:r>
              <a:rPr lang="en-US" sz="1600" kern="0" spc="-80" dirty="0" err="1">
                <a:solidFill>
                  <a:schemeClr val="accent6">
                    <a:lumMod val="75000"/>
                  </a:schemeClr>
                </a:solidFill>
              </a:rPr>
              <a:t>WebSubs</a:t>
            </a:r>
            <a:r>
              <a:rPr lang="en-US" sz="1600" kern="0" spc="-80" dirty="0">
                <a:solidFill>
                  <a:schemeClr val="accent6">
                    <a:lumMod val="75000"/>
                  </a:schemeClr>
                </a:solidFill>
              </a:rPr>
              <a:t> respectively as part of App Modernization, to do most of the tasks in event driven way.</a:t>
            </a:r>
          </a:p>
        </p:txBody>
      </p:sp>
    </p:spTree>
    <p:extLst>
      <p:ext uri="{BB962C8B-B14F-4D97-AF65-F5344CB8AC3E}">
        <p14:creationId xmlns:p14="http://schemas.microsoft.com/office/powerpoint/2010/main" val="13905684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1746" name="Picture 2" descr="Introduction to Message Routing - Enterprise Integration Patterns">
            <a:extLst>
              <a:ext uri="{FF2B5EF4-FFF2-40B4-BE49-F238E27FC236}">
                <a16:creationId xmlns:a16="http://schemas.microsoft.com/office/drawing/2014/main" id="{81B8F603-B29D-7B9F-13B8-C2C224E2B9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63" y="838200"/>
            <a:ext cx="8320137" cy="3951238"/>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AF808C92-1EBD-C20B-9798-F73E7512FB78}"/>
              </a:ext>
            </a:extLst>
          </p:cNvPr>
          <p:cNvSpPr txBox="1">
            <a:spLocks/>
          </p:cNvSpPr>
          <p:nvPr/>
        </p:nvSpPr>
        <p:spPr>
          <a:xfrm>
            <a:off x="8263" y="4789438"/>
            <a:ext cx="8624937" cy="115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endParaRPr lang="en-US" sz="2400" kern="0" spc="-80" dirty="0">
              <a:solidFill>
                <a:schemeClr val="accent2"/>
              </a:solidFill>
            </a:endParaRPr>
          </a:p>
          <a:p>
            <a:pPr marL="12700" marR="5080"/>
            <a:r>
              <a:rPr lang="en-IN" sz="1500" dirty="0">
                <a:hlinkClick r:id="rId8"/>
              </a:rPr>
              <a:t>Enterprise Integration Patterns</a:t>
            </a:r>
            <a:r>
              <a:rPr lang="en-US" sz="1500" kern="0" spc="-80" dirty="0">
                <a:solidFill>
                  <a:schemeClr val="accent2"/>
                </a:solidFill>
              </a:rPr>
              <a:t> </a:t>
            </a:r>
          </a:p>
          <a:p>
            <a:pPr marL="12700" marR="5080"/>
            <a:r>
              <a:rPr lang="en-US" sz="1500" dirty="0">
                <a:hlinkClick r:id="rId9"/>
              </a:rPr>
              <a:t>Choosing a Message Exchange Pattern - WCF | Microsoft Learn</a:t>
            </a:r>
            <a:r>
              <a:rPr lang="en-US" sz="1500" kern="0" spc="-80" dirty="0">
                <a:solidFill>
                  <a:schemeClr val="accent2"/>
                </a:solidFill>
              </a:rPr>
              <a:t>   </a:t>
            </a:r>
          </a:p>
          <a:p>
            <a:pPr marL="12700" marR="5080"/>
            <a:r>
              <a:rPr lang="en-IN" sz="1500" dirty="0">
                <a:hlinkClick r:id="rId10"/>
              </a:rPr>
              <a:t>Enterprise Integration Patterns on Azure - Introduction | pacodelacruz.io</a:t>
            </a:r>
            <a:endParaRPr lang="en-IN" sz="1500" dirty="0"/>
          </a:p>
          <a:p>
            <a:pPr marL="12700" marR="5080"/>
            <a:r>
              <a:rPr lang="en-US" sz="1500" dirty="0">
                <a:hlinkClick r:id="rId11"/>
              </a:rPr>
              <a:t>Implementing enterprise integration patterns with AWS messaging services</a:t>
            </a:r>
            <a:endParaRPr lang="en-US" sz="1500" kern="0" spc="-80" dirty="0">
              <a:solidFill>
                <a:schemeClr val="accent2"/>
              </a:solidFill>
            </a:endParaRPr>
          </a:p>
        </p:txBody>
      </p:sp>
    </p:spTree>
    <p:extLst>
      <p:ext uri="{BB962C8B-B14F-4D97-AF65-F5344CB8AC3E}">
        <p14:creationId xmlns:p14="http://schemas.microsoft.com/office/powerpoint/2010/main" val="21502679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F808C92-1EBD-C20B-9798-F73E7512FB78}"/>
              </a:ext>
            </a:extLst>
          </p:cNvPr>
          <p:cNvSpPr txBox="1">
            <a:spLocks/>
          </p:cNvSpPr>
          <p:nvPr/>
        </p:nvSpPr>
        <p:spPr>
          <a:xfrm>
            <a:off x="366663" y="838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iPaaS(Integration Platform as a Service)</a:t>
            </a:r>
            <a:r>
              <a:rPr lang="en-US" sz="1500" kern="0" spc="-80" dirty="0">
                <a:solidFill>
                  <a:schemeClr val="accent2"/>
                </a:solidFill>
              </a:rPr>
              <a:t> </a:t>
            </a:r>
            <a:r>
              <a:rPr lang="en-US" sz="2400" kern="0" spc="-80" dirty="0">
                <a:solidFill>
                  <a:schemeClr val="accent2"/>
                </a:solidFill>
              </a:rPr>
              <a:t>–</a:t>
            </a:r>
            <a:r>
              <a:rPr lang="en-US" sz="1600" kern="0" spc="-80" dirty="0">
                <a:solidFill>
                  <a:schemeClr val="accent2"/>
                </a:solidFill>
              </a:rPr>
              <a:t>  </a:t>
            </a:r>
          </a:p>
        </p:txBody>
      </p:sp>
      <p:sp>
        <p:nvSpPr>
          <p:cNvPr id="3" name="object 2">
            <a:extLst>
              <a:ext uri="{FF2B5EF4-FFF2-40B4-BE49-F238E27FC236}">
                <a16:creationId xmlns:a16="http://schemas.microsoft.com/office/drawing/2014/main" id="{85B16EC7-4DB2-C201-C469-2A4B688E9D41}"/>
              </a:ext>
            </a:extLst>
          </p:cNvPr>
          <p:cNvSpPr txBox="1">
            <a:spLocks/>
          </p:cNvSpPr>
          <p:nvPr/>
        </p:nvSpPr>
        <p:spPr>
          <a:xfrm>
            <a:off x="149998" y="5348955"/>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What is iPaaS? Guide to Integration Platform as a Service</a:t>
            </a:r>
            <a:endParaRPr lang="en-US" sz="1500" kern="0" spc="-80" dirty="0">
              <a:solidFill>
                <a:schemeClr val="accent2"/>
              </a:solidFill>
            </a:endParaRPr>
          </a:p>
        </p:txBody>
      </p:sp>
      <p:pic>
        <p:nvPicPr>
          <p:cNvPr id="10" name="Picture 9">
            <a:extLst>
              <a:ext uri="{FF2B5EF4-FFF2-40B4-BE49-F238E27FC236}">
                <a16:creationId xmlns:a16="http://schemas.microsoft.com/office/drawing/2014/main" id="{CBE65028-5A1C-8020-4F88-9AAC9AA71D58}"/>
              </a:ext>
            </a:extLst>
          </p:cNvPr>
          <p:cNvPicPr>
            <a:picLocks noChangeAspect="1"/>
          </p:cNvPicPr>
          <p:nvPr/>
        </p:nvPicPr>
        <p:blipFill>
          <a:blip r:embed="rId8"/>
          <a:stretch>
            <a:fillRect/>
          </a:stretch>
        </p:blipFill>
        <p:spPr>
          <a:xfrm>
            <a:off x="366662" y="1207532"/>
            <a:ext cx="8167737" cy="3669267"/>
          </a:xfrm>
          <a:prstGeom prst="rect">
            <a:avLst/>
          </a:prstGeom>
        </p:spPr>
      </p:pic>
    </p:spTree>
    <p:extLst>
      <p:ext uri="{BB962C8B-B14F-4D97-AF65-F5344CB8AC3E}">
        <p14:creationId xmlns:p14="http://schemas.microsoft.com/office/powerpoint/2010/main" val="10249112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7" name="Picture 6">
            <a:extLst>
              <a:ext uri="{FF2B5EF4-FFF2-40B4-BE49-F238E27FC236}">
                <a16:creationId xmlns:a16="http://schemas.microsoft.com/office/drawing/2014/main" id="{06D116B2-6FAC-58AB-9231-42179F72312E}"/>
              </a:ext>
            </a:extLst>
          </p:cNvPr>
          <p:cNvPicPr>
            <a:picLocks noChangeAspect="1"/>
          </p:cNvPicPr>
          <p:nvPr/>
        </p:nvPicPr>
        <p:blipFill>
          <a:blip r:embed="rId7"/>
          <a:stretch>
            <a:fillRect/>
          </a:stretch>
        </p:blipFill>
        <p:spPr>
          <a:xfrm>
            <a:off x="0" y="781821"/>
            <a:ext cx="9144000" cy="5127354"/>
          </a:xfrm>
          <a:prstGeom prst="rect">
            <a:avLst/>
          </a:prstGeom>
        </p:spPr>
      </p:pic>
    </p:spTree>
    <p:extLst>
      <p:ext uri="{BB962C8B-B14F-4D97-AF65-F5344CB8AC3E}">
        <p14:creationId xmlns:p14="http://schemas.microsoft.com/office/powerpoint/2010/main" val="19574470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381000" y="685800"/>
            <a:ext cx="8624937" cy="57861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1600" b="0" i="0" dirty="0">
                <a:effectLst/>
                <a:latin typeface="-apple-system"/>
              </a:rPr>
              <a:t> </a:t>
            </a:r>
            <a:r>
              <a:rPr lang="en-IN" sz="1600" kern="0" spc="-80" dirty="0">
                <a:solidFill>
                  <a:schemeClr val="accent6"/>
                </a:solidFill>
              </a:rPr>
              <a:t>𝗠𝗩𝗖 (𝗠𝗼𝗱𝗲𝗹-𝗩𝗶𝗲𝘄-𝗖𝗼𝗻𝘁𝗿𝗼𝗹𝗹𝗲𝗿): </a:t>
            </a:r>
          </a:p>
          <a:p>
            <a:pPr marL="12700" marR="5080"/>
            <a:r>
              <a:rPr lang="en-IN" sz="1600" kern="0" spc="-80" dirty="0">
                <a:solidFill>
                  <a:schemeClr val="accent6"/>
                </a:solidFill>
              </a:rPr>
              <a:t>  - Classic pattern separating code into three layers:    </a:t>
            </a:r>
          </a:p>
          <a:p>
            <a:pPr marL="12700" marR="5080"/>
            <a:r>
              <a:rPr lang="en-IN" sz="1600" kern="0" spc="-80" dirty="0">
                <a:solidFill>
                  <a:schemeClr val="accent6"/>
                </a:solidFill>
              </a:rPr>
              <a:t>  - 𝗠𝗼𝗱𝗲𝗹: Data and business logic     </a:t>
            </a:r>
          </a:p>
          <a:p>
            <a:pPr marL="12700" marR="5080"/>
            <a:r>
              <a:rPr lang="en-IN" sz="1600" kern="0" spc="-80" dirty="0">
                <a:solidFill>
                  <a:schemeClr val="accent6"/>
                </a:solidFill>
              </a:rPr>
              <a:t>  - 𝗩𝗶𝗲𝘄: Presentation of data to the user     </a:t>
            </a:r>
          </a:p>
          <a:p>
            <a:pPr marL="12700" marR="5080"/>
            <a:r>
              <a:rPr lang="en-IN" sz="1600" kern="0" spc="-80" dirty="0">
                <a:solidFill>
                  <a:schemeClr val="accent6"/>
                </a:solidFill>
              </a:rPr>
              <a:t>  - 𝗖𝗼𝗻𝘁𝗿𝗼𝗹𝗹𝗲𝗿: Handles user input and updates model/view - Simple and familiar,  but can lead to tightly coupled components in complex applications.</a:t>
            </a:r>
          </a:p>
          <a:p>
            <a:pPr marL="12700" marR="5080"/>
            <a:r>
              <a:rPr lang="en-IN" sz="1600" kern="0" spc="-80" dirty="0">
                <a:solidFill>
                  <a:schemeClr val="accent6"/>
                </a:solidFill>
              </a:rPr>
              <a:t>  </a:t>
            </a:r>
            <a:r>
              <a:rPr lang="en-IN" sz="1600" kern="0" spc="-80" dirty="0">
                <a:solidFill>
                  <a:schemeClr val="accent1"/>
                </a:solidFill>
              </a:rPr>
              <a:t> - Can be used for normal Web based MVC Apps(e.g. ASP.NET MVC)</a:t>
            </a:r>
          </a:p>
          <a:p>
            <a:pPr marL="12700" marR="5080"/>
            <a:endParaRPr lang="en-IN" sz="1600" kern="0" spc="-80" dirty="0">
              <a:solidFill>
                <a:schemeClr val="accent1"/>
              </a:solidFill>
            </a:endParaRPr>
          </a:p>
          <a:p>
            <a:pPr marL="12700" marR="5080"/>
            <a:r>
              <a:rPr lang="en-IN" sz="1600" kern="0" spc="-80" dirty="0">
                <a:solidFill>
                  <a:schemeClr val="accent6"/>
                </a:solidFill>
              </a:rPr>
              <a:t> 𝗠𝗩𝗣 (𝗠𝗼𝗱𝗲𝗹-𝗩𝗶𝗲𝘄-𝗣𝗿𝗲𝘀𝗲𝗻𝘁𝗲𝗿): </a:t>
            </a:r>
          </a:p>
          <a:p>
            <a:pPr marL="12700" marR="5080"/>
            <a:r>
              <a:rPr lang="en-IN" sz="1600" kern="0" spc="-80" dirty="0">
                <a:solidFill>
                  <a:schemeClr val="accent6"/>
                </a:solidFill>
              </a:rPr>
              <a:t>  - Introduces a Presenter to mediate between view and model.</a:t>
            </a:r>
          </a:p>
          <a:p>
            <a:pPr marL="12700" marR="5080"/>
            <a:r>
              <a:rPr lang="en-IN" sz="1600" kern="0" spc="-80" dirty="0">
                <a:solidFill>
                  <a:schemeClr val="accent6"/>
                </a:solidFill>
              </a:rPr>
              <a:t>  - Improves separation of concerns and testability. </a:t>
            </a:r>
          </a:p>
          <a:p>
            <a:pPr marL="12700" marR="5080"/>
            <a:r>
              <a:rPr lang="en-IN" sz="1600" kern="0" spc="-80" dirty="0">
                <a:solidFill>
                  <a:schemeClr val="accent6"/>
                </a:solidFill>
              </a:rPr>
              <a:t>  - Requires additional boilerplate code compared to MVC. </a:t>
            </a:r>
          </a:p>
          <a:p>
            <a:pPr marL="12700" marR="5080"/>
            <a:r>
              <a:rPr lang="en-IN" sz="1600" kern="0" spc="-80" dirty="0">
                <a:solidFill>
                  <a:schemeClr val="accent1"/>
                </a:solidFill>
              </a:rPr>
              <a:t>  - Can be used for </a:t>
            </a:r>
            <a:r>
              <a:rPr lang="en-IN" sz="1600" kern="0" spc="-80" dirty="0" err="1">
                <a:solidFill>
                  <a:schemeClr val="accent1"/>
                </a:solidFill>
              </a:rPr>
              <a:t>Winforms</a:t>
            </a:r>
            <a:r>
              <a:rPr lang="en-IN" sz="1600" kern="0" spc="-80" dirty="0">
                <a:solidFill>
                  <a:schemeClr val="accent1"/>
                </a:solidFill>
              </a:rPr>
              <a:t> based Apps</a:t>
            </a:r>
          </a:p>
          <a:p>
            <a:pPr marL="12700" marR="5080"/>
            <a:endParaRPr lang="en-IN" sz="1600" kern="0" spc="-80" dirty="0">
              <a:solidFill>
                <a:schemeClr val="accent1"/>
              </a:solidFill>
            </a:endParaRPr>
          </a:p>
          <a:p>
            <a:pPr marL="12700" marR="5080"/>
            <a:r>
              <a:rPr lang="en-IN" sz="1600" kern="0" spc="-80" dirty="0">
                <a:solidFill>
                  <a:schemeClr val="accent6"/>
                </a:solidFill>
              </a:rPr>
              <a:t> 𝗠𝗩𝗜 (𝗠𝗼𝗱𝗲𝗹-𝗩𝗶𝗲𝘄-𝗜𝗻𝘁𝗲𝗻𝘁): </a:t>
            </a:r>
          </a:p>
          <a:p>
            <a:pPr marL="12700" marR="5080"/>
            <a:r>
              <a:rPr lang="en-IN" sz="1600" kern="0" spc="-80" dirty="0">
                <a:solidFill>
                  <a:schemeClr val="accent6"/>
                </a:solidFill>
              </a:rPr>
              <a:t>  - Built for reactive programming. </a:t>
            </a:r>
          </a:p>
          <a:p>
            <a:pPr marL="12700" marR="5080"/>
            <a:r>
              <a:rPr lang="en-IN" sz="1600" kern="0" spc="-80" dirty="0">
                <a:solidFill>
                  <a:schemeClr val="accent6"/>
                </a:solidFill>
              </a:rPr>
              <a:t>  - View emits intents, handled by the model, updating state and view. </a:t>
            </a:r>
          </a:p>
          <a:p>
            <a:pPr marL="12700" marR="5080"/>
            <a:r>
              <a:rPr lang="en-IN" sz="1600" kern="0" spc="-80" dirty="0">
                <a:solidFill>
                  <a:schemeClr val="accent6"/>
                </a:solidFill>
              </a:rPr>
              <a:t>  - Promotes unidirectional data flow and simplifies UI logic. </a:t>
            </a:r>
          </a:p>
          <a:p>
            <a:pPr marL="12700" marR="5080"/>
            <a:r>
              <a:rPr lang="en-IN" sz="1600" kern="0" spc="-80" dirty="0">
                <a:solidFill>
                  <a:schemeClr val="accent6"/>
                </a:solidFill>
              </a:rPr>
              <a:t>  - May require a steeper learning curve. </a:t>
            </a:r>
          </a:p>
          <a:p>
            <a:pPr marL="12700" marR="5080"/>
            <a:r>
              <a:rPr lang="en-IN" sz="1600" kern="0" spc="-80" dirty="0">
                <a:solidFill>
                  <a:schemeClr val="accent1"/>
                </a:solidFill>
              </a:rPr>
              <a:t>  - Can be used for normal SPA based Web Apps</a:t>
            </a:r>
          </a:p>
          <a:p>
            <a:pPr marL="12700" marR="5080"/>
            <a:endParaRPr lang="en-IN" sz="1600" kern="0" spc="-80" dirty="0">
              <a:solidFill>
                <a:schemeClr val="accent6"/>
              </a:solidFill>
            </a:endParaRPr>
          </a:p>
          <a:p>
            <a:pPr marL="12700" marR="5080"/>
            <a:r>
              <a:rPr lang="en-IN" sz="1600" kern="0" spc="-80" dirty="0">
                <a:solidFill>
                  <a:schemeClr val="accent6"/>
                </a:solidFill>
              </a:rPr>
              <a:t> </a:t>
            </a:r>
            <a:endParaRPr lang="en-US" sz="1600" kern="0" spc="-80" dirty="0">
              <a:solidFill>
                <a:schemeClr val="accent6"/>
              </a:solidFill>
            </a:endParaRPr>
          </a:p>
        </p:txBody>
      </p:sp>
    </p:spTree>
    <p:extLst>
      <p:ext uri="{BB962C8B-B14F-4D97-AF65-F5344CB8AC3E}">
        <p14:creationId xmlns:p14="http://schemas.microsoft.com/office/powerpoint/2010/main" val="2296233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2400" kern="0" spc="-80" dirty="0">
                <a:solidFill>
                  <a:schemeClr val="accent6"/>
                </a:solidFill>
              </a:rPr>
              <a:t> </a:t>
            </a:r>
            <a:r>
              <a:rPr lang="en-IN" sz="1600" kern="0" spc="-80" dirty="0">
                <a:solidFill>
                  <a:schemeClr val="accent6"/>
                </a:solidFill>
              </a:rPr>
              <a:t>𝗠𝗩𝗩𝗠 (𝗠𝗼𝗱𝗲𝗹-𝗩𝗶𝗲𝘄-𝗩𝗶𝗲𝘄𝗠𝗼𝗱𝗲𝗹): </a:t>
            </a:r>
          </a:p>
          <a:p>
            <a:pPr marL="12700" marR="5080"/>
            <a:r>
              <a:rPr lang="en-IN" sz="1600" kern="0" spc="-80" dirty="0">
                <a:solidFill>
                  <a:schemeClr val="accent6"/>
                </a:solidFill>
              </a:rPr>
              <a:t>  - View binds to a </a:t>
            </a:r>
            <a:r>
              <a:rPr lang="en-IN" sz="1600" kern="0" spc="-80" dirty="0" err="1">
                <a:solidFill>
                  <a:schemeClr val="accent6"/>
                </a:solidFill>
              </a:rPr>
              <a:t>ViewModel</a:t>
            </a:r>
            <a:r>
              <a:rPr lang="en-IN" sz="1600" kern="0" spc="-80" dirty="0">
                <a:solidFill>
                  <a:schemeClr val="accent6"/>
                </a:solidFill>
              </a:rPr>
              <a:t> holding data and display logic. </a:t>
            </a:r>
          </a:p>
          <a:p>
            <a:pPr marL="12700" marR="5080"/>
            <a:r>
              <a:rPr lang="en-IN" sz="1600" kern="0" spc="-80" dirty="0">
                <a:solidFill>
                  <a:schemeClr val="accent6"/>
                </a:solidFill>
              </a:rPr>
              <a:t>  - </a:t>
            </a:r>
            <a:r>
              <a:rPr lang="en-IN" sz="1600" kern="0" spc="-80" dirty="0" err="1">
                <a:solidFill>
                  <a:schemeClr val="accent6"/>
                </a:solidFill>
              </a:rPr>
              <a:t>ViewModel</a:t>
            </a:r>
            <a:r>
              <a:rPr lang="en-IN" sz="1600" kern="0" spc="-80" dirty="0">
                <a:solidFill>
                  <a:schemeClr val="accent6"/>
                </a:solidFill>
              </a:rPr>
              <a:t> updates by the model, then updates the view. </a:t>
            </a:r>
          </a:p>
          <a:p>
            <a:pPr marL="12700" marR="5080"/>
            <a:r>
              <a:rPr lang="en-IN" sz="1600" kern="0" spc="-80" dirty="0">
                <a:solidFill>
                  <a:schemeClr val="accent6"/>
                </a:solidFill>
              </a:rPr>
              <a:t>  - Well-suited for reactive frameworks and complex UIs. </a:t>
            </a:r>
          </a:p>
          <a:p>
            <a:pPr marL="12700" marR="5080"/>
            <a:r>
              <a:rPr lang="en-IN" sz="1600" kern="0" spc="-80" dirty="0">
                <a:solidFill>
                  <a:schemeClr val="accent6"/>
                </a:solidFill>
              </a:rPr>
              <a:t>  - Requires additional </a:t>
            </a:r>
            <a:r>
              <a:rPr lang="en-IN" sz="1600" kern="0" spc="-80" dirty="0" err="1">
                <a:solidFill>
                  <a:schemeClr val="accent6"/>
                </a:solidFill>
              </a:rPr>
              <a:t>ViewModel</a:t>
            </a:r>
            <a:r>
              <a:rPr lang="en-IN" sz="1600" kern="0" spc="-80" dirty="0">
                <a:solidFill>
                  <a:schemeClr val="accent6"/>
                </a:solidFill>
              </a:rPr>
              <a:t> setup compared to MVP. </a:t>
            </a:r>
          </a:p>
          <a:p>
            <a:pPr marL="12700" marR="5080"/>
            <a:r>
              <a:rPr lang="en-IN" sz="1600" kern="0" spc="-80" dirty="0">
                <a:solidFill>
                  <a:schemeClr val="accent1"/>
                </a:solidFill>
              </a:rPr>
              <a:t>  - Can be used for WPF Apps &amp; Mobile Native Apps</a:t>
            </a:r>
          </a:p>
          <a:p>
            <a:pPr marL="12700" marR="5080"/>
            <a:endParaRPr lang="en-IN" sz="1600" kern="0" spc="-80" dirty="0">
              <a:solidFill>
                <a:schemeClr val="accent1"/>
              </a:solidFill>
            </a:endParaRPr>
          </a:p>
          <a:p>
            <a:pPr marL="12700" marR="5080"/>
            <a:r>
              <a:rPr lang="en-IN" sz="1600" b="0" i="0" dirty="0">
                <a:effectLst/>
                <a:latin typeface="-apple-system"/>
              </a:rPr>
              <a:t> </a:t>
            </a:r>
            <a:r>
              <a:rPr lang="en-IN" sz="1600" kern="0" spc="-80" dirty="0">
                <a:solidFill>
                  <a:schemeClr val="accent6"/>
                </a:solidFill>
              </a:rPr>
              <a:t> 𝗩𝗜𝗣𝗘𝗥 (𝗩𝗶𝗲𝘄, 𝗜𝗻𝘁𝗲𝗿𝗮𝗰𝘁𝗼𝗿, 𝗣𝗿𝗲𝘀𝗲𝗻𝘁𝗲𝗿, 𝗘𝗻𝘁𝗶𝘁𝘆, 𝗥𝗼𝘂𝘁𝗲𝗿): </a:t>
            </a:r>
          </a:p>
          <a:p>
            <a:pPr marL="12700" marR="5080"/>
            <a:r>
              <a:rPr lang="en-IN" sz="1600" kern="0" spc="-80" dirty="0">
                <a:solidFill>
                  <a:schemeClr val="accent6"/>
                </a:solidFill>
              </a:rPr>
              <a:t>   - Designed for large and complex applications. </a:t>
            </a:r>
          </a:p>
          <a:p>
            <a:pPr marL="12700" marR="5080"/>
            <a:r>
              <a:rPr lang="en-IN" sz="1600" kern="0" spc="-80" dirty="0">
                <a:solidFill>
                  <a:schemeClr val="accent6"/>
                </a:solidFill>
              </a:rPr>
              <a:t>   - Five layers: View, Interactor (business logic), Presenter (data preparation), Entity (data models), Router (data flow coordination). </a:t>
            </a:r>
          </a:p>
          <a:p>
            <a:pPr marL="12700" marR="5080"/>
            <a:r>
              <a:rPr lang="en-IN" sz="1600" kern="0" spc="-80" dirty="0">
                <a:solidFill>
                  <a:schemeClr val="accent6"/>
                </a:solidFill>
              </a:rPr>
              <a:t>   - Enhances modularity and maintainability for massive projects. </a:t>
            </a:r>
          </a:p>
          <a:p>
            <a:pPr marL="12700" marR="5080"/>
            <a:r>
              <a:rPr lang="en-IN" sz="1600" kern="0" spc="-80" dirty="0">
                <a:solidFill>
                  <a:schemeClr val="accent6"/>
                </a:solidFill>
              </a:rPr>
              <a:t>   - Requires meticulous planning and understanding due to its complexity.</a:t>
            </a:r>
          </a:p>
          <a:p>
            <a:pPr marL="12700" marR="5080"/>
            <a:r>
              <a:rPr lang="en-IN" sz="1600" kern="0" spc="-80" dirty="0">
                <a:solidFill>
                  <a:schemeClr val="accent1"/>
                </a:solidFill>
              </a:rPr>
              <a:t>   - Can be used for Real Time Web Apps(&amp; Mobile Native Apps &amp; Embedded Systems)</a:t>
            </a:r>
          </a:p>
          <a:p>
            <a:pPr marL="12700" marR="5080"/>
            <a:endParaRPr lang="en-IN" sz="1600" kern="0" spc="-80" dirty="0">
              <a:solidFill>
                <a:schemeClr val="accent1"/>
              </a:solidFill>
            </a:endParaRPr>
          </a:p>
        </p:txBody>
      </p:sp>
    </p:spTree>
    <p:extLst>
      <p:ext uri="{BB962C8B-B14F-4D97-AF65-F5344CB8AC3E}">
        <p14:creationId xmlns:p14="http://schemas.microsoft.com/office/powerpoint/2010/main" val="31658216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2400" kern="0" spc="-80" dirty="0">
                <a:solidFill>
                  <a:schemeClr val="accent6"/>
                </a:solidFill>
              </a:rPr>
              <a:t> 𝗖𝗵𝗼𝗼𝘀𝗶𝗻𝗴 𝘁𝗵𝗲 𝗥𝗶𝗴𝗵𝘁 𝗣𝗮𝘁𝘁𝗲𝗿𝗻: </a:t>
            </a:r>
          </a:p>
          <a:p>
            <a:pPr marL="12700" marR="5080"/>
            <a:r>
              <a:rPr lang="en-IN" sz="1600" kern="0" spc="-80" dirty="0">
                <a:solidFill>
                  <a:schemeClr val="accent6"/>
                </a:solidFill>
              </a:rPr>
              <a:t>  The optimal pattern depends on various factors, including: </a:t>
            </a:r>
          </a:p>
          <a:p>
            <a:pPr marL="12700" marR="5080"/>
            <a:r>
              <a:rPr lang="en-IN" sz="1600" kern="0" spc="-80" dirty="0">
                <a:solidFill>
                  <a:schemeClr val="accent6"/>
                </a:solidFill>
              </a:rPr>
              <a:t>    - 𝗣𝗿𝗼𝗷𝗲𝗰𝘁 𝘀𝗶𝘇𝗲 𝗮𝗻𝗱 𝗰𝗼𝗺𝗽𝗹𝗲𝘅𝗶𝘁𝘆: MVC/MVP for simple apps, MVI/MVVM for reactive apps, VIPER for large projects. </a:t>
            </a:r>
          </a:p>
          <a:p>
            <a:pPr marL="12700" marR="5080"/>
            <a:r>
              <a:rPr lang="en-IN" sz="1600" kern="0" spc="-80" dirty="0">
                <a:solidFill>
                  <a:schemeClr val="accent6"/>
                </a:solidFill>
              </a:rPr>
              <a:t>    - 𝗧𝗲𝗮𝗺 𝗲𝘅𝗽𝗲𝗿𝗶𝗲𝗻𝗰𝗲: Choose a pattern familiar to your team to avoid learning curves.</a:t>
            </a:r>
          </a:p>
          <a:p>
            <a:pPr marL="12700" marR="5080"/>
            <a:r>
              <a:rPr lang="en-IN" sz="1600" kern="0" spc="-80" dirty="0">
                <a:solidFill>
                  <a:schemeClr val="accent6"/>
                </a:solidFill>
              </a:rPr>
              <a:t>    - 𝗣𝗲𝗿𝘀𝗼𝗻𝗮𝗹 𝗽𝗿𝗲𝗳𝗲𝗿𝗲𝗻𝗰𝗲: Experiment and find what works best for you and your team.</a:t>
            </a:r>
          </a:p>
          <a:p>
            <a:pPr marL="12700" marR="5080"/>
            <a:endParaRPr lang="en-IN" sz="1600" kern="0" spc="-80" dirty="0">
              <a:solidFill>
                <a:schemeClr val="accent6"/>
              </a:solidFill>
            </a:endParaRPr>
          </a:p>
        </p:txBody>
      </p:sp>
      <p:sp>
        <p:nvSpPr>
          <p:cNvPr id="7" name="object 2">
            <a:extLst>
              <a:ext uri="{FF2B5EF4-FFF2-40B4-BE49-F238E27FC236}">
                <a16:creationId xmlns:a16="http://schemas.microsoft.com/office/drawing/2014/main" id="{DF2FF321-84F5-A6AC-317B-D3A2AFACD421}"/>
              </a:ext>
            </a:extLst>
          </p:cNvPr>
          <p:cNvSpPr txBox="1">
            <a:spLocks/>
          </p:cNvSpPr>
          <p:nvPr/>
        </p:nvSpPr>
        <p:spPr>
          <a:xfrm>
            <a:off x="19280" y="4974104"/>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a:t>
            </a:r>
          </a:p>
          <a:p>
            <a:pPr marL="12700" marR="5080"/>
            <a:r>
              <a:rPr lang="en-US" sz="1600" dirty="0">
                <a:hlinkClick r:id="rId7"/>
              </a:rPr>
              <a:t>MVVM-pattern-.NET-MAUI</a:t>
            </a:r>
            <a:endParaRPr lang="en-US" sz="1600" dirty="0"/>
          </a:p>
          <a:p>
            <a:pPr marL="12700" marR="5080"/>
            <a:r>
              <a:rPr lang="en-US" sz="1600" dirty="0" err="1">
                <a:hlinkClick r:id="rId8"/>
              </a:rPr>
              <a:t>Swift_VIPER_Demo</a:t>
            </a:r>
            <a:r>
              <a:rPr lang="en-US" sz="1600" dirty="0">
                <a:hlinkClick r:id="rId8"/>
              </a:rPr>
              <a:t>: A Sample App Demoing the VIPER Architecture Pattern</a:t>
            </a:r>
            <a:endParaRPr lang="en-US" sz="1600" dirty="0"/>
          </a:p>
          <a:p>
            <a:pPr marL="12700" marR="5080"/>
            <a:r>
              <a:rPr lang="en-US" sz="1600" dirty="0">
                <a:hlinkClick r:id="rId9"/>
              </a:rPr>
              <a:t>The-Book-of-VIPER</a:t>
            </a:r>
            <a:endParaRPr lang="en-US" sz="1500" kern="0" spc="-80" dirty="0">
              <a:solidFill>
                <a:schemeClr val="accent2"/>
              </a:solidFill>
            </a:endParaRPr>
          </a:p>
        </p:txBody>
      </p:sp>
    </p:spTree>
    <p:extLst>
      <p:ext uri="{BB962C8B-B14F-4D97-AF65-F5344CB8AC3E}">
        <p14:creationId xmlns:p14="http://schemas.microsoft.com/office/powerpoint/2010/main" val="3766440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Hexagonal Architecture –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3280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Hexagonal Architecture - Awesome Software Architecture</a:t>
            </a:r>
            <a:r>
              <a:rPr lang="en-US" sz="1600" kern="0" spc="-80" dirty="0">
                <a:solidFill>
                  <a:schemeClr val="accent2"/>
                </a:solidFill>
              </a:rPr>
              <a:t>  </a:t>
            </a:r>
          </a:p>
        </p:txBody>
      </p:sp>
      <p:pic>
        <p:nvPicPr>
          <p:cNvPr id="1026" name="Picture 2">
            <a:extLst>
              <a:ext uri="{FF2B5EF4-FFF2-40B4-BE49-F238E27FC236}">
                <a16:creationId xmlns:a16="http://schemas.microsoft.com/office/drawing/2014/main" id="{643E1EBC-724D-B806-95EF-6427C20AA5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369" y="1040346"/>
            <a:ext cx="8778031" cy="42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664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10387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Onion Architecture –</a:t>
            </a:r>
          </a:p>
          <a:p>
            <a:pPr marL="12700" marR="5080"/>
            <a:r>
              <a:rPr lang="en-US" sz="1450" kern="0" spc="-80" dirty="0">
                <a:solidFill>
                  <a:schemeClr val="accent6"/>
                </a:solidFill>
              </a:rPr>
              <a:t>Onion Architecture adds layers to the core of Hexagonal Architecture with the rule that each layer can only depend on more central layers, and the most central layer – the domain model – only depends on itself.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Onion Architecture - Awesome Software Architecture</a:t>
            </a:r>
            <a:endParaRPr lang="en-US" sz="1500" kern="0" spc="-80" dirty="0">
              <a:solidFill>
                <a:schemeClr val="accent2"/>
              </a:solidFill>
            </a:endParaRPr>
          </a:p>
        </p:txBody>
      </p:sp>
      <p:pic>
        <p:nvPicPr>
          <p:cNvPr id="4098" name="Picture 2" descr="Onion Architecture – @hgraca">
            <a:extLst>
              <a:ext uri="{FF2B5EF4-FFF2-40B4-BE49-F238E27FC236}">
                <a16:creationId xmlns:a16="http://schemas.microsoft.com/office/drawing/2014/main" id="{B0433093-D28A-294C-8ECF-EDB52534FF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 y="2286000"/>
            <a:ext cx="7886700" cy="2986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9221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5924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Clean Architecture –</a:t>
            </a:r>
          </a:p>
          <a:p>
            <a:pPr marL="12700" marR="5080"/>
            <a:r>
              <a:rPr lang="en-US" sz="1450" kern="0" spc="-80" dirty="0">
                <a:solidFill>
                  <a:schemeClr val="accent6"/>
                </a:solidFill>
              </a:rPr>
              <a:t>Clean Architecture almost equates Onion Architecture with some equivalent alternate names.</a:t>
            </a:r>
          </a:p>
        </p:txBody>
      </p:sp>
      <p:pic>
        <p:nvPicPr>
          <p:cNvPr id="3074" name="Picture 2" descr="Choosing Between using Clean/Onion or Vertical Slice Architecture for  Enterprise Apps in .NET : r/dotnet">
            <a:extLst>
              <a:ext uri="{FF2B5EF4-FFF2-40B4-BE49-F238E27FC236}">
                <a16:creationId xmlns:a16="http://schemas.microsoft.com/office/drawing/2014/main" id="{A4294CBD-4BC9-DDCE-0AC6-9E9F17EEF2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369" y="1331500"/>
            <a:ext cx="7353300" cy="3697699"/>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7C37DC4B-7FEE-2D46-4FCB-1E24A5C5706A}"/>
              </a:ext>
            </a:extLst>
          </p:cNvPr>
          <p:cNvSpPr txBox="1">
            <a:spLocks/>
          </p:cNvSpPr>
          <p:nvPr/>
        </p:nvSpPr>
        <p:spPr>
          <a:xfrm>
            <a:off x="138063"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Pragmatic Clean Architecture | Milan Jovanović</a:t>
            </a:r>
            <a:endParaRPr lang="en-US" sz="1500" dirty="0"/>
          </a:p>
          <a:p>
            <a:pPr marL="12700" marR="5080"/>
            <a:r>
              <a:rPr lang="en-US" sz="1500" dirty="0">
                <a:hlinkClick r:id="rId9"/>
              </a:rPr>
              <a:t>Clean Architecture - Awesome Software Architecture</a:t>
            </a:r>
            <a:endParaRPr lang="en-US" sz="1500" dirty="0"/>
          </a:p>
          <a:p>
            <a:pPr marL="12700" marR="5080"/>
            <a:r>
              <a:rPr lang="en-IN" sz="1500" dirty="0">
                <a:hlinkClick r:id="rId10"/>
              </a:rPr>
              <a:t>Hexagonal vs Onion vs Clean Architecture | LinkedIn</a:t>
            </a:r>
            <a:endParaRPr lang="en-US" sz="1500" kern="0" spc="-80" dirty="0">
              <a:solidFill>
                <a:schemeClr val="accent2"/>
              </a:solidFill>
            </a:endParaRPr>
          </a:p>
        </p:txBody>
      </p:sp>
    </p:spTree>
    <p:extLst>
      <p:ext uri="{BB962C8B-B14F-4D97-AF65-F5344CB8AC3E}">
        <p14:creationId xmlns:p14="http://schemas.microsoft.com/office/powerpoint/2010/main" val="32900833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Vertical Slice Architecture –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1054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Vertical Slice Architecture</a:t>
            </a:r>
            <a:endParaRPr lang="en-IN" sz="1500" dirty="0"/>
          </a:p>
          <a:p>
            <a:pPr marL="12700" marR="5080"/>
            <a:r>
              <a:rPr lang="en-US" sz="1500" dirty="0">
                <a:hlinkClick r:id="rId8"/>
              </a:rPr>
              <a:t>Vertical Slice Architecture - Awesome Software Architecture</a:t>
            </a:r>
            <a:endParaRPr lang="en-US" sz="1500" kern="0" spc="-80" dirty="0">
              <a:solidFill>
                <a:schemeClr val="accent2"/>
              </a:solidFill>
            </a:endParaRPr>
          </a:p>
        </p:txBody>
      </p:sp>
      <p:pic>
        <p:nvPicPr>
          <p:cNvPr id="6146" name="Picture 2" descr="Software Architecture – Part 4: Vertical-Slice Architecture | For the love  of challenges :)">
            <a:extLst>
              <a:ext uri="{FF2B5EF4-FFF2-40B4-BE49-F238E27FC236}">
                <a16:creationId xmlns:a16="http://schemas.microsoft.com/office/drawing/2014/main" id="{48722137-028F-7F54-3EE3-E603E6A5D4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463" y="990600"/>
            <a:ext cx="8122017" cy="409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4344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54014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DDD(Domain Driven Design) Concepts –</a:t>
            </a:r>
            <a:br>
              <a:rPr lang="en-US" sz="2400" kern="0" spc="-80" dirty="0">
                <a:solidFill>
                  <a:schemeClr val="accent2"/>
                </a:solidFill>
              </a:rPr>
            </a:br>
            <a:r>
              <a:rPr lang="en-US" sz="1450" b="0" i="0" dirty="0">
                <a:effectLst/>
                <a:latin typeface="-apple-system"/>
              </a:rPr>
              <a:t>🔍 </a:t>
            </a:r>
            <a:r>
              <a:rPr lang="en-US" sz="1450" kern="0" spc="-80" dirty="0">
                <a:solidFill>
                  <a:schemeClr val="accent2"/>
                </a:solidFill>
              </a:rPr>
              <a:t>Understanding the Domain</a:t>
            </a:r>
            <a:r>
              <a:rPr lang="en-US" sz="1450" kern="0" spc="-80" dirty="0">
                <a:solidFill>
                  <a:schemeClr val="accent6"/>
                </a:solidFill>
              </a:rPr>
              <a:t>: At the heart of DDD is a deep dive into the business domain you're dealing with. It's all about comprehending the intricacies, rules, and intricacies of the problem space. </a:t>
            </a:r>
          </a:p>
          <a:p>
            <a:pPr marL="12700" marR="5080"/>
            <a:r>
              <a:rPr lang="en-US" sz="1450" kern="0" spc="-80" dirty="0">
                <a:solidFill>
                  <a:schemeClr val="accent6"/>
                </a:solidFill>
              </a:rPr>
              <a:t>🧩 </a:t>
            </a:r>
            <a:r>
              <a:rPr lang="en-US" sz="1450" kern="0" spc="-80" dirty="0">
                <a:solidFill>
                  <a:schemeClr val="accent2"/>
                </a:solidFill>
              </a:rPr>
              <a:t>Ubiquitous Language</a:t>
            </a:r>
            <a:r>
              <a:rPr lang="en-US" sz="1450" kern="0" spc="-80" dirty="0">
                <a:solidFill>
                  <a:schemeClr val="accent6"/>
                </a:solidFill>
              </a:rPr>
              <a:t>: DDD encourages the development of a common, shared language between developers and domain experts. This shared vocabulary ensures everyone is on the same page, fostering better collaboration. </a:t>
            </a:r>
          </a:p>
          <a:p>
            <a:pPr marL="12700" marR="5080"/>
            <a:r>
              <a:rPr lang="en-US" sz="1450" kern="0" spc="-80" dirty="0">
                <a:solidFill>
                  <a:schemeClr val="accent6"/>
                </a:solidFill>
              </a:rPr>
              <a:t>🏗️ </a:t>
            </a:r>
            <a:r>
              <a:rPr lang="en-US" sz="1450" kern="0" spc="-80" dirty="0">
                <a:solidFill>
                  <a:schemeClr val="accent2"/>
                </a:solidFill>
              </a:rPr>
              <a:t>Bounded Contexts</a:t>
            </a:r>
            <a:r>
              <a:rPr lang="en-US" sz="1450" kern="0" spc="-80" dirty="0">
                <a:solidFill>
                  <a:schemeClr val="accent6"/>
                </a:solidFill>
              </a:rPr>
              <a:t>: DDD suggests dividing complex systems into smaller, manageable "bounded contexts." These contexts have their own rules and definitions, providing a clean way to manage complexity. </a:t>
            </a:r>
          </a:p>
          <a:p>
            <a:pPr marL="12700" marR="5080"/>
            <a:r>
              <a:rPr lang="en-US" sz="1450" kern="0" spc="-80" dirty="0">
                <a:solidFill>
                  <a:schemeClr val="accent6"/>
                </a:solidFill>
              </a:rPr>
              <a:t>📦 </a:t>
            </a:r>
            <a:r>
              <a:rPr lang="en-US" sz="1450" kern="0" spc="-80" dirty="0">
                <a:solidFill>
                  <a:schemeClr val="accent2"/>
                </a:solidFill>
              </a:rPr>
              <a:t>Aggregates and Entities</a:t>
            </a:r>
            <a:r>
              <a:rPr lang="en-US" sz="1450" kern="0" spc="-80" dirty="0">
                <a:solidFill>
                  <a:schemeClr val="accent6"/>
                </a:solidFill>
              </a:rPr>
              <a:t>: DDD promotes modeling the domain using aggregates and entities, which encapsulate business rules and ensure data integrity. This helps create maintainable and understandable code. </a:t>
            </a:r>
          </a:p>
          <a:p>
            <a:pPr marL="12700" marR="5080"/>
            <a:r>
              <a:rPr lang="en-US" sz="1450" kern="0" spc="-80" dirty="0">
                <a:solidFill>
                  <a:schemeClr val="accent6"/>
                </a:solidFill>
              </a:rPr>
              <a:t>🛠️ </a:t>
            </a:r>
            <a:r>
              <a:rPr lang="en-US" sz="1450" kern="0" spc="-80" dirty="0">
                <a:solidFill>
                  <a:schemeClr val="accent2"/>
                </a:solidFill>
              </a:rPr>
              <a:t>Value Objects</a:t>
            </a:r>
            <a:r>
              <a:rPr lang="en-US" sz="1450" kern="0" spc="-80" dirty="0">
                <a:solidFill>
                  <a:schemeClr val="accent6"/>
                </a:solidFill>
              </a:rPr>
              <a:t>: Value objects, another DDD concept, represent immutable elements within the domain, such as currency, addresses, or date ranges. They promote simplicity and code reusability. </a:t>
            </a:r>
          </a:p>
          <a:p>
            <a:pPr marL="12700" marR="5080"/>
            <a:r>
              <a:rPr lang="en-US" sz="1450" kern="0" spc="-80" dirty="0">
                <a:solidFill>
                  <a:schemeClr val="accent6"/>
                </a:solidFill>
              </a:rPr>
              <a:t>🌌 </a:t>
            </a:r>
            <a:r>
              <a:rPr lang="en-US" sz="1450" kern="0" spc="-80" dirty="0">
                <a:solidFill>
                  <a:schemeClr val="accent2"/>
                </a:solidFill>
              </a:rPr>
              <a:t>Repositories</a:t>
            </a:r>
            <a:r>
              <a:rPr lang="en-US" sz="1450" kern="0" spc="-80" dirty="0">
                <a:solidFill>
                  <a:schemeClr val="accent6"/>
                </a:solidFill>
              </a:rPr>
              <a:t>: Repositories provide a way to access domain objects without exposing their underlying details. They are crucial for abstracting data access. </a:t>
            </a:r>
          </a:p>
          <a:p>
            <a:pPr marL="12700" marR="5080"/>
            <a:r>
              <a:rPr lang="en-US" sz="1450" kern="0" spc="-80" dirty="0">
                <a:solidFill>
                  <a:schemeClr val="accent6"/>
                </a:solidFill>
              </a:rPr>
              <a:t>🧬 </a:t>
            </a:r>
            <a:r>
              <a:rPr lang="en-US" sz="1450" kern="0" spc="-80" dirty="0">
                <a:solidFill>
                  <a:schemeClr val="accent2"/>
                </a:solidFill>
              </a:rPr>
              <a:t>Event-Driven Architecture:</a:t>
            </a:r>
            <a:r>
              <a:rPr lang="en-US" sz="1450" kern="0" spc="-80" dirty="0">
                <a:solidFill>
                  <a:schemeClr val="accent6"/>
                </a:solidFill>
              </a:rPr>
              <a:t> DDD aligns well with event-driven architectures, allowing systems to respond to domain events and changes. </a:t>
            </a:r>
          </a:p>
          <a:p>
            <a:pPr marL="12700" marR="5080"/>
            <a:endParaRPr lang="en-US" sz="1450" kern="0" spc="-80" dirty="0">
              <a:solidFill>
                <a:schemeClr val="accent6"/>
              </a:solidFill>
            </a:endParaRPr>
          </a:p>
          <a:p>
            <a:pPr marL="12700" marR="5080"/>
            <a:r>
              <a:rPr lang="en-US" sz="1500" kern="0" spc="-80" dirty="0">
                <a:solidFill>
                  <a:schemeClr val="accent2"/>
                </a:solidFill>
              </a:rPr>
              <a:t>For Further Exploration </a:t>
            </a:r>
            <a:r>
              <a:rPr lang="en-US" sz="1500" kern="0" spc="-80" dirty="0">
                <a:solidFill>
                  <a:schemeClr val="accent2"/>
                </a:solidFill>
                <a:hlinkClick r:id="rId7"/>
              </a:rPr>
              <a:t>–</a:t>
            </a:r>
            <a:r>
              <a:rPr lang="en-US" sz="1500" kern="0" spc="-80" dirty="0">
                <a:solidFill>
                  <a:schemeClr val="accent2"/>
                </a:solidFill>
              </a:rPr>
              <a:t> </a:t>
            </a:r>
          </a:p>
          <a:p>
            <a:pPr marL="12700" marR="5080"/>
            <a:r>
              <a:rPr lang="en-US" sz="1500" kern="0" spc="-80" dirty="0">
                <a:solidFill>
                  <a:schemeClr val="accent2"/>
                </a:solidFill>
              </a:rPr>
              <a:t> </a:t>
            </a:r>
            <a:r>
              <a:rPr lang="en-IN" sz="900" dirty="0">
                <a:hlinkClick r:id="rId8"/>
              </a:rPr>
              <a:t>Understanding Domain Objects, Entities, DTOs &amp; Models</a:t>
            </a:r>
            <a:endParaRPr lang="en-IN" sz="900" dirty="0"/>
          </a:p>
          <a:p>
            <a:pPr marL="12700" marR="5080"/>
            <a:r>
              <a:rPr lang="en-US" sz="900" kern="0" spc="-80" dirty="0">
                <a:solidFill>
                  <a:schemeClr val="accent2"/>
                </a:solidFill>
              </a:rPr>
              <a:t>  </a:t>
            </a:r>
            <a:r>
              <a:rPr lang="en-US" sz="900" dirty="0">
                <a:hlinkClick r:id="rId9"/>
              </a:rPr>
              <a:t>Domain Driven Design - Awesome Software Architecture</a:t>
            </a:r>
            <a:endParaRPr lang="en-US" sz="900" dirty="0"/>
          </a:p>
          <a:p>
            <a:pPr marL="12700" marR="5080"/>
            <a:r>
              <a:rPr lang="en-US" sz="900" kern="0" spc="-80" dirty="0">
                <a:solidFill>
                  <a:schemeClr val="accent2"/>
                </a:solidFill>
              </a:rPr>
              <a:t>  </a:t>
            </a:r>
            <a:r>
              <a:rPr lang="en-US" sz="900" dirty="0">
                <a:hlinkClick r:id="rId7"/>
              </a:rPr>
              <a:t>DDD-Based-Enterprise-Application-Framework: A Domain Driven Design Based Enterprise Application Framework</a:t>
            </a:r>
            <a:endParaRPr lang="en-US" sz="900" kern="0" spc="-80" dirty="0">
              <a:solidFill>
                <a:schemeClr val="accent2"/>
              </a:solidFill>
            </a:endParaRPr>
          </a:p>
          <a:p>
            <a:pPr marL="12700" marR="5080"/>
            <a:r>
              <a:rPr lang="en-US" sz="900" kern="0" spc="-80" dirty="0">
                <a:solidFill>
                  <a:schemeClr val="accent6"/>
                </a:solidFill>
              </a:rPr>
              <a:t>  </a:t>
            </a:r>
            <a:r>
              <a:rPr lang="en-US" sz="900" dirty="0">
                <a:hlinkClick r:id="rId10"/>
              </a:rPr>
              <a:t>Event Driven Architecture - Awesome Software Architecture</a:t>
            </a:r>
            <a:endParaRPr lang="en-US" sz="900" kern="0" spc="-80" dirty="0">
              <a:solidFill>
                <a:schemeClr val="accent6"/>
              </a:solidFill>
            </a:endParaRPr>
          </a:p>
        </p:txBody>
      </p:sp>
    </p:spTree>
    <p:extLst>
      <p:ext uri="{BB962C8B-B14F-4D97-AF65-F5344CB8AC3E}">
        <p14:creationId xmlns:p14="http://schemas.microsoft.com/office/powerpoint/2010/main" val="1769339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CQRS(Command Query Responsibility Segregation) - </a:t>
            </a:r>
            <a:endParaRPr lang="en-US" sz="1500" kern="0" spc="-80" dirty="0">
              <a:solidFill>
                <a:schemeClr val="accent2"/>
              </a:solidFill>
            </a:endParaRPr>
          </a:p>
        </p:txBody>
      </p:sp>
      <p:pic>
        <p:nvPicPr>
          <p:cNvPr id="1026" name="Picture 2" descr="Diagram showing a high level Simplified CQRS and DDD microservice.">
            <a:extLst>
              <a:ext uri="{FF2B5EF4-FFF2-40B4-BE49-F238E27FC236}">
                <a16:creationId xmlns:a16="http://schemas.microsoft.com/office/drawing/2014/main" id="{D2CBAE6F-8289-1A0A-4597-C2F3320080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01760"/>
            <a:ext cx="9144000" cy="4079840"/>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24ED3F65-21EF-EC62-DC6D-B04DD06731DD}"/>
              </a:ext>
            </a:extLst>
          </p:cNvPr>
          <p:cNvSpPr txBox="1">
            <a:spLocks/>
          </p:cNvSpPr>
          <p:nvPr/>
        </p:nvSpPr>
        <p:spPr>
          <a:xfrm>
            <a:off x="76200" y="5112603"/>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Applying simplified CQRS and DDD patterns in a microservice - .NET | Microsoft Learn</a:t>
            </a:r>
            <a:endParaRPr lang="en-US" sz="1500" dirty="0"/>
          </a:p>
          <a:p>
            <a:pPr marL="12700" marR="5080"/>
            <a:r>
              <a:rPr lang="en-IN" sz="1500" dirty="0">
                <a:hlinkClick r:id="rId9"/>
              </a:rPr>
              <a:t>CQRS - Awesome Software Architecture</a:t>
            </a:r>
            <a:endParaRPr lang="en-US" sz="1500" kern="0" spc="-80" dirty="0">
              <a:solidFill>
                <a:schemeClr val="accent2"/>
              </a:solidFill>
            </a:endParaRPr>
          </a:p>
        </p:txBody>
      </p:sp>
    </p:spTree>
    <p:extLst>
      <p:ext uri="{BB962C8B-B14F-4D97-AF65-F5344CB8AC3E}">
        <p14:creationId xmlns:p14="http://schemas.microsoft.com/office/powerpoint/2010/main" val="1522126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Event Storming vs Event Sourcing - </a:t>
            </a:r>
            <a:endParaRPr lang="en-US" sz="1500" kern="0" spc="-80" dirty="0">
              <a:solidFill>
                <a:schemeClr val="accent2"/>
              </a:solidFill>
            </a:endParaRPr>
          </a:p>
        </p:txBody>
      </p:sp>
      <p:pic>
        <p:nvPicPr>
          <p:cNvPr id="2052" name="Picture 4" descr="Event Sourcing vs Stream Processing: Progressing to Real-Time Streams">
            <a:extLst>
              <a:ext uri="{FF2B5EF4-FFF2-40B4-BE49-F238E27FC236}">
                <a16:creationId xmlns:a16="http://schemas.microsoft.com/office/drawing/2014/main" id="{2B24D483-F2BE-9B5D-1B82-92CFD2C6DA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010774"/>
            <a:ext cx="7620000" cy="401842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EE502F46-797E-EEA4-FA0F-25B7CCA3B55D}"/>
              </a:ext>
            </a:extLst>
          </p:cNvPr>
          <p:cNvSpPr txBox="1">
            <a:spLocks/>
          </p:cNvSpPr>
          <p:nvPr/>
        </p:nvSpPr>
        <p:spPr>
          <a:xfrm>
            <a:off x="137369" y="5029200"/>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Event Storming - Awesome Software Architecture</a:t>
            </a:r>
            <a:r>
              <a:rPr lang="en-US" sz="1500" kern="0" spc="-80" dirty="0">
                <a:solidFill>
                  <a:schemeClr val="accent2"/>
                </a:solidFill>
              </a:rPr>
              <a:t> </a:t>
            </a:r>
          </a:p>
          <a:p>
            <a:pPr marL="12700" marR="5080"/>
            <a:r>
              <a:rPr lang="en-US" sz="1500" kern="0" spc="-80" dirty="0">
                <a:solidFill>
                  <a:schemeClr val="accent2"/>
                </a:solidFill>
                <a:hlinkClick r:id="rId9"/>
              </a:rPr>
              <a:t> </a:t>
            </a:r>
            <a:r>
              <a:rPr lang="en-US" sz="1500" dirty="0">
                <a:hlinkClick r:id="rId9"/>
              </a:rPr>
              <a:t>Event Sourcing - Awesome Software Architecture</a:t>
            </a:r>
            <a:r>
              <a:rPr lang="en-US" sz="1600" kern="0" spc="-80" dirty="0">
                <a:solidFill>
                  <a:schemeClr val="accent2"/>
                </a:solidFill>
              </a:rPr>
              <a:t> </a:t>
            </a:r>
          </a:p>
        </p:txBody>
      </p:sp>
    </p:spTree>
    <p:extLst>
      <p:ext uri="{BB962C8B-B14F-4D97-AF65-F5344CB8AC3E}">
        <p14:creationId xmlns:p14="http://schemas.microsoft.com/office/powerpoint/2010/main" val="214304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854231" cy="25083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2400" kern="0" spc="-80" dirty="0">
                <a:solidFill>
                  <a:schemeClr val="accent2"/>
                </a:solidFill>
              </a:rPr>
              <a:t>For Further Exploration(some are legacy/old patterns though) – </a:t>
            </a:r>
          </a:p>
          <a:p>
            <a:pPr marL="12700" marR="5080"/>
            <a:r>
              <a:rPr lang="en-IN" sz="2400" kern="0" spc="-80" dirty="0">
                <a:solidFill>
                  <a:schemeClr val="accent2"/>
                </a:solidFill>
              </a:rPr>
              <a:t> </a:t>
            </a:r>
            <a:r>
              <a:rPr lang="en-US" sz="1500" dirty="0">
                <a:hlinkClick r:id="rId7"/>
              </a:rPr>
              <a:t>Catalog of Patterns of Enterprise Application Architecture</a:t>
            </a:r>
            <a:r>
              <a:rPr lang="en-IN" sz="1500" kern="0" spc="-80" dirty="0">
                <a:solidFill>
                  <a:schemeClr val="accent2"/>
                </a:solidFill>
              </a:rPr>
              <a:t> </a:t>
            </a:r>
          </a:p>
          <a:p>
            <a:pPr marL="12700" marR="5080"/>
            <a:endParaRPr lang="en-IN" sz="1500" kern="0" spc="-80" dirty="0">
              <a:solidFill>
                <a:schemeClr val="accent2"/>
              </a:solidFill>
            </a:endParaRPr>
          </a:p>
          <a:p>
            <a:pPr marL="12700" marR="5080"/>
            <a:r>
              <a:rPr lang="en-IN" sz="1500" kern="0" spc="-80" dirty="0">
                <a:solidFill>
                  <a:schemeClr val="accent2"/>
                </a:solidFill>
              </a:rPr>
              <a:t>  </a:t>
            </a:r>
            <a:r>
              <a:rPr lang="en-IN" sz="1500" dirty="0">
                <a:hlinkClick r:id="rId8"/>
              </a:rPr>
              <a:t>Martin Fowler: </a:t>
            </a:r>
            <a:r>
              <a:rPr lang="en-IN" sz="1500" dirty="0" err="1">
                <a:hlinkClick r:id="rId8"/>
              </a:rPr>
              <a:t>eaaDev</a:t>
            </a:r>
            <a:r>
              <a:rPr lang="en-IN" sz="1500" kern="0" spc="-80" dirty="0">
                <a:solidFill>
                  <a:schemeClr val="accent2"/>
                </a:solidFill>
              </a:rPr>
              <a:t> </a:t>
            </a:r>
          </a:p>
          <a:p>
            <a:pPr marL="12700" marR="5080"/>
            <a:endParaRPr lang="en-IN" sz="1500" kern="0" spc="-80" dirty="0">
              <a:solidFill>
                <a:schemeClr val="accent2"/>
              </a:solidFill>
            </a:endParaRPr>
          </a:p>
          <a:p>
            <a:pPr marL="12700" marR="5080"/>
            <a:r>
              <a:rPr lang="en-IN" sz="1500" kern="0" spc="-80" dirty="0">
                <a:solidFill>
                  <a:schemeClr val="accent2"/>
                </a:solidFill>
              </a:rPr>
              <a:t>  </a:t>
            </a:r>
            <a:r>
              <a:rPr lang="en-IN" sz="1500" dirty="0">
                <a:hlinkClick r:id="rId9"/>
              </a:rPr>
              <a:t>Core J2EE Patterns</a:t>
            </a:r>
            <a:endParaRPr lang="en-IN" sz="1500" dirty="0"/>
          </a:p>
          <a:p>
            <a:pPr marL="12700" marR="5080"/>
            <a:endParaRPr lang="en-IN" sz="1500" kern="0" spc="-80" dirty="0">
              <a:solidFill>
                <a:schemeClr val="accent2"/>
              </a:solidFill>
            </a:endParaRPr>
          </a:p>
          <a:p>
            <a:pPr marL="12700" marR="5080"/>
            <a:r>
              <a:rPr lang="en-IN" sz="1500" kern="0" spc="-80">
                <a:solidFill>
                  <a:schemeClr val="accent2"/>
                </a:solidFill>
              </a:rPr>
              <a:t>  </a:t>
            </a:r>
            <a:r>
              <a:rPr lang="en-IN" sz="1600">
                <a:hlinkClick r:id="rId10"/>
              </a:rPr>
              <a:t>.NET application architecture guides | .NET</a:t>
            </a:r>
            <a:r>
              <a:rPr lang="en-IN" sz="1600"/>
              <a:t> </a:t>
            </a:r>
            <a:endParaRPr lang="en-US" sz="1500" kern="0" spc="-80" dirty="0">
              <a:solidFill>
                <a:schemeClr val="accent2"/>
              </a:solidFill>
            </a:endParaRPr>
          </a:p>
        </p:txBody>
      </p:sp>
    </p:spTree>
    <p:extLst>
      <p:ext uri="{BB962C8B-B14F-4D97-AF65-F5344CB8AC3E}">
        <p14:creationId xmlns:p14="http://schemas.microsoft.com/office/powerpoint/2010/main" val="11731965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15628276"/>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7D59599-FF81-59EA-AC89-252258F49DA2}"/>
              </a:ext>
            </a:extLst>
          </p:cNvPr>
          <p:cNvSpPr txBox="1">
            <a:spLocks/>
          </p:cNvSpPr>
          <p:nvPr/>
        </p:nvSpPr>
        <p:spPr>
          <a:xfrm>
            <a:off x="137369" y="4803085"/>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Microservices - Awesome Software Architecture</a:t>
            </a:r>
            <a:endParaRPr lang="en-IN" sz="1500" dirty="0"/>
          </a:p>
          <a:p>
            <a:pPr marL="12700" marR="5080"/>
            <a:r>
              <a:rPr lang="en-US" sz="1500" dirty="0">
                <a:hlinkClick r:id="rId8"/>
              </a:rPr>
              <a:t>Microservices vs APIs - Difference Between Modular Software Design Approaches - AWS</a:t>
            </a:r>
            <a:r>
              <a:rPr lang="en-US" sz="1500" kern="0" spc="-80" dirty="0">
                <a:solidFill>
                  <a:schemeClr val="accent2"/>
                </a:solidFill>
              </a:rPr>
              <a:t> </a:t>
            </a:r>
          </a:p>
          <a:p>
            <a:pPr marL="12700" marR="5080"/>
            <a:r>
              <a:rPr lang="en-US" sz="1500" dirty="0">
                <a:hlinkClick r:id="rId9"/>
              </a:rPr>
              <a:t>Microservices vs Service-Oriented Architecture by Mark Richards | Goodreads</a:t>
            </a:r>
            <a:endParaRPr lang="en-US" sz="1500" kern="0" spc="-80" dirty="0">
              <a:solidFill>
                <a:schemeClr val="accent2"/>
              </a:solidFill>
            </a:endParaRPr>
          </a:p>
        </p:txBody>
      </p:sp>
      <p:pic>
        <p:nvPicPr>
          <p:cNvPr id="10" name="Picture 9">
            <a:extLst>
              <a:ext uri="{FF2B5EF4-FFF2-40B4-BE49-F238E27FC236}">
                <a16:creationId xmlns:a16="http://schemas.microsoft.com/office/drawing/2014/main" id="{5F2C0B30-08EC-CE67-A445-2DD56DC6A608}"/>
              </a:ext>
            </a:extLst>
          </p:cNvPr>
          <p:cNvPicPr>
            <a:picLocks noChangeAspect="1"/>
          </p:cNvPicPr>
          <p:nvPr/>
        </p:nvPicPr>
        <p:blipFill>
          <a:blip r:embed="rId10"/>
          <a:stretch>
            <a:fillRect/>
          </a:stretch>
        </p:blipFill>
        <p:spPr>
          <a:xfrm>
            <a:off x="137369" y="838200"/>
            <a:ext cx="8716168" cy="3341177"/>
          </a:xfrm>
          <a:prstGeom prst="rect">
            <a:avLst/>
          </a:prstGeom>
        </p:spPr>
      </p:pic>
    </p:spTree>
    <p:extLst>
      <p:ext uri="{BB962C8B-B14F-4D97-AF65-F5344CB8AC3E}">
        <p14:creationId xmlns:p14="http://schemas.microsoft.com/office/powerpoint/2010/main" val="36969498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214263" y="7736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Application Multitenancy -  </a:t>
            </a:r>
            <a:endParaRPr lang="en-US" sz="2000" kern="0" spc="-80" dirty="0">
              <a:solidFill>
                <a:schemeClr val="accent6"/>
              </a:solidFill>
            </a:endParaRPr>
          </a:p>
        </p:txBody>
      </p:sp>
      <p:pic>
        <p:nvPicPr>
          <p:cNvPr id="17414" name="Picture 6" descr="Multi-tenant architecture with tenant-isolated components. | Download  Scientific Diagram">
            <a:extLst>
              <a:ext uri="{FF2B5EF4-FFF2-40B4-BE49-F238E27FC236}">
                <a16:creationId xmlns:a16="http://schemas.microsoft.com/office/drawing/2014/main" id="{36A175C5-A760-EDCE-0905-1004B5653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472537" cy="3809999"/>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EA15E624-C79A-E56D-FD90-AD7DCE92E13D}"/>
              </a:ext>
            </a:extLst>
          </p:cNvPr>
          <p:cNvSpPr txBox="1">
            <a:spLocks/>
          </p:cNvSpPr>
          <p:nvPr/>
        </p:nvSpPr>
        <p:spPr>
          <a:xfrm>
            <a:off x="122975" y="4612466"/>
            <a:ext cx="8624937" cy="13311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500" kern="0" spc="-80" dirty="0">
              <a:solidFill>
                <a:schemeClr val="accent2"/>
              </a:solidFill>
            </a:endParaRP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3"/>
              </a:rPr>
              <a:t>Inevitability of Multi-Tenancy &amp; SAAS in Product Engineering | </a:t>
            </a:r>
            <a:r>
              <a:rPr lang="en-US" sz="1050" dirty="0" err="1">
                <a:hlinkClick r:id="rId3"/>
              </a:rPr>
              <a:t>prashanthpanduranga</a:t>
            </a:r>
            <a:r>
              <a:rPr lang="en-US" sz="1050" dirty="0"/>
              <a:t> </a:t>
            </a:r>
            <a:r>
              <a:rPr lang="en-US" sz="1600" kern="0" spc="-80" dirty="0">
                <a:solidFill>
                  <a:schemeClr val="accent2"/>
                </a:solidFill>
              </a:rPr>
              <a:t> </a:t>
            </a:r>
          </a:p>
          <a:p>
            <a:pPr marL="12700" marR="5080"/>
            <a:r>
              <a:rPr lang="en-US" sz="1050" dirty="0">
                <a:hlinkClick r:id="rId4"/>
              </a:rPr>
              <a:t>ASP.NET Multitenant Applications Succinctly</a:t>
            </a:r>
            <a:endParaRPr lang="en-US" sz="1050" dirty="0"/>
          </a:p>
          <a:p>
            <a:pPr marL="12700" marR="5080"/>
            <a:r>
              <a:rPr lang="en-US" sz="1050" dirty="0">
                <a:hlinkClick r:id="rId5"/>
              </a:rPr>
              <a:t>Building Multi-Tenant SaaS Architectures: Principles, Practices, and Patterns Using AWS</a:t>
            </a:r>
            <a:endParaRPr lang="en-US" sz="1050" dirty="0"/>
          </a:p>
          <a:p>
            <a:pPr marL="12700" marR="5080"/>
            <a:r>
              <a:rPr lang="en-IN" sz="1050" dirty="0">
                <a:hlinkClick r:id="rId6"/>
              </a:rPr>
              <a:t>Commercial-Marketplace-Client-</a:t>
            </a:r>
            <a:r>
              <a:rPr lang="en-IN" sz="1050" dirty="0" err="1">
                <a:hlinkClick r:id="rId6"/>
              </a:rPr>
              <a:t>Dotne</a:t>
            </a:r>
            <a:endParaRPr lang="en-US" sz="1600" kern="0" spc="-80" dirty="0">
              <a:solidFill>
                <a:schemeClr val="accent2"/>
              </a:solidFill>
            </a:endParaRPr>
          </a:p>
        </p:txBody>
      </p:sp>
      <p:grpSp>
        <p:nvGrpSpPr>
          <p:cNvPr id="7" name="Group 6">
            <a:extLst>
              <a:ext uri="{FF2B5EF4-FFF2-40B4-BE49-F238E27FC236}">
                <a16:creationId xmlns:a16="http://schemas.microsoft.com/office/drawing/2014/main" id="{1D4186EC-4003-6851-8C1C-DE7FC86F8EE1}"/>
              </a:ext>
            </a:extLst>
          </p:cNvPr>
          <p:cNvGrpSpPr/>
          <p:nvPr/>
        </p:nvGrpSpPr>
        <p:grpSpPr>
          <a:xfrm>
            <a:off x="304800" y="23687"/>
            <a:ext cx="8472537" cy="433513"/>
            <a:chOff x="0" y="0"/>
            <a:chExt cx="8472537" cy="433513"/>
          </a:xfrm>
        </p:grpSpPr>
        <p:sp>
          <p:nvSpPr>
            <p:cNvPr id="9" name="Rectangle: Rounded Corners 8">
              <a:extLst>
                <a:ext uri="{FF2B5EF4-FFF2-40B4-BE49-F238E27FC236}">
                  <a16:creationId xmlns:a16="http://schemas.microsoft.com/office/drawing/2014/main" id="{A9F05178-1638-B08C-2B64-5022F16F5896}"/>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EC17163F-3170-F71C-28EA-CF48E9CF5C53}"/>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23707578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Infrastructure Multitenancy(using K8s) -  </a:t>
            </a:r>
            <a:endParaRPr lang="en-US" sz="2000" kern="0" spc="-80" dirty="0">
              <a:solidFill>
                <a:schemeClr val="accent6"/>
              </a:solidFill>
            </a:endParaRPr>
          </a:p>
        </p:txBody>
      </p:sp>
      <p:sp>
        <p:nvSpPr>
          <p:cNvPr id="8" name="object 2">
            <a:extLst>
              <a:ext uri="{FF2B5EF4-FFF2-40B4-BE49-F238E27FC236}">
                <a16:creationId xmlns:a16="http://schemas.microsoft.com/office/drawing/2014/main" id="{EA15E624-C79A-E56D-FD90-AD7DCE92E13D}"/>
              </a:ext>
            </a:extLst>
          </p:cNvPr>
          <p:cNvSpPr txBox="1">
            <a:spLocks/>
          </p:cNvSpPr>
          <p:nvPr/>
        </p:nvSpPr>
        <p:spPr>
          <a:xfrm>
            <a:off x="228600"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2"/>
              </a:rPr>
              <a:t>Kubernetes Multi-tenancy Best Practices &amp; Architecture Model..(2/2) - Vamsi Talks Tech</a:t>
            </a:r>
            <a:endParaRPr lang="en-US" sz="1500" dirty="0"/>
          </a:p>
          <a:p>
            <a:pPr marL="12700" marR="5080"/>
            <a:r>
              <a:rPr lang="en-IN" sz="1500" dirty="0">
                <a:hlinkClick r:id="rId3"/>
              </a:rPr>
              <a:t>Multi-tenancy | Kubernetes</a:t>
            </a:r>
            <a:endParaRPr lang="en-IN" sz="1500" dirty="0"/>
          </a:p>
          <a:p>
            <a:pPr marL="12700" marR="5080"/>
            <a:r>
              <a:rPr lang="en-US" sz="1500" dirty="0">
                <a:hlinkClick r:id="rId4"/>
              </a:rPr>
              <a:t>Multi-tenancy in Kubernetes: implementation and optimization | CNCF</a:t>
            </a:r>
            <a:endParaRPr lang="en-US" sz="1500" kern="0" spc="-80" dirty="0">
              <a:solidFill>
                <a:schemeClr val="accent2"/>
              </a:solidFill>
            </a:endParaRPr>
          </a:p>
        </p:txBody>
      </p:sp>
      <p:pic>
        <p:nvPicPr>
          <p:cNvPr id="18436" name="Picture 4">
            <a:extLst>
              <a:ext uri="{FF2B5EF4-FFF2-40B4-BE49-F238E27FC236}">
                <a16:creationId xmlns:a16="http://schemas.microsoft.com/office/drawing/2014/main" id="{0B3DDC4B-61AA-00D8-7B65-58937D02D7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079083"/>
            <a:ext cx="8396337" cy="34929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4">
            <a:extLst>
              <a:ext uri="{FF2B5EF4-FFF2-40B4-BE49-F238E27FC236}">
                <a16:creationId xmlns:a16="http://schemas.microsoft.com/office/drawing/2014/main" id="{8B3FBA2C-2929-0CC0-EE5E-3F5ECAF00429}"/>
              </a:ext>
            </a:extLst>
          </p:cNvPr>
          <p:cNvSpPr txBox="1"/>
          <p:nvPr/>
        </p:nvSpPr>
        <p:spPr>
          <a:xfrm>
            <a:off x="325962" y="44849"/>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nvGrpSpPr>
          <p:cNvPr id="9" name="Group 8">
            <a:extLst>
              <a:ext uri="{FF2B5EF4-FFF2-40B4-BE49-F238E27FC236}">
                <a16:creationId xmlns:a16="http://schemas.microsoft.com/office/drawing/2014/main" id="{1FE043B7-ABA4-01E5-8111-0AB1E40100A1}"/>
              </a:ext>
            </a:extLst>
          </p:cNvPr>
          <p:cNvGrpSpPr/>
          <p:nvPr/>
        </p:nvGrpSpPr>
        <p:grpSpPr>
          <a:xfrm>
            <a:off x="304800" y="23687"/>
            <a:ext cx="8472537" cy="433513"/>
            <a:chOff x="0" y="0"/>
            <a:chExt cx="8472537" cy="433513"/>
          </a:xfrm>
        </p:grpSpPr>
        <p:sp>
          <p:nvSpPr>
            <p:cNvPr id="10" name="Rectangle: Rounded Corners 9">
              <a:extLst>
                <a:ext uri="{FF2B5EF4-FFF2-40B4-BE49-F238E27FC236}">
                  <a16:creationId xmlns:a16="http://schemas.microsoft.com/office/drawing/2014/main" id="{929DB29B-CCB6-99BE-FD95-418B1975DFA4}"/>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E02D3F7D-6871-8969-3242-570004B1A95D}"/>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14735421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8624936"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Monolith to Microservices Migration – </a:t>
            </a:r>
            <a:endParaRPr lang="en-US" sz="2000" kern="0" spc="-80" dirty="0">
              <a:solidFill>
                <a:schemeClr val="accent6"/>
              </a:solidFill>
            </a:endParaRPr>
          </a:p>
        </p:txBody>
      </p:sp>
      <p:pic>
        <p:nvPicPr>
          <p:cNvPr id="16386" name="Picture 2" descr="Steps for Migrating from Monolith to Microservices">
            <a:extLst>
              <a:ext uri="{FF2B5EF4-FFF2-40B4-BE49-F238E27FC236}">
                <a16:creationId xmlns:a16="http://schemas.microsoft.com/office/drawing/2014/main" id="{F53F825D-178D-ED8E-DAA8-87296CAEE8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371601"/>
            <a:ext cx="8305800" cy="3428999"/>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2C6693FA-415E-5238-EF65-BB01F556BF26}"/>
              </a:ext>
            </a:extLst>
          </p:cNvPr>
          <p:cNvSpPr txBox="1">
            <a:spLocks/>
          </p:cNvSpPr>
          <p:nvPr/>
        </p:nvSpPr>
        <p:spPr>
          <a:xfrm>
            <a:off x="137368" y="5078178"/>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Refactor a monolith into microservices  |  Cloud Architecture Center  |  Google Cloud</a:t>
            </a:r>
            <a:endParaRPr lang="en-US" sz="1500" kern="0" spc="-80" dirty="0">
              <a:solidFill>
                <a:schemeClr val="accent2"/>
              </a:solidFill>
            </a:endParaRPr>
          </a:p>
          <a:p>
            <a:pPr marL="12700" marR="5080"/>
            <a:r>
              <a:rPr lang="en-US" sz="1500" dirty="0">
                <a:hlinkClick r:id="rId9"/>
              </a:rPr>
              <a:t>Monolith to Microservices — Migration patters | by Priyal </a:t>
            </a:r>
            <a:r>
              <a:rPr lang="en-US" sz="1500" dirty="0" err="1">
                <a:hlinkClick r:id="rId9"/>
              </a:rPr>
              <a:t>Walpita</a:t>
            </a:r>
            <a:r>
              <a:rPr lang="en-US" sz="1500" dirty="0">
                <a:hlinkClick r:id="rId9"/>
              </a:rPr>
              <a:t> | Medium</a:t>
            </a:r>
            <a:endParaRPr lang="en-US" sz="1500" kern="0" spc="-80" dirty="0">
              <a:solidFill>
                <a:schemeClr val="accent2"/>
              </a:solidFill>
            </a:endParaRPr>
          </a:p>
        </p:txBody>
      </p:sp>
    </p:spTree>
    <p:extLst>
      <p:ext uri="{BB962C8B-B14F-4D97-AF65-F5344CB8AC3E}">
        <p14:creationId xmlns:p14="http://schemas.microsoft.com/office/powerpoint/2010/main" val="23970501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2776" name="Picture 8" descr="Microservice Architecture and Design Patterns for Microservices | by  madhuka udantha | Medium">
            <a:extLst>
              <a:ext uri="{FF2B5EF4-FFF2-40B4-BE49-F238E27FC236}">
                <a16:creationId xmlns:a16="http://schemas.microsoft.com/office/drawing/2014/main" id="{FD19EBCB-3A62-CFC0-C082-F93B61E4F6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143000"/>
            <a:ext cx="8534401" cy="4228464"/>
          </a:xfrm>
          <a:prstGeom prst="rect">
            <a:avLst/>
          </a:prstGeom>
          <a:noFill/>
          <a:extLst>
            <a:ext uri="{909E8E84-426E-40DD-AFC4-6F175D3DCCD1}">
              <a14:hiddenFill xmlns:a14="http://schemas.microsoft.com/office/drawing/2010/main">
                <a:solidFill>
                  <a:srgbClr val="FFFFFF"/>
                </a:solidFill>
              </a14:hiddenFill>
            </a:ext>
          </a:extLst>
        </p:spPr>
      </p:pic>
      <p:sp>
        <p:nvSpPr>
          <p:cNvPr id="13" name="object 2">
            <a:extLst>
              <a:ext uri="{FF2B5EF4-FFF2-40B4-BE49-F238E27FC236}">
                <a16:creationId xmlns:a16="http://schemas.microsoft.com/office/drawing/2014/main" id="{6ED63413-A022-8721-0141-A55D702FB7CA}"/>
              </a:ext>
            </a:extLst>
          </p:cNvPr>
          <p:cNvSpPr txBox="1">
            <a:spLocks/>
          </p:cNvSpPr>
          <p:nvPr/>
        </p:nvSpPr>
        <p:spPr>
          <a:xfrm>
            <a:off x="123727" y="5343436"/>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Architecture Patterns </a:t>
            </a:r>
            <a:r>
              <a:rPr lang="en-US" sz="2400" kern="0" spc="-80" dirty="0">
                <a:solidFill>
                  <a:schemeClr val="accent2"/>
                </a:solidFill>
              </a:rPr>
              <a:t>–</a:t>
            </a:r>
          </a:p>
          <a:p>
            <a:pPr marL="12700" marR="5080"/>
            <a:r>
              <a:rPr lang="en-IN" sz="1500" dirty="0">
                <a:hlinkClick r:id="rId8"/>
              </a:rPr>
              <a:t>Cloud-design-patterns</a:t>
            </a:r>
            <a:endParaRPr lang="en-US" sz="1500" kern="0" spc="-80" dirty="0">
              <a:solidFill>
                <a:schemeClr val="accent2"/>
              </a:solidFill>
            </a:endParaRPr>
          </a:p>
        </p:txBody>
      </p:sp>
      <p:sp>
        <p:nvSpPr>
          <p:cNvPr id="8" name="object 2">
            <a:extLst>
              <a:ext uri="{FF2B5EF4-FFF2-40B4-BE49-F238E27FC236}">
                <a16:creationId xmlns:a16="http://schemas.microsoft.com/office/drawing/2014/main" id="{A5B7113F-9B20-7EA2-F9CA-BA92DE554742}"/>
              </a:ext>
            </a:extLst>
          </p:cNvPr>
          <p:cNvSpPr txBox="1">
            <a:spLocks/>
          </p:cNvSpPr>
          <p:nvPr/>
        </p:nvSpPr>
        <p:spPr>
          <a:xfrm>
            <a:off x="289769" y="7736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Microservices Architecture Patterns </a:t>
            </a:r>
            <a:r>
              <a:rPr lang="en-US" sz="2400" kern="0" spc="-80" dirty="0">
                <a:solidFill>
                  <a:schemeClr val="accent2"/>
                </a:solidFill>
              </a:rPr>
              <a:t>–</a:t>
            </a:r>
          </a:p>
        </p:txBody>
      </p:sp>
    </p:spTree>
    <p:extLst>
      <p:ext uri="{BB962C8B-B14F-4D97-AF65-F5344CB8AC3E}">
        <p14:creationId xmlns:p14="http://schemas.microsoft.com/office/powerpoint/2010/main" val="21612247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3" name="object 2">
            <a:extLst>
              <a:ext uri="{FF2B5EF4-FFF2-40B4-BE49-F238E27FC236}">
                <a16:creationId xmlns:a16="http://schemas.microsoft.com/office/drawing/2014/main" id="{6ED63413-A022-8721-0141-A55D702FB7CA}"/>
              </a:ext>
            </a:extLst>
          </p:cNvPr>
          <p:cNvSpPr txBox="1">
            <a:spLocks/>
          </p:cNvSpPr>
          <p:nvPr/>
        </p:nvSpPr>
        <p:spPr>
          <a:xfrm>
            <a:off x="290463" y="781368"/>
            <a:ext cx="8624937" cy="37087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a:t>
            </a:r>
          </a:p>
          <a:p>
            <a:pPr marL="12700" marR="5080"/>
            <a:r>
              <a:rPr lang="en-IN" sz="1700" dirty="0">
                <a:hlinkClick r:id="rId7"/>
              </a:rPr>
              <a:t>A pattern language for microservices</a:t>
            </a:r>
            <a:r>
              <a:rPr lang="en-US" sz="1700" kern="0" spc="-80" dirty="0">
                <a:solidFill>
                  <a:schemeClr val="accent2"/>
                </a:solidFill>
              </a:rPr>
              <a:t>  </a:t>
            </a:r>
          </a:p>
          <a:p>
            <a:pPr marL="12700" marR="5080"/>
            <a:r>
              <a:rPr lang="en-IN" sz="1700" dirty="0">
                <a:hlinkClick r:id="rId8"/>
              </a:rPr>
              <a:t>SOA: Patterns</a:t>
            </a:r>
            <a:endParaRPr lang="en-US" sz="1700" kern="0" spc="-80" dirty="0">
              <a:solidFill>
                <a:schemeClr val="accent2"/>
              </a:solidFill>
            </a:endParaRPr>
          </a:p>
          <a:p>
            <a:pPr marL="12700" marR="5080"/>
            <a:r>
              <a:rPr lang="en-IN" sz="1700" dirty="0">
                <a:hlinkClick r:id="rId9"/>
              </a:rPr>
              <a:t>Microservices with Netflix OSS, Spring Boot, and non-JVM applications</a:t>
            </a:r>
            <a:endParaRPr lang="en-IN" sz="1700" dirty="0"/>
          </a:p>
          <a:p>
            <a:pPr marL="12700" marR="5080"/>
            <a:r>
              <a:rPr lang="en-US" sz="1700" dirty="0">
                <a:hlinkClick r:id="rId10"/>
              </a:rPr>
              <a:t>Ribbon</a:t>
            </a:r>
            <a:endParaRPr lang="en-US" sz="1700" dirty="0"/>
          </a:p>
          <a:p>
            <a:pPr marL="12700" marR="5080"/>
            <a:r>
              <a:rPr lang="en-US" sz="1700">
                <a:hlinkClick r:id="rId11"/>
              </a:rPr>
              <a:t>Service </a:t>
            </a:r>
            <a:r>
              <a:rPr lang="en-US" sz="1700" dirty="0">
                <a:hlinkClick r:id="rId11"/>
              </a:rPr>
              <a:t>Discovery in Microservices with C# and .NET | LinkedIn</a:t>
            </a:r>
            <a:endParaRPr lang="en-US" sz="1700" dirty="0"/>
          </a:p>
          <a:p>
            <a:pPr marL="12700" marR="5080"/>
            <a:r>
              <a:rPr lang="en-US" sz="1700" dirty="0">
                <a:hlinkClick r:id="rId12"/>
              </a:rPr>
              <a:t>.NET Microservices with </a:t>
            </a:r>
            <a:r>
              <a:rPr lang="en-US" sz="1700" dirty="0" err="1">
                <a:hlinkClick r:id="rId12"/>
              </a:rPr>
              <a:t>Steeltoe</a:t>
            </a:r>
            <a:r>
              <a:rPr lang="en-US" sz="1700" dirty="0">
                <a:hlinkClick r:id="rId12"/>
              </a:rPr>
              <a:t> | Microsoft Learn</a:t>
            </a:r>
            <a:endParaRPr lang="en-US" sz="1700" dirty="0"/>
          </a:p>
          <a:p>
            <a:pPr marL="12700" marR="5080"/>
            <a:r>
              <a:rPr lang="en-US" sz="1700" dirty="0">
                <a:hlinkClick r:id="rId13"/>
              </a:rPr>
              <a:t>Resilient Microservices with </a:t>
            </a:r>
            <a:r>
              <a:rPr lang="en-US" sz="1700" dirty="0" err="1">
                <a:hlinkClick r:id="rId13"/>
              </a:rPr>
              <a:t>Steeltoe</a:t>
            </a:r>
            <a:endParaRPr lang="en-US" sz="1700" kern="0" spc="-80" dirty="0">
              <a:solidFill>
                <a:schemeClr val="accent2"/>
              </a:solidFill>
            </a:endParaRPr>
          </a:p>
          <a:p>
            <a:pPr marL="12700" marR="5080"/>
            <a:r>
              <a:rPr lang="en-US" sz="1700" dirty="0">
                <a:hlinkClick r:id="rId14"/>
              </a:rPr>
              <a:t>Fan-out/fan-in scenarios in Durable Functions - Azure | Microsoft Learn</a:t>
            </a:r>
            <a:r>
              <a:rPr lang="en-US" sz="1700" kern="0" spc="-80" dirty="0">
                <a:solidFill>
                  <a:schemeClr val="accent2"/>
                </a:solidFill>
              </a:rPr>
              <a:t> </a:t>
            </a:r>
          </a:p>
          <a:p>
            <a:pPr marL="12700" marR="5080"/>
            <a:r>
              <a:rPr lang="en-US" sz="1700" dirty="0">
                <a:hlinkClick r:id="rId15"/>
              </a:rPr>
              <a:t>Design Patterns for Cloud Native Applications[Book]</a:t>
            </a:r>
            <a:endParaRPr lang="en-US" sz="1700" dirty="0"/>
          </a:p>
          <a:p>
            <a:pPr marL="12700" marR="5080"/>
            <a:r>
              <a:rPr lang="en-IN" sz="1700" dirty="0">
                <a:hlinkClick r:id="rId16"/>
              </a:rPr>
              <a:t>Design Patterns used Across Various Software Layers | LinkedIn</a:t>
            </a:r>
            <a:endParaRPr lang="en-IN" sz="1700" dirty="0"/>
          </a:p>
          <a:p>
            <a:pPr marL="12700" marR="5080"/>
            <a:r>
              <a:rPr lang="en-US" sz="1700" dirty="0">
                <a:hlinkClick r:id="rId17"/>
              </a:rPr>
              <a:t>Cloud Native Architecture and Design: A Handbook for Modern Day Architecture and Design with Enterprise-Grade Examples | SpringerLink</a:t>
            </a:r>
            <a:endParaRPr lang="en-US" sz="1700" dirty="0"/>
          </a:p>
          <a:p>
            <a:pPr marL="12700" marR="5080"/>
            <a:r>
              <a:rPr lang="en-IN" sz="1700" dirty="0">
                <a:hlinkClick r:id="rId18"/>
              </a:rPr>
              <a:t>Microservices And Orchestration Lessons | LinkedIn</a:t>
            </a:r>
            <a:r>
              <a:rPr lang="en-US" sz="1700" dirty="0"/>
              <a:t> </a:t>
            </a:r>
            <a:endParaRPr lang="en-US" sz="1700" kern="0" spc="-80" dirty="0">
              <a:solidFill>
                <a:schemeClr val="accent2"/>
              </a:solidFill>
            </a:endParaRPr>
          </a:p>
        </p:txBody>
      </p:sp>
    </p:spTree>
    <p:extLst>
      <p:ext uri="{BB962C8B-B14F-4D97-AF65-F5344CB8AC3E}">
        <p14:creationId xmlns:p14="http://schemas.microsoft.com/office/powerpoint/2010/main" val="31983015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BA59-2DCE-4C90-AF09-98865D59DB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541C69-C8A4-DBF2-A16C-B98969ABAC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958A7E-28F5-5CBE-AA71-5C0011947BA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7A0CC9A-4D7E-2F95-CE36-D2AD6C58003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D3D671-851F-0AF5-264B-589F1FE3818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FB4C2FC-D12D-4A41-E5FA-4F1E9F519913}"/>
              </a:ext>
            </a:extLst>
          </p:cNvPr>
          <p:cNvSpPr txBox="1">
            <a:spLocks/>
          </p:cNvSpPr>
          <p:nvPr/>
        </p:nvSpPr>
        <p:spPr>
          <a:xfrm>
            <a:off x="290463" y="7620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Category	        Example Goals</a:t>
            </a:r>
          </a:p>
          <a:p>
            <a:pPr marL="12700" marR="5080"/>
            <a:r>
              <a:rPr lang="en-US" sz="2400" kern="0" spc="-80" dirty="0">
                <a:solidFill>
                  <a:schemeClr val="accent6"/>
                </a:solidFill>
              </a:rPr>
              <a:t>Performance       Response time, throughput, latency</a:t>
            </a:r>
          </a:p>
          <a:p>
            <a:pPr marL="12700" marR="5080"/>
            <a:r>
              <a:rPr lang="en-US" sz="2400" kern="0" spc="-80" dirty="0">
                <a:solidFill>
                  <a:schemeClr val="accent6"/>
                </a:solidFill>
              </a:rPr>
              <a:t>Scalability	        Ability to handle increasing load</a:t>
            </a:r>
          </a:p>
          <a:p>
            <a:pPr marL="12700" marR="5080"/>
            <a:r>
              <a:rPr lang="en-US" sz="2400" kern="0" spc="-80" dirty="0">
                <a:solidFill>
                  <a:schemeClr val="accent6"/>
                </a:solidFill>
              </a:rPr>
              <a:t>Availability	        System uptime, redundancy</a:t>
            </a:r>
          </a:p>
          <a:p>
            <a:pPr marL="12700" marR="5080"/>
            <a:r>
              <a:rPr lang="en-US" sz="2400" kern="0" spc="-80" dirty="0">
                <a:solidFill>
                  <a:schemeClr val="accent6"/>
                </a:solidFill>
              </a:rPr>
              <a:t>Reliability	        Error tolerance, failover recovery</a:t>
            </a:r>
          </a:p>
          <a:p>
            <a:pPr marL="12700" marR="5080"/>
            <a:r>
              <a:rPr lang="en-US" sz="2400" kern="0" spc="-80" dirty="0">
                <a:solidFill>
                  <a:schemeClr val="accent6"/>
                </a:solidFill>
              </a:rPr>
              <a:t>Security	        Encryption, authentication, authorization</a:t>
            </a:r>
          </a:p>
          <a:p>
            <a:pPr marL="12700" marR="5080"/>
            <a:r>
              <a:rPr lang="en-US" sz="2400" kern="0" spc="-80" dirty="0">
                <a:solidFill>
                  <a:schemeClr val="accent6"/>
                </a:solidFill>
              </a:rPr>
              <a:t>Usability	        Ease of use, accessibility</a:t>
            </a:r>
          </a:p>
          <a:p>
            <a:pPr marL="12700" marR="5080"/>
            <a:r>
              <a:rPr lang="en-US" sz="2400" kern="0" spc="-80" dirty="0">
                <a:solidFill>
                  <a:schemeClr val="accent6"/>
                </a:solidFill>
              </a:rPr>
              <a:t>Maintainability    Ease of updates, code quality</a:t>
            </a:r>
          </a:p>
          <a:p>
            <a:pPr marL="12700" marR="5080"/>
            <a:r>
              <a:rPr lang="en-US" sz="2400" kern="0" spc="-80" dirty="0">
                <a:solidFill>
                  <a:schemeClr val="accent6"/>
                </a:solidFill>
              </a:rPr>
              <a:t>Compliance	        Regulatory (GDPR, HIPAA, etc.)</a:t>
            </a:r>
          </a:p>
          <a:p>
            <a:pPr marL="12700" marR="5080"/>
            <a:r>
              <a:rPr lang="en-US" sz="2400" kern="0" spc="-80" dirty="0">
                <a:solidFill>
                  <a:schemeClr val="accent6"/>
                </a:solidFill>
              </a:rPr>
              <a:t>Portability	        Works across OS/cloud environments</a:t>
            </a:r>
          </a:p>
          <a:p>
            <a:pPr marL="12700" marR="5080"/>
            <a:r>
              <a:rPr lang="en-US" sz="2400" kern="0" spc="-80" dirty="0">
                <a:solidFill>
                  <a:schemeClr val="accent6"/>
                </a:solidFill>
              </a:rPr>
              <a:t>Observability      Monitoring, logging, tracing. </a:t>
            </a:r>
          </a:p>
        </p:txBody>
      </p:sp>
    </p:spTree>
    <p:extLst>
      <p:ext uri="{BB962C8B-B14F-4D97-AF65-F5344CB8AC3E}">
        <p14:creationId xmlns:p14="http://schemas.microsoft.com/office/powerpoint/2010/main" val="18819858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2FF0-4979-48ED-DFF0-F78B239B5F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311AC2-BC15-952B-534C-C97ADD234A8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3EFA23-8E0D-D9C7-065A-F60270BAE2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5D8458-C948-BFEF-E3E0-B336180746D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E55C06-DFE8-58DC-54E1-CA4427C1440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9" name="Picture 8" descr="A white sheet with black text&#10;&#10;AI-generated content may be incorrect.">
            <a:extLst>
              <a:ext uri="{FF2B5EF4-FFF2-40B4-BE49-F238E27FC236}">
                <a16:creationId xmlns:a16="http://schemas.microsoft.com/office/drawing/2014/main" id="{BEA0E1DA-57D8-CB6D-B70D-51B41C4B3C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54097"/>
            <a:ext cx="8915858" cy="4132303"/>
          </a:xfrm>
          <a:prstGeom prst="rect">
            <a:avLst/>
          </a:prstGeom>
        </p:spPr>
      </p:pic>
      <p:sp>
        <p:nvSpPr>
          <p:cNvPr id="10" name="object 2">
            <a:extLst>
              <a:ext uri="{FF2B5EF4-FFF2-40B4-BE49-F238E27FC236}">
                <a16:creationId xmlns:a16="http://schemas.microsoft.com/office/drawing/2014/main" id="{491A2B38-3B04-2C38-9AEC-62E2D7DBA539}"/>
              </a:ext>
            </a:extLst>
          </p:cNvPr>
          <p:cNvSpPr txBox="1">
            <a:spLocks/>
          </p:cNvSpPr>
          <p:nvPr/>
        </p:nvSpPr>
        <p:spPr>
          <a:xfrm>
            <a:off x="76200" y="762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Common Structure of an NFR Matrix(Representative Example only and not any actual value from some actual prod App)</a:t>
            </a:r>
          </a:p>
        </p:txBody>
      </p:sp>
      <p:sp>
        <p:nvSpPr>
          <p:cNvPr id="3" name="object 2">
            <a:extLst>
              <a:ext uri="{FF2B5EF4-FFF2-40B4-BE49-F238E27FC236}">
                <a16:creationId xmlns:a16="http://schemas.microsoft.com/office/drawing/2014/main" id="{3E1124FF-99DF-D1BD-5CDC-505E525FEC47}"/>
              </a:ext>
            </a:extLst>
          </p:cNvPr>
          <p:cNvSpPr txBox="1">
            <a:spLocks/>
          </p:cNvSpPr>
          <p:nvPr/>
        </p:nvSpPr>
        <p:spPr>
          <a:xfrm>
            <a:off x="0" y="5473005"/>
            <a:ext cx="8624937" cy="4308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Correction:</a:t>
            </a:r>
            <a:r>
              <a:rPr lang="en-US" sz="1400" kern="0" spc="-80" dirty="0">
                <a:solidFill>
                  <a:schemeClr val="accent6"/>
                </a:solidFill>
              </a:rPr>
              <a:t> In the above slide, for row “Usability” and column “Validation/Test Method”, the value should be User Testing instead of </a:t>
            </a:r>
            <a:r>
              <a:rPr lang="en-US" sz="1400" kern="0" spc="-80" dirty="0" err="1">
                <a:solidFill>
                  <a:schemeClr val="accent6"/>
                </a:solidFill>
              </a:rPr>
              <a:t>Tme</a:t>
            </a:r>
            <a:r>
              <a:rPr lang="en-US" sz="1400" kern="0" spc="-80" dirty="0">
                <a:solidFill>
                  <a:schemeClr val="accent6"/>
                </a:solidFill>
              </a:rPr>
              <a:t>-to-setup. That’s </a:t>
            </a:r>
            <a:r>
              <a:rPr lang="en-US" sz="1400" kern="0" spc="-80">
                <a:solidFill>
                  <a:schemeClr val="accent6"/>
                </a:solidFill>
              </a:rPr>
              <a:t>a copy-paste </a:t>
            </a:r>
            <a:r>
              <a:rPr lang="en-US" sz="1400" kern="0" spc="-80" dirty="0">
                <a:solidFill>
                  <a:schemeClr val="accent6"/>
                </a:solidFill>
              </a:rPr>
              <a:t>error.</a:t>
            </a:r>
          </a:p>
        </p:txBody>
      </p:sp>
    </p:spTree>
    <p:extLst>
      <p:ext uri="{BB962C8B-B14F-4D97-AF65-F5344CB8AC3E}">
        <p14:creationId xmlns:p14="http://schemas.microsoft.com/office/powerpoint/2010/main" val="20318513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8B5DD-2558-88A1-CE01-37A3DF6AEB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5340C1-D760-8F87-B6E1-94209CB3F8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39DA84-5582-E1C1-5345-6D1AD893AD6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E0603F-45E8-BA90-3EDD-4A6A0A860D9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7226CD6-E0E8-BD5F-3ED4-3E191CE63BB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0" name="object 2">
            <a:extLst>
              <a:ext uri="{FF2B5EF4-FFF2-40B4-BE49-F238E27FC236}">
                <a16:creationId xmlns:a16="http://schemas.microsoft.com/office/drawing/2014/main" id="{78A545D0-0CAC-690F-195B-198913EAEFD6}"/>
              </a:ext>
            </a:extLst>
          </p:cNvPr>
          <p:cNvSpPr txBox="1">
            <a:spLocks/>
          </p:cNvSpPr>
          <p:nvPr/>
        </p:nvSpPr>
        <p:spPr>
          <a:xfrm>
            <a:off x="76200" y="762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Common Structure of an NFR Matrix(Representative Example only and not any actual value from some actual prod App)</a:t>
            </a:r>
          </a:p>
        </p:txBody>
      </p:sp>
      <p:pic>
        <p:nvPicPr>
          <p:cNvPr id="7" name="Picture 6">
            <a:extLst>
              <a:ext uri="{FF2B5EF4-FFF2-40B4-BE49-F238E27FC236}">
                <a16:creationId xmlns:a16="http://schemas.microsoft.com/office/drawing/2014/main" id="{2030FEDD-3911-F5F1-128F-279BE6B35F26}"/>
              </a:ext>
            </a:extLst>
          </p:cNvPr>
          <p:cNvPicPr>
            <a:picLocks noChangeAspect="1"/>
          </p:cNvPicPr>
          <p:nvPr/>
        </p:nvPicPr>
        <p:blipFill>
          <a:blip r:embed="rId7"/>
          <a:stretch>
            <a:fillRect/>
          </a:stretch>
        </p:blipFill>
        <p:spPr>
          <a:xfrm>
            <a:off x="76200" y="1354734"/>
            <a:ext cx="9144000" cy="2683866"/>
          </a:xfrm>
          <a:prstGeom prst="rect">
            <a:avLst/>
          </a:prstGeom>
        </p:spPr>
      </p:pic>
      <p:sp>
        <p:nvSpPr>
          <p:cNvPr id="8" name="object 2">
            <a:extLst>
              <a:ext uri="{FF2B5EF4-FFF2-40B4-BE49-F238E27FC236}">
                <a16:creationId xmlns:a16="http://schemas.microsoft.com/office/drawing/2014/main" id="{50C95680-FABF-F24A-B870-BA27F7946D58}"/>
              </a:ext>
            </a:extLst>
          </p:cNvPr>
          <p:cNvSpPr txBox="1">
            <a:spLocks/>
          </p:cNvSpPr>
          <p:nvPr/>
        </p:nvSpPr>
        <p:spPr>
          <a:xfrm>
            <a:off x="0" y="4246602"/>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  </a:t>
            </a:r>
          </a:p>
          <a:p>
            <a:pPr marL="12700" marR="5080"/>
            <a:r>
              <a:rPr lang="en-IN" sz="1800" dirty="0">
                <a:hlinkClick r:id="rId8"/>
              </a:rPr>
              <a:t>Non-functional requirement – Wikipedia</a:t>
            </a:r>
            <a:endParaRPr lang="en-IN" sz="1800" dirty="0"/>
          </a:p>
          <a:p>
            <a:pPr marL="12700" marR="5080"/>
            <a:r>
              <a:rPr lang="en-US" sz="1800" dirty="0">
                <a:hlinkClick r:id="rId9"/>
              </a:rPr>
              <a:t>REST API Development: Gentle checklist of NFRs</a:t>
            </a:r>
            <a:endParaRPr lang="en-US" sz="1800" kern="0" spc="-80" dirty="0">
              <a:solidFill>
                <a:schemeClr val="accent2"/>
              </a:solidFill>
            </a:endParaRPr>
          </a:p>
          <a:p>
            <a:pPr marL="12700" marR="5080"/>
            <a:r>
              <a:rPr lang="en-US" sz="1800" dirty="0">
                <a:hlinkClick r:id="rId10"/>
              </a:rPr>
              <a:t>Non Functional Requirement | My Love with SQL Server</a:t>
            </a:r>
            <a:r>
              <a:rPr lang="en-US" sz="1800" kern="0" spc="-80" dirty="0">
                <a:solidFill>
                  <a:schemeClr val="accent2"/>
                </a:solidFill>
              </a:rPr>
              <a:t> </a:t>
            </a:r>
          </a:p>
          <a:p>
            <a:pPr marL="12700" marR="5080"/>
            <a:r>
              <a:rPr lang="en-US" sz="1800" dirty="0">
                <a:hlinkClick r:id="rId11"/>
              </a:rPr>
              <a:t>Mastering Non-Functional Requirements | Programming | eBook</a:t>
            </a:r>
            <a:endParaRPr lang="en-US" sz="1800" dirty="0"/>
          </a:p>
        </p:txBody>
      </p:sp>
    </p:spTree>
    <p:extLst>
      <p:ext uri="{BB962C8B-B14F-4D97-AF65-F5344CB8AC3E}">
        <p14:creationId xmlns:p14="http://schemas.microsoft.com/office/powerpoint/2010/main" val="7330644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680D1-EC1B-2B12-486A-2C542DA1B9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812598C-22B0-8482-E568-B34CF75C63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630BBD-0114-EA2B-1378-DA5BE84D4C9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870E02-AF40-170F-A4B7-21227247EE4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1D20A0C-7D84-A47F-6EC7-2AE43DDDF1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18A38E2-A14A-3676-15B8-C8A74525FE32}"/>
              </a:ext>
            </a:extLst>
          </p:cNvPr>
          <p:cNvSpPr txBox="1">
            <a:spLocks/>
          </p:cNvSpPr>
          <p:nvPr/>
        </p:nvSpPr>
        <p:spPr>
          <a:xfrm>
            <a:off x="281754" y="609600"/>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1️⃣ Identity, Authentication &amp; Authorization (FOUNDATION)</a:t>
            </a:r>
          </a:p>
          <a:p>
            <a:pPr marL="12700" marR="5080"/>
            <a:r>
              <a:rPr lang="en-US" sz="1600" kern="0" spc="-80" dirty="0">
                <a:solidFill>
                  <a:schemeClr val="accent2"/>
                </a:solidFill>
              </a:rPr>
              <a:t>✅ Authentication</a:t>
            </a:r>
          </a:p>
          <a:p>
            <a:pPr marL="12700" marR="5080"/>
            <a:r>
              <a:rPr lang="en-US" sz="1600" kern="0" spc="-80" dirty="0">
                <a:solidFill>
                  <a:schemeClr val="accent6"/>
                </a:solidFill>
              </a:rPr>
              <a:t> Strong password hashing (argon2 / </a:t>
            </a:r>
            <a:r>
              <a:rPr lang="en-US" sz="1600" kern="0" spc="-80" dirty="0" err="1">
                <a:solidFill>
                  <a:schemeClr val="accent6"/>
                </a:solidFill>
              </a:rPr>
              <a:t>bcrypt</a:t>
            </a:r>
            <a:r>
              <a:rPr lang="en-US" sz="1600" kern="0" spc="-80" dirty="0">
                <a:solidFill>
                  <a:schemeClr val="accent6"/>
                </a:solidFill>
              </a:rPr>
              <a:t>)</a:t>
            </a:r>
          </a:p>
          <a:p>
            <a:pPr marL="12700" marR="5080"/>
            <a:r>
              <a:rPr lang="en-US" sz="1600" kern="0" spc="-80" dirty="0">
                <a:solidFill>
                  <a:schemeClr val="accent6"/>
                </a:solidFill>
              </a:rPr>
              <a:t> MFA for humans (admins, support)</a:t>
            </a:r>
          </a:p>
          <a:p>
            <a:pPr marL="12700" marR="5080"/>
            <a:r>
              <a:rPr lang="en-US" sz="1600" kern="0" spc="-80" dirty="0">
                <a:solidFill>
                  <a:schemeClr val="accent6"/>
                </a:solidFill>
              </a:rPr>
              <a:t> No shared accounts</a:t>
            </a:r>
          </a:p>
          <a:p>
            <a:pPr marL="12700" marR="5080"/>
            <a:r>
              <a:rPr lang="en-US" sz="1600" kern="0" spc="-80" dirty="0">
                <a:solidFill>
                  <a:schemeClr val="accent6"/>
                </a:solidFill>
              </a:rPr>
              <a:t> Session expiration &amp; idle timeout</a:t>
            </a:r>
          </a:p>
          <a:p>
            <a:pPr marL="12700" marR="5080"/>
            <a:r>
              <a:rPr lang="en-US" sz="1600" kern="0" spc="-80" dirty="0">
                <a:solidFill>
                  <a:schemeClr val="accent6"/>
                </a:solidFill>
              </a:rPr>
              <a:t> Account lockout / throttling</a:t>
            </a:r>
          </a:p>
          <a:p>
            <a:pPr marL="12700" marR="5080"/>
            <a:r>
              <a:rPr lang="en-US" sz="1600" kern="0" spc="-80" dirty="0">
                <a:solidFill>
                  <a:schemeClr val="accent2"/>
                </a:solidFill>
              </a:rPr>
              <a:t>Failure pattern</a:t>
            </a:r>
          </a:p>
          <a:p>
            <a:pPr marL="12700" marR="5080"/>
            <a:r>
              <a:rPr lang="en-US" sz="1600" kern="0" spc="-80" dirty="0">
                <a:solidFill>
                  <a:schemeClr val="accent6"/>
                </a:solidFill>
              </a:rPr>
              <a:t>“We hash passwords but forgot MFA for prod admin panel”</a:t>
            </a:r>
          </a:p>
          <a:p>
            <a:pPr marL="12700" marR="5080"/>
            <a:r>
              <a:rPr lang="en-US" sz="1600" kern="0" spc="-80" dirty="0">
                <a:solidFill>
                  <a:schemeClr val="accent2"/>
                </a:solidFill>
              </a:rPr>
              <a:t>✅ Authorization (Most breached layer)</a:t>
            </a:r>
          </a:p>
          <a:p>
            <a:pPr marL="12700" marR="5080"/>
            <a:r>
              <a:rPr lang="en-US" sz="1600" kern="0" spc="-80" dirty="0">
                <a:solidFill>
                  <a:schemeClr val="accent6"/>
                </a:solidFill>
              </a:rPr>
              <a:t> Explicit authorization checks per action</a:t>
            </a:r>
          </a:p>
          <a:p>
            <a:pPr marL="12700" marR="5080"/>
            <a:r>
              <a:rPr lang="en-US" sz="1600" kern="0" spc="-80" dirty="0">
                <a:solidFill>
                  <a:schemeClr val="accent6"/>
                </a:solidFill>
              </a:rPr>
              <a:t> RBAC / ABAC defined and documented</a:t>
            </a:r>
          </a:p>
          <a:p>
            <a:pPr marL="12700" marR="5080"/>
            <a:r>
              <a:rPr lang="en-US" sz="1600" kern="0" spc="-80" dirty="0">
                <a:solidFill>
                  <a:schemeClr val="accent6"/>
                </a:solidFill>
              </a:rPr>
              <a:t> No “admin=true” flags in tokens</a:t>
            </a:r>
          </a:p>
          <a:p>
            <a:pPr marL="12700" marR="5080"/>
            <a:r>
              <a:rPr lang="en-US" sz="1600" kern="0" spc="-80" dirty="0">
                <a:solidFill>
                  <a:schemeClr val="accent6"/>
                </a:solidFill>
              </a:rPr>
              <a:t> Object-level access checks (IDOR prevention)</a:t>
            </a:r>
          </a:p>
          <a:p>
            <a:pPr marL="12700" marR="5080"/>
            <a:r>
              <a:rPr lang="en-US" sz="1600" kern="0" spc="-80" dirty="0">
                <a:solidFill>
                  <a:schemeClr val="accent2"/>
                </a:solidFill>
              </a:rPr>
              <a:t>Ask</a:t>
            </a:r>
          </a:p>
          <a:p>
            <a:pPr marL="12700" marR="5080"/>
            <a:r>
              <a:rPr lang="en-US" sz="1600" kern="0" spc="-80" dirty="0">
                <a:solidFill>
                  <a:schemeClr val="accent6"/>
                </a:solidFill>
              </a:rPr>
              <a:t>“Can user A access resource owned by user B?”</a:t>
            </a:r>
          </a:p>
          <a:p>
            <a:pPr marL="12700" marR="5080"/>
            <a:r>
              <a:rPr lang="en-US" sz="1600" kern="0" spc="-80" dirty="0">
                <a:solidFill>
                  <a:schemeClr val="accent2"/>
                </a:solidFill>
              </a:rPr>
              <a:t>✅ Tokens</a:t>
            </a:r>
          </a:p>
          <a:p>
            <a:pPr marL="12700" marR="5080"/>
            <a:r>
              <a:rPr lang="en-US" sz="1600" kern="0" spc="-80" dirty="0">
                <a:solidFill>
                  <a:schemeClr val="accent6"/>
                </a:solidFill>
              </a:rPr>
              <a:t> Short-lived access tokens</a:t>
            </a:r>
          </a:p>
          <a:p>
            <a:pPr marL="12700" marR="5080"/>
            <a:r>
              <a:rPr lang="en-US" sz="1600" kern="0" spc="-80" dirty="0">
                <a:solidFill>
                  <a:schemeClr val="accent6"/>
                </a:solidFill>
              </a:rPr>
              <a:t> Refresh token rotation</a:t>
            </a:r>
          </a:p>
        </p:txBody>
      </p:sp>
    </p:spTree>
    <p:extLst>
      <p:ext uri="{BB962C8B-B14F-4D97-AF65-F5344CB8AC3E}">
        <p14:creationId xmlns:p14="http://schemas.microsoft.com/office/powerpoint/2010/main" val="21446145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59B14-57C7-B7E6-4E60-1575F7B14E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D856D7-A5F7-4713-137C-EED5900AF70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BF7292-29DD-9C73-90BF-E1582D6082C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A7957CE-15AC-80E7-C772-79213E5ED62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C480580-9A2D-B669-DDA9-DB53CD4F944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109EE09-B139-A0B3-E1D9-03915372B6C7}"/>
              </a:ext>
            </a:extLst>
          </p:cNvPr>
          <p:cNvSpPr txBox="1">
            <a:spLocks/>
          </p:cNvSpPr>
          <p:nvPr/>
        </p:nvSpPr>
        <p:spPr>
          <a:xfrm>
            <a:off x="281754" y="6096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1️⃣ Identity, Authentication &amp; Authorization (FOUNDATION)</a:t>
            </a:r>
          </a:p>
          <a:p>
            <a:pPr marL="12700" marR="5080"/>
            <a:r>
              <a:rPr lang="en-US" sz="1600" kern="0" spc="-80" dirty="0">
                <a:solidFill>
                  <a:schemeClr val="accent2"/>
                </a:solidFill>
              </a:rPr>
              <a:t>✅ Tokens</a:t>
            </a:r>
          </a:p>
          <a:p>
            <a:pPr marL="12700" marR="5080"/>
            <a:r>
              <a:rPr lang="en-US" sz="1600" kern="0" spc="-80" dirty="0">
                <a:solidFill>
                  <a:schemeClr val="accent6"/>
                </a:solidFill>
              </a:rPr>
              <a:t>Audience + issuer validation</a:t>
            </a:r>
          </a:p>
          <a:p>
            <a:pPr marL="12700" marR="5080"/>
            <a:r>
              <a:rPr lang="en-US" sz="1600" kern="0" spc="-80" dirty="0">
                <a:solidFill>
                  <a:schemeClr val="accent6"/>
                </a:solidFill>
              </a:rPr>
              <a:t> Token revocation strategy</a:t>
            </a:r>
          </a:p>
          <a:p>
            <a:pPr marL="12700" marR="5080"/>
            <a:endParaRPr lang="en-US" sz="1600" kern="0" spc="-80" dirty="0">
              <a:solidFill>
                <a:schemeClr val="accent6"/>
              </a:solidFill>
            </a:endParaRPr>
          </a:p>
          <a:p>
            <a:pPr marL="12700" marR="5080"/>
            <a:r>
              <a:rPr lang="en-US" sz="1600" kern="0" spc="-80" dirty="0">
                <a:solidFill>
                  <a:schemeClr val="accent2"/>
                </a:solidFill>
              </a:rPr>
              <a:t>2️⃣ Network Security &amp; Segmentation</a:t>
            </a:r>
          </a:p>
          <a:p>
            <a:pPr marL="12700" marR="5080"/>
            <a:r>
              <a:rPr lang="en-US" sz="1600" kern="0" spc="-80" dirty="0">
                <a:solidFill>
                  <a:schemeClr val="accent2"/>
                </a:solidFill>
              </a:rPr>
              <a:t>✅ Ingress</a:t>
            </a:r>
          </a:p>
          <a:p>
            <a:pPr marL="12700" marR="5080"/>
            <a:r>
              <a:rPr lang="en-US" sz="1600" kern="0" spc="-80" dirty="0">
                <a:solidFill>
                  <a:schemeClr val="accent6"/>
                </a:solidFill>
              </a:rPr>
              <a:t> WAF enabled</a:t>
            </a:r>
          </a:p>
          <a:p>
            <a:pPr marL="12700" marR="5080"/>
            <a:r>
              <a:rPr lang="en-US" sz="1600" kern="0" spc="-80" dirty="0">
                <a:solidFill>
                  <a:schemeClr val="accent6"/>
                </a:solidFill>
              </a:rPr>
              <a:t> Rate limiting</a:t>
            </a:r>
          </a:p>
          <a:p>
            <a:pPr marL="12700" marR="5080"/>
            <a:r>
              <a:rPr lang="en-US" sz="1600" kern="0" spc="-80" dirty="0">
                <a:solidFill>
                  <a:schemeClr val="accent6"/>
                </a:solidFill>
              </a:rPr>
              <a:t> DDoS protection</a:t>
            </a:r>
          </a:p>
          <a:p>
            <a:pPr marL="12700" marR="5080"/>
            <a:r>
              <a:rPr lang="en-US" sz="1600" kern="0" spc="-80" dirty="0">
                <a:solidFill>
                  <a:schemeClr val="accent6"/>
                </a:solidFill>
              </a:rPr>
              <a:t> TLS enforced</a:t>
            </a:r>
          </a:p>
          <a:p>
            <a:pPr marL="12700" marR="5080"/>
            <a:r>
              <a:rPr lang="en-US" sz="1600" kern="0" spc="-80" dirty="0">
                <a:solidFill>
                  <a:schemeClr val="accent2"/>
                </a:solidFill>
              </a:rPr>
              <a:t>✅ East-West Traffic (microservices)</a:t>
            </a:r>
          </a:p>
          <a:p>
            <a:pPr marL="12700" marR="5080"/>
            <a:r>
              <a:rPr lang="en-US" sz="1600" kern="0" spc="-80" dirty="0">
                <a:solidFill>
                  <a:schemeClr val="accent6"/>
                </a:solidFill>
              </a:rPr>
              <a:t> Private network only</a:t>
            </a:r>
          </a:p>
          <a:p>
            <a:pPr marL="12700" marR="5080"/>
            <a:r>
              <a:rPr lang="en-US" sz="1600" kern="0" spc="-80" dirty="0">
                <a:solidFill>
                  <a:schemeClr val="accent6"/>
                </a:solidFill>
              </a:rPr>
              <a:t> </a:t>
            </a:r>
            <a:r>
              <a:rPr lang="en-US" sz="1600" kern="0" spc="-80" dirty="0" err="1">
                <a:solidFill>
                  <a:schemeClr val="accent6"/>
                </a:solidFill>
              </a:rPr>
              <a:t>mTLS</a:t>
            </a:r>
            <a:r>
              <a:rPr lang="en-US" sz="1600" kern="0" spc="-80" dirty="0">
                <a:solidFill>
                  <a:schemeClr val="accent6"/>
                </a:solidFill>
              </a:rPr>
              <a:t> between services</a:t>
            </a:r>
          </a:p>
          <a:p>
            <a:pPr marL="12700" marR="5080"/>
            <a:r>
              <a:rPr lang="en-US" sz="1600" kern="0" spc="-80" dirty="0">
                <a:solidFill>
                  <a:schemeClr val="accent6"/>
                </a:solidFill>
              </a:rPr>
              <a:t> Service identity (SPIFFE / workload identity)</a:t>
            </a:r>
          </a:p>
          <a:p>
            <a:pPr marL="12700" marR="5080"/>
            <a:r>
              <a:rPr lang="en-US" sz="1600" kern="0" spc="-80" dirty="0">
                <a:solidFill>
                  <a:schemeClr val="accent6"/>
                </a:solidFill>
              </a:rPr>
              <a:t> No “open by default” security groups</a:t>
            </a:r>
          </a:p>
          <a:p>
            <a:pPr marL="12700" marR="5080"/>
            <a:r>
              <a:rPr lang="en-US" sz="1600" kern="0" spc="-80" dirty="0">
                <a:solidFill>
                  <a:schemeClr val="accent2"/>
                </a:solidFill>
              </a:rPr>
              <a:t>Failure pattern</a:t>
            </a:r>
          </a:p>
          <a:p>
            <a:pPr marL="12700" marR="5080"/>
            <a:r>
              <a:rPr lang="en-US" sz="1600" kern="0" spc="-80" dirty="0">
                <a:solidFill>
                  <a:schemeClr val="accent6"/>
                </a:solidFill>
              </a:rPr>
              <a:t>“Internal services don’t need auth” ❌</a:t>
            </a:r>
          </a:p>
        </p:txBody>
      </p:sp>
    </p:spTree>
    <p:extLst>
      <p:ext uri="{BB962C8B-B14F-4D97-AF65-F5344CB8AC3E}">
        <p14:creationId xmlns:p14="http://schemas.microsoft.com/office/powerpoint/2010/main" val="23615709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E3D4-EE5B-C075-FDE3-3F890C50E2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EB6EF5A-FF03-D629-BCCF-193E059C41A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C248B14-407C-B534-EA28-9987717E3D1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B1862C4-D46F-1F4A-0BED-B3E10E4CDE1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A8C372D-1A09-38B7-BCF9-B2A4A4767B2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C655199-5600-9F3A-4D33-F644F368DD7A}"/>
              </a:ext>
            </a:extLst>
          </p:cNvPr>
          <p:cNvSpPr txBox="1">
            <a:spLocks/>
          </p:cNvSpPr>
          <p:nvPr/>
        </p:nvSpPr>
        <p:spPr>
          <a:xfrm>
            <a:off x="281754" y="6096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2️⃣ Network Security &amp; Segmentation</a:t>
            </a:r>
          </a:p>
          <a:p>
            <a:pPr marL="12700" marR="5080"/>
            <a:r>
              <a:rPr lang="en-US" sz="1600" kern="0" spc="-80" dirty="0">
                <a:solidFill>
                  <a:schemeClr val="accent2"/>
                </a:solidFill>
              </a:rPr>
              <a:t>✅ Egress (SSRF defense)</a:t>
            </a:r>
          </a:p>
          <a:p>
            <a:pPr marL="12700" marR="5080"/>
            <a:r>
              <a:rPr lang="en-US" sz="1600" kern="0" spc="-80" dirty="0">
                <a:solidFill>
                  <a:schemeClr val="accent6"/>
                </a:solidFill>
              </a:rPr>
              <a:t> Egress firewall rules</a:t>
            </a:r>
          </a:p>
          <a:p>
            <a:pPr marL="12700" marR="5080"/>
            <a:r>
              <a:rPr lang="en-US" sz="1600" kern="0" spc="-80" dirty="0">
                <a:solidFill>
                  <a:schemeClr val="accent6"/>
                </a:solidFill>
              </a:rPr>
              <a:t> Metadata IP blocked</a:t>
            </a:r>
          </a:p>
          <a:p>
            <a:pPr marL="12700" marR="5080"/>
            <a:r>
              <a:rPr lang="en-US" sz="1600" kern="0" spc="-80" dirty="0">
                <a:solidFill>
                  <a:schemeClr val="accent6"/>
                </a:solidFill>
              </a:rPr>
              <a:t> Outbound allow-list</a:t>
            </a:r>
          </a:p>
          <a:p>
            <a:pPr marL="12700" marR="5080"/>
            <a:r>
              <a:rPr lang="en-US" sz="1600" kern="0" spc="-80" dirty="0">
                <a:solidFill>
                  <a:schemeClr val="accent6"/>
                </a:solidFill>
              </a:rPr>
              <a:t> No raw user-supplied URLs</a:t>
            </a:r>
          </a:p>
          <a:p>
            <a:pPr marL="12700" marR="5080"/>
            <a:endParaRPr lang="en-US" sz="1600" kern="0" spc="-80" dirty="0">
              <a:solidFill>
                <a:schemeClr val="accent6"/>
              </a:solidFill>
            </a:endParaRPr>
          </a:p>
          <a:p>
            <a:pPr marL="12700" marR="5080"/>
            <a:r>
              <a:rPr lang="en-US" sz="1600" kern="0" spc="-80" dirty="0">
                <a:solidFill>
                  <a:schemeClr val="accent2"/>
                </a:solidFill>
              </a:rPr>
              <a:t>3️⃣ API Security</a:t>
            </a:r>
          </a:p>
          <a:p>
            <a:pPr marL="12700" marR="5080"/>
            <a:r>
              <a:rPr lang="en-US" sz="1600" kern="0" spc="-80" dirty="0">
                <a:solidFill>
                  <a:schemeClr val="accent2"/>
                </a:solidFill>
              </a:rPr>
              <a:t>✅ API Gateway</a:t>
            </a:r>
          </a:p>
          <a:p>
            <a:pPr marL="12700" marR="5080"/>
            <a:r>
              <a:rPr lang="en-US" sz="1600" kern="0" spc="-80" dirty="0">
                <a:solidFill>
                  <a:schemeClr val="accent6"/>
                </a:solidFill>
              </a:rPr>
              <a:t> Central auth enforcement</a:t>
            </a:r>
          </a:p>
          <a:p>
            <a:pPr marL="12700" marR="5080"/>
            <a:r>
              <a:rPr lang="en-US" sz="1600" kern="0" spc="-80" dirty="0">
                <a:solidFill>
                  <a:schemeClr val="accent6"/>
                </a:solidFill>
              </a:rPr>
              <a:t> Schema validation</a:t>
            </a:r>
          </a:p>
          <a:p>
            <a:pPr marL="12700" marR="5080"/>
            <a:r>
              <a:rPr lang="en-US" sz="1600" kern="0" spc="-80" dirty="0">
                <a:solidFill>
                  <a:schemeClr val="accent6"/>
                </a:solidFill>
              </a:rPr>
              <a:t> Rate limiting</a:t>
            </a:r>
          </a:p>
          <a:p>
            <a:pPr marL="12700" marR="5080"/>
            <a:r>
              <a:rPr lang="en-US" sz="1600" kern="0" spc="-80" dirty="0">
                <a:solidFill>
                  <a:schemeClr val="accent6"/>
                </a:solidFill>
              </a:rPr>
              <a:t> Request size limits</a:t>
            </a:r>
          </a:p>
          <a:p>
            <a:pPr marL="12700" marR="5080"/>
            <a:r>
              <a:rPr lang="en-US" sz="1600" kern="0" spc="-80" dirty="0">
                <a:solidFill>
                  <a:schemeClr val="accent2"/>
                </a:solidFill>
              </a:rPr>
              <a:t>✅ API Design</a:t>
            </a:r>
          </a:p>
          <a:p>
            <a:pPr marL="12700" marR="5080"/>
            <a:r>
              <a:rPr lang="en-US" sz="1600" kern="0" spc="-80" dirty="0">
                <a:solidFill>
                  <a:schemeClr val="accent6"/>
                </a:solidFill>
              </a:rPr>
              <a:t> No mass assignment (POST /users)</a:t>
            </a:r>
          </a:p>
          <a:p>
            <a:pPr marL="12700" marR="5080"/>
            <a:r>
              <a:rPr lang="en-US" sz="1600" kern="0" spc="-80" dirty="0">
                <a:solidFill>
                  <a:schemeClr val="accent6"/>
                </a:solidFill>
              </a:rPr>
              <a:t> Explicit field allow-lists</a:t>
            </a:r>
          </a:p>
          <a:p>
            <a:pPr marL="12700" marR="5080"/>
            <a:r>
              <a:rPr lang="en-US" sz="1600" kern="0" spc="-80" dirty="0">
                <a:solidFill>
                  <a:schemeClr val="accent6"/>
                </a:solidFill>
              </a:rPr>
              <a:t> Idempotency keys for writes</a:t>
            </a:r>
          </a:p>
          <a:p>
            <a:pPr marL="12700" marR="5080"/>
            <a:r>
              <a:rPr lang="en-US" sz="1600" kern="0" spc="-80" dirty="0">
                <a:solidFill>
                  <a:schemeClr val="accent6"/>
                </a:solidFill>
              </a:rPr>
              <a:t> Versioning strategy</a:t>
            </a:r>
          </a:p>
        </p:txBody>
      </p:sp>
    </p:spTree>
    <p:extLst>
      <p:ext uri="{BB962C8B-B14F-4D97-AF65-F5344CB8AC3E}">
        <p14:creationId xmlns:p14="http://schemas.microsoft.com/office/powerpoint/2010/main" val="33184669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84D1-9646-9A16-A463-1134089C35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54CC56-B14D-0F8E-6FCE-A79A35E0373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53DC0B-C591-DC8C-9CAA-148BFA0DC4D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EC58810-5732-BCFD-3CE3-8286A85A372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31E5D33-3BD8-2A25-9B69-544672B966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EB9AC21-7A09-3309-1F8E-899121403002}"/>
              </a:ext>
            </a:extLst>
          </p:cNvPr>
          <p:cNvSpPr txBox="1">
            <a:spLocks/>
          </p:cNvSpPr>
          <p:nvPr/>
        </p:nvSpPr>
        <p:spPr>
          <a:xfrm>
            <a:off x="281754" y="6096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3️⃣ API Security</a:t>
            </a:r>
          </a:p>
          <a:p>
            <a:pPr marL="12700" marR="5080"/>
            <a:r>
              <a:rPr lang="en-US" sz="1600" kern="0" spc="-80" dirty="0">
                <a:solidFill>
                  <a:schemeClr val="accent2"/>
                </a:solidFill>
              </a:rPr>
              <a:t>✅ Common API vulnerabilities</a:t>
            </a:r>
          </a:p>
          <a:p>
            <a:pPr marL="12700" marR="5080"/>
            <a:r>
              <a:rPr lang="en-US" sz="1600" kern="0" spc="-80" dirty="0">
                <a:solidFill>
                  <a:schemeClr val="accent2"/>
                </a:solidFill>
              </a:rPr>
              <a:t>Check	                 Prevents</a:t>
            </a:r>
          </a:p>
          <a:p>
            <a:pPr marL="12700" marR="5080"/>
            <a:r>
              <a:rPr lang="en-US" sz="1600" kern="0" spc="-80" dirty="0">
                <a:solidFill>
                  <a:schemeClr val="accent6"/>
                </a:solidFill>
              </a:rPr>
              <a:t>Object-level auth	IDOR</a:t>
            </a:r>
          </a:p>
          <a:p>
            <a:pPr marL="12700" marR="5080"/>
            <a:r>
              <a:rPr lang="en-US" sz="1600" kern="0" spc="-80" dirty="0">
                <a:solidFill>
                  <a:schemeClr val="accent6"/>
                </a:solidFill>
              </a:rPr>
              <a:t>Rate limits	Credential stuffing</a:t>
            </a:r>
          </a:p>
          <a:p>
            <a:pPr marL="12700" marR="5080"/>
            <a:r>
              <a:rPr lang="en-US" sz="1600" kern="0" spc="-80" dirty="0">
                <a:solidFill>
                  <a:schemeClr val="accent6"/>
                </a:solidFill>
              </a:rPr>
              <a:t>Schema validation	Injection</a:t>
            </a:r>
          </a:p>
          <a:p>
            <a:pPr marL="12700" marR="5080"/>
            <a:r>
              <a:rPr lang="en-US" sz="1600" kern="0" spc="-80" dirty="0">
                <a:solidFill>
                  <a:schemeClr val="accent6"/>
                </a:solidFill>
              </a:rPr>
              <a:t>Pagination limits	Data scraping</a:t>
            </a:r>
          </a:p>
          <a:p>
            <a:pPr marL="12700" marR="5080"/>
            <a:endParaRPr lang="en-US" sz="1600" kern="0" spc="-80" dirty="0">
              <a:solidFill>
                <a:schemeClr val="accent6"/>
              </a:solidFill>
            </a:endParaRPr>
          </a:p>
          <a:p>
            <a:pPr marL="12700" marR="5080"/>
            <a:r>
              <a:rPr lang="en-US" sz="1600" kern="0" spc="-80" dirty="0">
                <a:solidFill>
                  <a:schemeClr val="accent2"/>
                </a:solidFill>
              </a:rPr>
              <a:t>4️⃣ Input Handling &amp; Injection Defense</a:t>
            </a:r>
          </a:p>
          <a:p>
            <a:pPr marL="12700" marR="5080"/>
            <a:r>
              <a:rPr lang="en-US" sz="1600" kern="0" spc="-80" dirty="0">
                <a:solidFill>
                  <a:schemeClr val="accent2"/>
                </a:solidFill>
              </a:rPr>
              <a:t>✅ Universal rules</a:t>
            </a:r>
          </a:p>
          <a:p>
            <a:pPr marL="12700" marR="5080"/>
            <a:r>
              <a:rPr lang="en-US" sz="1600" kern="0" spc="-80" dirty="0">
                <a:solidFill>
                  <a:schemeClr val="accent6"/>
                </a:solidFill>
              </a:rPr>
              <a:t> Never trust client input</a:t>
            </a:r>
          </a:p>
          <a:p>
            <a:pPr marL="12700" marR="5080"/>
            <a:r>
              <a:rPr lang="en-US" sz="1600" kern="0" spc="-80" dirty="0">
                <a:solidFill>
                  <a:schemeClr val="accent6"/>
                </a:solidFill>
              </a:rPr>
              <a:t> Validate early, encode late</a:t>
            </a:r>
          </a:p>
          <a:p>
            <a:pPr marL="12700" marR="5080"/>
            <a:r>
              <a:rPr lang="en-US" sz="1600" kern="0" spc="-80" dirty="0">
                <a:solidFill>
                  <a:schemeClr val="accent6"/>
                </a:solidFill>
              </a:rPr>
              <a:t> Reject unexpected fields</a:t>
            </a:r>
          </a:p>
          <a:p>
            <a:pPr marL="12700" marR="5080"/>
            <a:r>
              <a:rPr lang="en-US" sz="1600" kern="0" spc="-80" dirty="0">
                <a:solidFill>
                  <a:schemeClr val="accent2"/>
                </a:solidFill>
              </a:rPr>
              <a:t>✅ SQL / NoSQL</a:t>
            </a:r>
          </a:p>
          <a:p>
            <a:pPr marL="12700" marR="5080"/>
            <a:r>
              <a:rPr lang="en-US" sz="1600" kern="0" spc="-80" dirty="0">
                <a:solidFill>
                  <a:schemeClr val="accent6"/>
                </a:solidFill>
              </a:rPr>
              <a:t> Parameterized queries only</a:t>
            </a:r>
          </a:p>
          <a:p>
            <a:pPr marL="12700" marR="5080"/>
            <a:r>
              <a:rPr lang="en-US" sz="1600" kern="0" spc="-80" dirty="0">
                <a:solidFill>
                  <a:schemeClr val="accent6"/>
                </a:solidFill>
              </a:rPr>
              <a:t> No string concatenation</a:t>
            </a:r>
          </a:p>
          <a:p>
            <a:pPr marL="12700" marR="5080"/>
            <a:r>
              <a:rPr lang="en-US" sz="1600" kern="0" spc="-80" dirty="0">
                <a:solidFill>
                  <a:schemeClr val="accent6"/>
                </a:solidFill>
              </a:rPr>
              <a:t> DB user least privilege</a:t>
            </a:r>
          </a:p>
        </p:txBody>
      </p:sp>
    </p:spTree>
    <p:extLst>
      <p:ext uri="{BB962C8B-B14F-4D97-AF65-F5344CB8AC3E}">
        <p14:creationId xmlns:p14="http://schemas.microsoft.com/office/powerpoint/2010/main" val="4517802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3F5C0-D007-4CAC-920F-A818C311FB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0B1C88-B846-072F-3FA7-5C3C4B57DA2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0DB5D4-0744-6E77-B318-BABCEE8795E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1C95B5-169F-C03F-6AF8-0FC5EE9D255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84226B3-A663-6BD5-A645-23E660F17DC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222CFAD-F75A-07E1-CFDD-B1FFB46BC6DC}"/>
              </a:ext>
            </a:extLst>
          </p:cNvPr>
          <p:cNvSpPr txBox="1">
            <a:spLocks/>
          </p:cNvSpPr>
          <p:nvPr/>
        </p:nvSpPr>
        <p:spPr>
          <a:xfrm>
            <a:off x="281754" y="6096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4️⃣ Input Handling &amp; Injection Defense</a:t>
            </a:r>
          </a:p>
          <a:p>
            <a:pPr marL="12700" marR="5080"/>
            <a:r>
              <a:rPr lang="en-US" sz="1600" kern="0" spc="-80" dirty="0">
                <a:solidFill>
                  <a:schemeClr val="accent2"/>
                </a:solidFill>
              </a:rPr>
              <a:t>✅ XSS</a:t>
            </a:r>
          </a:p>
          <a:p>
            <a:pPr marL="12700" marR="5080"/>
            <a:r>
              <a:rPr lang="en-US" sz="1600" kern="0" spc="-80" dirty="0">
                <a:solidFill>
                  <a:schemeClr val="accent6"/>
                </a:solidFill>
              </a:rPr>
              <a:t> Output encoding everywhere</a:t>
            </a:r>
          </a:p>
          <a:p>
            <a:pPr marL="12700" marR="5080"/>
            <a:r>
              <a:rPr lang="en-US" sz="1600" kern="0" spc="-80" dirty="0">
                <a:solidFill>
                  <a:schemeClr val="accent6"/>
                </a:solidFill>
              </a:rPr>
              <a:t> CSP enabled</a:t>
            </a:r>
          </a:p>
          <a:p>
            <a:pPr marL="12700" marR="5080"/>
            <a:r>
              <a:rPr lang="en-US" sz="1600" kern="0" spc="-80" dirty="0">
                <a:solidFill>
                  <a:schemeClr val="accent6"/>
                </a:solidFill>
              </a:rPr>
              <a:t> No inline scripts</a:t>
            </a:r>
          </a:p>
          <a:p>
            <a:pPr marL="12700" marR="5080"/>
            <a:r>
              <a:rPr lang="en-US" sz="1600" kern="0" spc="-80" dirty="0">
                <a:solidFill>
                  <a:schemeClr val="accent6"/>
                </a:solidFill>
              </a:rPr>
              <a:t> No untrusted HTML rendering</a:t>
            </a:r>
          </a:p>
          <a:p>
            <a:pPr marL="12700" marR="5080"/>
            <a:endParaRPr lang="en-US" sz="1600" kern="0" spc="-80" dirty="0">
              <a:solidFill>
                <a:schemeClr val="accent6"/>
              </a:solidFill>
            </a:endParaRPr>
          </a:p>
          <a:p>
            <a:pPr marL="12700" marR="5080"/>
            <a:r>
              <a:rPr lang="en-US" sz="1600" kern="0" spc="-80" dirty="0">
                <a:solidFill>
                  <a:schemeClr val="accent2"/>
                </a:solidFill>
              </a:rPr>
              <a:t>5️⃣ Secrets Management</a:t>
            </a:r>
          </a:p>
          <a:p>
            <a:pPr marL="12700" marR="5080"/>
            <a:r>
              <a:rPr lang="en-US" sz="1600" kern="0" spc="-80" dirty="0">
                <a:solidFill>
                  <a:schemeClr val="accent2"/>
                </a:solidFill>
              </a:rPr>
              <a:t>✅ Storage</a:t>
            </a:r>
          </a:p>
          <a:p>
            <a:pPr marL="12700" marR="5080"/>
            <a:r>
              <a:rPr lang="en-US" sz="1600" kern="0" spc="-80" dirty="0">
                <a:solidFill>
                  <a:schemeClr val="accent6"/>
                </a:solidFill>
              </a:rPr>
              <a:t> No secrets in source code</a:t>
            </a:r>
          </a:p>
          <a:p>
            <a:pPr marL="12700" marR="5080"/>
            <a:r>
              <a:rPr lang="en-US" sz="1600" kern="0" spc="-80" dirty="0">
                <a:solidFill>
                  <a:schemeClr val="accent6"/>
                </a:solidFill>
              </a:rPr>
              <a:t> No secrets in Git history</a:t>
            </a:r>
          </a:p>
          <a:p>
            <a:pPr marL="12700" marR="5080"/>
            <a:r>
              <a:rPr lang="en-US" sz="1600" kern="0" spc="-80" dirty="0">
                <a:solidFill>
                  <a:schemeClr val="accent6"/>
                </a:solidFill>
              </a:rPr>
              <a:t> Central secret manager</a:t>
            </a:r>
          </a:p>
          <a:p>
            <a:pPr marL="12700" marR="5080"/>
            <a:r>
              <a:rPr lang="en-US" sz="1600" kern="0" spc="-80" dirty="0">
                <a:solidFill>
                  <a:schemeClr val="accent6"/>
                </a:solidFill>
              </a:rPr>
              <a:t> Per-service secrets</a:t>
            </a:r>
          </a:p>
          <a:p>
            <a:pPr marL="12700" marR="5080"/>
            <a:r>
              <a:rPr lang="en-US" sz="1600" kern="0" spc="-80" dirty="0">
                <a:solidFill>
                  <a:schemeClr val="accent2"/>
                </a:solidFill>
              </a:rPr>
              <a:t>✅ Usage</a:t>
            </a:r>
          </a:p>
          <a:p>
            <a:pPr marL="12700" marR="5080"/>
            <a:r>
              <a:rPr lang="en-US" sz="1600" kern="0" spc="-80" dirty="0">
                <a:solidFill>
                  <a:schemeClr val="accent6"/>
                </a:solidFill>
              </a:rPr>
              <a:t> Short-lived credentials</a:t>
            </a:r>
          </a:p>
          <a:p>
            <a:pPr marL="12700" marR="5080"/>
            <a:r>
              <a:rPr lang="en-US" sz="1600" kern="0" spc="-80" dirty="0">
                <a:solidFill>
                  <a:schemeClr val="accent6"/>
                </a:solidFill>
              </a:rPr>
              <a:t> Automatic rotation</a:t>
            </a:r>
          </a:p>
          <a:p>
            <a:pPr marL="12700" marR="5080"/>
            <a:r>
              <a:rPr lang="en-US" sz="1600" kern="0" spc="-80" dirty="0">
                <a:solidFill>
                  <a:schemeClr val="accent6"/>
                </a:solidFill>
              </a:rPr>
              <a:t> Scoped permissions</a:t>
            </a:r>
          </a:p>
          <a:p>
            <a:pPr marL="12700" marR="5080"/>
            <a:r>
              <a:rPr lang="en-US" sz="1600" kern="0" spc="-80" dirty="0">
                <a:solidFill>
                  <a:schemeClr val="accent6"/>
                </a:solidFill>
              </a:rPr>
              <a:t> Access audit logs</a:t>
            </a:r>
          </a:p>
        </p:txBody>
      </p:sp>
    </p:spTree>
    <p:extLst>
      <p:ext uri="{BB962C8B-B14F-4D97-AF65-F5344CB8AC3E}">
        <p14:creationId xmlns:p14="http://schemas.microsoft.com/office/powerpoint/2010/main" val="26009727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9611E-8205-A38D-2796-FCCF42C48D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A8B7F0-45AA-BC9B-57BA-394E7E5BCA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F06568B-ADC9-A871-4C9F-D246632C86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77CD65-B2E1-BAEC-9CB1-09AF0CF99EF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A52B7D7-F0FE-9F02-0CE3-FC990DE8AD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2237386-B6E0-72D2-6CC9-6CC0E1A390F1}"/>
              </a:ext>
            </a:extLst>
          </p:cNvPr>
          <p:cNvSpPr txBox="1">
            <a:spLocks/>
          </p:cNvSpPr>
          <p:nvPr/>
        </p:nvSpPr>
        <p:spPr>
          <a:xfrm>
            <a:off x="281754" y="6096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6️⃣ Data Protection &amp; Privacy</a:t>
            </a:r>
          </a:p>
          <a:p>
            <a:pPr marL="12700" marR="5080"/>
            <a:r>
              <a:rPr lang="en-US" sz="1600" kern="0" spc="-80" dirty="0">
                <a:solidFill>
                  <a:schemeClr val="accent2"/>
                </a:solidFill>
              </a:rPr>
              <a:t>✅ Data classification</a:t>
            </a:r>
          </a:p>
          <a:p>
            <a:pPr marL="12700" marR="5080"/>
            <a:r>
              <a:rPr lang="en-US" sz="1600" kern="0" spc="-80" dirty="0">
                <a:solidFill>
                  <a:schemeClr val="accent6"/>
                </a:solidFill>
              </a:rPr>
              <a:t> PII / SPI identified</a:t>
            </a:r>
          </a:p>
          <a:p>
            <a:pPr marL="12700" marR="5080"/>
            <a:r>
              <a:rPr lang="en-US" sz="1600" kern="0" spc="-80" dirty="0">
                <a:solidFill>
                  <a:schemeClr val="accent6"/>
                </a:solidFill>
              </a:rPr>
              <a:t> PCI separated</a:t>
            </a:r>
          </a:p>
          <a:p>
            <a:pPr marL="12700" marR="5080"/>
            <a:r>
              <a:rPr lang="en-US" sz="1600" kern="0" spc="-80" dirty="0">
                <a:solidFill>
                  <a:schemeClr val="accent6"/>
                </a:solidFill>
              </a:rPr>
              <a:t> Encryption requirements defined</a:t>
            </a:r>
          </a:p>
          <a:p>
            <a:pPr marL="12700" marR="5080"/>
            <a:r>
              <a:rPr lang="en-US" sz="1600" kern="0" spc="-80" dirty="0">
                <a:solidFill>
                  <a:schemeClr val="accent2"/>
                </a:solidFill>
              </a:rPr>
              <a:t>✅ At rest</a:t>
            </a:r>
          </a:p>
          <a:p>
            <a:pPr marL="12700" marR="5080"/>
            <a:r>
              <a:rPr lang="en-US" sz="1600" kern="0" spc="-80" dirty="0">
                <a:solidFill>
                  <a:schemeClr val="accent6"/>
                </a:solidFill>
              </a:rPr>
              <a:t> Disk encryption</a:t>
            </a:r>
          </a:p>
          <a:p>
            <a:pPr marL="12700" marR="5080"/>
            <a:r>
              <a:rPr lang="en-US" sz="1600" kern="0" spc="-80" dirty="0">
                <a:solidFill>
                  <a:schemeClr val="accent6"/>
                </a:solidFill>
              </a:rPr>
              <a:t> DB encryption</a:t>
            </a:r>
          </a:p>
          <a:p>
            <a:pPr marL="12700" marR="5080"/>
            <a:r>
              <a:rPr lang="en-US" sz="1600" kern="0" spc="-80" dirty="0">
                <a:solidFill>
                  <a:schemeClr val="accent6"/>
                </a:solidFill>
              </a:rPr>
              <a:t> Column-level encryption where needed</a:t>
            </a:r>
          </a:p>
          <a:p>
            <a:pPr marL="12700" marR="5080"/>
            <a:r>
              <a:rPr lang="en-US" sz="1600" kern="0" spc="-80" dirty="0">
                <a:solidFill>
                  <a:schemeClr val="accent2"/>
                </a:solidFill>
              </a:rPr>
              <a:t>✅ In transit</a:t>
            </a:r>
          </a:p>
          <a:p>
            <a:pPr marL="12700" marR="5080"/>
            <a:r>
              <a:rPr lang="en-US" sz="1600" kern="0" spc="-80" dirty="0">
                <a:solidFill>
                  <a:schemeClr val="accent6"/>
                </a:solidFill>
              </a:rPr>
              <a:t> TLS everywhere (including internal)</a:t>
            </a:r>
          </a:p>
          <a:p>
            <a:pPr marL="12700" marR="5080"/>
            <a:r>
              <a:rPr lang="en-US" sz="1600" kern="0" spc="-80" dirty="0">
                <a:solidFill>
                  <a:schemeClr val="accent6"/>
                </a:solidFill>
              </a:rPr>
              <a:t> Certificate rotation</a:t>
            </a:r>
          </a:p>
          <a:p>
            <a:pPr marL="12700" marR="5080"/>
            <a:r>
              <a:rPr lang="en-US" sz="1600" kern="0" spc="-80" dirty="0">
                <a:solidFill>
                  <a:schemeClr val="accent2"/>
                </a:solidFill>
              </a:rPr>
              <a:t>✅ Data minimization</a:t>
            </a:r>
          </a:p>
          <a:p>
            <a:pPr marL="12700" marR="5080"/>
            <a:r>
              <a:rPr lang="en-US" sz="1600" kern="0" spc="-80" dirty="0">
                <a:solidFill>
                  <a:schemeClr val="accent6"/>
                </a:solidFill>
              </a:rPr>
              <a:t> Store only what you need</a:t>
            </a:r>
          </a:p>
          <a:p>
            <a:pPr marL="12700" marR="5080"/>
            <a:r>
              <a:rPr lang="en-US" sz="1600" kern="0" spc="-80" dirty="0">
                <a:solidFill>
                  <a:schemeClr val="accent6"/>
                </a:solidFill>
              </a:rPr>
              <a:t> Retention policies enforced</a:t>
            </a:r>
          </a:p>
          <a:p>
            <a:pPr marL="12700" marR="5080"/>
            <a:r>
              <a:rPr lang="en-US" sz="1600" kern="0" spc="-80" dirty="0">
                <a:solidFill>
                  <a:schemeClr val="accent6"/>
                </a:solidFill>
              </a:rPr>
              <a:t> Right-to-delete supported</a:t>
            </a:r>
          </a:p>
        </p:txBody>
      </p:sp>
    </p:spTree>
    <p:extLst>
      <p:ext uri="{BB962C8B-B14F-4D97-AF65-F5344CB8AC3E}">
        <p14:creationId xmlns:p14="http://schemas.microsoft.com/office/powerpoint/2010/main" val="25654494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5415A-4269-6232-D76A-5AED5689E2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667B45-EA47-A6DB-A374-BF7704312DF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B5294F-A5A3-AD70-BBE9-FA86229106C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D321A6-2090-9FE2-FF9A-6EFBB9469B0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AD2456B-9041-6E53-9B80-73E5FC5944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AD21C87-E435-9F6C-ACF1-A16041BA0501}"/>
              </a:ext>
            </a:extLst>
          </p:cNvPr>
          <p:cNvSpPr txBox="1">
            <a:spLocks/>
          </p:cNvSpPr>
          <p:nvPr/>
        </p:nvSpPr>
        <p:spPr>
          <a:xfrm>
            <a:off x="281754" y="6096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7️⃣ Logging, Monitoring &amp; Detection</a:t>
            </a:r>
          </a:p>
          <a:p>
            <a:pPr marL="12700" marR="5080"/>
            <a:r>
              <a:rPr lang="en-US" sz="1600" kern="0" spc="-80" dirty="0">
                <a:solidFill>
                  <a:schemeClr val="accent2"/>
                </a:solidFill>
              </a:rPr>
              <a:t>✅ Logging</a:t>
            </a:r>
          </a:p>
          <a:p>
            <a:pPr marL="12700" marR="5080"/>
            <a:r>
              <a:rPr lang="en-US" sz="1600" kern="0" spc="-80" dirty="0">
                <a:solidFill>
                  <a:schemeClr val="accent6"/>
                </a:solidFill>
              </a:rPr>
              <a:t> Auth events logged</a:t>
            </a:r>
          </a:p>
          <a:p>
            <a:pPr marL="12700" marR="5080"/>
            <a:r>
              <a:rPr lang="en-US" sz="1600" kern="0" spc="-80" dirty="0">
                <a:solidFill>
                  <a:schemeClr val="accent6"/>
                </a:solidFill>
              </a:rPr>
              <a:t> Privilege changes logged</a:t>
            </a:r>
          </a:p>
          <a:p>
            <a:pPr marL="12700" marR="5080"/>
            <a:r>
              <a:rPr lang="en-US" sz="1600" kern="0" spc="-80" dirty="0">
                <a:solidFill>
                  <a:schemeClr val="accent6"/>
                </a:solidFill>
              </a:rPr>
              <a:t> Admin actions logged</a:t>
            </a:r>
          </a:p>
          <a:p>
            <a:pPr marL="12700" marR="5080"/>
            <a:r>
              <a:rPr lang="en-US" sz="1600" kern="0" spc="-80" dirty="0">
                <a:solidFill>
                  <a:schemeClr val="accent6"/>
                </a:solidFill>
              </a:rPr>
              <a:t> No sensitive data in logs</a:t>
            </a:r>
          </a:p>
          <a:p>
            <a:pPr marL="12700" marR="5080"/>
            <a:r>
              <a:rPr lang="en-US" sz="1600" kern="0" spc="-80" dirty="0">
                <a:solidFill>
                  <a:schemeClr val="accent2"/>
                </a:solidFill>
              </a:rPr>
              <a:t>✅ Detection</a:t>
            </a:r>
          </a:p>
          <a:p>
            <a:pPr marL="12700" marR="5080"/>
            <a:r>
              <a:rPr lang="en-US" sz="1600" kern="0" spc="-80" dirty="0">
                <a:solidFill>
                  <a:schemeClr val="accent6"/>
                </a:solidFill>
              </a:rPr>
              <a:t> Failed login alerts</a:t>
            </a:r>
          </a:p>
          <a:p>
            <a:pPr marL="12700" marR="5080"/>
            <a:r>
              <a:rPr lang="en-US" sz="1600" kern="0" spc="-80" dirty="0">
                <a:solidFill>
                  <a:schemeClr val="accent6"/>
                </a:solidFill>
              </a:rPr>
              <a:t> Rate-limit alerts</a:t>
            </a:r>
          </a:p>
          <a:p>
            <a:pPr marL="12700" marR="5080"/>
            <a:r>
              <a:rPr lang="en-US" sz="1600" kern="0" spc="-80" dirty="0">
                <a:solidFill>
                  <a:schemeClr val="accent6"/>
                </a:solidFill>
              </a:rPr>
              <a:t> Unusual access patterns</a:t>
            </a:r>
          </a:p>
          <a:p>
            <a:pPr marL="12700" marR="5080"/>
            <a:r>
              <a:rPr lang="en-US" sz="1600" kern="0" spc="-80" dirty="0">
                <a:solidFill>
                  <a:schemeClr val="accent6"/>
                </a:solidFill>
              </a:rPr>
              <a:t> Token misuse detection</a:t>
            </a:r>
          </a:p>
          <a:p>
            <a:pPr marL="12700" marR="5080"/>
            <a:r>
              <a:rPr lang="en-US" sz="1600" kern="0" spc="-80" dirty="0">
                <a:solidFill>
                  <a:schemeClr val="accent2"/>
                </a:solidFill>
              </a:rPr>
              <a:t>✅ Incident readiness</a:t>
            </a:r>
          </a:p>
          <a:p>
            <a:pPr marL="12700" marR="5080"/>
            <a:r>
              <a:rPr lang="en-US" sz="1600" kern="0" spc="-80" dirty="0">
                <a:solidFill>
                  <a:schemeClr val="accent6"/>
                </a:solidFill>
              </a:rPr>
              <a:t> Centralized logs</a:t>
            </a:r>
          </a:p>
          <a:p>
            <a:pPr marL="12700" marR="5080"/>
            <a:r>
              <a:rPr lang="en-US" sz="1600" kern="0" spc="-80" dirty="0">
                <a:solidFill>
                  <a:schemeClr val="accent6"/>
                </a:solidFill>
              </a:rPr>
              <a:t> Time-synced systems</a:t>
            </a:r>
          </a:p>
          <a:p>
            <a:pPr marL="12700" marR="5080"/>
            <a:r>
              <a:rPr lang="en-US" sz="1600" kern="0" spc="-80" dirty="0">
                <a:solidFill>
                  <a:schemeClr val="accent6"/>
                </a:solidFill>
              </a:rPr>
              <a:t> Clear on-call escalation</a:t>
            </a:r>
          </a:p>
          <a:p>
            <a:pPr marL="12700" marR="5080"/>
            <a:r>
              <a:rPr lang="en-US" sz="1600" kern="0" spc="-80" dirty="0">
                <a:solidFill>
                  <a:schemeClr val="accent6"/>
                </a:solidFill>
              </a:rPr>
              <a:t> Playbooks exist</a:t>
            </a:r>
          </a:p>
        </p:txBody>
      </p:sp>
    </p:spTree>
    <p:extLst>
      <p:ext uri="{BB962C8B-B14F-4D97-AF65-F5344CB8AC3E}">
        <p14:creationId xmlns:p14="http://schemas.microsoft.com/office/powerpoint/2010/main" val="33478970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1748-CFC2-69E1-B4F5-8649395E9E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0C38FC7-CE13-8B7E-4BFE-9977C7A198F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9A77C3-3012-03B0-0EC3-86C02E0AC8A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D25C98-5D43-202E-6547-F7165125DF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D6C2BFE-1E7F-CA4D-58ED-0AE54A1B82D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C83E102-C4F3-B3E3-A35E-42531F16A4B9}"/>
              </a:ext>
            </a:extLst>
          </p:cNvPr>
          <p:cNvSpPr txBox="1">
            <a:spLocks/>
          </p:cNvSpPr>
          <p:nvPr/>
        </p:nvSpPr>
        <p:spPr>
          <a:xfrm>
            <a:off x="281754" y="6096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8️⃣ Security Headers &amp; Browser Hardening</a:t>
            </a:r>
          </a:p>
          <a:p>
            <a:pPr marL="12700" marR="5080"/>
            <a:r>
              <a:rPr lang="en-US" sz="1600" kern="0" spc="-80" dirty="0">
                <a:solidFill>
                  <a:schemeClr val="accent2"/>
                </a:solidFill>
              </a:rPr>
              <a:t> Content-Security-Policy</a:t>
            </a:r>
          </a:p>
          <a:p>
            <a:pPr marL="12700" marR="5080"/>
            <a:r>
              <a:rPr lang="en-US" sz="1600" kern="0" spc="-80" dirty="0">
                <a:solidFill>
                  <a:schemeClr val="accent6"/>
                </a:solidFill>
              </a:rPr>
              <a:t> HSTS</a:t>
            </a:r>
          </a:p>
          <a:p>
            <a:pPr marL="12700" marR="5080"/>
            <a:r>
              <a:rPr lang="en-US" sz="1600" kern="0" spc="-80" dirty="0">
                <a:solidFill>
                  <a:schemeClr val="accent6"/>
                </a:solidFill>
              </a:rPr>
              <a:t> X-Frame-Options</a:t>
            </a:r>
          </a:p>
          <a:p>
            <a:pPr marL="12700" marR="5080"/>
            <a:r>
              <a:rPr lang="en-US" sz="1600" kern="0" spc="-80" dirty="0">
                <a:solidFill>
                  <a:schemeClr val="accent6"/>
                </a:solidFill>
              </a:rPr>
              <a:t> Referrer-Policy</a:t>
            </a:r>
          </a:p>
          <a:p>
            <a:pPr marL="12700" marR="5080"/>
            <a:r>
              <a:rPr lang="en-US" sz="1600" kern="0" spc="-80" dirty="0">
                <a:solidFill>
                  <a:schemeClr val="accent6"/>
                </a:solidFill>
              </a:rPr>
              <a:t> </a:t>
            </a:r>
            <a:r>
              <a:rPr lang="en-US" sz="1600" kern="0" spc="-80" dirty="0" err="1">
                <a:solidFill>
                  <a:schemeClr val="accent6"/>
                </a:solidFill>
              </a:rPr>
              <a:t>SameSite</a:t>
            </a:r>
            <a:r>
              <a:rPr lang="en-US" sz="1600" kern="0" spc="-80" dirty="0">
                <a:solidFill>
                  <a:schemeClr val="accent6"/>
                </a:solidFill>
              </a:rPr>
              <a:t> cookies</a:t>
            </a:r>
          </a:p>
          <a:p>
            <a:pPr marL="12700" marR="5080"/>
            <a:r>
              <a:rPr lang="en-US" sz="1600" kern="0" spc="-80" dirty="0">
                <a:solidFill>
                  <a:schemeClr val="accent2"/>
                </a:solidFill>
              </a:rPr>
              <a:t>Baseline</a:t>
            </a:r>
          </a:p>
          <a:p>
            <a:pPr marL="12700" marR="5080"/>
            <a:r>
              <a:rPr lang="en-US" sz="1600" kern="0" spc="-80" dirty="0">
                <a:solidFill>
                  <a:schemeClr val="accent6"/>
                </a:solidFill>
              </a:rPr>
              <a:t>Strict-Transport-Security: max-age=63072000; </a:t>
            </a:r>
            <a:r>
              <a:rPr lang="en-US" sz="1600" kern="0" spc="-80" dirty="0" err="1">
                <a:solidFill>
                  <a:schemeClr val="accent6"/>
                </a:solidFill>
              </a:rPr>
              <a:t>includeSubDomains</a:t>
            </a:r>
            <a:endParaRPr lang="en-US" sz="1600" kern="0" spc="-80" dirty="0">
              <a:solidFill>
                <a:schemeClr val="accent6"/>
              </a:solidFill>
            </a:endParaRPr>
          </a:p>
          <a:p>
            <a:pPr marL="12700" marR="5080"/>
            <a:r>
              <a:rPr lang="en-US" sz="1600" kern="0" spc="-80" dirty="0">
                <a:solidFill>
                  <a:schemeClr val="accent6"/>
                </a:solidFill>
              </a:rPr>
              <a:t>X-Frame-Options: DENY</a:t>
            </a:r>
          </a:p>
          <a:p>
            <a:pPr marL="12700" marR="5080"/>
            <a:r>
              <a:rPr lang="en-US" sz="1600" kern="0" spc="-80" dirty="0">
                <a:solidFill>
                  <a:schemeClr val="accent6"/>
                </a:solidFill>
              </a:rPr>
              <a:t>X-Content-Type-Options: </a:t>
            </a:r>
            <a:r>
              <a:rPr lang="en-US" sz="1600" kern="0" spc="-80" dirty="0" err="1">
                <a:solidFill>
                  <a:schemeClr val="accent6"/>
                </a:solidFill>
              </a:rPr>
              <a:t>nosniff</a:t>
            </a:r>
            <a:endParaRPr lang="en-US" sz="1600" kern="0" spc="-80" dirty="0">
              <a:solidFill>
                <a:schemeClr val="accent6"/>
              </a:solidFill>
            </a:endParaRPr>
          </a:p>
          <a:p>
            <a:pPr marL="12700" marR="5080"/>
            <a:r>
              <a:rPr lang="en-US" sz="1600" kern="0" spc="-80" dirty="0">
                <a:solidFill>
                  <a:schemeClr val="accent6"/>
                </a:solidFill>
              </a:rPr>
              <a:t>Referrer-Policy: no-referrer</a:t>
            </a:r>
          </a:p>
          <a:p>
            <a:pPr marL="12700" marR="5080"/>
            <a:endParaRPr lang="en-US" sz="1600" kern="0" spc="-80" dirty="0">
              <a:solidFill>
                <a:schemeClr val="accent6"/>
              </a:solidFill>
            </a:endParaRPr>
          </a:p>
          <a:p>
            <a:pPr marL="12700" marR="5080"/>
            <a:r>
              <a:rPr lang="en-US" sz="1600" kern="0" spc="-80" dirty="0">
                <a:solidFill>
                  <a:schemeClr val="accent2"/>
                </a:solidFill>
              </a:rPr>
              <a:t>9️⃣ CI/CD &amp; Supply Chain Security</a:t>
            </a:r>
          </a:p>
          <a:p>
            <a:pPr marL="12700" marR="5080"/>
            <a:r>
              <a:rPr lang="en-US" sz="1600" kern="0" spc="-80" dirty="0">
                <a:solidFill>
                  <a:schemeClr val="accent2"/>
                </a:solidFill>
              </a:rPr>
              <a:t>✅ Code</a:t>
            </a:r>
          </a:p>
          <a:p>
            <a:pPr marL="12700" marR="5080"/>
            <a:r>
              <a:rPr lang="en-US" sz="1600" kern="0" spc="-80" dirty="0">
                <a:solidFill>
                  <a:schemeClr val="accent6"/>
                </a:solidFill>
              </a:rPr>
              <a:t> SAST enabled</a:t>
            </a:r>
          </a:p>
          <a:p>
            <a:pPr marL="12700" marR="5080"/>
            <a:r>
              <a:rPr lang="en-US" sz="1600" kern="0" spc="-80" dirty="0">
                <a:solidFill>
                  <a:schemeClr val="accent6"/>
                </a:solidFill>
              </a:rPr>
              <a:t> Dependency scanning</a:t>
            </a:r>
          </a:p>
          <a:p>
            <a:pPr marL="12700" marR="5080"/>
            <a:r>
              <a:rPr lang="en-US" sz="1600" kern="0" spc="-80" dirty="0">
                <a:solidFill>
                  <a:schemeClr val="accent6"/>
                </a:solidFill>
              </a:rPr>
              <a:t> License checks</a:t>
            </a:r>
          </a:p>
        </p:txBody>
      </p:sp>
    </p:spTree>
    <p:extLst>
      <p:ext uri="{BB962C8B-B14F-4D97-AF65-F5344CB8AC3E}">
        <p14:creationId xmlns:p14="http://schemas.microsoft.com/office/powerpoint/2010/main" val="9768721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D6726-DEC2-5DC9-37A3-036F65E562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2DC96F-16A1-5581-B0EF-F57FA563A1B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CE879D-6810-633B-3D90-BAC7D25809D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528DF14-4719-6403-E101-9CB0D9BD9F7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46CF244-BBC6-8646-4007-F544561DAE9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F2966D7-87E4-3F30-D52A-01A313763DFC}"/>
              </a:ext>
            </a:extLst>
          </p:cNvPr>
          <p:cNvSpPr txBox="1">
            <a:spLocks/>
          </p:cNvSpPr>
          <p:nvPr/>
        </p:nvSpPr>
        <p:spPr>
          <a:xfrm>
            <a:off x="281754" y="6096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9️⃣ CI/CD &amp; Supply Chain Security</a:t>
            </a:r>
          </a:p>
          <a:p>
            <a:pPr marL="12700" marR="5080"/>
            <a:r>
              <a:rPr lang="en-US" sz="1600" kern="0" spc="-80" dirty="0">
                <a:solidFill>
                  <a:schemeClr val="accent2"/>
                </a:solidFill>
              </a:rPr>
              <a:t>✅ Build</a:t>
            </a:r>
          </a:p>
          <a:p>
            <a:pPr marL="12700" marR="5080"/>
            <a:r>
              <a:rPr lang="en-US" sz="1600" kern="0" spc="-80" dirty="0">
                <a:solidFill>
                  <a:schemeClr val="accent6"/>
                </a:solidFill>
              </a:rPr>
              <a:t> Immutable artifacts</a:t>
            </a:r>
          </a:p>
          <a:p>
            <a:pPr marL="12700" marR="5080"/>
            <a:r>
              <a:rPr lang="en-US" sz="1600" kern="0" spc="-80" dirty="0">
                <a:solidFill>
                  <a:schemeClr val="accent6"/>
                </a:solidFill>
              </a:rPr>
              <a:t> No secrets in build logs</a:t>
            </a:r>
          </a:p>
          <a:p>
            <a:pPr marL="12700" marR="5080"/>
            <a:r>
              <a:rPr lang="en-US" sz="1600" kern="0" spc="-80" dirty="0">
                <a:solidFill>
                  <a:schemeClr val="accent6"/>
                </a:solidFill>
              </a:rPr>
              <a:t> Signed images</a:t>
            </a:r>
          </a:p>
          <a:p>
            <a:pPr marL="12700" marR="5080"/>
            <a:r>
              <a:rPr lang="en-US" sz="1600" kern="0" spc="-80" dirty="0">
                <a:solidFill>
                  <a:schemeClr val="accent2"/>
                </a:solidFill>
              </a:rPr>
              <a:t>✅ Deploy</a:t>
            </a:r>
          </a:p>
          <a:p>
            <a:pPr marL="12700" marR="5080"/>
            <a:r>
              <a:rPr lang="en-US" sz="1600" kern="0" spc="-80" dirty="0">
                <a:solidFill>
                  <a:schemeClr val="accent6"/>
                </a:solidFill>
              </a:rPr>
              <a:t> Infrastructure as Code</a:t>
            </a:r>
          </a:p>
          <a:p>
            <a:pPr marL="12700" marR="5080"/>
            <a:r>
              <a:rPr lang="en-US" sz="1600" kern="0" spc="-80" dirty="0">
                <a:solidFill>
                  <a:schemeClr val="accent6"/>
                </a:solidFill>
              </a:rPr>
              <a:t> Manual approval for prod</a:t>
            </a:r>
          </a:p>
          <a:p>
            <a:pPr marL="12700" marR="5080"/>
            <a:r>
              <a:rPr lang="en-US" sz="1600" kern="0" spc="-80" dirty="0">
                <a:solidFill>
                  <a:schemeClr val="accent6"/>
                </a:solidFill>
              </a:rPr>
              <a:t> Rollback strategy</a:t>
            </a:r>
          </a:p>
          <a:p>
            <a:pPr marL="12700" marR="5080"/>
            <a:endParaRPr lang="en-US" sz="1600" kern="0" spc="-80" dirty="0">
              <a:solidFill>
                <a:schemeClr val="accent6"/>
              </a:solidFill>
            </a:endParaRPr>
          </a:p>
          <a:p>
            <a:pPr marL="12700" marR="5080"/>
            <a:r>
              <a:rPr lang="en-US" sz="1600" kern="0" spc="-80" dirty="0">
                <a:solidFill>
                  <a:schemeClr val="accent2"/>
                </a:solidFill>
              </a:rPr>
              <a:t>🔟 Kubernetes / Cloud-Native (If Applicable)</a:t>
            </a:r>
          </a:p>
          <a:p>
            <a:pPr marL="12700" marR="5080"/>
            <a:r>
              <a:rPr lang="en-US" sz="1600" kern="0" spc="-80" dirty="0">
                <a:solidFill>
                  <a:schemeClr val="accent2"/>
                </a:solidFill>
              </a:rPr>
              <a:t>✅ Kubernetes</a:t>
            </a:r>
          </a:p>
          <a:p>
            <a:pPr marL="12700" marR="5080"/>
            <a:r>
              <a:rPr lang="en-US" sz="1600" kern="0" spc="-80" dirty="0">
                <a:solidFill>
                  <a:schemeClr val="accent6"/>
                </a:solidFill>
              </a:rPr>
              <a:t> RBAC enforced</a:t>
            </a:r>
          </a:p>
          <a:p>
            <a:pPr marL="12700" marR="5080"/>
            <a:r>
              <a:rPr lang="en-US" sz="1600" kern="0" spc="-80" dirty="0">
                <a:solidFill>
                  <a:schemeClr val="accent6"/>
                </a:solidFill>
              </a:rPr>
              <a:t> No privileged containers</a:t>
            </a:r>
          </a:p>
          <a:p>
            <a:pPr marL="12700" marR="5080"/>
            <a:r>
              <a:rPr lang="en-US" sz="1600" kern="0" spc="-80" dirty="0">
                <a:solidFill>
                  <a:schemeClr val="accent6"/>
                </a:solidFill>
              </a:rPr>
              <a:t> Pod security standards</a:t>
            </a:r>
          </a:p>
          <a:p>
            <a:pPr marL="12700" marR="5080"/>
            <a:r>
              <a:rPr lang="en-US" sz="1600" kern="0" spc="-80" dirty="0">
                <a:solidFill>
                  <a:schemeClr val="accent6"/>
                </a:solidFill>
              </a:rPr>
              <a:t> Network policies enabled</a:t>
            </a:r>
          </a:p>
          <a:p>
            <a:pPr marL="12700" marR="5080"/>
            <a:r>
              <a:rPr lang="en-US" sz="1600" kern="0" spc="-80" dirty="0">
                <a:solidFill>
                  <a:schemeClr val="accent6"/>
                </a:solidFill>
              </a:rPr>
              <a:t> Secrets not mounted globally</a:t>
            </a:r>
          </a:p>
        </p:txBody>
      </p:sp>
    </p:spTree>
    <p:extLst>
      <p:ext uri="{BB962C8B-B14F-4D97-AF65-F5344CB8AC3E}">
        <p14:creationId xmlns:p14="http://schemas.microsoft.com/office/powerpoint/2010/main" val="13028716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37B88-8147-8FDB-A039-3C70919B130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F59EB2-27DA-A110-92B3-1119A7BD861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E331AB-6F99-EAD5-A824-4A8E8FABBDB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67BAA3E-A72A-F6ED-E704-649C4650361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27EE5D6-2AA6-9AE3-A394-10C8E5CC36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F571590-6895-52B9-9D67-9CEEFE300E57}"/>
              </a:ext>
            </a:extLst>
          </p:cNvPr>
          <p:cNvSpPr txBox="1">
            <a:spLocks/>
          </p:cNvSpPr>
          <p:nvPr/>
        </p:nvSpPr>
        <p:spPr>
          <a:xfrm>
            <a:off x="281754" y="6096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 Kubernetes / Cloud-Native (If Applicable)</a:t>
            </a:r>
          </a:p>
          <a:p>
            <a:pPr marL="12700" marR="5080"/>
            <a:r>
              <a:rPr lang="en-US" sz="1600" kern="0" spc="-80" dirty="0">
                <a:solidFill>
                  <a:schemeClr val="accent2"/>
                </a:solidFill>
              </a:rPr>
              <a:t>✅ Cloud</a:t>
            </a:r>
          </a:p>
          <a:p>
            <a:pPr marL="12700" marR="5080"/>
            <a:r>
              <a:rPr lang="en-US" sz="1600" kern="0" spc="-80" dirty="0">
                <a:solidFill>
                  <a:schemeClr val="accent6"/>
                </a:solidFill>
              </a:rPr>
              <a:t> IAM least privilege</a:t>
            </a:r>
          </a:p>
          <a:p>
            <a:pPr marL="12700" marR="5080"/>
            <a:r>
              <a:rPr lang="en-US" sz="1600" kern="0" spc="-80" dirty="0">
                <a:solidFill>
                  <a:schemeClr val="accent6"/>
                </a:solidFill>
              </a:rPr>
              <a:t> No long-lived access keys</a:t>
            </a:r>
          </a:p>
          <a:p>
            <a:pPr marL="12700" marR="5080"/>
            <a:r>
              <a:rPr lang="en-US" sz="1600" kern="0" spc="-80" dirty="0">
                <a:solidFill>
                  <a:schemeClr val="accent6"/>
                </a:solidFill>
              </a:rPr>
              <a:t> Resource-level permissions</a:t>
            </a:r>
          </a:p>
          <a:p>
            <a:pPr marL="12700" marR="5080"/>
            <a:r>
              <a:rPr lang="en-US" sz="1600" kern="0" spc="-80" dirty="0">
                <a:solidFill>
                  <a:schemeClr val="accent6"/>
                </a:solidFill>
              </a:rPr>
              <a:t> Audit logs enabled</a:t>
            </a:r>
          </a:p>
          <a:p>
            <a:pPr marL="12700" marR="5080"/>
            <a:endParaRPr lang="en-US" sz="1600" kern="0" spc="-80" dirty="0">
              <a:solidFill>
                <a:schemeClr val="accent6"/>
              </a:solidFill>
            </a:endParaRPr>
          </a:p>
          <a:p>
            <a:pPr marL="12700" marR="5080"/>
            <a:r>
              <a:rPr lang="en-US" sz="1600" kern="0" spc="-80" dirty="0">
                <a:solidFill>
                  <a:schemeClr val="accent2"/>
                </a:solidFill>
              </a:rPr>
              <a:t>1️⃣1️⃣ Business Logic Security (MOST MISSED)</a:t>
            </a:r>
          </a:p>
          <a:p>
            <a:pPr marL="12700" marR="5080"/>
            <a:r>
              <a:rPr lang="en-US" sz="1600" kern="0" spc="-80" dirty="0">
                <a:solidFill>
                  <a:schemeClr val="accent2"/>
                </a:solidFill>
              </a:rPr>
              <a:t>Ask these questions:</a:t>
            </a:r>
          </a:p>
          <a:p>
            <a:pPr marL="12700" marR="5080"/>
            <a:r>
              <a:rPr lang="en-US" sz="1600" kern="0" spc="-80" dirty="0">
                <a:solidFill>
                  <a:schemeClr val="accent6"/>
                </a:solidFill>
              </a:rPr>
              <a:t> Can users skip steps?</a:t>
            </a:r>
          </a:p>
          <a:p>
            <a:pPr marL="12700" marR="5080"/>
            <a:r>
              <a:rPr lang="en-US" sz="1600" kern="0" spc="-80" dirty="0">
                <a:solidFill>
                  <a:schemeClr val="accent6"/>
                </a:solidFill>
              </a:rPr>
              <a:t> Can discounts be stacked?</a:t>
            </a:r>
          </a:p>
          <a:p>
            <a:pPr marL="12700" marR="5080"/>
            <a:r>
              <a:rPr lang="en-US" sz="1600" kern="0" spc="-80" dirty="0">
                <a:solidFill>
                  <a:schemeClr val="accent6"/>
                </a:solidFill>
              </a:rPr>
              <a:t> Can refunds be replayed?</a:t>
            </a:r>
          </a:p>
          <a:p>
            <a:pPr marL="12700" marR="5080"/>
            <a:r>
              <a:rPr lang="en-US" sz="1600" kern="0" spc="-80" dirty="0">
                <a:solidFill>
                  <a:schemeClr val="accent6"/>
                </a:solidFill>
              </a:rPr>
              <a:t> Can state transitions be bypassed?</a:t>
            </a:r>
          </a:p>
          <a:p>
            <a:pPr marL="12700" marR="5080"/>
            <a:r>
              <a:rPr lang="en-US" sz="1600" kern="0" spc="-80" dirty="0">
                <a:solidFill>
                  <a:schemeClr val="accent6"/>
                </a:solidFill>
              </a:rPr>
              <a:t> Are workflows idempotent?</a:t>
            </a:r>
          </a:p>
          <a:p>
            <a:pPr marL="12700" marR="5080"/>
            <a:r>
              <a:rPr lang="en-US" sz="1600" kern="0" spc="-80" dirty="0">
                <a:solidFill>
                  <a:schemeClr val="accent2"/>
                </a:solidFill>
              </a:rPr>
              <a:t>Failure pattern</a:t>
            </a:r>
          </a:p>
          <a:p>
            <a:pPr marL="12700" marR="5080"/>
            <a:r>
              <a:rPr lang="en-US" sz="1600" kern="0" spc="-80" dirty="0">
                <a:solidFill>
                  <a:schemeClr val="accent6"/>
                </a:solidFill>
              </a:rPr>
              <a:t>“Security passed—but logic allowed free money”</a:t>
            </a:r>
          </a:p>
          <a:p>
            <a:pPr marL="12700" marR="5080"/>
            <a:endParaRPr lang="en-US" sz="1600" kern="0" spc="-80" dirty="0">
              <a:solidFill>
                <a:schemeClr val="accent6"/>
              </a:solidFill>
            </a:endParaRPr>
          </a:p>
        </p:txBody>
      </p:sp>
    </p:spTree>
    <p:extLst>
      <p:ext uri="{BB962C8B-B14F-4D97-AF65-F5344CB8AC3E}">
        <p14:creationId xmlns:p14="http://schemas.microsoft.com/office/powerpoint/2010/main" val="20802688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A2B68-FD18-72B5-497C-66BA615AB7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0AFD041-65A5-01FB-C6CE-D86150A44F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4469E59-58C0-4B2B-15E2-2C1128B33A3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727A1B0-83AC-675F-AD2C-AB5D9AD5F64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1B0A33F-EAE3-8A65-7FA0-77A255EC7BB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DBD3DBD-9806-D010-0689-923F32AD91F7}"/>
              </a:ext>
            </a:extLst>
          </p:cNvPr>
          <p:cNvSpPr txBox="1">
            <a:spLocks/>
          </p:cNvSpPr>
          <p:nvPr/>
        </p:nvSpPr>
        <p:spPr>
          <a:xfrm>
            <a:off x="281754" y="609600"/>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1️⃣2️⃣ Threat Modeling (Lightweight but Effective)</a:t>
            </a:r>
          </a:p>
          <a:p>
            <a:pPr marL="12700" marR="5080"/>
            <a:r>
              <a:rPr lang="en-US" sz="1600" kern="0" spc="-80" dirty="0">
                <a:solidFill>
                  <a:schemeClr val="accent2"/>
                </a:solidFill>
              </a:rPr>
              <a:t>For each system:</a:t>
            </a:r>
          </a:p>
          <a:p>
            <a:pPr marL="12700" marR="5080"/>
            <a:r>
              <a:rPr lang="en-US" sz="1600" kern="0" spc="-80" dirty="0">
                <a:solidFill>
                  <a:schemeClr val="accent6"/>
                </a:solidFill>
              </a:rPr>
              <a:t> Entry points identified</a:t>
            </a:r>
          </a:p>
          <a:p>
            <a:pPr marL="12700" marR="5080"/>
            <a:r>
              <a:rPr lang="en-US" sz="1600" kern="0" spc="-80" dirty="0">
                <a:solidFill>
                  <a:schemeClr val="accent6"/>
                </a:solidFill>
              </a:rPr>
              <a:t> Trust boundaries marked</a:t>
            </a:r>
          </a:p>
          <a:p>
            <a:pPr marL="12700" marR="5080"/>
            <a:r>
              <a:rPr lang="en-US" sz="1600" kern="0" spc="-80" dirty="0">
                <a:solidFill>
                  <a:schemeClr val="accent6"/>
                </a:solidFill>
              </a:rPr>
              <a:t> High-value assets listed</a:t>
            </a:r>
          </a:p>
          <a:p>
            <a:pPr marL="12700" marR="5080"/>
            <a:r>
              <a:rPr lang="en-US" sz="1600" kern="0" spc="-80" dirty="0">
                <a:solidFill>
                  <a:schemeClr val="accent6"/>
                </a:solidFill>
              </a:rPr>
              <a:t> Attacker goals imagined</a:t>
            </a:r>
          </a:p>
          <a:p>
            <a:pPr marL="12700" marR="5080"/>
            <a:r>
              <a:rPr lang="en-US" sz="1600" kern="0" spc="-80" dirty="0">
                <a:solidFill>
                  <a:schemeClr val="accent6"/>
                </a:solidFill>
              </a:rPr>
              <a:t> Abuse cases written</a:t>
            </a:r>
          </a:p>
          <a:p>
            <a:pPr marL="12700" marR="5080"/>
            <a:r>
              <a:rPr lang="en-US" sz="1600" kern="0" spc="-80" dirty="0">
                <a:solidFill>
                  <a:schemeClr val="accent2"/>
                </a:solidFill>
              </a:rPr>
              <a:t>Use STRIDE:</a:t>
            </a:r>
          </a:p>
          <a:p>
            <a:pPr marL="12700" marR="5080"/>
            <a:r>
              <a:rPr lang="en-US" sz="1600" kern="0" spc="-80" dirty="0">
                <a:solidFill>
                  <a:schemeClr val="accent6"/>
                </a:solidFill>
              </a:rPr>
              <a:t>Spoofing</a:t>
            </a:r>
          </a:p>
          <a:p>
            <a:pPr marL="12700" marR="5080"/>
            <a:r>
              <a:rPr lang="en-US" sz="1600" kern="0" spc="-80" dirty="0">
                <a:solidFill>
                  <a:schemeClr val="accent6"/>
                </a:solidFill>
              </a:rPr>
              <a:t>Tampering</a:t>
            </a:r>
          </a:p>
          <a:p>
            <a:pPr marL="12700" marR="5080"/>
            <a:r>
              <a:rPr lang="en-US" sz="1600" kern="0" spc="-80" dirty="0">
                <a:solidFill>
                  <a:schemeClr val="accent6"/>
                </a:solidFill>
              </a:rPr>
              <a:t>Repudiation</a:t>
            </a:r>
          </a:p>
          <a:p>
            <a:pPr marL="12700" marR="5080"/>
            <a:r>
              <a:rPr lang="en-US" sz="1600" kern="0" spc="-80" dirty="0">
                <a:solidFill>
                  <a:schemeClr val="accent6"/>
                </a:solidFill>
              </a:rPr>
              <a:t>Information Disclosure</a:t>
            </a:r>
          </a:p>
          <a:p>
            <a:pPr marL="12700" marR="5080"/>
            <a:r>
              <a:rPr lang="en-US" sz="1600" kern="0" spc="-80" dirty="0">
                <a:solidFill>
                  <a:schemeClr val="accent6"/>
                </a:solidFill>
              </a:rPr>
              <a:t>DoS</a:t>
            </a:r>
          </a:p>
          <a:p>
            <a:pPr marL="12700" marR="5080"/>
            <a:r>
              <a:rPr lang="en-US" sz="1600" kern="0" spc="-80" dirty="0">
                <a:solidFill>
                  <a:schemeClr val="accent6"/>
                </a:solidFill>
              </a:rPr>
              <a:t>Elevation of Privilege</a:t>
            </a:r>
          </a:p>
          <a:p>
            <a:pPr marL="12700" marR="5080"/>
            <a:endParaRPr lang="en-US" sz="1600" kern="0" spc="-80" dirty="0">
              <a:solidFill>
                <a:schemeClr val="accent6"/>
              </a:solidFill>
            </a:endParaRPr>
          </a:p>
          <a:p>
            <a:pPr marL="12700" marR="5080"/>
            <a:r>
              <a:rPr lang="en-US" sz="1600" kern="0" spc="-80" dirty="0">
                <a:solidFill>
                  <a:schemeClr val="accent2"/>
                </a:solidFill>
              </a:rPr>
              <a:t>1️⃣3️⃣ Pre-Production Go-Live Checklist</a:t>
            </a:r>
          </a:p>
          <a:p>
            <a:pPr marL="12700" marR="5080"/>
            <a:r>
              <a:rPr lang="en-US" sz="1600" kern="0" spc="-80" dirty="0">
                <a:solidFill>
                  <a:schemeClr val="accent6"/>
                </a:solidFill>
              </a:rPr>
              <a:t> No debug endpoints</a:t>
            </a:r>
          </a:p>
          <a:p>
            <a:pPr marL="12700" marR="5080"/>
            <a:r>
              <a:rPr lang="en-US" sz="1600" kern="0" spc="-80" dirty="0">
                <a:solidFill>
                  <a:schemeClr val="accent6"/>
                </a:solidFill>
              </a:rPr>
              <a:t> No test accounts</a:t>
            </a:r>
          </a:p>
          <a:p>
            <a:pPr marL="12700" marR="5080"/>
            <a:r>
              <a:rPr lang="en-US" sz="1600" kern="0" spc="-80" dirty="0">
                <a:solidFill>
                  <a:schemeClr val="accent6"/>
                </a:solidFill>
              </a:rPr>
              <a:t> No open admin panels</a:t>
            </a:r>
          </a:p>
        </p:txBody>
      </p:sp>
    </p:spTree>
    <p:extLst>
      <p:ext uri="{BB962C8B-B14F-4D97-AF65-F5344CB8AC3E}">
        <p14:creationId xmlns:p14="http://schemas.microsoft.com/office/powerpoint/2010/main" val="1515737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33F57-F656-AAF2-B64A-965CB0C3CC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5B416E-A6EA-DD6B-5045-4F464625514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73EC97-D0BE-E373-C40D-BCA63B6167A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5D970DB-9DAE-88B5-6F85-CA857219539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43A65A6-9DC8-D438-1CF8-B74784B6753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1BE9C99-648C-6638-21A5-40DE97CA496E}"/>
              </a:ext>
            </a:extLst>
          </p:cNvPr>
          <p:cNvSpPr txBox="1">
            <a:spLocks/>
          </p:cNvSpPr>
          <p:nvPr/>
        </p:nvSpPr>
        <p:spPr>
          <a:xfrm>
            <a:off x="281754" y="609600"/>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Architecture Checklist</a:t>
            </a:r>
          </a:p>
          <a:p>
            <a:pPr marL="12700" marR="5080"/>
            <a:r>
              <a:rPr lang="en-US" sz="1600" kern="0" spc="-80" dirty="0">
                <a:solidFill>
                  <a:schemeClr val="accent2"/>
                </a:solidFill>
              </a:rPr>
              <a:t>1️⃣3️⃣ Pre-Production Go-Live Checklist</a:t>
            </a:r>
          </a:p>
          <a:p>
            <a:pPr marL="12700" marR="5080"/>
            <a:r>
              <a:rPr lang="en-US" sz="1600" kern="0" spc="-80" dirty="0">
                <a:solidFill>
                  <a:schemeClr val="accent6"/>
                </a:solidFill>
              </a:rPr>
              <a:t> Rate limits active</a:t>
            </a:r>
          </a:p>
          <a:p>
            <a:pPr marL="12700" marR="5080"/>
            <a:r>
              <a:rPr lang="en-US" sz="1600" kern="0" spc="-80" dirty="0">
                <a:solidFill>
                  <a:schemeClr val="accent6"/>
                </a:solidFill>
              </a:rPr>
              <a:t> Secrets rotated</a:t>
            </a:r>
          </a:p>
          <a:p>
            <a:pPr marL="12700" marR="5080"/>
            <a:r>
              <a:rPr lang="en-US" sz="1600" kern="0" spc="-80" dirty="0">
                <a:solidFill>
                  <a:schemeClr val="accent6"/>
                </a:solidFill>
              </a:rPr>
              <a:t> Monitoring tested</a:t>
            </a:r>
          </a:p>
          <a:p>
            <a:pPr marL="12700" marR="5080"/>
            <a:r>
              <a:rPr lang="en-US" sz="1600" kern="0" spc="-80" dirty="0">
                <a:solidFill>
                  <a:schemeClr val="accent6"/>
                </a:solidFill>
              </a:rPr>
              <a:t> Incident drill done</a:t>
            </a:r>
          </a:p>
          <a:p>
            <a:pPr marL="12700" marR="5080"/>
            <a:endParaRPr lang="en-US" sz="1600" kern="0" spc="-80" dirty="0">
              <a:solidFill>
                <a:schemeClr val="accent6"/>
              </a:solidFill>
            </a:endParaRPr>
          </a:p>
          <a:p>
            <a:pPr marL="12700" marR="5080"/>
            <a:r>
              <a:rPr lang="en-US" sz="1600" kern="0" spc="-80" dirty="0">
                <a:solidFill>
                  <a:schemeClr val="accent2"/>
                </a:solidFill>
              </a:rPr>
              <a:t>🧠 Mental Model (Remember This)</a:t>
            </a:r>
          </a:p>
          <a:p>
            <a:pPr marL="12700" marR="5080"/>
            <a:r>
              <a:rPr lang="en-US" sz="1600" kern="0" spc="-80" dirty="0">
                <a:solidFill>
                  <a:schemeClr val="accent6"/>
                </a:solidFill>
              </a:rPr>
              <a:t>Security is not a feature — it’s a system property</a:t>
            </a:r>
          </a:p>
          <a:p>
            <a:pPr marL="12700" marR="5080"/>
            <a:r>
              <a:rPr lang="en-US" sz="1600" kern="0" spc="-80" dirty="0">
                <a:solidFill>
                  <a:schemeClr val="accent2"/>
                </a:solidFill>
              </a:rPr>
              <a:t>Layer	                Question</a:t>
            </a:r>
          </a:p>
          <a:p>
            <a:pPr marL="12700" marR="5080"/>
            <a:r>
              <a:rPr lang="en-US" sz="1600" kern="0" spc="-80" dirty="0">
                <a:solidFill>
                  <a:schemeClr val="accent6"/>
                </a:solidFill>
              </a:rPr>
              <a:t>Identity	                Who are you?</a:t>
            </a:r>
          </a:p>
          <a:p>
            <a:pPr marL="12700" marR="5080"/>
            <a:r>
              <a:rPr lang="en-US" sz="1600" kern="0" spc="-80" dirty="0" err="1">
                <a:solidFill>
                  <a:schemeClr val="accent6"/>
                </a:solidFill>
              </a:rPr>
              <a:t>AuthZ</a:t>
            </a:r>
            <a:r>
              <a:rPr lang="en-US" sz="1600" kern="0" spc="-80" dirty="0">
                <a:solidFill>
                  <a:schemeClr val="accent6"/>
                </a:solidFill>
              </a:rPr>
              <a:t>	                What can you do?</a:t>
            </a:r>
          </a:p>
          <a:p>
            <a:pPr marL="12700" marR="5080"/>
            <a:r>
              <a:rPr lang="en-US" sz="1600" kern="0" spc="-80" dirty="0">
                <a:solidFill>
                  <a:schemeClr val="accent6"/>
                </a:solidFill>
              </a:rPr>
              <a:t>Network	                Where can you talk?</a:t>
            </a:r>
          </a:p>
          <a:p>
            <a:pPr marL="12700" marR="5080"/>
            <a:r>
              <a:rPr lang="en-US" sz="1600" kern="0" spc="-80" dirty="0">
                <a:solidFill>
                  <a:schemeClr val="accent6"/>
                </a:solidFill>
              </a:rPr>
              <a:t>Data	                What can you see?</a:t>
            </a:r>
          </a:p>
          <a:p>
            <a:pPr marL="12700" marR="5080"/>
            <a:r>
              <a:rPr lang="en-US" sz="1600" kern="0" spc="-80" dirty="0">
                <a:solidFill>
                  <a:schemeClr val="accent6"/>
                </a:solidFill>
              </a:rPr>
              <a:t>Observability         Will we notice?</a:t>
            </a:r>
          </a:p>
          <a:p>
            <a:pPr marL="12700" marR="5080"/>
            <a:r>
              <a:rPr lang="en-US" sz="1600" kern="0" spc="-80" dirty="0">
                <a:solidFill>
                  <a:schemeClr val="accent6"/>
                </a:solidFill>
              </a:rPr>
              <a:t>Response               Can we recover?</a:t>
            </a:r>
          </a:p>
          <a:p>
            <a:pPr marL="12700" marR="5080"/>
            <a:endParaRPr lang="en-US" sz="1600" kern="0" spc="-80" dirty="0">
              <a:solidFill>
                <a:schemeClr val="accent6"/>
              </a:solidFill>
            </a:endParaRPr>
          </a:p>
          <a:p>
            <a:pPr marL="12700" marR="5080"/>
            <a:endParaRPr lang="en-US" sz="1600" kern="0" spc="-80" dirty="0">
              <a:solidFill>
                <a:schemeClr val="accent6"/>
              </a:solidFill>
            </a:endParaRPr>
          </a:p>
          <a:p>
            <a:pPr marL="12700" marR="5080"/>
            <a:endParaRPr lang="en-US" sz="1600" kern="0" spc="-80" dirty="0">
              <a:solidFill>
                <a:schemeClr val="accent6"/>
              </a:solidFill>
            </a:endParaRPr>
          </a:p>
          <a:p>
            <a:pPr marL="12700" marR="5080"/>
            <a:endParaRPr lang="en-US" sz="1600" kern="0" spc="-80" dirty="0">
              <a:solidFill>
                <a:schemeClr val="accent6"/>
              </a:solidFill>
            </a:endParaRPr>
          </a:p>
          <a:p>
            <a:pPr marL="12700" marR="5080"/>
            <a:endParaRPr lang="en-US" sz="1600" kern="0" spc="-80" dirty="0">
              <a:solidFill>
                <a:schemeClr val="accent6"/>
              </a:solidFill>
            </a:endParaRPr>
          </a:p>
        </p:txBody>
      </p:sp>
    </p:spTree>
    <p:extLst>
      <p:ext uri="{BB962C8B-B14F-4D97-AF65-F5344CB8AC3E}">
        <p14:creationId xmlns:p14="http://schemas.microsoft.com/office/powerpoint/2010/main" val="34029061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26043"/>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a:t>
            </a:r>
          </a:p>
          <a:p>
            <a:pPr marL="12700" marR="5080"/>
            <a:r>
              <a:rPr lang="en-US" sz="1600" kern="0" spc="-80" dirty="0">
                <a:solidFill>
                  <a:schemeClr val="accent2"/>
                </a:solidFill>
              </a:rPr>
              <a:t>    Accesses – </a:t>
            </a:r>
            <a:r>
              <a:rPr lang="en-US" sz="1600" kern="0" spc="-80" dirty="0">
                <a:solidFill>
                  <a:schemeClr val="accent6"/>
                </a:solidFill>
              </a:rPr>
              <a:t>Mainly from Dev perspective, who has what access.</a:t>
            </a:r>
          </a:p>
          <a:p>
            <a:pPr marL="12700" marR="5080"/>
            <a:r>
              <a:rPr lang="en-US" sz="1600" kern="0" spc="-80" dirty="0">
                <a:solidFill>
                  <a:schemeClr val="accent6"/>
                </a:solidFill>
              </a:rPr>
              <a:t>    </a:t>
            </a:r>
            <a:r>
              <a:rPr lang="en-US" sz="1600" kern="0" spc="-80" dirty="0">
                <a:solidFill>
                  <a:schemeClr val="accent2"/>
                </a:solidFill>
              </a:rPr>
              <a:t>Processes – </a:t>
            </a:r>
            <a:r>
              <a:rPr lang="en-US" sz="1600" kern="0" spc="-80" dirty="0">
                <a:solidFill>
                  <a:schemeClr val="accent6"/>
                </a:solidFill>
              </a:rPr>
              <a:t>Again mainly from Dev perspective, the processes that needs to be followed.</a:t>
            </a:r>
          </a:p>
          <a:p>
            <a:pPr marL="12700" marR="5080"/>
            <a:r>
              <a:rPr lang="en-US" sz="1600" kern="0" spc="-80" dirty="0">
                <a:solidFill>
                  <a:schemeClr val="accent6"/>
                </a:solidFill>
              </a:rPr>
              <a:t>    </a:t>
            </a:r>
            <a:r>
              <a:rPr lang="en-US" sz="1600" kern="0" spc="-80" dirty="0">
                <a:solidFill>
                  <a:schemeClr val="accent2"/>
                </a:solidFill>
              </a:rPr>
              <a:t>Regulatory Compliance – </a:t>
            </a:r>
            <a:r>
              <a:rPr lang="en-US" sz="1600" kern="0" spc="-80" dirty="0">
                <a:solidFill>
                  <a:schemeClr val="accent6"/>
                </a:solidFill>
              </a:rPr>
              <a:t>Mainly from App perspective. Compliance that needs to be followed as part of some Regulatory Authority(e.g. consents[EULA, Allow Cookies </a:t>
            </a:r>
            <a:r>
              <a:rPr lang="en-US" sz="1600" kern="0" spc="-80" dirty="0" err="1">
                <a:solidFill>
                  <a:schemeClr val="accent6"/>
                </a:solidFill>
              </a:rPr>
              <a:t>PopUps</a:t>
            </a:r>
            <a:r>
              <a:rPr lang="en-US" sz="1600" kern="0" spc="-80" dirty="0">
                <a:solidFill>
                  <a:schemeClr val="accent6"/>
                </a:solidFill>
              </a:rPr>
              <a:t> </a:t>
            </a:r>
            <a:r>
              <a:rPr lang="en-US" sz="1600" kern="0" spc="-80" dirty="0" err="1">
                <a:solidFill>
                  <a:schemeClr val="accent6"/>
                </a:solidFill>
              </a:rPr>
              <a:t>etc</a:t>
            </a:r>
            <a:r>
              <a:rPr lang="en-US" sz="1600" kern="0" spc="-80" dirty="0">
                <a:solidFill>
                  <a:schemeClr val="accent6"/>
                </a:solidFill>
              </a:rPr>
              <a:t>] )</a:t>
            </a:r>
          </a:p>
          <a:p>
            <a:pPr marL="12700" marR="5080"/>
            <a:r>
              <a:rPr lang="en-US" sz="1600" kern="0" spc="-80" dirty="0">
                <a:solidFill>
                  <a:schemeClr val="accent6"/>
                </a:solidFill>
              </a:rPr>
              <a:t>    </a:t>
            </a:r>
            <a:r>
              <a:rPr lang="en-US" sz="1600" kern="0" spc="-80" dirty="0">
                <a:solidFill>
                  <a:schemeClr val="accent2"/>
                </a:solidFill>
              </a:rPr>
              <a:t>Auditing - </a:t>
            </a:r>
            <a:r>
              <a:rPr lang="en-US" sz="1600" kern="0" spc="-80" dirty="0">
                <a:solidFill>
                  <a:schemeClr val="accent6"/>
                </a:solidFill>
              </a:rPr>
              <a:t>Can be from both App &amp; Dev perspective. Who did what and When.</a:t>
            </a:r>
          </a:p>
          <a:p>
            <a:pPr marL="12700" marR="5080"/>
            <a:r>
              <a:rPr lang="en-US" sz="1600" kern="0" spc="-80" dirty="0">
                <a:solidFill>
                  <a:schemeClr val="accent6"/>
                </a:solidFill>
              </a:rPr>
              <a:t>   </a:t>
            </a:r>
            <a:r>
              <a:rPr lang="en-US" sz="1600" kern="0" spc="-80" dirty="0">
                <a:solidFill>
                  <a:schemeClr val="accent2"/>
                </a:solidFill>
              </a:rPr>
              <a:t>Archival &amp; Purging - </a:t>
            </a:r>
            <a:r>
              <a:rPr lang="en-US" sz="1600" kern="0" spc="-80" dirty="0">
                <a:solidFill>
                  <a:schemeClr val="accent6"/>
                </a:solidFill>
              </a:rPr>
              <a:t>Mainly from App perspective. How much data &amp; how often &amp; for how long the data should be archived. How frequently &amp; how much amount of data should be purged.</a:t>
            </a:r>
          </a:p>
          <a:p>
            <a:pPr marL="12700" marR="5080"/>
            <a:endParaRPr lang="en-US" sz="1800" kern="0" spc="-80" dirty="0">
              <a:solidFill>
                <a:schemeClr val="accent6"/>
              </a:solidFill>
            </a:endParaRPr>
          </a:p>
          <a:p>
            <a:pPr marL="12700" marR="5080"/>
            <a:r>
              <a:rPr lang="en-US" sz="1800" kern="0" spc="-80" dirty="0">
                <a:solidFill>
                  <a:schemeClr val="accent6"/>
                </a:solidFill>
              </a:rPr>
              <a:t> </a:t>
            </a:r>
            <a:r>
              <a:rPr lang="en-US" sz="2400" kern="0" spc="-80" dirty="0">
                <a:solidFill>
                  <a:schemeClr val="accent2"/>
                </a:solidFill>
              </a:rPr>
              <a:t>For Further Exploration – </a:t>
            </a:r>
          </a:p>
          <a:p>
            <a:pPr marL="12700" marR="5080"/>
            <a:r>
              <a:rPr lang="en-US" sz="1500" kern="0" spc="-80" dirty="0">
                <a:solidFill>
                  <a:schemeClr val="accent2"/>
                </a:solidFill>
              </a:rPr>
              <a:t> </a:t>
            </a:r>
            <a:r>
              <a:rPr lang="en-US" sz="1500" dirty="0">
                <a:hlinkClick r:id="rId7"/>
              </a:rPr>
              <a:t>Data Governance in a Digitally Intelligent World - a </a:t>
            </a:r>
            <a:r>
              <a:rPr lang="en-US" sz="1500" dirty="0" err="1">
                <a:hlinkClick r:id="rId7"/>
              </a:rPr>
              <a:t>PoV</a:t>
            </a:r>
            <a:r>
              <a:rPr lang="en-US" sz="1500" dirty="0">
                <a:hlinkClick r:id="rId7"/>
              </a:rPr>
              <a:t> | LinkedIn</a:t>
            </a:r>
            <a:endParaRPr lang="en-US" sz="1500" dirty="0"/>
          </a:p>
          <a:p>
            <a:pPr marL="12700" marR="5080"/>
            <a:r>
              <a:rPr lang="en-US" sz="1500" kern="0" spc="-80" dirty="0">
                <a:solidFill>
                  <a:schemeClr val="accent2"/>
                </a:solidFill>
              </a:rPr>
              <a:t> </a:t>
            </a:r>
            <a:r>
              <a:rPr lang="en-US" sz="1500" dirty="0">
                <a:hlinkClick r:id="rId8"/>
              </a:rPr>
              <a:t>Cross Industry </a:t>
            </a:r>
            <a:r>
              <a:rPr lang="en-US" sz="1500" dirty="0" err="1">
                <a:hlinkClick r:id="rId8"/>
              </a:rPr>
              <a:t>RegTech</a:t>
            </a:r>
            <a:r>
              <a:rPr lang="en-US" sz="1500" dirty="0">
                <a:hlinkClick r:id="rId8"/>
              </a:rPr>
              <a:t> Platform - a </a:t>
            </a:r>
            <a:r>
              <a:rPr lang="en-US" sz="1500" dirty="0" err="1">
                <a:hlinkClick r:id="rId8"/>
              </a:rPr>
              <a:t>PoV</a:t>
            </a:r>
            <a:r>
              <a:rPr lang="en-US" sz="1500" dirty="0">
                <a:hlinkClick r:id="rId8"/>
              </a:rPr>
              <a:t> | LinkedIn</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9"/>
              </a:rPr>
              <a:t>Cloud Compliance - Amazon Web Services (AWS)</a:t>
            </a:r>
            <a:r>
              <a:rPr lang="en-US" sz="1500" kern="0" spc="-80" dirty="0">
                <a:solidFill>
                  <a:schemeClr val="accent2"/>
                </a:solidFill>
              </a:rPr>
              <a:t>  </a:t>
            </a:r>
          </a:p>
          <a:p>
            <a:pPr marL="12700" marR="5080"/>
            <a:r>
              <a:rPr lang="en-US" sz="1500" kern="0" spc="-80" dirty="0">
                <a:solidFill>
                  <a:schemeClr val="accent2"/>
                </a:solidFill>
                <a:hlinkClick r:id="rId10"/>
              </a:rPr>
              <a:t> </a:t>
            </a:r>
            <a:r>
              <a:rPr lang="en-US" sz="1500" dirty="0">
                <a:hlinkClick r:id="rId10"/>
              </a:rPr>
              <a:t>Security best practices and patterns - Microsoft Azure | Microsoft Learn</a:t>
            </a:r>
            <a:endParaRPr lang="en-US" sz="1500" kern="0" spc="-80" dirty="0">
              <a:solidFill>
                <a:schemeClr val="accent2"/>
              </a:solidFill>
            </a:endParaRPr>
          </a:p>
        </p:txBody>
      </p:sp>
    </p:spTree>
    <p:extLst>
      <p:ext uri="{BB962C8B-B14F-4D97-AF65-F5344CB8AC3E}">
        <p14:creationId xmlns:p14="http://schemas.microsoft.com/office/powerpoint/2010/main" val="29458972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62000"/>
            <a:ext cx="8624937" cy="56784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Manageability – </a:t>
            </a:r>
          </a:p>
          <a:p>
            <a:pPr marL="12700" marR="5080"/>
            <a:r>
              <a:rPr lang="en-US" sz="1700" kern="0" spc="-80" dirty="0">
                <a:solidFill>
                  <a:schemeClr val="accent2"/>
                </a:solidFill>
              </a:rPr>
              <a:t>   </a:t>
            </a:r>
            <a:r>
              <a:rPr lang="en-US" sz="1700" kern="0" spc="-80" dirty="0">
                <a:solidFill>
                  <a:schemeClr val="accent6"/>
                </a:solidFill>
              </a:rPr>
              <a:t>Mostly write-once through some control panel(can be some </a:t>
            </a:r>
            <a:r>
              <a:rPr lang="en-US" sz="1700" kern="0" spc="-80" dirty="0" err="1">
                <a:solidFill>
                  <a:schemeClr val="accent6"/>
                </a:solidFill>
              </a:rPr>
              <a:t>DevSecOps</a:t>
            </a:r>
            <a:r>
              <a:rPr lang="en-US" sz="1700" kern="0" spc="-80" dirty="0">
                <a:solidFill>
                  <a:schemeClr val="accent6"/>
                </a:solidFill>
              </a:rPr>
              <a:t> script as well) &amp; read many times via the data plane.</a:t>
            </a:r>
          </a:p>
          <a:p>
            <a:pPr marL="12700" marR="5080"/>
            <a:endParaRPr lang="en-US" sz="1700" kern="0" spc="-80" dirty="0">
              <a:solidFill>
                <a:schemeClr val="accent6"/>
              </a:solidFill>
            </a:endParaRPr>
          </a:p>
          <a:p>
            <a:pPr marL="12700" marR="5080"/>
            <a:r>
              <a:rPr lang="en-US" sz="1700" kern="0" spc="-80" dirty="0">
                <a:solidFill>
                  <a:schemeClr val="accent2"/>
                </a:solidFill>
              </a:rPr>
              <a:t>   Vaults – </a:t>
            </a:r>
            <a:r>
              <a:rPr lang="en-US" sz="1700" kern="0" spc="-80" dirty="0">
                <a:solidFill>
                  <a:schemeClr val="accent6"/>
                </a:solidFill>
              </a:rPr>
              <a:t>Mainly used for storing secrets(e.g. API keys, Symmetric/Asymmetric keys)</a:t>
            </a:r>
          </a:p>
          <a:p>
            <a:pPr marL="12700" marR="5080"/>
            <a:endParaRPr lang="en-US" sz="1700" kern="0" spc="-80" dirty="0">
              <a:solidFill>
                <a:schemeClr val="accent6"/>
              </a:solidFill>
            </a:endParaRPr>
          </a:p>
          <a:p>
            <a:pPr marL="12700" marR="5080"/>
            <a:r>
              <a:rPr lang="en-US" sz="1700" kern="0" spc="-80" dirty="0">
                <a:solidFill>
                  <a:schemeClr val="accent2"/>
                </a:solidFill>
              </a:rPr>
              <a:t>   Configs – </a:t>
            </a:r>
            <a:r>
              <a:rPr lang="en-US" sz="1700" kern="0" spc="-80" dirty="0">
                <a:solidFill>
                  <a:schemeClr val="accent6"/>
                </a:solidFill>
              </a:rPr>
              <a:t>Mainly used for storing configuration settings. Can be used to store some desired state as well.</a:t>
            </a:r>
          </a:p>
          <a:p>
            <a:pPr marL="12700" marR="5080"/>
            <a:endParaRPr lang="en-US" sz="1700" kern="0" spc="-80" dirty="0">
              <a:solidFill>
                <a:schemeClr val="accent6"/>
              </a:solidFill>
            </a:endParaRPr>
          </a:p>
          <a:p>
            <a:pPr marL="12700" marR="5080"/>
            <a:r>
              <a:rPr lang="en-US" sz="1700" kern="0" spc="-80" dirty="0">
                <a:solidFill>
                  <a:schemeClr val="accent2"/>
                </a:solidFill>
              </a:rPr>
              <a:t>   Feature Toggling – </a:t>
            </a:r>
            <a:r>
              <a:rPr lang="en-US" sz="1700" kern="0" spc="-80" dirty="0">
                <a:solidFill>
                  <a:schemeClr val="accent6"/>
                </a:solidFill>
              </a:rPr>
              <a:t>Although can be done via configs as well but special tools like below have been developed for the same – </a:t>
            </a:r>
          </a:p>
          <a:p>
            <a:pPr marL="12700" marR="5080"/>
            <a:r>
              <a:rPr lang="en-US" sz="1700" kern="0" spc="-80" dirty="0">
                <a:solidFill>
                  <a:schemeClr val="accent6"/>
                </a:solidFill>
              </a:rPr>
              <a:t>  </a:t>
            </a:r>
            <a:r>
              <a:rPr lang="en-US" sz="1700" dirty="0" err="1">
                <a:hlinkClick r:id="rId7"/>
              </a:rPr>
              <a:t>LaunchDarkly</a:t>
            </a:r>
            <a:r>
              <a:rPr lang="en-US" sz="1700" dirty="0">
                <a:hlinkClick r:id="rId7"/>
              </a:rPr>
              <a:t>: Feature Flags, Feature Management, and Experimentation</a:t>
            </a:r>
            <a:r>
              <a:rPr lang="en-US" sz="1700" kern="0" spc="-80" dirty="0">
                <a:solidFill>
                  <a:schemeClr val="accent6"/>
                </a:solidFill>
              </a:rPr>
              <a:t> </a:t>
            </a:r>
          </a:p>
          <a:p>
            <a:pPr marL="12700" marR="5080"/>
            <a:r>
              <a:rPr lang="en-US" sz="1700" kern="0" spc="-80" dirty="0">
                <a:solidFill>
                  <a:schemeClr val="accent6"/>
                </a:solidFill>
              </a:rPr>
              <a:t>  </a:t>
            </a:r>
            <a:r>
              <a:rPr lang="en-US" sz="1700" dirty="0">
                <a:hlinkClick r:id="rId8"/>
              </a:rPr>
              <a:t>Feature Flags in .NET, from simple to more advanced</a:t>
            </a:r>
            <a:endParaRPr lang="en-US" sz="1700" dirty="0"/>
          </a:p>
          <a:p>
            <a:pPr marL="12700" marR="5080"/>
            <a:r>
              <a:rPr lang="en-US" sz="1700" dirty="0"/>
              <a:t>  </a:t>
            </a:r>
            <a:r>
              <a:rPr lang="en-US" sz="1700" dirty="0">
                <a:hlinkClick r:id="rId9"/>
              </a:rPr>
              <a:t>Test-Driven or Feature Flag-Driven Development: What’s Best for Your Team?</a:t>
            </a:r>
            <a:endParaRPr lang="en-US" sz="1700" dirty="0"/>
          </a:p>
          <a:p>
            <a:pPr marL="12700" marR="5080"/>
            <a:r>
              <a:rPr lang="en-US" sz="1700" kern="0" spc="-80" dirty="0">
                <a:solidFill>
                  <a:schemeClr val="accent2"/>
                </a:solidFill>
              </a:rPr>
              <a:t>  </a:t>
            </a:r>
            <a:r>
              <a:rPr lang="en-US" sz="1700" kern="0" spc="-80" dirty="0">
                <a:solidFill>
                  <a:schemeClr val="accent6"/>
                </a:solidFill>
              </a:rPr>
              <a:t>But in some sense, the Feature Flag tools are some sort of config only. Also, it might seem that such feature flag tools should not be needed in any Enterprise but when you have lots of (micro)services and you want complex centralized management of feature toggling then such tools turn out to be very useful.</a:t>
            </a:r>
          </a:p>
          <a:p>
            <a:pPr marL="12700" marR="5080"/>
            <a:endParaRPr lang="en-US" sz="2400" kern="0" spc="-80" dirty="0">
              <a:solidFill>
                <a:schemeClr val="accent2"/>
              </a:solidFill>
            </a:endParaRPr>
          </a:p>
          <a:p>
            <a:pPr marL="12700" marR="5080"/>
            <a:endParaRPr lang="en-US" sz="2200" kern="0" spc="-80" dirty="0">
              <a:solidFill>
                <a:schemeClr val="accent2"/>
              </a:solidFill>
            </a:endParaRPr>
          </a:p>
        </p:txBody>
      </p:sp>
    </p:spTree>
    <p:extLst>
      <p:ext uri="{BB962C8B-B14F-4D97-AF65-F5344CB8AC3E}">
        <p14:creationId xmlns:p14="http://schemas.microsoft.com/office/powerpoint/2010/main" val="35553483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6F7CA-6182-6FEC-A1EB-239D071CBA5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F4CF8B-1878-C56A-6FEC-C53E2FCA6C6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E79C81-E2B5-5B58-5EB4-D8FBCE0B069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3E01C21-88D8-9350-80C1-BEF16DB0F1B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DA65217-8B47-6494-65C8-1237BA2403B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4AC8737-F59E-7D77-05D6-D54E6651E1D4}"/>
              </a:ext>
            </a:extLst>
          </p:cNvPr>
          <p:cNvSpPr txBox="1">
            <a:spLocks/>
          </p:cNvSpPr>
          <p:nvPr/>
        </p:nvSpPr>
        <p:spPr>
          <a:xfrm>
            <a:off x="290463" y="762000"/>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750" kern="0" spc="-80" dirty="0">
                <a:solidFill>
                  <a:schemeClr val="accent6"/>
                </a:solidFill>
              </a:rPr>
              <a:t>Cloud cost optimization involves techniques like rightsizing instances, shutting down idle resources, and using commitment-based savings plans or reserved instances for predictable workloads. Other strategies include implementing auto-scaling, leveraging spot instances for fault-tolerant tasks, and optimizing storage and data transfer costs. </a:t>
            </a:r>
          </a:p>
          <a:p>
            <a:r>
              <a:rPr lang="en-US" sz="1750" kern="0" spc="-80" dirty="0">
                <a:solidFill>
                  <a:schemeClr val="accent2"/>
                </a:solidFill>
              </a:rPr>
              <a:t>Optimize resources and usage</a:t>
            </a:r>
          </a:p>
          <a:p>
            <a:r>
              <a:rPr lang="en-US" sz="1750" kern="0" spc="-80" dirty="0" err="1">
                <a:solidFill>
                  <a:schemeClr val="accent2"/>
                </a:solidFill>
              </a:rPr>
              <a:t>Rightsize</a:t>
            </a:r>
            <a:r>
              <a:rPr lang="en-US" sz="1750" kern="0" spc="-80" dirty="0">
                <a:solidFill>
                  <a:schemeClr val="accent2"/>
                </a:solidFill>
              </a:rPr>
              <a:t> instances: </a:t>
            </a:r>
          </a:p>
          <a:p>
            <a:r>
              <a:rPr lang="en-US" sz="1750" kern="0" spc="-80" dirty="0">
                <a:solidFill>
                  <a:schemeClr val="accent6"/>
                </a:solidFill>
              </a:rPr>
              <a:t>Match the size of your virtual machines and services to your actual workload requirements to avoid overspending on oversized instances. </a:t>
            </a:r>
          </a:p>
          <a:p>
            <a:r>
              <a:rPr lang="en-US" sz="1750" kern="0" spc="-80" dirty="0">
                <a:solidFill>
                  <a:schemeClr val="accent2"/>
                </a:solidFill>
              </a:rPr>
              <a:t>Eliminate idle resources: </a:t>
            </a:r>
          </a:p>
          <a:p>
            <a:r>
              <a:rPr lang="en-US" sz="1750" kern="0" spc="-80" dirty="0">
                <a:solidFill>
                  <a:schemeClr val="accent6"/>
                </a:solidFill>
              </a:rPr>
              <a:t>Identify and shut down unused or idle resources, such as virtual machines, storage, and other services. </a:t>
            </a:r>
          </a:p>
          <a:p>
            <a:r>
              <a:rPr lang="en-US" sz="1750" kern="0" spc="-80" dirty="0">
                <a:solidFill>
                  <a:schemeClr val="accent2"/>
                </a:solidFill>
              </a:rPr>
              <a:t>Use autoscaling: </a:t>
            </a:r>
          </a:p>
          <a:p>
            <a:r>
              <a:rPr lang="en-US" sz="1750" kern="0" spc="-80" dirty="0">
                <a:solidFill>
                  <a:schemeClr val="accent6"/>
                </a:solidFill>
              </a:rPr>
              <a:t>Automatically adjust the number of resources based on demand, scaling up during peak times and down during off-peak hours. </a:t>
            </a:r>
          </a:p>
          <a:p>
            <a:r>
              <a:rPr lang="en-US" sz="1750" kern="0" spc="-80" dirty="0">
                <a:solidFill>
                  <a:schemeClr val="accent2"/>
                </a:solidFill>
              </a:rPr>
              <a:t>Use reserved instances and savings plans: </a:t>
            </a:r>
          </a:p>
          <a:p>
            <a:r>
              <a:rPr lang="en-US" sz="1750" kern="0" spc="-80" dirty="0">
                <a:solidFill>
                  <a:schemeClr val="accent6"/>
                </a:solidFill>
              </a:rPr>
              <a:t>Commit to a one- or three-year term for stable workloads to get significant discounts compared to pay-as-you-go pricing. </a:t>
            </a:r>
          </a:p>
        </p:txBody>
      </p:sp>
    </p:spTree>
    <p:extLst>
      <p:ext uri="{BB962C8B-B14F-4D97-AF65-F5344CB8AC3E}">
        <p14:creationId xmlns:p14="http://schemas.microsoft.com/office/powerpoint/2010/main" val="39444376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1783-00D6-BA40-1378-48AA4B469D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B7EEEA-8066-FB56-C645-EE7F03586F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631A6A-2BC3-712E-878C-78BD1EAB77C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6D2F410-4A21-1136-F64F-67EA359010F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5B5A3DD-8C89-FA28-315F-41450271D32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F2F44D9-8CCA-5DE1-B415-9577EE991634}"/>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800" kern="0" spc="-80" dirty="0">
                <a:solidFill>
                  <a:schemeClr val="accent2"/>
                </a:solidFill>
              </a:rPr>
              <a:t>Leverage spot instances: </a:t>
            </a:r>
          </a:p>
          <a:p>
            <a:r>
              <a:rPr lang="en-US" sz="1800" kern="0" spc="-80" dirty="0">
                <a:solidFill>
                  <a:schemeClr val="accent6"/>
                </a:solidFill>
              </a:rPr>
              <a:t>Use these deeply discounted instances for non-critical, fault-tolerant workloads like big data processing or development and test environments, as they can be terminated by the provider. </a:t>
            </a:r>
          </a:p>
          <a:p>
            <a:r>
              <a:rPr lang="en-US" sz="1800" kern="0" spc="-80" dirty="0">
                <a:solidFill>
                  <a:schemeClr val="accent2"/>
                </a:solidFill>
              </a:rPr>
              <a:t>Optimize data and storage</a:t>
            </a:r>
          </a:p>
          <a:p>
            <a:r>
              <a:rPr lang="en-US" sz="1800" kern="0" spc="-80" dirty="0">
                <a:solidFill>
                  <a:schemeClr val="accent2"/>
                </a:solidFill>
              </a:rPr>
              <a:t>Choose the right storage: </a:t>
            </a:r>
          </a:p>
          <a:p>
            <a:r>
              <a:rPr lang="en-US" sz="1800" kern="0" spc="-80" dirty="0">
                <a:solidFill>
                  <a:schemeClr val="accent6"/>
                </a:solidFill>
              </a:rPr>
              <a:t>Select the most appropriate storage options for your data based on its access frequency and performance needs. </a:t>
            </a:r>
          </a:p>
          <a:p>
            <a:r>
              <a:rPr lang="en-US" sz="1800" kern="0" spc="-80" dirty="0">
                <a:solidFill>
                  <a:schemeClr val="accent2"/>
                </a:solidFill>
              </a:rPr>
              <a:t>Limit data transfer fees: </a:t>
            </a:r>
          </a:p>
          <a:p>
            <a:r>
              <a:rPr lang="en-US" sz="1800" kern="0" spc="-80" dirty="0">
                <a:solidFill>
                  <a:schemeClr val="accent6"/>
                </a:solidFill>
              </a:rPr>
              <a:t>Minimize unnecessary data transfers between cloud services or regions to reduce costs. </a:t>
            </a:r>
          </a:p>
          <a:p>
            <a:r>
              <a:rPr lang="en-US" sz="1800" kern="0" spc="-80" dirty="0">
                <a:solidFill>
                  <a:schemeClr val="accent2"/>
                </a:solidFill>
              </a:rPr>
              <a:t>Delete unused snapshots: </a:t>
            </a:r>
          </a:p>
          <a:p>
            <a:r>
              <a:rPr lang="en-US" sz="1800" kern="0" spc="-80" dirty="0">
                <a:solidFill>
                  <a:schemeClr val="accent6"/>
                </a:solidFill>
              </a:rPr>
              <a:t>Regularly clean up old or unnecessary snapshots to avoid incurring storage costs. </a:t>
            </a:r>
          </a:p>
          <a:p>
            <a:r>
              <a:rPr lang="en-US" sz="1800" kern="0" spc="-80" dirty="0">
                <a:solidFill>
                  <a:schemeClr val="accent2"/>
                </a:solidFill>
              </a:rPr>
              <a:t>Release unused IP addresses: </a:t>
            </a:r>
          </a:p>
          <a:p>
            <a:r>
              <a:rPr lang="en-US" sz="1800" kern="0" spc="-80" dirty="0">
                <a:solidFill>
                  <a:schemeClr val="accent6"/>
                </a:solidFill>
              </a:rPr>
              <a:t>Release idle or unused Elastic IP addresses, as they can incur costs when not attached to an instance. </a:t>
            </a:r>
          </a:p>
        </p:txBody>
      </p:sp>
    </p:spTree>
    <p:extLst>
      <p:ext uri="{BB962C8B-B14F-4D97-AF65-F5344CB8AC3E}">
        <p14:creationId xmlns:p14="http://schemas.microsoft.com/office/powerpoint/2010/main" val="26424692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1465-195F-7847-43D5-7EC547BD7F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8F6CE86-5C4F-A7C6-237A-678FC7AA821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0BC39A9-E735-F715-5260-61AD8B314D9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6FC5CF4-03FA-59EC-48F5-4ED526792EA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7C8E470-76E7-6B5F-50CC-9A33B451B3E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DD0A4B3-EB1B-23DD-CF02-394E9F436009}"/>
              </a:ext>
            </a:extLst>
          </p:cNvPr>
          <p:cNvSpPr txBox="1">
            <a:spLocks/>
          </p:cNvSpPr>
          <p:nvPr/>
        </p:nvSpPr>
        <p:spPr>
          <a:xfrm>
            <a:off x="290463" y="762000"/>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400" kern="0" spc="-80" dirty="0">
                <a:solidFill>
                  <a:schemeClr val="accent2"/>
                </a:solidFill>
              </a:rPr>
              <a:t>Implement better cost management practices</a:t>
            </a:r>
          </a:p>
          <a:p>
            <a:r>
              <a:rPr lang="en-US" sz="1400" kern="0" spc="-80" dirty="0">
                <a:solidFill>
                  <a:schemeClr val="accent2"/>
                </a:solidFill>
              </a:rPr>
              <a:t>Monitor and tag resources: </a:t>
            </a:r>
          </a:p>
          <a:p>
            <a:r>
              <a:rPr lang="en-US" sz="1400" kern="0" spc="-80" dirty="0">
                <a:solidFill>
                  <a:schemeClr val="accent6"/>
                </a:solidFill>
              </a:rPr>
              <a:t>Use tagging and cost allocation tools to tag resources and gain visibility into spending by department or project. </a:t>
            </a:r>
          </a:p>
          <a:p>
            <a:r>
              <a:rPr lang="en-US" sz="1400" kern="0" spc="-80" dirty="0">
                <a:solidFill>
                  <a:schemeClr val="accent2"/>
                </a:solidFill>
              </a:rPr>
              <a:t>Set budgets and alerts: </a:t>
            </a:r>
          </a:p>
          <a:p>
            <a:r>
              <a:rPr lang="en-US" sz="1400" kern="0" spc="-80" dirty="0">
                <a:solidFill>
                  <a:schemeClr val="accent6"/>
                </a:solidFill>
              </a:rPr>
              <a:t>Establish budgets and set up alerts to be notified when spending approaches or exceeds predefined limits. </a:t>
            </a:r>
          </a:p>
          <a:p>
            <a:r>
              <a:rPr lang="en-US" sz="1400" kern="0" spc="-80" dirty="0">
                <a:solidFill>
                  <a:schemeClr val="accent2"/>
                </a:solidFill>
              </a:rPr>
              <a:t>Automate cost optimization: </a:t>
            </a:r>
          </a:p>
          <a:p>
            <a:r>
              <a:rPr lang="en-US" sz="1400" kern="0" spc="-80" dirty="0">
                <a:solidFill>
                  <a:schemeClr val="accent6"/>
                </a:solidFill>
              </a:rPr>
              <a:t>Integrate cost optimization into your CI/CD pipelines and use automated tools to identify and remediate cost anomalies. </a:t>
            </a:r>
          </a:p>
          <a:p>
            <a:r>
              <a:rPr lang="en-US" sz="1400" kern="0" spc="-80" dirty="0">
                <a:solidFill>
                  <a:schemeClr val="accent2"/>
                </a:solidFill>
              </a:rPr>
              <a:t>Conduct regular audits: </a:t>
            </a:r>
          </a:p>
          <a:p>
            <a:r>
              <a:rPr lang="en-US" sz="1400" kern="0" spc="-80" dirty="0">
                <a:solidFill>
                  <a:schemeClr val="accent6"/>
                </a:solidFill>
              </a:rPr>
              <a:t>Perform periodic audits to review spending patterns, identify new optimization opportunities, and ensure policies are being followed. </a:t>
            </a:r>
          </a:p>
          <a:p>
            <a:r>
              <a:rPr lang="en-US" sz="1400" kern="0" spc="-80" dirty="0">
                <a:solidFill>
                  <a:schemeClr val="accent2"/>
                </a:solidFill>
              </a:rPr>
              <a:t>Build a cost-aware culture: </a:t>
            </a:r>
          </a:p>
          <a:p>
            <a:r>
              <a:rPr lang="en-US" sz="1400" kern="0" spc="-80" dirty="0">
                <a:solidFill>
                  <a:schemeClr val="accent6"/>
                </a:solidFill>
              </a:rPr>
              <a:t>Foster a culture where everyone on the team understands and is accountable for managing cloud costs. </a:t>
            </a:r>
          </a:p>
          <a:p>
            <a:endParaRPr lang="en-US" sz="1400" kern="0" spc="-80" dirty="0">
              <a:solidFill>
                <a:schemeClr val="accent6"/>
              </a:solidFill>
            </a:endParaRPr>
          </a:p>
          <a:p>
            <a:pPr marL="12700" marR="5080"/>
            <a:r>
              <a:rPr lang="en-US" sz="1400" kern="0" spc="-80" dirty="0">
                <a:solidFill>
                  <a:schemeClr val="accent2"/>
                </a:solidFill>
              </a:rPr>
              <a:t>For Further Exploration – </a:t>
            </a:r>
          </a:p>
          <a:p>
            <a:pPr marL="12700" marR="5080"/>
            <a:r>
              <a:rPr lang="en-US" sz="1400" dirty="0">
                <a:hlinkClick r:id="rId7"/>
              </a:rPr>
              <a:t>Awesome-</a:t>
            </a:r>
            <a:r>
              <a:rPr lang="en-US" sz="1400" dirty="0" err="1">
                <a:hlinkClick r:id="rId7"/>
              </a:rPr>
              <a:t>Finops</a:t>
            </a:r>
            <a:r>
              <a:rPr lang="en-US" sz="1400" dirty="0">
                <a:hlinkClick r:id="rId7"/>
              </a:rPr>
              <a:t>: Awesome FinOps Resources</a:t>
            </a:r>
            <a:r>
              <a:rPr lang="en-US" sz="1400" kern="0" spc="-80" dirty="0">
                <a:solidFill>
                  <a:schemeClr val="accent2"/>
                </a:solidFill>
              </a:rPr>
              <a:t> </a:t>
            </a:r>
          </a:p>
          <a:p>
            <a:pPr marL="12700" marR="5080"/>
            <a:r>
              <a:rPr lang="en-US" sz="1400" dirty="0">
                <a:hlinkClick r:id="rId8"/>
              </a:rPr>
              <a:t>Efficient Cloud FinOps | Cloud &amp; Networking | Print</a:t>
            </a:r>
            <a:endParaRPr lang="en-US" sz="1400" dirty="0"/>
          </a:p>
          <a:p>
            <a:pPr marL="12700" marR="5080"/>
            <a:r>
              <a:rPr lang="en-IN" sz="1400" dirty="0">
                <a:hlinkClick r:id="rId9"/>
              </a:rPr>
              <a:t>Cloud FinOps[Book]</a:t>
            </a:r>
            <a:r>
              <a:rPr lang="en-US" sz="1400" dirty="0"/>
              <a:t> </a:t>
            </a:r>
          </a:p>
          <a:p>
            <a:pPr marL="12700" marR="5080"/>
            <a:r>
              <a:rPr lang="en-US" sz="1400" dirty="0">
                <a:hlinkClick r:id="rId10"/>
              </a:rPr>
              <a:t>Azure-</a:t>
            </a:r>
            <a:r>
              <a:rPr lang="en-US" sz="1400" dirty="0" err="1">
                <a:hlinkClick r:id="rId10"/>
              </a:rPr>
              <a:t>Finops</a:t>
            </a:r>
            <a:r>
              <a:rPr lang="en-US" sz="1400" dirty="0">
                <a:hlinkClick r:id="rId10"/>
              </a:rPr>
              <a:t>-Guide</a:t>
            </a:r>
            <a:endParaRPr lang="en-US" sz="1400" dirty="0"/>
          </a:p>
          <a:p>
            <a:pPr marL="12700" marR="5080"/>
            <a:r>
              <a:rPr lang="en-IN" sz="1400" dirty="0">
                <a:hlinkClick r:id="rId11"/>
              </a:rPr>
              <a:t>FinOps-Handbook-for-Microsoft-Azure</a:t>
            </a:r>
            <a:endParaRPr lang="en-US" sz="1400" kern="0" spc="-80" dirty="0">
              <a:solidFill>
                <a:schemeClr val="accent2"/>
              </a:solidFill>
            </a:endParaRPr>
          </a:p>
          <a:p>
            <a:endParaRPr lang="en-US" sz="1400" kern="0" spc="-80" dirty="0">
              <a:solidFill>
                <a:schemeClr val="accent6"/>
              </a:solidFill>
            </a:endParaRPr>
          </a:p>
        </p:txBody>
      </p:sp>
    </p:spTree>
    <p:extLst>
      <p:ext uri="{BB962C8B-B14F-4D97-AF65-F5344CB8AC3E}">
        <p14:creationId xmlns:p14="http://schemas.microsoft.com/office/powerpoint/2010/main" val="11642741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D187-34C2-7D8B-35EC-CE82757D10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0AE5EF-69AF-79B5-FFF0-3D4B2A75D6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6D7FD0-0D78-5182-0996-B26C5D6F15F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A2815C-3452-8581-B6DA-7322B41920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22CA180-6131-DF3C-1892-6E936AC7DFB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B05AEB3-EF11-5398-E2CA-82005FEB0841}"/>
              </a:ext>
            </a:extLst>
          </p:cNvPr>
          <p:cNvSpPr txBox="1">
            <a:spLocks/>
          </p:cNvSpPr>
          <p:nvPr/>
        </p:nvSpPr>
        <p:spPr>
          <a:xfrm>
            <a:off x="290463" y="762000"/>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Operational Excellence (Techniques)</a:t>
            </a:r>
          </a:p>
          <a:p>
            <a:r>
              <a:rPr lang="en-US" sz="1400" kern="0" spc="-80" dirty="0">
                <a:solidFill>
                  <a:schemeClr val="accent6"/>
                </a:solidFill>
              </a:rPr>
              <a:t>Cloud operational excellence techniques include automation through infrastructure as code (</a:t>
            </a:r>
            <a:r>
              <a:rPr lang="en-US" sz="1400" kern="0" spc="-80" dirty="0" err="1">
                <a:solidFill>
                  <a:schemeClr val="accent6"/>
                </a:solidFill>
              </a:rPr>
              <a:t>IaC</a:t>
            </a:r>
            <a:r>
              <a:rPr lang="en-US" sz="1400" kern="0" spc="-80" dirty="0">
                <a:solidFill>
                  <a:schemeClr val="accent6"/>
                </a:solidFill>
              </a:rPr>
              <a:t>), continuous improvement of processes, and proactive monitoring and logging. Other key strategies are making frequent, small, and reversible changes to systems, anticipating failure, and learning from all operational failures. </a:t>
            </a:r>
          </a:p>
          <a:p>
            <a:r>
              <a:rPr lang="en-US" sz="1400" kern="0" spc="-80" dirty="0">
                <a:solidFill>
                  <a:schemeClr val="accent2"/>
                </a:solidFill>
              </a:rPr>
              <a:t>Automation and standardization</a:t>
            </a:r>
          </a:p>
          <a:p>
            <a:r>
              <a:rPr lang="en-US" sz="1400" kern="0" spc="-80" dirty="0">
                <a:solidFill>
                  <a:schemeClr val="accent2"/>
                </a:solidFill>
              </a:rPr>
              <a:t>Automate everything: </a:t>
            </a:r>
          </a:p>
          <a:p>
            <a:r>
              <a:rPr lang="en-US" sz="1400" kern="0" spc="-80" dirty="0">
                <a:solidFill>
                  <a:schemeClr val="accent6"/>
                </a:solidFill>
              </a:rPr>
              <a:t>Use tools and processes to automate deployments, maintenance, and workflows, including using </a:t>
            </a:r>
            <a:r>
              <a:rPr lang="en-US" sz="1400" kern="0" spc="-80" dirty="0" err="1">
                <a:solidFill>
                  <a:schemeClr val="accent6"/>
                </a:solidFill>
              </a:rPr>
              <a:t>IaC</a:t>
            </a:r>
            <a:r>
              <a:rPr lang="en-US" sz="1400" kern="0" spc="-80" dirty="0">
                <a:solidFill>
                  <a:schemeClr val="accent6"/>
                </a:solidFill>
              </a:rPr>
              <a:t> for infrastructure and standardizing build and release processes. </a:t>
            </a:r>
          </a:p>
          <a:p>
            <a:r>
              <a:rPr lang="en-US" sz="1400" kern="0" spc="-80" dirty="0">
                <a:solidFill>
                  <a:schemeClr val="accent2"/>
                </a:solidFill>
              </a:rPr>
              <a:t>Standardize processes: </a:t>
            </a:r>
          </a:p>
          <a:p>
            <a:r>
              <a:rPr lang="en-US" sz="1400" kern="0" spc="-80" dirty="0">
                <a:solidFill>
                  <a:schemeClr val="accent6"/>
                </a:solidFill>
              </a:rPr>
              <a:t>Create standardized approaches for deployments, code management, and monitoring to ensure consistency and reduce errors. </a:t>
            </a:r>
          </a:p>
          <a:p>
            <a:r>
              <a:rPr lang="en-US" sz="1400" kern="0" spc="-80" dirty="0">
                <a:solidFill>
                  <a:schemeClr val="accent2"/>
                </a:solidFill>
              </a:rPr>
              <a:t>Develop a "operations as code" mindset: </a:t>
            </a:r>
          </a:p>
          <a:p>
            <a:r>
              <a:rPr lang="en-US" sz="1400" kern="0" spc="-80" dirty="0">
                <a:solidFill>
                  <a:schemeClr val="accent6"/>
                </a:solidFill>
              </a:rPr>
              <a:t>Apply coding principles to operations by treating operational tasks and procedures like code, making them repeatable and version-controlled. </a:t>
            </a:r>
          </a:p>
          <a:p>
            <a:r>
              <a:rPr lang="en-US" sz="1400" kern="0" spc="-80" dirty="0">
                <a:solidFill>
                  <a:schemeClr val="accent6"/>
                </a:solidFill>
              </a:rPr>
              <a:t>Continuous improvement and learning</a:t>
            </a:r>
          </a:p>
          <a:p>
            <a:r>
              <a:rPr lang="en-US" sz="1400" kern="0" spc="-80" dirty="0">
                <a:solidFill>
                  <a:schemeClr val="accent2"/>
                </a:solidFill>
              </a:rPr>
              <a:t>Make frequent, small changes: </a:t>
            </a:r>
          </a:p>
          <a:p>
            <a:r>
              <a:rPr lang="en-US" sz="1400" kern="0" spc="-80" dirty="0">
                <a:solidFill>
                  <a:schemeClr val="accent6"/>
                </a:solidFill>
              </a:rPr>
              <a:t>Deploy updates in small, manageable batches to minimize the impact of any issues and make them easier to reverse if necessary.</a:t>
            </a:r>
          </a:p>
          <a:p>
            <a:r>
              <a:rPr lang="en-US" sz="1400" kern="0" spc="-80" dirty="0">
                <a:solidFill>
                  <a:schemeClr val="accent2"/>
                </a:solidFill>
              </a:rPr>
              <a:t>Anticipate and plan for failure: </a:t>
            </a:r>
          </a:p>
          <a:p>
            <a:r>
              <a:rPr lang="en-US" sz="1400" kern="0" spc="-80" dirty="0">
                <a:solidFill>
                  <a:schemeClr val="accent6"/>
                </a:solidFill>
              </a:rPr>
              <a:t>Identify potential points of failure and proactively test your ability to handle them through simulations or "game days".</a:t>
            </a:r>
          </a:p>
        </p:txBody>
      </p:sp>
    </p:spTree>
    <p:extLst>
      <p:ext uri="{BB962C8B-B14F-4D97-AF65-F5344CB8AC3E}">
        <p14:creationId xmlns:p14="http://schemas.microsoft.com/office/powerpoint/2010/main" val="39939282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A050-CAD2-792B-EBA7-2F581BE309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9A438B5-35B2-12E3-80F1-DFCB1125C0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14CB9D-AA57-9E6B-1181-AEAD8015DE9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87A21B5-7405-30EC-72C9-A16FA47FC09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C44C90C-DBDC-7486-492F-9FC4046AEE8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A0DC114-410D-2C19-8BEE-66939F40DF78}"/>
              </a:ext>
            </a:extLst>
          </p:cNvPr>
          <p:cNvSpPr txBox="1">
            <a:spLocks/>
          </p:cNvSpPr>
          <p:nvPr/>
        </p:nvSpPr>
        <p:spPr>
          <a:xfrm>
            <a:off x="290463" y="762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Operational Excellence (Techniques)</a:t>
            </a:r>
          </a:p>
          <a:p>
            <a:r>
              <a:rPr lang="en-US" sz="1400" kern="0" spc="-80" dirty="0">
                <a:solidFill>
                  <a:schemeClr val="accent2"/>
                </a:solidFill>
              </a:rPr>
              <a:t>Learn from failures: </a:t>
            </a:r>
          </a:p>
          <a:p>
            <a:r>
              <a:rPr lang="en-US" sz="1400" kern="0" spc="-80" dirty="0">
                <a:solidFill>
                  <a:schemeClr val="accent6"/>
                </a:solidFill>
              </a:rPr>
              <a:t>Establish a process to document all operational failures and share the lessons learned across the organization to prevent future occurrences.</a:t>
            </a:r>
          </a:p>
          <a:p>
            <a:r>
              <a:rPr lang="en-US" sz="1400" kern="0" spc="-80" dirty="0">
                <a:solidFill>
                  <a:schemeClr val="accent2"/>
                </a:solidFill>
              </a:rPr>
              <a:t>Refine processes: </a:t>
            </a:r>
          </a:p>
          <a:p>
            <a:r>
              <a:rPr lang="en-US" sz="1400" kern="0" spc="-80" dirty="0">
                <a:solidFill>
                  <a:schemeClr val="accent6"/>
                </a:solidFill>
              </a:rPr>
              <a:t>Continuously review and improve operational procedures, seeking out opportunities to make them more efficient. </a:t>
            </a:r>
          </a:p>
          <a:p>
            <a:r>
              <a:rPr lang="en-US" sz="1400" kern="0" spc="-80" dirty="0">
                <a:solidFill>
                  <a:schemeClr val="accent2"/>
                </a:solidFill>
              </a:rPr>
              <a:t>Monitoring and management</a:t>
            </a:r>
          </a:p>
          <a:p>
            <a:r>
              <a:rPr lang="en-US" sz="1400" kern="0" spc="-80" dirty="0">
                <a:solidFill>
                  <a:schemeClr val="accent6"/>
                </a:solidFill>
              </a:rPr>
              <a:t>Implement comprehensive monitoring: </a:t>
            </a:r>
          </a:p>
          <a:p>
            <a:r>
              <a:rPr lang="en-US" sz="1400" kern="0" spc="-80" dirty="0">
                <a:solidFill>
                  <a:schemeClr val="accent6"/>
                </a:solidFill>
              </a:rPr>
              <a:t>Set up detailed monitoring, alerting, and logging for both the platform and workloads to maintain visibility into system health. </a:t>
            </a:r>
          </a:p>
          <a:p>
            <a:r>
              <a:rPr lang="en-US" sz="1400" kern="0" spc="-80" dirty="0">
                <a:solidFill>
                  <a:schemeClr val="accent2"/>
                </a:solidFill>
              </a:rPr>
              <a:t>Manage capacity: </a:t>
            </a:r>
          </a:p>
          <a:p>
            <a:r>
              <a:rPr lang="en-US" sz="1400" kern="0" spc="-80" dirty="0">
                <a:solidFill>
                  <a:schemeClr val="accent6"/>
                </a:solidFill>
              </a:rPr>
              <a:t>Actively manage service quotas and perform capacity planning to ensure your cloud environment can handle current and future demand. </a:t>
            </a:r>
          </a:p>
          <a:p>
            <a:r>
              <a:rPr lang="en-US" sz="1400" kern="0" spc="-80" dirty="0">
                <a:solidFill>
                  <a:schemeClr val="accent2"/>
                </a:solidFill>
              </a:rPr>
              <a:t>Establish roles and responsibilities: </a:t>
            </a:r>
          </a:p>
          <a:p>
            <a:r>
              <a:rPr lang="en-US" sz="1400" kern="0" spc="-80" dirty="0">
                <a:solidFill>
                  <a:schemeClr val="accent6"/>
                </a:solidFill>
              </a:rPr>
              <a:t>Clearly define who is responsible for different operational tasks and decision-making to create accountability. </a:t>
            </a:r>
          </a:p>
          <a:p>
            <a:endParaRPr lang="en-US" sz="1400" kern="0" spc="-80" dirty="0">
              <a:solidFill>
                <a:schemeClr val="accent6"/>
              </a:solidFill>
            </a:endParaRPr>
          </a:p>
          <a:p>
            <a:r>
              <a:rPr lang="en-US" sz="1400" kern="0" spc="-80" dirty="0">
                <a:solidFill>
                  <a:schemeClr val="accent2"/>
                </a:solidFill>
              </a:rPr>
              <a:t>For Further Exploration</a:t>
            </a:r>
          </a:p>
          <a:p>
            <a:r>
              <a:rPr lang="en-IN" sz="1400" dirty="0">
                <a:hlinkClick r:id="rId7"/>
              </a:rPr>
              <a:t>Continuous Delivery</a:t>
            </a:r>
            <a:endParaRPr lang="en-IN" sz="1400" dirty="0"/>
          </a:p>
          <a:p>
            <a:r>
              <a:rPr lang="en-US" sz="1400" dirty="0">
                <a:hlinkClick r:id="rId8"/>
              </a:rPr>
              <a:t>Release It</a:t>
            </a:r>
            <a:r>
              <a:rPr lang="en-US" sz="1400">
                <a:hlinkClick r:id="rId8"/>
              </a:rPr>
              <a:t>! </a:t>
            </a:r>
            <a:endParaRPr lang="en-US" sz="1400" kern="0" spc="-80" dirty="0">
              <a:solidFill>
                <a:schemeClr val="accent2"/>
              </a:solidFill>
            </a:endParaRPr>
          </a:p>
        </p:txBody>
      </p:sp>
    </p:spTree>
    <p:extLst>
      <p:ext uri="{BB962C8B-B14F-4D97-AF65-F5344CB8AC3E}">
        <p14:creationId xmlns:p14="http://schemas.microsoft.com/office/powerpoint/2010/main" val="34152917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4FE03-492F-D1DC-7FF5-A13BCE2A0A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DA67D6E-1B2B-74DD-86B1-F1F4AE7FC4D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6578DB-38F7-7A86-0AFE-BAB5EA659A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A25CE9A-B363-F266-C47F-80317F5E817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213554F-CB2C-10EB-867B-30138683644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7AFD67E-5348-4340-CFAD-02AB358DABEA}"/>
              </a:ext>
            </a:extLst>
          </p:cNvPr>
          <p:cNvSpPr txBox="1">
            <a:spLocks/>
          </p:cNvSpPr>
          <p:nvPr/>
        </p:nvSpPr>
        <p:spPr>
          <a:xfrm>
            <a:off x="290463" y="762000"/>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Sustainable cloud development combines green cloud practices with energy-efficient programming to minimize the environmental impact of technology. These techniques are crucial for reducing the energy consumption and carbon emissions generated by data centers, which are projected to double by 2030 due to increased demand for AI and other digital services. </a:t>
            </a:r>
          </a:p>
          <a:p>
            <a:pPr marL="12700" marR="5080"/>
            <a:r>
              <a:rPr lang="en-US" sz="1800" kern="0" spc="-80" dirty="0">
                <a:solidFill>
                  <a:schemeClr val="accent2"/>
                </a:solidFill>
              </a:rPr>
              <a:t>Green cloud development techniques</a:t>
            </a:r>
          </a:p>
          <a:p>
            <a:pPr marL="12700" marR="5080"/>
            <a:r>
              <a:rPr lang="en-US" sz="1800" kern="0" spc="-80" dirty="0">
                <a:solidFill>
                  <a:schemeClr val="accent6"/>
                </a:solidFill>
              </a:rPr>
              <a:t>These practices focus on optimizing the infrastructure side of cloud computing to reduce resource and energy use.</a:t>
            </a:r>
          </a:p>
          <a:p>
            <a:pPr marL="12700" marR="5080"/>
            <a:r>
              <a:rPr lang="en-US" sz="1800" kern="0" spc="-80" dirty="0">
                <a:solidFill>
                  <a:schemeClr val="accent2"/>
                </a:solidFill>
              </a:rPr>
              <a:t>Choose a green cloud provider: </a:t>
            </a:r>
            <a:r>
              <a:rPr lang="en-US" sz="1800" kern="0" spc="-80" dirty="0">
                <a:solidFill>
                  <a:schemeClr val="accent6"/>
                </a:solidFill>
              </a:rPr>
              <a:t>Select a cloud service provider (CSP) that prioritizes sustainability. Leading providers like Amazon Web Services, Google Cloud Platform, and Microsoft Azure have made public commitments to power their data centers with renewable energy sources.</a:t>
            </a:r>
          </a:p>
          <a:p>
            <a:pPr marL="12700" marR="5080"/>
            <a:r>
              <a:rPr lang="en-US" sz="1800" kern="0" spc="-80" dirty="0">
                <a:solidFill>
                  <a:schemeClr val="accent2"/>
                </a:solidFill>
              </a:rPr>
              <a:t>Optimize resource allocation: </a:t>
            </a:r>
            <a:r>
              <a:rPr lang="en-US" sz="1800" kern="0" spc="-80" dirty="0">
                <a:solidFill>
                  <a:schemeClr val="accent6"/>
                </a:solidFill>
              </a:rPr>
              <a:t>Use tools provided by your CSP to "right-size" your virtual machines, containers, and databases to match your workload needs. This prevents over-provisioning and reduces energy waste from idle resources.</a:t>
            </a:r>
          </a:p>
        </p:txBody>
      </p:sp>
    </p:spTree>
    <p:extLst>
      <p:ext uri="{BB962C8B-B14F-4D97-AF65-F5344CB8AC3E}">
        <p14:creationId xmlns:p14="http://schemas.microsoft.com/office/powerpoint/2010/main" val="38531033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97E2-22ED-B927-5008-91005BDBA2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C71293-3403-60CF-51B2-7F21F12D8DA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848FC2-187D-7D53-8A22-64FA067A9C5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BB41114-1975-00CC-6D9B-1CE918E2605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7802DC4-2856-EA37-3460-084228B84D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F71097C-B992-D158-E7C3-F84117884CD9}"/>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2"/>
                </a:solidFill>
              </a:rPr>
              <a:t>Leverage serverless architectures:</a:t>
            </a:r>
            <a:r>
              <a:rPr lang="en-US" sz="1800" kern="0" spc="-80" dirty="0">
                <a:solidFill>
                  <a:schemeClr val="accent6"/>
                </a:solidFill>
              </a:rPr>
              <a:t> Serverless computing, such as AWS Lambda or Azure Functions, automatically allocates resources only when your code is running. This minimizes idle server time and can significantly reduce your carbon footprint.</a:t>
            </a:r>
          </a:p>
          <a:p>
            <a:pPr marL="12700" marR="5080"/>
            <a:r>
              <a:rPr lang="en-US" sz="1800" kern="0" spc="-80" dirty="0">
                <a:solidFill>
                  <a:schemeClr val="accent2"/>
                </a:solidFill>
              </a:rPr>
              <a:t>Implement virtualization and containerization: </a:t>
            </a:r>
            <a:r>
              <a:rPr lang="en-US" sz="1800" kern="0" spc="-80" dirty="0">
                <a:solidFill>
                  <a:schemeClr val="accent6"/>
                </a:solidFill>
              </a:rPr>
              <a:t>Both virtualization and containerization allow multiple workloads to run on a single physical server, maximizing resource utilization and minimizing the number of servers required. Containers, like Docker, are especially lightweight and efficient.</a:t>
            </a:r>
          </a:p>
          <a:p>
            <a:pPr marL="12700" marR="5080"/>
            <a:r>
              <a:rPr lang="en-US" sz="1800" kern="0" spc="-80" dirty="0">
                <a:solidFill>
                  <a:schemeClr val="accent2"/>
                </a:solidFill>
              </a:rPr>
              <a:t>Adopt edge computing: </a:t>
            </a:r>
            <a:r>
              <a:rPr lang="en-US" sz="1800" kern="0" spc="-80" dirty="0">
                <a:solidFill>
                  <a:schemeClr val="accent6"/>
                </a:solidFill>
              </a:rPr>
              <a:t>Process data closer to the user to reduce the energy consumed by transferring data over long distances.</a:t>
            </a:r>
          </a:p>
          <a:p>
            <a:pPr marL="12700" marR="5080"/>
            <a:r>
              <a:rPr lang="en-US" sz="1800" kern="0" spc="-80" dirty="0">
                <a:solidFill>
                  <a:schemeClr val="accent2"/>
                </a:solidFill>
              </a:rPr>
              <a:t>Use sustainable data storage strategies: </a:t>
            </a:r>
            <a:r>
              <a:rPr lang="en-US" sz="1800" kern="0" spc="-80" dirty="0">
                <a:solidFill>
                  <a:schemeClr val="accent6"/>
                </a:solidFill>
              </a:rPr>
              <a:t>Efficient data management can reduce the need for excessive storage. Employ tiered storage to move infrequently accessed data to less energy-intensive archive tiers, and use compression and deduplication to reduce the volume of stored data.</a:t>
            </a:r>
          </a:p>
          <a:p>
            <a:pPr marL="12700" marR="5080"/>
            <a:r>
              <a:rPr lang="en-US" sz="1800" kern="0" spc="-80" dirty="0">
                <a:solidFill>
                  <a:schemeClr val="accent2"/>
                </a:solidFill>
              </a:rPr>
              <a:t>Optimize data center location: </a:t>
            </a:r>
            <a:r>
              <a:rPr lang="en-US" sz="1800" kern="0" spc="-80" dirty="0">
                <a:solidFill>
                  <a:schemeClr val="accent6"/>
                </a:solidFill>
              </a:rPr>
              <a:t>When possible, strategically place workloads in regions with lower carbon intensity, where data centers are more likely to be powered by renewable energy sources. </a:t>
            </a:r>
          </a:p>
        </p:txBody>
      </p:sp>
    </p:spTree>
    <p:extLst>
      <p:ext uri="{BB962C8B-B14F-4D97-AF65-F5344CB8AC3E}">
        <p14:creationId xmlns:p14="http://schemas.microsoft.com/office/powerpoint/2010/main" val="3193616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1552-2864-FAD0-6994-BEDC78C54A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B0AB17-367D-9739-0FA3-0F3F067AAB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A87820-27BE-9711-C3CD-9941178337E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78CC07-FA6E-B6C2-9A7C-2F99A0225B5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775DB2-CF41-6734-3A2C-DE46E9E278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62443B3-9C2F-A3AB-FE1B-29A500EFCAE0}"/>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2"/>
                </a:solidFill>
              </a:rPr>
              <a:t>Energy-efficient programming techniques</a:t>
            </a:r>
          </a:p>
          <a:p>
            <a:pPr marL="12700" marR="5080"/>
            <a:r>
              <a:rPr lang="en-US" sz="1800" kern="0" spc="-80" dirty="0">
                <a:solidFill>
                  <a:schemeClr val="accent6"/>
                </a:solidFill>
              </a:rPr>
              <a:t>Also known as "green coding," these techniques focus on writing and optimizing software to consume less energy during execution. </a:t>
            </a:r>
          </a:p>
          <a:p>
            <a:pPr marL="12700" marR="5080"/>
            <a:r>
              <a:rPr lang="en-US" sz="1800" kern="0" spc="-80" dirty="0">
                <a:solidFill>
                  <a:schemeClr val="accent2"/>
                </a:solidFill>
              </a:rPr>
              <a:t>Select energy-efficient algorithms and data structures:</a:t>
            </a:r>
            <a:r>
              <a:rPr lang="en-US" sz="1800" kern="0" spc="-80" dirty="0">
                <a:solidFill>
                  <a:schemeClr val="accent6"/>
                </a:solidFill>
              </a:rPr>
              <a:t> Choose algorithms that require fewer computational steps to complete a task. For example, a binary search is more efficient than a linear search for sorted data.</a:t>
            </a:r>
          </a:p>
          <a:p>
            <a:pPr marL="12700" marR="5080"/>
            <a:r>
              <a:rPr lang="en-US" sz="1800" kern="0" spc="-80" dirty="0">
                <a:solidFill>
                  <a:schemeClr val="accent2"/>
                </a:solidFill>
              </a:rPr>
              <a:t>Refactor for efficiency:</a:t>
            </a:r>
            <a:r>
              <a:rPr lang="en-US" sz="1800" kern="0" spc="-80" dirty="0">
                <a:solidFill>
                  <a:schemeClr val="accent6"/>
                </a:solidFill>
              </a:rPr>
              <a:t> Regularly review and optimize code to eliminate unnecessary operations, redundant loops, and inefficient queries. This reduces the processing power needed to run the application.</a:t>
            </a:r>
          </a:p>
          <a:p>
            <a:pPr marL="12700" marR="5080"/>
            <a:r>
              <a:rPr lang="en-US" sz="1800" kern="0" spc="-80" dirty="0">
                <a:solidFill>
                  <a:schemeClr val="accent2"/>
                </a:solidFill>
              </a:rPr>
              <a:t>Manage data transfer efficiently: </a:t>
            </a:r>
            <a:r>
              <a:rPr lang="en-US" sz="1800" kern="0" spc="-80" dirty="0">
                <a:solidFill>
                  <a:schemeClr val="accent6"/>
                </a:solidFill>
              </a:rPr>
              <a:t>Minimize the amount of data sent over networks by compressing files, reducing the size of media assets, and using efficient data serialization formats.</a:t>
            </a:r>
          </a:p>
          <a:p>
            <a:pPr marL="12700" marR="5080"/>
            <a:r>
              <a:rPr lang="en-US" sz="1800" kern="0" spc="-80" dirty="0">
                <a:solidFill>
                  <a:schemeClr val="accent2"/>
                </a:solidFill>
              </a:rPr>
              <a:t>Use effective caching: </a:t>
            </a:r>
            <a:r>
              <a:rPr lang="en-US" sz="1800" kern="0" spc="-80" dirty="0">
                <a:solidFill>
                  <a:schemeClr val="accent6"/>
                </a:solidFill>
              </a:rPr>
              <a:t>Store frequently accessed data in a temporary, high-speed cache to reduce the need for repeated, resource-intensive server and database calls.</a:t>
            </a:r>
          </a:p>
          <a:p>
            <a:pPr marL="12700" marR="5080"/>
            <a:r>
              <a:rPr lang="en-US" sz="1800" kern="0" spc="-80" dirty="0">
                <a:solidFill>
                  <a:schemeClr val="accent2"/>
                </a:solidFill>
              </a:rPr>
              <a:t>Optimize for different contexts: </a:t>
            </a:r>
            <a:r>
              <a:rPr lang="en-US" sz="1800" kern="0" spc="-80" dirty="0">
                <a:solidFill>
                  <a:schemeClr val="accent6"/>
                </a:solidFill>
              </a:rPr>
              <a:t>Adapt your application's behavior based on its operating conditions. For example, enable a "dark mode" for users with OLED</a:t>
            </a:r>
            <a:endParaRPr lang="en-US" sz="1150" kern="0" spc="-80" dirty="0">
              <a:solidFill>
                <a:schemeClr val="accent2"/>
              </a:solidFill>
            </a:endParaRPr>
          </a:p>
        </p:txBody>
      </p:sp>
    </p:spTree>
    <p:extLst>
      <p:ext uri="{BB962C8B-B14F-4D97-AF65-F5344CB8AC3E}">
        <p14:creationId xmlns:p14="http://schemas.microsoft.com/office/powerpoint/2010/main" val="24768434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491CA-1452-5346-60C4-5F79B3D9AA5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2DB624-0E82-2D7C-6067-A2248A158D2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41AEAF-2746-1AC9-34A4-0FD064C129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2C4D260-9460-4BCB-4947-C8C3B32E606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C96D6F-0D24-2B0B-AD32-FF1739D30AE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DC6CEA7-E928-848D-8E3A-99CF0EA20BDD}"/>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screens, which can reduce battery consumption on their devices.</a:t>
            </a:r>
          </a:p>
          <a:p>
            <a:pPr marL="12700" marR="5080"/>
            <a:r>
              <a:rPr lang="en-US" sz="1800" kern="0" spc="-80" dirty="0">
                <a:solidFill>
                  <a:schemeClr val="accent2"/>
                </a:solidFill>
              </a:rPr>
              <a:t>Automate tasks wisely: </a:t>
            </a:r>
            <a:r>
              <a:rPr lang="en-US" sz="1800" kern="0" spc="-80" dirty="0">
                <a:solidFill>
                  <a:schemeClr val="accent6"/>
                </a:solidFill>
              </a:rPr>
              <a:t>Use automation to schedule resource-intensive tasks, such as batch processing or software updates, for off-peak hours when demand on the energy grid is lower.</a:t>
            </a:r>
          </a:p>
          <a:p>
            <a:pPr marL="12700" marR="5080"/>
            <a:r>
              <a:rPr lang="en-US" sz="1800" kern="0" spc="-80" dirty="0">
                <a:solidFill>
                  <a:schemeClr val="accent2"/>
                </a:solidFill>
              </a:rPr>
              <a:t>Monitor and measure:</a:t>
            </a:r>
            <a:r>
              <a:rPr lang="en-US" sz="1800" kern="0" spc="-80" dirty="0">
                <a:solidFill>
                  <a:schemeClr val="accent6"/>
                </a:solidFill>
              </a:rPr>
              <a:t> Use tools from your CSP (e.g., Google Cloud's Carbon Footprint tool) or third-party solutions (e.g., Cloud Carbon Footprint) to track and analyze your application's energy consumption. Use this data to inform and prioritize optimization efforts. </a:t>
            </a:r>
          </a:p>
          <a:p>
            <a:pPr marL="12700" marR="5080"/>
            <a:r>
              <a:rPr lang="en-US" sz="1800" kern="0" spc="-80" dirty="0">
                <a:solidFill>
                  <a:schemeClr val="accent2"/>
                </a:solidFill>
              </a:rPr>
              <a:t>Architectural principles for sustainability</a:t>
            </a:r>
          </a:p>
          <a:p>
            <a:pPr marL="12700" marR="5080"/>
            <a:r>
              <a:rPr lang="en-US" sz="1800" kern="0" spc="-80" dirty="0">
                <a:solidFill>
                  <a:schemeClr val="accent6"/>
                </a:solidFill>
              </a:rPr>
              <a:t>For comprehensive sustainability, integrate these techniques into your overall development lifecycle.</a:t>
            </a:r>
          </a:p>
          <a:p>
            <a:pPr marL="12700" marR="5080"/>
            <a:r>
              <a:rPr lang="en-US" sz="1800" kern="0" spc="-80" dirty="0">
                <a:solidFill>
                  <a:schemeClr val="accent2"/>
                </a:solidFill>
              </a:rPr>
              <a:t>Start with design:</a:t>
            </a:r>
            <a:r>
              <a:rPr lang="en-US" sz="1800" kern="0" spc="-80" dirty="0">
                <a:solidFill>
                  <a:schemeClr val="accent6"/>
                </a:solidFill>
              </a:rPr>
              <a:t> Incorporate sustainability goals into your software architecture and design patterns from the beginning. Consider resource efficiency, scalability, and modularity to build applications that are inherently greener.</a:t>
            </a:r>
          </a:p>
          <a:p>
            <a:pPr marL="12700" marR="5080"/>
            <a:r>
              <a:rPr lang="en-US" sz="1800" kern="0" spc="-80" dirty="0">
                <a:solidFill>
                  <a:schemeClr val="accent2"/>
                </a:solidFill>
              </a:rPr>
              <a:t>Embrace sustainable DevOps: </a:t>
            </a:r>
            <a:r>
              <a:rPr lang="en-US" sz="1800" kern="0" spc="-80" dirty="0">
                <a:solidFill>
                  <a:schemeClr val="accent6"/>
                </a:solidFill>
              </a:rPr>
              <a:t>Optimize your Continuous Integration/Continuous Deployment (CI/CD) pipelines to reduce resource</a:t>
            </a:r>
            <a:endParaRPr lang="en-US" sz="1150" kern="0" spc="-80" dirty="0">
              <a:solidFill>
                <a:schemeClr val="accent2"/>
              </a:solidFill>
            </a:endParaRPr>
          </a:p>
        </p:txBody>
      </p:sp>
    </p:spTree>
    <p:extLst>
      <p:ext uri="{BB962C8B-B14F-4D97-AF65-F5344CB8AC3E}">
        <p14:creationId xmlns:p14="http://schemas.microsoft.com/office/powerpoint/2010/main" val="28598573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A23FC-7DE2-0FF3-4327-49646BCB48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25CD10-D3E7-FDBF-A6C6-7DA7AC4A2E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F0C2170-FE20-85BD-8C62-1733AD843ED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69736FD-6616-698F-9438-5ABBD14E623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2CF2A63-A1A0-63C3-7F8A-96897764AB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EAD2732-784E-8462-88B3-AAD654C0CDF5}"/>
              </a:ext>
            </a:extLst>
          </p:cNvPr>
          <p:cNvSpPr txBox="1">
            <a:spLocks/>
          </p:cNvSpPr>
          <p:nvPr/>
        </p:nvSpPr>
        <p:spPr>
          <a:xfrm>
            <a:off x="290463" y="762000"/>
            <a:ext cx="8624937" cy="41472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screens, which can reduce battery consumption on their devices.</a:t>
            </a:r>
          </a:p>
          <a:p>
            <a:pPr marL="12700" marR="5080"/>
            <a:r>
              <a:rPr lang="en-US" sz="1800" kern="0" spc="-80" dirty="0">
                <a:solidFill>
                  <a:schemeClr val="accent6"/>
                </a:solidFill>
              </a:rPr>
              <a:t>waste from unnecessary builds and inefficient testing. Use Infrastructure as Code (</a:t>
            </a:r>
            <a:r>
              <a:rPr lang="en-US" sz="1800" kern="0" spc="-80" dirty="0" err="1">
                <a:solidFill>
                  <a:schemeClr val="accent6"/>
                </a:solidFill>
              </a:rPr>
              <a:t>IaC</a:t>
            </a:r>
            <a:r>
              <a:rPr lang="en-US" sz="1800" kern="0" spc="-80" dirty="0">
                <a:solidFill>
                  <a:schemeClr val="accent6"/>
                </a:solidFill>
              </a:rPr>
              <a:t>) to automatically provision and decommission resources.</a:t>
            </a:r>
          </a:p>
          <a:p>
            <a:pPr marL="12700" marR="5080"/>
            <a:r>
              <a:rPr lang="en-US" sz="1800" kern="0" spc="-80" dirty="0">
                <a:solidFill>
                  <a:schemeClr val="accent2"/>
                </a:solidFill>
              </a:rPr>
              <a:t>Manage the full lifecycle: </a:t>
            </a:r>
            <a:r>
              <a:rPr lang="en-US" sz="1800" kern="0" spc="-80" dirty="0">
                <a:solidFill>
                  <a:schemeClr val="accent6"/>
                </a:solidFill>
              </a:rPr>
              <a:t>Ensure responsible e-waste management and consider hardware longevity. For hardware you manage, follow clear policies for maintenance, recycling, and disposal.</a:t>
            </a:r>
          </a:p>
          <a:p>
            <a:pPr marL="12700" marR="5080"/>
            <a:r>
              <a:rPr lang="en-US" sz="1800" kern="0" spc="-80" dirty="0">
                <a:solidFill>
                  <a:schemeClr val="accent2"/>
                </a:solidFill>
              </a:rPr>
              <a:t>Focus on continuous improvement:</a:t>
            </a:r>
            <a:r>
              <a:rPr lang="en-US" sz="1800" kern="0" spc="-80" dirty="0">
                <a:solidFill>
                  <a:schemeClr val="accent6"/>
                </a:solidFill>
              </a:rPr>
              <a:t> Track your metrics, educate your team, and continuously refactor to keep reducing your environmental footprint over time. A sustainable mindset should be a key part of your organization's culture. </a:t>
            </a:r>
          </a:p>
          <a:p>
            <a:pPr marL="12700" marR="5080"/>
            <a:endParaRPr lang="en-US" sz="1800" kern="0" spc="-80" dirty="0">
              <a:solidFill>
                <a:schemeClr val="accent6"/>
              </a:solidFill>
            </a:endParaRPr>
          </a:p>
          <a:p>
            <a:pPr marL="12700" marR="5080"/>
            <a:r>
              <a:rPr lang="en-US" sz="1800" kern="0" spc="-80" dirty="0">
                <a:solidFill>
                  <a:schemeClr val="accent2"/>
                </a:solidFill>
              </a:rPr>
              <a:t>For Further Exploration</a:t>
            </a:r>
          </a:p>
          <a:p>
            <a:pPr marL="12700" marR="5080"/>
            <a:r>
              <a:rPr lang="en-IN" sz="1800" dirty="0">
                <a:hlinkClick r:id="rId7"/>
              </a:rPr>
              <a:t>Sustainable software architecture</a:t>
            </a:r>
            <a:endParaRPr lang="en-IN" sz="1800" dirty="0"/>
          </a:p>
          <a:p>
            <a:pPr marL="12700" marR="5080"/>
            <a:r>
              <a:rPr lang="en-US" sz="1800" dirty="0">
                <a:hlinkClick r:id="rId8"/>
              </a:rPr>
              <a:t>Sustainable Cloud Development | Cloud &amp; Networking | eBook</a:t>
            </a:r>
            <a:endParaRPr lang="en-US" sz="1800" kern="0" spc="-80" dirty="0">
              <a:solidFill>
                <a:schemeClr val="accent2"/>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31192403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70EC-89AD-0F62-A93C-08BB62E2E28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F52177-57A3-3EB3-42B9-0C0FC8FC3A8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572EE4-5819-6824-4C7A-E12C38496FC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58F328-93B0-083C-50F1-F3FD8D70554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4B6B2A-D9C7-510E-77AA-D540E31B9FE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A5C5560-5ED5-64C6-0CE1-3575CF1B5275}"/>
              </a:ext>
            </a:extLst>
          </p:cNvPr>
          <p:cNvSpPr txBox="1">
            <a:spLocks/>
          </p:cNvSpPr>
          <p:nvPr/>
        </p:nvSpPr>
        <p:spPr>
          <a:xfrm>
            <a:off x="290463" y="762000"/>
            <a:ext cx="8624937" cy="35932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a:t>
            </a:r>
          </a:p>
          <a:p>
            <a:pPr marL="12700" marR="5080"/>
            <a:r>
              <a:rPr lang="en-US" sz="1800" kern="0" spc="-80" dirty="0">
                <a:solidFill>
                  <a:schemeClr val="accent2"/>
                </a:solidFill>
              </a:rPr>
              <a:t>For Further Exploration</a:t>
            </a:r>
          </a:p>
          <a:p>
            <a:pPr marL="12700" marR="5080"/>
            <a:r>
              <a:rPr lang="en-US" sz="1800" dirty="0">
                <a:hlinkClick r:id="rId7"/>
              </a:rPr>
              <a:t>Announcing updates to the AWS Well-Architected Framework guidance | AWS Architecture Blog</a:t>
            </a:r>
            <a:r>
              <a:rPr lang="en-US" sz="1800" kern="0" spc="-80" dirty="0">
                <a:solidFill>
                  <a:schemeClr val="accent2"/>
                </a:solidFill>
              </a:rPr>
              <a:t>   </a:t>
            </a:r>
          </a:p>
          <a:p>
            <a:pPr marL="12700" marR="5080"/>
            <a:r>
              <a:rPr lang="en-US" sz="1800" dirty="0">
                <a:hlinkClick r:id="rId8"/>
              </a:rPr>
              <a:t>How to use the Azure Well-Architected Framework documentation - Microsoft Azure Well-Architected Framework</a:t>
            </a:r>
            <a:endParaRPr lang="en-US" sz="1800" kern="0" spc="-80" dirty="0">
              <a:solidFill>
                <a:schemeClr val="accent2"/>
              </a:solidFill>
            </a:endParaRPr>
          </a:p>
          <a:p>
            <a:pPr marL="12700" marR="5080"/>
            <a:r>
              <a:rPr lang="en-US" sz="1800" dirty="0">
                <a:hlinkClick r:id="rId9"/>
              </a:rPr>
              <a:t>Optimizing Azure Kubernetes Service (AKS) with the Well-Architected Framework | Microsoft Community Hub</a:t>
            </a:r>
            <a:r>
              <a:rPr lang="en-US" sz="1800" kern="0" spc="-80" dirty="0">
                <a:solidFill>
                  <a:schemeClr val="accent2"/>
                </a:solidFill>
              </a:rPr>
              <a:t> </a:t>
            </a:r>
          </a:p>
          <a:p>
            <a:pPr marL="12700" marR="5080"/>
            <a:r>
              <a:rPr lang="en-US" sz="1800" dirty="0">
                <a:hlinkClick r:id="rId10"/>
              </a:rPr>
              <a:t>Business criticality in cloud management - Cloud Adoption Framework | Microsoft Learn</a:t>
            </a:r>
            <a:endParaRPr lang="en-US" sz="1800" dirty="0"/>
          </a:p>
          <a:p>
            <a:pPr marL="12700" marR="5080"/>
            <a:r>
              <a:rPr lang="en-US" sz="1800" dirty="0">
                <a:hlinkClick r:id="rId11"/>
              </a:rPr>
              <a:t>Design-Practice-Repository</a:t>
            </a:r>
            <a:endParaRPr lang="en-US" sz="1800" kern="0" spc="-80" dirty="0">
              <a:solidFill>
                <a:schemeClr val="accent2"/>
              </a:solidFill>
            </a:endParaRPr>
          </a:p>
          <a:p>
            <a:pPr marL="12700" marR="5080"/>
            <a:endParaRPr lang="en-US" sz="1800" kern="0" spc="-80" dirty="0">
              <a:solidFill>
                <a:schemeClr val="accent2"/>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387850036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6A40-FA32-B99C-7374-5AB7431E2C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D74D7F-406A-A9B0-ECF4-27887FF40E91}"/>
              </a:ext>
            </a:extLst>
          </p:cNvPr>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66A0CF-EABB-D5CC-9FC2-7DB13E4DC87C}"/>
              </a:ext>
            </a:extLst>
          </p:cNvPr>
          <p:cNvSpPr/>
          <p:nvPr/>
        </p:nvSpPr>
        <p:spPr>
          <a:xfrm>
            <a:off x="1756803" y="1029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752D46-0BAF-6A72-C653-3682499C3386}"/>
              </a:ext>
            </a:extLst>
          </p:cNvPr>
          <p:cNvGraphicFramePr/>
          <p:nvPr/>
        </p:nvGraphicFramePr>
        <p:xfrm>
          <a:off x="76200" y="-60735"/>
          <a:ext cx="7192300" cy="11469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A79CFAF-C836-708E-EB03-A9ED4031D462}"/>
              </a:ext>
            </a:extLst>
          </p:cNvPr>
          <p:cNvSpPr txBox="1">
            <a:spLocks/>
          </p:cNvSpPr>
          <p:nvPr/>
        </p:nvSpPr>
        <p:spPr>
          <a:xfrm>
            <a:off x="354723" y="1295400"/>
            <a:ext cx="8624937" cy="12464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800" kern="0" spc="-220" dirty="0">
              <a:solidFill>
                <a:schemeClr val="accent6"/>
              </a:solidFill>
            </a:endParaRPr>
          </a:p>
          <a:p>
            <a:pPr marL="12700" marR="5080"/>
            <a:r>
              <a:rPr lang="en-US" sz="1800" kern="0" spc="-220" dirty="0">
                <a:solidFill>
                  <a:schemeClr val="accent6"/>
                </a:solidFill>
              </a:rPr>
              <a:t>Also known as “Capacity Planning”/”Back of the Envelope” Calculations – </a:t>
            </a:r>
            <a:r>
              <a:rPr lang="en-IN" sz="1500" dirty="0">
                <a:hlinkClick r:id="rId7"/>
              </a:rPr>
              <a:t>ByteByteGo | Back Of the Envelope Estimation</a:t>
            </a:r>
            <a:endParaRPr lang="en-IN" sz="1500" dirty="0"/>
          </a:p>
          <a:p>
            <a:pPr marL="12700" marR="5080"/>
            <a:endParaRPr lang="en-IN" sz="1500" kern="0" spc="-80" dirty="0">
              <a:solidFill>
                <a:schemeClr val="accent6"/>
              </a:solidFill>
            </a:endParaRPr>
          </a:p>
          <a:p>
            <a:pPr marL="12700" marR="5080"/>
            <a:r>
              <a:rPr lang="en-IN" sz="1500" kern="0" spc="-80" dirty="0">
                <a:solidFill>
                  <a:schemeClr val="accent6"/>
                </a:solidFill>
              </a:rPr>
              <a:t>TODO</a:t>
            </a:r>
            <a:endParaRPr lang="en-US" sz="2400" kern="0" spc="-80" dirty="0">
              <a:solidFill>
                <a:schemeClr val="accent6"/>
              </a:solidFill>
            </a:endParaRPr>
          </a:p>
        </p:txBody>
      </p:sp>
    </p:spTree>
    <p:extLst>
      <p:ext uri="{BB962C8B-B14F-4D97-AF65-F5344CB8AC3E}">
        <p14:creationId xmlns:p14="http://schemas.microsoft.com/office/powerpoint/2010/main" val="38107193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6A40-FA32-B99C-7374-5AB7431E2C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D74D7F-406A-A9B0-ECF4-27887FF40E91}"/>
              </a:ext>
            </a:extLst>
          </p:cNvPr>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66A0CF-EABB-D5CC-9FC2-7DB13E4DC87C}"/>
              </a:ext>
            </a:extLst>
          </p:cNvPr>
          <p:cNvSpPr/>
          <p:nvPr/>
        </p:nvSpPr>
        <p:spPr>
          <a:xfrm>
            <a:off x="1756803" y="1029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752D46-0BAF-6A72-C653-3682499C3386}"/>
              </a:ext>
            </a:extLst>
          </p:cNvPr>
          <p:cNvGraphicFramePr/>
          <p:nvPr>
            <p:extLst>
              <p:ext uri="{D42A27DB-BD31-4B8C-83A1-F6EECF244321}">
                <p14:modId xmlns:p14="http://schemas.microsoft.com/office/powerpoint/2010/main" val="3727190198"/>
              </p:ext>
            </p:extLst>
          </p:nvPr>
        </p:nvGraphicFramePr>
        <p:xfrm>
          <a:off x="76200" y="-60735"/>
          <a:ext cx="9067800" cy="1090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A79CFAF-C836-708E-EB03-A9ED4031D462}"/>
              </a:ext>
            </a:extLst>
          </p:cNvPr>
          <p:cNvSpPr txBox="1">
            <a:spLocks/>
          </p:cNvSpPr>
          <p:nvPr/>
        </p:nvSpPr>
        <p:spPr>
          <a:xfrm>
            <a:off x="354723" y="12954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800" kern="0" spc="-220" dirty="0">
              <a:solidFill>
                <a:schemeClr val="accent6"/>
              </a:solidFill>
            </a:endParaRPr>
          </a:p>
          <a:p>
            <a:pPr marL="12700" marR="5080"/>
            <a:endParaRPr lang="en-IN" sz="1500" kern="0" spc="-80" dirty="0">
              <a:solidFill>
                <a:srgbClr val="00B0F0"/>
              </a:solidFill>
            </a:endParaRPr>
          </a:p>
          <a:p>
            <a:pPr marL="12700" marR="5080"/>
            <a:r>
              <a:rPr lang="en-IN" sz="1500" kern="0" spc="-80" dirty="0">
                <a:solidFill>
                  <a:srgbClr val="00B0F0"/>
                </a:solidFill>
              </a:rPr>
              <a:t>TODO</a:t>
            </a:r>
            <a:endParaRPr lang="en-US" sz="2400" kern="0" spc="-80" dirty="0">
              <a:solidFill>
                <a:srgbClr val="00B0F0"/>
              </a:solidFill>
            </a:endParaRPr>
          </a:p>
        </p:txBody>
      </p:sp>
    </p:spTree>
    <p:extLst>
      <p:ext uri="{BB962C8B-B14F-4D97-AF65-F5344CB8AC3E}">
        <p14:creationId xmlns:p14="http://schemas.microsoft.com/office/powerpoint/2010/main" val="673257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79196799"/>
              </p:ext>
            </p:extLst>
          </p:nvPr>
        </p:nvGraphicFramePr>
        <p:xfrm>
          <a:off x="138063" y="46672"/>
          <a:ext cx="8915399" cy="486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pic>
        <p:nvPicPr>
          <p:cNvPr id="11" name="Picture 10">
            <a:extLst>
              <a:ext uri="{FF2B5EF4-FFF2-40B4-BE49-F238E27FC236}">
                <a16:creationId xmlns:a16="http://schemas.microsoft.com/office/drawing/2014/main" id="{89A0DA90-CE2A-FA18-4546-94813D0C4501}"/>
              </a:ext>
            </a:extLst>
          </p:cNvPr>
          <p:cNvPicPr>
            <a:picLocks noChangeAspect="1"/>
          </p:cNvPicPr>
          <p:nvPr/>
        </p:nvPicPr>
        <p:blipFill>
          <a:blip r:embed="rId8"/>
          <a:stretch>
            <a:fillRect/>
          </a:stretch>
        </p:blipFill>
        <p:spPr>
          <a:xfrm>
            <a:off x="138063" y="762001"/>
            <a:ext cx="8777336" cy="4050267"/>
          </a:xfrm>
          <a:prstGeom prst="rect">
            <a:avLst/>
          </a:prstGeom>
        </p:spPr>
      </p:pic>
      <p:sp>
        <p:nvSpPr>
          <p:cNvPr id="13" name="object 2">
            <a:extLst>
              <a:ext uri="{FF2B5EF4-FFF2-40B4-BE49-F238E27FC236}">
                <a16:creationId xmlns:a16="http://schemas.microsoft.com/office/drawing/2014/main" id="{B64DDF9C-38FD-716F-D0A2-2C6A7713D461}"/>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9" name="object 2">
            <a:extLst>
              <a:ext uri="{FF2B5EF4-FFF2-40B4-BE49-F238E27FC236}">
                <a16:creationId xmlns:a16="http://schemas.microsoft.com/office/drawing/2014/main" id="{0B878DD9-7168-B042-012C-B905D7458895}"/>
              </a:ext>
            </a:extLst>
          </p:cNvPr>
          <p:cNvSpPr txBox="1">
            <a:spLocks/>
          </p:cNvSpPr>
          <p:nvPr/>
        </p:nvSpPr>
        <p:spPr>
          <a:xfrm>
            <a:off x="8263" y="4866382"/>
            <a:ext cx="8624937" cy="10772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Some Terminologies – </a:t>
            </a:r>
          </a:p>
          <a:p>
            <a:pPr marL="12700" marR="5080"/>
            <a:r>
              <a:rPr lang="en-US" sz="1400" kern="0" spc="-80" dirty="0">
                <a:solidFill>
                  <a:schemeClr val="accent2"/>
                </a:solidFill>
              </a:rPr>
              <a:t>   </a:t>
            </a:r>
            <a:r>
              <a:rPr lang="en-US" sz="1400" kern="0" spc="-80" dirty="0">
                <a:solidFill>
                  <a:schemeClr val="accent6"/>
                </a:solidFill>
              </a:rPr>
              <a:t>STP(Straight Through Processing) &amp; Non-STP</a:t>
            </a:r>
          </a:p>
          <a:p>
            <a:pPr marL="12700" marR="5080"/>
            <a:r>
              <a:rPr lang="en-US" sz="1400" kern="0" spc="-80" dirty="0">
                <a:solidFill>
                  <a:schemeClr val="accent6"/>
                </a:solidFill>
              </a:rPr>
              <a:t>   Hydration, De-Hydration &amp; Re-Hydration</a:t>
            </a:r>
          </a:p>
          <a:p>
            <a:pPr marL="12700" marR="5080"/>
            <a:r>
              <a:rPr lang="en-US" sz="1400" kern="0" spc="-80" dirty="0">
                <a:solidFill>
                  <a:schemeClr val="accent6"/>
                </a:solidFill>
              </a:rPr>
              <a:t>   (Re-)Hosting</a:t>
            </a:r>
          </a:p>
          <a:p>
            <a:pPr marL="12700" marR="5080"/>
            <a:r>
              <a:rPr lang="en-US" sz="1400" kern="0" spc="-80" dirty="0">
                <a:solidFill>
                  <a:schemeClr val="accent6"/>
                </a:solidFill>
              </a:rPr>
              <a:t>   State Machine &amp; </a:t>
            </a:r>
            <a:r>
              <a:rPr lang="en-US" sz="1400" kern="0" spc="-80" dirty="0" err="1">
                <a:solidFill>
                  <a:schemeClr val="accent6"/>
                </a:solidFill>
              </a:rPr>
              <a:t>FlowCharts</a:t>
            </a:r>
            <a:endParaRPr lang="en-US" sz="1400" kern="0" spc="-80" dirty="0">
              <a:solidFill>
                <a:schemeClr val="accent6"/>
              </a:solidFill>
            </a:endParaRPr>
          </a:p>
        </p:txBody>
      </p:sp>
    </p:spTree>
    <p:extLst>
      <p:ext uri="{BB962C8B-B14F-4D97-AF65-F5344CB8AC3E}">
        <p14:creationId xmlns:p14="http://schemas.microsoft.com/office/powerpoint/2010/main" val="34981303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94453" y="1335370"/>
            <a:ext cx="1645920" cy="527727"/>
          </a:xfrm>
          <a:prstGeom prst="round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2">
                    <a:lumMod val="50000"/>
                  </a:schemeClr>
                </a:solidFill>
                <a:latin typeface="Calibri" panose="020F0502020204030204" pitchFamily="34" charset="0"/>
              </a:rPr>
              <a:t>WORKFLOWS</a:t>
            </a:r>
          </a:p>
        </p:txBody>
      </p:sp>
      <p:sp>
        <p:nvSpPr>
          <p:cNvPr id="8" name="Rounded Rectangle 7"/>
          <p:cNvSpPr/>
          <p:nvPr/>
        </p:nvSpPr>
        <p:spPr>
          <a:xfrm>
            <a:off x="494453" y="3166810"/>
            <a:ext cx="1645920" cy="548640"/>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1"/>
                </a:solidFill>
                <a:latin typeface="Calibri" panose="020F0502020204030204" pitchFamily="34" charset="0"/>
              </a:rPr>
              <a:t>ORCHESTRATION SERVER</a:t>
            </a:r>
          </a:p>
        </p:txBody>
      </p:sp>
      <p:cxnSp>
        <p:nvCxnSpPr>
          <p:cNvPr id="4" name="Straight Arrow Connector 3"/>
          <p:cNvCxnSpPr>
            <a:cxnSpLocks/>
            <a:stCxn id="2" idx="2"/>
            <a:endCxn id="8" idx="0"/>
          </p:cNvCxnSpPr>
          <p:nvPr/>
        </p:nvCxnSpPr>
        <p:spPr>
          <a:xfrm>
            <a:off x="1317413" y="1863097"/>
            <a:ext cx="0" cy="13037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rot="16200000">
            <a:off x="766301" y="2391844"/>
            <a:ext cx="848309" cy="246221"/>
          </a:xfrm>
          <a:prstGeom prst="rect">
            <a:avLst/>
          </a:prstGeom>
          <a:noFill/>
        </p:spPr>
        <p:txBody>
          <a:bodyPr wrap="none" rtlCol="0">
            <a:spAutoFit/>
          </a:bodyPr>
          <a:lstStyle/>
          <a:p>
            <a:r>
              <a:rPr lang="en-US" sz="1000" b="1" dirty="0"/>
              <a:t>deployed on</a:t>
            </a:r>
          </a:p>
        </p:txBody>
      </p:sp>
      <p:sp>
        <p:nvSpPr>
          <p:cNvPr id="11" name="Rounded Rectangle 10"/>
          <p:cNvSpPr/>
          <p:nvPr/>
        </p:nvSpPr>
        <p:spPr>
          <a:xfrm>
            <a:off x="3047129" y="1335370"/>
            <a:ext cx="1645920" cy="527727"/>
          </a:xfrm>
          <a:prstGeom prst="round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2">
                    <a:lumMod val="50000"/>
                  </a:schemeClr>
                </a:solidFill>
                <a:latin typeface="Calibri" panose="020F0502020204030204" pitchFamily="34" charset="0"/>
              </a:rPr>
              <a:t>TASKS</a:t>
            </a:r>
          </a:p>
        </p:txBody>
      </p:sp>
      <p:cxnSp>
        <p:nvCxnSpPr>
          <p:cNvPr id="10" name="Straight Arrow Connector 9"/>
          <p:cNvCxnSpPr>
            <a:cxnSpLocks/>
            <a:stCxn id="2" idx="3"/>
            <a:endCxn id="11" idx="1"/>
          </p:cNvCxnSpPr>
          <p:nvPr/>
        </p:nvCxnSpPr>
        <p:spPr>
          <a:xfrm>
            <a:off x="2140373" y="1599234"/>
            <a:ext cx="9067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182621" y="1353494"/>
            <a:ext cx="692818" cy="246221"/>
          </a:xfrm>
          <a:prstGeom prst="rect">
            <a:avLst/>
          </a:prstGeom>
          <a:noFill/>
        </p:spPr>
        <p:txBody>
          <a:bodyPr wrap="none" rtlCol="0">
            <a:spAutoFit/>
          </a:bodyPr>
          <a:lstStyle/>
          <a:p>
            <a:r>
              <a:rPr lang="en-US" sz="1000" b="1" dirty="0"/>
              <a:t>consist of</a:t>
            </a:r>
          </a:p>
        </p:txBody>
      </p:sp>
      <p:sp>
        <p:nvSpPr>
          <p:cNvPr id="17" name="Rounded Rectangle 16"/>
          <p:cNvSpPr/>
          <p:nvPr/>
        </p:nvSpPr>
        <p:spPr>
          <a:xfrm>
            <a:off x="5421066" y="1335370"/>
            <a:ext cx="1645920" cy="527727"/>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SYSTEM TASKS</a:t>
            </a:r>
          </a:p>
        </p:txBody>
      </p:sp>
      <p:sp>
        <p:nvSpPr>
          <p:cNvPr id="18" name="Rounded Rectangle 17"/>
          <p:cNvSpPr/>
          <p:nvPr/>
        </p:nvSpPr>
        <p:spPr>
          <a:xfrm>
            <a:off x="5421066" y="1929066"/>
            <a:ext cx="1645920" cy="548640"/>
          </a:xfrm>
          <a:prstGeom prst="round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SIMPLE TASKS</a:t>
            </a:r>
          </a:p>
        </p:txBody>
      </p:sp>
      <p:sp>
        <p:nvSpPr>
          <p:cNvPr id="20" name="Rounded Rectangle 19"/>
          <p:cNvSpPr/>
          <p:nvPr/>
        </p:nvSpPr>
        <p:spPr>
          <a:xfrm>
            <a:off x="5421066" y="3397097"/>
            <a:ext cx="1645920" cy="548640"/>
          </a:xfrm>
          <a:prstGeom prst="round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2">
                    <a:lumMod val="50000"/>
                  </a:schemeClr>
                </a:solidFill>
                <a:latin typeface="Calibri" panose="020F0502020204030204" pitchFamily="34" charset="0"/>
              </a:rPr>
              <a:t>WORKERS</a:t>
            </a:r>
          </a:p>
        </p:txBody>
      </p:sp>
      <p:cxnSp>
        <p:nvCxnSpPr>
          <p:cNvPr id="22" name="Straight Arrow Connector 21"/>
          <p:cNvCxnSpPr>
            <a:stCxn id="20" idx="0"/>
            <a:endCxn id="18" idx="2"/>
          </p:cNvCxnSpPr>
          <p:nvPr/>
        </p:nvCxnSpPr>
        <p:spPr>
          <a:xfrm flipV="1">
            <a:off x="6244026" y="2477707"/>
            <a:ext cx="0" cy="9193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2140374" y="3522406"/>
            <a:ext cx="32806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cxnSpLocks/>
            <a:stCxn id="11" idx="3"/>
            <a:endCxn id="17" idx="1"/>
          </p:cNvCxnSpPr>
          <p:nvPr/>
        </p:nvCxnSpPr>
        <p:spPr>
          <a:xfrm>
            <a:off x="4693049" y="1599234"/>
            <a:ext cx="7280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Elbow Connector 29"/>
          <p:cNvCxnSpPr>
            <a:stCxn id="11" idx="3"/>
            <a:endCxn id="18" idx="1"/>
          </p:cNvCxnSpPr>
          <p:nvPr/>
        </p:nvCxnSpPr>
        <p:spPr>
          <a:xfrm>
            <a:off x="4693049" y="1599234"/>
            <a:ext cx="728017" cy="60415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428604" y="1378774"/>
            <a:ext cx="1280160" cy="439773"/>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FORK</a:t>
            </a:r>
          </a:p>
        </p:txBody>
      </p:sp>
      <p:sp>
        <p:nvSpPr>
          <p:cNvPr id="37" name="Rounded Rectangle 36"/>
          <p:cNvSpPr/>
          <p:nvPr/>
        </p:nvSpPr>
        <p:spPr>
          <a:xfrm>
            <a:off x="7428604" y="1891292"/>
            <a:ext cx="1280160" cy="457200"/>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JOIN</a:t>
            </a:r>
          </a:p>
        </p:txBody>
      </p:sp>
      <p:sp>
        <p:nvSpPr>
          <p:cNvPr id="38" name="Rounded Rectangle 37"/>
          <p:cNvSpPr/>
          <p:nvPr/>
        </p:nvSpPr>
        <p:spPr>
          <a:xfrm>
            <a:off x="7428604" y="2421236"/>
            <a:ext cx="1280160" cy="457200"/>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DECISION</a:t>
            </a:r>
          </a:p>
        </p:txBody>
      </p:sp>
      <p:sp>
        <p:nvSpPr>
          <p:cNvPr id="39" name="Rounded Rectangle 38"/>
          <p:cNvSpPr/>
          <p:nvPr/>
        </p:nvSpPr>
        <p:spPr>
          <a:xfrm>
            <a:off x="7428604" y="2951180"/>
            <a:ext cx="1280160" cy="457200"/>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WAIT</a:t>
            </a:r>
          </a:p>
        </p:txBody>
      </p:sp>
      <p:sp>
        <p:nvSpPr>
          <p:cNvPr id="40" name="Rounded Rectangle 39"/>
          <p:cNvSpPr/>
          <p:nvPr/>
        </p:nvSpPr>
        <p:spPr>
          <a:xfrm>
            <a:off x="7428604" y="3481124"/>
            <a:ext cx="1280160" cy="457200"/>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HTTP</a:t>
            </a:r>
          </a:p>
        </p:txBody>
      </p:sp>
      <p:sp>
        <p:nvSpPr>
          <p:cNvPr id="41" name="Rounded Rectangle 40"/>
          <p:cNvSpPr/>
          <p:nvPr/>
        </p:nvSpPr>
        <p:spPr>
          <a:xfrm>
            <a:off x="7428604" y="4011068"/>
            <a:ext cx="1280160" cy="457200"/>
          </a:xfrm>
          <a:prstGeom prst="roundRect">
            <a:avLst/>
          </a:prstGeom>
          <a:solidFill>
            <a:schemeClr val="bg2">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i="1" dirty="0">
                <a:solidFill>
                  <a:schemeClr val="bg1"/>
                </a:solidFill>
                <a:latin typeface="Calibri" panose="020F0502020204030204" pitchFamily="34" charset="0"/>
              </a:rPr>
              <a:t>EVENT</a:t>
            </a:r>
          </a:p>
        </p:txBody>
      </p:sp>
      <p:sp>
        <p:nvSpPr>
          <p:cNvPr id="42" name="TextBox 41"/>
          <p:cNvSpPr txBox="1"/>
          <p:nvPr/>
        </p:nvSpPr>
        <p:spPr>
          <a:xfrm rot="16200000">
            <a:off x="5752504" y="2830764"/>
            <a:ext cx="768159" cy="246221"/>
          </a:xfrm>
          <a:prstGeom prst="rect">
            <a:avLst/>
          </a:prstGeom>
          <a:noFill/>
        </p:spPr>
        <p:txBody>
          <a:bodyPr wrap="none" rtlCol="0">
            <a:spAutoFit/>
          </a:bodyPr>
          <a:lstStyle/>
          <a:p>
            <a:r>
              <a:rPr lang="en-US" sz="1000" b="1" dirty="0"/>
              <a:t>implement</a:t>
            </a:r>
          </a:p>
        </p:txBody>
      </p:sp>
      <p:cxnSp>
        <p:nvCxnSpPr>
          <p:cNvPr id="44" name="Straight Arrow Connector 43"/>
          <p:cNvCxnSpPr>
            <a:cxnSpLocks/>
            <a:stCxn id="17" idx="3"/>
            <a:endCxn id="36" idx="1"/>
          </p:cNvCxnSpPr>
          <p:nvPr/>
        </p:nvCxnSpPr>
        <p:spPr>
          <a:xfrm flipV="1">
            <a:off x="7066986" y="1598661"/>
            <a:ext cx="361618" cy="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Elbow Connector 45"/>
          <p:cNvCxnSpPr>
            <a:cxnSpLocks/>
            <a:stCxn id="17" idx="3"/>
            <a:endCxn id="37" idx="1"/>
          </p:cNvCxnSpPr>
          <p:nvPr/>
        </p:nvCxnSpPr>
        <p:spPr>
          <a:xfrm>
            <a:off x="7066986" y="1599234"/>
            <a:ext cx="361618" cy="52065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Elbow Connector 47"/>
          <p:cNvCxnSpPr>
            <a:cxnSpLocks/>
            <a:stCxn id="17" idx="3"/>
            <a:endCxn id="38" idx="1"/>
          </p:cNvCxnSpPr>
          <p:nvPr/>
        </p:nvCxnSpPr>
        <p:spPr>
          <a:xfrm>
            <a:off x="7066986" y="1599234"/>
            <a:ext cx="361618" cy="105060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Elbow Connector 49"/>
          <p:cNvCxnSpPr>
            <a:cxnSpLocks/>
            <a:stCxn id="17" idx="3"/>
            <a:endCxn id="39" idx="1"/>
          </p:cNvCxnSpPr>
          <p:nvPr/>
        </p:nvCxnSpPr>
        <p:spPr>
          <a:xfrm>
            <a:off x="7066986" y="1599234"/>
            <a:ext cx="361618" cy="158054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Elbow Connector 51"/>
          <p:cNvCxnSpPr>
            <a:cxnSpLocks/>
            <a:stCxn id="17" idx="3"/>
            <a:endCxn id="40" idx="1"/>
          </p:cNvCxnSpPr>
          <p:nvPr/>
        </p:nvCxnSpPr>
        <p:spPr>
          <a:xfrm>
            <a:off x="7066986" y="1599234"/>
            <a:ext cx="361618" cy="211049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Elbow Connector 53"/>
          <p:cNvCxnSpPr>
            <a:cxnSpLocks/>
            <a:stCxn id="17" idx="3"/>
            <a:endCxn id="41" idx="1"/>
          </p:cNvCxnSpPr>
          <p:nvPr/>
        </p:nvCxnSpPr>
        <p:spPr>
          <a:xfrm>
            <a:off x="7066986" y="1599234"/>
            <a:ext cx="361618" cy="264043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16527" y="3284004"/>
            <a:ext cx="1023037" cy="246221"/>
          </a:xfrm>
          <a:prstGeom prst="rect">
            <a:avLst/>
          </a:prstGeom>
          <a:noFill/>
        </p:spPr>
        <p:txBody>
          <a:bodyPr wrap="none" rtlCol="0">
            <a:spAutoFit/>
          </a:bodyPr>
          <a:lstStyle/>
          <a:p>
            <a:r>
              <a:rPr lang="en-US" sz="1000" b="1" dirty="0"/>
              <a:t>poll and update</a:t>
            </a:r>
          </a:p>
        </p:txBody>
      </p:sp>
      <p:sp>
        <p:nvSpPr>
          <p:cNvPr id="62" name="Rounded Rectangle 61"/>
          <p:cNvSpPr/>
          <p:nvPr/>
        </p:nvSpPr>
        <p:spPr>
          <a:xfrm>
            <a:off x="494453" y="4453031"/>
            <a:ext cx="1645920" cy="548640"/>
          </a:xfrm>
          <a:prstGeom prst="round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2">
                    <a:lumMod val="50000"/>
                  </a:schemeClr>
                </a:solidFill>
                <a:latin typeface="Calibri" panose="020F0502020204030204" pitchFamily="34" charset="0"/>
              </a:rPr>
              <a:t>EVENT HANDRS</a:t>
            </a:r>
          </a:p>
        </p:txBody>
      </p:sp>
      <p:cxnSp>
        <p:nvCxnSpPr>
          <p:cNvPr id="64" name="Straight Arrow Connector 63"/>
          <p:cNvCxnSpPr>
            <a:stCxn id="62" idx="0"/>
            <a:endCxn id="8" idx="2"/>
          </p:cNvCxnSpPr>
          <p:nvPr/>
        </p:nvCxnSpPr>
        <p:spPr>
          <a:xfrm flipV="1">
            <a:off x="1317413" y="3715451"/>
            <a:ext cx="0" cy="7375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Elbow Connector 6"/>
          <p:cNvCxnSpPr>
            <a:cxnSpLocks/>
            <a:stCxn id="11" idx="2"/>
          </p:cNvCxnSpPr>
          <p:nvPr/>
        </p:nvCxnSpPr>
        <p:spPr>
          <a:xfrm rot="5400000">
            <a:off x="2297424" y="1706050"/>
            <a:ext cx="1415618" cy="172971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rot="16200000">
            <a:off x="3255738" y="2391190"/>
            <a:ext cx="995785" cy="246221"/>
          </a:xfrm>
          <a:prstGeom prst="rect">
            <a:avLst/>
          </a:prstGeom>
          <a:noFill/>
        </p:spPr>
        <p:txBody>
          <a:bodyPr wrap="none" rtlCol="0">
            <a:spAutoFit/>
          </a:bodyPr>
          <a:lstStyle/>
          <a:p>
            <a:r>
              <a:rPr lang="en-US" sz="1000" b="1" dirty="0"/>
              <a:t>registered with</a:t>
            </a:r>
          </a:p>
        </p:txBody>
      </p:sp>
      <p:sp>
        <p:nvSpPr>
          <p:cNvPr id="45" name="Rounded Rectangle 44"/>
          <p:cNvSpPr/>
          <p:nvPr/>
        </p:nvSpPr>
        <p:spPr>
          <a:xfrm>
            <a:off x="3047129" y="4446099"/>
            <a:ext cx="3196897" cy="54864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chemeClr val="bg2"/>
                </a:solidFill>
                <a:latin typeface="Calibri" panose="020F0502020204030204" pitchFamily="34" charset="0"/>
              </a:rPr>
              <a:t>MESSAGING INFRASTRUCTURE</a:t>
            </a:r>
          </a:p>
        </p:txBody>
      </p:sp>
      <p:cxnSp>
        <p:nvCxnSpPr>
          <p:cNvPr id="16" name="Straight Arrow Connector 15"/>
          <p:cNvCxnSpPr>
            <a:stCxn id="62" idx="3"/>
            <a:endCxn id="45" idx="1"/>
          </p:cNvCxnSpPr>
          <p:nvPr/>
        </p:nvCxnSpPr>
        <p:spPr>
          <a:xfrm flipV="1">
            <a:off x="2140374" y="4720419"/>
            <a:ext cx="906755" cy="6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p:cNvCxnSpPr>
            <a:stCxn id="41" idx="2"/>
            <a:endCxn id="45" idx="3"/>
          </p:cNvCxnSpPr>
          <p:nvPr/>
        </p:nvCxnSpPr>
        <p:spPr>
          <a:xfrm rot="5400000">
            <a:off x="7030281" y="3682015"/>
            <a:ext cx="252151" cy="182465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rot="16200000">
            <a:off x="916886" y="3869095"/>
            <a:ext cx="753732" cy="400110"/>
          </a:xfrm>
          <a:prstGeom prst="rect">
            <a:avLst/>
          </a:prstGeom>
          <a:noFill/>
        </p:spPr>
        <p:txBody>
          <a:bodyPr wrap="none" rtlCol="0">
            <a:spAutoFit/>
          </a:bodyPr>
          <a:lstStyle/>
          <a:p>
            <a:r>
              <a:rPr lang="en-US" sz="1000" b="1" dirty="0"/>
              <a:t>registered </a:t>
            </a:r>
          </a:p>
          <a:p>
            <a:pPr algn="ctr"/>
            <a:r>
              <a:rPr lang="en-US" sz="1000" b="1" dirty="0"/>
              <a:t>with</a:t>
            </a:r>
          </a:p>
        </p:txBody>
      </p:sp>
      <p:sp>
        <p:nvSpPr>
          <p:cNvPr id="51" name="TextBox 50"/>
          <p:cNvSpPr txBox="1"/>
          <p:nvPr/>
        </p:nvSpPr>
        <p:spPr>
          <a:xfrm>
            <a:off x="2182622" y="4529860"/>
            <a:ext cx="671979" cy="246221"/>
          </a:xfrm>
          <a:prstGeom prst="rect">
            <a:avLst/>
          </a:prstGeom>
          <a:noFill/>
        </p:spPr>
        <p:txBody>
          <a:bodyPr wrap="none" rtlCol="0">
            <a:spAutoFit/>
          </a:bodyPr>
          <a:lstStyle/>
          <a:p>
            <a:r>
              <a:rPr lang="en-US" sz="1000" b="1" dirty="0"/>
              <a:t>listens to</a:t>
            </a:r>
          </a:p>
        </p:txBody>
      </p:sp>
      <p:sp>
        <p:nvSpPr>
          <p:cNvPr id="53" name="TextBox 52"/>
          <p:cNvSpPr txBox="1"/>
          <p:nvPr/>
        </p:nvSpPr>
        <p:spPr>
          <a:xfrm>
            <a:off x="6777922" y="4496368"/>
            <a:ext cx="833883" cy="246221"/>
          </a:xfrm>
          <a:prstGeom prst="rect">
            <a:avLst/>
          </a:prstGeom>
          <a:noFill/>
        </p:spPr>
        <p:txBody>
          <a:bodyPr wrap="none" rtlCol="0">
            <a:spAutoFit/>
          </a:bodyPr>
          <a:lstStyle/>
          <a:p>
            <a:r>
              <a:rPr lang="en-US" sz="1000" b="1" dirty="0"/>
              <a:t>publishes to</a:t>
            </a:r>
          </a:p>
        </p:txBody>
      </p:sp>
      <p:cxnSp>
        <p:nvCxnSpPr>
          <p:cNvPr id="26" name="Elbow Connector 25"/>
          <p:cNvCxnSpPr>
            <a:cxnSpLocks/>
            <a:stCxn id="62" idx="1"/>
            <a:endCxn id="2" idx="1"/>
          </p:cNvCxnSpPr>
          <p:nvPr/>
        </p:nvCxnSpPr>
        <p:spPr>
          <a:xfrm rot="10800000">
            <a:off x="494453" y="1599235"/>
            <a:ext cx="12700" cy="3128117"/>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Elbow Connector 28"/>
          <p:cNvCxnSpPr/>
          <p:nvPr/>
        </p:nvCxnSpPr>
        <p:spPr>
          <a:xfrm rot="5400000" flipH="1" flipV="1">
            <a:off x="1620696" y="1932104"/>
            <a:ext cx="2573091" cy="2454900"/>
          </a:xfrm>
          <a:prstGeom prst="bentConnector3">
            <a:avLst>
              <a:gd name="adj1" fmla="val 8408"/>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211871" y="4004509"/>
            <a:ext cx="1386918" cy="246221"/>
          </a:xfrm>
          <a:prstGeom prst="rect">
            <a:avLst/>
          </a:prstGeom>
          <a:noFill/>
        </p:spPr>
        <p:txBody>
          <a:bodyPr wrap="none" rtlCol="0">
            <a:spAutoFit/>
          </a:bodyPr>
          <a:lstStyle/>
          <a:p>
            <a:r>
              <a:rPr lang="en-US" sz="1000" b="1" dirty="0"/>
              <a:t>complete or terminate</a:t>
            </a:r>
          </a:p>
        </p:txBody>
      </p:sp>
      <p:sp>
        <p:nvSpPr>
          <p:cNvPr id="65" name="TextBox 64"/>
          <p:cNvSpPr txBox="1"/>
          <p:nvPr/>
        </p:nvSpPr>
        <p:spPr>
          <a:xfrm rot="16200000">
            <a:off x="15886" y="2978162"/>
            <a:ext cx="433132" cy="246221"/>
          </a:xfrm>
          <a:prstGeom prst="rect">
            <a:avLst/>
          </a:prstGeom>
          <a:noFill/>
        </p:spPr>
        <p:txBody>
          <a:bodyPr wrap="none" rtlCol="0">
            <a:spAutoFit/>
          </a:bodyPr>
          <a:lstStyle/>
          <a:p>
            <a:r>
              <a:rPr lang="en-US" sz="1000" b="1" dirty="0"/>
              <a:t>start</a:t>
            </a:r>
          </a:p>
        </p:txBody>
      </p:sp>
      <p:sp>
        <p:nvSpPr>
          <p:cNvPr id="12" name="object 4">
            <a:extLst>
              <a:ext uri="{FF2B5EF4-FFF2-40B4-BE49-F238E27FC236}">
                <a16:creationId xmlns:a16="http://schemas.microsoft.com/office/drawing/2014/main" id="{7467AE0C-FF3E-28E1-AB1F-C15B86A6B99D}"/>
              </a:ext>
            </a:extLst>
          </p:cNvPr>
          <p:cNvSpPr/>
          <p:nvPr/>
        </p:nvSpPr>
        <p:spPr>
          <a:xfrm>
            <a:off x="2590800" y="45800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3" name="Diagram 12">
            <a:extLst>
              <a:ext uri="{FF2B5EF4-FFF2-40B4-BE49-F238E27FC236}">
                <a16:creationId xmlns:a16="http://schemas.microsoft.com/office/drawing/2014/main" id="{AEDF460B-BC41-C9AC-CB6A-E0B651B69C71}"/>
              </a:ext>
            </a:extLst>
          </p:cNvPr>
          <p:cNvGraphicFramePr/>
          <p:nvPr>
            <p:extLst>
              <p:ext uri="{D42A27DB-BD31-4B8C-83A1-F6EECF244321}">
                <p14:modId xmlns:p14="http://schemas.microsoft.com/office/powerpoint/2010/main" val="101113294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object 4">
            <a:extLst>
              <a:ext uri="{FF2B5EF4-FFF2-40B4-BE49-F238E27FC236}">
                <a16:creationId xmlns:a16="http://schemas.microsoft.com/office/drawing/2014/main" id="{556FC87C-FC3B-DC00-8707-6210090E06BA}"/>
              </a:ext>
            </a:extLst>
          </p:cNvPr>
          <p:cNvSpPr/>
          <p:nvPr/>
        </p:nvSpPr>
        <p:spPr>
          <a:xfrm>
            <a:off x="2590800" y="61040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5" name="object 2">
            <a:extLst>
              <a:ext uri="{FF2B5EF4-FFF2-40B4-BE49-F238E27FC236}">
                <a16:creationId xmlns:a16="http://schemas.microsoft.com/office/drawing/2014/main" id="{05378E3D-CB41-CFC0-F96C-980CA43E4A21}"/>
              </a:ext>
            </a:extLst>
          </p:cNvPr>
          <p:cNvSpPr txBox="1">
            <a:spLocks/>
          </p:cNvSpPr>
          <p:nvPr/>
        </p:nvSpPr>
        <p:spPr>
          <a:xfrm>
            <a:off x="16622" y="707706"/>
            <a:ext cx="8915399"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Microservices Orchestration – Building Blocks</a:t>
            </a:r>
            <a:endParaRPr lang="en-US" sz="1400" kern="0" spc="-80" dirty="0">
              <a:solidFill>
                <a:schemeClr val="accent2"/>
              </a:solidFill>
            </a:endParaRPr>
          </a:p>
          <a:p>
            <a:pPr marL="12700" marR="5080"/>
            <a:r>
              <a:rPr lang="en-US" sz="1800" kern="0" spc="-80" dirty="0">
                <a:solidFill>
                  <a:schemeClr val="accent2"/>
                </a:solidFill>
              </a:rPr>
              <a:t>   </a:t>
            </a:r>
          </a:p>
        </p:txBody>
      </p:sp>
      <p:sp>
        <p:nvSpPr>
          <p:cNvPr id="3" name="object 2">
            <a:extLst>
              <a:ext uri="{FF2B5EF4-FFF2-40B4-BE49-F238E27FC236}">
                <a16:creationId xmlns:a16="http://schemas.microsoft.com/office/drawing/2014/main" id="{65D478AD-9528-8913-52D5-B17EAE9D407E}"/>
              </a:ext>
            </a:extLst>
          </p:cNvPr>
          <p:cNvSpPr txBox="1">
            <a:spLocks/>
          </p:cNvSpPr>
          <p:nvPr/>
        </p:nvSpPr>
        <p:spPr>
          <a:xfrm>
            <a:off x="0" y="5015254"/>
            <a:ext cx="8915399" cy="10156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6"/>
                </a:solidFill>
              </a:rPr>
              <a:t>Typically use an FSM(Finite State Machine) based approach to implement orchestration. FSM can be implemented using various techniques including “DSL(Domain Specific Language) + Template Method Design Pattern(for workflows/operations/actions) + Chain Of Responsibility Design Pattern(for tasks/jobs/steps)”.Refer </a:t>
            </a:r>
            <a:r>
              <a:rPr lang="en-IN" sz="1400" dirty="0">
                <a:hlinkClick r:id="rId8"/>
              </a:rPr>
              <a:t>What is Netflix Conductor?</a:t>
            </a:r>
            <a:r>
              <a:rPr lang="en-IN" sz="1400" dirty="0"/>
              <a:t>, </a:t>
            </a:r>
            <a:r>
              <a:rPr lang="en-IN" sz="1400" dirty="0">
                <a:hlinkClick r:id="rId9"/>
              </a:rPr>
              <a:t>Conductor OSS Foundation</a:t>
            </a:r>
            <a:r>
              <a:rPr lang="en-IN" sz="1400" dirty="0"/>
              <a:t> </a:t>
            </a:r>
            <a:r>
              <a:rPr lang="en-IN" sz="1350" kern="0" spc="-80" dirty="0">
                <a:solidFill>
                  <a:schemeClr val="accent6"/>
                </a:solidFill>
              </a:rPr>
              <a:t>and </a:t>
            </a:r>
            <a:r>
              <a:rPr lang="en-IN" sz="1400" dirty="0">
                <a:hlinkClick r:id="rId10"/>
              </a:rPr>
              <a:t>Conductor Documentation</a:t>
            </a:r>
            <a:r>
              <a:rPr lang="en-IN" sz="1400" dirty="0"/>
              <a:t> </a:t>
            </a:r>
            <a:r>
              <a:rPr lang="en-IN" sz="1350" kern="0" spc="-80" dirty="0">
                <a:solidFill>
                  <a:schemeClr val="accent6"/>
                </a:solidFill>
              </a:rPr>
              <a:t>for further exploration</a:t>
            </a:r>
            <a:endParaRPr lang="en-US" sz="1350" kern="0" spc="-80" dirty="0">
              <a:solidFill>
                <a:schemeClr val="accent6"/>
              </a:solidFill>
            </a:endParaRPr>
          </a:p>
          <a:p>
            <a:pPr marL="12700" marR="5080"/>
            <a:r>
              <a:rPr lang="en-US" sz="1100" kern="0" spc="-80" dirty="0">
                <a:solidFill>
                  <a:schemeClr val="accent2"/>
                </a:solidFill>
              </a:rPr>
              <a:t> </a:t>
            </a:r>
          </a:p>
        </p:txBody>
      </p:sp>
    </p:spTree>
    <p:extLst>
      <p:ext uri="{BB962C8B-B14F-4D97-AF65-F5344CB8AC3E}">
        <p14:creationId xmlns:p14="http://schemas.microsoft.com/office/powerpoint/2010/main" val="35900210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8408385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pic>
        <p:nvPicPr>
          <p:cNvPr id="13" name="Picture 12">
            <a:extLst>
              <a:ext uri="{FF2B5EF4-FFF2-40B4-BE49-F238E27FC236}">
                <a16:creationId xmlns:a16="http://schemas.microsoft.com/office/drawing/2014/main" id="{B1031BF9-5A2D-53C1-FCC5-C32C3F7C9B59}"/>
              </a:ext>
            </a:extLst>
          </p:cNvPr>
          <p:cNvPicPr>
            <a:picLocks noChangeAspect="1"/>
          </p:cNvPicPr>
          <p:nvPr/>
        </p:nvPicPr>
        <p:blipFill>
          <a:blip r:embed="rId7"/>
          <a:stretch>
            <a:fillRect/>
          </a:stretch>
        </p:blipFill>
        <p:spPr>
          <a:xfrm>
            <a:off x="290463" y="761999"/>
            <a:ext cx="8472537" cy="3886201"/>
          </a:xfrm>
          <a:prstGeom prst="rect">
            <a:avLst/>
          </a:prstGeom>
        </p:spPr>
      </p:pic>
      <p:sp>
        <p:nvSpPr>
          <p:cNvPr id="14" name="object 2">
            <a:extLst>
              <a:ext uri="{FF2B5EF4-FFF2-40B4-BE49-F238E27FC236}">
                <a16:creationId xmlns:a16="http://schemas.microsoft.com/office/drawing/2014/main" id="{6C93D645-E722-7EBB-FA22-2C0B09EEDFAC}"/>
              </a:ext>
            </a:extLst>
          </p:cNvPr>
          <p:cNvSpPr txBox="1">
            <a:spLocks/>
          </p:cNvSpPr>
          <p:nvPr/>
        </p:nvSpPr>
        <p:spPr>
          <a:xfrm>
            <a:off x="0" y="4724400"/>
            <a:ext cx="8915399"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 </a:t>
            </a:r>
          </a:p>
          <a:p>
            <a:pPr marL="12700" marR="5080"/>
            <a:r>
              <a:rPr lang="en-US" sz="1400" kern="0" spc="-80" dirty="0">
                <a:solidFill>
                  <a:schemeClr val="accent2"/>
                </a:solidFill>
              </a:rPr>
              <a:t>  </a:t>
            </a:r>
            <a:r>
              <a:rPr lang="en-US" sz="1000" dirty="0">
                <a:hlinkClick r:id="rId8"/>
              </a:rPr>
              <a:t>8 Best Open Source Rule Engines in 2024 | </a:t>
            </a:r>
            <a:r>
              <a:rPr lang="en-US" sz="1000" dirty="0" err="1">
                <a:hlinkClick r:id="rId8"/>
              </a:rPr>
              <a:t>Nected</a:t>
            </a:r>
            <a:r>
              <a:rPr lang="en-US" sz="1000" dirty="0">
                <a:hlinkClick r:id="rId8"/>
              </a:rPr>
              <a:t> Blogs</a:t>
            </a:r>
            <a:endParaRPr lang="en-US" sz="1000" dirty="0"/>
          </a:p>
          <a:p>
            <a:pPr marL="12700" marR="5080"/>
            <a:r>
              <a:rPr lang="en-US" sz="1400" kern="0" spc="-80" dirty="0">
                <a:solidFill>
                  <a:schemeClr val="accent2"/>
                </a:solidFill>
              </a:rPr>
              <a:t>  </a:t>
            </a:r>
            <a:r>
              <a:rPr lang="en-US" sz="1000" dirty="0" err="1">
                <a:hlinkClick r:id="rId9"/>
              </a:rPr>
              <a:t>RulesEngine</a:t>
            </a:r>
            <a:r>
              <a:rPr lang="en-US" sz="1000" dirty="0">
                <a:hlinkClick r:id="rId9"/>
              </a:rPr>
              <a:t> | A Json based Rules Engine with extensive Dynamic expression support</a:t>
            </a:r>
            <a:endParaRPr lang="en-US" sz="1000" dirty="0"/>
          </a:p>
          <a:p>
            <a:pPr marL="12700" marR="5080"/>
            <a:r>
              <a:rPr lang="en-US" sz="1400" kern="0" spc="-80" dirty="0">
                <a:solidFill>
                  <a:schemeClr val="accent2"/>
                </a:solidFill>
              </a:rPr>
              <a:t>  </a:t>
            </a:r>
            <a:r>
              <a:rPr lang="en-US" sz="1000" dirty="0">
                <a:hlinkClick r:id="rId10"/>
              </a:rPr>
              <a:t>Getting Started with Drools.NET- </a:t>
            </a:r>
            <a:r>
              <a:rPr lang="en-US" sz="1000" dirty="0" err="1">
                <a:hlinkClick r:id="rId10"/>
              </a:rPr>
              <a:t>CodeProject</a:t>
            </a:r>
            <a:endParaRPr lang="en-US" sz="1000" dirty="0"/>
          </a:p>
          <a:p>
            <a:pPr marL="12700" marR="5080"/>
            <a:r>
              <a:rPr lang="en-US" sz="1400" kern="0" spc="-80" dirty="0">
                <a:solidFill>
                  <a:schemeClr val="accent2"/>
                </a:solidFill>
              </a:rPr>
              <a:t>  Check For Distributed BPM &amp; Rules Engines as well for better Scalability &amp; Availability</a:t>
            </a:r>
          </a:p>
          <a:p>
            <a:pPr marL="12700" marR="5080"/>
            <a:r>
              <a:rPr lang="en-US" sz="1800" kern="0" spc="-80" dirty="0">
                <a:solidFill>
                  <a:schemeClr val="accent2"/>
                </a:solidFill>
              </a:rPr>
              <a:t>   </a:t>
            </a:r>
          </a:p>
        </p:txBody>
      </p:sp>
    </p:spTree>
    <p:extLst>
      <p:ext uri="{BB962C8B-B14F-4D97-AF65-F5344CB8AC3E}">
        <p14:creationId xmlns:p14="http://schemas.microsoft.com/office/powerpoint/2010/main" val="22434820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C5A01-C9FE-E431-7B7B-A6D15B819E7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32874E-A809-1BAB-31C4-5602ABD6CB4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9662E7-078E-5812-4744-5599D391E72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AD99AE2-9D86-0621-A465-61584B66620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7008AFD-A705-4C85-1104-1DACBCC144C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721BE0D-5D60-AA2B-9F92-2B20129DE74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AC9FB83-B356-E2D8-9D9C-B195FE6B873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18F8F23-5B09-3D76-27EA-3C3B333C0BA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A8B9444-CC9E-47C4-7A3C-DC093EBA256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4" name="object 2">
            <a:extLst>
              <a:ext uri="{FF2B5EF4-FFF2-40B4-BE49-F238E27FC236}">
                <a16:creationId xmlns:a16="http://schemas.microsoft.com/office/drawing/2014/main" id="{8BFFA387-8682-F11F-C65B-3FC34BC56235}"/>
              </a:ext>
            </a:extLst>
          </p:cNvPr>
          <p:cNvSpPr txBox="1">
            <a:spLocks/>
          </p:cNvSpPr>
          <p:nvPr/>
        </p:nvSpPr>
        <p:spPr>
          <a:xfrm>
            <a:off x="185179" y="773668"/>
            <a:ext cx="8915399"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a:t>
            </a:r>
          </a:p>
          <a:p>
            <a:pPr marL="12700" marR="5080"/>
            <a:r>
              <a:rPr lang="en-IN" sz="1800" dirty="0">
                <a:hlinkClick r:id="rId7"/>
              </a:rPr>
              <a:t>Workflow Patterns Home Page</a:t>
            </a:r>
            <a:endParaRPr lang="en-IN" sz="1800" dirty="0"/>
          </a:p>
          <a:p>
            <a:pPr marL="12700" marR="5080"/>
            <a:r>
              <a:rPr lang="en-US" sz="1800" dirty="0">
                <a:hlinkClick r:id="rId8"/>
              </a:rPr>
              <a:t>Awesome-Workflow-Engines:</a:t>
            </a:r>
            <a:endParaRPr lang="en-US" sz="1800" dirty="0"/>
          </a:p>
          <a:p>
            <a:pPr marL="12700" marR="5080"/>
            <a:r>
              <a:rPr lang="en-IN" sz="1800" dirty="0">
                <a:hlinkClick r:id="rId9"/>
              </a:rPr>
              <a:t>GeneratingRestAPIsWithProcessAndDataModel.pdf</a:t>
            </a:r>
            <a:endParaRPr lang="en-IN" sz="1800" dirty="0"/>
          </a:p>
          <a:p>
            <a:pPr marL="12700" marR="5080"/>
            <a:r>
              <a:rPr lang="en-IN" sz="1800" dirty="0">
                <a:hlinkClick r:id="rId10"/>
              </a:rPr>
              <a:t>Bernd Ruecker Books</a:t>
            </a:r>
            <a:endParaRPr lang="en-IN" sz="1800" dirty="0"/>
          </a:p>
          <a:p>
            <a:pPr marL="12700" marR="5080"/>
            <a:r>
              <a:rPr lang="en-US" sz="1800" dirty="0">
                <a:hlinkClick r:id="rId11"/>
              </a:rPr>
              <a:t>Windows Workflow Foundation for </a:t>
            </a:r>
            <a:r>
              <a:rPr lang="en-US" sz="1800" dirty="0" err="1">
                <a:hlinkClick r:id="rId11"/>
              </a:rPr>
              <a:t>.net</a:t>
            </a:r>
            <a:r>
              <a:rPr lang="en-US" sz="1800" dirty="0">
                <a:hlinkClick r:id="rId11"/>
              </a:rPr>
              <a:t> Core - Stack Overflow</a:t>
            </a:r>
            <a:endParaRPr lang="en-US" sz="1800" dirty="0"/>
          </a:p>
          <a:p>
            <a:pPr marL="12700" marR="5080"/>
            <a:r>
              <a:rPr lang="en-US" sz="1800" dirty="0">
                <a:hlinkClick r:id="rId12"/>
              </a:rPr>
              <a:t>Rehosted-Workflow-</a:t>
            </a:r>
            <a:r>
              <a:rPr lang="en-US" sz="1800" dirty="0" err="1">
                <a:hlinkClick r:id="rId12"/>
              </a:rPr>
              <a:t>Designe</a:t>
            </a:r>
            <a:endParaRPr lang="en-US" sz="1800" dirty="0"/>
          </a:p>
          <a:p>
            <a:pPr marL="12700" marR="5080"/>
            <a:r>
              <a:rPr lang="en-US" sz="1800" dirty="0">
                <a:hlinkClick r:id="rId13"/>
              </a:rPr>
              <a:t>.NET &amp; .NET Core Workflow Engine, Workflow Server</a:t>
            </a:r>
            <a:r>
              <a:rPr lang="en-US" sz="1800" kern="0" spc="-80" dirty="0">
                <a:solidFill>
                  <a:schemeClr val="accent2"/>
                </a:solidFill>
              </a:rPr>
              <a:t> &amp; </a:t>
            </a:r>
            <a:r>
              <a:rPr lang="en-US" sz="1800" dirty="0">
                <a:hlinkClick r:id="rId14"/>
              </a:rPr>
              <a:t>Elsa-workflows</a:t>
            </a:r>
            <a:endParaRPr lang="en-US" sz="1800" dirty="0"/>
          </a:p>
          <a:p>
            <a:pPr marL="12700" marR="5080"/>
            <a:r>
              <a:rPr lang="en-IN" sz="1800" dirty="0">
                <a:hlinkClick r:id="rId15"/>
              </a:rPr>
              <a:t>Orchestration vs Choreography</a:t>
            </a:r>
            <a:endParaRPr lang="en-IN" sz="1800" dirty="0"/>
          </a:p>
          <a:p>
            <a:pPr marL="12700" marR="5080"/>
            <a:r>
              <a:rPr lang="en-US" sz="1800" dirty="0">
                <a:hlinkClick r:id="rId16"/>
              </a:rPr>
              <a:t>ASP.NETMVC - Using Workflow Foundation in MVC3 to handle Page Flow (as in a Wizard) - Stack Overflow</a:t>
            </a:r>
            <a:endParaRPr lang="en-US" sz="1800" dirty="0"/>
          </a:p>
          <a:p>
            <a:pPr marL="12700" marR="5080"/>
            <a:r>
              <a:rPr lang="en-IN" sz="1800" dirty="0">
                <a:hlinkClick r:id="rId17"/>
              </a:rPr>
              <a:t>Orchestration Graphs</a:t>
            </a:r>
            <a:endParaRPr lang="en-IN" sz="1800" dirty="0"/>
          </a:p>
          <a:p>
            <a:pPr marL="12700" marR="5080"/>
            <a:r>
              <a:rPr lang="en-US" sz="1800" dirty="0">
                <a:hlinkClick r:id="rId18"/>
              </a:rPr>
              <a:t>Orchestrating ELT in Airflow: Scheduling vs. Orchestrating</a:t>
            </a:r>
            <a:endParaRPr lang="en-US" sz="1800" dirty="0"/>
          </a:p>
          <a:p>
            <a:pPr marL="12700" marR="5080"/>
            <a:r>
              <a:rPr lang="en-US" sz="1800" dirty="0">
                <a:hlinkClick r:id="rId19"/>
              </a:rPr>
              <a:t>Workflow Engines Comparisons - </a:t>
            </a:r>
            <a:r>
              <a:rPr lang="en-US" sz="1800" dirty="0" err="1">
                <a:hlinkClick r:id="rId19"/>
              </a:rPr>
              <a:t>Whats</a:t>
            </a:r>
            <a:r>
              <a:rPr lang="en-US" sz="1800" dirty="0">
                <a:hlinkClick r:id="rId19"/>
              </a:rPr>
              <a:t> the best workflow Orchestration</a:t>
            </a:r>
            <a:endParaRPr lang="en-US" sz="1800" kern="0" spc="-80" dirty="0">
              <a:solidFill>
                <a:schemeClr val="accent2"/>
              </a:solidFill>
            </a:endParaRPr>
          </a:p>
          <a:p>
            <a:pPr marL="12700" marR="5080"/>
            <a:r>
              <a:rPr lang="en-US" sz="1800" kern="0" spc="-80" dirty="0">
                <a:solidFill>
                  <a:schemeClr val="accent2"/>
                </a:solidFill>
              </a:rPr>
              <a:t>   </a:t>
            </a:r>
          </a:p>
        </p:txBody>
      </p:sp>
    </p:spTree>
    <p:extLst>
      <p:ext uri="{BB962C8B-B14F-4D97-AF65-F5344CB8AC3E}">
        <p14:creationId xmlns:p14="http://schemas.microsoft.com/office/powerpoint/2010/main" val="5752333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4EB0A-9C1D-5FE6-2D6B-0EC5BBEB90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CCCE56-96F5-25C6-1BD0-5E9CE83BD1A8}"/>
              </a:ext>
            </a:extLst>
          </p:cNvPr>
          <p:cNvSpPr/>
          <p:nvPr/>
        </p:nvSpPr>
        <p:spPr>
          <a:xfrm>
            <a:off x="1726564" y="6679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A7AD35-E31D-51B2-9211-68849996147B}"/>
              </a:ext>
            </a:extLst>
          </p:cNvPr>
          <p:cNvSpPr/>
          <p:nvPr/>
        </p:nvSpPr>
        <p:spPr>
          <a:xfrm>
            <a:off x="1726565" y="52805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C632EF7-EEE2-C9D4-848C-AA10DA6019A0}"/>
              </a:ext>
            </a:extLst>
          </p:cNvPr>
          <p:cNvGraphicFramePr/>
          <p:nvPr/>
        </p:nvGraphicFramePr>
        <p:xfrm>
          <a:off x="83367" y="71889"/>
          <a:ext cx="8770169"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A598653-D3C7-72E1-AAB5-2E26A024F3A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2BC784F-B056-53B6-F677-67264F990F0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D894017-D2AD-987A-7327-8B5E290D03C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D47BEFE-5464-B6C5-BA33-85CBD17B550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54B8180-EFBC-EAC4-23E9-A2F308473DA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3" name="object 2">
            <a:extLst>
              <a:ext uri="{FF2B5EF4-FFF2-40B4-BE49-F238E27FC236}">
                <a16:creationId xmlns:a16="http://schemas.microsoft.com/office/drawing/2014/main" id="{38EBF919-215D-CF71-408E-A71BD5EA6874}"/>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14" name="object 2">
            <a:extLst>
              <a:ext uri="{FF2B5EF4-FFF2-40B4-BE49-F238E27FC236}">
                <a16:creationId xmlns:a16="http://schemas.microsoft.com/office/drawing/2014/main" id="{090D37A5-F772-8092-FBF5-99D3EF3D3659}"/>
              </a:ext>
            </a:extLst>
          </p:cNvPr>
          <p:cNvSpPr txBox="1">
            <a:spLocks/>
          </p:cNvSpPr>
          <p:nvPr/>
        </p:nvSpPr>
        <p:spPr>
          <a:xfrm>
            <a:off x="83368" y="755809"/>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RPA vs BPM/Workflows</a:t>
            </a:r>
          </a:p>
        </p:txBody>
      </p:sp>
      <p:pic>
        <p:nvPicPr>
          <p:cNvPr id="11" name="Picture 10" descr="A screenshot of a computer screen&#10;&#10;AI-generated content may be incorrect.">
            <a:extLst>
              <a:ext uri="{FF2B5EF4-FFF2-40B4-BE49-F238E27FC236}">
                <a16:creationId xmlns:a16="http://schemas.microsoft.com/office/drawing/2014/main" id="{04401F58-3B18-B61B-8AD2-2E746C09B8B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367" y="1017419"/>
            <a:ext cx="8915399" cy="4854292"/>
          </a:xfrm>
          <a:prstGeom prst="rect">
            <a:avLst/>
          </a:prstGeom>
        </p:spPr>
      </p:pic>
    </p:spTree>
    <p:extLst>
      <p:ext uri="{BB962C8B-B14F-4D97-AF65-F5344CB8AC3E}">
        <p14:creationId xmlns:p14="http://schemas.microsoft.com/office/powerpoint/2010/main" val="28347958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78856-4948-C277-8D18-BA782AE3AB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01F50D-10A4-D413-286E-656812C69E4D}"/>
              </a:ext>
            </a:extLst>
          </p:cNvPr>
          <p:cNvSpPr/>
          <p:nvPr/>
        </p:nvSpPr>
        <p:spPr>
          <a:xfrm>
            <a:off x="1726564" y="6679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2572349-6950-CCF4-446F-DEDA05057A38}"/>
              </a:ext>
            </a:extLst>
          </p:cNvPr>
          <p:cNvSpPr/>
          <p:nvPr/>
        </p:nvSpPr>
        <p:spPr>
          <a:xfrm>
            <a:off x="1726565" y="52805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4886CC7-864A-915E-719C-E19C606578C2}"/>
              </a:ext>
            </a:extLst>
          </p:cNvPr>
          <p:cNvGraphicFramePr/>
          <p:nvPr/>
        </p:nvGraphicFramePr>
        <p:xfrm>
          <a:off x="83367" y="71889"/>
          <a:ext cx="8770169"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A2C12F4-530E-7CA4-5BEB-CD25B962F77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C035FF9-E2EE-3465-2679-564FB3955F7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5515553-F139-F158-746D-974F4B43902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5E78BCE-6780-350B-9650-0199B13456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C93ECC2-A9D5-AD79-3FB2-8F84B7C894E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3" name="object 2">
            <a:extLst>
              <a:ext uri="{FF2B5EF4-FFF2-40B4-BE49-F238E27FC236}">
                <a16:creationId xmlns:a16="http://schemas.microsoft.com/office/drawing/2014/main" id="{E434FB17-0A43-2A5D-46F8-43E7DD24F309}"/>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14" name="object 2">
            <a:extLst>
              <a:ext uri="{FF2B5EF4-FFF2-40B4-BE49-F238E27FC236}">
                <a16:creationId xmlns:a16="http://schemas.microsoft.com/office/drawing/2014/main" id="{384DD93E-9625-0849-EB50-BF3CA0FB0893}"/>
              </a:ext>
            </a:extLst>
          </p:cNvPr>
          <p:cNvSpPr txBox="1">
            <a:spLocks/>
          </p:cNvSpPr>
          <p:nvPr/>
        </p:nvSpPr>
        <p:spPr>
          <a:xfrm>
            <a:off x="83368" y="755809"/>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RPA vs BPM/Workflows</a:t>
            </a:r>
          </a:p>
        </p:txBody>
      </p:sp>
      <p:pic>
        <p:nvPicPr>
          <p:cNvPr id="22" name="Picture 21" descr="A table with text on it&#10;&#10;AI-generated content may be incorrect.">
            <a:extLst>
              <a:ext uri="{FF2B5EF4-FFF2-40B4-BE49-F238E27FC236}">
                <a16:creationId xmlns:a16="http://schemas.microsoft.com/office/drawing/2014/main" id="{CEC291BE-CF53-814F-6433-0201E29382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366" y="1035278"/>
            <a:ext cx="9060633" cy="4836433"/>
          </a:xfrm>
          <a:prstGeom prst="rect">
            <a:avLst/>
          </a:prstGeom>
        </p:spPr>
      </p:pic>
    </p:spTree>
    <p:extLst>
      <p:ext uri="{BB962C8B-B14F-4D97-AF65-F5344CB8AC3E}">
        <p14:creationId xmlns:p14="http://schemas.microsoft.com/office/powerpoint/2010/main" val="22062621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37A5A-6329-2242-C7FC-32ECEA776D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23BC1A-E671-084E-0616-9B2496665210}"/>
              </a:ext>
            </a:extLst>
          </p:cNvPr>
          <p:cNvSpPr/>
          <p:nvPr/>
        </p:nvSpPr>
        <p:spPr>
          <a:xfrm>
            <a:off x="1726564" y="6679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8D2551-81F9-C4E6-A0C6-9C8DA287BD6F}"/>
              </a:ext>
            </a:extLst>
          </p:cNvPr>
          <p:cNvSpPr/>
          <p:nvPr/>
        </p:nvSpPr>
        <p:spPr>
          <a:xfrm>
            <a:off x="1726565" y="52805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8F5F06-9D9C-AF86-2C9B-593AC67430D4}"/>
              </a:ext>
            </a:extLst>
          </p:cNvPr>
          <p:cNvGraphicFramePr/>
          <p:nvPr/>
        </p:nvGraphicFramePr>
        <p:xfrm>
          <a:off x="83367" y="71889"/>
          <a:ext cx="8770169"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63D9E6E-BB05-9FFD-3AB0-55DAF496D4A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F341017-C4C3-9E36-C7FA-1C383858302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D2219D9-CC9F-69D1-11F9-A84DAD65395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A333777-E370-213E-C547-B961B91E2E0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9B4346A-3321-B499-4586-36DD9BA5BD3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3" name="object 2">
            <a:extLst>
              <a:ext uri="{FF2B5EF4-FFF2-40B4-BE49-F238E27FC236}">
                <a16:creationId xmlns:a16="http://schemas.microsoft.com/office/drawing/2014/main" id="{1A5D5710-6FC0-488F-1A93-A99B18F6DF98}"/>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14" name="object 2">
            <a:extLst>
              <a:ext uri="{FF2B5EF4-FFF2-40B4-BE49-F238E27FC236}">
                <a16:creationId xmlns:a16="http://schemas.microsoft.com/office/drawing/2014/main" id="{0DAD8FDF-B127-D0B8-05C3-0C970B2E4060}"/>
              </a:ext>
            </a:extLst>
          </p:cNvPr>
          <p:cNvSpPr txBox="1">
            <a:spLocks/>
          </p:cNvSpPr>
          <p:nvPr/>
        </p:nvSpPr>
        <p:spPr>
          <a:xfrm>
            <a:off x="83368" y="755809"/>
            <a:ext cx="8915399" cy="18312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RPA vs BPM/Workflows</a:t>
            </a:r>
          </a:p>
          <a:p>
            <a:pPr marL="12700" marR="5080"/>
            <a:r>
              <a:rPr lang="en-US" sz="1700" kern="0" spc="-80" dirty="0">
                <a:solidFill>
                  <a:schemeClr val="accent2"/>
                </a:solidFill>
              </a:rPr>
              <a:t>🧠 In Simple Terms</a:t>
            </a:r>
          </a:p>
          <a:p>
            <a:pPr marL="12700" marR="5080"/>
            <a:r>
              <a:rPr lang="en-US" sz="1700" kern="0" spc="-80" dirty="0">
                <a:solidFill>
                  <a:schemeClr val="accent6"/>
                </a:solidFill>
              </a:rPr>
              <a:t>RPA = Digital hands → Emulates what a human does on a computer screen.</a:t>
            </a:r>
          </a:p>
          <a:p>
            <a:pPr marL="12700" marR="5080"/>
            <a:r>
              <a:rPr lang="en-US" sz="1700" kern="0" spc="-80" dirty="0">
                <a:solidFill>
                  <a:schemeClr val="accent6"/>
                </a:solidFill>
              </a:rPr>
              <a:t>Workflow = Digital brain → Controls the sequence of tasks and decisions between systems and people.</a:t>
            </a:r>
          </a:p>
          <a:p>
            <a:pPr marL="12700" marR="5080"/>
            <a:r>
              <a:rPr lang="en-US" sz="1700" kern="0" spc="-80" dirty="0">
                <a:solidFill>
                  <a:schemeClr val="accent2"/>
                </a:solidFill>
              </a:rPr>
              <a:t>🧩 Example</a:t>
            </a:r>
          </a:p>
          <a:p>
            <a:pPr marL="12700" marR="5080"/>
            <a:r>
              <a:rPr lang="en-US" sz="1700" kern="0" spc="-80" dirty="0">
                <a:solidFill>
                  <a:schemeClr val="accent2"/>
                </a:solidFill>
              </a:rPr>
              <a:t>Let’s take an Invoice Processing scenario:</a:t>
            </a:r>
          </a:p>
        </p:txBody>
      </p:sp>
      <p:pic>
        <p:nvPicPr>
          <p:cNvPr id="18" name="Picture 17" descr="A screenshot of a computer screen&#10;&#10;AI-generated content may be incorrect.">
            <a:extLst>
              <a:ext uri="{FF2B5EF4-FFF2-40B4-BE49-F238E27FC236}">
                <a16:creationId xmlns:a16="http://schemas.microsoft.com/office/drawing/2014/main" id="{28AADB11-6BC7-A0C7-AFB3-9C49F3B8EC0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2587081"/>
            <a:ext cx="8998767" cy="3284630"/>
          </a:xfrm>
          <a:prstGeom prst="rect">
            <a:avLst/>
          </a:prstGeom>
        </p:spPr>
      </p:pic>
    </p:spTree>
    <p:extLst>
      <p:ext uri="{BB962C8B-B14F-4D97-AF65-F5344CB8AC3E}">
        <p14:creationId xmlns:p14="http://schemas.microsoft.com/office/powerpoint/2010/main" val="4983730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752E6-02D4-6445-D1A3-286BFF3DF9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36EC51-5232-F266-21F8-08F14A508B8D}"/>
              </a:ext>
            </a:extLst>
          </p:cNvPr>
          <p:cNvSpPr/>
          <p:nvPr/>
        </p:nvSpPr>
        <p:spPr>
          <a:xfrm>
            <a:off x="1726564" y="6679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8AD21A-C5DA-C881-C42F-4434E5A35CC9}"/>
              </a:ext>
            </a:extLst>
          </p:cNvPr>
          <p:cNvSpPr/>
          <p:nvPr/>
        </p:nvSpPr>
        <p:spPr>
          <a:xfrm>
            <a:off x="1726565" y="52805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8B4E874-4AFA-4D35-9588-0472AD864021}"/>
              </a:ext>
            </a:extLst>
          </p:cNvPr>
          <p:cNvGraphicFramePr/>
          <p:nvPr/>
        </p:nvGraphicFramePr>
        <p:xfrm>
          <a:off x="83367" y="71889"/>
          <a:ext cx="8770169"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AF2F766-AC25-C918-E1B4-74FE503833F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EF6462B-8142-A015-813A-89F8C7F5A03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8C10C41-28F0-06C3-4D9C-1890A8AC608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E0D215A-4BDB-D404-13E8-23979B00EE7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B6F4160-A2AF-E346-7D3B-614DAAC5E00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3" name="object 2">
            <a:extLst>
              <a:ext uri="{FF2B5EF4-FFF2-40B4-BE49-F238E27FC236}">
                <a16:creationId xmlns:a16="http://schemas.microsoft.com/office/drawing/2014/main" id="{BF580A37-A866-5427-C3BE-222160F38DBE}"/>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14" name="object 2">
            <a:extLst>
              <a:ext uri="{FF2B5EF4-FFF2-40B4-BE49-F238E27FC236}">
                <a16:creationId xmlns:a16="http://schemas.microsoft.com/office/drawing/2014/main" id="{C35AFDA0-E38D-116D-5920-B778E0898DB2}"/>
              </a:ext>
            </a:extLst>
          </p:cNvPr>
          <p:cNvSpPr txBox="1">
            <a:spLocks/>
          </p:cNvSpPr>
          <p:nvPr/>
        </p:nvSpPr>
        <p:spPr>
          <a:xfrm>
            <a:off x="83368" y="755809"/>
            <a:ext cx="8915399"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RPA vs BPM/Workflows</a:t>
            </a:r>
          </a:p>
          <a:p>
            <a:pPr marL="12700" marR="5080"/>
            <a:r>
              <a:rPr lang="en-US" sz="1700" kern="0" spc="-80" dirty="0">
                <a:solidFill>
                  <a:schemeClr val="accent6"/>
                </a:solidFill>
              </a:rPr>
              <a:t>👉 In practice, RPA bots can perform the repetitive, UI-based steps inside a larger workflow orchestration.</a:t>
            </a:r>
          </a:p>
          <a:p>
            <a:pPr marL="12700" marR="5080"/>
            <a:r>
              <a:rPr lang="en-US" sz="1700" kern="0" spc="-80" dirty="0">
                <a:solidFill>
                  <a:schemeClr val="accent2"/>
                </a:solidFill>
              </a:rPr>
              <a:t>🧩 When to Use What</a:t>
            </a:r>
          </a:p>
          <a:p>
            <a:pPr marL="12700" marR="5080"/>
            <a:r>
              <a:rPr lang="en-US" sz="1700" kern="0" spc="-80" dirty="0">
                <a:solidFill>
                  <a:schemeClr val="accent2"/>
                </a:solidFill>
              </a:rPr>
              <a:t>Scenario	Best Choice</a:t>
            </a:r>
          </a:p>
          <a:p>
            <a:pPr marL="12700" marR="5080"/>
            <a:r>
              <a:rPr lang="en-US" sz="1700" kern="0" spc="-80" dirty="0">
                <a:solidFill>
                  <a:schemeClr val="accent6"/>
                </a:solidFill>
              </a:rPr>
              <a:t>No API access, legacy applications, repetitive UI tasks	-&gt; RPA</a:t>
            </a:r>
          </a:p>
          <a:p>
            <a:pPr marL="12700" marR="5080"/>
            <a:r>
              <a:rPr lang="en-US" sz="1700" kern="0" spc="-80" dirty="0">
                <a:solidFill>
                  <a:schemeClr val="accent6"/>
                </a:solidFill>
              </a:rPr>
              <a:t>Modern systems with APIs, business rules, human approvals- &gt; Workflow Automation</a:t>
            </a:r>
          </a:p>
          <a:p>
            <a:pPr marL="12700" marR="5080"/>
            <a:r>
              <a:rPr lang="en-US" sz="1700" kern="0" spc="-80" dirty="0">
                <a:solidFill>
                  <a:schemeClr val="accent6"/>
                </a:solidFill>
              </a:rPr>
              <a:t>Need full process automation across both types of systems  -&gt;	Combine RPA + Workflow Orchestration</a:t>
            </a:r>
          </a:p>
          <a:p>
            <a:pPr marL="12700" marR="5080"/>
            <a:r>
              <a:rPr lang="en-US" sz="1700" kern="0" spc="-80" dirty="0">
                <a:solidFill>
                  <a:schemeClr val="accent2"/>
                </a:solidFill>
              </a:rPr>
              <a:t>🧠 Architectural Integration</a:t>
            </a:r>
          </a:p>
          <a:p>
            <a:pPr marL="12700" marR="5080"/>
            <a:r>
              <a:rPr lang="en-US" sz="1700" kern="0" spc="-80" dirty="0">
                <a:solidFill>
                  <a:schemeClr val="accent2"/>
                </a:solidFill>
              </a:rPr>
              <a:t>In an Intelligent Automation architecture:</a:t>
            </a:r>
          </a:p>
          <a:p>
            <a:pPr marL="12700" marR="5080"/>
            <a:r>
              <a:rPr lang="en-US" sz="1700" kern="0" spc="-80" dirty="0">
                <a:solidFill>
                  <a:schemeClr val="accent6"/>
                </a:solidFill>
              </a:rPr>
              <a:t>Workflow Orchestrator calls RPA bots when a task involves UI-based interaction.</a:t>
            </a:r>
          </a:p>
          <a:p>
            <a:pPr marL="12700" marR="5080"/>
            <a:r>
              <a:rPr lang="en-US" sz="1700" kern="0" spc="-80" dirty="0">
                <a:solidFill>
                  <a:schemeClr val="accent6"/>
                </a:solidFill>
              </a:rPr>
              <a:t>RPA Bots return results to the orchestrator, which continues the business flow.</a:t>
            </a:r>
          </a:p>
          <a:p>
            <a:pPr marL="12700" marR="5080"/>
            <a:r>
              <a:rPr lang="en-US" sz="1700" kern="0" spc="-80" dirty="0">
                <a:solidFill>
                  <a:schemeClr val="accent2"/>
                </a:solidFill>
              </a:rPr>
              <a:t>Example:</a:t>
            </a:r>
          </a:p>
          <a:p>
            <a:pPr marL="12700" marR="5080"/>
            <a:r>
              <a:rPr lang="en-US" sz="1700" kern="0" spc="-80" dirty="0">
                <a:solidFill>
                  <a:schemeClr val="accent6"/>
                </a:solidFill>
              </a:rPr>
              <a:t>Workflow Engine (Camunda / Logic App) → triggers → RPA Bot (UiPath) → completes UI task → returns → workflow continues to next step. </a:t>
            </a:r>
          </a:p>
        </p:txBody>
      </p:sp>
    </p:spTree>
    <p:extLst>
      <p:ext uri="{BB962C8B-B14F-4D97-AF65-F5344CB8AC3E}">
        <p14:creationId xmlns:p14="http://schemas.microsoft.com/office/powerpoint/2010/main" val="31415285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ACAC6-0EA3-67F4-C899-B0DEA4343C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54100E1-17CF-2162-D743-A76CCB845B07}"/>
              </a:ext>
            </a:extLst>
          </p:cNvPr>
          <p:cNvSpPr/>
          <p:nvPr/>
        </p:nvSpPr>
        <p:spPr>
          <a:xfrm>
            <a:off x="1726564" y="6679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6091616-3776-6E92-D712-5D3C14DB53E5}"/>
              </a:ext>
            </a:extLst>
          </p:cNvPr>
          <p:cNvSpPr/>
          <p:nvPr/>
        </p:nvSpPr>
        <p:spPr>
          <a:xfrm>
            <a:off x="1726565" y="52805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09A9D8-A88E-D0D0-C2E0-88AD54785E85}"/>
              </a:ext>
            </a:extLst>
          </p:cNvPr>
          <p:cNvGraphicFramePr/>
          <p:nvPr/>
        </p:nvGraphicFramePr>
        <p:xfrm>
          <a:off x="83367" y="71889"/>
          <a:ext cx="8770169"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22ECC08-BC63-021B-98B1-EF95953EE65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F81C8D5-A0CC-AAB1-C3F9-81186C311FB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7CDB8BE-6586-6412-E28B-BC5DB633F8E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AAFC145-8D39-C114-3F3E-DD7D2004997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4AD2930-D9D4-A75F-C36C-B2671865BD2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3" name="object 2">
            <a:extLst>
              <a:ext uri="{FF2B5EF4-FFF2-40B4-BE49-F238E27FC236}">
                <a16:creationId xmlns:a16="http://schemas.microsoft.com/office/drawing/2014/main" id="{25BF02B0-74F6-F564-80AE-2890253DBD84}"/>
              </a:ext>
            </a:extLst>
          </p:cNvPr>
          <p:cNvSpPr txBox="1">
            <a:spLocks/>
          </p:cNvSpPr>
          <p:nvPr/>
        </p:nvSpPr>
        <p:spPr>
          <a:xfrm>
            <a:off x="228600" y="48122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p:txBody>
      </p:sp>
      <p:sp>
        <p:nvSpPr>
          <p:cNvPr id="9" name="object 2">
            <a:extLst>
              <a:ext uri="{FF2B5EF4-FFF2-40B4-BE49-F238E27FC236}">
                <a16:creationId xmlns:a16="http://schemas.microsoft.com/office/drawing/2014/main" id="{16B69616-B994-77CB-BFB5-096AB1F7E01B}"/>
              </a:ext>
            </a:extLst>
          </p:cNvPr>
          <p:cNvSpPr txBox="1">
            <a:spLocks/>
          </p:cNvSpPr>
          <p:nvPr/>
        </p:nvSpPr>
        <p:spPr>
          <a:xfrm>
            <a:off x="83367" y="822738"/>
            <a:ext cx="8915399" cy="19236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 </a:t>
            </a:r>
          </a:p>
          <a:p>
            <a:pPr marL="12700" marR="5080"/>
            <a:r>
              <a:rPr lang="en-US" sz="1800" dirty="0">
                <a:hlinkClick r:id="rId8"/>
              </a:rPr>
              <a:t>Robotic Process Automation (RPA) Architecture</a:t>
            </a:r>
            <a:endParaRPr lang="en-US" sz="1800" dirty="0"/>
          </a:p>
          <a:p>
            <a:pPr marL="12700" marR="5080"/>
            <a:r>
              <a:rPr lang="en-IN" sz="1800" dirty="0">
                <a:hlinkClick r:id="rId9"/>
              </a:rPr>
              <a:t>IBM RPA architecture - IBM Documentation</a:t>
            </a:r>
            <a:endParaRPr lang="en-IN" sz="1800" dirty="0"/>
          </a:p>
          <a:p>
            <a:pPr marL="12700" marR="5080"/>
            <a:r>
              <a:rPr lang="en-US" sz="1800" dirty="0">
                <a:hlinkClick r:id="rId10"/>
              </a:rPr>
              <a:t>RPA Architecture | Complete Guide on RPA Architecture</a:t>
            </a:r>
            <a:endParaRPr lang="en-IN" sz="1800" dirty="0"/>
          </a:p>
          <a:p>
            <a:pPr marL="12700" marR="5080"/>
            <a:r>
              <a:rPr lang="en-US" sz="1800" dirty="0">
                <a:hlinkClick r:id="rId11"/>
              </a:rPr>
              <a:t>RPA Architecture | A Complete Guide to How RPA Works</a:t>
            </a:r>
            <a:endParaRPr lang="en-US" sz="1700" kern="0" spc="-80" dirty="0">
              <a:solidFill>
                <a:schemeClr val="accent2"/>
              </a:solidFill>
            </a:endParaRPr>
          </a:p>
          <a:p>
            <a:pPr marL="12700" marR="5080"/>
            <a:r>
              <a:rPr lang="en-US" sz="1800" dirty="0" err="1">
                <a:hlinkClick r:id="rId12"/>
              </a:rPr>
              <a:t>RPA_Developer_Roadmap</a:t>
            </a:r>
            <a:endParaRPr lang="en-US" sz="1800" dirty="0"/>
          </a:p>
          <a:p>
            <a:pPr marL="12700" marR="5080"/>
            <a:r>
              <a:rPr lang="en-US" sz="1800" dirty="0">
                <a:hlinkClick r:id="rId13"/>
              </a:rPr>
              <a:t>RPA Solution Architect's Handbook</a:t>
            </a:r>
            <a:endParaRPr lang="en-US" sz="1700" kern="0" spc="-80" dirty="0">
              <a:solidFill>
                <a:schemeClr val="accent2"/>
              </a:solidFill>
            </a:endParaRPr>
          </a:p>
        </p:txBody>
      </p:sp>
    </p:spTree>
    <p:extLst>
      <p:ext uri="{BB962C8B-B14F-4D97-AF65-F5344CB8AC3E}">
        <p14:creationId xmlns:p14="http://schemas.microsoft.com/office/powerpoint/2010/main" val="34105683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71014"/>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15 Factors App</a:t>
            </a:r>
          </a:p>
        </p:txBody>
      </p:sp>
      <p:pic>
        <p:nvPicPr>
          <p:cNvPr id="24578" name="Picture 2" descr="12- Factor apps/15- Factor Apps of Modern Cloud Native application – Modern  Applications with Cloudification Zone">
            <a:extLst>
              <a:ext uri="{FF2B5EF4-FFF2-40B4-BE49-F238E27FC236}">
                <a16:creationId xmlns:a16="http://schemas.microsoft.com/office/drawing/2014/main" id="{E5847AC8-AB9F-3D7A-7060-905CD78F8E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01759"/>
            <a:ext cx="9144000" cy="4079841"/>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D844A7B1-E550-0B17-B5D4-E0FB5CF44D9B}"/>
              </a:ext>
            </a:extLst>
          </p:cNvPr>
          <p:cNvSpPr txBox="1">
            <a:spLocks/>
          </p:cNvSpPr>
          <p:nvPr/>
        </p:nvSpPr>
        <p:spPr>
          <a:xfrm>
            <a:off x="0" y="5112603"/>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12- Factor apps/15- Factor Apps of Modern Cloud Native application</a:t>
            </a:r>
            <a:endParaRPr lang="en-US" sz="1500" dirty="0"/>
          </a:p>
          <a:p>
            <a:pPr marL="12700" marR="5080"/>
            <a:r>
              <a:rPr lang="en-US" sz="1500" kern="0" spc="-80" dirty="0">
                <a:solidFill>
                  <a:schemeClr val="accent2"/>
                </a:solidFill>
              </a:rPr>
              <a:t> </a:t>
            </a:r>
            <a:r>
              <a:rPr lang="en-US" sz="1500" dirty="0">
                <a:hlinkClick r:id="rId9"/>
              </a:rPr>
              <a:t>Cloud native Fifteen Factor Apps - Nilesh Gule's Technical Blog</a:t>
            </a:r>
            <a:endParaRPr lang="en-US" sz="1500" kern="0" spc="-80" dirty="0">
              <a:solidFill>
                <a:schemeClr val="accent2"/>
              </a:solidFill>
            </a:endParaRPr>
          </a:p>
        </p:txBody>
      </p:sp>
    </p:spTree>
    <p:extLst>
      <p:ext uri="{BB962C8B-B14F-4D97-AF65-F5344CB8AC3E}">
        <p14:creationId xmlns:p14="http://schemas.microsoft.com/office/powerpoint/2010/main" val="22810788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70215"/>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Project Structure</a:t>
            </a:r>
          </a:p>
        </p:txBody>
      </p:sp>
      <p:pic>
        <p:nvPicPr>
          <p:cNvPr id="27650" name="Picture 2" descr=".NET project with existing projects in a different folder diagram">
            <a:extLst>
              <a:ext uri="{FF2B5EF4-FFF2-40B4-BE49-F238E27FC236}">
                <a16:creationId xmlns:a16="http://schemas.microsoft.com/office/drawing/2014/main" id="{7296296B-597E-94A2-8E35-B41C214DD6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95399"/>
            <a:ext cx="9144000" cy="4038601"/>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24B9F20F-F9B5-9667-450E-553994658182}"/>
              </a:ext>
            </a:extLst>
          </p:cNvPr>
          <p:cNvSpPr txBox="1">
            <a:spLocks/>
          </p:cNvSpPr>
          <p:nvPr/>
        </p:nvSpPr>
        <p:spPr>
          <a:xfrm>
            <a:off x="61863" y="52518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Organize projects for .NET Framework and .NET - .NET Core | Microsoft Learn</a:t>
            </a:r>
            <a:r>
              <a:rPr lang="en-US" sz="1600" kern="0" spc="-80" dirty="0">
                <a:solidFill>
                  <a:schemeClr val="accent2"/>
                </a:solidFill>
              </a:rPr>
              <a:t>   </a:t>
            </a:r>
          </a:p>
        </p:txBody>
      </p:sp>
    </p:spTree>
    <p:extLst>
      <p:ext uri="{BB962C8B-B14F-4D97-AF65-F5344CB8AC3E}">
        <p14:creationId xmlns:p14="http://schemas.microsoft.com/office/powerpoint/2010/main" val="20609697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66354"/>
            <a:ext cx="8762306" cy="38779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Dependency Management Tools</a:t>
            </a:r>
          </a:p>
          <a:p>
            <a:pPr algn="l">
              <a:buFont typeface="Arial" panose="020B0604020202020204" pitchFamily="34" charset="0"/>
              <a:buChar char="•"/>
            </a:pPr>
            <a:r>
              <a:rPr lang="en-IN" sz="2400" kern="0" spc="-80" dirty="0">
                <a:solidFill>
                  <a:schemeClr val="accent2"/>
                </a:solidFill>
              </a:rPr>
              <a:t>Pip</a:t>
            </a:r>
            <a:r>
              <a:rPr lang="en-IN" sz="2000" kern="0" spc="-80" dirty="0">
                <a:solidFill>
                  <a:schemeClr val="accent6"/>
                </a:solidFill>
              </a:rPr>
              <a:t> installs system and project-level Python packages.</a:t>
            </a:r>
          </a:p>
          <a:p>
            <a:pPr algn="l">
              <a:buFont typeface="Arial" panose="020B0604020202020204" pitchFamily="34" charset="0"/>
              <a:buChar char="•"/>
            </a:pPr>
            <a:r>
              <a:rPr lang="en-IN" sz="2400" kern="0" spc="-80" dirty="0">
                <a:solidFill>
                  <a:schemeClr val="accent2"/>
                </a:solidFill>
              </a:rPr>
              <a:t>Maven</a:t>
            </a:r>
            <a:r>
              <a:rPr lang="en-IN" sz="2000" kern="0" spc="-80" dirty="0">
                <a:solidFill>
                  <a:schemeClr val="accent6"/>
                </a:solidFill>
              </a:rPr>
              <a:t> manages dependencies and the build process for Java projects.</a:t>
            </a:r>
          </a:p>
          <a:p>
            <a:pPr algn="l">
              <a:buFont typeface="Arial" panose="020B0604020202020204" pitchFamily="34" charset="0"/>
              <a:buChar char="•"/>
            </a:pPr>
            <a:r>
              <a:rPr lang="en-IN" sz="2400" kern="0" spc="-80" dirty="0">
                <a:solidFill>
                  <a:schemeClr val="accent2"/>
                </a:solidFill>
              </a:rPr>
              <a:t>Homebrew</a:t>
            </a:r>
            <a:r>
              <a:rPr lang="en-IN" sz="2000" kern="0" spc="-80" dirty="0">
                <a:solidFill>
                  <a:schemeClr val="accent6"/>
                </a:solidFill>
              </a:rPr>
              <a:t> simplifies package installation for Mac and Linux operating systems.</a:t>
            </a:r>
          </a:p>
          <a:p>
            <a:pPr algn="l">
              <a:buFont typeface="Arial" panose="020B0604020202020204" pitchFamily="34" charset="0"/>
              <a:buChar char="•"/>
            </a:pPr>
            <a:r>
              <a:rPr lang="en-IN" sz="2400" kern="0" spc="-80" dirty="0" err="1">
                <a:solidFill>
                  <a:schemeClr val="accent2"/>
                </a:solidFill>
              </a:rPr>
              <a:t>Npm</a:t>
            </a:r>
            <a:r>
              <a:rPr lang="en-IN" sz="2000" kern="0" spc="-80" dirty="0">
                <a:solidFill>
                  <a:schemeClr val="accent6"/>
                </a:solidFill>
              </a:rPr>
              <a:t> installs and tracks JavaScript dependencies.</a:t>
            </a:r>
          </a:p>
          <a:p>
            <a:pPr algn="l">
              <a:buFont typeface="Arial" panose="020B0604020202020204" pitchFamily="34" charset="0"/>
              <a:buChar char="•"/>
            </a:pPr>
            <a:r>
              <a:rPr lang="en-IN" sz="2400" kern="0" spc="-80" dirty="0">
                <a:solidFill>
                  <a:schemeClr val="accent2"/>
                </a:solidFill>
              </a:rPr>
              <a:t>NuGet</a:t>
            </a:r>
            <a:r>
              <a:rPr lang="en-IN" sz="2000" kern="0" spc="-80" dirty="0">
                <a:solidFill>
                  <a:schemeClr val="accent6"/>
                </a:solidFill>
              </a:rPr>
              <a:t> manages dependencies for .NET projects.</a:t>
            </a:r>
          </a:p>
          <a:p>
            <a:pPr algn="l">
              <a:buFont typeface="Arial" panose="020B0604020202020204" pitchFamily="34" charset="0"/>
              <a:buChar char="•"/>
            </a:pPr>
            <a:r>
              <a:rPr lang="en-IN" sz="2400" kern="0" spc="-80" dirty="0">
                <a:solidFill>
                  <a:schemeClr val="accent2"/>
                </a:solidFill>
              </a:rPr>
              <a:t>Gradle</a:t>
            </a:r>
            <a:r>
              <a:rPr lang="en-IN" sz="2000" kern="0" spc="-80" dirty="0">
                <a:solidFill>
                  <a:schemeClr val="accent6"/>
                </a:solidFill>
              </a:rPr>
              <a:t> manages dependencies and the build process for Java projects</a:t>
            </a:r>
            <a:r>
              <a:rPr lang="en-IN" sz="1400" b="0" i="0" dirty="0">
                <a:solidFill>
                  <a:srgbClr val="3A3B41"/>
                </a:solidFill>
                <a:effectLst/>
                <a:latin typeface="Georgia" panose="02040502050405020303" pitchFamily="18" charset="0"/>
              </a:rPr>
              <a:t>.</a:t>
            </a:r>
          </a:p>
          <a:p>
            <a:pPr marL="12700" marR="5080"/>
            <a:endParaRPr lang="en-US" sz="2400" kern="0" spc="-80" dirty="0">
              <a:solidFill>
                <a:schemeClr val="accent2"/>
              </a:solidFill>
            </a:endParaRP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7370" y="4566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How to Choose Between Package Managers: Maven, Gradle and More | Built In</a:t>
            </a:r>
            <a:endParaRPr lang="en-US" sz="1500" kern="0" spc="-80" dirty="0">
              <a:solidFill>
                <a:schemeClr val="accent2"/>
              </a:solidFill>
            </a:endParaRPr>
          </a:p>
        </p:txBody>
      </p:sp>
    </p:spTree>
    <p:extLst>
      <p:ext uri="{BB962C8B-B14F-4D97-AF65-F5344CB8AC3E}">
        <p14:creationId xmlns:p14="http://schemas.microsoft.com/office/powerpoint/2010/main" val="10357151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70215"/>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Code Quality Tools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11" name="Picture 10">
            <a:extLst>
              <a:ext uri="{FF2B5EF4-FFF2-40B4-BE49-F238E27FC236}">
                <a16:creationId xmlns:a16="http://schemas.microsoft.com/office/drawing/2014/main" id="{191F733F-A4BF-EFF0-E673-954721A3F111}"/>
              </a:ext>
            </a:extLst>
          </p:cNvPr>
          <p:cNvPicPr>
            <a:picLocks noChangeAspect="1"/>
          </p:cNvPicPr>
          <p:nvPr/>
        </p:nvPicPr>
        <p:blipFill>
          <a:blip r:embed="rId7"/>
          <a:stretch>
            <a:fillRect/>
          </a:stretch>
        </p:blipFill>
        <p:spPr>
          <a:xfrm>
            <a:off x="138063" y="1295400"/>
            <a:ext cx="8715474" cy="4495800"/>
          </a:xfrm>
          <a:prstGeom prst="rect">
            <a:avLst/>
          </a:prstGeom>
        </p:spPr>
      </p:pic>
    </p:spTree>
    <p:extLst>
      <p:ext uri="{BB962C8B-B14F-4D97-AF65-F5344CB8AC3E}">
        <p14:creationId xmlns:p14="http://schemas.microsoft.com/office/powerpoint/2010/main" val="181735382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SCA(Software Composition Analysis)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29698" name="Picture 2" descr="Software Composition Analysis: A Matter of Perspective (and Experience)">
            <a:extLst>
              <a:ext uri="{FF2B5EF4-FFF2-40B4-BE49-F238E27FC236}">
                <a16:creationId xmlns:a16="http://schemas.microsoft.com/office/drawing/2014/main" id="{A4876266-BD10-FB07-26B2-9EBAC0F990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66800"/>
            <a:ext cx="9144000" cy="412170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239A9DC-AA32-BDD4-4C63-962A7DA433DC}"/>
              </a:ext>
            </a:extLst>
          </p:cNvPr>
          <p:cNvSpPr txBox="1">
            <a:spLocks/>
          </p:cNvSpPr>
          <p:nvPr/>
        </p:nvSpPr>
        <p:spPr>
          <a:xfrm>
            <a:off x="137370" y="52578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What is Software Composition Analysis (SCA)? | Black Duck</a:t>
            </a:r>
            <a:endParaRPr lang="en-US" sz="1500" kern="0" spc="-80" dirty="0">
              <a:solidFill>
                <a:schemeClr val="accent2"/>
              </a:solidFill>
            </a:endParaRPr>
          </a:p>
        </p:txBody>
      </p:sp>
    </p:spTree>
    <p:extLst>
      <p:ext uri="{BB962C8B-B14F-4D97-AF65-F5344CB8AC3E}">
        <p14:creationId xmlns:p14="http://schemas.microsoft.com/office/powerpoint/2010/main" val="6506623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Build Tools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B239A9DC-AA32-BDD4-4C63-962A7DA433DC}"/>
              </a:ext>
            </a:extLst>
          </p:cNvPr>
          <p:cNvSpPr txBox="1">
            <a:spLocks/>
          </p:cNvSpPr>
          <p:nvPr/>
        </p:nvSpPr>
        <p:spPr>
          <a:xfrm>
            <a:off x="137370" y="50292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Top 10 Build Management Tools updated 2020 - DevOpsSchool.com</a:t>
            </a:r>
            <a:r>
              <a:rPr lang="en-US" sz="1500" kern="0" spc="-80" dirty="0">
                <a:solidFill>
                  <a:schemeClr val="accent2"/>
                </a:solidFill>
              </a:rPr>
              <a:t> </a:t>
            </a:r>
          </a:p>
          <a:p>
            <a:pPr marL="12700" marR="5080"/>
            <a:r>
              <a:rPr lang="en-US" sz="1500" dirty="0">
                <a:hlinkClick r:id="rId8"/>
              </a:rPr>
              <a:t>Use the </a:t>
            </a:r>
            <a:r>
              <a:rPr lang="en-US" sz="1500" dirty="0" err="1">
                <a:hlinkClick r:id="rId8"/>
              </a:rPr>
              <a:t>MSBuild</a:t>
            </a:r>
            <a:r>
              <a:rPr lang="en-US" sz="1500" dirty="0">
                <a:hlinkClick r:id="rId8"/>
              </a:rPr>
              <a:t> XML schema to control builds - </a:t>
            </a:r>
            <a:r>
              <a:rPr lang="en-US" sz="1500" dirty="0" err="1">
                <a:hlinkClick r:id="rId8"/>
              </a:rPr>
              <a:t>MSBuild</a:t>
            </a:r>
            <a:r>
              <a:rPr lang="en-US" sz="1500" dirty="0">
                <a:hlinkClick r:id="rId8"/>
              </a:rPr>
              <a:t> | Microsoft Learn</a:t>
            </a:r>
            <a:endParaRPr lang="en-US" sz="1500" kern="0" spc="-80" dirty="0">
              <a:solidFill>
                <a:schemeClr val="accent2"/>
              </a:solidFill>
            </a:endParaRPr>
          </a:p>
        </p:txBody>
      </p:sp>
      <p:pic>
        <p:nvPicPr>
          <p:cNvPr id="30722" name="Picture 2" descr="Build tools=Maven:Gradle:Ant:MSBuild">
            <a:extLst>
              <a:ext uri="{FF2B5EF4-FFF2-40B4-BE49-F238E27FC236}">
                <a16:creationId xmlns:a16="http://schemas.microsoft.com/office/drawing/2014/main" id="{C07094E7-58FF-D812-93C3-180D82FC24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463" y="1066800"/>
            <a:ext cx="8563074"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0444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44034" name="Picture 2" descr="Popular Deployment Strategies &amp; Pattern - DevOpsSchool.com">
            <a:extLst>
              <a:ext uri="{FF2B5EF4-FFF2-40B4-BE49-F238E27FC236}">
                <a16:creationId xmlns:a16="http://schemas.microsoft.com/office/drawing/2014/main" id="{1C48B460-51B0-62B1-7040-349EEEB9C4D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575" y="875664"/>
            <a:ext cx="8996362" cy="3625851"/>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0923AFF-DF9F-5E71-1B66-077E475D5C4C}"/>
              </a:ext>
            </a:extLst>
          </p:cNvPr>
          <p:cNvSpPr txBox="1">
            <a:spLocks/>
          </p:cNvSpPr>
          <p:nvPr/>
        </p:nvSpPr>
        <p:spPr>
          <a:xfrm>
            <a:off x="0" y="4604772"/>
            <a:ext cx="8624937" cy="13388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K8s supports most of the deployment strategies above.</a:t>
            </a: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600" dirty="0">
                <a:hlinkClick r:id="rId8"/>
              </a:rPr>
              <a:t>Achieve Zero-Downtime Deployment: Strategies and Best Practices</a:t>
            </a:r>
            <a:endParaRPr lang="en-US" sz="1600" dirty="0"/>
          </a:p>
          <a:p>
            <a:pPr marL="12700" marR="5080"/>
            <a:r>
              <a:rPr lang="en-US" sz="1600" dirty="0">
                <a:hlinkClick r:id="rId9"/>
              </a:rPr>
              <a:t>Zero Downtime Deployment with a Database</a:t>
            </a:r>
            <a:endParaRPr lang="en-US" sz="1600" dirty="0"/>
          </a:p>
          <a:p>
            <a:pPr marL="12700" marR="5080"/>
            <a:r>
              <a:rPr lang="en-US" sz="1600" dirty="0">
                <a:hlinkClick r:id="rId10"/>
              </a:rPr>
              <a:t>Azure APIM ARM deployment and ongoing traffic - Microsoft Q&amp;A</a:t>
            </a:r>
            <a:endParaRPr lang="en-US" sz="1500" dirty="0"/>
          </a:p>
        </p:txBody>
      </p:sp>
    </p:spTree>
    <p:extLst>
      <p:ext uri="{BB962C8B-B14F-4D97-AF65-F5344CB8AC3E}">
        <p14:creationId xmlns:p14="http://schemas.microsoft.com/office/powerpoint/2010/main" val="20004897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7862" y="695224"/>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Service Virtualization/ APIs Mocking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8263" y="5166464"/>
            <a:ext cx="8624937" cy="7771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7"/>
              </a:rPr>
              <a:t>Service Virtualization. In the best of all possible worlds… | by Pradeep Kumar HK. | Medium</a:t>
            </a:r>
            <a:r>
              <a:rPr lang="en-US" sz="1600" kern="0" spc="-80" dirty="0">
                <a:solidFill>
                  <a:schemeClr val="accent2"/>
                </a:solidFill>
              </a:rPr>
              <a:t>  </a:t>
            </a:r>
          </a:p>
          <a:p>
            <a:pPr marL="12700" marR="5080"/>
            <a:r>
              <a:rPr lang="en-US" sz="1050" dirty="0">
                <a:hlinkClick r:id="rId8"/>
              </a:rPr>
              <a:t>Configure and use a Postman mock server | Postman Learning Center</a:t>
            </a:r>
            <a:endParaRPr lang="en-US" sz="1050" dirty="0"/>
          </a:p>
        </p:txBody>
      </p:sp>
      <p:pic>
        <p:nvPicPr>
          <p:cNvPr id="39940" name="Picture 4">
            <a:extLst>
              <a:ext uri="{FF2B5EF4-FFF2-40B4-BE49-F238E27FC236}">
                <a16:creationId xmlns:a16="http://schemas.microsoft.com/office/drawing/2014/main" id="{0D0D0D7F-6AF7-65D7-3FF1-290ED2CBC2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63" y="1058980"/>
            <a:ext cx="8305800" cy="4034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4548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Functional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39284" y="3109823"/>
            <a:ext cx="8624937" cy="30623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The 3 most important things to address w.r.t any functional testing are Test Scenarios(what to test, less detailed &amp; more broader), Test Cases(how to test, more detailed, less broader) &amp; Test Data. Also Test cases are  in general derived from Test Scenarios.</a:t>
            </a:r>
          </a:p>
          <a:p>
            <a:pPr marL="12700" marR="5080"/>
            <a:r>
              <a:rPr lang="en-US" sz="1000" kern="0" spc="-80" dirty="0">
                <a:solidFill>
                  <a:schemeClr val="accent2"/>
                </a:solidFill>
              </a:rPr>
              <a:t>For Further Exploration-</a:t>
            </a:r>
          </a:p>
          <a:p>
            <a:pPr marL="12700" marR="5080"/>
            <a:r>
              <a:rPr lang="en-IN" sz="1000" dirty="0">
                <a:hlinkClick r:id="rId7"/>
              </a:rPr>
              <a:t>Full Stack Testing: A Practical Guide for Delivering High Quality Software</a:t>
            </a:r>
            <a:endParaRPr lang="en-IN" sz="1000" dirty="0"/>
          </a:p>
          <a:p>
            <a:pPr marL="12700" marR="5080"/>
            <a:r>
              <a:rPr lang="en-IN" sz="1000" dirty="0">
                <a:hlinkClick r:id="rId8"/>
              </a:rPr>
              <a:t>DevOps Test Automation | Atlassian</a:t>
            </a:r>
            <a:endParaRPr lang="en-IN" sz="1000" dirty="0"/>
          </a:p>
          <a:p>
            <a:pPr marL="12700" marR="5080"/>
            <a:r>
              <a:rPr lang="en-IN" sz="1000" dirty="0">
                <a:hlinkClick r:id="rId9"/>
              </a:rPr>
              <a:t>Software Testing Strategies | Programming | eBook</a:t>
            </a:r>
            <a:endParaRPr lang="en-IN" sz="1000" dirty="0"/>
          </a:p>
          <a:p>
            <a:pPr marL="12700" marR="5080"/>
            <a:r>
              <a:rPr lang="en-US" sz="1000" dirty="0">
                <a:hlinkClick r:id="rId10"/>
              </a:rPr>
              <a:t>Page Object Model and Page Factory in Selenium | </a:t>
            </a:r>
            <a:r>
              <a:rPr lang="en-US" sz="1000" dirty="0" err="1">
                <a:hlinkClick r:id="rId10"/>
              </a:rPr>
              <a:t>BrowserStack</a:t>
            </a:r>
            <a:endParaRPr lang="en-US" sz="1000" dirty="0"/>
          </a:p>
          <a:p>
            <a:pPr marL="12700" marR="5080"/>
            <a:r>
              <a:rPr lang="en-US" sz="1000" dirty="0">
                <a:hlinkClick r:id="rId11"/>
              </a:rPr>
              <a:t>What are the common challenges and pitfalls of using Page Object Model and how do you overcome them?</a:t>
            </a:r>
            <a:endParaRPr lang="en-US" sz="1000" dirty="0"/>
          </a:p>
          <a:p>
            <a:pPr marL="12700" marR="5080"/>
            <a:r>
              <a:rPr lang="en-US" sz="1000" dirty="0">
                <a:hlinkClick r:id="rId12"/>
              </a:rPr>
              <a:t>Challenging the Page Object Model | by </a:t>
            </a:r>
            <a:r>
              <a:rPr lang="en-US" sz="1000" dirty="0" err="1">
                <a:hlinkClick r:id="rId12"/>
              </a:rPr>
              <a:t>SebasViquez</a:t>
            </a:r>
            <a:r>
              <a:rPr lang="en-US" sz="1000" dirty="0">
                <a:hlinkClick r:id="rId12"/>
              </a:rPr>
              <a:t> | Medium</a:t>
            </a:r>
            <a:endParaRPr lang="en-US" sz="1000" dirty="0"/>
          </a:p>
          <a:p>
            <a:pPr marL="12700" marR="5080"/>
            <a:r>
              <a:rPr lang="en-US" sz="1000" dirty="0">
                <a:hlinkClick r:id="rId13"/>
              </a:rPr>
              <a:t>How do you test APIs that use asynchronous communication?</a:t>
            </a:r>
            <a:endParaRPr lang="en-US" sz="1000" dirty="0"/>
          </a:p>
          <a:p>
            <a:pPr marL="12700" marR="5080"/>
            <a:r>
              <a:rPr lang="en-US" sz="1000" dirty="0">
                <a:hlinkClick r:id="rId14"/>
              </a:rPr>
              <a:t>Consumer-Driven Contract Testing (CDC) - Engineering Fundamentals Playbook</a:t>
            </a:r>
            <a:endParaRPr lang="en-US" sz="1000" dirty="0"/>
          </a:p>
          <a:p>
            <a:pPr marL="12700" marR="5080"/>
            <a:r>
              <a:rPr lang="en-US" sz="1000" dirty="0">
                <a:hlinkClick r:id="rId15"/>
              </a:rPr>
              <a:t>Playwright</a:t>
            </a:r>
            <a:endParaRPr lang="en-US" sz="1000" dirty="0"/>
          </a:p>
          <a:p>
            <a:pPr marL="12700" marR="5080"/>
            <a:r>
              <a:rPr lang="en-US" sz="1000" dirty="0">
                <a:hlinkClick r:id="rId16"/>
              </a:rPr>
              <a:t>Playwright-Python-and-</a:t>
            </a:r>
            <a:r>
              <a:rPr lang="en-US" sz="1000" dirty="0" err="1">
                <a:hlinkClick r:id="rId16"/>
              </a:rPr>
              <a:t>Pytest</a:t>
            </a:r>
            <a:r>
              <a:rPr lang="en-US" sz="1000" dirty="0">
                <a:hlinkClick r:id="rId16"/>
              </a:rPr>
              <a:t>-for-Web-Automation-Testing</a:t>
            </a:r>
            <a:endParaRPr lang="en-US" sz="1000" dirty="0"/>
          </a:p>
          <a:p>
            <a:pPr marL="12700" marR="5080"/>
            <a:r>
              <a:rPr lang="en-US" sz="1000" dirty="0">
                <a:hlinkClick r:id="rId17"/>
              </a:rPr>
              <a:t>Hands-On Test Management with Jira | Business &amp; Other | eBook</a:t>
            </a:r>
            <a:endParaRPr lang="en-US" sz="1000" dirty="0"/>
          </a:p>
          <a:p>
            <a:pPr marL="12700" marR="5080"/>
            <a:r>
              <a:rPr lang="en-US" sz="1000" dirty="0">
                <a:hlinkClick r:id="rId18"/>
              </a:rPr>
              <a:t>Test Execution - Zephyr Standalone 6.1 &amp; 6.2 – Confluence</a:t>
            </a:r>
            <a:endParaRPr lang="en-US" sz="1000" dirty="0"/>
          </a:p>
          <a:p>
            <a:pPr marL="12700" marR="5080"/>
            <a:r>
              <a:rPr lang="en-US" sz="1000" dirty="0">
                <a:hlinkClick r:id="rId19"/>
              </a:rPr>
              <a:t>Use scripts to add logic and tests to Postman requests | Postman Docs</a:t>
            </a:r>
            <a:endParaRPr lang="en-US" sz="1000" dirty="0"/>
          </a:p>
          <a:p>
            <a:pPr marL="12700" marR="5080"/>
            <a:endParaRPr lang="en-US" sz="1400" dirty="0"/>
          </a:p>
        </p:txBody>
      </p:sp>
      <p:pic>
        <p:nvPicPr>
          <p:cNvPr id="11" name="Picture 10">
            <a:extLst>
              <a:ext uri="{FF2B5EF4-FFF2-40B4-BE49-F238E27FC236}">
                <a16:creationId xmlns:a16="http://schemas.microsoft.com/office/drawing/2014/main" id="{82F0C5CE-C060-7516-DA76-D0DCCCC800AF}"/>
              </a:ext>
            </a:extLst>
          </p:cNvPr>
          <p:cNvPicPr>
            <a:picLocks noChangeAspect="1"/>
          </p:cNvPicPr>
          <p:nvPr/>
        </p:nvPicPr>
        <p:blipFill>
          <a:blip r:embed="rId20"/>
          <a:stretch>
            <a:fillRect/>
          </a:stretch>
        </p:blipFill>
        <p:spPr>
          <a:xfrm>
            <a:off x="39284" y="965064"/>
            <a:ext cx="8814253" cy="2006736"/>
          </a:xfrm>
          <a:prstGeom prst="rect">
            <a:avLst/>
          </a:prstGeom>
        </p:spPr>
      </p:pic>
    </p:spTree>
    <p:extLst>
      <p:ext uri="{BB962C8B-B14F-4D97-AF65-F5344CB8AC3E}">
        <p14:creationId xmlns:p14="http://schemas.microsoft.com/office/powerpoint/2010/main" val="23054896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680228"/>
            <a:ext cx="8624937"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p>
          <a:p>
            <a:pPr marL="12700" marR="5080"/>
            <a:r>
              <a:rPr lang="en-US" sz="1100" dirty="0">
                <a:hlinkClick r:id="rId7"/>
              </a:rPr>
              <a:t>Why averages suck and percentiles are great</a:t>
            </a:r>
            <a:endParaRPr lang="en-US" sz="1100" dirty="0"/>
          </a:p>
          <a:p>
            <a:pPr marL="12700" marR="5080"/>
            <a:r>
              <a:rPr lang="en-IN" sz="1100" dirty="0">
                <a:hlinkClick r:id="rId8"/>
              </a:rPr>
              <a:t>Load Testing</a:t>
            </a:r>
            <a:endParaRPr lang="en-IN" sz="1100" dirty="0"/>
          </a:p>
          <a:p>
            <a:pPr marL="12700" marR="5080"/>
            <a:r>
              <a:rPr lang="en-US" sz="1100" dirty="0">
                <a:hlinkClick r:id="rId9"/>
              </a:rPr>
              <a:t>Measure performance in Visual Studio - Visual Studio (Windows) | Microsoft Learn</a:t>
            </a:r>
            <a:endParaRPr lang="en-US" sz="1100" dirty="0"/>
          </a:p>
          <a:p>
            <a:pPr marL="12700" marR="5080"/>
            <a:r>
              <a:rPr lang="en-US" sz="1100" dirty="0">
                <a:hlinkClick r:id="rId10"/>
              </a:rPr>
              <a:t>JMeter Tutorial: Getting Started with </a:t>
            </a:r>
            <a:r>
              <a:rPr lang="en-US" sz="1100" dirty="0" err="1">
                <a:hlinkClick r:id="rId10"/>
              </a:rPr>
              <a:t>Jmeter</a:t>
            </a:r>
            <a:endParaRPr lang="en-US" sz="1100" dirty="0"/>
          </a:p>
          <a:p>
            <a:pPr marL="12700" marR="5080"/>
            <a:r>
              <a:rPr lang="en-US" sz="1100" dirty="0">
                <a:hlinkClick r:id="rId11"/>
              </a:rPr>
              <a:t>How you should be load testing your background services</a:t>
            </a:r>
            <a:r>
              <a:rPr lang="en-US" sz="1100" dirty="0"/>
              <a:t>  </a:t>
            </a:r>
            <a:r>
              <a:rPr lang="en-US" sz="1100" dirty="0">
                <a:hlinkClick r:id="rId12"/>
              </a:rPr>
              <a:t>Asynchronous API Performance Testing with JMeter</a:t>
            </a:r>
            <a:endParaRPr lang="en-US" sz="1100" dirty="0"/>
          </a:p>
          <a:p>
            <a:pPr marL="12700" marR="5080"/>
            <a:r>
              <a:rPr lang="en-US" sz="1100" dirty="0" err="1">
                <a:hlinkClick r:id="rId13"/>
              </a:rPr>
              <a:t>BenchmarkDotNet</a:t>
            </a:r>
            <a:r>
              <a:rPr lang="en-US" sz="1100" dirty="0">
                <a:hlinkClick r:id="rId13"/>
              </a:rPr>
              <a:t>: Powerful .NET library for benchmarking</a:t>
            </a:r>
            <a:endParaRPr lang="en-US" sz="1100" dirty="0"/>
          </a:p>
          <a:p>
            <a:pPr marL="12700" marR="5080"/>
            <a:r>
              <a:rPr lang="en-US" sz="1100" dirty="0"/>
              <a:t>  </a:t>
            </a:r>
          </a:p>
        </p:txBody>
      </p:sp>
      <p:pic>
        <p:nvPicPr>
          <p:cNvPr id="41986" name="Picture 2" descr="Top 10 Performance Testing Tools | Load Testing Tools Guide | Edureka">
            <a:extLst>
              <a:ext uri="{FF2B5EF4-FFF2-40B4-BE49-F238E27FC236}">
                <a16:creationId xmlns:a16="http://schemas.microsoft.com/office/drawing/2014/main" id="{3A7AB2B9-69DE-DDAC-1362-16CB9EDB4F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1131332"/>
            <a:ext cx="7239000" cy="3548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36631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579947"/>
            <a:ext cx="8624937" cy="15081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kern="0" spc="-80" dirty="0">
                <a:solidFill>
                  <a:schemeClr val="accent2"/>
                </a:solidFill>
              </a:rPr>
              <a:t>  </a:t>
            </a:r>
            <a:r>
              <a:rPr lang="en-US" sz="1500" dirty="0">
                <a:hlinkClick r:id="rId7"/>
              </a:rPr>
              <a:t>Differences Between SAST, DAST, IAST, And RASP</a:t>
            </a:r>
            <a:r>
              <a:rPr lang="en-US" sz="1500" dirty="0"/>
              <a:t>   </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8"/>
              </a:rPr>
              <a:t>10 Types of Application Security Testing Tools: When and How to Use Them</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9"/>
              </a:rPr>
              <a:t>GitHub - </a:t>
            </a:r>
            <a:r>
              <a:rPr lang="en-US" sz="1500" dirty="0" err="1">
                <a:hlinkClick r:id="rId9"/>
              </a:rPr>
              <a:t>iriusrisk</a:t>
            </a:r>
            <a:r>
              <a:rPr lang="en-US" sz="1500" dirty="0">
                <a:hlinkClick r:id="rId9"/>
              </a:rPr>
              <a:t>/</a:t>
            </a:r>
            <a:r>
              <a:rPr lang="en-US" sz="1500" dirty="0" err="1">
                <a:hlinkClick r:id="rId9"/>
              </a:rPr>
              <a:t>bdd</a:t>
            </a:r>
            <a:r>
              <a:rPr lang="en-US" sz="1500" dirty="0">
                <a:hlinkClick r:id="rId9"/>
              </a:rPr>
              <a:t>-security: BDD Automated Security Tests for Web Applications</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10"/>
              </a:rPr>
              <a:t>Security Scanning Tools: Enhancing Application Security</a:t>
            </a:r>
            <a:endParaRPr lang="en-US" sz="1500" dirty="0"/>
          </a:p>
          <a:p>
            <a:pPr marL="12700" marR="5080"/>
            <a:endParaRPr lang="en-US" sz="1400" kern="0" spc="-80" dirty="0">
              <a:solidFill>
                <a:schemeClr val="accent2"/>
              </a:solidFill>
            </a:endParaRPr>
          </a:p>
        </p:txBody>
      </p:sp>
      <p:pic>
        <p:nvPicPr>
          <p:cNvPr id="43010" name="Picture 2" descr="10 Types of Application Security Testing Tools: When and How to Use Them">
            <a:extLst>
              <a:ext uri="{FF2B5EF4-FFF2-40B4-BE49-F238E27FC236}">
                <a16:creationId xmlns:a16="http://schemas.microsoft.com/office/drawing/2014/main" id="{374C56D6-80C7-FB5F-EFB3-8909C7F63A6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7338" y="1131332"/>
            <a:ext cx="8567737" cy="344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1312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46700" y="34425"/>
          <a:ext cx="9006762"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83368" y="1104708"/>
            <a:ext cx="8915399"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tx2">
                    <a:lumMod val="60000"/>
                    <a:lumOff val="40000"/>
                  </a:schemeClr>
                </a:solidFill>
              </a:rPr>
              <a:t>Chaos Engineering is the use of experimental and potentially destructive failure testing into any part of the stack (compute, storage, network or application infrastructure) to uncover vulnerabilities and reduce uncertainty when building complex distributed systems.</a:t>
            </a:r>
          </a:p>
          <a:p>
            <a:pPr marL="12700" marR="5080"/>
            <a:endParaRPr lang="en-US" sz="2000" kern="0" spc="-80" dirty="0">
              <a:solidFill>
                <a:schemeClr val="tx2">
                  <a:lumMod val="60000"/>
                  <a:lumOff val="40000"/>
                </a:schemeClr>
              </a:solidFill>
            </a:endParaRPr>
          </a:p>
          <a:p>
            <a:pPr marL="12700" marR="5080"/>
            <a:r>
              <a:rPr lang="en-US" sz="1700" kern="0" spc="-80" dirty="0">
                <a:solidFill>
                  <a:schemeClr val="accent6"/>
                </a:solidFill>
              </a:rPr>
              <a:t>At the most basic level, application chaos can be created by exposing some “/error”[fault injection] endpoint and giving access to the endpoint only to some specific service account/principal &amp; then checking how the system behaves.</a:t>
            </a:r>
          </a:p>
          <a:p>
            <a:pPr marL="12700" marR="5080"/>
            <a:r>
              <a:rPr lang="en-US" sz="1700" kern="0" spc="-80" dirty="0">
                <a:solidFill>
                  <a:schemeClr val="accent6"/>
                </a:solidFill>
              </a:rPr>
              <a:t>System Level real world chaos can be simulated by deleting resources or shutting down components &amp; checking how the system behaves but that is very risky and should be done after following proper governance process around the same.</a:t>
            </a:r>
          </a:p>
          <a:p>
            <a:pPr marL="12700" marR="5080"/>
            <a:endParaRPr lang="en-US" sz="1700" kern="0" spc="-80" dirty="0">
              <a:solidFill>
                <a:schemeClr val="accent6"/>
              </a:solidFill>
            </a:endParaRPr>
          </a:p>
          <a:p>
            <a:pPr marL="12700" marR="5080"/>
            <a:r>
              <a:rPr lang="en-US" sz="2000" kern="0" spc="-80" dirty="0">
                <a:solidFill>
                  <a:schemeClr val="tx2">
                    <a:lumMod val="60000"/>
                    <a:lumOff val="40000"/>
                  </a:schemeClr>
                </a:solidFill>
              </a:rPr>
              <a:t>Chaos testing is very helpful to test Alerts(and relevant Runbooks pointed by the Alerts).Just like any other type of Testing, Chaos Testing can also be done manually or using unit/automation tests as well.</a:t>
            </a:r>
          </a:p>
          <a:p>
            <a:pPr marL="12700" marR="5080"/>
            <a:endParaRPr lang="en-US" sz="1600" kern="0" spc="-80" dirty="0">
              <a:solidFill>
                <a:schemeClr val="accent6"/>
              </a:solidFill>
            </a:endParaRPr>
          </a:p>
        </p:txBody>
      </p:sp>
      <p:graphicFrame>
        <p:nvGraphicFramePr>
          <p:cNvPr id="8" name="Diagram 7">
            <a:extLst>
              <a:ext uri="{FF2B5EF4-FFF2-40B4-BE49-F238E27FC236}">
                <a16:creationId xmlns:a16="http://schemas.microsoft.com/office/drawing/2014/main" id="{0D782E9E-4CE8-C67F-123C-F2560103727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982940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0" y="34425"/>
          <a:ext cx="91440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pic>
        <p:nvPicPr>
          <p:cNvPr id="1026" name="Picture 2" descr="Example of Chaos Engineering system based on AWS Services">
            <a:extLst>
              <a:ext uri="{FF2B5EF4-FFF2-40B4-BE49-F238E27FC236}">
                <a16:creationId xmlns:a16="http://schemas.microsoft.com/office/drawing/2014/main" id="{E56861DE-61AB-ADFB-8367-AAD1563576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43001"/>
            <a:ext cx="9144000" cy="4800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Diagram 7">
            <a:extLst>
              <a:ext uri="{FF2B5EF4-FFF2-40B4-BE49-F238E27FC236}">
                <a16:creationId xmlns:a16="http://schemas.microsoft.com/office/drawing/2014/main" id="{C565597D-DCFA-3FF4-10FA-E858EF3CB16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045341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0" y="34425"/>
          <a:ext cx="9053462"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138063" y="1435894"/>
            <a:ext cx="8915399"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a:t>
            </a:r>
          </a:p>
          <a:p>
            <a:pPr marL="12700" marR="5080"/>
            <a:r>
              <a:rPr lang="en-US" sz="1700" dirty="0">
                <a:hlinkClick r:id="rId7"/>
              </a:rPr>
              <a:t>Chaos Engineering: the history, principles, and practice</a:t>
            </a:r>
            <a:r>
              <a:rPr lang="en-US" sz="1700" kern="0" spc="-80" dirty="0">
                <a:solidFill>
                  <a:schemeClr val="accent2"/>
                </a:solidFill>
              </a:rPr>
              <a:t> </a:t>
            </a:r>
          </a:p>
          <a:p>
            <a:pPr marL="12700" marR="5080"/>
            <a:r>
              <a:rPr lang="en-US" sz="1700" dirty="0">
                <a:hlinkClick r:id="rId8"/>
              </a:rPr>
              <a:t>Building resiliency with chaos engineering | Thoughtworks Australia</a:t>
            </a:r>
            <a:endParaRPr lang="en-US" sz="1700" dirty="0"/>
          </a:p>
          <a:p>
            <a:pPr marL="12700" marR="5080"/>
            <a:r>
              <a:rPr lang="en-US" sz="1700" dirty="0">
                <a:hlinkClick r:id="rId9"/>
              </a:rPr>
              <a:t>The Chaos Engineering Maturity Model</a:t>
            </a:r>
            <a:endParaRPr lang="en-US" sz="1700" dirty="0"/>
          </a:p>
          <a:p>
            <a:pPr marL="12700" marR="5080"/>
            <a:r>
              <a:rPr lang="en-US" sz="1700" dirty="0">
                <a:hlinkClick r:id="rId10"/>
              </a:rPr>
              <a:t>Introducing Litmus 2.0 - Simplify Chaos Engineering - DEV Community</a:t>
            </a:r>
            <a:r>
              <a:rPr lang="en-US" sz="1700" kern="0" spc="-80" dirty="0">
                <a:solidFill>
                  <a:schemeClr val="accent2"/>
                </a:solidFill>
              </a:rPr>
              <a:t> </a:t>
            </a:r>
          </a:p>
          <a:p>
            <a:pPr marL="12700" marR="5080"/>
            <a:r>
              <a:rPr lang="en-US" sz="1700" dirty="0">
                <a:hlinkClick r:id="rId11"/>
              </a:rPr>
              <a:t>How to Test Your Fault Isolation Boundaries in the Cloud - InfoQ</a:t>
            </a:r>
            <a:endParaRPr lang="en-US" sz="1700" kern="0" spc="-80" dirty="0">
              <a:solidFill>
                <a:schemeClr val="accent2"/>
              </a:solidFill>
            </a:endParaRPr>
          </a:p>
          <a:p>
            <a:pPr marL="12700" marR="5080"/>
            <a:r>
              <a:rPr lang="en-IN" sz="1700" dirty="0">
                <a:hlinkClick r:id="rId12"/>
              </a:rPr>
              <a:t>Azure Chaos Studio - Chaos engineering experimentation | Microsoft Azure</a:t>
            </a:r>
            <a:endParaRPr lang="en-IN" sz="1700" dirty="0"/>
          </a:p>
          <a:p>
            <a:pPr marL="12700" marR="5080"/>
            <a:r>
              <a:rPr lang="en-US" sz="1700" dirty="0">
                <a:hlinkClick r:id="rId13"/>
              </a:rPr>
              <a:t>Chaos Engineering using Azure Chaos Studio | Udemy</a:t>
            </a:r>
            <a:endParaRPr lang="en-US" sz="1700" dirty="0"/>
          </a:p>
          <a:p>
            <a:pPr marL="12700" marR="5080"/>
            <a:r>
              <a:rPr lang="en-US" sz="1700" dirty="0">
                <a:hlinkClick r:id="rId14"/>
              </a:rPr>
              <a:t>Kube-Monkey</a:t>
            </a:r>
            <a:endParaRPr lang="en-US" sz="1700" dirty="0"/>
          </a:p>
          <a:p>
            <a:pPr marL="12700" marR="5080"/>
            <a:r>
              <a:rPr lang="en-US" sz="1700" dirty="0">
                <a:hlinkClick r:id="rId15"/>
              </a:rPr>
              <a:t>Create an experiment using a Chaos Mesh fault with the Azure portal</a:t>
            </a:r>
            <a:endParaRPr lang="en-US" sz="1700" dirty="0"/>
          </a:p>
          <a:p>
            <a:pPr marL="12700" marR="5080"/>
            <a:r>
              <a:rPr lang="en-US" sz="1700" dirty="0">
                <a:hlinkClick r:id="rId16"/>
              </a:rPr>
              <a:t>Chaos Engineering with Chaos Toolkit | Udemy</a:t>
            </a:r>
            <a:endParaRPr lang="en-US" sz="1700" dirty="0"/>
          </a:p>
          <a:p>
            <a:pPr marL="12700" marR="5080"/>
            <a:r>
              <a:rPr lang="en-US" sz="1700" dirty="0">
                <a:hlinkClick r:id="rId17"/>
              </a:rPr>
              <a:t>Resilience and chaos engineering - .NET Blog</a:t>
            </a:r>
            <a:r>
              <a:rPr lang="en-US" sz="1700" kern="0" spc="-80" dirty="0">
                <a:solidFill>
                  <a:schemeClr val="accent2"/>
                </a:solidFill>
              </a:rPr>
              <a:t>(this resource is helpful mainly to chaos test the dependencies of a component e.g. some dependency API went down, while most of the other resources mentioned here are mainly to chaos test the component itself)</a:t>
            </a:r>
          </a:p>
          <a:p>
            <a:pPr marL="12700" marR="5080"/>
            <a:r>
              <a:rPr lang="en-US" sz="1700" dirty="0">
                <a:hlinkClick r:id="rId18"/>
              </a:rPr>
              <a:t>Start with chaos engineering in C# | by Jeroen Verhaeghe | Medium</a:t>
            </a:r>
            <a:endParaRPr lang="en-US" sz="1700" dirty="0"/>
          </a:p>
          <a:p>
            <a:pPr marL="12700" marR="5080"/>
            <a:r>
              <a:rPr lang="en-IN" sz="1800" dirty="0" err="1">
                <a:hlinkClick r:id="rId19"/>
              </a:rPr>
              <a:t>UnmeshJoshi</a:t>
            </a:r>
            <a:r>
              <a:rPr lang="en-IN" sz="1800" dirty="0">
                <a:hlinkClick r:id="rId19"/>
              </a:rPr>
              <a:t>/</a:t>
            </a:r>
            <a:r>
              <a:rPr lang="en-IN" sz="1800" dirty="0" err="1">
                <a:hlinkClick r:id="rId19"/>
              </a:rPr>
              <a:t>Tickloom</a:t>
            </a:r>
            <a:endParaRPr lang="en-US" sz="1700" kern="0" spc="-80" dirty="0">
              <a:solidFill>
                <a:schemeClr val="accent2"/>
              </a:solidFill>
            </a:endParaRPr>
          </a:p>
        </p:txBody>
      </p:sp>
      <p:graphicFrame>
        <p:nvGraphicFramePr>
          <p:cNvPr id="8" name="Diagram 7">
            <a:extLst>
              <a:ext uri="{FF2B5EF4-FFF2-40B4-BE49-F238E27FC236}">
                <a16:creationId xmlns:a16="http://schemas.microsoft.com/office/drawing/2014/main" id="{51A26287-45F9-A00E-DD38-B5266CCFE47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Tree>
    <p:extLst>
      <p:ext uri="{BB962C8B-B14F-4D97-AF65-F5344CB8AC3E}">
        <p14:creationId xmlns:p14="http://schemas.microsoft.com/office/powerpoint/2010/main" val="31417919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F8FE-53A9-C3C8-DEF4-5D73E1C5A5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FD3683-02B1-41DA-8035-330A04EE49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378509-88A2-C1B3-057D-65497E315BE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16802E-7658-D359-B405-4999DF6FEA0F}"/>
              </a:ext>
            </a:extLst>
          </p:cNvPr>
          <p:cNvGraphicFramePr/>
          <p:nvPr/>
        </p:nvGraphicFramePr>
        <p:xfrm>
          <a:off x="0" y="71889"/>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8905A25-8385-E61B-B893-D7D490462E9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B360CFF-BDC9-38EA-9E98-37C4B3B671F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3D174B22-A1ED-D16C-117E-BE352F3C1D45}"/>
              </a:ext>
            </a:extLst>
          </p:cNvPr>
          <p:cNvSpPr txBox="1">
            <a:spLocks/>
          </p:cNvSpPr>
          <p:nvPr/>
        </p:nvSpPr>
        <p:spPr>
          <a:xfrm>
            <a:off x="0" y="762000"/>
            <a:ext cx="8915399"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Technical Debt Management (Techniques)</a:t>
            </a:r>
          </a:p>
          <a:p>
            <a:pPr marL="12700" marR="5080"/>
            <a:r>
              <a:rPr lang="en-US" sz="1200" kern="0" spc="-80" dirty="0">
                <a:solidFill>
                  <a:schemeClr val="accent6"/>
                </a:solidFill>
              </a:rPr>
              <a:t>Technical debt management involves a combination of preventative measures and remedial actions, such as establishing code quality standards, implementing automated testing and code reviews to prevent new debt, and creating a technical debt backlog to systematically address existing issues through refactoring and prioritization. A continuous approach is key, which includes allocating time for debt reduction within development sprints and fostering a culture of quality and continuous improvement among the team</a:t>
            </a:r>
          </a:p>
          <a:p>
            <a:r>
              <a:rPr lang="en-US" sz="1200" kern="0" spc="-80" dirty="0">
                <a:solidFill>
                  <a:schemeClr val="accent2"/>
                </a:solidFill>
              </a:rPr>
              <a:t>Preventative techniques</a:t>
            </a:r>
          </a:p>
          <a:p>
            <a:r>
              <a:rPr lang="en-US" sz="1200" kern="0" spc="-80" dirty="0">
                <a:solidFill>
                  <a:schemeClr val="accent2"/>
                </a:solidFill>
              </a:rPr>
              <a:t>Establish quality standards: </a:t>
            </a:r>
          </a:p>
          <a:p>
            <a:r>
              <a:rPr lang="en-US" sz="1200" kern="0" spc="-80" dirty="0">
                <a:solidFill>
                  <a:schemeClr val="accent6"/>
                </a:solidFill>
              </a:rPr>
              <a:t>Define clear guidelines for code quality, architecture, and development practices to reduce the creation of new debt. </a:t>
            </a:r>
          </a:p>
          <a:p>
            <a:r>
              <a:rPr lang="en-US" sz="1200" kern="0" spc="-80" dirty="0">
                <a:solidFill>
                  <a:schemeClr val="accent2"/>
                </a:solidFill>
              </a:rPr>
              <a:t>Implement code reviews: </a:t>
            </a:r>
          </a:p>
          <a:p>
            <a:r>
              <a:rPr lang="en-US" sz="1200" kern="0" spc="-80" dirty="0">
                <a:solidFill>
                  <a:schemeClr val="accent6"/>
                </a:solidFill>
              </a:rPr>
              <a:t>Use peer reviews to catch and fix potential issues before they become technical debt. </a:t>
            </a:r>
          </a:p>
          <a:p>
            <a:r>
              <a:rPr lang="en-US" sz="1200" kern="0" spc="-80" dirty="0">
                <a:solidFill>
                  <a:schemeClr val="accent2"/>
                </a:solidFill>
              </a:rPr>
              <a:t>Automate testing and integration: </a:t>
            </a:r>
          </a:p>
          <a:p>
            <a:r>
              <a:rPr lang="en-US" sz="1200" kern="0" spc="-80" dirty="0">
                <a:solidFill>
                  <a:schemeClr val="accent6"/>
                </a:solidFill>
              </a:rPr>
              <a:t>Set up automated tests and continuous integration (CI) pipelines to catch bugs early and ensure new code doesn't introduce new debt. </a:t>
            </a:r>
          </a:p>
          <a:p>
            <a:r>
              <a:rPr lang="en-US" sz="1200" kern="0" spc="-80" dirty="0">
                <a:solidFill>
                  <a:schemeClr val="accent2"/>
                </a:solidFill>
              </a:rPr>
              <a:t>Improve documentation:</a:t>
            </a:r>
            <a:r>
              <a:rPr lang="en-US" sz="1200" kern="0" spc="-80" dirty="0">
                <a:solidFill>
                  <a:schemeClr val="accent6"/>
                </a:solidFill>
              </a:rPr>
              <a:t> </a:t>
            </a:r>
          </a:p>
          <a:p>
            <a:r>
              <a:rPr lang="en-US" sz="1200" kern="0" spc="-80" dirty="0">
                <a:solidFill>
                  <a:schemeClr val="accent6"/>
                </a:solidFill>
              </a:rPr>
              <a:t>Maintain up-to-date and accurate documentation to reduce knowledge gaps and facilitate maintenance and refactoring. </a:t>
            </a:r>
          </a:p>
          <a:p>
            <a:r>
              <a:rPr lang="en-US" sz="1200" kern="0" spc="-80" dirty="0">
                <a:solidFill>
                  <a:schemeClr val="accent2"/>
                </a:solidFill>
              </a:rPr>
              <a:t>Regularly update systems: </a:t>
            </a:r>
          </a:p>
          <a:p>
            <a:r>
              <a:rPr lang="en-US" sz="1200" kern="0" spc="-80" dirty="0">
                <a:solidFill>
                  <a:schemeClr val="accent6"/>
                </a:solidFill>
              </a:rPr>
              <a:t>Keep libraries and dependencies updated to prevent compatibility and security issues. </a:t>
            </a:r>
          </a:p>
          <a:p>
            <a:r>
              <a:rPr lang="en-US" sz="1200" kern="0" spc="-80" dirty="0">
                <a:solidFill>
                  <a:schemeClr val="accent2"/>
                </a:solidFill>
              </a:rPr>
              <a:t>Conduct architecture reviews: </a:t>
            </a:r>
          </a:p>
          <a:p>
            <a:r>
              <a:rPr lang="en-US" sz="1200" kern="0" spc="-80" dirty="0">
                <a:solidFill>
                  <a:schemeClr val="accent6"/>
                </a:solidFill>
              </a:rPr>
              <a:t>Periodically assess the system architecture to ensure it still meets business needs and is scalable. </a:t>
            </a:r>
          </a:p>
          <a:p>
            <a:r>
              <a:rPr lang="en-US" sz="1200" kern="0" spc="-80" dirty="0">
                <a:solidFill>
                  <a:schemeClr val="accent6"/>
                </a:solidFill>
              </a:rPr>
              <a:t>Remedial techniques</a:t>
            </a:r>
          </a:p>
          <a:p>
            <a:r>
              <a:rPr lang="en-US" sz="1200" kern="0" spc="-80" dirty="0">
                <a:solidFill>
                  <a:schemeClr val="accent2"/>
                </a:solidFill>
              </a:rPr>
              <a:t>Identify and prioritize: </a:t>
            </a:r>
          </a:p>
          <a:p>
            <a:r>
              <a:rPr lang="en-US" sz="1200" kern="0" spc="-80" dirty="0">
                <a:solidFill>
                  <a:schemeClr val="accent6"/>
                </a:solidFill>
              </a:rPr>
              <a:t>Conduct audits to find technical debt and then create a register or backlog to track and prioritize issues based on their impact on performance, security, and maintainability. </a:t>
            </a:r>
          </a:p>
          <a:p>
            <a:r>
              <a:rPr lang="en-US" sz="1200" kern="0" spc="-80" dirty="0">
                <a:solidFill>
                  <a:schemeClr val="accent2"/>
                </a:solidFill>
              </a:rPr>
              <a:t>Allocate time for repayment: </a:t>
            </a:r>
          </a:p>
          <a:p>
            <a:r>
              <a:rPr lang="en-US" sz="1200" kern="0" spc="-80" dirty="0">
                <a:solidFill>
                  <a:schemeClr val="accent6"/>
                </a:solidFill>
              </a:rPr>
              <a:t>Integrate debt reduction into the development process, such as allocating a percentage of each sprint to tackle it. </a:t>
            </a:r>
          </a:p>
          <a:p>
            <a:r>
              <a:rPr lang="en-US" sz="1200" kern="0" spc="-80" dirty="0">
                <a:solidFill>
                  <a:schemeClr val="accent2"/>
                </a:solidFill>
              </a:rPr>
              <a:t>Regular refactoring: </a:t>
            </a:r>
          </a:p>
          <a:p>
            <a:r>
              <a:rPr lang="en-US" sz="1200" kern="0" spc="-80" dirty="0">
                <a:solidFill>
                  <a:schemeClr val="accent6"/>
                </a:solidFill>
              </a:rPr>
              <a:t>Make refactoring a regular habit to improve code quality and maintainability. This can involve "preparatory refactoring" where</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5733958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6A1E2-B50F-C5DC-68EE-7B331132DB3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507DD7-187A-A9AB-6D24-73D07F59F2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02F30F-0A8E-F31A-1DC8-A21918A30E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B784C8-70C3-F8DD-2CA5-14C2C43E4D02}"/>
              </a:ext>
            </a:extLst>
          </p:cNvPr>
          <p:cNvGraphicFramePr/>
          <p:nvPr/>
        </p:nvGraphicFramePr>
        <p:xfrm>
          <a:off x="1835" y="71889"/>
          <a:ext cx="8913563"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1F2E59B-D138-2E01-757C-A024EDC85B9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AB81F34-EB9E-3952-196B-C83C8C50EEC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62E6DE89-6360-DC2D-E6BD-EC2E0B75F58E}"/>
              </a:ext>
            </a:extLst>
          </p:cNvPr>
          <p:cNvSpPr txBox="1">
            <a:spLocks/>
          </p:cNvSpPr>
          <p:nvPr/>
        </p:nvSpPr>
        <p:spPr>
          <a:xfrm>
            <a:off x="0" y="762000"/>
            <a:ext cx="8915399"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Technical Debt Management (Techniques)</a:t>
            </a:r>
          </a:p>
          <a:p>
            <a:r>
              <a:rPr lang="en-US" sz="1200" kern="0" spc="-80" dirty="0">
                <a:solidFill>
                  <a:schemeClr val="accent6"/>
                </a:solidFill>
              </a:rPr>
              <a:t>you improve a section of code before adding new features. </a:t>
            </a:r>
            <a:endParaRPr lang="en-US" sz="1200" kern="0" spc="-80" dirty="0">
              <a:solidFill>
                <a:schemeClr val="accent2"/>
              </a:solidFill>
            </a:endParaRPr>
          </a:p>
          <a:p>
            <a:r>
              <a:rPr lang="en-US" sz="1200" kern="0" spc="-80" dirty="0">
                <a:solidFill>
                  <a:schemeClr val="accent2"/>
                </a:solidFill>
              </a:rPr>
              <a:t>Address high-impact issues first: </a:t>
            </a:r>
          </a:p>
          <a:p>
            <a:r>
              <a:rPr lang="en-US" sz="1200" kern="0" spc="-80" dirty="0">
                <a:solidFill>
                  <a:schemeClr val="accent6"/>
                </a:solidFill>
              </a:rPr>
              <a:t>Prioritize fixing critical issues that cause performance failures or security flaws. </a:t>
            </a:r>
          </a:p>
          <a:p>
            <a:r>
              <a:rPr lang="en-US" sz="1200" kern="0" spc="-80" dirty="0">
                <a:solidFill>
                  <a:schemeClr val="accent6"/>
                </a:solidFill>
              </a:rPr>
              <a:t>Cultural and process techniques</a:t>
            </a:r>
          </a:p>
          <a:p>
            <a:r>
              <a:rPr lang="en-US" sz="1200" kern="0" spc="-80" dirty="0">
                <a:solidFill>
                  <a:schemeClr val="accent2"/>
                </a:solidFill>
              </a:rPr>
              <a:t>Foster a culture of continuous improvement: </a:t>
            </a:r>
          </a:p>
          <a:p>
            <a:r>
              <a:rPr lang="en-US" sz="1200" kern="0" spc="-80" dirty="0">
                <a:solidFill>
                  <a:schemeClr val="accent6"/>
                </a:solidFill>
              </a:rPr>
              <a:t>Encourage a team-wide mindset of continuous learning and improvement, where quality is everyone's responsibility. </a:t>
            </a:r>
          </a:p>
          <a:p>
            <a:r>
              <a:rPr lang="en-US" sz="1200" kern="0" spc="-80" dirty="0">
                <a:solidFill>
                  <a:schemeClr val="accent2"/>
                </a:solidFill>
              </a:rPr>
              <a:t>Educate and train the team: </a:t>
            </a:r>
          </a:p>
          <a:p>
            <a:r>
              <a:rPr lang="en-US" sz="1200" kern="0" spc="-80" dirty="0">
                <a:solidFill>
                  <a:schemeClr val="accent6"/>
                </a:solidFill>
              </a:rPr>
              <a:t>Provide training on best practices and refactoring techniques to equip developers with the necessary skills. </a:t>
            </a:r>
          </a:p>
          <a:p>
            <a:r>
              <a:rPr lang="en-US" sz="1200" kern="0" spc="-80" dirty="0">
                <a:solidFill>
                  <a:schemeClr val="accent2"/>
                </a:solidFill>
              </a:rPr>
              <a:t>Communicate with stakeholders: </a:t>
            </a:r>
          </a:p>
          <a:p>
            <a:r>
              <a:rPr lang="en-US" sz="1200" kern="0" spc="-80" dirty="0">
                <a:solidFill>
                  <a:schemeClr val="accent6"/>
                </a:solidFill>
              </a:rPr>
              <a:t>Keep stakeholders informed about the state of technical debt and its impact on the project. </a:t>
            </a:r>
          </a:p>
          <a:p>
            <a:r>
              <a:rPr lang="en-US" sz="1200" kern="0" spc="-80" dirty="0">
                <a:solidFill>
                  <a:schemeClr val="accent2"/>
                </a:solidFill>
              </a:rPr>
              <a:t>Integrate into workflows: </a:t>
            </a:r>
          </a:p>
          <a:p>
            <a:r>
              <a:rPr lang="en-US" sz="1200" kern="0" spc="-80" dirty="0">
                <a:solidFill>
                  <a:schemeClr val="accent6"/>
                </a:solidFill>
              </a:rPr>
              <a:t>Incorporate debt management into daily routines and agile workflows, such as sprint planning and reviews. </a:t>
            </a:r>
          </a:p>
          <a:p>
            <a:endParaRPr lang="en-US" sz="1200" kern="0" spc="-80" dirty="0">
              <a:solidFill>
                <a:schemeClr val="accent6"/>
              </a:solidFill>
            </a:endParaRPr>
          </a:p>
          <a:p>
            <a:r>
              <a:rPr lang="en-US" sz="1200" kern="0" spc="-80" dirty="0">
                <a:solidFill>
                  <a:schemeClr val="accent2"/>
                </a:solidFill>
              </a:rPr>
              <a:t>For Further Exploration</a:t>
            </a:r>
          </a:p>
          <a:p>
            <a:r>
              <a:rPr lang="en-US" sz="1200" dirty="0">
                <a:hlinkClick r:id="rId7"/>
              </a:rPr>
              <a:t>Everything You NEED to Know About TECH DEBT</a:t>
            </a:r>
            <a:r>
              <a:rPr lang="en-US" sz="1200" dirty="0"/>
              <a:t> </a:t>
            </a:r>
          </a:p>
          <a:p>
            <a:r>
              <a:rPr lang="en-US" sz="1200" dirty="0">
                <a:hlinkClick r:id="rId8"/>
              </a:rPr>
              <a:t>Types Of Technical Debt And How To Manage Them</a:t>
            </a:r>
            <a:endParaRPr lang="en-US" sz="1200" kern="0" spc="-80" dirty="0">
              <a:solidFill>
                <a:schemeClr val="accent2"/>
              </a:solidFill>
            </a:endParaRP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37666411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Computing –</a:t>
            </a:r>
          </a:p>
        </p:txBody>
      </p:sp>
      <p:pic>
        <p:nvPicPr>
          <p:cNvPr id="1026" name="Picture 2" descr="Multi-cloud | MongoDB">
            <a:extLst>
              <a:ext uri="{FF2B5EF4-FFF2-40B4-BE49-F238E27FC236}">
                <a16:creationId xmlns:a16="http://schemas.microsoft.com/office/drawing/2014/main" id="{2D63927F-6AC4-0096-808B-762796E46B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913" y="1190625"/>
            <a:ext cx="8258175"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813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Computing(Benefits) –</a:t>
            </a:r>
          </a:p>
        </p:txBody>
      </p:sp>
      <p:pic>
        <p:nvPicPr>
          <p:cNvPr id="2050" name="Picture 2" descr="Advantages of Cloud computing. | Download Scientific Diagram">
            <a:extLst>
              <a:ext uri="{FF2B5EF4-FFF2-40B4-BE49-F238E27FC236}">
                <a16:creationId xmlns:a16="http://schemas.microsoft.com/office/drawing/2014/main" id="{4532B22B-3613-58A0-D786-765014B08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63" y="1170068"/>
            <a:ext cx="8624935" cy="462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86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IaaS vs PaaS vs SaaS –</a:t>
            </a:r>
          </a:p>
        </p:txBody>
      </p:sp>
      <p:pic>
        <p:nvPicPr>
          <p:cNvPr id="3076" name="Picture 4" descr="SaaS vs PaaS vs IaaS: Examples, differences, &amp; how to choose">
            <a:extLst>
              <a:ext uri="{FF2B5EF4-FFF2-40B4-BE49-F238E27FC236}">
                <a16:creationId xmlns:a16="http://schemas.microsoft.com/office/drawing/2014/main" id="{AE5B3C98-7BE5-8D94-682F-A0119A2277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37" y="1131332"/>
            <a:ext cx="8748661" cy="469796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8267088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Compute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86A4A2B2-A469-3341-829E-77C7DE613BDD}"/>
              </a:ext>
            </a:extLst>
          </p:cNvPr>
          <p:cNvPicPr>
            <a:picLocks noChangeAspect="1"/>
          </p:cNvPicPr>
          <p:nvPr/>
        </p:nvPicPr>
        <p:blipFill>
          <a:blip r:embed="rId8"/>
          <a:stretch>
            <a:fillRect/>
          </a:stretch>
        </p:blipFill>
        <p:spPr>
          <a:xfrm>
            <a:off x="152400" y="2286000"/>
            <a:ext cx="8853537" cy="3623175"/>
          </a:xfrm>
          <a:prstGeom prst="rect">
            <a:avLst/>
          </a:prstGeom>
        </p:spPr>
      </p:pic>
    </p:spTree>
    <p:extLst>
      <p:ext uri="{BB962C8B-B14F-4D97-AF65-F5344CB8AC3E}">
        <p14:creationId xmlns:p14="http://schemas.microsoft.com/office/powerpoint/2010/main" val="11611889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Storage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143000"/>
            <a:ext cx="8915399" cy="952549"/>
          </a:xfrm>
          <a:prstGeom prst="rect">
            <a:avLst/>
          </a:prstGeom>
        </p:spPr>
      </p:pic>
      <p:pic>
        <p:nvPicPr>
          <p:cNvPr id="10" name="Picture 9">
            <a:extLst>
              <a:ext uri="{FF2B5EF4-FFF2-40B4-BE49-F238E27FC236}">
                <a16:creationId xmlns:a16="http://schemas.microsoft.com/office/drawing/2014/main" id="{3CF10F57-281D-973B-B7B6-00B63DF8ED0C}"/>
              </a:ext>
            </a:extLst>
          </p:cNvPr>
          <p:cNvPicPr>
            <a:picLocks noChangeAspect="1"/>
          </p:cNvPicPr>
          <p:nvPr/>
        </p:nvPicPr>
        <p:blipFill>
          <a:blip r:embed="rId8"/>
          <a:stretch>
            <a:fillRect/>
          </a:stretch>
        </p:blipFill>
        <p:spPr>
          <a:xfrm>
            <a:off x="228599" y="2095548"/>
            <a:ext cx="8839199" cy="3086051"/>
          </a:xfrm>
          <a:prstGeom prst="rect">
            <a:avLst/>
          </a:prstGeom>
        </p:spPr>
      </p:pic>
      <p:sp>
        <p:nvSpPr>
          <p:cNvPr id="8" name="object 2">
            <a:extLst>
              <a:ext uri="{FF2B5EF4-FFF2-40B4-BE49-F238E27FC236}">
                <a16:creationId xmlns:a16="http://schemas.microsoft.com/office/drawing/2014/main" id="{01DDE745-BE45-48A8-E8AD-70F1372F773A}"/>
              </a:ext>
            </a:extLst>
          </p:cNvPr>
          <p:cNvSpPr txBox="1">
            <a:spLocks/>
          </p:cNvSpPr>
          <p:nvPr/>
        </p:nvSpPr>
        <p:spPr>
          <a:xfrm>
            <a:off x="190500" y="5235714"/>
            <a:ext cx="8701136"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IN" sz="1500" dirty="0">
                <a:hlinkClick r:id="rId9"/>
              </a:rPr>
              <a:t>AWS Transfer Family Documentation</a:t>
            </a:r>
            <a:endParaRPr lang="en-IN" sz="1500" dirty="0"/>
          </a:p>
          <a:p>
            <a:pPr marL="12700" marR="5080"/>
            <a:r>
              <a:rPr lang="en-US" sz="1500" dirty="0">
                <a:hlinkClick r:id="rId10"/>
              </a:rPr>
              <a:t>Ambry: Distributed object store</a:t>
            </a:r>
            <a:endParaRPr lang="en-US" sz="1500" kern="0" spc="-80" dirty="0">
              <a:solidFill>
                <a:schemeClr val="accent2"/>
              </a:solidFill>
            </a:endParaRPr>
          </a:p>
        </p:txBody>
      </p:sp>
    </p:spTree>
    <p:extLst>
      <p:ext uri="{BB962C8B-B14F-4D97-AF65-F5344CB8AC3E}">
        <p14:creationId xmlns:p14="http://schemas.microsoft.com/office/powerpoint/2010/main" val="45942002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Database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CC40B00C-2266-EF32-8640-393F20F3FE6C}"/>
              </a:ext>
            </a:extLst>
          </p:cNvPr>
          <p:cNvPicPr>
            <a:picLocks noChangeAspect="1"/>
          </p:cNvPicPr>
          <p:nvPr/>
        </p:nvPicPr>
        <p:blipFill>
          <a:blip r:embed="rId8"/>
          <a:stretch>
            <a:fillRect/>
          </a:stretch>
        </p:blipFill>
        <p:spPr>
          <a:xfrm>
            <a:off x="183893" y="2273213"/>
            <a:ext cx="8807707" cy="3441787"/>
          </a:xfrm>
          <a:prstGeom prst="rect">
            <a:avLst/>
          </a:prstGeom>
        </p:spPr>
      </p:pic>
    </p:spTree>
    <p:extLst>
      <p:ext uri="{BB962C8B-B14F-4D97-AF65-F5344CB8AC3E}">
        <p14:creationId xmlns:p14="http://schemas.microsoft.com/office/powerpoint/2010/main" val="26669066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Serverless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7D2CEFF0-6338-9EC6-50A2-0D89480ECB62}"/>
              </a:ext>
            </a:extLst>
          </p:cNvPr>
          <p:cNvPicPr>
            <a:picLocks noChangeAspect="1"/>
          </p:cNvPicPr>
          <p:nvPr/>
        </p:nvPicPr>
        <p:blipFill>
          <a:blip r:embed="rId8"/>
          <a:stretch>
            <a:fillRect/>
          </a:stretch>
        </p:blipFill>
        <p:spPr>
          <a:xfrm>
            <a:off x="152401" y="2343118"/>
            <a:ext cx="8915398" cy="1314481"/>
          </a:xfrm>
          <a:prstGeom prst="rect">
            <a:avLst/>
          </a:prstGeom>
        </p:spPr>
      </p:pic>
      <p:sp>
        <p:nvSpPr>
          <p:cNvPr id="8" name="object 2">
            <a:extLst>
              <a:ext uri="{FF2B5EF4-FFF2-40B4-BE49-F238E27FC236}">
                <a16:creationId xmlns:a16="http://schemas.microsoft.com/office/drawing/2014/main" id="{B0A494EF-966C-8DC9-CCAD-A549E25A1991}"/>
              </a:ext>
            </a:extLst>
          </p:cNvPr>
          <p:cNvSpPr txBox="1">
            <a:spLocks/>
          </p:cNvSpPr>
          <p:nvPr/>
        </p:nvSpPr>
        <p:spPr>
          <a:xfrm>
            <a:off x="61864" y="5187315"/>
            <a:ext cx="8701136"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dirty="0">
                <a:hlinkClick r:id="rId9"/>
              </a:rPr>
              <a:t>Build ASP.NET Core APIs with Kubernetes and </a:t>
            </a:r>
            <a:r>
              <a:rPr lang="en-US" sz="1600" dirty="0" err="1">
                <a:hlinkClick r:id="rId9"/>
              </a:rPr>
              <a:t>OpenFaaS</a:t>
            </a:r>
            <a:r>
              <a:rPr lang="en-US" sz="1600" dirty="0">
                <a:hlinkClick r:id="rId9"/>
              </a:rPr>
              <a:t> | </a:t>
            </a:r>
            <a:r>
              <a:rPr lang="en-US" sz="1600" dirty="0" err="1">
                <a:hlinkClick r:id="rId9"/>
              </a:rPr>
              <a:t>OpenFaaS</a:t>
            </a:r>
            <a:r>
              <a:rPr lang="en-US" sz="1600" dirty="0">
                <a:hlinkClick r:id="rId9"/>
              </a:rPr>
              <a:t> - Serverless Functions Made Simple</a:t>
            </a:r>
            <a:endParaRPr lang="en-US" sz="1600" dirty="0"/>
          </a:p>
          <a:p>
            <a:pPr marL="12700" marR="5080"/>
            <a:endParaRPr lang="en-US" sz="1600" kern="0" spc="-80" dirty="0">
              <a:solidFill>
                <a:schemeClr val="accent2"/>
              </a:solidFill>
            </a:endParaRPr>
          </a:p>
        </p:txBody>
      </p:sp>
    </p:spTree>
    <p:extLst>
      <p:ext uri="{BB962C8B-B14F-4D97-AF65-F5344CB8AC3E}">
        <p14:creationId xmlns:p14="http://schemas.microsoft.com/office/powerpoint/2010/main" val="85688899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a:solidFill>
                  <a:schemeClr val="accent2"/>
                </a:solidFill>
              </a:rPr>
              <a:t>(Pre-Trained) </a:t>
            </a:r>
            <a:r>
              <a:rPr lang="en-US" sz="2400" kern="0" spc="-80" dirty="0">
                <a:solidFill>
                  <a:schemeClr val="accent2"/>
                </a:solidFill>
              </a:rPr>
              <a:t>AI Services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0" name="Picture 9">
            <a:extLst>
              <a:ext uri="{FF2B5EF4-FFF2-40B4-BE49-F238E27FC236}">
                <a16:creationId xmlns:a16="http://schemas.microsoft.com/office/drawing/2014/main" id="{2903062E-405C-30C6-03FA-951F1158F216}"/>
              </a:ext>
            </a:extLst>
          </p:cNvPr>
          <p:cNvPicPr>
            <a:picLocks noChangeAspect="1"/>
          </p:cNvPicPr>
          <p:nvPr/>
        </p:nvPicPr>
        <p:blipFill>
          <a:blip r:embed="rId8"/>
          <a:stretch>
            <a:fillRect/>
          </a:stretch>
        </p:blipFill>
        <p:spPr>
          <a:xfrm>
            <a:off x="152400" y="2292229"/>
            <a:ext cx="8915399" cy="3616946"/>
          </a:xfrm>
          <a:prstGeom prst="rect">
            <a:avLst/>
          </a:prstGeom>
        </p:spPr>
      </p:pic>
    </p:spTree>
    <p:extLst>
      <p:ext uri="{BB962C8B-B14F-4D97-AF65-F5344CB8AC3E}">
        <p14:creationId xmlns:p14="http://schemas.microsoft.com/office/powerpoint/2010/main" val="236848620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Basics –</a:t>
            </a:r>
            <a:r>
              <a:rPr lang="en-US" sz="2400" kern="0" spc="-80" dirty="0">
                <a:solidFill>
                  <a:schemeClr val="accent2"/>
                </a:solidFill>
              </a:rPr>
              <a:t> </a:t>
            </a:r>
          </a:p>
          <a:p>
            <a:pPr marL="12700" marR="5080"/>
            <a:r>
              <a:rPr lang="en-US" sz="1500" kern="0" spc="-80" dirty="0">
                <a:solidFill>
                  <a:schemeClr val="accent2"/>
                </a:solidFill>
              </a:rPr>
              <a:t>    </a:t>
            </a:r>
            <a:r>
              <a:rPr lang="en-US" sz="1500" dirty="0">
                <a:hlinkClick r:id="rId7"/>
              </a:rPr>
              <a:t>IP Address Format and Table – </a:t>
            </a:r>
            <a:r>
              <a:rPr lang="en-US" sz="1500" dirty="0" err="1">
                <a:hlinkClick r:id="rId7"/>
              </a:rPr>
              <a:t>javatpoint</a:t>
            </a:r>
            <a:endParaRPr lang="en-US" sz="1500" dirty="0"/>
          </a:p>
          <a:p>
            <a:pPr marL="12700" marR="5080"/>
            <a:r>
              <a:rPr lang="en-US" sz="1500" kern="0" spc="-80" dirty="0">
                <a:solidFill>
                  <a:schemeClr val="accent2"/>
                </a:solidFill>
              </a:rPr>
              <a:t>    </a:t>
            </a:r>
            <a:r>
              <a:rPr lang="en-US" sz="1500" dirty="0">
                <a:hlinkClick r:id="rId8"/>
              </a:rPr>
              <a:t>What is CIDR? - CIDR Blocks and Notation Explained – AWS</a:t>
            </a:r>
            <a:endParaRPr lang="en-US" sz="1500" dirty="0"/>
          </a:p>
          <a:p>
            <a:pPr marL="12700" marR="5080"/>
            <a:r>
              <a:rPr lang="en-US" sz="1500" kern="0" spc="-80" dirty="0">
                <a:solidFill>
                  <a:schemeClr val="accent2"/>
                </a:solidFill>
              </a:rPr>
              <a:t>    </a:t>
            </a:r>
            <a:r>
              <a:rPr lang="en-US" sz="1500" dirty="0">
                <a:hlinkClick r:id="rId9"/>
              </a:rPr>
              <a:t>AWS Networking - AWS VPC, Subnets, Security Groups, NAT Gateway &amp; IP Addresses</a:t>
            </a:r>
            <a:endParaRPr lang="en-US" sz="1500" dirty="0"/>
          </a:p>
          <a:p>
            <a:pPr marL="12700" marR="5080"/>
            <a:endParaRPr lang="en-US" sz="1500" kern="0" spc="-80" dirty="0">
              <a:solidFill>
                <a:schemeClr val="accent2"/>
              </a:solidFill>
            </a:endParaRPr>
          </a:p>
        </p:txBody>
      </p:sp>
      <p:pic>
        <p:nvPicPr>
          <p:cNvPr id="11" name="Picture 10">
            <a:extLst>
              <a:ext uri="{FF2B5EF4-FFF2-40B4-BE49-F238E27FC236}">
                <a16:creationId xmlns:a16="http://schemas.microsoft.com/office/drawing/2014/main" id="{DB54271E-B3EE-EEEC-2660-172A11C79E61}"/>
              </a:ext>
            </a:extLst>
          </p:cNvPr>
          <p:cNvPicPr>
            <a:picLocks noChangeAspect="1"/>
          </p:cNvPicPr>
          <p:nvPr/>
        </p:nvPicPr>
        <p:blipFill>
          <a:blip r:embed="rId10"/>
          <a:stretch>
            <a:fillRect/>
          </a:stretch>
        </p:blipFill>
        <p:spPr>
          <a:xfrm>
            <a:off x="228600" y="2448085"/>
            <a:ext cx="8624937" cy="3343114"/>
          </a:xfrm>
          <a:prstGeom prst="rect">
            <a:avLst/>
          </a:prstGeom>
        </p:spPr>
      </p:pic>
    </p:spTree>
    <p:extLst>
      <p:ext uri="{BB962C8B-B14F-4D97-AF65-F5344CB8AC3E}">
        <p14:creationId xmlns:p14="http://schemas.microsoft.com/office/powerpoint/2010/main" val="316149598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Network ACL &amp; Security Groups –</a:t>
            </a:r>
            <a:r>
              <a:rPr lang="en-US" sz="2400" kern="0" spc="-80" dirty="0">
                <a:solidFill>
                  <a:schemeClr val="accent2"/>
                </a:solidFill>
              </a:rPr>
              <a:t> </a:t>
            </a:r>
          </a:p>
        </p:txBody>
      </p:sp>
      <p:pic>
        <p:nvPicPr>
          <p:cNvPr id="1026" name="Picture 2" descr="Using AWS Network ACLs With NAT Gateway - DEV Community">
            <a:extLst>
              <a:ext uri="{FF2B5EF4-FFF2-40B4-BE49-F238E27FC236}">
                <a16:creationId xmlns:a16="http://schemas.microsoft.com/office/drawing/2014/main" id="{6EC39825-AA58-D3CE-97E1-FF72F5CE76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447799"/>
            <a:ext cx="8624936" cy="446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0788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Direct Connect &amp; Transit Gateway - </a:t>
            </a:r>
            <a:endParaRPr lang="en-US" sz="1600" kern="0" spc="-80" dirty="0">
              <a:solidFill>
                <a:schemeClr val="accent2"/>
              </a:solidFill>
            </a:endParaRPr>
          </a:p>
        </p:txBody>
      </p:sp>
      <p:pic>
        <p:nvPicPr>
          <p:cNvPr id="6146" name="Picture 2">
            <a:extLst>
              <a:ext uri="{FF2B5EF4-FFF2-40B4-BE49-F238E27FC236}">
                <a16:creationId xmlns:a16="http://schemas.microsoft.com/office/drawing/2014/main" id="{CD214149-F69F-7AA2-5650-0C0F2B1BB9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500187"/>
            <a:ext cx="9144000" cy="4291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63393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a:t>
            </a:r>
            <a:r>
              <a:rPr lang="en-US" sz="2000" kern="0" spc="-80" dirty="0" err="1">
                <a:solidFill>
                  <a:schemeClr val="accent2"/>
                </a:solidFill>
              </a:rPr>
              <a:t>PrivateLink</a:t>
            </a:r>
            <a:r>
              <a:rPr lang="en-US" sz="2000" kern="0" spc="-80" dirty="0">
                <a:solidFill>
                  <a:schemeClr val="accent2"/>
                </a:solidFill>
              </a:rPr>
              <a:t> - </a:t>
            </a:r>
            <a:endParaRPr lang="en-US" sz="1600" kern="0" spc="-80" dirty="0">
              <a:solidFill>
                <a:schemeClr val="accent2"/>
              </a:solidFill>
            </a:endParaRPr>
          </a:p>
        </p:txBody>
      </p:sp>
      <p:pic>
        <p:nvPicPr>
          <p:cNvPr id="7170" name="Picture 2">
            <a:extLst>
              <a:ext uri="{FF2B5EF4-FFF2-40B4-BE49-F238E27FC236}">
                <a16:creationId xmlns:a16="http://schemas.microsoft.com/office/drawing/2014/main" id="{1A54B46B-F659-58BB-F4CC-8A72B48935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401644"/>
            <a:ext cx="8777337" cy="454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8934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VPC Peering - </a:t>
            </a:r>
            <a:endParaRPr lang="en-US" sz="1600" kern="0" spc="-80" dirty="0">
              <a:solidFill>
                <a:schemeClr val="accent2"/>
              </a:solidFill>
            </a:endParaRPr>
          </a:p>
        </p:txBody>
      </p:sp>
      <p:pic>
        <p:nvPicPr>
          <p:cNvPr id="8194" name="Picture 2">
            <a:extLst>
              <a:ext uri="{FF2B5EF4-FFF2-40B4-BE49-F238E27FC236}">
                <a16:creationId xmlns:a16="http://schemas.microsoft.com/office/drawing/2014/main" id="{1131E4F6-F34E-8EA3-21B2-F2D0271C94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39" y="1371600"/>
            <a:ext cx="8839198"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64021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Shield vs AWS WAF - </a:t>
            </a:r>
            <a:endParaRPr lang="en-US" sz="1600" kern="0" spc="-80" dirty="0">
              <a:solidFill>
                <a:schemeClr val="accent2"/>
              </a:solidFill>
            </a:endParaRPr>
          </a:p>
        </p:txBody>
      </p:sp>
      <p:pic>
        <p:nvPicPr>
          <p:cNvPr id="10" name="Picture 9">
            <a:extLst>
              <a:ext uri="{FF2B5EF4-FFF2-40B4-BE49-F238E27FC236}">
                <a16:creationId xmlns:a16="http://schemas.microsoft.com/office/drawing/2014/main" id="{42C6D487-22D9-AD51-DBF9-10FD4CD5D88B}"/>
              </a:ext>
            </a:extLst>
          </p:cNvPr>
          <p:cNvPicPr>
            <a:picLocks noChangeAspect="1"/>
          </p:cNvPicPr>
          <p:nvPr/>
        </p:nvPicPr>
        <p:blipFill>
          <a:blip r:embed="rId7"/>
          <a:stretch>
            <a:fillRect/>
          </a:stretch>
        </p:blipFill>
        <p:spPr>
          <a:xfrm>
            <a:off x="138063" y="1434911"/>
            <a:ext cx="8715474" cy="4474264"/>
          </a:xfrm>
          <a:prstGeom prst="rect">
            <a:avLst/>
          </a:prstGeom>
        </p:spPr>
      </p:pic>
    </p:spTree>
    <p:extLst>
      <p:ext uri="{BB962C8B-B14F-4D97-AF65-F5344CB8AC3E}">
        <p14:creationId xmlns:p14="http://schemas.microsoft.com/office/powerpoint/2010/main" val="90649709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Shield(Standard vs Advanced) - </a:t>
            </a:r>
            <a:endParaRPr lang="en-US" sz="1600" kern="0" spc="-80" dirty="0">
              <a:solidFill>
                <a:schemeClr val="accent2"/>
              </a:solidFill>
            </a:endParaRPr>
          </a:p>
        </p:txBody>
      </p:sp>
      <p:pic>
        <p:nvPicPr>
          <p:cNvPr id="13" name="Picture 12">
            <a:extLst>
              <a:ext uri="{FF2B5EF4-FFF2-40B4-BE49-F238E27FC236}">
                <a16:creationId xmlns:a16="http://schemas.microsoft.com/office/drawing/2014/main" id="{2155C6B4-DC25-078E-B064-FC62984AE0C5}"/>
              </a:ext>
            </a:extLst>
          </p:cNvPr>
          <p:cNvPicPr>
            <a:picLocks noChangeAspect="1"/>
          </p:cNvPicPr>
          <p:nvPr/>
        </p:nvPicPr>
        <p:blipFill>
          <a:blip r:embed="rId7"/>
          <a:stretch>
            <a:fillRect/>
          </a:stretch>
        </p:blipFill>
        <p:spPr>
          <a:xfrm>
            <a:off x="138063" y="1447624"/>
            <a:ext cx="8915398" cy="4419776"/>
          </a:xfrm>
          <a:prstGeom prst="rect">
            <a:avLst/>
          </a:prstGeom>
        </p:spPr>
      </p:pic>
    </p:spTree>
    <p:extLst>
      <p:ext uri="{BB962C8B-B14F-4D97-AF65-F5344CB8AC3E}">
        <p14:creationId xmlns:p14="http://schemas.microsoft.com/office/powerpoint/2010/main" val="20955218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7862" y="72067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(High Level Structured) Resources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5E4C17B4-D414-6402-2FDB-5A8181CC4297}"/>
              </a:ext>
            </a:extLst>
          </p:cNvPr>
          <p:cNvPicPr>
            <a:picLocks noChangeAspect="1"/>
          </p:cNvPicPr>
          <p:nvPr/>
        </p:nvPicPr>
        <p:blipFill>
          <a:blip r:embed="rId7"/>
          <a:stretch>
            <a:fillRect/>
          </a:stretch>
        </p:blipFill>
        <p:spPr>
          <a:xfrm>
            <a:off x="0" y="1090010"/>
            <a:ext cx="9144000" cy="4114926"/>
          </a:xfrm>
          <a:prstGeom prst="rect">
            <a:avLst/>
          </a:prstGeom>
        </p:spPr>
      </p:pic>
      <p:sp>
        <p:nvSpPr>
          <p:cNvPr id="9" name="object 2">
            <a:extLst>
              <a:ext uri="{FF2B5EF4-FFF2-40B4-BE49-F238E27FC236}">
                <a16:creationId xmlns:a16="http://schemas.microsoft.com/office/drawing/2014/main" id="{29B45530-3137-C8C2-2D45-46CF3BCFEFC6}"/>
              </a:ext>
            </a:extLst>
          </p:cNvPr>
          <p:cNvSpPr txBox="1">
            <a:spLocks/>
          </p:cNvSpPr>
          <p:nvPr/>
        </p:nvSpPr>
        <p:spPr>
          <a:xfrm>
            <a:off x="83368" y="5204936"/>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dirty="0">
                <a:hlinkClick r:id="rId8"/>
              </a:rPr>
              <a:t>Organize your Azure resources effectively - Cloud Adoption Framework | Microsoft Learn</a:t>
            </a:r>
            <a:endParaRPr lang="en-US" sz="1600" kern="0" spc="-80" dirty="0">
              <a:solidFill>
                <a:schemeClr val="accent2"/>
              </a:solidFill>
            </a:endParaRPr>
          </a:p>
        </p:txBody>
      </p:sp>
    </p:spTree>
    <p:extLst>
      <p:ext uri="{BB962C8B-B14F-4D97-AF65-F5344CB8AC3E}">
        <p14:creationId xmlns:p14="http://schemas.microsoft.com/office/powerpoint/2010/main" val="2913899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928F2A0F-2D4B-B8B0-2041-0C5EFF4C2BC2}"/>
              </a:ext>
            </a:extLst>
          </p:cNvPr>
          <p:cNvPicPr>
            <a:picLocks noChangeAspect="1"/>
          </p:cNvPicPr>
          <p:nvPr/>
        </p:nvPicPr>
        <p:blipFill>
          <a:blip r:embed="rId7"/>
          <a:stretch>
            <a:fillRect/>
          </a:stretch>
        </p:blipFill>
        <p:spPr>
          <a:xfrm>
            <a:off x="0" y="1136023"/>
            <a:ext cx="9144000" cy="3601057"/>
          </a:xfrm>
          <a:prstGeom prst="rect">
            <a:avLst/>
          </a:prstGeom>
        </p:spPr>
      </p:pic>
      <p:sp>
        <p:nvSpPr>
          <p:cNvPr id="12" name="object 2">
            <a:extLst>
              <a:ext uri="{FF2B5EF4-FFF2-40B4-BE49-F238E27FC236}">
                <a16:creationId xmlns:a16="http://schemas.microsoft.com/office/drawing/2014/main" id="{9EBC5ED4-DA58-9F9E-EF4B-83FDC862920C}"/>
              </a:ext>
            </a:extLst>
          </p:cNvPr>
          <p:cNvSpPr txBox="1">
            <a:spLocks/>
          </p:cNvSpPr>
          <p:nvPr/>
        </p:nvSpPr>
        <p:spPr>
          <a:xfrm>
            <a:off x="-38100" y="4737081"/>
            <a:ext cx="8915399" cy="12157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 </a:t>
            </a:r>
          </a:p>
          <a:p>
            <a:pPr marL="12700" marR="5080"/>
            <a:r>
              <a:rPr lang="en-US" sz="1500" dirty="0">
                <a:hlinkClick r:id="rId8"/>
              </a:rPr>
              <a:t>AWS, Azure and GCP: The Ultimate IAM Comparison - Blog | Tenable®</a:t>
            </a:r>
            <a:endParaRPr lang="en-US" sz="1500" dirty="0"/>
          </a:p>
          <a:p>
            <a:pPr marL="12700" marR="5080"/>
            <a:r>
              <a:rPr lang="en-US" sz="1600" dirty="0">
                <a:hlinkClick r:id="rId9"/>
              </a:rPr>
              <a:t>What is Privileged Identity Management? </a:t>
            </a:r>
            <a:endParaRPr lang="en-US" sz="1500" dirty="0"/>
          </a:p>
          <a:p>
            <a:pPr marL="12700" marR="5080"/>
            <a:r>
              <a:rPr lang="en-US" sz="1600" dirty="0">
                <a:hlinkClick r:id="rId10"/>
              </a:rPr>
              <a:t>Recommendations for identity and access management</a:t>
            </a:r>
            <a:endParaRPr lang="en-US" sz="1600" dirty="0"/>
          </a:p>
          <a:p>
            <a:pPr marL="12700" marR="5080"/>
            <a:r>
              <a:rPr lang="en-US" sz="1600" dirty="0">
                <a:hlinkClick r:id="rId11"/>
              </a:rPr>
              <a:t>Azure identity &amp; access security best practices | Microsoft Learn</a:t>
            </a:r>
            <a:endParaRPr lang="en-US" sz="1500" kern="0" spc="-80" dirty="0">
              <a:solidFill>
                <a:schemeClr val="accent2"/>
              </a:solidFill>
            </a:endParaRPr>
          </a:p>
        </p:txBody>
      </p:sp>
    </p:spTree>
    <p:extLst>
      <p:ext uri="{BB962C8B-B14F-4D97-AF65-F5344CB8AC3E}">
        <p14:creationId xmlns:p14="http://schemas.microsoft.com/office/powerpoint/2010/main" val="75130126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2" name="Picture 2">
            <a:extLst>
              <a:ext uri="{FF2B5EF4-FFF2-40B4-BE49-F238E27FC236}">
                <a16:creationId xmlns:a16="http://schemas.microsoft.com/office/drawing/2014/main" id="{30C6F18B-344D-483F-5859-58FDD95049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063" y="1131332"/>
            <a:ext cx="8867874" cy="4138136"/>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AE96F8CB-FE1C-85CB-F6F0-62CCC890DBBC}"/>
              </a:ext>
            </a:extLst>
          </p:cNvPr>
          <p:cNvSpPr txBox="1">
            <a:spLocks/>
          </p:cNvSpPr>
          <p:nvPr/>
        </p:nvSpPr>
        <p:spPr>
          <a:xfrm>
            <a:off x="0" y="5468779"/>
            <a:ext cx="8915399"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N.B. -&gt; The Principal can be a group(of users) or resource as well</a:t>
            </a:r>
          </a:p>
        </p:txBody>
      </p:sp>
    </p:spTree>
    <p:extLst>
      <p:ext uri="{BB962C8B-B14F-4D97-AF65-F5344CB8AC3E}">
        <p14:creationId xmlns:p14="http://schemas.microsoft.com/office/powerpoint/2010/main" val="13798581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9F19DA27-CB39-01AC-782A-0232E9BB54B9}"/>
              </a:ext>
            </a:extLst>
          </p:cNvPr>
          <p:cNvPicPr>
            <a:picLocks noChangeAspect="1"/>
          </p:cNvPicPr>
          <p:nvPr/>
        </p:nvPicPr>
        <p:blipFill>
          <a:blip r:embed="rId7"/>
          <a:stretch>
            <a:fillRect/>
          </a:stretch>
        </p:blipFill>
        <p:spPr>
          <a:xfrm>
            <a:off x="2576463" y="1170068"/>
            <a:ext cx="6567537" cy="4468732"/>
          </a:xfrm>
          <a:prstGeom prst="rect">
            <a:avLst/>
          </a:prstGeom>
        </p:spPr>
      </p:pic>
      <p:pic>
        <p:nvPicPr>
          <p:cNvPr id="13" name="Picture 12">
            <a:extLst>
              <a:ext uri="{FF2B5EF4-FFF2-40B4-BE49-F238E27FC236}">
                <a16:creationId xmlns:a16="http://schemas.microsoft.com/office/drawing/2014/main" id="{962E154B-D1A1-A8F3-E28F-456022EC2229}"/>
              </a:ext>
            </a:extLst>
          </p:cNvPr>
          <p:cNvPicPr>
            <a:picLocks noChangeAspect="1"/>
          </p:cNvPicPr>
          <p:nvPr/>
        </p:nvPicPr>
        <p:blipFill>
          <a:blip r:embed="rId8"/>
          <a:stretch>
            <a:fillRect/>
          </a:stretch>
        </p:blipFill>
        <p:spPr>
          <a:xfrm>
            <a:off x="76200" y="1254036"/>
            <a:ext cx="2438400" cy="4468732"/>
          </a:xfrm>
          <a:prstGeom prst="rect">
            <a:avLst/>
          </a:prstGeom>
        </p:spPr>
      </p:pic>
    </p:spTree>
    <p:extLst>
      <p:ext uri="{BB962C8B-B14F-4D97-AF65-F5344CB8AC3E}">
        <p14:creationId xmlns:p14="http://schemas.microsoft.com/office/powerpoint/2010/main" val="193944697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a:p>
            <a:pPr marL="12700" marR="5080"/>
            <a:r>
              <a:rPr lang="en-US" sz="2400" kern="0" spc="-80" dirty="0">
                <a:solidFill>
                  <a:schemeClr val="accent2"/>
                </a:solidFill>
              </a:rPr>
              <a:t>    A sample Policy Json</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AF41B523-F2A6-8854-8BFD-ECA06C2FDD66}"/>
              </a:ext>
            </a:extLst>
          </p:cNvPr>
          <p:cNvPicPr>
            <a:picLocks noChangeAspect="1"/>
          </p:cNvPicPr>
          <p:nvPr/>
        </p:nvPicPr>
        <p:blipFill>
          <a:blip r:embed="rId7"/>
          <a:stretch>
            <a:fillRect/>
          </a:stretch>
        </p:blipFill>
        <p:spPr>
          <a:xfrm>
            <a:off x="138063" y="1536625"/>
            <a:ext cx="8715474" cy="4372549"/>
          </a:xfrm>
          <a:prstGeom prst="rect">
            <a:avLst/>
          </a:prstGeom>
        </p:spPr>
      </p:pic>
    </p:spTree>
    <p:extLst>
      <p:ext uri="{BB962C8B-B14F-4D97-AF65-F5344CB8AC3E}">
        <p14:creationId xmlns:p14="http://schemas.microsoft.com/office/powerpoint/2010/main" val="363493528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7 Rs - </a:t>
            </a:r>
            <a:r>
              <a:rPr lang="en-US" sz="2000" kern="0" spc="-80" dirty="0">
                <a:solidFill>
                  <a:schemeClr val="accent2"/>
                </a:solidFill>
              </a:rPr>
              <a:t> </a:t>
            </a:r>
            <a:endParaRPr lang="en-US" sz="1600" kern="0" spc="-80" dirty="0">
              <a:solidFill>
                <a:schemeClr val="accent2"/>
              </a:solidFill>
            </a:endParaRPr>
          </a:p>
        </p:txBody>
      </p:sp>
      <p:pic>
        <p:nvPicPr>
          <p:cNvPr id="9218" name="Picture 2" descr="How to Understand the 7 Rs Strategies for Moving Applications to the Cloud  | by Mohammed Munem | Daemon thinking | Medium">
            <a:extLst>
              <a:ext uri="{FF2B5EF4-FFF2-40B4-BE49-F238E27FC236}">
                <a16:creationId xmlns:a16="http://schemas.microsoft.com/office/drawing/2014/main" id="{8B379B9B-C714-7B51-9352-BD123856ED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43000"/>
            <a:ext cx="9144000" cy="457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08363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Migration - </a:t>
            </a:r>
            <a:r>
              <a:rPr lang="en-US" sz="2000" kern="0" spc="-80" dirty="0">
                <a:solidFill>
                  <a:schemeClr val="accent2"/>
                </a:solidFill>
              </a:rPr>
              <a:t> </a:t>
            </a:r>
            <a:endParaRPr lang="en-US" sz="1600" kern="0" spc="-80" dirty="0">
              <a:solidFill>
                <a:schemeClr val="accent2"/>
              </a:solidFill>
            </a:endParaRPr>
          </a:p>
        </p:txBody>
      </p:sp>
      <p:pic>
        <p:nvPicPr>
          <p:cNvPr id="9" name="Picture 8">
            <a:extLst>
              <a:ext uri="{FF2B5EF4-FFF2-40B4-BE49-F238E27FC236}">
                <a16:creationId xmlns:a16="http://schemas.microsoft.com/office/drawing/2014/main" id="{F26736B5-8186-B288-C018-391449F397A0}"/>
              </a:ext>
            </a:extLst>
          </p:cNvPr>
          <p:cNvPicPr>
            <a:picLocks noChangeAspect="1"/>
          </p:cNvPicPr>
          <p:nvPr/>
        </p:nvPicPr>
        <p:blipFill>
          <a:blip r:embed="rId7"/>
          <a:stretch>
            <a:fillRect/>
          </a:stretch>
        </p:blipFill>
        <p:spPr>
          <a:xfrm>
            <a:off x="138062" y="1066800"/>
            <a:ext cx="8915399" cy="4114800"/>
          </a:xfrm>
          <a:prstGeom prst="rect">
            <a:avLst/>
          </a:prstGeom>
        </p:spPr>
      </p:pic>
      <p:sp>
        <p:nvSpPr>
          <p:cNvPr id="8" name="object 2">
            <a:extLst>
              <a:ext uri="{FF2B5EF4-FFF2-40B4-BE49-F238E27FC236}">
                <a16:creationId xmlns:a16="http://schemas.microsoft.com/office/drawing/2014/main" id="{D58C1167-2B8D-7A79-2AAF-D495F74676A9}"/>
              </a:ext>
            </a:extLst>
          </p:cNvPr>
          <p:cNvSpPr txBox="1">
            <a:spLocks/>
          </p:cNvSpPr>
          <p:nvPr/>
        </p:nvSpPr>
        <p:spPr>
          <a:xfrm>
            <a:off x="0" y="5181600"/>
            <a:ext cx="8915399" cy="9387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500" kern="0" spc="-80" dirty="0">
                <a:solidFill>
                  <a:schemeClr val="accent2"/>
                </a:solidFill>
              </a:rPr>
              <a:t> </a:t>
            </a:r>
            <a:r>
              <a:rPr lang="en-US" sz="1500" dirty="0">
                <a:hlinkClick r:id="rId8"/>
              </a:rPr>
              <a:t>CAF vs WAF: Key Differences in Cloud Adoption Strategies</a:t>
            </a:r>
            <a:endParaRPr lang="en-US" sz="1500" dirty="0"/>
          </a:p>
          <a:p>
            <a:pPr marL="12700" marR="5080"/>
            <a:r>
              <a:rPr lang="en-US" sz="1500" dirty="0">
                <a:hlinkClick r:id="rId9"/>
              </a:rPr>
              <a:t> App Modernization on Azure Succinctly</a:t>
            </a:r>
            <a:endParaRPr lang="en-US" sz="1500" dirty="0"/>
          </a:p>
          <a:p>
            <a:pPr marL="12700" marR="5080"/>
            <a:endParaRPr lang="en-US" sz="1500" kern="0" spc="-80" dirty="0">
              <a:solidFill>
                <a:schemeClr val="accent2"/>
              </a:solidFill>
            </a:endParaRPr>
          </a:p>
        </p:txBody>
      </p:sp>
    </p:spTree>
    <p:extLst>
      <p:ext uri="{BB962C8B-B14F-4D97-AF65-F5344CB8AC3E}">
        <p14:creationId xmlns:p14="http://schemas.microsoft.com/office/powerpoint/2010/main" val="5300543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pic>
        <p:nvPicPr>
          <p:cNvPr id="10" name="Picture 9">
            <a:extLst>
              <a:ext uri="{FF2B5EF4-FFF2-40B4-BE49-F238E27FC236}">
                <a16:creationId xmlns:a16="http://schemas.microsoft.com/office/drawing/2014/main" id="{788660E1-ACF3-DDD0-A48A-2997BD28BCB7}"/>
              </a:ext>
            </a:extLst>
          </p:cNvPr>
          <p:cNvPicPr>
            <a:picLocks noChangeAspect="1"/>
          </p:cNvPicPr>
          <p:nvPr/>
        </p:nvPicPr>
        <p:blipFill>
          <a:blip r:embed="rId7"/>
          <a:stretch>
            <a:fillRect/>
          </a:stretch>
        </p:blipFill>
        <p:spPr>
          <a:xfrm>
            <a:off x="0" y="1053737"/>
            <a:ext cx="9144000" cy="4401347"/>
          </a:xfrm>
          <a:prstGeom prst="rect">
            <a:avLst/>
          </a:prstGeom>
        </p:spPr>
      </p:pic>
      <p:sp>
        <p:nvSpPr>
          <p:cNvPr id="11" name="object 2">
            <a:extLst>
              <a:ext uri="{FF2B5EF4-FFF2-40B4-BE49-F238E27FC236}">
                <a16:creationId xmlns:a16="http://schemas.microsoft.com/office/drawing/2014/main" id="{386BAC7A-6A7B-259A-0D77-1159E98538EC}"/>
              </a:ext>
            </a:extLst>
          </p:cNvPr>
          <p:cNvSpPr txBox="1">
            <a:spLocks/>
          </p:cNvSpPr>
          <p:nvPr/>
        </p:nvSpPr>
        <p:spPr>
          <a:xfrm>
            <a:off x="14689" y="5455085"/>
            <a:ext cx="8915399" cy="4770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 </a:t>
            </a:r>
          </a:p>
          <a:p>
            <a:pPr marL="12700" marR="5080"/>
            <a:r>
              <a:rPr lang="en-US" sz="1500" dirty="0">
                <a:hlinkClick r:id="rId8"/>
              </a:rPr>
              <a:t>How to build cloud agnostic enterprise web applications | LinkedIn</a:t>
            </a:r>
            <a:endParaRPr lang="en-US" sz="1500" kern="0" spc="-80" dirty="0">
              <a:solidFill>
                <a:schemeClr val="accent2"/>
              </a:solidFill>
            </a:endParaRPr>
          </a:p>
        </p:txBody>
      </p:sp>
    </p:spTree>
    <p:extLst>
      <p:ext uri="{BB962C8B-B14F-4D97-AF65-F5344CB8AC3E}">
        <p14:creationId xmlns:p14="http://schemas.microsoft.com/office/powerpoint/2010/main" val="179005961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10" name="Table 9">
            <a:extLst>
              <a:ext uri="{FF2B5EF4-FFF2-40B4-BE49-F238E27FC236}">
                <a16:creationId xmlns:a16="http://schemas.microsoft.com/office/drawing/2014/main" id="{80A2BB12-A110-B1E5-447E-99AC89EF8BA3}"/>
              </a:ext>
            </a:extLst>
          </p:cNvPr>
          <p:cNvGraphicFramePr>
            <a:graphicFrameLocks noGrp="1"/>
          </p:cNvGraphicFramePr>
          <p:nvPr/>
        </p:nvGraphicFramePr>
        <p:xfrm>
          <a:off x="76199" y="1031240"/>
          <a:ext cx="9067800" cy="4877936"/>
        </p:xfrm>
        <a:graphic>
          <a:graphicData uri="http://schemas.openxmlformats.org/drawingml/2006/table">
            <a:tbl>
              <a:tblPr firstRow="1" bandRow="1">
                <a:tableStyleId>{5C22544A-7EE6-4342-B048-85BDC9FD1C3A}</a:tableStyleId>
              </a:tblPr>
              <a:tblGrid>
                <a:gridCol w="3022600">
                  <a:extLst>
                    <a:ext uri="{9D8B030D-6E8A-4147-A177-3AD203B41FA5}">
                      <a16:colId xmlns:a16="http://schemas.microsoft.com/office/drawing/2014/main" val="2113406603"/>
                    </a:ext>
                  </a:extLst>
                </a:gridCol>
                <a:gridCol w="3022600">
                  <a:extLst>
                    <a:ext uri="{9D8B030D-6E8A-4147-A177-3AD203B41FA5}">
                      <a16:colId xmlns:a16="http://schemas.microsoft.com/office/drawing/2014/main" val="2483371382"/>
                    </a:ext>
                  </a:extLst>
                </a:gridCol>
                <a:gridCol w="3022600">
                  <a:extLst>
                    <a:ext uri="{9D8B030D-6E8A-4147-A177-3AD203B41FA5}">
                      <a16:colId xmlns:a16="http://schemas.microsoft.com/office/drawing/2014/main" val="3458012977"/>
                    </a:ext>
                  </a:extLst>
                </a:gridCol>
              </a:tblGrid>
              <a:tr h="554701">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987909687"/>
                  </a:ext>
                </a:extLst>
              </a:tr>
              <a:tr h="1029342">
                <a:tc>
                  <a:txBody>
                    <a:bodyPr/>
                    <a:lstStyle/>
                    <a:p>
                      <a:r>
                        <a:rPr lang="en-IN" b="0" i="0" dirty="0">
                          <a:solidFill>
                            <a:schemeClr val="dk1"/>
                          </a:solidFill>
                          <a:effectLst/>
                          <a:latin typeface="+mn-lt"/>
                          <a:ea typeface="+mn-ea"/>
                          <a:cs typeface="+mn-cs"/>
                        </a:rPr>
                        <a:t>Portability</a:t>
                      </a:r>
                      <a:endParaRPr lang="en-IN" dirty="0"/>
                    </a:p>
                  </a:txBody>
                  <a:tcPr/>
                </a:tc>
                <a:tc>
                  <a:txBody>
                    <a:bodyPr/>
                    <a:lstStyle/>
                    <a:p>
                      <a:r>
                        <a:rPr lang="en-US" b="0" i="0" dirty="0">
                          <a:solidFill>
                            <a:schemeClr val="dk1"/>
                          </a:solidFill>
                          <a:effectLst/>
                          <a:latin typeface="+mn-lt"/>
                          <a:ea typeface="+mn-ea"/>
                          <a:cs typeface="+mn-cs"/>
                        </a:rPr>
                        <a:t>Difficult to move applications ported to different cloud providers.</a:t>
                      </a:r>
                      <a:endParaRPr lang="en-IN" dirty="0"/>
                    </a:p>
                  </a:txBody>
                  <a:tcPr/>
                </a:tc>
                <a:tc>
                  <a:txBody>
                    <a:bodyPr/>
                    <a:lstStyle/>
                    <a:p>
                      <a:r>
                        <a:rPr lang="en-US" b="0" i="0" dirty="0">
                          <a:solidFill>
                            <a:schemeClr val="dk1"/>
                          </a:solidFill>
                          <a:effectLst/>
                          <a:latin typeface="+mn-lt"/>
                          <a:ea typeface="+mn-ea"/>
                          <a:cs typeface="+mn-cs"/>
                        </a:rPr>
                        <a:t>Applications can be moved anywhere and never locked into a specific provider.</a:t>
                      </a:r>
                      <a:endParaRPr lang="en-IN" dirty="0"/>
                    </a:p>
                  </a:txBody>
                  <a:tcPr/>
                </a:tc>
                <a:extLst>
                  <a:ext uri="{0D108BD9-81ED-4DB2-BD59-A6C34878D82A}">
                    <a16:rowId xmlns:a16="http://schemas.microsoft.com/office/drawing/2014/main" val="2445216592"/>
                  </a:ext>
                </a:extLst>
              </a:tr>
              <a:tr h="1029342">
                <a:tc>
                  <a:txBody>
                    <a:bodyPr/>
                    <a:lstStyle/>
                    <a:p>
                      <a:r>
                        <a:rPr lang="en-IN" b="0" i="0" dirty="0">
                          <a:solidFill>
                            <a:schemeClr val="dk1"/>
                          </a:solidFill>
                          <a:effectLst/>
                          <a:latin typeface="+mn-lt"/>
                          <a:ea typeface="+mn-ea"/>
                          <a:cs typeface="+mn-cs"/>
                        </a:rPr>
                        <a:t>Performance</a:t>
                      </a:r>
                      <a:endParaRPr lang="en-IN" dirty="0"/>
                    </a:p>
                  </a:txBody>
                  <a:tcPr/>
                </a:tc>
                <a:tc>
                  <a:txBody>
                    <a:bodyPr/>
                    <a:lstStyle/>
                    <a:p>
                      <a:r>
                        <a:rPr lang="en-US" b="0" i="0" dirty="0">
                          <a:solidFill>
                            <a:schemeClr val="dk1"/>
                          </a:solidFill>
                          <a:effectLst/>
                          <a:latin typeface="+mn-lt"/>
                          <a:ea typeface="+mn-ea"/>
                          <a:cs typeface="+mn-cs"/>
                        </a:rPr>
                        <a:t>Components work on a small segment, increasing performance overall.</a:t>
                      </a:r>
                      <a:endParaRPr lang="en-IN" dirty="0"/>
                    </a:p>
                  </a:txBody>
                  <a:tcPr/>
                </a:tc>
                <a:tc>
                  <a:txBody>
                    <a:bodyPr/>
                    <a:lstStyle/>
                    <a:p>
                      <a:r>
                        <a:rPr lang="en-US" b="0" i="0" dirty="0">
                          <a:solidFill>
                            <a:schemeClr val="dk1"/>
                          </a:solidFill>
                          <a:effectLst/>
                          <a:latin typeface="+mn-lt"/>
                          <a:ea typeface="+mn-ea"/>
                          <a:cs typeface="+mn-cs"/>
                        </a:rPr>
                        <a:t>Wide range of features and options that customers can use to maximize performance.</a:t>
                      </a:r>
                      <a:endParaRPr lang="en-IN" dirty="0"/>
                    </a:p>
                  </a:txBody>
                  <a:tcPr/>
                </a:tc>
                <a:extLst>
                  <a:ext uri="{0D108BD9-81ED-4DB2-BD59-A6C34878D82A}">
                    <a16:rowId xmlns:a16="http://schemas.microsoft.com/office/drawing/2014/main" val="1987405921"/>
                  </a:ext>
                </a:extLst>
              </a:tr>
              <a:tr h="2264551">
                <a:tc>
                  <a:txBody>
                    <a:bodyPr/>
                    <a:lstStyle/>
                    <a:p>
                      <a:r>
                        <a:rPr lang="en-IN" b="0" i="0" dirty="0">
                          <a:solidFill>
                            <a:schemeClr val="dk1"/>
                          </a:solidFill>
                          <a:effectLst/>
                          <a:latin typeface="+mn-lt"/>
                          <a:ea typeface="+mn-ea"/>
                          <a:cs typeface="+mn-cs"/>
                        </a:rPr>
                        <a:t>Flexibility</a:t>
                      </a:r>
                      <a:endParaRPr lang="en-IN" dirty="0"/>
                    </a:p>
                  </a:txBody>
                  <a:tcPr/>
                </a:tc>
                <a:tc>
                  <a:txBody>
                    <a:bodyPr/>
                    <a:lstStyle/>
                    <a:p>
                      <a:r>
                        <a:rPr lang="en-US" b="0" i="0" dirty="0">
                          <a:solidFill>
                            <a:schemeClr val="dk1"/>
                          </a:solidFill>
                          <a:effectLst/>
                          <a:latin typeface="+mn-lt"/>
                          <a:ea typeface="+mn-ea"/>
                          <a:cs typeface="+mn-cs"/>
                        </a:rPr>
                        <a:t>Applications benefit from a cloud platform's built-in provisions for networking, monitoring, and other underlying architecture concerns that stymie large development efforts.</a:t>
                      </a:r>
                      <a:endParaRPr lang="en-IN" dirty="0"/>
                    </a:p>
                  </a:txBody>
                  <a:tcPr/>
                </a:tc>
                <a:tc>
                  <a:txBody>
                    <a:bodyPr/>
                    <a:lstStyle/>
                    <a:p>
                      <a:r>
                        <a:rPr lang="en-US" b="0" i="0" dirty="0">
                          <a:solidFill>
                            <a:schemeClr val="dk1"/>
                          </a:solidFill>
                          <a:effectLst/>
                          <a:latin typeface="+mn-lt"/>
                          <a:ea typeface="+mn-ea"/>
                          <a:cs typeface="+mn-cs"/>
                        </a:rPr>
                        <a:t>Developers are not restricted to one cloud platform's capabilities or tools and can incorporate open-source tools, libraries, and integrations.</a:t>
                      </a:r>
                      <a:endParaRPr lang="en-IN" dirty="0"/>
                    </a:p>
                  </a:txBody>
                  <a:tcPr/>
                </a:tc>
                <a:extLst>
                  <a:ext uri="{0D108BD9-81ED-4DB2-BD59-A6C34878D82A}">
                    <a16:rowId xmlns:a16="http://schemas.microsoft.com/office/drawing/2014/main" val="1394350516"/>
                  </a:ext>
                </a:extLst>
              </a:tr>
            </a:tbl>
          </a:graphicData>
        </a:graphic>
      </p:graphicFrame>
    </p:spTree>
    <p:extLst>
      <p:ext uri="{BB962C8B-B14F-4D97-AF65-F5344CB8AC3E}">
        <p14:creationId xmlns:p14="http://schemas.microsoft.com/office/powerpoint/2010/main" val="19802520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10" name="Table 9">
            <a:extLst>
              <a:ext uri="{FF2B5EF4-FFF2-40B4-BE49-F238E27FC236}">
                <a16:creationId xmlns:a16="http://schemas.microsoft.com/office/drawing/2014/main" id="{80A2BB12-A110-B1E5-447E-99AC89EF8BA3}"/>
              </a:ext>
            </a:extLst>
          </p:cNvPr>
          <p:cNvGraphicFramePr>
            <a:graphicFrameLocks noGrp="1"/>
          </p:cNvGraphicFramePr>
          <p:nvPr/>
        </p:nvGraphicFramePr>
        <p:xfrm>
          <a:off x="76199" y="1143000"/>
          <a:ext cx="9067800" cy="4740032"/>
        </p:xfrm>
        <a:graphic>
          <a:graphicData uri="http://schemas.openxmlformats.org/drawingml/2006/table">
            <a:tbl>
              <a:tblPr firstRow="1" bandRow="1">
                <a:tableStyleId>{5C22544A-7EE6-4342-B048-85BDC9FD1C3A}</a:tableStyleId>
              </a:tblPr>
              <a:tblGrid>
                <a:gridCol w="3022600">
                  <a:extLst>
                    <a:ext uri="{9D8B030D-6E8A-4147-A177-3AD203B41FA5}">
                      <a16:colId xmlns:a16="http://schemas.microsoft.com/office/drawing/2014/main" val="2113406603"/>
                    </a:ext>
                  </a:extLst>
                </a:gridCol>
                <a:gridCol w="3022600">
                  <a:extLst>
                    <a:ext uri="{9D8B030D-6E8A-4147-A177-3AD203B41FA5}">
                      <a16:colId xmlns:a16="http://schemas.microsoft.com/office/drawing/2014/main" val="2483371382"/>
                    </a:ext>
                  </a:extLst>
                </a:gridCol>
                <a:gridCol w="3022600">
                  <a:extLst>
                    <a:ext uri="{9D8B030D-6E8A-4147-A177-3AD203B41FA5}">
                      <a16:colId xmlns:a16="http://schemas.microsoft.com/office/drawing/2014/main" val="3458012977"/>
                    </a:ext>
                  </a:extLst>
                </a:gridCol>
              </a:tblGrid>
              <a:tr h="319731">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987909687"/>
                  </a:ext>
                </a:extLst>
              </a:tr>
              <a:tr h="1358858">
                <a:tc>
                  <a:txBody>
                    <a:bodyPr/>
                    <a:lstStyle/>
                    <a:p>
                      <a:r>
                        <a:rPr lang="en-IN" sz="1600" b="0" i="0" dirty="0">
                          <a:solidFill>
                            <a:schemeClr val="dk1"/>
                          </a:solidFill>
                          <a:effectLst/>
                          <a:latin typeface="+mn-lt"/>
                          <a:ea typeface="+mn-ea"/>
                          <a:cs typeface="+mn-cs"/>
                        </a:rPr>
                        <a:t>Resilience</a:t>
                      </a:r>
                      <a:endParaRPr lang="en-IN" sz="1600" dirty="0"/>
                    </a:p>
                  </a:txBody>
                  <a:tcPr/>
                </a:tc>
                <a:tc>
                  <a:txBody>
                    <a:bodyPr/>
                    <a:lstStyle/>
                    <a:p>
                      <a:r>
                        <a:rPr lang="en-US" sz="1600" b="0" i="0" dirty="0">
                          <a:solidFill>
                            <a:schemeClr val="dk1"/>
                          </a:solidFill>
                          <a:effectLst/>
                          <a:latin typeface="+mn-lt"/>
                          <a:ea typeface="+mn-ea"/>
                          <a:cs typeface="+mn-cs"/>
                        </a:rPr>
                        <a:t>Microservices enable resilience, meaning a component failure doesn’t affect the overall ecosystem.</a:t>
                      </a:r>
                      <a:endParaRPr lang="en-IN" sz="1600" dirty="0"/>
                    </a:p>
                  </a:txBody>
                  <a:tcPr/>
                </a:tc>
                <a:tc>
                  <a:txBody>
                    <a:bodyPr/>
                    <a:lstStyle/>
                    <a:p>
                      <a:r>
                        <a:rPr lang="en-US" sz="1600" b="0" i="0" dirty="0">
                          <a:solidFill>
                            <a:schemeClr val="dk1"/>
                          </a:solidFill>
                          <a:effectLst/>
                          <a:latin typeface="+mn-lt"/>
                          <a:ea typeface="+mn-ea"/>
                          <a:cs typeface="+mn-cs"/>
                        </a:rPr>
                        <a:t>Applications provide redundancy and improve recovery speed in the event of a failure; services can be switched to another platform if the initial platform experiences a disruption.</a:t>
                      </a:r>
                      <a:endParaRPr lang="en-IN" sz="1600" dirty="0"/>
                    </a:p>
                  </a:txBody>
                  <a:tcPr/>
                </a:tc>
                <a:extLst>
                  <a:ext uri="{0D108BD9-81ED-4DB2-BD59-A6C34878D82A}">
                    <a16:rowId xmlns:a16="http://schemas.microsoft.com/office/drawing/2014/main" val="2445216592"/>
                  </a:ext>
                </a:extLst>
              </a:tr>
              <a:tr h="1358858">
                <a:tc>
                  <a:txBody>
                    <a:bodyPr/>
                    <a:lstStyle/>
                    <a:p>
                      <a:r>
                        <a:rPr lang="en-IN" sz="1600" b="0" i="0" dirty="0">
                          <a:solidFill>
                            <a:schemeClr val="dk1"/>
                          </a:solidFill>
                          <a:effectLst/>
                          <a:latin typeface="+mn-lt"/>
                          <a:ea typeface="+mn-ea"/>
                          <a:cs typeface="+mn-cs"/>
                        </a:rPr>
                        <a:t>Costs</a:t>
                      </a:r>
                      <a:endParaRPr lang="en-IN" sz="1600" dirty="0"/>
                    </a:p>
                  </a:txBody>
                  <a:tcPr/>
                </a:tc>
                <a:tc>
                  <a:txBody>
                    <a:bodyPr/>
                    <a:lstStyle/>
                    <a:p>
                      <a:r>
                        <a:rPr lang="en-US" sz="1600" b="0" i="0" dirty="0">
                          <a:solidFill>
                            <a:schemeClr val="dk1"/>
                          </a:solidFill>
                          <a:effectLst/>
                          <a:latin typeface="+mn-lt"/>
                          <a:ea typeface="+mn-ea"/>
                          <a:cs typeface="+mn-cs"/>
                        </a:rPr>
                        <a:t>Customers are charged based on a combination of licensing and data storage requirements, following a pay-as-you-go model.</a:t>
                      </a:r>
                      <a:endParaRPr lang="en-IN" sz="1600" dirty="0"/>
                    </a:p>
                  </a:txBody>
                  <a:tcPr/>
                </a:tc>
                <a:tc>
                  <a:txBody>
                    <a:bodyPr/>
                    <a:lstStyle/>
                    <a:p>
                      <a:r>
                        <a:rPr lang="en-US" sz="1600" b="0" i="0" dirty="0">
                          <a:solidFill>
                            <a:schemeClr val="dk1"/>
                          </a:solidFill>
                          <a:effectLst/>
                          <a:latin typeface="+mn-lt"/>
                          <a:ea typeface="+mn-ea"/>
                          <a:cs typeface="+mn-cs"/>
                        </a:rPr>
                        <a:t>Cloud-agnostic architecture has greater accessibility to open-source tools, providing more direct control over costs and the ability to make spending adjustments as needed.</a:t>
                      </a:r>
                      <a:endParaRPr lang="en-IN" sz="1600" dirty="0"/>
                    </a:p>
                  </a:txBody>
                  <a:tcPr/>
                </a:tc>
                <a:extLst>
                  <a:ext uri="{0D108BD9-81ED-4DB2-BD59-A6C34878D82A}">
                    <a16:rowId xmlns:a16="http://schemas.microsoft.com/office/drawing/2014/main" val="1987405921"/>
                  </a:ext>
                </a:extLst>
              </a:tr>
              <a:tr h="1265312">
                <a:tc>
                  <a:txBody>
                    <a:bodyPr/>
                    <a:lstStyle/>
                    <a:p>
                      <a:r>
                        <a:rPr lang="en-IN" sz="1600" b="0" i="0" dirty="0">
                          <a:solidFill>
                            <a:schemeClr val="dk1"/>
                          </a:solidFill>
                          <a:effectLst/>
                          <a:latin typeface="+mn-lt"/>
                          <a:ea typeface="+mn-ea"/>
                          <a:cs typeface="+mn-cs"/>
                        </a:rPr>
                        <a:t>Implementation</a:t>
                      </a:r>
                      <a:endParaRPr lang="en-IN" sz="1600" dirty="0"/>
                    </a:p>
                  </a:txBody>
                  <a:tcPr/>
                </a:tc>
                <a:tc>
                  <a:txBody>
                    <a:bodyPr/>
                    <a:lstStyle/>
                    <a:p>
                      <a:r>
                        <a:rPr lang="en-US" sz="1600" b="0" i="0" dirty="0">
                          <a:solidFill>
                            <a:schemeClr val="dk1"/>
                          </a:solidFill>
                          <a:effectLst/>
                          <a:latin typeface="+mn-lt"/>
                          <a:ea typeface="+mn-ea"/>
                          <a:cs typeface="+mn-cs"/>
                        </a:rPr>
                        <a:t>Cloud native is a new paradigm that will require a cultural shift for successful implementation.</a:t>
                      </a:r>
                      <a:endParaRPr lang="en-IN" sz="1600" dirty="0"/>
                    </a:p>
                  </a:txBody>
                  <a:tcPr/>
                </a:tc>
                <a:tc>
                  <a:txBody>
                    <a:bodyPr/>
                    <a:lstStyle/>
                    <a:p>
                      <a:r>
                        <a:rPr lang="en-US" sz="1600" b="0" i="0" dirty="0">
                          <a:solidFill>
                            <a:schemeClr val="dk1"/>
                          </a:solidFill>
                          <a:effectLst/>
                          <a:latin typeface="+mn-lt"/>
                          <a:ea typeface="+mn-ea"/>
                          <a:cs typeface="+mn-cs"/>
                        </a:rPr>
                        <a:t>Cloud agnostic has to happen at the developer level, making implementation challenging.</a:t>
                      </a:r>
                      <a:endParaRPr lang="en-IN" sz="1600" dirty="0"/>
                    </a:p>
                  </a:txBody>
                  <a:tcPr/>
                </a:tc>
                <a:extLst>
                  <a:ext uri="{0D108BD9-81ED-4DB2-BD59-A6C34878D82A}">
                    <a16:rowId xmlns:a16="http://schemas.microsoft.com/office/drawing/2014/main" val="1394350516"/>
                  </a:ext>
                </a:extLst>
              </a:tr>
            </a:tbl>
          </a:graphicData>
        </a:graphic>
      </p:graphicFrame>
    </p:spTree>
    <p:extLst>
      <p:ext uri="{BB962C8B-B14F-4D97-AF65-F5344CB8AC3E}">
        <p14:creationId xmlns:p14="http://schemas.microsoft.com/office/powerpoint/2010/main" val="268029991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8" name="Table 7">
            <a:extLst>
              <a:ext uri="{FF2B5EF4-FFF2-40B4-BE49-F238E27FC236}">
                <a16:creationId xmlns:a16="http://schemas.microsoft.com/office/drawing/2014/main" id="{2768066F-D90E-019E-BFE3-E3BFEB21E2E1}"/>
              </a:ext>
            </a:extLst>
          </p:cNvPr>
          <p:cNvGraphicFramePr>
            <a:graphicFrameLocks noGrp="1"/>
          </p:cNvGraphicFramePr>
          <p:nvPr/>
        </p:nvGraphicFramePr>
        <p:xfrm>
          <a:off x="76199" y="1066800"/>
          <a:ext cx="8839200" cy="329692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1497050542"/>
                    </a:ext>
                  </a:extLst>
                </a:gridCol>
                <a:gridCol w="2946400">
                  <a:extLst>
                    <a:ext uri="{9D8B030D-6E8A-4147-A177-3AD203B41FA5}">
                      <a16:colId xmlns:a16="http://schemas.microsoft.com/office/drawing/2014/main" val="3834819569"/>
                    </a:ext>
                  </a:extLst>
                </a:gridCol>
                <a:gridCol w="2946400">
                  <a:extLst>
                    <a:ext uri="{9D8B030D-6E8A-4147-A177-3AD203B41FA5}">
                      <a16:colId xmlns:a16="http://schemas.microsoft.com/office/drawing/2014/main" val="2597741595"/>
                    </a:ext>
                  </a:extLst>
                </a:gridCol>
              </a:tblGrid>
              <a:tr h="370840">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3553383481"/>
                  </a:ext>
                </a:extLst>
              </a:tr>
              <a:tr h="370840">
                <a:tc>
                  <a:txBody>
                    <a:bodyPr/>
                    <a:lstStyle/>
                    <a:p>
                      <a:r>
                        <a:rPr lang="en-IN" b="0" i="0" dirty="0">
                          <a:solidFill>
                            <a:schemeClr val="dk1"/>
                          </a:solidFill>
                          <a:effectLst/>
                          <a:latin typeface="+mn-lt"/>
                          <a:ea typeface="+mn-ea"/>
                          <a:cs typeface="+mn-cs"/>
                        </a:rPr>
                        <a:t>Time to Market</a:t>
                      </a:r>
                      <a:endParaRPr lang="en-IN" dirty="0"/>
                    </a:p>
                  </a:txBody>
                  <a:tcPr/>
                </a:tc>
                <a:tc>
                  <a:txBody>
                    <a:bodyPr/>
                    <a:lstStyle/>
                    <a:p>
                      <a:r>
                        <a:rPr lang="en-US" b="0" i="0" dirty="0">
                          <a:solidFill>
                            <a:schemeClr val="dk1"/>
                          </a:solidFill>
                          <a:effectLst/>
                          <a:latin typeface="+mn-lt"/>
                          <a:ea typeface="+mn-ea"/>
                          <a:cs typeface="+mn-cs"/>
                        </a:rPr>
                        <a:t>Pre-built templates, tools, and ready-to-use infrastructure speed up time to market for applications</a:t>
                      </a:r>
                      <a:endParaRPr lang="en-IN" dirty="0"/>
                    </a:p>
                  </a:txBody>
                  <a:tcPr/>
                </a:tc>
                <a:tc>
                  <a:txBody>
                    <a:bodyPr/>
                    <a:lstStyle/>
                    <a:p>
                      <a:r>
                        <a:rPr lang="en-US" b="0" i="0" dirty="0">
                          <a:solidFill>
                            <a:schemeClr val="dk1"/>
                          </a:solidFill>
                          <a:effectLst/>
                          <a:latin typeface="+mn-lt"/>
                          <a:ea typeface="+mn-ea"/>
                          <a:cs typeface="+mn-cs"/>
                        </a:rPr>
                        <a:t>The complexity of developing cloud-agnostic applications and features means that it can take longer for projects to get off the ground.</a:t>
                      </a:r>
                      <a:endParaRPr lang="en-IN" dirty="0"/>
                    </a:p>
                  </a:txBody>
                  <a:tcPr/>
                </a:tc>
                <a:extLst>
                  <a:ext uri="{0D108BD9-81ED-4DB2-BD59-A6C34878D82A}">
                    <a16:rowId xmlns:a16="http://schemas.microsoft.com/office/drawing/2014/main" val="120095058"/>
                  </a:ext>
                </a:extLst>
              </a:tr>
              <a:tr h="370840">
                <a:tc>
                  <a:txBody>
                    <a:bodyPr/>
                    <a:lstStyle/>
                    <a:p>
                      <a:r>
                        <a:rPr lang="en-IN" b="0" i="0" dirty="0">
                          <a:solidFill>
                            <a:schemeClr val="dk1"/>
                          </a:solidFill>
                          <a:effectLst/>
                          <a:latin typeface="+mn-lt"/>
                          <a:ea typeface="+mn-ea"/>
                          <a:cs typeface="+mn-cs"/>
                        </a:rPr>
                        <a:t>Scalability</a:t>
                      </a:r>
                      <a:endParaRPr lang="en-IN" dirty="0"/>
                    </a:p>
                  </a:txBody>
                  <a:tcPr/>
                </a:tc>
                <a:tc>
                  <a:txBody>
                    <a:bodyPr/>
                    <a:lstStyle/>
                    <a:p>
                      <a:r>
                        <a:rPr lang="en-US" b="0" i="0" dirty="0">
                          <a:solidFill>
                            <a:schemeClr val="dk1"/>
                          </a:solidFill>
                          <a:effectLst/>
                          <a:latin typeface="+mn-lt"/>
                          <a:ea typeface="+mn-ea"/>
                          <a:cs typeface="+mn-cs"/>
                        </a:rPr>
                        <a:t>Cloud-native systems are easy to scale up or down to meet business needs.</a:t>
                      </a:r>
                      <a:endParaRPr lang="en-IN" dirty="0"/>
                    </a:p>
                  </a:txBody>
                  <a:tcPr/>
                </a:tc>
                <a:tc>
                  <a:txBody>
                    <a:bodyPr/>
                    <a:lstStyle/>
                    <a:p>
                      <a:r>
                        <a:rPr lang="en-US" b="0" i="0" dirty="0">
                          <a:solidFill>
                            <a:schemeClr val="dk1"/>
                          </a:solidFill>
                          <a:effectLst/>
                          <a:latin typeface="+mn-lt"/>
                          <a:ea typeface="+mn-ea"/>
                          <a:cs typeface="+mn-cs"/>
                        </a:rPr>
                        <a:t>Cloud-agnostic apps and services can move across cloud platforms, which means they can quickly scale up to meet demand.</a:t>
                      </a:r>
                      <a:endParaRPr lang="en-IN" dirty="0"/>
                    </a:p>
                  </a:txBody>
                  <a:tcPr/>
                </a:tc>
                <a:extLst>
                  <a:ext uri="{0D108BD9-81ED-4DB2-BD59-A6C34878D82A}">
                    <a16:rowId xmlns:a16="http://schemas.microsoft.com/office/drawing/2014/main" val="894545832"/>
                  </a:ext>
                </a:extLst>
              </a:tr>
            </a:tbl>
          </a:graphicData>
        </a:graphic>
      </p:graphicFrame>
    </p:spTree>
    <p:extLst>
      <p:ext uri="{BB962C8B-B14F-4D97-AF65-F5344CB8AC3E}">
        <p14:creationId xmlns:p14="http://schemas.microsoft.com/office/powerpoint/2010/main" val="424374436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77B40-AED9-B68D-2FC8-15F5849A95B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887F8B3-8A9D-66ED-866C-34E1361C503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F6B05F-208C-A1BE-10F9-CAE17786250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04A664-6BD5-3EDC-513A-64E80BF60C9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50827A3-6553-D837-3502-AA546954656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B566C40-D774-EC17-CDD9-D968E1606B1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CBE0DB2-4872-DBE9-A853-7BFAE092C136}"/>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1️⃣ Cloud Security Mental Models (Foundation)</a:t>
            </a:r>
          </a:p>
          <a:p>
            <a:pPr marL="12700" marR="5080"/>
            <a:r>
              <a:rPr lang="en-US" sz="1500" kern="0" spc="-80" dirty="0">
                <a:solidFill>
                  <a:schemeClr val="accent2"/>
                </a:solidFill>
              </a:rPr>
              <a:t>1. Shared Responsibility Model ⭐</a:t>
            </a:r>
          </a:p>
          <a:p>
            <a:pPr marL="12700" marR="5080"/>
            <a:r>
              <a:rPr lang="en-US" sz="1500" kern="0" spc="-80" dirty="0">
                <a:solidFill>
                  <a:schemeClr val="accent2"/>
                </a:solidFill>
              </a:rPr>
              <a:t>Golden rule of cloud security</a:t>
            </a:r>
          </a:p>
          <a:p>
            <a:pPr marL="12700" marR="5080"/>
            <a:r>
              <a:rPr lang="en-US" sz="1500" kern="0" spc="-80" dirty="0">
                <a:solidFill>
                  <a:schemeClr val="accent2"/>
                </a:solidFill>
              </a:rPr>
              <a:t>Layer	                         Cloud Provider	You</a:t>
            </a:r>
          </a:p>
          <a:p>
            <a:pPr marL="12700" marR="5080"/>
            <a:r>
              <a:rPr lang="en-US" sz="1500" kern="0" spc="-80" dirty="0">
                <a:solidFill>
                  <a:schemeClr val="accent6"/>
                </a:solidFill>
              </a:rPr>
              <a:t>Physical DC	      ✅	                   ❌</a:t>
            </a:r>
          </a:p>
          <a:p>
            <a:pPr marL="12700" marR="5080"/>
            <a:r>
              <a:rPr lang="en-US" sz="1500" kern="0" spc="-80" dirty="0">
                <a:solidFill>
                  <a:schemeClr val="accent6"/>
                </a:solidFill>
              </a:rPr>
              <a:t>Hardware	                        ✅	                   ❌</a:t>
            </a:r>
          </a:p>
          <a:p>
            <a:pPr marL="12700" marR="5080"/>
            <a:r>
              <a:rPr lang="en-US" sz="1500" kern="0" spc="-80" dirty="0">
                <a:solidFill>
                  <a:schemeClr val="accent6"/>
                </a:solidFill>
              </a:rPr>
              <a:t>Hypervisor	      ✅	                   ❌</a:t>
            </a:r>
          </a:p>
          <a:p>
            <a:pPr marL="12700" marR="5080"/>
            <a:r>
              <a:rPr lang="en-US" sz="1500" kern="0" spc="-80" dirty="0">
                <a:solidFill>
                  <a:schemeClr val="accent6"/>
                </a:solidFill>
              </a:rPr>
              <a:t>OS (IaaS)	                        ❌	                   ✅</a:t>
            </a:r>
          </a:p>
          <a:p>
            <a:pPr marL="12700" marR="5080"/>
            <a:r>
              <a:rPr lang="en-US" sz="1500" kern="0" spc="-80" dirty="0">
                <a:solidFill>
                  <a:schemeClr val="accent6"/>
                </a:solidFill>
              </a:rPr>
              <a:t>Runtime, Data, IAM	      ❌	                   ✅</a:t>
            </a:r>
          </a:p>
          <a:p>
            <a:pPr marL="12700" marR="5080"/>
            <a:r>
              <a:rPr lang="en-US" sz="1500" kern="0" spc="-80" dirty="0">
                <a:solidFill>
                  <a:schemeClr val="accent2"/>
                </a:solidFill>
              </a:rPr>
              <a:t>Intuition</a:t>
            </a:r>
          </a:p>
          <a:p>
            <a:pPr marL="12700" marR="5080"/>
            <a:r>
              <a:rPr lang="en-US" sz="1500" kern="0" spc="-80" dirty="0">
                <a:solidFill>
                  <a:schemeClr val="accent6"/>
                </a:solidFill>
              </a:rPr>
              <a:t>Cloud ≠ secure by default.</a:t>
            </a:r>
          </a:p>
          <a:p>
            <a:pPr marL="12700" marR="5080"/>
            <a:r>
              <a:rPr lang="en-US" sz="1500" kern="0" spc="-80" dirty="0">
                <a:solidFill>
                  <a:schemeClr val="accent6"/>
                </a:solidFill>
              </a:rPr>
              <a:t>Cloud = secure what you own.</a:t>
            </a:r>
          </a:p>
          <a:p>
            <a:pPr marL="12700" marR="5080"/>
            <a:r>
              <a:rPr lang="en-US" sz="1500" kern="0" spc="-80" dirty="0">
                <a:solidFill>
                  <a:schemeClr val="accent6"/>
                </a:solidFill>
              </a:rPr>
              <a:t>Mistakes happen when teams secure what they don’t own and ignore what they do.</a:t>
            </a:r>
          </a:p>
          <a:p>
            <a:pPr marL="12700" marR="5080"/>
            <a:endParaRPr lang="en-US" sz="1500" kern="0" spc="-80" dirty="0">
              <a:solidFill>
                <a:schemeClr val="accent6"/>
              </a:solidFill>
            </a:endParaRPr>
          </a:p>
          <a:p>
            <a:pPr marL="12700" marR="5080"/>
            <a:r>
              <a:rPr lang="en-US" sz="1500" kern="0" spc="-80" dirty="0">
                <a:solidFill>
                  <a:schemeClr val="accent2"/>
                </a:solidFill>
              </a:rPr>
              <a:t>2. Cloud is API-Driven (Not Network-Driven)</a:t>
            </a:r>
          </a:p>
          <a:p>
            <a:pPr marL="12700" marR="5080"/>
            <a:r>
              <a:rPr lang="en-US" sz="1500" kern="0" spc="-80" dirty="0">
                <a:solidFill>
                  <a:schemeClr val="accent6"/>
                </a:solidFill>
              </a:rPr>
              <a:t>Every attack eventually becomes:</a:t>
            </a:r>
          </a:p>
          <a:p>
            <a:pPr marL="12700" marR="5080"/>
            <a:r>
              <a:rPr lang="en-US" sz="1500" kern="0" spc="-80" dirty="0">
                <a:solidFill>
                  <a:schemeClr val="accent6"/>
                </a:solidFill>
              </a:rPr>
              <a:t>API call → Permission → Resource mutation</a:t>
            </a:r>
          </a:p>
          <a:p>
            <a:pPr marL="12700" marR="5080"/>
            <a:r>
              <a:rPr lang="en-US" sz="1500" kern="0" spc="-80" dirty="0">
                <a:solidFill>
                  <a:schemeClr val="accent6"/>
                </a:solidFill>
              </a:rPr>
              <a:t>So cloud security = IAM + API governance more than firewalls.</a:t>
            </a:r>
          </a:p>
          <a:p>
            <a:pPr marL="12700" marR="5080"/>
            <a:endParaRPr lang="en-US" sz="1500" kern="0" spc="-80" dirty="0">
              <a:solidFill>
                <a:schemeClr val="accent6"/>
              </a:solidFill>
            </a:endParaRPr>
          </a:p>
          <a:p>
            <a:pPr marL="12700" marR="5080"/>
            <a:r>
              <a:rPr lang="en-US" sz="1500" kern="0" spc="-80" dirty="0">
                <a:solidFill>
                  <a:schemeClr val="accent2"/>
                </a:solidFill>
              </a:rPr>
              <a:t>3. Assume Breach Model</a:t>
            </a:r>
          </a:p>
          <a:p>
            <a:pPr marL="12700" marR="5080"/>
            <a:r>
              <a:rPr lang="en-US" sz="1500" kern="0" spc="-80" dirty="0">
                <a:solidFill>
                  <a:schemeClr val="accent2"/>
                </a:solidFill>
              </a:rPr>
              <a:t>Design assuming:</a:t>
            </a:r>
          </a:p>
          <a:p>
            <a:pPr marL="12700" marR="5080"/>
            <a:r>
              <a:rPr lang="en-US" sz="1500" kern="0" spc="-80" dirty="0">
                <a:solidFill>
                  <a:schemeClr val="accent6"/>
                </a:solidFill>
              </a:rPr>
              <a:t>credentials will leak</a:t>
            </a:r>
          </a:p>
        </p:txBody>
      </p:sp>
    </p:spTree>
    <p:extLst>
      <p:ext uri="{BB962C8B-B14F-4D97-AF65-F5344CB8AC3E}">
        <p14:creationId xmlns:p14="http://schemas.microsoft.com/office/powerpoint/2010/main" val="38964818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58EB-B3A0-BE84-B7F5-44C61FC49A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BFD9164-D4FF-8149-C336-6B8C3DEFED5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CFDE16-8D9A-F12C-63AC-517E661DD3B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1E33C45-B442-5683-7C77-6EC1C450F12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F52D4E7-DC68-3CA4-95F1-62DB91E6E80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ECB27C0-F227-C443-6104-902B8C9C19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2145F01-B562-4C34-ABF6-FA42EFF2A8C4}"/>
              </a:ext>
            </a:extLst>
          </p:cNvPr>
          <p:cNvSpPr txBox="1">
            <a:spLocks/>
          </p:cNvSpPr>
          <p:nvPr/>
        </p:nvSpPr>
        <p:spPr>
          <a:xfrm>
            <a:off x="0" y="685800"/>
            <a:ext cx="8915399"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2️⃣ Identity &amp; Access Management (IAM) – The Core</a:t>
            </a:r>
          </a:p>
          <a:p>
            <a:pPr marL="12700" marR="5080"/>
            <a:r>
              <a:rPr lang="en-US" sz="1500" kern="0" spc="-80" dirty="0">
                <a:solidFill>
                  <a:schemeClr val="accent2"/>
                </a:solidFill>
              </a:rPr>
              <a:t>Key Techniques</a:t>
            </a:r>
          </a:p>
          <a:p>
            <a:pPr marL="12700" marR="5080"/>
            <a:r>
              <a:rPr lang="en-US" sz="1500" kern="0" spc="-80" dirty="0">
                <a:solidFill>
                  <a:schemeClr val="accent2"/>
                </a:solidFill>
              </a:rPr>
              <a:t>🔐 Least Privilege</a:t>
            </a:r>
          </a:p>
          <a:p>
            <a:pPr marL="12700" marR="5080"/>
            <a:r>
              <a:rPr lang="en-US" sz="1500" kern="0" spc="-80" dirty="0">
                <a:solidFill>
                  <a:schemeClr val="accent2"/>
                </a:solidFill>
              </a:rPr>
              <a:t>Bad</a:t>
            </a:r>
          </a:p>
          <a:p>
            <a:pPr marL="12700" marR="5080"/>
            <a:r>
              <a:rPr lang="en-US" sz="1500" kern="0" spc="-80" dirty="0">
                <a:solidFill>
                  <a:schemeClr val="accent6"/>
                </a:solidFill>
              </a:rPr>
              <a:t>{</a:t>
            </a:r>
          </a:p>
          <a:p>
            <a:pPr marL="12700" marR="5080"/>
            <a:r>
              <a:rPr lang="en-US" sz="1500" kern="0" spc="-80" dirty="0">
                <a:solidFill>
                  <a:schemeClr val="accent6"/>
                </a:solidFill>
              </a:rPr>
              <a:t>  "Action": "*",</a:t>
            </a:r>
          </a:p>
          <a:p>
            <a:pPr marL="12700" marR="5080"/>
            <a:r>
              <a:rPr lang="en-US" sz="1500" kern="0" spc="-80" dirty="0">
                <a:solidFill>
                  <a:schemeClr val="accent6"/>
                </a:solidFill>
              </a:rPr>
              <a:t>  "Resource": "*"</a:t>
            </a:r>
          </a:p>
          <a:p>
            <a:pPr marL="12700" marR="5080"/>
            <a:r>
              <a:rPr lang="en-US" sz="1500" kern="0" spc="-80" dirty="0">
                <a:solidFill>
                  <a:schemeClr val="accent6"/>
                </a:solidFill>
              </a:rPr>
              <a:t>}</a:t>
            </a:r>
          </a:p>
          <a:p>
            <a:pPr marL="12700" marR="5080"/>
            <a:r>
              <a:rPr lang="en-US" sz="1500" kern="0" spc="-80" dirty="0">
                <a:solidFill>
                  <a:schemeClr val="accent2"/>
                </a:solidFill>
              </a:rPr>
              <a:t>Good</a:t>
            </a:r>
          </a:p>
          <a:p>
            <a:pPr marL="12700" marR="5080"/>
            <a:r>
              <a:rPr lang="en-US" sz="1500" kern="0" spc="-80" dirty="0">
                <a:solidFill>
                  <a:schemeClr val="accent2"/>
                </a:solidFill>
              </a:rPr>
              <a:t>Action: </a:t>
            </a:r>
            <a:r>
              <a:rPr lang="en-US" sz="1500" kern="0" spc="-80" dirty="0">
                <a:solidFill>
                  <a:schemeClr val="accent6"/>
                </a:solidFill>
              </a:rPr>
              <a:t>s3:GetObject</a:t>
            </a:r>
          </a:p>
          <a:p>
            <a:pPr marL="12700" marR="5080"/>
            <a:r>
              <a:rPr lang="en-US" sz="1500" kern="0" spc="-80" dirty="0">
                <a:solidFill>
                  <a:schemeClr val="accent2"/>
                </a:solidFill>
              </a:rPr>
              <a:t>Resource:</a:t>
            </a:r>
            <a:r>
              <a:rPr lang="en-US" sz="1500" kern="0" spc="-80" dirty="0">
                <a:solidFill>
                  <a:schemeClr val="accent6"/>
                </a:solidFill>
              </a:rPr>
              <a:t> arn:aws:s3:::reports/*</a:t>
            </a:r>
          </a:p>
          <a:p>
            <a:pPr marL="12700" marR="5080"/>
            <a:r>
              <a:rPr lang="en-US" sz="1500" kern="0" spc="-80" dirty="0">
                <a:solidFill>
                  <a:schemeClr val="accent2"/>
                </a:solidFill>
              </a:rPr>
              <a:t>Condition: </a:t>
            </a:r>
            <a:r>
              <a:rPr lang="en-US" sz="1500" kern="0" spc="-80" dirty="0">
                <a:solidFill>
                  <a:schemeClr val="accent6"/>
                </a:solidFill>
              </a:rPr>
              <a:t>IP / MFA / Time</a:t>
            </a:r>
          </a:p>
          <a:p>
            <a:pPr marL="12700" marR="5080"/>
            <a:endParaRPr lang="en-US" sz="1500" kern="0" spc="-80" dirty="0">
              <a:solidFill>
                <a:schemeClr val="accent6"/>
              </a:solidFill>
            </a:endParaRPr>
          </a:p>
          <a:p>
            <a:pPr marL="12700" marR="5080"/>
            <a:r>
              <a:rPr lang="en-US" sz="1500" kern="0" spc="-80" dirty="0">
                <a:solidFill>
                  <a:schemeClr val="accent2"/>
                </a:solidFill>
              </a:rPr>
              <a:t>🎭 Role-Based Access (RBAC)</a:t>
            </a:r>
          </a:p>
          <a:p>
            <a:pPr marL="12700" marR="5080"/>
            <a:r>
              <a:rPr lang="en-US" sz="1500" kern="0" spc="-80" dirty="0">
                <a:solidFill>
                  <a:schemeClr val="accent6"/>
                </a:solidFill>
              </a:rPr>
              <a:t>Humans → roles</a:t>
            </a:r>
          </a:p>
          <a:p>
            <a:pPr marL="12700" marR="5080"/>
            <a:r>
              <a:rPr lang="en-US" sz="1500" kern="0" spc="-80" dirty="0">
                <a:solidFill>
                  <a:schemeClr val="accent6"/>
                </a:solidFill>
              </a:rPr>
              <a:t>Services → roles</a:t>
            </a:r>
          </a:p>
          <a:p>
            <a:pPr marL="12700" marR="5080"/>
            <a:r>
              <a:rPr lang="en-US" sz="1500" kern="0" spc="-80" dirty="0">
                <a:solidFill>
                  <a:schemeClr val="accent6"/>
                </a:solidFill>
              </a:rPr>
              <a:t>No long-lived keys</a:t>
            </a:r>
          </a:p>
          <a:p>
            <a:pPr marL="12700" marR="5080"/>
            <a:r>
              <a:rPr lang="en-US" sz="1500" kern="0" spc="-80" dirty="0">
                <a:solidFill>
                  <a:schemeClr val="accent2"/>
                </a:solidFill>
              </a:rPr>
              <a:t>Pattern</a:t>
            </a:r>
          </a:p>
          <a:p>
            <a:pPr marL="12700" marR="5080"/>
            <a:r>
              <a:rPr lang="en-US" sz="1500" kern="0" spc="-80" dirty="0">
                <a:solidFill>
                  <a:schemeClr val="accent6"/>
                </a:solidFill>
              </a:rPr>
              <a:t>Human → SSO → Temporary Role → Resource</a:t>
            </a:r>
          </a:p>
          <a:p>
            <a:pPr marL="12700" marR="5080"/>
            <a:r>
              <a:rPr lang="en-US" sz="1500" kern="0" spc="-80" dirty="0">
                <a:solidFill>
                  <a:schemeClr val="accent6"/>
                </a:solidFill>
              </a:rPr>
              <a:t>Service → Identity → Role → Resource</a:t>
            </a:r>
          </a:p>
        </p:txBody>
      </p:sp>
    </p:spTree>
    <p:extLst>
      <p:ext uri="{BB962C8B-B14F-4D97-AF65-F5344CB8AC3E}">
        <p14:creationId xmlns:p14="http://schemas.microsoft.com/office/powerpoint/2010/main" val="7356352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C32AC-9313-398E-2A84-14778E39F6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25C357-6F51-09CC-3FCD-8212B706EA3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EE1E81-B694-FCA4-2655-4F67AEA3A6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110631-FBF0-8C41-B6C2-1F44B448937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D600532-22B4-C832-1F6A-46497CED78A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88B3F62-103D-E446-9C98-DF781E2DCB4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623BACB-02D8-5901-79A3-0B857CB1F30C}"/>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2️⃣ Identity &amp; Access Management (IAM) – The Core</a:t>
            </a:r>
          </a:p>
          <a:p>
            <a:pPr marL="12700" marR="5080"/>
            <a:r>
              <a:rPr lang="en-US" sz="1500" kern="0" spc="-80" dirty="0">
                <a:solidFill>
                  <a:schemeClr val="accent2"/>
                </a:solidFill>
              </a:rPr>
              <a:t>⏳ Short-Lived Credentials</a:t>
            </a:r>
          </a:p>
          <a:p>
            <a:pPr marL="12700" marR="5080"/>
            <a:r>
              <a:rPr lang="en-US" sz="1500" kern="0" spc="-80" dirty="0">
                <a:solidFill>
                  <a:schemeClr val="accent2"/>
                </a:solidFill>
              </a:rPr>
              <a:t>STS tokens</a:t>
            </a:r>
          </a:p>
          <a:p>
            <a:pPr marL="12700" marR="5080"/>
            <a:r>
              <a:rPr lang="en-US" sz="1500" kern="0" spc="-80" dirty="0">
                <a:solidFill>
                  <a:schemeClr val="accent6"/>
                </a:solidFill>
              </a:rPr>
              <a:t>Managed identities</a:t>
            </a:r>
          </a:p>
          <a:p>
            <a:pPr marL="12700" marR="5080"/>
            <a:r>
              <a:rPr lang="en-US" sz="1500" kern="0" spc="-80" dirty="0">
                <a:solidFill>
                  <a:schemeClr val="accent6"/>
                </a:solidFill>
              </a:rPr>
              <a:t>Workload identity federation</a:t>
            </a:r>
          </a:p>
          <a:p>
            <a:pPr marL="12700" marR="5080"/>
            <a:r>
              <a:rPr lang="en-US" sz="1500" kern="0" spc="-80" dirty="0">
                <a:solidFill>
                  <a:schemeClr val="accent2"/>
                </a:solidFill>
              </a:rPr>
              <a:t>Why?</a:t>
            </a:r>
          </a:p>
          <a:p>
            <a:pPr marL="12700" marR="5080"/>
            <a:r>
              <a:rPr lang="en-US" sz="1500" kern="0" spc="-80" dirty="0">
                <a:solidFill>
                  <a:schemeClr val="accent6"/>
                </a:solidFill>
              </a:rPr>
              <a:t>Stolen token expires → attack dies automatically</a:t>
            </a:r>
          </a:p>
          <a:p>
            <a:pPr marL="12700" marR="5080"/>
            <a:r>
              <a:rPr lang="en-US" sz="1500" kern="0" spc="-80" dirty="0">
                <a:solidFill>
                  <a:schemeClr val="accent2"/>
                </a:solidFill>
              </a:rPr>
              <a:t>IAM Anti-Patterns ❌</a:t>
            </a:r>
          </a:p>
          <a:p>
            <a:pPr marL="12700" marR="5080"/>
            <a:r>
              <a:rPr lang="en-US" sz="1500" kern="0" spc="-80" dirty="0">
                <a:solidFill>
                  <a:schemeClr val="accent6"/>
                </a:solidFill>
              </a:rPr>
              <a:t>Access keys in code</a:t>
            </a:r>
          </a:p>
          <a:p>
            <a:pPr marL="12700" marR="5080"/>
            <a:r>
              <a:rPr lang="en-US" sz="1500" kern="0" spc="-80" dirty="0">
                <a:solidFill>
                  <a:schemeClr val="accent6"/>
                </a:solidFill>
              </a:rPr>
              <a:t>Shared admin accounts</a:t>
            </a:r>
          </a:p>
          <a:p>
            <a:pPr marL="12700" marR="5080"/>
            <a:r>
              <a:rPr lang="en-US" sz="1500" kern="0" spc="-80" dirty="0">
                <a:solidFill>
                  <a:schemeClr val="accent6"/>
                </a:solidFill>
              </a:rPr>
              <a:t>Over-permissioned CI/CD roles</a:t>
            </a:r>
          </a:p>
          <a:p>
            <a:pPr marL="12700" marR="5080"/>
            <a:r>
              <a:rPr lang="en-US" sz="1500" kern="0" spc="-80" dirty="0">
                <a:solidFill>
                  <a:schemeClr val="accent6"/>
                </a:solidFill>
              </a:rPr>
              <a:t>No MFA on privileged users</a:t>
            </a:r>
          </a:p>
          <a:p>
            <a:pPr marL="12700" marR="5080"/>
            <a:r>
              <a:rPr lang="en-US" sz="1500" kern="0" spc="-80" dirty="0">
                <a:solidFill>
                  <a:schemeClr val="accent2"/>
                </a:solidFill>
              </a:rPr>
              <a:t>3️⃣ Network Security (Cloud-Native Way)</a:t>
            </a:r>
          </a:p>
          <a:p>
            <a:pPr marL="12700" marR="5080"/>
            <a:r>
              <a:rPr lang="en-US" sz="1500" kern="0" spc="-80" dirty="0">
                <a:solidFill>
                  <a:schemeClr val="accent2"/>
                </a:solidFill>
              </a:rPr>
              <a:t>Cloud networking is software-defined.</a:t>
            </a:r>
          </a:p>
          <a:p>
            <a:pPr marL="12700" marR="5080"/>
            <a:r>
              <a:rPr lang="en-US" sz="1500" kern="0" spc="-80" dirty="0">
                <a:solidFill>
                  <a:schemeClr val="accent2"/>
                </a:solidFill>
              </a:rPr>
              <a:t>Core Layers</a:t>
            </a:r>
          </a:p>
          <a:p>
            <a:pPr marL="12700" marR="5080"/>
            <a:r>
              <a:rPr lang="en-US" sz="1500" kern="0" spc="-80" dirty="0">
                <a:solidFill>
                  <a:schemeClr val="accent2"/>
                </a:solidFill>
              </a:rPr>
              <a:t>Layer	                  Purpose</a:t>
            </a:r>
          </a:p>
          <a:p>
            <a:pPr marL="12700" marR="5080"/>
            <a:r>
              <a:rPr lang="en-US" sz="1500" kern="0" spc="-80" dirty="0">
                <a:solidFill>
                  <a:schemeClr val="accent6"/>
                </a:solidFill>
              </a:rPr>
              <a:t>VPC / </a:t>
            </a:r>
            <a:r>
              <a:rPr lang="en-US" sz="1500" kern="0" spc="-80" dirty="0" err="1">
                <a:solidFill>
                  <a:schemeClr val="accent6"/>
                </a:solidFill>
              </a:rPr>
              <a:t>VNet</a:t>
            </a:r>
            <a:r>
              <a:rPr lang="en-US" sz="1500" kern="0" spc="-80" dirty="0">
                <a:solidFill>
                  <a:schemeClr val="accent6"/>
                </a:solidFill>
              </a:rPr>
              <a:t>	Isolation</a:t>
            </a:r>
          </a:p>
          <a:p>
            <a:pPr marL="12700" marR="5080"/>
            <a:r>
              <a:rPr lang="en-US" sz="1500" kern="0" spc="-80" dirty="0">
                <a:solidFill>
                  <a:schemeClr val="accent6"/>
                </a:solidFill>
              </a:rPr>
              <a:t>Subnets	                  Segmentation</a:t>
            </a:r>
          </a:p>
          <a:p>
            <a:pPr marL="12700" marR="5080"/>
            <a:r>
              <a:rPr lang="en-US" sz="1500" kern="0" spc="-80" dirty="0">
                <a:solidFill>
                  <a:schemeClr val="accent6"/>
                </a:solidFill>
              </a:rPr>
              <a:t>Security Groups	Stateful allow rules</a:t>
            </a:r>
          </a:p>
          <a:p>
            <a:pPr marL="12700" marR="5080"/>
            <a:r>
              <a:rPr lang="en-US" sz="1500" kern="0" spc="-80" dirty="0">
                <a:solidFill>
                  <a:schemeClr val="accent6"/>
                </a:solidFill>
              </a:rPr>
              <a:t>NACLs	                  Stateless coarse rules</a:t>
            </a:r>
          </a:p>
          <a:p>
            <a:pPr marL="12700" marR="5080"/>
            <a:r>
              <a:rPr lang="en-US" sz="1500" kern="0" spc="-80" dirty="0">
                <a:solidFill>
                  <a:schemeClr val="accent6"/>
                </a:solidFill>
              </a:rPr>
              <a:t>Firewalls	                  L7 control</a:t>
            </a:r>
          </a:p>
          <a:p>
            <a:pPr marL="12700" marR="5080"/>
            <a:r>
              <a:rPr lang="en-US" sz="1500" kern="0" spc="-80" dirty="0">
                <a:solidFill>
                  <a:schemeClr val="accent6"/>
                </a:solidFill>
              </a:rPr>
              <a:t>Private Endpoints	No public exposure</a:t>
            </a:r>
          </a:p>
        </p:txBody>
      </p:sp>
    </p:spTree>
    <p:extLst>
      <p:ext uri="{BB962C8B-B14F-4D97-AF65-F5344CB8AC3E}">
        <p14:creationId xmlns:p14="http://schemas.microsoft.com/office/powerpoint/2010/main" val="5165907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3B2DB-3BBF-0EA0-0F54-3B0F4312CDD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D82ED80-D96E-C64A-3BC6-726C9D3E28C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85C26F2-77DB-11D3-9B0C-47139B3760D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D4C1CCC-0D16-EF66-57E9-F76B28654AA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0B41AD0-4ECB-95CD-1F3D-E0CEEF0BA89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BE9AF00-BFDA-5B29-2C62-B167FD1FF68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CD349A6-91F1-40EE-F881-2495160828BA}"/>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3️⃣ Network Security (Cloud-Native Way)</a:t>
            </a:r>
          </a:p>
          <a:p>
            <a:pPr marL="12700" marR="5080"/>
            <a:r>
              <a:rPr lang="en-US" sz="1500" kern="0" spc="-80" dirty="0">
                <a:solidFill>
                  <a:schemeClr val="accent2"/>
                </a:solidFill>
              </a:rPr>
              <a:t>Key Patterns</a:t>
            </a:r>
          </a:p>
          <a:p>
            <a:pPr marL="12700" marR="5080"/>
            <a:r>
              <a:rPr lang="en-US" sz="1500" kern="0" spc="-80" dirty="0">
                <a:solidFill>
                  <a:schemeClr val="accent2"/>
                </a:solidFill>
              </a:rPr>
              <a:t>🧱 Zero Trust Networking</a:t>
            </a:r>
          </a:p>
          <a:p>
            <a:pPr marL="12700" marR="5080"/>
            <a:r>
              <a:rPr lang="en-US" sz="1500" kern="0" spc="-80" dirty="0">
                <a:solidFill>
                  <a:schemeClr val="accent6"/>
                </a:solidFill>
              </a:rPr>
              <a:t>Never trust network location</a:t>
            </a:r>
          </a:p>
          <a:p>
            <a:pPr marL="12700" marR="5080"/>
            <a:r>
              <a:rPr lang="en-US" sz="1500" kern="0" spc="-80" dirty="0">
                <a:solidFill>
                  <a:schemeClr val="accent6"/>
                </a:solidFill>
              </a:rPr>
              <a:t>Private endpoints</a:t>
            </a:r>
          </a:p>
          <a:p>
            <a:pPr marL="12700" marR="5080"/>
            <a:r>
              <a:rPr lang="en-US" sz="1500" kern="0" spc="-80" dirty="0">
                <a:solidFill>
                  <a:schemeClr val="accent6"/>
                </a:solidFill>
              </a:rPr>
              <a:t>Identity-based access</a:t>
            </a:r>
          </a:p>
          <a:p>
            <a:pPr marL="12700" marR="5080"/>
            <a:r>
              <a:rPr lang="en-US" sz="1500" kern="0" spc="-80" dirty="0">
                <a:solidFill>
                  <a:schemeClr val="accent6"/>
                </a:solidFill>
              </a:rPr>
              <a:t>Mutual TLS</a:t>
            </a:r>
          </a:p>
          <a:p>
            <a:pPr marL="12700" marR="5080"/>
            <a:r>
              <a:rPr lang="en-US" sz="1500" kern="0" spc="-80" dirty="0">
                <a:solidFill>
                  <a:schemeClr val="accent6"/>
                </a:solidFill>
              </a:rPr>
              <a:t>No flat networks</a:t>
            </a:r>
          </a:p>
          <a:p>
            <a:pPr marL="12700" marR="5080"/>
            <a:r>
              <a:rPr lang="en-US" sz="1500" kern="0" spc="-80" dirty="0">
                <a:solidFill>
                  <a:schemeClr val="accent2"/>
                </a:solidFill>
              </a:rPr>
              <a:t>🔒 Default-Deny</a:t>
            </a:r>
          </a:p>
          <a:p>
            <a:pPr marL="12700" marR="5080"/>
            <a:r>
              <a:rPr lang="en-US" sz="1500" kern="0" spc="-80" dirty="0">
                <a:solidFill>
                  <a:schemeClr val="accent6"/>
                </a:solidFill>
              </a:rPr>
              <a:t>Inbound: deny all</a:t>
            </a:r>
          </a:p>
          <a:p>
            <a:pPr marL="12700" marR="5080"/>
            <a:r>
              <a:rPr lang="en-US" sz="1500" kern="0" spc="-80" dirty="0">
                <a:solidFill>
                  <a:schemeClr val="accent6"/>
                </a:solidFill>
              </a:rPr>
              <a:t>Outbound: restrict explicitly</a:t>
            </a:r>
          </a:p>
          <a:p>
            <a:pPr marL="12700" marR="5080"/>
            <a:r>
              <a:rPr lang="en-US" sz="1500" kern="0" spc="-80" dirty="0">
                <a:solidFill>
                  <a:schemeClr val="accent2"/>
                </a:solidFill>
              </a:rPr>
              <a:t>🌐 Public Exposure Minimization</a:t>
            </a:r>
          </a:p>
          <a:p>
            <a:pPr marL="12700" marR="5080"/>
            <a:r>
              <a:rPr lang="en-US" sz="1500" kern="0" spc="-80" dirty="0">
                <a:solidFill>
                  <a:schemeClr val="accent6"/>
                </a:solidFill>
              </a:rPr>
              <a:t>No public IP unless required</a:t>
            </a:r>
          </a:p>
          <a:p>
            <a:pPr marL="12700" marR="5080"/>
            <a:r>
              <a:rPr lang="en-US" sz="1500" kern="0" spc="-80" dirty="0">
                <a:solidFill>
                  <a:schemeClr val="accent2"/>
                </a:solidFill>
              </a:rPr>
              <a:t>Use:</a:t>
            </a:r>
          </a:p>
          <a:p>
            <a:pPr marL="12700" marR="5080"/>
            <a:r>
              <a:rPr lang="en-US" sz="1500" kern="0" spc="-80" dirty="0">
                <a:solidFill>
                  <a:schemeClr val="accent6"/>
                </a:solidFill>
              </a:rPr>
              <a:t>Load balancers</a:t>
            </a:r>
          </a:p>
          <a:p>
            <a:pPr marL="12700" marR="5080"/>
            <a:r>
              <a:rPr lang="en-US" sz="1500" kern="0" spc="-80" dirty="0">
                <a:solidFill>
                  <a:schemeClr val="accent6"/>
                </a:solidFill>
              </a:rPr>
              <a:t>API gateways</a:t>
            </a:r>
          </a:p>
          <a:p>
            <a:pPr marL="12700" marR="5080"/>
            <a:r>
              <a:rPr lang="en-US" sz="1500" kern="0" spc="-80" dirty="0">
                <a:solidFill>
                  <a:schemeClr val="accent6"/>
                </a:solidFill>
              </a:rPr>
              <a:t>Bastion hosts (temporary)</a:t>
            </a:r>
          </a:p>
          <a:p>
            <a:pPr marL="12700" marR="5080"/>
            <a:r>
              <a:rPr lang="en-US" sz="1500" kern="0" spc="-80" dirty="0">
                <a:solidFill>
                  <a:schemeClr val="accent2"/>
                </a:solidFill>
              </a:rPr>
              <a:t>Cloud Network Anti-Patterns ❌</a:t>
            </a:r>
          </a:p>
          <a:p>
            <a:pPr marL="12700" marR="5080"/>
            <a:r>
              <a:rPr lang="en-US" sz="1500" kern="0" spc="-80" dirty="0">
                <a:solidFill>
                  <a:schemeClr val="accent6"/>
                </a:solidFill>
              </a:rPr>
              <a:t>Everything in one subnet</a:t>
            </a:r>
          </a:p>
          <a:p>
            <a:pPr marL="12700" marR="5080"/>
            <a:r>
              <a:rPr lang="en-US" sz="1500" kern="0" spc="-80" dirty="0">
                <a:solidFill>
                  <a:schemeClr val="accent6"/>
                </a:solidFill>
              </a:rPr>
              <a:t>Wide open 0.0.0.0/0</a:t>
            </a:r>
          </a:p>
          <a:p>
            <a:pPr marL="12700" marR="5080"/>
            <a:r>
              <a:rPr lang="en-US" sz="1500" kern="0" spc="-80" dirty="0">
                <a:solidFill>
                  <a:schemeClr val="accent6"/>
                </a:solidFill>
              </a:rPr>
              <a:t>Public databases</a:t>
            </a:r>
          </a:p>
          <a:p>
            <a:pPr marL="12700" marR="5080"/>
            <a:r>
              <a:rPr lang="en-US" sz="1500" kern="0" spc="-80" dirty="0">
                <a:solidFill>
                  <a:schemeClr val="accent6"/>
                </a:solidFill>
              </a:rPr>
              <a:t>SSH/RDP exposed to internet</a:t>
            </a:r>
          </a:p>
        </p:txBody>
      </p:sp>
    </p:spTree>
    <p:extLst>
      <p:ext uri="{BB962C8B-B14F-4D97-AF65-F5344CB8AC3E}">
        <p14:creationId xmlns:p14="http://schemas.microsoft.com/office/powerpoint/2010/main" val="13196102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C61CD-EFB5-5274-7EF5-7E4BB2D952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A3F844B-2BAC-3B5B-A461-02245E3FAB1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9FB7F0E-16A2-ACCD-E1F2-C89ACA55DE0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F37C66-2C36-A383-BFE8-B58463E59A6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193C68A-6C21-23A8-9126-D1453091EA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5792640-BE45-2412-FBBA-6120314621F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258C7C0-1096-7C77-8A85-420AA7DE0A4F}"/>
              </a:ext>
            </a:extLst>
          </p:cNvPr>
          <p:cNvSpPr txBox="1">
            <a:spLocks/>
          </p:cNvSpPr>
          <p:nvPr/>
        </p:nvSpPr>
        <p:spPr>
          <a:xfrm>
            <a:off x="0" y="685800"/>
            <a:ext cx="8915399"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4️⃣ Data Security (The Actual Asset)</a:t>
            </a:r>
          </a:p>
          <a:p>
            <a:pPr marL="12700" marR="5080"/>
            <a:r>
              <a:rPr lang="en-US" sz="1450" kern="0" spc="-80" dirty="0">
                <a:solidFill>
                  <a:schemeClr val="accent6"/>
                </a:solidFill>
              </a:rPr>
              <a:t>Infrastructure is replaceable, data is not</a:t>
            </a:r>
          </a:p>
          <a:p>
            <a:pPr marL="12700" marR="5080"/>
            <a:r>
              <a:rPr lang="en-US" sz="1450" kern="0" spc="-80" dirty="0">
                <a:solidFill>
                  <a:schemeClr val="accent2"/>
                </a:solidFill>
              </a:rPr>
              <a:t>Data States</a:t>
            </a:r>
          </a:p>
          <a:p>
            <a:pPr marL="12700" marR="5080"/>
            <a:r>
              <a:rPr lang="en-US" sz="1450" kern="0" spc="-80" dirty="0">
                <a:solidFill>
                  <a:schemeClr val="accent2"/>
                </a:solidFill>
              </a:rPr>
              <a:t>State	         Protection</a:t>
            </a:r>
          </a:p>
          <a:p>
            <a:pPr marL="12700" marR="5080"/>
            <a:r>
              <a:rPr lang="en-US" sz="1450" kern="0" spc="-80" dirty="0">
                <a:solidFill>
                  <a:schemeClr val="accent6"/>
                </a:solidFill>
              </a:rPr>
              <a:t>At Rest	         Encryption</a:t>
            </a:r>
          </a:p>
          <a:p>
            <a:pPr marL="12700" marR="5080"/>
            <a:r>
              <a:rPr lang="en-US" sz="1450" kern="0" spc="-80" dirty="0">
                <a:solidFill>
                  <a:schemeClr val="accent6"/>
                </a:solidFill>
              </a:rPr>
              <a:t>In Transit	         TLS</a:t>
            </a:r>
          </a:p>
          <a:p>
            <a:pPr marL="12700" marR="5080"/>
            <a:r>
              <a:rPr lang="en-US" sz="1450" kern="0" spc="-80" dirty="0">
                <a:solidFill>
                  <a:schemeClr val="accent6"/>
                </a:solidFill>
              </a:rPr>
              <a:t>In Use	         Isolation / TEEs</a:t>
            </a:r>
          </a:p>
          <a:p>
            <a:pPr marL="12700" marR="5080"/>
            <a:r>
              <a:rPr lang="en-US" sz="1450" kern="0" spc="-80" dirty="0">
                <a:solidFill>
                  <a:schemeClr val="accent2"/>
                </a:solidFill>
              </a:rPr>
              <a:t>Core Techniques</a:t>
            </a:r>
          </a:p>
          <a:p>
            <a:pPr marL="12700" marR="5080"/>
            <a:r>
              <a:rPr lang="en-US" sz="1450" kern="0" spc="-80" dirty="0">
                <a:solidFill>
                  <a:schemeClr val="accent2"/>
                </a:solidFill>
              </a:rPr>
              <a:t>🔑 Encryption</a:t>
            </a:r>
          </a:p>
          <a:p>
            <a:pPr marL="12700" marR="5080"/>
            <a:r>
              <a:rPr lang="en-US" sz="1450" kern="0" spc="-80" dirty="0">
                <a:solidFill>
                  <a:schemeClr val="accent6"/>
                </a:solidFill>
              </a:rPr>
              <a:t>Cloud-managed keys (KMS)</a:t>
            </a:r>
          </a:p>
          <a:p>
            <a:pPr marL="12700" marR="5080"/>
            <a:r>
              <a:rPr lang="en-US" sz="1450" kern="0" spc="-80" dirty="0">
                <a:solidFill>
                  <a:schemeClr val="accent6"/>
                </a:solidFill>
              </a:rPr>
              <a:t>Customer-managed keys (CMK)</a:t>
            </a:r>
          </a:p>
          <a:p>
            <a:pPr marL="12700" marR="5080"/>
            <a:r>
              <a:rPr lang="en-US" sz="1450" kern="0" spc="-80" dirty="0">
                <a:solidFill>
                  <a:schemeClr val="accent6"/>
                </a:solidFill>
              </a:rPr>
              <a:t>Bring-your-own-key (BYOK)</a:t>
            </a:r>
          </a:p>
          <a:p>
            <a:pPr marL="12700" marR="5080"/>
            <a:r>
              <a:rPr lang="en-US" sz="1450" kern="0" spc="-80" dirty="0">
                <a:solidFill>
                  <a:schemeClr val="accent2"/>
                </a:solidFill>
              </a:rPr>
              <a:t>Rule</a:t>
            </a:r>
          </a:p>
          <a:p>
            <a:pPr marL="12700" marR="5080"/>
            <a:r>
              <a:rPr lang="en-US" sz="1450" kern="0" spc="-80" dirty="0">
                <a:solidFill>
                  <a:schemeClr val="accent6"/>
                </a:solidFill>
              </a:rPr>
              <a:t>Keys ≠ data ≠ access</a:t>
            </a:r>
          </a:p>
          <a:p>
            <a:pPr marL="12700" marR="5080"/>
            <a:r>
              <a:rPr lang="en-US" sz="1450" kern="0" spc="-80" dirty="0">
                <a:solidFill>
                  <a:schemeClr val="accent2"/>
                </a:solidFill>
              </a:rPr>
              <a:t>🔐 Secrets Management</a:t>
            </a:r>
          </a:p>
          <a:p>
            <a:pPr marL="12700" marR="5080"/>
            <a:r>
              <a:rPr lang="en-US" sz="1450" kern="0" spc="-80" dirty="0">
                <a:solidFill>
                  <a:schemeClr val="accent2"/>
                </a:solidFill>
              </a:rPr>
              <a:t>Never store:</a:t>
            </a:r>
          </a:p>
          <a:p>
            <a:pPr marL="12700" marR="5080"/>
            <a:r>
              <a:rPr lang="en-US" sz="1450" kern="0" spc="-80" dirty="0">
                <a:solidFill>
                  <a:schemeClr val="accent6"/>
                </a:solidFill>
              </a:rPr>
              <a:t>passwords</a:t>
            </a:r>
          </a:p>
          <a:p>
            <a:pPr marL="12700" marR="5080"/>
            <a:r>
              <a:rPr lang="en-US" sz="1450" kern="0" spc="-80" dirty="0">
                <a:solidFill>
                  <a:schemeClr val="accent6"/>
                </a:solidFill>
              </a:rPr>
              <a:t>tokens</a:t>
            </a:r>
          </a:p>
          <a:p>
            <a:pPr marL="12700" marR="5080"/>
            <a:r>
              <a:rPr lang="en-US" sz="1450" kern="0" spc="-80" dirty="0">
                <a:solidFill>
                  <a:schemeClr val="accent6"/>
                </a:solidFill>
              </a:rPr>
              <a:t>certificates</a:t>
            </a:r>
          </a:p>
          <a:p>
            <a:pPr marL="12700" marR="5080"/>
            <a:r>
              <a:rPr lang="en-US" sz="1450" kern="0" spc="-80" dirty="0">
                <a:solidFill>
                  <a:schemeClr val="accent2"/>
                </a:solidFill>
              </a:rPr>
              <a:t>In:</a:t>
            </a:r>
          </a:p>
          <a:p>
            <a:pPr marL="12700" marR="5080"/>
            <a:r>
              <a:rPr lang="en-US" sz="1450" kern="0" spc="-80" dirty="0">
                <a:solidFill>
                  <a:schemeClr val="accent6"/>
                </a:solidFill>
              </a:rPr>
              <a:t>code</a:t>
            </a:r>
          </a:p>
          <a:p>
            <a:pPr marL="12700" marR="5080"/>
            <a:r>
              <a:rPr lang="en-US" sz="1450" kern="0" spc="-80" dirty="0">
                <a:solidFill>
                  <a:schemeClr val="accent6"/>
                </a:solidFill>
              </a:rPr>
              <a:t>environment variables</a:t>
            </a:r>
          </a:p>
          <a:p>
            <a:pPr marL="12700" marR="5080"/>
            <a:r>
              <a:rPr lang="en-US" sz="1450" kern="0" spc="-80" dirty="0">
                <a:solidFill>
                  <a:schemeClr val="accent6"/>
                </a:solidFill>
              </a:rPr>
              <a:t>git</a:t>
            </a:r>
            <a:endParaRPr lang="en-US" sz="1500" kern="0" spc="-80" dirty="0">
              <a:solidFill>
                <a:schemeClr val="accent6"/>
              </a:solidFill>
            </a:endParaRPr>
          </a:p>
        </p:txBody>
      </p:sp>
    </p:spTree>
    <p:extLst>
      <p:ext uri="{BB962C8B-B14F-4D97-AF65-F5344CB8AC3E}">
        <p14:creationId xmlns:p14="http://schemas.microsoft.com/office/powerpoint/2010/main" val="23228376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3CF4-C899-936D-87C5-90A1738C7C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FBF685-73BD-A312-CBF6-236ACB501D1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E35397-48EA-DC80-A268-DEF2AF8A37B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6F4F89B-D49E-5449-052C-849EC06F827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00C2FA9-DF3B-E9A5-DF26-6459A262BF0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7D3EE3A-0C0A-029E-AB02-B2DA472C874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0CB4D9C-8B21-C8CC-821F-1833B4DF1DD9}"/>
              </a:ext>
            </a:extLst>
          </p:cNvPr>
          <p:cNvSpPr txBox="1">
            <a:spLocks/>
          </p:cNvSpPr>
          <p:nvPr/>
        </p:nvSpPr>
        <p:spPr>
          <a:xfrm>
            <a:off x="0" y="685800"/>
            <a:ext cx="8915399" cy="53014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4️⃣ Data Security (The Actual Asset)</a:t>
            </a:r>
          </a:p>
          <a:p>
            <a:pPr marL="12700" marR="5080"/>
            <a:r>
              <a:rPr lang="en-US" sz="1450" kern="0" spc="-80" dirty="0">
                <a:solidFill>
                  <a:schemeClr val="accent2"/>
                </a:solidFill>
              </a:rPr>
              <a:t>🔐 Secrets Management</a:t>
            </a:r>
          </a:p>
          <a:p>
            <a:pPr marL="12700" marR="5080"/>
            <a:r>
              <a:rPr lang="en-US" sz="1500" kern="0" spc="-80" dirty="0">
                <a:solidFill>
                  <a:schemeClr val="accent2"/>
                </a:solidFill>
              </a:rPr>
              <a:t>Use:</a:t>
            </a:r>
          </a:p>
          <a:p>
            <a:pPr marL="12700" marR="5080"/>
            <a:r>
              <a:rPr lang="en-US" sz="1500" kern="0" spc="-80" dirty="0">
                <a:solidFill>
                  <a:schemeClr val="accent6"/>
                </a:solidFill>
              </a:rPr>
              <a:t>Secret Manager</a:t>
            </a:r>
          </a:p>
          <a:p>
            <a:pPr marL="12700" marR="5080"/>
            <a:r>
              <a:rPr lang="en-US" sz="1500" kern="0" spc="-80" dirty="0">
                <a:solidFill>
                  <a:schemeClr val="accent6"/>
                </a:solidFill>
              </a:rPr>
              <a:t>Key Vault</a:t>
            </a:r>
          </a:p>
          <a:p>
            <a:pPr marL="12700" marR="5080"/>
            <a:r>
              <a:rPr lang="en-US" sz="1500" kern="0" spc="-80" dirty="0">
                <a:solidFill>
                  <a:schemeClr val="accent6"/>
                </a:solidFill>
              </a:rPr>
              <a:t>Parameter Store</a:t>
            </a:r>
          </a:p>
          <a:p>
            <a:pPr marL="12700" marR="5080"/>
            <a:endParaRPr lang="en-US" sz="1500" kern="0" spc="-80" dirty="0">
              <a:solidFill>
                <a:schemeClr val="accent6"/>
              </a:solidFill>
            </a:endParaRPr>
          </a:p>
          <a:p>
            <a:pPr marL="12700" marR="5080"/>
            <a:r>
              <a:rPr lang="en-US" sz="1500" kern="0" spc="-80" dirty="0">
                <a:solidFill>
                  <a:schemeClr val="accent2"/>
                </a:solidFill>
              </a:rPr>
              <a:t>📊 Data Classification</a:t>
            </a:r>
          </a:p>
          <a:p>
            <a:pPr marL="12700" marR="5080"/>
            <a:r>
              <a:rPr lang="en-US" sz="1500" kern="0" spc="-80" dirty="0">
                <a:solidFill>
                  <a:schemeClr val="accent2"/>
                </a:solidFill>
              </a:rPr>
              <a:t>Tag data:</a:t>
            </a:r>
          </a:p>
          <a:p>
            <a:pPr marL="12700" marR="5080"/>
            <a:r>
              <a:rPr lang="en-US" sz="1500" kern="0" spc="-80" dirty="0">
                <a:solidFill>
                  <a:schemeClr val="accent6"/>
                </a:solidFill>
              </a:rPr>
              <a:t>Public</a:t>
            </a:r>
          </a:p>
          <a:p>
            <a:pPr marL="12700" marR="5080"/>
            <a:r>
              <a:rPr lang="en-US" sz="1500" kern="0" spc="-80" dirty="0">
                <a:solidFill>
                  <a:schemeClr val="accent6"/>
                </a:solidFill>
              </a:rPr>
              <a:t>Internal</a:t>
            </a:r>
          </a:p>
          <a:p>
            <a:pPr marL="12700" marR="5080"/>
            <a:r>
              <a:rPr lang="en-US" sz="1500" kern="0" spc="-80" dirty="0">
                <a:solidFill>
                  <a:schemeClr val="accent6"/>
                </a:solidFill>
              </a:rPr>
              <a:t>Confidential</a:t>
            </a:r>
          </a:p>
          <a:p>
            <a:pPr marL="12700" marR="5080"/>
            <a:r>
              <a:rPr lang="en-US" sz="1500" kern="0" spc="-80" dirty="0">
                <a:solidFill>
                  <a:schemeClr val="accent6"/>
                </a:solidFill>
              </a:rPr>
              <a:t>Regulated (PII, PCI, HIPAA)</a:t>
            </a:r>
          </a:p>
          <a:p>
            <a:pPr marL="12700" marR="5080"/>
            <a:r>
              <a:rPr lang="en-US" sz="1500" kern="0" spc="-80" dirty="0">
                <a:solidFill>
                  <a:schemeClr val="accent6"/>
                </a:solidFill>
              </a:rPr>
              <a:t>Then enforce controls automatically.</a:t>
            </a:r>
          </a:p>
          <a:p>
            <a:pPr marL="12700" marR="5080"/>
            <a:endParaRPr lang="en-US" sz="1500" kern="0" spc="-80" dirty="0">
              <a:solidFill>
                <a:schemeClr val="accent6"/>
              </a:solidFill>
            </a:endParaRPr>
          </a:p>
          <a:p>
            <a:pPr marL="12700" marR="5080"/>
            <a:r>
              <a:rPr lang="en-US" sz="1500" kern="0" spc="-80" dirty="0">
                <a:solidFill>
                  <a:schemeClr val="accent2"/>
                </a:solidFill>
              </a:rPr>
              <a:t>5️⃣ Application &amp; Runtime Security</a:t>
            </a:r>
          </a:p>
          <a:p>
            <a:pPr marL="12700" marR="5080"/>
            <a:r>
              <a:rPr lang="en-US" sz="1500" kern="0" spc="-80" dirty="0">
                <a:solidFill>
                  <a:schemeClr val="accent6"/>
                </a:solidFill>
              </a:rPr>
              <a:t>Cloud attacks mostly hit applications, not VMs.</a:t>
            </a:r>
          </a:p>
          <a:p>
            <a:pPr marL="12700" marR="5080"/>
            <a:r>
              <a:rPr lang="en-US" sz="1500" kern="0" spc="-80" dirty="0">
                <a:solidFill>
                  <a:schemeClr val="accent2"/>
                </a:solidFill>
              </a:rPr>
              <a:t>Key Areas</a:t>
            </a:r>
          </a:p>
          <a:p>
            <a:pPr marL="12700" marR="5080"/>
            <a:r>
              <a:rPr lang="en-US" sz="1500" kern="0" spc="-80" dirty="0">
                <a:solidFill>
                  <a:schemeClr val="accent2"/>
                </a:solidFill>
              </a:rPr>
              <a:t>🧩 Secure Software Supply Chain</a:t>
            </a:r>
          </a:p>
          <a:p>
            <a:pPr marL="12700" marR="5080"/>
            <a:r>
              <a:rPr lang="en-US" sz="1500" kern="0" spc="-80" dirty="0">
                <a:solidFill>
                  <a:schemeClr val="accent6"/>
                </a:solidFill>
              </a:rPr>
              <a:t>Dependency scanning</a:t>
            </a:r>
          </a:p>
          <a:p>
            <a:pPr marL="12700" marR="5080"/>
            <a:r>
              <a:rPr lang="en-US" sz="1500" kern="0" spc="-80" dirty="0">
                <a:solidFill>
                  <a:schemeClr val="accent6"/>
                </a:solidFill>
              </a:rPr>
              <a:t>SBOM</a:t>
            </a:r>
          </a:p>
          <a:p>
            <a:pPr marL="12700" marR="5080"/>
            <a:r>
              <a:rPr lang="en-US" sz="1500" kern="0" spc="-80" dirty="0">
                <a:solidFill>
                  <a:schemeClr val="accent6"/>
                </a:solidFill>
              </a:rPr>
              <a:t>Image signing</a:t>
            </a:r>
          </a:p>
        </p:txBody>
      </p:sp>
    </p:spTree>
    <p:extLst>
      <p:ext uri="{BB962C8B-B14F-4D97-AF65-F5344CB8AC3E}">
        <p14:creationId xmlns:p14="http://schemas.microsoft.com/office/powerpoint/2010/main" val="16572310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2C7A4-86B2-7AF1-AA3E-724A22C881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75BE3B8-9BEC-E7E1-DF0D-1E76083417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960A730-BAFD-DB7A-7561-BA4E15AF470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2A1432E-6F82-F052-F0F3-162915FACA1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572A02F-DE24-B64B-009D-88E90DBA974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22C125B-6235-C586-7598-3C0020B961C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DC166F4-A21D-DF2E-1C1A-4449362FD1F8}"/>
              </a:ext>
            </a:extLst>
          </p:cNvPr>
          <p:cNvSpPr txBox="1">
            <a:spLocks/>
          </p:cNvSpPr>
          <p:nvPr/>
        </p:nvSpPr>
        <p:spPr>
          <a:xfrm>
            <a:off x="0" y="685800"/>
            <a:ext cx="8915399"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5️⃣ Application &amp; Runtime Security</a:t>
            </a:r>
          </a:p>
          <a:p>
            <a:pPr marL="12700" marR="5080"/>
            <a:r>
              <a:rPr lang="en-US" sz="1500" kern="0" spc="-80" dirty="0">
                <a:solidFill>
                  <a:schemeClr val="accent2"/>
                </a:solidFill>
              </a:rPr>
              <a:t>Key Areas</a:t>
            </a:r>
          </a:p>
          <a:p>
            <a:pPr marL="12700" marR="5080"/>
            <a:r>
              <a:rPr lang="en-US" sz="1500" kern="0" spc="-80" dirty="0">
                <a:solidFill>
                  <a:schemeClr val="accent2"/>
                </a:solidFill>
              </a:rPr>
              <a:t>🧩 Secure Software Supply Chain</a:t>
            </a:r>
          </a:p>
          <a:p>
            <a:pPr marL="12700" marR="5080"/>
            <a:r>
              <a:rPr lang="en-US" sz="1500" kern="0" spc="-80" dirty="0">
                <a:solidFill>
                  <a:schemeClr val="accent6"/>
                </a:solidFill>
              </a:rPr>
              <a:t>Provenance checks</a:t>
            </a:r>
          </a:p>
          <a:p>
            <a:pPr marL="12700" marR="5080"/>
            <a:r>
              <a:rPr lang="en-US" sz="1500" kern="0" spc="-80" dirty="0">
                <a:solidFill>
                  <a:schemeClr val="accent6"/>
                </a:solidFill>
              </a:rPr>
              <a:t>Most breaches start via compromised dependencies.</a:t>
            </a:r>
          </a:p>
          <a:p>
            <a:pPr marL="12700" marR="5080"/>
            <a:r>
              <a:rPr lang="en-US" sz="1500" kern="0" spc="-80" dirty="0">
                <a:solidFill>
                  <a:schemeClr val="accent2"/>
                </a:solidFill>
              </a:rPr>
              <a:t>🐳 Container &amp; Kubernetes Security</a:t>
            </a:r>
          </a:p>
          <a:p>
            <a:pPr marL="12700" marR="5080"/>
            <a:r>
              <a:rPr lang="en-US" sz="1500" kern="0" spc="-80" dirty="0">
                <a:solidFill>
                  <a:schemeClr val="accent6"/>
                </a:solidFill>
              </a:rPr>
              <a:t>Minimal base images</a:t>
            </a:r>
          </a:p>
          <a:p>
            <a:pPr marL="12700" marR="5080"/>
            <a:r>
              <a:rPr lang="en-US" sz="1500" kern="0" spc="-80" dirty="0">
                <a:solidFill>
                  <a:schemeClr val="accent6"/>
                </a:solidFill>
              </a:rPr>
              <a:t>No root containers</a:t>
            </a:r>
          </a:p>
          <a:p>
            <a:pPr marL="12700" marR="5080"/>
            <a:r>
              <a:rPr lang="en-US" sz="1500" kern="0" spc="-80" dirty="0">
                <a:solidFill>
                  <a:schemeClr val="accent6"/>
                </a:solidFill>
              </a:rPr>
              <a:t>Pod Security Standards</a:t>
            </a:r>
          </a:p>
          <a:p>
            <a:pPr marL="12700" marR="5080"/>
            <a:r>
              <a:rPr lang="en-US" sz="1500" kern="0" spc="-80" dirty="0">
                <a:solidFill>
                  <a:schemeClr val="accent6"/>
                </a:solidFill>
              </a:rPr>
              <a:t>Network policies</a:t>
            </a:r>
          </a:p>
          <a:p>
            <a:pPr marL="12700" marR="5080"/>
            <a:r>
              <a:rPr lang="en-US" sz="1500" kern="0" spc="-80" dirty="0">
                <a:solidFill>
                  <a:schemeClr val="accent6"/>
                </a:solidFill>
              </a:rPr>
              <a:t>Admission controllers</a:t>
            </a:r>
          </a:p>
          <a:p>
            <a:pPr marL="12700" marR="5080"/>
            <a:r>
              <a:rPr lang="en-US" sz="1500" kern="0" spc="-80" dirty="0">
                <a:solidFill>
                  <a:schemeClr val="accent2"/>
                </a:solidFill>
              </a:rPr>
              <a:t>Mental Model</a:t>
            </a:r>
          </a:p>
          <a:p>
            <a:pPr marL="12700" marR="5080"/>
            <a:r>
              <a:rPr lang="en-US" sz="1500" kern="0" spc="-80" dirty="0">
                <a:solidFill>
                  <a:schemeClr val="accent6"/>
                </a:solidFill>
              </a:rPr>
              <a:t>Kubernetes security = IAM + network + runtime</a:t>
            </a:r>
          </a:p>
          <a:p>
            <a:pPr marL="12700" marR="5080"/>
            <a:r>
              <a:rPr lang="en-US" sz="1500" kern="0" spc="-80" dirty="0">
                <a:solidFill>
                  <a:schemeClr val="accent2"/>
                </a:solidFill>
              </a:rPr>
              <a:t>🔍 Runtime Threat Detection</a:t>
            </a:r>
          </a:p>
          <a:p>
            <a:pPr marL="12700" marR="5080"/>
            <a:r>
              <a:rPr lang="en-US" sz="1500" kern="0" spc="-80" dirty="0">
                <a:solidFill>
                  <a:schemeClr val="accent6"/>
                </a:solidFill>
              </a:rPr>
              <a:t>Behavioral analysis</a:t>
            </a:r>
          </a:p>
          <a:p>
            <a:pPr marL="12700" marR="5080"/>
            <a:r>
              <a:rPr lang="en-US" sz="1500" kern="0" spc="-80" dirty="0">
                <a:solidFill>
                  <a:schemeClr val="accent6"/>
                </a:solidFill>
              </a:rPr>
              <a:t>Unexpected process execution</a:t>
            </a:r>
          </a:p>
          <a:p>
            <a:pPr marL="12700" marR="5080"/>
            <a:r>
              <a:rPr lang="en-US" sz="1500" kern="0" spc="-80" dirty="0">
                <a:solidFill>
                  <a:schemeClr val="accent6"/>
                </a:solidFill>
              </a:rPr>
              <a:t>Crypto-mining detection</a:t>
            </a:r>
          </a:p>
          <a:p>
            <a:pPr marL="12700" marR="5080"/>
            <a:r>
              <a:rPr lang="en-US" sz="1500" kern="0" spc="-80" dirty="0">
                <a:solidFill>
                  <a:schemeClr val="accent6"/>
                </a:solidFill>
              </a:rPr>
              <a:t>Privilege escalation detection</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10893197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5EC84-F084-7BBD-351B-8D24CF130B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F6DEF6-E792-E3CF-C690-60FA629B2EC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15A963-139B-B3B5-018F-9EA3A8EBFE7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15A758-2BC2-C8E3-0E79-F6DCE93DC29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D919149-8058-9C10-CCED-7F40C357CAB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EEE11F3-D6A1-9719-AA6F-FC9067F9B0A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5EA34B9-9B84-58CE-1169-0789D8793F44}"/>
              </a:ext>
            </a:extLst>
          </p:cNvPr>
          <p:cNvSpPr txBox="1">
            <a:spLocks/>
          </p:cNvSpPr>
          <p:nvPr/>
        </p:nvSpPr>
        <p:spPr>
          <a:xfrm>
            <a:off x="0" y="685800"/>
            <a:ext cx="8915399"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6️⃣ Cloud Security Posture Management (CSPM)</a:t>
            </a:r>
          </a:p>
          <a:p>
            <a:pPr marL="12700" marR="5080"/>
            <a:r>
              <a:rPr lang="en-US" sz="1500" kern="0" spc="-80" dirty="0">
                <a:solidFill>
                  <a:schemeClr val="accent6"/>
                </a:solidFill>
              </a:rPr>
              <a:t>Prevent misconfiguration drift</a:t>
            </a:r>
          </a:p>
          <a:p>
            <a:pPr marL="12700" marR="5080"/>
            <a:r>
              <a:rPr lang="en-US" sz="1500" kern="0" spc="-80" dirty="0">
                <a:solidFill>
                  <a:schemeClr val="accent2"/>
                </a:solidFill>
              </a:rPr>
              <a:t>What CSPM Does</a:t>
            </a:r>
          </a:p>
          <a:p>
            <a:pPr marL="12700" marR="5080"/>
            <a:r>
              <a:rPr lang="en-US" sz="1500" kern="0" spc="-80" dirty="0">
                <a:solidFill>
                  <a:schemeClr val="accent6"/>
                </a:solidFill>
              </a:rPr>
              <a:t>Detect open buckets</a:t>
            </a:r>
          </a:p>
          <a:p>
            <a:pPr marL="12700" marR="5080"/>
            <a:r>
              <a:rPr lang="en-US" sz="1500" kern="0" spc="-80" dirty="0">
                <a:solidFill>
                  <a:schemeClr val="accent6"/>
                </a:solidFill>
              </a:rPr>
              <a:t>Detect public DBs</a:t>
            </a:r>
          </a:p>
          <a:p>
            <a:pPr marL="12700" marR="5080"/>
            <a:r>
              <a:rPr lang="en-US" sz="1500" kern="0" spc="-80" dirty="0">
                <a:solidFill>
                  <a:schemeClr val="accent6"/>
                </a:solidFill>
              </a:rPr>
              <a:t>Detect excessive permissions</a:t>
            </a:r>
          </a:p>
          <a:p>
            <a:pPr marL="12700" marR="5080"/>
            <a:r>
              <a:rPr lang="en-US" sz="1500" kern="0" spc="-80" dirty="0">
                <a:solidFill>
                  <a:schemeClr val="accent6"/>
                </a:solidFill>
              </a:rPr>
              <a:t>Detect non-encrypted resources</a:t>
            </a:r>
          </a:p>
          <a:p>
            <a:pPr marL="12700" marR="5080"/>
            <a:r>
              <a:rPr lang="en-US" sz="1500" kern="0" spc="-80" dirty="0">
                <a:solidFill>
                  <a:schemeClr val="accent2"/>
                </a:solidFill>
              </a:rPr>
              <a:t>Examples:</a:t>
            </a:r>
          </a:p>
          <a:p>
            <a:pPr marL="12700" marR="5080"/>
            <a:r>
              <a:rPr lang="en-US" sz="1500" kern="0" spc="-80" dirty="0">
                <a:solidFill>
                  <a:schemeClr val="accent6"/>
                </a:solidFill>
              </a:rPr>
              <a:t>AWS Security Hub</a:t>
            </a:r>
          </a:p>
          <a:p>
            <a:pPr marL="12700" marR="5080"/>
            <a:r>
              <a:rPr lang="en-US" sz="1500" kern="0" spc="-80" dirty="0">
                <a:solidFill>
                  <a:schemeClr val="accent6"/>
                </a:solidFill>
              </a:rPr>
              <a:t>Azure Defender</a:t>
            </a:r>
          </a:p>
          <a:p>
            <a:pPr marL="12700" marR="5080"/>
            <a:r>
              <a:rPr lang="en-US" sz="1500" kern="0" spc="-80" dirty="0">
                <a:solidFill>
                  <a:schemeClr val="accent6"/>
                </a:solidFill>
              </a:rPr>
              <a:t>GCP Security Command Center</a:t>
            </a:r>
          </a:p>
          <a:p>
            <a:pPr marL="12700" marR="5080"/>
            <a:r>
              <a:rPr lang="en-US" sz="1500" kern="0" spc="-80" dirty="0">
                <a:solidFill>
                  <a:schemeClr val="accent6"/>
                </a:solidFill>
              </a:rPr>
              <a:t>Shift-Left Pattern</a:t>
            </a:r>
          </a:p>
          <a:p>
            <a:pPr marL="12700" marR="5080"/>
            <a:r>
              <a:rPr lang="en-US" sz="1500" kern="0" spc="-80" dirty="0">
                <a:solidFill>
                  <a:schemeClr val="accent2"/>
                </a:solidFill>
              </a:rPr>
              <a:t>Run CSPM:</a:t>
            </a:r>
          </a:p>
          <a:p>
            <a:pPr marL="12700" marR="5080"/>
            <a:r>
              <a:rPr lang="en-US" sz="1500" kern="0" spc="-80" dirty="0">
                <a:solidFill>
                  <a:schemeClr val="accent6"/>
                </a:solidFill>
              </a:rPr>
              <a:t>during </a:t>
            </a:r>
            <a:r>
              <a:rPr lang="en-US" sz="1500" kern="0" spc="-80" dirty="0" err="1">
                <a:solidFill>
                  <a:schemeClr val="accent6"/>
                </a:solidFill>
              </a:rPr>
              <a:t>IaC</a:t>
            </a:r>
            <a:r>
              <a:rPr lang="en-US" sz="1500" kern="0" spc="-80" dirty="0">
                <a:solidFill>
                  <a:schemeClr val="accent6"/>
                </a:solidFill>
              </a:rPr>
              <a:t> PRs</a:t>
            </a:r>
          </a:p>
          <a:p>
            <a:pPr marL="12700" marR="5080"/>
            <a:r>
              <a:rPr lang="en-US" sz="1500" kern="0" spc="-80" dirty="0">
                <a:solidFill>
                  <a:schemeClr val="accent6"/>
                </a:solidFill>
              </a:rPr>
              <a:t>during CI builds</a:t>
            </a:r>
          </a:p>
          <a:p>
            <a:pPr marL="12700" marR="5080"/>
            <a:r>
              <a:rPr lang="en-US" sz="1500" kern="0" spc="-80" dirty="0">
                <a:solidFill>
                  <a:schemeClr val="accent6"/>
                </a:solidFill>
              </a:rPr>
              <a:t>before deployment</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38684399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A73B4-56DD-2395-3018-47F05E29279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19C465-0745-0492-A061-C1B8B65C5E9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D73ED1-7B6F-3863-B18E-1D755D632F3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B903A14-03C4-10DB-A445-ED9E2850FD2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B9875E7-ECA5-2345-0EC1-F954F1C63F5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A3D0557-A476-67F0-6EAB-7BBDAC2123B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8EEDDA3-ECD0-7779-42A4-AD929908042C}"/>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7️⃣ Infrastructure as Code (</a:t>
            </a:r>
            <a:r>
              <a:rPr lang="en-US" sz="1500" kern="0" spc="-80" dirty="0" err="1">
                <a:solidFill>
                  <a:schemeClr val="accent2"/>
                </a:solidFill>
              </a:rPr>
              <a:t>IaC</a:t>
            </a:r>
            <a:r>
              <a:rPr lang="en-US" sz="1500" kern="0" spc="-80" dirty="0">
                <a:solidFill>
                  <a:schemeClr val="accent2"/>
                </a:solidFill>
              </a:rPr>
              <a:t>) Security</a:t>
            </a:r>
          </a:p>
          <a:p>
            <a:pPr marL="12700" marR="5080"/>
            <a:r>
              <a:rPr lang="en-US" sz="1500" kern="0" spc="-80" dirty="0">
                <a:solidFill>
                  <a:schemeClr val="accent6"/>
                </a:solidFill>
              </a:rPr>
              <a:t>Security becomes code, reviewable and testable</a:t>
            </a:r>
          </a:p>
          <a:p>
            <a:pPr marL="12700" marR="5080"/>
            <a:r>
              <a:rPr lang="en-US" sz="1500" kern="0" spc="-80" dirty="0">
                <a:solidFill>
                  <a:schemeClr val="accent2"/>
                </a:solidFill>
              </a:rPr>
              <a:t>Techniques</a:t>
            </a:r>
          </a:p>
          <a:p>
            <a:pPr marL="12700" marR="5080"/>
            <a:r>
              <a:rPr lang="en-US" sz="1500" kern="0" spc="-80" dirty="0">
                <a:solidFill>
                  <a:schemeClr val="accent6"/>
                </a:solidFill>
              </a:rPr>
              <a:t>Policy-as-Code (OPA, Sentinel)</a:t>
            </a:r>
          </a:p>
          <a:p>
            <a:pPr marL="12700" marR="5080"/>
            <a:r>
              <a:rPr lang="en-US" sz="1500" kern="0" spc="-80" dirty="0" err="1">
                <a:solidFill>
                  <a:schemeClr val="accent6"/>
                </a:solidFill>
              </a:rPr>
              <a:t>IaC</a:t>
            </a:r>
            <a:r>
              <a:rPr lang="en-US" sz="1500" kern="0" spc="-80" dirty="0">
                <a:solidFill>
                  <a:schemeClr val="accent6"/>
                </a:solidFill>
              </a:rPr>
              <a:t> scanning (Terraform, ARM, CloudFormation)</a:t>
            </a:r>
          </a:p>
          <a:p>
            <a:pPr marL="12700" marR="5080"/>
            <a:r>
              <a:rPr lang="en-US" sz="1500" kern="0" spc="-80" dirty="0">
                <a:solidFill>
                  <a:schemeClr val="accent2"/>
                </a:solidFill>
              </a:rPr>
              <a:t>Golden templates</a:t>
            </a:r>
          </a:p>
          <a:p>
            <a:pPr marL="12700" marR="5080"/>
            <a:r>
              <a:rPr lang="en-US" sz="1500" kern="0" spc="-80" dirty="0">
                <a:solidFill>
                  <a:schemeClr val="accent6"/>
                </a:solidFill>
              </a:rPr>
              <a:t>Drift detection</a:t>
            </a:r>
          </a:p>
          <a:p>
            <a:pPr marL="12700" marR="5080"/>
            <a:r>
              <a:rPr lang="en-US" sz="1500" kern="0" spc="-80" dirty="0">
                <a:solidFill>
                  <a:schemeClr val="accent6"/>
                </a:solidFill>
              </a:rPr>
              <a:t>Example Policy (Intuition)</a:t>
            </a:r>
          </a:p>
          <a:p>
            <a:pPr marL="12700" marR="5080"/>
            <a:r>
              <a:rPr lang="en-US" sz="1500" kern="0" spc="-80" dirty="0">
                <a:solidFill>
                  <a:schemeClr val="accent6"/>
                </a:solidFill>
              </a:rPr>
              <a:t>“No resource can be public unless explicitly justified”</a:t>
            </a:r>
          </a:p>
          <a:p>
            <a:pPr marL="12700" marR="5080"/>
            <a:r>
              <a:rPr lang="en-US" sz="1500" kern="0" spc="-80" dirty="0">
                <a:solidFill>
                  <a:schemeClr val="accent2"/>
                </a:solidFill>
              </a:rPr>
              <a:t>8️⃣ Logging, Monitoring &amp; Detection</a:t>
            </a:r>
          </a:p>
          <a:p>
            <a:pPr marL="12700" marR="5080"/>
            <a:r>
              <a:rPr lang="en-US" sz="1500" kern="0" spc="-80" dirty="0">
                <a:solidFill>
                  <a:schemeClr val="accent2"/>
                </a:solidFill>
              </a:rPr>
              <a:t>If you can’t see it, you can’t secure it</a:t>
            </a:r>
          </a:p>
          <a:p>
            <a:pPr marL="12700" marR="5080"/>
            <a:r>
              <a:rPr lang="en-US" sz="1500" kern="0" spc="-80" dirty="0">
                <a:solidFill>
                  <a:schemeClr val="accent2"/>
                </a:solidFill>
              </a:rPr>
              <a:t>Critical Logs</a:t>
            </a:r>
          </a:p>
          <a:p>
            <a:pPr marL="12700" marR="5080"/>
            <a:r>
              <a:rPr lang="en-US" sz="1500" kern="0" spc="-80" dirty="0">
                <a:solidFill>
                  <a:schemeClr val="accent2"/>
                </a:solidFill>
              </a:rPr>
              <a:t>Type	                  Why</a:t>
            </a:r>
          </a:p>
          <a:p>
            <a:pPr marL="12700" marR="5080"/>
            <a:r>
              <a:rPr lang="en-US" sz="1500" kern="0" spc="-80" dirty="0">
                <a:solidFill>
                  <a:schemeClr val="accent6"/>
                </a:solidFill>
              </a:rPr>
              <a:t>IAM logs	                  Credential abuse</a:t>
            </a:r>
          </a:p>
          <a:p>
            <a:pPr marL="12700" marR="5080"/>
            <a:r>
              <a:rPr lang="en-US" sz="1500" kern="0" spc="-80" dirty="0">
                <a:solidFill>
                  <a:schemeClr val="accent6"/>
                </a:solidFill>
              </a:rPr>
              <a:t>API audit logs	Unauthorized changes</a:t>
            </a:r>
          </a:p>
          <a:p>
            <a:pPr marL="12700" marR="5080"/>
            <a:r>
              <a:rPr lang="en-US" sz="1500" kern="0" spc="-80" dirty="0">
                <a:solidFill>
                  <a:schemeClr val="accent6"/>
                </a:solidFill>
              </a:rPr>
              <a:t>Network flow logs	Lateral movement</a:t>
            </a:r>
          </a:p>
          <a:p>
            <a:pPr marL="12700" marR="5080"/>
            <a:r>
              <a:rPr lang="en-US" sz="1500" kern="0" spc="-80" dirty="0">
                <a:solidFill>
                  <a:schemeClr val="accent6"/>
                </a:solidFill>
              </a:rPr>
              <a:t>Application logs	Logic abuse</a:t>
            </a:r>
          </a:p>
          <a:p>
            <a:pPr marL="12700" marR="5080"/>
            <a:r>
              <a:rPr lang="en-US" sz="1500" kern="0" spc="-80" dirty="0">
                <a:solidFill>
                  <a:schemeClr val="accent2"/>
                </a:solidFill>
              </a:rPr>
              <a:t>Detection Patterns</a:t>
            </a:r>
          </a:p>
          <a:p>
            <a:pPr marL="12700" marR="5080"/>
            <a:r>
              <a:rPr lang="en-US" sz="1500" kern="0" spc="-80" dirty="0">
                <a:solidFill>
                  <a:schemeClr val="accent6"/>
                </a:solidFill>
              </a:rPr>
              <a:t>Impossible travel</a:t>
            </a:r>
          </a:p>
          <a:p>
            <a:pPr marL="12700" marR="5080"/>
            <a:r>
              <a:rPr lang="en-US" sz="1500" kern="0" spc="-80" dirty="0">
                <a:solidFill>
                  <a:schemeClr val="accent6"/>
                </a:solidFill>
              </a:rPr>
              <a:t>Privilege escalation</a:t>
            </a:r>
          </a:p>
          <a:p>
            <a:pPr marL="12700" marR="5080"/>
            <a:r>
              <a:rPr lang="en-US" sz="1500" kern="0" spc="-80" dirty="0">
                <a:solidFill>
                  <a:schemeClr val="accent6"/>
                </a:solidFill>
              </a:rPr>
              <a:t>Sudden policy changes</a:t>
            </a:r>
          </a:p>
          <a:p>
            <a:pPr marL="12700" marR="5080"/>
            <a:r>
              <a:rPr lang="en-US" sz="1500" kern="0" spc="-80" dirty="0">
                <a:solidFill>
                  <a:schemeClr val="accent6"/>
                </a:solidFill>
              </a:rPr>
              <a:t>Data exfiltration spikes</a:t>
            </a:r>
          </a:p>
        </p:txBody>
      </p:sp>
    </p:spTree>
    <p:extLst>
      <p:ext uri="{BB962C8B-B14F-4D97-AF65-F5344CB8AC3E}">
        <p14:creationId xmlns:p14="http://schemas.microsoft.com/office/powerpoint/2010/main" val="15737987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233B-1425-0474-2CDA-D776EDD71C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E8E4D3-21F7-0328-FCD2-90447ED0CC2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DF824D-7BCD-EC33-8AFC-22B50E6AAD7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3D8FBB-E5AA-3075-3E60-EAC34E260B5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5A31A2F-4679-D010-E188-93772EB269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E8F512F-23FD-D6F0-FBFA-FAD4A155B3C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69DBD9-0BAD-8B46-A4B3-04AB783E5F73}"/>
              </a:ext>
            </a:extLst>
          </p:cNvPr>
          <p:cNvSpPr txBox="1">
            <a:spLocks/>
          </p:cNvSpPr>
          <p:nvPr/>
        </p:nvSpPr>
        <p:spPr>
          <a:xfrm>
            <a:off x="0" y="685800"/>
            <a:ext cx="8915399"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9️⃣ Incident Response &amp; Resilience</a:t>
            </a:r>
          </a:p>
          <a:p>
            <a:pPr marL="12700" marR="5080"/>
            <a:r>
              <a:rPr lang="en-US" sz="1500" kern="0" spc="-80" dirty="0">
                <a:solidFill>
                  <a:schemeClr val="accent6"/>
                </a:solidFill>
              </a:rPr>
              <a:t>Assume failure.</a:t>
            </a:r>
          </a:p>
          <a:p>
            <a:pPr marL="12700" marR="5080"/>
            <a:r>
              <a:rPr lang="en-US" sz="1500" kern="0" spc="-80" dirty="0">
                <a:solidFill>
                  <a:schemeClr val="accent6"/>
                </a:solidFill>
              </a:rPr>
              <a:t>Cloud-Native IR</a:t>
            </a:r>
          </a:p>
          <a:p>
            <a:pPr marL="12700" marR="5080"/>
            <a:r>
              <a:rPr lang="en-US" sz="1500" kern="0" spc="-80" dirty="0">
                <a:solidFill>
                  <a:schemeClr val="accent6"/>
                </a:solidFill>
              </a:rPr>
              <a:t>Snapshot &amp; isolate compromised resources</a:t>
            </a:r>
          </a:p>
          <a:p>
            <a:pPr marL="12700" marR="5080"/>
            <a:r>
              <a:rPr lang="en-US" sz="1500" kern="0" spc="-80" dirty="0">
                <a:solidFill>
                  <a:schemeClr val="accent6"/>
                </a:solidFill>
              </a:rPr>
              <a:t>Revoke credentials instantly</a:t>
            </a:r>
          </a:p>
          <a:p>
            <a:pPr marL="12700" marR="5080"/>
            <a:r>
              <a:rPr lang="en-US" sz="1500" kern="0" spc="-80" dirty="0">
                <a:solidFill>
                  <a:schemeClr val="accent6"/>
                </a:solidFill>
              </a:rPr>
              <a:t>Rotate keys automatically</a:t>
            </a:r>
          </a:p>
          <a:p>
            <a:pPr marL="12700" marR="5080"/>
            <a:r>
              <a:rPr lang="en-US" sz="1500" kern="0" spc="-80" dirty="0">
                <a:solidFill>
                  <a:schemeClr val="accent6"/>
                </a:solidFill>
              </a:rPr>
              <a:t>Infrastructure redeploy instead of repair</a:t>
            </a:r>
          </a:p>
          <a:p>
            <a:pPr marL="12700" marR="5080"/>
            <a:r>
              <a:rPr lang="en-US" sz="1500" kern="0" spc="-80" dirty="0">
                <a:solidFill>
                  <a:schemeClr val="accent6"/>
                </a:solidFill>
              </a:rPr>
              <a:t>Disaster Recovery Security</a:t>
            </a:r>
          </a:p>
          <a:p>
            <a:pPr marL="12700" marR="5080"/>
            <a:r>
              <a:rPr lang="en-US" sz="1500" kern="0" spc="-80" dirty="0">
                <a:solidFill>
                  <a:schemeClr val="accent6"/>
                </a:solidFill>
              </a:rPr>
              <a:t>Encrypted backups</a:t>
            </a:r>
          </a:p>
          <a:p>
            <a:pPr marL="12700" marR="5080"/>
            <a:r>
              <a:rPr lang="en-US" sz="1500" kern="0" spc="-80" dirty="0">
                <a:solidFill>
                  <a:schemeClr val="accent6"/>
                </a:solidFill>
              </a:rPr>
              <a:t>Separate accounts/subscriptions</a:t>
            </a:r>
          </a:p>
          <a:p>
            <a:pPr marL="12700" marR="5080"/>
            <a:r>
              <a:rPr lang="en-US" sz="1500" kern="0" spc="-80" dirty="0">
                <a:solidFill>
                  <a:schemeClr val="accent6"/>
                </a:solidFill>
              </a:rPr>
              <a:t>Immutable storage</a:t>
            </a:r>
          </a:p>
          <a:p>
            <a:pPr marL="12700" marR="5080"/>
            <a:r>
              <a:rPr lang="en-US" sz="1500" kern="0" spc="-80" dirty="0">
                <a:solidFill>
                  <a:schemeClr val="accent6"/>
                </a:solidFill>
              </a:rPr>
              <a:t>Cross-region replication</a:t>
            </a:r>
          </a:p>
          <a:p>
            <a:pPr marL="12700" marR="5080"/>
            <a:endParaRPr lang="en-US" sz="1500" kern="0" spc="-80" dirty="0">
              <a:solidFill>
                <a:schemeClr val="accent6"/>
              </a:solidFill>
            </a:endParaRPr>
          </a:p>
          <a:p>
            <a:pPr marL="12700" marR="5080"/>
            <a:r>
              <a:rPr lang="en-US" sz="1500" kern="0" spc="-80" dirty="0">
                <a:solidFill>
                  <a:schemeClr val="accent2"/>
                </a:solidFill>
              </a:rPr>
              <a:t>🔟 Governance, Risk &amp; Compliance (GRC)</a:t>
            </a:r>
          </a:p>
          <a:p>
            <a:pPr marL="12700" marR="5080"/>
            <a:r>
              <a:rPr lang="en-US" sz="1500" kern="0" spc="-80" dirty="0">
                <a:solidFill>
                  <a:schemeClr val="accent6"/>
                </a:solidFill>
              </a:rPr>
              <a:t>Security at scale requires automation + guardrails.</a:t>
            </a:r>
          </a:p>
          <a:p>
            <a:pPr marL="12700" marR="5080"/>
            <a:r>
              <a:rPr lang="en-US" sz="1500" kern="0" spc="-80" dirty="0">
                <a:solidFill>
                  <a:schemeClr val="accent6"/>
                </a:solidFill>
              </a:rPr>
              <a:t>Governance Patterns</a:t>
            </a:r>
          </a:p>
          <a:p>
            <a:pPr marL="12700" marR="5080"/>
            <a:r>
              <a:rPr lang="en-US" sz="1500" kern="0" spc="-80" dirty="0">
                <a:solidFill>
                  <a:schemeClr val="accent6"/>
                </a:solidFill>
              </a:rPr>
              <a:t>Multi-account strategy</a:t>
            </a:r>
          </a:p>
          <a:p>
            <a:pPr marL="12700" marR="5080"/>
            <a:r>
              <a:rPr lang="en-US" sz="1500" kern="0" spc="-80" dirty="0">
                <a:solidFill>
                  <a:schemeClr val="accent6"/>
                </a:solidFill>
              </a:rPr>
              <a:t>Landing zones</a:t>
            </a:r>
          </a:p>
          <a:p>
            <a:pPr marL="12700" marR="5080"/>
            <a:r>
              <a:rPr lang="en-US" sz="1500" kern="0" spc="-80" dirty="0">
                <a:solidFill>
                  <a:schemeClr val="accent6"/>
                </a:solidFill>
              </a:rPr>
              <a:t>Org-level policies</a:t>
            </a:r>
          </a:p>
          <a:p>
            <a:pPr marL="12700" marR="5080"/>
            <a:r>
              <a:rPr lang="en-US" sz="1500" kern="0" spc="-80" dirty="0">
                <a:solidFill>
                  <a:schemeClr val="accent6"/>
                </a:solidFill>
              </a:rPr>
              <a:t>Central security account</a:t>
            </a:r>
          </a:p>
        </p:txBody>
      </p:sp>
    </p:spTree>
    <p:extLst>
      <p:ext uri="{BB962C8B-B14F-4D97-AF65-F5344CB8AC3E}">
        <p14:creationId xmlns:p14="http://schemas.microsoft.com/office/powerpoint/2010/main" val="8911790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59E9F-937F-B062-0306-02AEC5512B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ACC12B-9E96-3AD0-55CD-BAF6E5A1C37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AD15CC-65EB-AF0F-3633-BE03000DD7B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B078C64-238D-DA3B-88F5-DCB0A745069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02AAFD2-6B0C-50D4-12FB-23E7E5B4A98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AB29321-792D-CE84-3623-8DB83F861E2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BD3257D-76DE-C594-AABA-A47B864ED756}"/>
              </a:ext>
            </a:extLst>
          </p:cNvPr>
          <p:cNvSpPr txBox="1">
            <a:spLocks/>
          </p:cNvSpPr>
          <p:nvPr/>
        </p:nvSpPr>
        <p:spPr>
          <a:xfrm>
            <a:off x="0" y="685800"/>
            <a:ext cx="8915399"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 Governance, Risk &amp; Compliance (GRC)</a:t>
            </a:r>
          </a:p>
          <a:p>
            <a:pPr marL="12700" marR="5080"/>
            <a:r>
              <a:rPr lang="en-US" sz="1500" kern="0" spc="-80" dirty="0">
                <a:solidFill>
                  <a:schemeClr val="accent2"/>
                </a:solidFill>
              </a:rPr>
              <a:t>Compliance ≠ Security</a:t>
            </a:r>
          </a:p>
          <a:p>
            <a:pPr marL="12700" marR="5080"/>
            <a:r>
              <a:rPr lang="en-US" sz="1500" kern="0" spc="-80" dirty="0">
                <a:solidFill>
                  <a:schemeClr val="accent2"/>
                </a:solidFill>
              </a:rPr>
              <a:t>Compliance proves:</a:t>
            </a:r>
          </a:p>
          <a:p>
            <a:pPr marL="12700" marR="5080"/>
            <a:r>
              <a:rPr lang="en-US" sz="1500" kern="0" spc="-80" dirty="0">
                <a:solidFill>
                  <a:schemeClr val="accent6"/>
                </a:solidFill>
              </a:rPr>
              <a:t>“We followed controls”</a:t>
            </a:r>
          </a:p>
          <a:p>
            <a:pPr marL="12700" marR="5080"/>
            <a:r>
              <a:rPr lang="en-US" sz="1500" kern="0" spc="-80" dirty="0">
                <a:solidFill>
                  <a:schemeClr val="accent2"/>
                </a:solidFill>
              </a:rPr>
              <a:t>Security ensures:</a:t>
            </a:r>
          </a:p>
          <a:p>
            <a:pPr marL="12700" marR="5080"/>
            <a:r>
              <a:rPr lang="en-US" sz="1500" kern="0" spc="-80" dirty="0">
                <a:solidFill>
                  <a:schemeClr val="accent6"/>
                </a:solidFill>
              </a:rPr>
              <a:t>“We survive attacks”</a:t>
            </a:r>
          </a:p>
          <a:p>
            <a:pPr marL="12700" marR="5080"/>
            <a:endParaRPr lang="en-US" sz="1500" kern="0" spc="-80" dirty="0">
              <a:solidFill>
                <a:schemeClr val="accent6"/>
              </a:solidFill>
            </a:endParaRPr>
          </a:p>
          <a:p>
            <a:pPr marL="12700" marR="5080"/>
            <a:r>
              <a:rPr lang="en-US" sz="1500" kern="0" spc="-80" dirty="0">
                <a:solidFill>
                  <a:schemeClr val="accent2"/>
                </a:solidFill>
              </a:rPr>
              <a:t>1️⃣1️⃣ Advanced Patterns (Senior / Architect Level)</a:t>
            </a:r>
          </a:p>
          <a:p>
            <a:pPr marL="12700" marR="5080"/>
            <a:r>
              <a:rPr lang="en-US" sz="1500" kern="0" spc="-80" dirty="0">
                <a:solidFill>
                  <a:schemeClr val="accent2"/>
                </a:solidFill>
              </a:rPr>
              <a:t>🔐 Confidential Computing</a:t>
            </a:r>
          </a:p>
          <a:p>
            <a:pPr marL="12700" marR="5080"/>
            <a:r>
              <a:rPr lang="en-US" sz="1500" kern="0" spc="-80" dirty="0">
                <a:solidFill>
                  <a:schemeClr val="accent6"/>
                </a:solidFill>
              </a:rPr>
              <a:t>Encrypted memory</a:t>
            </a:r>
          </a:p>
          <a:p>
            <a:pPr marL="12700" marR="5080"/>
            <a:r>
              <a:rPr lang="en-US" sz="1500" kern="0" spc="-80" dirty="0">
                <a:solidFill>
                  <a:schemeClr val="accent6"/>
                </a:solidFill>
              </a:rPr>
              <a:t>Trusted execution environments</a:t>
            </a:r>
          </a:p>
          <a:p>
            <a:pPr marL="12700" marR="5080"/>
            <a:r>
              <a:rPr lang="en-US" sz="1500" kern="0" spc="-80" dirty="0">
                <a:solidFill>
                  <a:schemeClr val="accent2"/>
                </a:solidFill>
              </a:rPr>
              <a:t>🔄 Just-In-Time Access</a:t>
            </a:r>
          </a:p>
          <a:p>
            <a:pPr marL="12700" marR="5080"/>
            <a:r>
              <a:rPr lang="en-US" sz="1500" kern="0" spc="-80" dirty="0">
                <a:solidFill>
                  <a:schemeClr val="accent6"/>
                </a:solidFill>
              </a:rPr>
              <a:t>No standing admin</a:t>
            </a:r>
          </a:p>
          <a:p>
            <a:pPr marL="12700" marR="5080"/>
            <a:r>
              <a:rPr lang="en-US" sz="1500" kern="0" spc="-80" dirty="0">
                <a:solidFill>
                  <a:schemeClr val="accent6"/>
                </a:solidFill>
              </a:rPr>
              <a:t>Temporary elevation</a:t>
            </a:r>
          </a:p>
          <a:p>
            <a:pPr marL="12700" marR="5080"/>
            <a:r>
              <a:rPr lang="en-US" sz="1500" kern="0" spc="-80" dirty="0">
                <a:solidFill>
                  <a:schemeClr val="accent6"/>
                </a:solidFill>
              </a:rPr>
              <a:t>Approval workflows</a:t>
            </a:r>
          </a:p>
          <a:p>
            <a:pPr marL="12700" marR="5080"/>
            <a:r>
              <a:rPr lang="en-US" sz="1500" kern="0" spc="-80" dirty="0">
                <a:solidFill>
                  <a:schemeClr val="accent2"/>
                </a:solidFill>
              </a:rPr>
              <a:t>🤖 Autonomous Remediation</a:t>
            </a:r>
          </a:p>
          <a:p>
            <a:pPr marL="12700" marR="5080"/>
            <a:r>
              <a:rPr lang="en-US" sz="1500" kern="0" spc="-80" dirty="0">
                <a:solidFill>
                  <a:schemeClr val="accent6"/>
                </a:solidFill>
              </a:rPr>
              <a:t>Detect → fix → notify</a:t>
            </a:r>
          </a:p>
          <a:p>
            <a:pPr marL="12700" marR="5080"/>
            <a:r>
              <a:rPr lang="en-US" sz="1500" kern="0" spc="-80" dirty="0">
                <a:solidFill>
                  <a:schemeClr val="accent2"/>
                </a:solidFill>
              </a:rPr>
              <a:t>Example: </a:t>
            </a:r>
            <a:r>
              <a:rPr lang="en-US" sz="1500" kern="0" spc="-80" dirty="0">
                <a:solidFill>
                  <a:schemeClr val="accent6"/>
                </a:solidFill>
              </a:rPr>
              <a:t>close open port automatically</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0414053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570D-7924-768B-FDE5-172BCEB8402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8F1EE1-3E2E-48C2-AAB0-726381BB17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65DB4D-E05C-1CF6-75AB-651847241D8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306128A-9990-B9EA-605D-02C1F0431D0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A20CC19-898A-D7D3-FC9D-B002E733997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192AA4A-FD48-FBE0-9322-2697193127D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517BEC2-E2E6-D22F-8AEC-E417AB0613B3}"/>
              </a:ext>
            </a:extLst>
          </p:cNvPr>
          <p:cNvSpPr txBox="1">
            <a:spLocks/>
          </p:cNvSpPr>
          <p:nvPr/>
        </p:nvSpPr>
        <p:spPr>
          <a:xfrm>
            <a:off x="0" y="685800"/>
            <a:ext cx="8915399" cy="50937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Cloud Security –</a:t>
            </a:r>
          </a:p>
          <a:p>
            <a:pPr marL="12700" marR="5080"/>
            <a:r>
              <a:rPr lang="en-US" sz="1500" kern="0" spc="-80" dirty="0">
                <a:solidFill>
                  <a:schemeClr val="accent2"/>
                </a:solidFill>
              </a:rPr>
              <a:t>1️⃣2️⃣ Common Cloud Breach Root Causes</a:t>
            </a:r>
          </a:p>
          <a:p>
            <a:pPr marL="12700" marR="5080"/>
            <a:r>
              <a:rPr lang="en-US" sz="1500" kern="0" spc="-80" dirty="0">
                <a:solidFill>
                  <a:schemeClr val="accent6"/>
                </a:solidFill>
              </a:rPr>
              <a:t>Cause	                   %</a:t>
            </a:r>
          </a:p>
          <a:p>
            <a:pPr marL="12700" marR="5080"/>
            <a:r>
              <a:rPr lang="en-US" sz="1500" kern="0" spc="-80" dirty="0">
                <a:solidFill>
                  <a:schemeClr val="accent6"/>
                </a:solidFill>
              </a:rPr>
              <a:t>Misconfigured IAM	🔥🔥🔥</a:t>
            </a:r>
          </a:p>
          <a:p>
            <a:pPr marL="12700" marR="5080"/>
            <a:r>
              <a:rPr lang="en-US" sz="1500" kern="0" spc="-80" dirty="0">
                <a:solidFill>
                  <a:schemeClr val="accent6"/>
                </a:solidFill>
              </a:rPr>
              <a:t>Exposed secrets	🔥🔥</a:t>
            </a:r>
          </a:p>
          <a:p>
            <a:pPr marL="12700" marR="5080"/>
            <a:r>
              <a:rPr lang="en-US" sz="1500" kern="0" spc="-80" dirty="0">
                <a:solidFill>
                  <a:schemeClr val="accent6"/>
                </a:solidFill>
              </a:rPr>
              <a:t>Public storage	🔥🔥</a:t>
            </a:r>
          </a:p>
          <a:p>
            <a:pPr marL="12700" marR="5080"/>
            <a:r>
              <a:rPr lang="en-US" sz="1500" kern="0" spc="-80" dirty="0">
                <a:solidFill>
                  <a:schemeClr val="accent6"/>
                </a:solidFill>
              </a:rPr>
              <a:t>Vulnerable apps	🔥</a:t>
            </a:r>
          </a:p>
          <a:p>
            <a:pPr marL="12700" marR="5080"/>
            <a:r>
              <a:rPr lang="en-US" sz="1500" kern="0" spc="-80" dirty="0">
                <a:solidFill>
                  <a:schemeClr val="accent6"/>
                </a:solidFill>
              </a:rPr>
              <a:t>Insider mistakes	🔥</a:t>
            </a:r>
          </a:p>
          <a:p>
            <a:pPr marL="12700" marR="5080"/>
            <a:endParaRPr lang="en-US" sz="1500" kern="0" spc="-80" dirty="0">
              <a:solidFill>
                <a:schemeClr val="accent6"/>
              </a:solidFill>
            </a:endParaRPr>
          </a:p>
          <a:p>
            <a:pPr marL="12700" marR="5080"/>
            <a:r>
              <a:rPr lang="en-US" sz="1500" kern="0" spc="-80" dirty="0">
                <a:solidFill>
                  <a:schemeClr val="accent2"/>
                </a:solidFill>
              </a:rPr>
              <a:t>🧠 Final Cloud Security Mindset</a:t>
            </a:r>
          </a:p>
          <a:p>
            <a:pPr marL="12700" marR="5080"/>
            <a:r>
              <a:rPr lang="en-US" sz="1500" kern="0" spc="-80" dirty="0">
                <a:solidFill>
                  <a:schemeClr val="accent6"/>
                </a:solidFill>
              </a:rPr>
              <a:t>Cloud security is not a product — it’s a system</a:t>
            </a:r>
          </a:p>
          <a:p>
            <a:pPr marL="12700" marR="5080"/>
            <a:r>
              <a:rPr lang="en-US" sz="1500" kern="0" spc="-80" dirty="0">
                <a:solidFill>
                  <a:schemeClr val="accent2"/>
                </a:solidFill>
              </a:rPr>
              <a:t>If you remember only 5 rules:</a:t>
            </a:r>
          </a:p>
          <a:p>
            <a:pPr marL="12700" marR="5080"/>
            <a:r>
              <a:rPr lang="en-US" sz="1500" kern="0" spc="-80" dirty="0">
                <a:solidFill>
                  <a:schemeClr val="accent6"/>
                </a:solidFill>
              </a:rPr>
              <a:t>IAM is everything</a:t>
            </a:r>
          </a:p>
          <a:p>
            <a:pPr marL="12700" marR="5080"/>
            <a:r>
              <a:rPr lang="en-US" sz="1500" kern="0" spc="-80" dirty="0">
                <a:solidFill>
                  <a:schemeClr val="accent6"/>
                </a:solidFill>
              </a:rPr>
              <a:t>Default deny everywhere</a:t>
            </a:r>
          </a:p>
          <a:p>
            <a:pPr marL="12700" marR="5080"/>
            <a:r>
              <a:rPr lang="en-US" sz="1500" kern="0" spc="-80" dirty="0">
                <a:solidFill>
                  <a:schemeClr val="accent6"/>
                </a:solidFill>
              </a:rPr>
              <a:t>Encrypt and rotate</a:t>
            </a:r>
          </a:p>
          <a:p>
            <a:pPr marL="12700" marR="5080"/>
            <a:r>
              <a:rPr lang="en-US" sz="1500" kern="0" spc="-80" dirty="0">
                <a:solidFill>
                  <a:schemeClr val="accent6"/>
                </a:solidFill>
              </a:rPr>
              <a:t>Observe continuously</a:t>
            </a:r>
          </a:p>
          <a:p>
            <a:pPr marL="12700" marR="5080"/>
            <a:r>
              <a:rPr lang="en-US" sz="1500" kern="0" spc="-80" dirty="0">
                <a:solidFill>
                  <a:schemeClr val="accent6"/>
                </a:solidFill>
              </a:rPr>
              <a:t>Automate remediation</a:t>
            </a:r>
          </a:p>
          <a:p>
            <a:pPr marL="12700" marR="5080"/>
            <a:endParaRPr lang="en-US" sz="1500" kern="0" spc="-80" dirty="0">
              <a:solidFill>
                <a:schemeClr val="accent6"/>
              </a:solidFill>
            </a:endParaRPr>
          </a:p>
          <a:p>
            <a:pPr marL="12700" marR="5080"/>
            <a:r>
              <a:rPr lang="en-US" sz="1500" kern="0" spc="-80" dirty="0">
                <a:solidFill>
                  <a:schemeClr val="accent2"/>
                </a:solidFill>
              </a:rPr>
              <a:t>For Further Exploration – </a:t>
            </a:r>
          </a:p>
          <a:p>
            <a:pPr marL="12700" marR="5080"/>
            <a:r>
              <a:rPr lang="en-IN" sz="1500" dirty="0">
                <a:hlinkClick r:id="rId7"/>
              </a:rPr>
              <a:t>Cloud Security Comparison: AWS vs Azure vs GCP</a:t>
            </a:r>
            <a:endParaRPr lang="en-US" sz="1500" kern="0" spc="-80" dirty="0">
              <a:solidFill>
                <a:schemeClr val="accent6"/>
              </a:solidFill>
            </a:endParaRPr>
          </a:p>
          <a:p>
            <a:pPr marL="12700" marR="5080"/>
            <a:r>
              <a:rPr lang="en-IN" sz="1500" dirty="0">
                <a:hlinkClick r:id="rId8"/>
              </a:rPr>
              <a:t>AWS vs. Azure vs. Google Cloud: Security comparison</a:t>
            </a:r>
            <a:endParaRPr lang="en-IN" sz="1500" dirty="0"/>
          </a:p>
          <a:p>
            <a:pPr marL="12700" marR="5080"/>
            <a:r>
              <a:rPr lang="en-US" sz="1600" dirty="0">
                <a:hlinkClick r:id="rId9"/>
              </a:rPr>
              <a:t>Cloud security comparison: AWS vs. Azure vs. GCP</a:t>
            </a:r>
            <a:endParaRPr lang="en-US" sz="1500" kern="0" spc="-80" dirty="0">
              <a:solidFill>
                <a:schemeClr val="accent6"/>
              </a:solidFill>
            </a:endParaRPr>
          </a:p>
        </p:txBody>
      </p:sp>
    </p:spTree>
    <p:extLst>
      <p:ext uri="{BB962C8B-B14F-4D97-AF65-F5344CB8AC3E}">
        <p14:creationId xmlns:p14="http://schemas.microsoft.com/office/powerpoint/2010/main" val="50389255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7C41C-4A94-782B-6EC2-16475DA34BD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1BC72F6-E41C-5EBF-BFA9-2CF941E99B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DA7C42-E1DE-1D90-CAD2-9F21E641870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B54616-1D39-817F-B2E9-34115B33C38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BC6E4D-CB8F-8210-3082-33510BE523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889CC53-E567-CDE1-8ED2-B26356CF336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F2980F-F32A-DC35-5543-BF43F6B2EEF6}"/>
              </a:ext>
            </a:extLst>
          </p:cNvPr>
          <p:cNvSpPr txBox="1">
            <a:spLocks/>
          </p:cNvSpPr>
          <p:nvPr/>
        </p:nvSpPr>
        <p:spPr>
          <a:xfrm>
            <a:off x="0" y="685800"/>
            <a:ext cx="891539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800" kern="0" spc="-80" dirty="0">
                <a:solidFill>
                  <a:schemeClr val="accent2"/>
                </a:solidFill>
              </a:rPr>
              <a:t>🧭 Phase 1 — Build the Cloud Landing Zone</a:t>
            </a:r>
          </a:p>
          <a:p>
            <a:pPr marL="12700" marR="5080"/>
            <a:r>
              <a:rPr lang="en-US" sz="1800" kern="0" spc="-80" dirty="0">
                <a:solidFill>
                  <a:schemeClr val="accent6"/>
                </a:solidFill>
              </a:rPr>
              <a:t>This phase establishes secure, scalable, compliant cloud foundations.</a:t>
            </a:r>
          </a:p>
          <a:p>
            <a:pPr marL="12700" marR="5080"/>
            <a:r>
              <a:rPr lang="en-US" sz="1800" kern="0" spc="-80" dirty="0">
                <a:solidFill>
                  <a:schemeClr val="accent2"/>
                </a:solidFill>
              </a:rPr>
              <a:t>Core Capabilities</a:t>
            </a:r>
          </a:p>
          <a:p>
            <a:pPr marL="12700" marR="5080"/>
            <a:r>
              <a:rPr lang="en-US" sz="1800" kern="0" spc="-80" dirty="0">
                <a:solidFill>
                  <a:schemeClr val="accent2"/>
                </a:solidFill>
              </a:rPr>
              <a:t>✅ Architecture &amp; Accounts</a:t>
            </a:r>
          </a:p>
          <a:p>
            <a:pPr marL="12700" marR="5080"/>
            <a:r>
              <a:rPr lang="en-US" sz="1800" kern="0" spc="-80" dirty="0">
                <a:solidFill>
                  <a:schemeClr val="accent6"/>
                </a:solidFill>
              </a:rPr>
              <a:t>Multi-account / multi-subscription strategy</a:t>
            </a:r>
          </a:p>
          <a:p>
            <a:pPr marL="12700" marR="5080"/>
            <a:r>
              <a:rPr lang="en-US" sz="1800" kern="0" spc="-80" dirty="0">
                <a:solidFill>
                  <a:schemeClr val="accent6"/>
                </a:solidFill>
              </a:rPr>
              <a:t>Hub–spoke or landing-zone topology</a:t>
            </a:r>
          </a:p>
          <a:p>
            <a:pPr marL="12700" marR="5080"/>
            <a:r>
              <a:rPr lang="en-US" sz="1800" kern="0" spc="-80" dirty="0">
                <a:solidFill>
                  <a:schemeClr val="accent6"/>
                </a:solidFill>
              </a:rPr>
              <a:t>Identity federation (SSO, IAM, RBAC)</a:t>
            </a:r>
          </a:p>
          <a:p>
            <a:pPr marL="12700" marR="5080"/>
            <a:r>
              <a:rPr lang="en-US" sz="1800" kern="0" spc="-80" dirty="0">
                <a:solidFill>
                  <a:schemeClr val="accent6"/>
                </a:solidFill>
              </a:rPr>
              <a:t>Network segmentation (VPC/VNET, subnets)</a:t>
            </a:r>
          </a:p>
          <a:p>
            <a:pPr marL="12700" marR="5080"/>
            <a:r>
              <a:rPr lang="en-US" sz="1800" kern="0" spc="-80" dirty="0">
                <a:solidFill>
                  <a:schemeClr val="accent2"/>
                </a:solidFill>
              </a:rPr>
              <a:t>✅ Security Baseline</a:t>
            </a:r>
          </a:p>
          <a:p>
            <a:pPr marL="12700" marR="5080"/>
            <a:r>
              <a:rPr lang="en-US" sz="1800" kern="0" spc="-80" dirty="0">
                <a:solidFill>
                  <a:schemeClr val="accent6"/>
                </a:solidFill>
              </a:rPr>
              <a:t>Zero Trust principles</a:t>
            </a:r>
          </a:p>
          <a:p>
            <a:pPr marL="12700" marR="5080"/>
            <a:r>
              <a:rPr lang="en-US" sz="1800" kern="0" spc="-80" dirty="0">
                <a:solidFill>
                  <a:schemeClr val="accent6"/>
                </a:solidFill>
              </a:rPr>
              <a:t>Encryption at rest &amp; transit</a:t>
            </a:r>
          </a:p>
          <a:p>
            <a:pPr marL="12700" marR="5080"/>
            <a:r>
              <a:rPr lang="en-US" sz="1800" kern="0" spc="-80" dirty="0">
                <a:solidFill>
                  <a:schemeClr val="accent6"/>
                </a:solidFill>
              </a:rPr>
              <a:t>Centralized secrets management</a:t>
            </a:r>
          </a:p>
          <a:p>
            <a:pPr marL="12700" marR="5080"/>
            <a:r>
              <a:rPr lang="en-US" sz="1800" kern="0" spc="-80" dirty="0">
                <a:solidFill>
                  <a:schemeClr val="accent6"/>
                </a:solidFill>
              </a:rPr>
              <a:t>Security posture management (CSPM)</a:t>
            </a:r>
          </a:p>
          <a:p>
            <a:pPr marL="12700" marR="5080"/>
            <a:r>
              <a:rPr lang="en-US" sz="1800" kern="0" spc="-80" dirty="0">
                <a:solidFill>
                  <a:schemeClr val="accent2"/>
                </a:solidFill>
              </a:rPr>
              <a:t>✅ Connectivity</a:t>
            </a:r>
          </a:p>
          <a:p>
            <a:pPr marL="12700" marR="5080"/>
            <a:r>
              <a:rPr lang="en-US" sz="1800" kern="0" spc="-80" dirty="0">
                <a:solidFill>
                  <a:schemeClr val="accent6"/>
                </a:solidFill>
              </a:rPr>
              <a:t>VPN / ExpressRoute / </a:t>
            </a:r>
            <a:r>
              <a:rPr lang="en-US" sz="1800" kern="0" spc="-80" dirty="0" err="1">
                <a:solidFill>
                  <a:schemeClr val="accent6"/>
                </a:solidFill>
              </a:rPr>
              <a:t>DirectConnect</a:t>
            </a:r>
            <a:endParaRPr lang="en-US" sz="1800" kern="0" spc="-80" dirty="0">
              <a:solidFill>
                <a:schemeClr val="accent6"/>
              </a:solidFill>
            </a:endParaRPr>
          </a:p>
          <a:p>
            <a:pPr marL="12700" marR="5080"/>
            <a:r>
              <a:rPr lang="en-US" sz="1800" kern="0" spc="-80" dirty="0">
                <a:solidFill>
                  <a:schemeClr val="accent6"/>
                </a:solidFill>
              </a:rPr>
              <a:t>Hybrid DNS</a:t>
            </a:r>
          </a:p>
          <a:p>
            <a:pPr marL="12700" marR="5080"/>
            <a:r>
              <a:rPr lang="en-US" sz="1800" kern="0" spc="-80" dirty="0">
                <a:solidFill>
                  <a:schemeClr val="accent6"/>
                </a:solidFill>
              </a:rPr>
              <a:t>On-prem ↔ cloud integration</a:t>
            </a:r>
          </a:p>
        </p:txBody>
      </p:sp>
    </p:spTree>
    <p:extLst>
      <p:ext uri="{BB962C8B-B14F-4D97-AF65-F5344CB8AC3E}">
        <p14:creationId xmlns:p14="http://schemas.microsoft.com/office/powerpoint/2010/main" val="173244727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D1A0-F301-BBD7-24EB-C74F6A5454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EA35295-C835-4DCA-A9AD-1E13B2E70D9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3876DA-CB1F-7F69-1A21-CA1B37864F5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D8BCE68-18CA-0BD5-9C7D-EBE1E17DD45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7C9A2D-150C-BC56-8915-69EC2C3204C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939FC82-C89B-4C2A-F1EA-9CE00061629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4313B47-A6C4-CF5E-7FB6-EDA1CDAEF401}"/>
              </a:ext>
            </a:extLst>
          </p:cNvPr>
          <p:cNvSpPr txBox="1">
            <a:spLocks/>
          </p:cNvSpPr>
          <p:nvPr/>
        </p:nvSpPr>
        <p:spPr>
          <a:xfrm>
            <a:off x="0" y="685800"/>
            <a:ext cx="8915399"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800" kern="0" spc="-80" dirty="0">
                <a:solidFill>
                  <a:schemeClr val="accent2"/>
                </a:solidFill>
              </a:rPr>
              <a:t>🧭 Phase 1 — Build the Cloud Landing Zone</a:t>
            </a:r>
          </a:p>
          <a:p>
            <a:pPr marL="12700" marR="5080"/>
            <a:r>
              <a:rPr lang="en-US" sz="1800" kern="0" spc="-80" dirty="0">
                <a:solidFill>
                  <a:schemeClr val="accent2"/>
                </a:solidFill>
              </a:rPr>
              <a:t>Core Capabilities</a:t>
            </a:r>
          </a:p>
          <a:p>
            <a:pPr marL="12700" marR="5080"/>
            <a:r>
              <a:rPr lang="en-US" sz="1800" kern="0" spc="-80" dirty="0">
                <a:solidFill>
                  <a:schemeClr val="accent6"/>
                </a:solidFill>
              </a:rPr>
              <a:t>✅ Platform Services</a:t>
            </a:r>
          </a:p>
          <a:p>
            <a:pPr marL="12700" marR="5080"/>
            <a:r>
              <a:rPr lang="en-US" sz="1800" kern="0" spc="-80" dirty="0">
                <a:solidFill>
                  <a:schemeClr val="accent6"/>
                </a:solidFill>
              </a:rPr>
              <a:t>Shared services (logging, monitoring)</a:t>
            </a:r>
          </a:p>
          <a:p>
            <a:pPr marL="12700" marR="5080"/>
            <a:r>
              <a:rPr lang="en-US" sz="1800" kern="0" spc="-80" dirty="0">
                <a:solidFill>
                  <a:schemeClr val="accent6"/>
                </a:solidFill>
              </a:rPr>
              <a:t>Container platforms (Kubernetes)</a:t>
            </a:r>
          </a:p>
          <a:p>
            <a:pPr marL="12700" marR="5080"/>
            <a:r>
              <a:rPr lang="en-US" sz="1800" kern="0" spc="-80" dirty="0">
                <a:solidFill>
                  <a:schemeClr val="accent6"/>
                </a:solidFill>
              </a:rPr>
              <a:t>Image registries</a:t>
            </a:r>
          </a:p>
          <a:p>
            <a:pPr marL="12700" marR="5080"/>
            <a:r>
              <a:rPr lang="en-US" sz="1800" kern="0" spc="-80" dirty="0">
                <a:solidFill>
                  <a:schemeClr val="accent6"/>
                </a:solidFill>
              </a:rPr>
              <a:t>CI/CD tooling</a:t>
            </a:r>
          </a:p>
          <a:p>
            <a:pPr marL="12700" marR="5080"/>
            <a:r>
              <a:rPr lang="en-US" sz="1800" kern="0" spc="-80" dirty="0">
                <a:solidFill>
                  <a:schemeClr val="accent6"/>
                </a:solidFill>
              </a:rPr>
              <a:t>Deliverables</a:t>
            </a:r>
          </a:p>
          <a:p>
            <a:pPr marL="12700" marR="5080"/>
            <a:r>
              <a:rPr lang="en-US" sz="1800" kern="0" spc="-80" dirty="0">
                <a:solidFill>
                  <a:schemeClr val="accent6"/>
                </a:solidFill>
              </a:rPr>
              <a:t>Landing Zone Reference Architectures</a:t>
            </a:r>
          </a:p>
          <a:p>
            <a:pPr marL="12700" marR="5080"/>
            <a:r>
              <a:rPr lang="en-US" sz="1800" kern="0" spc="-80" dirty="0">
                <a:solidFill>
                  <a:schemeClr val="accent6"/>
                </a:solidFill>
              </a:rPr>
              <a:t>Guardrails</a:t>
            </a:r>
          </a:p>
          <a:p>
            <a:pPr marL="12700" marR="5080"/>
            <a:r>
              <a:rPr lang="en-US" sz="1800" kern="0" spc="-80" dirty="0">
                <a:solidFill>
                  <a:schemeClr val="accent6"/>
                </a:solidFill>
              </a:rPr>
              <a:t>Account Factory</a:t>
            </a:r>
          </a:p>
          <a:p>
            <a:pPr marL="12700" marR="5080"/>
            <a:r>
              <a:rPr lang="en-US" sz="1800" kern="0" spc="-80" dirty="0">
                <a:solidFill>
                  <a:schemeClr val="accent6"/>
                </a:solidFill>
              </a:rPr>
              <a:t>Golden Images</a:t>
            </a:r>
          </a:p>
          <a:p>
            <a:pPr marL="12700" marR="5080"/>
            <a:r>
              <a:rPr lang="en-US" sz="1800" kern="0" spc="-80" dirty="0">
                <a:solidFill>
                  <a:schemeClr val="accent6"/>
                </a:solidFill>
              </a:rPr>
              <a:t>Network &amp; Security Blueprints</a:t>
            </a:r>
          </a:p>
          <a:p>
            <a:pPr marL="12700" marR="5080"/>
            <a:endParaRPr lang="en-US" sz="1800" kern="0" spc="-80" dirty="0">
              <a:solidFill>
                <a:schemeClr val="accent6"/>
              </a:solidFill>
            </a:endParaRPr>
          </a:p>
          <a:p>
            <a:pPr marL="12700" marR="5080"/>
            <a:endParaRPr lang="en-US" sz="1800" kern="0" spc="-80" dirty="0">
              <a:solidFill>
                <a:schemeClr val="accent6"/>
              </a:solidFill>
            </a:endParaRPr>
          </a:p>
          <a:p>
            <a:pPr marL="12700" marR="5080"/>
            <a:endParaRPr lang="en-US" sz="1800" kern="0" spc="-80" dirty="0">
              <a:solidFill>
                <a:schemeClr val="accent6"/>
              </a:solidFill>
            </a:endParaRPr>
          </a:p>
        </p:txBody>
      </p:sp>
    </p:spTree>
    <p:extLst>
      <p:ext uri="{BB962C8B-B14F-4D97-AF65-F5344CB8AC3E}">
        <p14:creationId xmlns:p14="http://schemas.microsoft.com/office/powerpoint/2010/main" val="26573917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1FA95-7E10-9A36-3578-A22785771D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2E2E6A-E8CE-2EA2-BD0F-12CBF0D5412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F4B754-37CD-6BBB-F25D-A1C86A45E83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11B8529-9D9A-31D8-BB8C-B42FF3BF504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26D55D0-1931-A6E2-E4CB-032946F23A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917C95D-83C2-BA27-2F6D-E1F6F0B128D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6CF5BD0-EBDA-02B4-69ED-128D81FCBBA4}"/>
              </a:ext>
            </a:extLst>
          </p:cNvPr>
          <p:cNvSpPr txBox="1">
            <a:spLocks/>
          </p:cNvSpPr>
          <p:nvPr/>
        </p:nvSpPr>
        <p:spPr>
          <a:xfrm>
            <a:off x="0" y="685800"/>
            <a:ext cx="8915399"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600" kern="0" spc="-80" dirty="0">
                <a:solidFill>
                  <a:schemeClr val="accent2"/>
                </a:solidFill>
              </a:rPr>
              <a:t>🚚 Phase 2 — Modernize &amp; Migrate Applications</a:t>
            </a:r>
          </a:p>
          <a:p>
            <a:pPr marL="12700" marR="5080"/>
            <a:r>
              <a:rPr lang="en-US" sz="1600" kern="0" spc="-80" dirty="0">
                <a:solidFill>
                  <a:schemeClr val="accent6"/>
                </a:solidFill>
              </a:rPr>
              <a:t>Here you move workloads and transform architectures.</a:t>
            </a:r>
          </a:p>
          <a:p>
            <a:pPr marL="12700" marR="5080"/>
            <a:r>
              <a:rPr lang="en-US" sz="1600" kern="0" spc="-80" dirty="0">
                <a:solidFill>
                  <a:schemeClr val="accent2"/>
                </a:solidFill>
              </a:rPr>
              <a:t>Migration Strategies (Rs)</a:t>
            </a:r>
          </a:p>
          <a:p>
            <a:pPr marL="12700" marR="5080"/>
            <a:r>
              <a:rPr lang="en-US" sz="1600" kern="0" spc="-80" dirty="0">
                <a:solidFill>
                  <a:schemeClr val="accent2"/>
                </a:solidFill>
              </a:rPr>
              <a:t>Strategy	               Meaning</a:t>
            </a:r>
          </a:p>
          <a:p>
            <a:pPr marL="12700" marR="5080"/>
            <a:r>
              <a:rPr lang="en-US" sz="1600" kern="0" spc="-80" dirty="0">
                <a:solidFill>
                  <a:schemeClr val="accent6"/>
                </a:solidFill>
              </a:rPr>
              <a:t>Rehost	               Lift &amp; shift</a:t>
            </a:r>
          </a:p>
          <a:p>
            <a:pPr marL="12700" marR="5080"/>
            <a:r>
              <a:rPr lang="en-US" sz="1600" kern="0" spc="-80" dirty="0" err="1">
                <a:solidFill>
                  <a:schemeClr val="accent6"/>
                </a:solidFill>
              </a:rPr>
              <a:t>Replatform</a:t>
            </a:r>
            <a:r>
              <a:rPr lang="en-US" sz="1600" kern="0" spc="-80" dirty="0">
                <a:solidFill>
                  <a:schemeClr val="accent6"/>
                </a:solidFill>
              </a:rPr>
              <a:t>	Minor optimizations</a:t>
            </a:r>
          </a:p>
          <a:p>
            <a:pPr marL="12700" marR="5080"/>
            <a:r>
              <a:rPr lang="en-US" sz="1600" kern="0" spc="-80" dirty="0">
                <a:solidFill>
                  <a:schemeClr val="accent6"/>
                </a:solidFill>
              </a:rPr>
              <a:t>Refactor	Cloud-native redesign</a:t>
            </a:r>
          </a:p>
          <a:p>
            <a:pPr marL="12700" marR="5080"/>
            <a:r>
              <a:rPr lang="en-US" sz="1600" kern="0" spc="-80" dirty="0">
                <a:solidFill>
                  <a:schemeClr val="accent6"/>
                </a:solidFill>
              </a:rPr>
              <a:t>Rearchitect	Major redesign</a:t>
            </a:r>
          </a:p>
          <a:p>
            <a:pPr marL="12700" marR="5080"/>
            <a:r>
              <a:rPr lang="en-US" sz="1600" kern="0" spc="-80" dirty="0">
                <a:solidFill>
                  <a:schemeClr val="accent6"/>
                </a:solidFill>
              </a:rPr>
              <a:t>Retire	               Decommission</a:t>
            </a:r>
          </a:p>
          <a:p>
            <a:pPr marL="12700" marR="5080"/>
            <a:r>
              <a:rPr lang="en-US" sz="1600" kern="0" spc="-80" dirty="0">
                <a:solidFill>
                  <a:schemeClr val="accent6"/>
                </a:solidFill>
              </a:rPr>
              <a:t>Retain	               Keep on-prem</a:t>
            </a:r>
          </a:p>
          <a:p>
            <a:pPr marL="12700" marR="5080"/>
            <a:r>
              <a:rPr lang="en-US" sz="1600" kern="0" spc="-80" dirty="0">
                <a:solidFill>
                  <a:schemeClr val="accent2"/>
                </a:solidFill>
              </a:rPr>
              <a:t>Application Modernization</a:t>
            </a:r>
          </a:p>
          <a:p>
            <a:pPr marL="12700" marR="5080"/>
            <a:r>
              <a:rPr lang="en-US" sz="1600" kern="0" spc="-80" dirty="0">
                <a:solidFill>
                  <a:schemeClr val="accent2"/>
                </a:solidFill>
              </a:rPr>
              <a:t>🔧 Infrastructure</a:t>
            </a:r>
          </a:p>
          <a:p>
            <a:pPr marL="12700" marR="5080"/>
            <a:r>
              <a:rPr lang="en-US" sz="1600" kern="0" spc="-80" dirty="0">
                <a:solidFill>
                  <a:schemeClr val="accent6"/>
                </a:solidFill>
              </a:rPr>
              <a:t>VM → Containers</a:t>
            </a:r>
          </a:p>
          <a:p>
            <a:pPr marL="12700" marR="5080"/>
            <a:r>
              <a:rPr lang="en-US" sz="1600" kern="0" spc="-80" dirty="0">
                <a:solidFill>
                  <a:schemeClr val="accent6"/>
                </a:solidFill>
              </a:rPr>
              <a:t>Monolith → Microservices</a:t>
            </a:r>
          </a:p>
          <a:p>
            <a:pPr marL="12700" marR="5080"/>
            <a:r>
              <a:rPr lang="en-US" sz="1600" kern="0" spc="-80" dirty="0">
                <a:solidFill>
                  <a:schemeClr val="accent6"/>
                </a:solidFill>
              </a:rPr>
              <a:t>Static → Auto-scaling</a:t>
            </a:r>
          </a:p>
          <a:p>
            <a:pPr marL="12700" marR="5080"/>
            <a:r>
              <a:rPr lang="en-US" sz="1600" kern="0" spc="-80" dirty="0">
                <a:solidFill>
                  <a:schemeClr val="accent2"/>
                </a:solidFill>
              </a:rPr>
              <a:t>🔧 Platform</a:t>
            </a:r>
          </a:p>
          <a:p>
            <a:pPr marL="12700" marR="5080"/>
            <a:r>
              <a:rPr lang="en-US" sz="1600" kern="0" spc="-80" dirty="0">
                <a:solidFill>
                  <a:schemeClr val="accent6"/>
                </a:solidFill>
              </a:rPr>
              <a:t>Managed DBs</a:t>
            </a:r>
          </a:p>
          <a:p>
            <a:pPr marL="12700" marR="5080"/>
            <a:r>
              <a:rPr lang="en-US" sz="1600" kern="0" spc="-80" dirty="0">
                <a:solidFill>
                  <a:schemeClr val="accent6"/>
                </a:solidFill>
              </a:rPr>
              <a:t>Message queues</a:t>
            </a:r>
          </a:p>
          <a:p>
            <a:pPr marL="12700" marR="5080"/>
            <a:r>
              <a:rPr lang="en-US" sz="1600" kern="0" spc="-80" dirty="0">
                <a:solidFill>
                  <a:schemeClr val="accent6"/>
                </a:solidFill>
              </a:rPr>
              <a:t>Serverless functions</a:t>
            </a:r>
          </a:p>
        </p:txBody>
      </p:sp>
    </p:spTree>
    <p:extLst>
      <p:ext uri="{BB962C8B-B14F-4D97-AF65-F5344CB8AC3E}">
        <p14:creationId xmlns:p14="http://schemas.microsoft.com/office/powerpoint/2010/main" val="149541609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FC6D-6091-9452-302F-678B3CA601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9618AD-D5B9-8C4A-C11D-8438F8A6C65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9814E7A-F4E8-932D-6C45-B6B6DE2E8A1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C917D58-4D41-FFB9-4021-E47F161DCDF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6005339-4FB1-7952-AA7D-FDB44E9661F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C84E9D6-C97A-D595-793C-F51C163E3C9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3F2C10B-BDAA-BB23-BF7B-6DC5EC6C947E}"/>
              </a:ext>
            </a:extLst>
          </p:cNvPr>
          <p:cNvSpPr txBox="1">
            <a:spLocks/>
          </p:cNvSpPr>
          <p:nvPr/>
        </p:nvSpPr>
        <p:spPr>
          <a:xfrm>
            <a:off x="0" y="685800"/>
            <a:ext cx="8915399"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600" kern="0" spc="-80" dirty="0">
                <a:solidFill>
                  <a:schemeClr val="accent2"/>
                </a:solidFill>
              </a:rPr>
              <a:t>🚚 Phase 2 — Modernize &amp; Migrate Applications</a:t>
            </a:r>
          </a:p>
          <a:p>
            <a:pPr marL="12700" marR="5080"/>
            <a:r>
              <a:rPr lang="en-US" sz="1800" kern="0" spc="-80" dirty="0">
                <a:solidFill>
                  <a:schemeClr val="accent2"/>
                </a:solidFill>
              </a:rPr>
              <a:t>🔧 DevOps</a:t>
            </a:r>
          </a:p>
          <a:p>
            <a:pPr marL="12700" marR="5080"/>
            <a:r>
              <a:rPr lang="en-US" sz="1800" kern="0" spc="-80" dirty="0">
                <a:solidFill>
                  <a:schemeClr val="accent6"/>
                </a:solidFill>
              </a:rPr>
              <a:t>CI/CD pipelines</a:t>
            </a:r>
          </a:p>
          <a:p>
            <a:pPr marL="12700" marR="5080"/>
            <a:r>
              <a:rPr lang="en-US" sz="1800" kern="0" spc="-80" dirty="0" err="1">
                <a:solidFill>
                  <a:schemeClr val="accent6"/>
                </a:solidFill>
              </a:rPr>
              <a:t>IaC</a:t>
            </a:r>
            <a:r>
              <a:rPr lang="en-US" sz="1800" kern="0" spc="-80" dirty="0">
                <a:solidFill>
                  <a:schemeClr val="accent6"/>
                </a:solidFill>
              </a:rPr>
              <a:t> (Terraform/Bicep/CloudFormation)</a:t>
            </a:r>
          </a:p>
          <a:p>
            <a:pPr marL="12700" marR="5080"/>
            <a:r>
              <a:rPr lang="en-US" sz="1800" kern="0" spc="-80" dirty="0">
                <a:solidFill>
                  <a:schemeClr val="accent6"/>
                </a:solidFill>
              </a:rPr>
              <a:t>Blue–green / canary deployments</a:t>
            </a:r>
          </a:p>
          <a:p>
            <a:pPr marL="12700" marR="5080"/>
            <a:r>
              <a:rPr lang="en-US" sz="1800" kern="0" spc="-80" dirty="0">
                <a:solidFill>
                  <a:schemeClr val="accent6"/>
                </a:solidFill>
              </a:rPr>
              <a:t>Data Migration</a:t>
            </a:r>
          </a:p>
          <a:p>
            <a:pPr marL="12700" marR="5080"/>
            <a:r>
              <a:rPr lang="en-US" sz="1800" kern="0" spc="-80" dirty="0">
                <a:solidFill>
                  <a:schemeClr val="accent6"/>
                </a:solidFill>
              </a:rPr>
              <a:t>Database replication</a:t>
            </a:r>
          </a:p>
          <a:p>
            <a:pPr marL="12700" marR="5080"/>
            <a:r>
              <a:rPr lang="en-US" sz="1800" kern="0" spc="-80" dirty="0">
                <a:solidFill>
                  <a:schemeClr val="accent6"/>
                </a:solidFill>
              </a:rPr>
              <a:t>Data lake ingestion</a:t>
            </a:r>
          </a:p>
          <a:p>
            <a:pPr marL="12700" marR="5080"/>
            <a:r>
              <a:rPr lang="en-US" sz="1800" kern="0" spc="-80" dirty="0">
                <a:solidFill>
                  <a:schemeClr val="accent6"/>
                </a:solidFill>
              </a:rPr>
              <a:t>ETL/ELT pipelines</a:t>
            </a:r>
          </a:p>
          <a:p>
            <a:pPr marL="12700" marR="5080"/>
            <a:r>
              <a:rPr lang="en-US" sz="1800" kern="0" spc="-80" dirty="0">
                <a:solidFill>
                  <a:schemeClr val="accent6"/>
                </a:solidFill>
              </a:rPr>
              <a:t>Deliverables</a:t>
            </a:r>
          </a:p>
          <a:p>
            <a:pPr marL="12700" marR="5080"/>
            <a:r>
              <a:rPr lang="en-US" sz="1800" kern="0" spc="-80" dirty="0">
                <a:solidFill>
                  <a:schemeClr val="accent6"/>
                </a:solidFill>
              </a:rPr>
              <a:t>Migration Factory</a:t>
            </a:r>
          </a:p>
          <a:p>
            <a:pPr marL="12700" marR="5080"/>
            <a:r>
              <a:rPr lang="en-US" sz="1800" kern="0" spc="-80" dirty="0">
                <a:solidFill>
                  <a:schemeClr val="accent6"/>
                </a:solidFill>
              </a:rPr>
              <a:t>Wave plans</a:t>
            </a:r>
          </a:p>
          <a:p>
            <a:pPr marL="12700" marR="5080"/>
            <a:r>
              <a:rPr lang="en-US" sz="1800" kern="0" spc="-80" dirty="0">
                <a:solidFill>
                  <a:schemeClr val="accent6"/>
                </a:solidFill>
              </a:rPr>
              <a:t>Application rationalization</a:t>
            </a:r>
          </a:p>
          <a:p>
            <a:pPr marL="12700" marR="5080"/>
            <a:r>
              <a:rPr lang="en-US" sz="1800" kern="0" spc="-80" dirty="0">
                <a:solidFill>
                  <a:schemeClr val="accent6"/>
                </a:solidFill>
              </a:rPr>
              <a:t>Modernized architectures</a:t>
            </a:r>
          </a:p>
          <a:p>
            <a:pPr marL="12700" marR="5080"/>
            <a:r>
              <a:rPr lang="en-US" sz="1800" kern="0" spc="-80" dirty="0">
                <a:solidFill>
                  <a:schemeClr val="accent6"/>
                </a:solidFill>
              </a:rPr>
              <a:t>Cutover playbooks</a:t>
            </a:r>
          </a:p>
          <a:p>
            <a:pPr marL="12700" marR="5080"/>
            <a:endParaRPr lang="en-US" sz="1800" kern="0" spc="-80" dirty="0">
              <a:solidFill>
                <a:schemeClr val="accent6"/>
              </a:solidFill>
            </a:endParaRPr>
          </a:p>
        </p:txBody>
      </p:sp>
    </p:spTree>
    <p:extLst>
      <p:ext uri="{BB962C8B-B14F-4D97-AF65-F5344CB8AC3E}">
        <p14:creationId xmlns:p14="http://schemas.microsoft.com/office/powerpoint/2010/main" val="88631710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B0FC-1EDC-DADB-E3FE-48EBCD207B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D4775F-1DB0-0420-2308-55E2B4FF63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B539BA-1B63-E00B-5CE4-D159C5CC8C2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BA31D4-D30E-8C12-099E-2B327315439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FF30EB6-D10A-D497-E032-8C0D94A1A5B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09F2736-C809-51BC-FF66-7FD97100E14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C7235C-15CE-5C5D-E5E7-3299356F2E28}"/>
              </a:ext>
            </a:extLst>
          </p:cNvPr>
          <p:cNvSpPr txBox="1">
            <a:spLocks/>
          </p:cNvSpPr>
          <p:nvPr/>
        </p:nvSpPr>
        <p:spPr>
          <a:xfrm>
            <a:off x="0" y="685800"/>
            <a:ext cx="891539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800" kern="0" spc="-80" dirty="0">
                <a:solidFill>
                  <a:schemeClr val="accent2"/>
                </a:solidFill>
              </a:rPr>
              <a:t>⚙️ Phase 3 — Manage &amp; Run in Cloud (Day-2 Operations)</a:t>
            </a:r>
          </a:p>
          <a:p>
            <a:pPr marL="12700" marR="5080"/>
            <a:r>
              <a:rPr lang="en-US" sz="1800" kern="0" spc="-80" dirty="0">
                <a:solidFill>
                  <a:schemeClr val="accent6"/>
                </a:solidFill>
              </a:rPr>
              <a:t>This is where production excellence lives.</a:t>
            </a:r>
          </a:p>
          <a:p>
            <a:pPr marL="12700" marR="5080"/>
            <a:r>
              <a:rPr lang="en-US" sz="1800" kern="0" spc="-80" dirty="0">
                <a:solidFill>
                  <a:schemeClr val="accent2"/>
                </a:solidFill>
              </a:rPr>
              <a:t>🛠 Operations</a:t>
            </a:r>
          </a:p>
          <a:p>
            <a:pPr marL="12700" marR="5080"/>
            <a:r>
              <a:rPr lang="en-US" sz="1800" kern="0" spc="-80" dirty="0">
                <a:solidFill>
                  <a:schemeClr val="accent6"/>
                </a:solidFill>
              </a:rPr>
              <a:t>Observability</a:t>
            </a:r>
          </a:p>
          <a:p>
            <a:pPr marL="12700" marR="5080"/>
            <a:r>
              <a:rPr lang="en-US" sz="1800" kern="0" spc="-80" dirty="0">
                <a:solidFill>
                  <a:schemeClr val="accent6"/>
                </a:solidFill>
              </a:rPr>
              <a:t>Metrics</a:t>
            </a:r>
          </a:p>
          <a:p>
            <a:pPr marL="12700" marR="5080"/>
            <a:r>
              <a:rPr lang="en-US" sz="1800" kern="0" spc="-80" dirty="0">
                <a:solidFill>
                  <a:schemeClr val="accent6"/>
                </a:solidFill>
              </a:rPr>
              <a:t>Logs</a:t>
            </a:r>
          </a:p>
          <a:p>
            <a:pPr marL="12700" marR="5080"/>
            <a:r>
              <a:rPr lang="en-US" sz="1800" kern="0" spc="-80" dirty="0">
                <a:solidFill>
                  <a:schemeClr val="accent6"/>
                </a:solidFill>
              </a:rPr>
              <a:t>Traces</a:t>
            </a:r>
          </a:p>
          <a:p>
            <a:pPr marL="12700" marR="5080"/>
            <a:r>
              <a:rPr lang="en-US" sz="1800" kern="0" spc="-80" dirty="0">
                <a:solidFill>
                  <a:schemeClr val="accent6"/>
                </a:solidFill>
              </a:rPr>
              <a:t>APM</a:t>
            </a:r>
          </a:p>
          <a:p>
            <a:pPr marL="12700" marR="5080"/>
            <a:r>
              <a:rPr lang="en-US" sz="1800" kern="0" spc="-80" dirty="0">
                <a:solidFill>
                  <a:schemeClr val="accent6"/>
                </a:solidFill>
              </a:rPr>
              <a:t>Reliability</a:t>
            </a:r>
          </a:p>
          <a:p>
            <a:pPr marL="12700" marR="5080"/>
            <a:r>
              <a:rPr lang="en-US" sz="1800" kern="0" spc="-80" dirty="0">
                <a:solidFill>
                  <a:schemeClr val="accent6"/>
                </a:solidFill>
              </a:rPr>
              <a:t>SRE practices</a:t>
            </a:r>
          </a:p>
          <a:p>
            <a:pPr marL="12700" marR="5080"/>
            <a:r>
              <a:rPr lang="en-US" sz="1800" kern="0" spc="-80" dirty="0">
                <a:solidFill>
                  <a:schemeClr val="accent6"/>
                </a:solidFill>
              </a:rPr>
              <a:t>SLIs / SLOs</a:t>
            </a:r>
          </a:p>
          <a:p>
            <a:pPr marL="12700" marR="5080"/>
            <a:r>
              <a:rPr lang="en-US" sz="1800" kern="0" spc="-80" dirty="0">
                <a:solidFill>
                  <a:schemeClr val="accent6"/>
                </a:solidFill>
              </a:rPr>
              <a:t>Chaos engineering</a:t>
            </a:r>
          </a:p>
          <a:p>
            <a:pPr marL="12700" marR="5080"/>
            <a:r>
              <a:rPr lang="en-US" sz="1800" kern="0" spc="-80" dirty="0">
                <a:solidFill>
                  <a:schemeClr val="accent6"/>
                </a:solidFill>
              </a:rPr>
              <a:t>DR automation</a:t>
            </a:r>
          </a:p>
          <a:p>
            <a:pPr marL="12700" marR="5080"/>
            <a:r>
              <a:rPr lang="en-US" sz="1800" kern="0" spc="-80" dirty="0">
                <a:solidFill>
                  <a:schemeClr val="accent6"/>
                </a:solidFill>
              </a:rPr>
              <a:t>Automation</a:t>
            </a:r>
          </a:p>
          <a:p>
            <a:pPr marL="12700" marR="5080"/>
            <a:r>
              <a:rPr lang="en-US" sz="1800" kern="0" spc="-80" dirty="0">
                <a:solidFill>
                  <a:schemeClr val="accent6"/>
                </a:solidFill>
              </a:rPr>
              <a:t>Auto-healing</a:t>
            </a:r>
          </a:p>
          <a:p>
            <a:pPr marL="12700" marR="5080"/>
            <a:r>
              <a:rPr lang="en-US" sz="1800" kern="0" spc="-80" dirty="0">
                <a:solidFill>
                  <a:schemeClr val="accent6"/>
                </a:solidFill>
              </a:rPr>
              <a:t>Patch management</a:t>
            </a:r>
          </a:p>
          <a:p>
            <a:pPr marL="12700" marR="5080"/>
            <a:r>
              <a:rPr lang="en-US" sz="1800" kern="0" spc="-80" dirty="0">
                <a:solidFill>
                  <a:schemeClr val="accent6"/>
                </a:solidFill>
              </a:rPr>
              <a:t>Configuration drift detection</a:t>
            </a:r>
          </a:p>
        </p:txBody>
      </p:sp>
    </p:spTree>
    <p:extLst>
      <p:ext uri="{BB962C8B-B14F-4D97-AF65-F5344CB8AC3E}">
        <p14:creationId xmlns:p14="http://schemas.microsoft.com/office/powerpoint/2010/main" val="13711241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623C-FB28-8BE6-44C2-2D51D6F86B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8C2612-9890-5992-2B8E-C1517891DDE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D7CAD4-0463-AFED-BCB6-EEEDF96FB06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9CC41A4-D367-9152-5CA6-1068603E9C3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CFE790B-FD18-1AC8-EA5C-9EC063AAF83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4FDEA96-86E4-702B-292A-E478A17BBBF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F302125-EBDC-5DC4-901C-F7BCA11C1511}"/>
              </a:ext>
            </a:extLst>
          </p:cNvPr>
          <p:cNvSpPr txBox="1">
            <a:spLocks/>
          </p:cNvSpPr>
          <p:nvPr/>
        </p:nvSpPr>
        <p:spPr>
          <a:xfrm>
            <a:off x="0" y="685800"/>
            <a:ext cx="8915399"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800" kern="0" spc="-80" dirty="0">
                <a:solidFill>
                  <a:schemeClr val="accent2"/>
                </a:solidFill>
              </a:rPr>
              <a:t>⚙️ Phase 3 — Manage &amp; Run in Cloud (Day-2 Operations)</a:t>
            </a:r>
          </a:p>
          <a:p>
            <a:pPr marL="12700" marR="5080"/>
            <a:r>
              <a:rPr lang="en-US" sz="1800" kern="0" spc="-80" dirty="0">
                <a:solidFill>
                  <a:schemeClr val="accent2"/>
                </a:solidFill>
              </a:rPr>
              <a:t>🔁 </a:t>
            </a:r>
            <a:r>
              <a:rPr lang="en-US" sz="1800" kern="0" spc="-80" dirty="0" err="1">
                <a:solidFill>
                  <a:schemeClr val="accent2"/>
                </a:solidFill>
              </a:rPr>
              <a:t>DevSecOps</a:t>
            </a:r>
            <a:endParaRPr lang="en-US" sz="1800" kern="0" spc="-80" dirty="0">
              <a:solidFill>
                <a:schemeClr val="accent2"/>
              </a:solidFill>
            </a:endParaRPr>
          </a:p>
          <a:p>
            <a:pPr marL="12700" marR="5080"/>
            <a:r>
              <a:rPr lang="en-US" sz="1800" kern="0" spc="-80" dirty="0">
                <a:solidFill>
                  <a:schemeClr val="accent6"/>
                </a:solidFill>
              </a:rPr>
              <a:t>Security scanning in pipelines</a:t>
            </a:r>
          </a:p>
          <a:p>
            <a:pPr marL="12700" marR="5080"/>
            <a:r>
              <a:rPr lang="en-US" sz="1800" kern="0" spc="-80" dirty="0">
                <a:solidFill>
                  <a:schemeClr val="accent6"/>
                </a:solidFill>
              </a:rPr>
              <a:t>Policy as code</a:t>
            </a:r>
          </a:p>
          <a:p>
            <a:pPr marL="12700" marR="5080"/>
            <a:r>
              <a:rPr lang="en-US" sz="1800" kern="0" spc="-80" dirty="0">
                <a:solidFill>
                  <a:schemeClr val="accent6"/>
                </a:solidFill>
              </a:rPr>
              <a:t>Secret rotation</a:t>
            </a:r>
          </a:p>
          <a:p>
            <a:pPr marL="12700" marR="5080"/>
            <a:r>
              <a:rPr lang="en-US" sz="1800" kern="0" spc="-80" dirty="0">
                <a:solidFill>
                  <a:schemeClr val="accent6"/>
                </a:solidFill>
              </a:rPr>
              <a:t>Image vulnerability scanning</a:t>
            </a:r>
          </a:p>
          <a:p>
            <a:pPr marL="12700" marR="5080"/>
            <a:r>
              <a:rPr lang="en-US" sz="1800" kern="0" spc="-80" dirty="0">
                <a:solidFill>
                  <a:schemeClr val="accent2"/>
                </a:solidFill>
              </a:rPr>
              <a:t>🧩 Platform Engineering</a:t>
            </a:r>
          </a:p>
          <a:p>
            <a:pPr marL="12700" marR="5080"/>
            <a:r>
              <a:rPr lang="en-US" sz="1800" kern="0" spc="-80" dirty="0">
                <a:solidFill>
                  <a:schemeClr val="accent6"/>
                </a:solidFill>
              </a:rPr>
              <a:t>Internal developer portals</a:t>
            </a:r>
          </a:p>
          <a:p>
            <a:pPr marL="12700" marR="5080"/>
            <a:r>
              <a:rPr lang="en-US" sz="1800" kern="0" spc="-80" dirty="0">
                <a:solidFill>
                  <a:schemeClr val="accent6"/>
                </a:solidFill>
              </a:rPr>
              <a:t>Golden paths</a:t>
            </a:r>
          </a:p>
          <a:p>
            <a:pPr marL="12700" marR="5080"/>
            <a:r>
              <a:rPr lang="en-US" sz="1800" kern="0" spc="-80" dirty="0">
                <a:solidFill>
                  <a:schemeClr val="accent6"/>
                </a:solidFill>
              </a:rPr>
              <a:t>Self-service infrastructure</a:t>
            </a:r>
          </a:p>
          <a:p>
            <a:pPr marL="12700" marR="5080"/>
            <a:r>
              <a:rPr lang="en-US" sz="1800" kern="0" spc="-80" dirty="0">
                <a:solidFill>
                  <a:schemeClr val="accent6"/>
                </a:solidFill>
              </a:rPr>
              <a:t>Deliverables</a:t>
            </a:r>
          </a:p>
          <a:p>
            <a:pPr marL="12700" marR="5080"/>
            <a:r>
              <a:rPr lang="en-US" sz="1800" kern="0" spc="-80" dirty="0">
                <a:solidFill>
                  <a:schemeClr val="accent6"/>
                </a:solidFill>
              </a:rPr>
              <a:t>Runbooks</a:t>
            </a:r>
          </a:p>
          <a:p>
            <a:pPr marL="12700" marR="5080"/>
            <a:r>
              <a:rPr lang="en-US" sz="1800" kern="0" spc="-80" dirty="0">
                <a:solidFill>
                  <a:schemeClr val="accent6"/>
                </a:solidFill>
              </a:rPr>
              <a:t>SRE dashboards</a:t>
            </a:r>
          </a:p>
          <a:p>
            <a:pPr marL="12700" marR="5080"/>
            <a:r>
              <a:rPr lang="en-US" sz="1800" kern="0" spc="-80" dirty="0">
                <a:solidFill>
                  <a:schemeClr val="accent6"/>
                </a:solidFill>
              </a:rPr>
              <a:t>Incident response playbooks</a:t>
            </a:r>
          </a:p>
          <a:p>
            <a:pPr marL="12700" marR="5080"/>
            <a:r>
              <a:rPr lang="en-US" sz="1800" kern="0" spc="-80" dirty="0">
                <a:solidFill>
                  <a:schemeClr val="accent6"/>
                </a:solidFill>
              </a:rPr>
              <a:t>Automated remediation</a:t>
            </a:r>
          </a:p>
        </p:txBody>
      </p:sp>
    </p:spTree>
    <p:extLst>
      <p:ext uri="{BB962C8B-B14F-4D97-AF65-F5344CB8AC3E}">
        <p14:creationId xmlns:p14="http://schemas.microsoft.com/office/powerpoint/2010/main" val="19582130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3D5DC-6CD6-1025-ADF8-A1552ED694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605C09-5906-4813-DAA0-B2F7E71108F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4A09D24-2F81-A101-2538-D472D95F666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3D558C-7F95-1102-5A61-B4BAD7CE00E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EA4AD6A-1BF2-4EB8-DB4D-D091992E470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5CBF41C-EBC6-DCB6-727E-305A88F3474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A66851D-B88A-4FD1-469F-70253D827DB9}"/>
              </a:ext>
            </a:extLst>
          </p:cNvPr>
          <p:cNvSpPr txBox="1">
            <a:spLocks/>
          </p:cNvSpPr>
          <p:nvPr/>
        </p:nvSpPr>
        <p:spPr>
          <a:xfrm>
            <a:off x="0" y="685800"/>
            <a:ext cx="8915399"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800" kern="0" spc="-80" dirty="0">
                <a:solidFill>
                  <a:schemeClr val="accent2"/>
                </a:solidFill>
              </a:rPr>
              <a:t>💰 Phase 4 — Governance + FinOps (Continuous Control Layer)</a:t>
            </a:r>
          </a:p>
          <a:p>
            <a:pPr marL="12700" marR="5080"/>
            <a:r>
              <a:rPr lang="en-US" sz="1800" kern="0" spc="-80" dirty="0">
                <a:solidFill>
                  <a:schemeClr val="accent6"/>
                </a:solidFill>
              </a:rPr>
              <a:t>This layer spans ALL phases.</a:t>
            </a:r>
          </a:p>
          <a:p>
            <a:pPr marL="12700" marR="5080"/>
            <a:r>
              <a:rPr lang="en-US" sz="1800" kern="0" spc="-80" dirty="0">
                <a:solidFill>
                  <a:schemeClr val="accent2"/>
                </a:solidFill>
              </a:rPr>
              <a:t>🛡 Governance</a:t>
            </a:r>
          </a:p>
          <a:p>
            <a:pPr marL="12700" marR="5080"/>
            <a:r>
              <a:rPr lang="en-US" sz="1800" kern="0" spc="-80" dirty="0">
                <a:solidFill>
                  <a:schemeClr val="accent6"/>
                </a:solidFill>
              </a:rPr>
              <a:t>Policy</a:t>
            </a:r>
          </a:p>
          <a:p>
            <a:pPr marL="12700" marR="5080"/>
            <a:r>
              <a:rPr lang="en-US" sz="1800" kern="0" spc="-80" dirty="0">
                <a:solidFill>
                  <a:schemeClr val="accent6"/>
                </a:solidFill>
              </a:rPr>
              <a:t>Naming standards</a:t>
            </a:r>
          </a:p>
          <a:p>
            <a:pPr marL="12700" marR="5080"/>
            <a:r>
              <a:rPr lang="en-US" sz="1800" kern="0" spc="-80" dirty="0">
                <a:solidFill>
                  <a:schemeClr val="accent6"/>
                </a:solidFill>
              </a:rPr>
              <a:t>Resource tagging</a:t>
            </a:r>
          </a:p>
          <a:p>
            <a:pPr marL="12700" marR="5080"/>
            <a:r>
              <a:rPr lang="en-US" sz="1800" kern="0" spc="-80" dirty="0">
                <a:solidFill>
                  <a:schemeClr val="accent6"/>
                </a:solidFill>
              </a:rPr>
              <a:t>Data residency</a:t>
            </a:r>
          </a:p>
          <a:p>
            <a:pPr marL="12700" marR="5080"/>
            <a:r>
              <a:rPr lang="en-US" sz="1800" kern="0" spc="-80" dirty="0">
                <a:solidFill>
                  <a:schemeClr val="accent6"/>
                </a:solidFill>
              </a:rPr>
              <a:t>Compliance mapping (ISO, SOC2, HIPAA etc.)</a:t>
            </a:r>
          </a:p>
          <a:p>
            <a:pPr marL="12700" marR="5080"/>
            <a:r>
              <a:rPr lang="en-US" sz="1800" kern="0" spc="-80" dirty="0">
                <a:solidFill>
                  <a:schemeClr val="accent6"/>
                </a:solidFill>
              </a:rPr>
              <a:t>Controls</a:t>
            </a:r>
          </a:p>
          <a:p>
            <a:pPr marL="12700" marR="5080"/>
            <a:r>
              <a:rPr lang="en-US" sz="1800" kern="0" spc="-80" dirty="0">
                <a:solidFill>
                  <a:schemeClr val="accent6"/>
                </a:solidFill>
              </a:rPr>
              <a:t>Policy as Code</a:t>
            </a:r>
          </a:p>
          <a:p>
            <a:pPr marL="12700" marR="5080"/>
            <a:r>
              <a:rPr lang="en-US" sz="1800" kern="0" spc="-80" dirty="0">
                <a:solidFill>
                  <a:schemeClr val="accent6"/>
                </a:solidFill>
              </a:rPr>
              <a:t>Budget thresholds</a:t>
            </a:r>
          </a:p>
          <a:p>
            <a:pPr marL="12700" marR="5080"/>
            <a:r>
              <a:rPr lang="en-US" sz="1800" kern="0" spc="-80" dirty="0">
                <a:solidFill>
                  <a:schemeClr val="accent6"/>
                </a:solidFill>
              </a:rPr>
              <a:t>Resource quotas</a:t>
            </a:r>
          </a:p>
          <a:p>
            <a:pPr marL="12700" marR="5080"/>
            <a:r>
              <a:rPr lang="en-US" sz="1800" kern="0" spc="-80" dirty="0">
                <a:solidFill>
                  <a:schemeClr val="accent2"/>
                </a:solidFill>
              </a:rPr>
              <a:t>💸 FinOps (Financial Operations)</a:t>
            </a:r>
          </a:p>
          <a:p>
            <a:pPr marL="12700" marR="5080"/>
            <a:r>
              <a:rPr lang="en-US" sz="1800" kern="0" spc="-80" dirty="0">
                <a:solidFill>
                  <a:schemeClr val="accent6"/>
                </a:solidFill>
              </a:rPr>
              <a:t>Inform</a:t>
            </a:r>
          </a:p>
          <a:p>
            <a:pPr marL="12700" marR="5080"/>
            <a:r>
              <a:rPr lang="en-US" sz="1800" kern="0" spc="-80" dirty="0">
                <a:solidFill>
                  <a:schemeClr val="accent6"/>
                </a:solidFill>
              </a:rPr>
              <a:t>Cost allocation</a:t>
            </a:r>
          </a:p>
          <a:p>
            <a:pPr marL="12700" marR="5080"/>
            <a:r>
              <a:rPr lang="en-US" sz="1800" kern="0" spc="-80" dirty="0">
                <a:solidFill>
                  <a:schemeClr val="accent6"/>
                </a:solidFill>
              </a:rPr>
              <a:t>Chargeback / </a:t>
            </a:r>
            <a:r>
              <a:rPr lang="en-US" sz="1800" kern="0" spc="-80" dirty="0" err="1">
                <a:solidFill>
                  <a:schemeClr val="accent6"/>
                </a:solidFill>
              </a:rPr>
              <a:t>showback</a:t>
            </a:r>
            <a:endParaRPr lang="en-US" sz="1800" kern="0" spc="-80" dirty="0">
              <a:solidFill>
                <a:schemeClr val="accent6"/>
              </a:solidFill>
            </a:endParaRPr>
          </a:p>
          <a:p>
            <a:pPr marL="12700" marR="5080"/>
            <a:r>
              <a:rPr lang="en-US" sz="1800" kern="0" spc="-80" dirty="0">
                <a:solidFill>
                  <a:schemeClr val="accent6"/>
                </a:solidFill>
              </a:rPr>
              <a:t>Unit economics</a:t>
            </a:r>
          </a:p>
          <a:p>
            <a:pPr marL="12700" marR="5080"/>
            <a:r>
              <a:rPr lang="en-US" sz="1800" kern="0" spc="-80" dirty="0">
                <a:solidFill>
                  <a:schemeClr val="accent6"/>
                </a:solidFill>
              </a:rPr>
              <a:t>Optimize</a:t>
            </a:r>
          </a:p>
        </p:txBody>
      </p:sp>
    </p:spTree>
    <p:extLst>
      <p:ext uri="{BB962C8B-B14F-4D97-AF65-F5344CB8AC3E}">
        <p14:creationId xmlns:p14="http://schemas.microsoft.com/office/powerpoint/2010/main" val="259139860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6F402-6C29-5774-011C-006F1E2B4CF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C8173F3-D7AD-EF61-8FA8-294CCBE6EBF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B8A6880-8315-BFF0-F639-9195B0BF09A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734304E-F4A8-14A7-B052-AA186C3D064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47D85F8-F382-A6A7-23A8-8260300973E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9E81DB8-E475-D498-D4A5-6AAD219C176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B995A30-82D8-2984-38AF-8F2719B6AC9B}"/>
              </a:ext>
            </a:extLst>
          </p:cNvPr>
          <p:cNvSpPr txBox="1">
            <a:spLocks/>
          </p:cNvSpPr>
          <p:nvPr/>
        </p:nvSpPr>
        <p:spPr>
          <a:xfrm>
            <a:off x="0" y="685800"/>
            <a:ext cx="8915399"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600" kern="0" spc="-80" dirty="0">
                <a:solidFill>
                  <a:schemeClr val="accent2"/>
                </a:solidFill>
              </a:rPr>
              <a:t>💰 Phase 4 — Governance + FinOps (Continuous Control Layer)</a:t>
            </a:r>
          </a:p>
          <a:p>
            <a:pPr marL="12700" marR="5080"/>
            <a:r>
              <a:rPr lang="en-US" sz="1600" kern="0" spc="-80" dirty="0">
                <a:solidFill>
                  <a:schemeClr val="accent2"/>
                </a:solidFill>
              </a:rPr>
              <a:t>💸 FinOps (Financial Operations)</a:t>
            </a:r>
          </a:p>
          <a:p>
            <a:pPr marL="12700" marR="5080"/>
            <a:r>
              <a:rPr lang="en-US" sz="1600" kern="0" spc="-80" dirty="0">
                <a:solidFill>
                  <a:schemeClr val="accent6"/>
                </a:solidFill>
              </a:rPr>
              <a:t>Rightsizing</a:t>
            </a:r>
          </a:p>
          <a:p>
            <a:pPr marL="12700" marR="5080"/>
            <a:r>
              <a:rPr lang="en-US" sz="1600" kern="0" spc="-80" dirty="0">
                <a:solidFill>
                  <a:schemeClr val="accent6"/>
                </a:solidFill>
              </a:rPr>
              <a:t>Reserved instances / savings plans</a:t>
            </a:r>
          </a:p>
          <a:p>
            <a:pPr marL="12700" marR="5080"/>
            <a:r>
              <a:rPr lang="en-US" sz="1600" kern="0" spc="-80" dirty="0">
                <a:solidFill>
                  <a:schemeClr val="accent6"/>
                </a:solidFill>
              </a:rPr>
              <a:t>Storage tiering</a:t>
            </a:r>
          </a:p>
          <a:p>
            <a:pPr marL="12700" marR="5080"/>
            <a:r>
              <a:rPr lang="en-US" sz="1600" kern="0" spc="-80" dirty="0">
                <a:solidFill>
                  <a:schemeClr val="accent6"/>
                </a:solidFill>
              </a:rPr>
              <a:t>Idle resource cleanup</a:t>
            </a:r>
          </a:p>
          <a:p>
            <a:pPr marL="12700" marR="5080"/>
            <a:r>
              <a:rPr lang="en-US" sz="1600" kern="0" spc="-80" dirty="0">
                <a:solidFill>
                  <a:schemeClr val="accent6"/>
                </a:solidFill>
              </a:rPr>
              <a:t>Operate</a:t>
            </a:r>
          </a:p>
          <a:p>
            <a:pPr marL="12700" marR="5080"/>
            <a:r>
              <a:rPr lang="en-US" sz="1600" kern="0" spc="-80" dirty="0">
                <a:solidFill>
                  <a:schemeClr val="accent6"/>
                </a:solidFill>
              </a:rPr>
              <a:t>Budget alerts</a:t>
            </a:r>
          </a:p>
          <a:p>
            <a:pPr marL="12700" marR="5080"/>
            <a:r>
              <a:rPr lang="en-US" sz="1600" kern="0" spc="-80" dirty="0">
                <a:solidFill>
                  <a:schemeClr val="accent6"/>
                </a:solidFill>
              </a:rPr>
              <a:t>Forecasting</a:t>
            </a:r>
          </a:p>
          <a:p>
            <a:pPr marL="12700" marR="5080"/>
            <a:r>
              <a:rPr lang="en-US" sz="1600" kern="0" spc="-80" dirty="0">
                <a:solidFill>
                  <a:schemeClr val="accent6"/>
                </a:solidFill>
              </a:rPr>
              <a:t>Business KPIs</a:t>
            </a:r>
          </a:p>
          <a:p>
            <a:pPr marL="12700" marR="5080"/>
            <a:r>
              <a:rPr lang="en-US" sz="1600" kern="0" spc="-80" dirty="0">
                <a:solidFill>
                  <a:schemeClr val="accent2"/>
                </a:solidFill>
              </a:rPr>
              <a:t>👥 Organizational Model</a:t>
            </a:r>
          </a:p>
          <a:p>
            <a:pPr marL="12700" marR="5080"/>
            <a:r>
              <a:rPr lang="en-US" sz="1600" kern="0" spc="-80" dirty="0">
                <a:solidFill>
                  <a:schemeClr val="accent6"/>
                </a:solidFill>
              </a:rPr>
              <a:t>Cloud Center of Excellence (</a:t>
            </a:r>
            <a:r>
              <a:rPr lang="en-US" sz="1600" kern="0" spc="-80" dirty="0" err="1">
                <a:solidFill>
                  <a:schemeClr val="accent6"/>
                </a:solidFill>
              </a:rPr>
              <a:t>CCoE</a:t>
            </a:r>
            <a:r>
              <a:rPr lang="en-US" sz="1600" kern="0" spc="-80" dirty="0">
                <a:solidFill>
                  <a:schemeClr val="accent6"/>
                </a:solidFill>
              </a:rPr>
              <a:t>)</a:t>
            </a:r>
          </a:p>
          <a:p>
            <a:pPr marL="12700" marR="5080"/>
            <a:r>
              <a:rPr lang="en-US" sz="1600" kern="0" spc="-80" dirty="0">
                <a:solidFill>
                  <a:schemeClr val="accent6"/>
                </a:solidFill>
              </a:rPr>
              <a:t>Product-aligned teams</a:t>
            </a:r>
          </a:p>
          <a:p>
            <a:pPr marL="12700" marR="5080"/>
            <a:r>
              <a:rPr lang="en-US" sz="1600" kern="0" spc="-80" dirty="0">
                <a:solidFill>
                  <a:schemeClr val="accent6"/>
                </a:solidFill>
              </a:rPr>
              <a:t>FinOps practitioners</a:t>
            </a:r>
          </a:p>
          <a:p>
            <a:pPr marL="12700" marR="5080"/>
            <a:r>
              <a:rPr lang="en-US" sz="1600" kern="0" spc="-80" dirty="0">
                <a:solidFill>
                  <a:schemeClr val="accent6"/>
                </a:solidFill>
              </a:rPr>
              <a:t>Security champions</a:t>
            </a:r>
          </a:p>
          <a:p>
            <a:pPr marL="12700" marR="5080"/>
            <a:r>
              <a:rPr lang="en-US" sz="1600" kern="0" spc="-80" dirty="0">
                <a:solidFill>
                  <a:schemeClr val="accent6"/>
                </a:solidFill>
              </a:rPr>
              <a:t>Deliverables</a:t>
            </a:r>
          </a:p>
          <a:p>
            <a:pPr marL="12700" marR="5080"/>
            <a:r>
              <a:rPr lang="en-US" sz="1600" kern="0" spc="-80" dirty="0">
                <a:solidFill>
                  <a:schemeClr val="accent6"/>
                </a:solidFill>
              </a:rPr>
              <a:t>Governance framework</a:t>
            </a:r>
          </a:p>
          <a:p>
            <a:pPr marL="12700" marR="5080"/>
            <a:r>
              <a:rPr lang="en-US" sz="1600" kern="0" spc="-80" dirty="0">
                <a:solidFill>
                  <a:schemeClr val="accent6"/>
                </a:solidFill>
              </a:rPr>
              <a:t>Cost dashboards</a:t>
            </a:r>
          </a:p>
          <a:p>
            <a:pPr marL="12700" marR="5080"/>
            <a:r>
              <a:rPr lang="en-US" sz="1600" kern="0" spc="-80" dirty="0">
                <a:solidFill>
                  <a:schemeClr val="accent6"/>
                </a:solidFill>
              </a:rPr>
              <a:t>Optimization backlog</a:t>
            </a:r>
          </a:p>
          <a:p>
            <a:pPr marL="12700" marR="5080"/>
            <a:r>
              <a:rPr lang="en-US" sz="1600" kern="0" spc="-80" dirty="0">
                <a:solidFill>
                  <a:schemeClr val="accent6"/>
                </a:solidFill>
              </a:rPr>
              <a:t>Executive KPIs</a:t>
            </a:r>
          </a:p>
        </p:txBody>
      </p:sp>
    </p:spTree>
    <p:extLst>
      <p:ext uri="{BB962C8B-B14F-4D97-AF65-F5344CB8AC3E}">
        <p14:creationId xmlns:p14="http://schemas.microsoft.com/office/powerpoint/2010/main" val="210891754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74FB-824B-C4C7-AB63-45DEBAC32B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4B858B9-4F00-AEA2-ACA7-09047191DA4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1AAE10-A24C-F316-1AC7-6B861F49DAF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08E814-FBDF-D420-1FE4-AAF309A2AFC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5BC91B3-E2EB-06F0-96AE-6244A20DD67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30FDFDF-2945-19F2-9848-C377A3A4F98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DBED6F0-A97A-5C20-D476-1E5BAE3339E5}"/>
              </a:ext>
            </a:extLst>
          </p:cNvPr>
          <p:cNvSpPr txBox="1">
            <a:spLocks/>
          </p:cNvSpPr>
          <p:nvPr/>
        </p:nvSpPr>
        <p:spPr>
          <a:xfrm>
            <a:off x="0" y="685800"/>
            <a:ext cx="8915399" cy="44935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E2E Transformation and Operations</a:t>
            </a:r>
          </a:p>
          <a:p>
            <a:pPr marL="12700" marR="5080"/>
            <a:r>
              <a:rPr lang="en-US" sz="1600" kern="0" spc="-80" dirty="0">
                <a:solidFill>
                  <a:schemeClr val="accent2"/>
                </a:solidFill>
              </a:rPr>
              <a:t>💰 Phase 4 — Governance + FinOps (Continuous Control Layer)</a:t>
            </a:r>
          </a:p>
          <a:p>
            <a:pPr marL="12700" marR="5080"/>
            <a:r>
              <a:rPr lang="en-US" sz="1800" kern="0" spc="-80" dirty="0">
                <a:solidFill>
                  <a:schemeClr val="accent2"/>
                </a:solidFill>
              </a:rPr>
              <a:t>🧱 Cross-Cutting Pillars (Apply Everywhere)</a:t>
            </a:r>
          </a:p>
          <a:p>
            <a:pPr marL="12700" marR="5080"/>
            <a:r>
              <a:rPr lang="en-US" sz="1800" kern="0" spc="-80" dirty="0">
                <a:solidFill>
                  <a:schemeClr val="accent6"/>
                </a:solidFill>
              </a:rPr>
              <a:t>Security | Identity | Networking | Automation | Observability | Cost | Compliance</a:t>
            </a:r>
          </a:p>
          <a:p>
            <a:pPr marL="12700" marR="5080"/>
            <a:r>
              <a:rPr lang="en-US" sz="1800" kern="0" spc="-80" dirty="0">
                <a:solidFill>
                  <a:schemeClr val="accent6"/>
                </a:solidFill>
              </a:rPr>
              <a:t>These exist horizontally across all phases.</a:t>
            </a:r>
          </a:p>
          <a:p>
            <a:pPr marL="12700" marR="5080"/>
            <a:endParaRPr lang="en-US" sz="1800" kern="0" spc="-80" dirty="0">
              <a:solidFill>
                <a:schemeClr val="accent6"/>
              </a:solidFill>
            </a:endParaRPr>
          </a:p>
          <a:p>
            <a:pPr marL="12700" marR="5080"/>
            <a:r>
              <a:rPr lang="en-US" sz="1800" kern="0" spc="-80" dirty="0">
                <a:solidFill>
                  <a:schemeClr val="accent2"/>
                </a:solidFill>
              </a:rPr>
              <a:t>🧠 Simple Mental Model</a:t>
            </a:r>
          </a:p>
          <a:p>
            <a:pPr marL="12700" marR="5080"/>
            <a:r>
              <a:rPr lang="en-US" sz="1800" kern="0" spc="-80" dirty="0">
                <a:solidFill>
                  <a:schemeClr val="accent2"/>
                </a:solidFill>
              </a:rPr>
              <a:t>Build  →  Move  →  Improve  →  Operate  →  Optimize</a:t>
            </a:r>
          </a:p>
          <a:p>
            <a:pPr marL="12700" marR="5080"/>
            <a:r>
              <a:rPr lang="en-US" sz="1800" kern="0" spc="-80" dirty="0">
                <a:solidFill>
                  <a:schemeClr val="accent2"/>
                </a:solidFill>
              </a:rPr>
              <a:t>or more formally:</a:t>
            </a:r>
          </a:p>
          <a:p>
            <a:pPr marL="12700" marR="5080"/>
            <a:r>
              <a:rPr lang="en-US" sz="1800" kern="0" spc="-80" dirty="0">
                <a:solidFill>
                  <a:schemeClr val="accent6"/>
                </a:solidFill>
              </a:rPr>
              <a:t>Foundation</a:t>
            </a:r>
          </a:p>
          <a:p>
            <a:pPr marL="12700" marR="5080"/>
            <a:r>
              <a:rPr lang="en-US" sz="1800" kern="0" spc="-80" dirty="0">
                <a:solidFill>
                  <a:schemeClr val="accent6"/>
                </a:solidFill>
              </a:rPr>
              <a:t>   ↓</a:t>
            </a:r>
          </a:p>
          <a:p>
            <a:pPr marL="12700" marR="5080"/>
            <a:r>
              <a:rPr lang="en-US" sz="1800" kern="0" spc="-80" dirty="0">
                <a:solidFill>
                  <a:schemeClr val="accent6"/>
                </a:solidFill>
              </a:rPr>
              <a:t>Migration + Modernization</a:t>
            </a:r>
          </a:p>
          <a:p>
            <a:pPr marL="12700" marR="5080"/>
            <a:r>
              <a:rPr lang="en-US" sz="1800" kern="0" spc="-80" dirty="0">
                <a:solidFill>
                  <a:schemeClr val="accent6"/>
                </a:solidFill>
              </a:rPr>
              <a:t>   ↓</a:t>
            </a:r>
          </a:p>
          <a:p>
            <a:pPr marL="12700" marR="5080"/>
            <a:r>
              <a:rPr lang="en-US" sz="1800" kern="0" spc="-80" dirty="0">
                <a:solidFill>
                  <a:schemeClr val="accent6"/>
                </a:solidFill>
              </a:rPr>
              <a:t>Operations Excellence</a:t>
            </a:r>
          </a:p>
          <a:p>
            <a:pPr marL="12700" marR="5080"/>
            <a:r>
              <a:rPr lang="en-US" sz="1800" kern="0" spc="-80" dirty="0">
                <a:solidFill>
                  <a:schemeClr val="accent6"/>
                </a:solidFill>
              </a:rPr>
              <a:t>   ↓</a:t>
            </a:r>
          </a:p>
          <a:p>
            <a:pPr marL="12700" marR="5080"/>
            <a:r>
              <a:rPr lang="en-US" sz="1800" kern="0" spc="-80" dirty="0">
                <a:solidFill>
                  <a:schemeClr val="accent6"/>
                </a:solidFill>
              </a:rPr>
              <a:t>Governance + FinOps (always-on)</a:t>
            </a:r>
          </a:p>
        </p:txBody>
      </p:sp>
    </p:spTree>
    <p:extLst>
      <p:ext uri="{BB962C8B-B14F-4D97-AF65-F5344CB8AC3E}">
        <p14:creationId xmlns:p14="http://schemas.microsoft.com/office/powerpoint/2010/main" val="131736326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869B-B909-DBDF-20B9-7F7A09B4C6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C87742-73FA-9AC8-D345-11359DDC8B0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B6225D-43DD-826C-3B66-EAE7128EE02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1FEAED-8B41-8EDA-81B7-68A7FC0CC03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70F368-4059-4D16-2BDC-06AC96547D5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5C53DC7-6F3A-8DDF-2FF7-F2BC05D7C8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B76D074-1DF7-BCC0-C7D8-D3749E60033D}"/>
              </a:ext>
            </a:extLst>
          </p:cNvPr>
          <p:cNvSpPr txBox="1">
            <a:spLocks/>
          </p:cNvSpPr>
          <p:nvPr/>
        </p:nvSpPr>
        <p:spPr>
          <a:xfrm>
            <a:off x="0" y="685800"/>
            <a:ext cx="8915399"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Landing Zone –</a:t>
            </a:r>
          </a:p>
          <a:p>
            <a:pPr marL="12700" marR="5080"/>
            <a:r>
              <a:rPr lang="en-US" sz="1800" kern="0" spc="-80" dirty="0">
                <a:solidFill>
                  <a:schemeClr val="accent6"/>
                </a:solidFill>
              </a:rPr>
              <a:t>A cloud landing zone is a pre-configured, secure, and scalable environment within a cloud provider (like AWS, Azure, or Google Cloud) that serves as a foundation for deploying cloud resources and applications. It's a best-practice starting point that includes foundational elements like identity and access management, networking, security, and governance to ensure workloads can be deployed quickly, safely, and in a way that meets compliance requirements.  </a:t>
            </a:r>
          </a:p>
          <a:p>
            <a:pPr marL="12700" marR="5080"/>
            <a:r>
              <a:rPr lang="en-US" sz="1800" kern="0" spc="-80" dirty="0">
                <a:solidFill>
                  <a:schemeClr val="accent2"/>
                </a:solidFill>
              </a:rPr>
              <a:t>Key characteristics</a:t>
            </a:r>
          </a:p>
          <a:p>
            <a:pPr marL="12700" marR="5080"/>
            <a:r>
              <a:rPr lang="en-US" sz="1800" kern="0" spc="-80" dirty="0">
                <a:solidFill>
                  <a:schemeClr val="accent2"/>
                </a:solidFill>
              </a:rPr>
              <a:t>Pre-configured environment: </a:t>
            </a:r>
            <a:r>
              <a:rPr lang="en-US" sz="1800" kern="0" spc="-80" dirty="0">
                <a:solidFill>
                  <a:schemeClr val="accent6"/>
                </a:solidFill>
              </a:rPr>
              <a:t>A landing zone is set up with specific configurations, making it a ready-to-use "base camp" for cloud projects. </a:t>
            </a:r>
          </a:p>
          <a:p>
            <a:pPr marL="12700" marR="5080"/>
            <a:r>
              <a:rPr lang="en-US" sz="1800" kern="0" spc="-80" dirty="0">
                <a:solidFill>
                  <a:schemeClr val="accent2"/>
                </a:solidFill>
              </a:rPr>
              <a:t>Security and compliance: </a:t>
            </a:r>
            <a:r>
              <a:rPr lang="en-US" sz="1800" kern="0" spc="-80" dirty="0">
                <a:solidFill>
                  <a:schemeClr val="accent6"/>
                </a:solidFill>
              </a:rPr>
              <a:t>It's built with security and compliance policies in mind from the start, which helps avoid potential issues later on. </a:t>
            </a:r>
          </a:p>
          <a:p>
            <a:pPr marL="12700" marR="5080"/>
            <a:r>
              <a:rPr lang="en-US" sz="1800" kern="0" spc="-80" dirty="0">
                <a:solidFill>
                  <a:schemeClr val="accent2"/>
                </a:solidFill>
              </a:rPr>
              <a:t>Scalability:</a:t>
            </a:r>
            <a:r>
              <a:rPr lang="en-US" sz="1800" kern="0" spc="-80" dirty="0">
                <a:solidFill>
                  <a:schemeClr val="accent6"/>
                </a:solidFill>
              </a:rPr>
              <a:t> A landing zone is designed to grow with your organization as you adopt more cloud-based services over time. </a:t>
            </a:r>
          </a:p>
          <a:p>
            <a:pPr marL="12700" marR="5080"/>
            <a:r>
              <a:rPr lang="en-US" sz="1800" kern="0" spc="-80" dirty="0">
                <a:solidFill>
                  <a:schemeClr val="accent2"/>
                </a:solidFill>
              </a:rPr>
              <a:t>Multi-account structure:</a:t>
            </a:r>
            <a:r>
              <a:rPr lang="en-US" sz="1800" kern="0" spc="-80" dirty="0">
                <a:solidFill>
                  <a:schemeClr val="accent6"/>
                </a:solidFill>
              </a:rPr>
              <a:t> For environments like AWS, a landing zone often involves setting up multiple accounts to provide resource and security isolation, as explained in AWS Prescriptive Guidance. </a:t>
            </a:r>
          </a:p>
        </p:txBody>
      </p:sp>
    </p:spTree>
    <p:extLst>
      <p:ext uri="{BB962C8B-B14F-4D97-AF65-F5344CB8AC3E}">
        <p14:creationId xmlns:p14="http://schemas.microsoft.com/office/powerpoint/2010/main" val="103967657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01529-A278-379D-1D3C-737D8B5AF6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3CA023-23DE-8211-9BA9-C31CEC0A009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2A55CD4-996C-B79A-D2B5-3ED12F9CBDE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B25F55-43EA-C89A-D597-CCD7EE234E4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36042BC-F207-DE4F-133D-E6BA8B13F99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3B0D2EB-F933-48D9-72F2-8FB48BB80D1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7B10D4E-AED0-7963-2DEF-3E73E55815BC}"/>
              </a:ext>
            </a:extLst>
          </p:cNvPr>
          <p:cNvSpPr txBox="1">
            <a:spLocks/>
          </p:cNvSpPr>
          <p:nvPr/>
        </p:nvSpPr>
        <p:spPr>
          <a:xfrm>
            <a:off x="0" y="685800"/>
            <a:ext cx="8915399"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Landing Zone –</a:t>
            </a:r>
          </a:p>
          <a:p>
            <a:pPr marL="12700" marR="5080"/>
            <a:r>
              <a:rPr lang="en-US" sz="1800" kern="0" spc="-80" dirty="0">
                <a:solidFill>
                  <a:schemeClr val="accent2"/>
                </a:solidFill>
              </a:rPr>
              <a:t>Components of a landing zone</a:t>
            </a:r>
          </a:p>
          <a:p>
            <a:pPr marL="12700" marR="5080"/>
            <a:r>
              <a:rPr lang="en-US" sz="1800" kern="0" spc="-80" dirty="0">
                <a:solidFill>
                  <a:schemeClr val="accent2"/>
                </a:solidFill>
              </a:rPr>
              <a:t>Identity and access management:</a:t>
            </a:r>
            <a:r>
              <a:rPr lang="en-US" sz="1800" kern="0" spc="-80" dirty="0">
                <a:solidFill>
                  <a:schemeClr val="accent6"/>
                </a:solidFill>
              </a:rPr>
              <a:t> Controls who can access what resources. </a:t>
            </a:r>
          </a:p>
          <a:p>
            <a:pPr marL="12700" marR="5080"/>
            <a:r>
              <a:rPr lang="en-US" sz="1800" kern="0" spc="-80" dirty="0">
                <a:solidFill>
                  <a:schemeClr val="accent2"/>
                </a:solidFill>
              </a:rPr>
              <a:t>Networking: </a:t>
            </a:r>
            <a:r>
              <a:rPr lang="en-US" sz="1800" kern="0" spc="-80" dirty="0">
                <a:solidFill>
                  <a:schemeClr val="accent6"/>
                </a:solidFill>
              </a:rPr>
              <a:t>Designs the network architecture, including connectivity to on-premises environments and segmentation between different workloads. </a:t>
            </a:r>
          </a:p>
          <a:p>
            <a:pPr marL="12700" marR="5080"/>
            <a:r>
              <a:rPr lang="en-US" sz="1800" kern="0" spc="-80" dirty="0">
                <a:solidFill>
                  <a:schemeClr val="accent2"/>
                </a:solidFill>
              </a:rPr>
              <a:t>Security:</a:t>
            </a:r>
            <a:r>
              <a:rPr lang="en-US" sz="1800" kern="0" spc="-80" dirty="0">
                <a:solidFill>
                  <a:schemeClr val="accent6"/>
                </a:solidFill>
              </a:rPr>
              <a:t> Implements security controls, logging, and threat detection. </a:t>
            </a:r>
          </a:p>
          <a:p>
            <a:pPr marL="12700" marR="5080"/>
            <a:r>
              <a:rPr lang="en-US" sz="1800" kern="0" spc="-80" dirty="0">
                <a:solidFill>
                  <a:schemeClr val="accent2"/>
                </a:solidFill>
              </a:rPr>
              <a:t>Resource management and governance:</a:t>
            </a:r>
            <a:r>
              <a:rPr lang="en-US" sz="1800" kern="0" spc="-80" dirty="0">
                <a:solidFill>
                  <a:schemeClr val="accent6"/>
                </a:solidFill>
              </a:rPr>
              <a:t> Establishes a framework for managing resources, applying policies, and monitoring costs. </a:t>
            </a:r>
          </a:p>
          <a:p>
            <a:pPr marL="12700" marR="5080"/>
            <a:r>
              <a:rPr lang="en-US" sz="1800" kern="0" spc="-80" dirty="0">
                <a:solidFill>
                  <a:schemeClr val="accent2"/>
                </a:solidFill>
              </a:rPr>
              <a:t>Logging and monitoring:</a:t>
            </a:r>
            <a:r>
              <a:rPr lang="en-US" sz="1800" kern="0" spc="-80" dirty="0">
                <a:solidFill>
                  <a:schemeClr val="accent6"/>
                </a:solidFill>
              </a:rPr>
              <a:t> Sets up systems for collecting and analyzing logs to ensure visibility and compliance</a:t>
            </a:r>
            <a:r>
              <a:rPr lang="en-US" sz="2400" kern="0" spc="-80" dirty="0">
                <a:solidFill>
                  <a:schemeClr val="accent2"/>
                </a:solidFill>
              </a:rPr>
              <a:t>. </a:t>
            </a:r>
          </a:p>
          <a:p>
            <a:pPr marL="12700" marR="5080"/>
            <a:endParaRPr lang="en-US" sz="2400" kern="0" spc="-80" dirty="0">
              <a:solidFill>
                <a:schemeClr val="accent2"/>
              </a:solidFill>
            </a:endParaRPr>
          </a:p>
          <a:p>
            <a:pPr marL="12700" marR="5080"/>
            <a:endParaRPr lang="en-US" sz="2400" kern="0" spc="-80" dirty="0">
              <a:solidFill>
                <a:schemeClr val="accent2"/>
              </a:solidFill>
            </a:endParaRPr>
          </a:p>
          <a:p>
            <a:pPr marL="12700" marR="5080"/>
            <a:r>
              <a:rPr lang="en-US" sz="2400" kern="0" spc="-80" dirty="0">
                <a:solidFill>
                  <a:schemeClr val="accent2"/>
                </a:solidFill>
              </a:rPr>
              <a:t>For Further Exploration</a:t>
            </a:r>
          </a:p>
          <a:p>
            <a:pPr marL="12700" marR="5080"/>
            <a:r>
              <a:rPr lang="en-IN" sz="2400" dirty="0">
                <a:hlinkClick r:id="rId7"/>
              </a:rPr>
              <a:t>Landing zone - AWS Prescriptive Guidance</a:t>
            </a:r>
            <a:endParaRPr lang="en-IN" sz="2400" dirty="0"/>
          </a:p>
          <a:p>
            <a:pPr marL="12700" marR="5080"/>
            <a:r>
              <a:rPr lang="en-US" sz="2400" dirty="0">
                <a:hlinkClick r:id="rId8"/>
              </a:rPr>
              <a:t>What is an Azure landing zone</a:t>
            </a:r>
            <a:endParaRPr lang="en-US" sz="2400" dirty="0"/>
          </a:p>
          <a:p>
            <a:pPr marL="12700" marR="5080"/>
            <a:r>
              <a:rPr lang="en-IN" sz="2400" dirty="0">
                <a:hlinkClick r:id="rId9"/>
              </a:rPr>
              <a:t>Landing zone design in Google Cloud</a:t>
            </a:r>
            <a:endParaRPr lang="en-US" sz="2400" kern="0" spc="-80" dirty="0">
              <a:solidFill>
                <a:schemeClr val="accent2"/>
              </a:solidFill>
            </a:endParaRPr>
          </a:p>
        </p:txBody>
      </p:sp>
    </p:spTree>
    <p:extLst>
      <p:ext uri="{BB962C8B-B14F-4D97-AF65-F5344CB8AC3E}">
        <p14:creationId xmlns:p14="http://schemas.microsoft.com/office/powerpoint/2010/main" val="325852652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C00B-93A6-E58B-2FD6-0ED00DDEAC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38D5B6-75E0-A570-0F55-078B150A76D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F4BAAD-E2B7-3353-010D-D0B53B47C8D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F04F8B2-04E6-0E42-02AC-5791E6F276F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BD83DF4-C46B-B4F7-ED21-BFA2C254FA3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03D61C6-37C5-76F5-8685-C7FDD502CB2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A2AC437-1809-9903-C034-4F8FD72D9C07}"/>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Enterprise Private Clouds</a:t>
            </a:r>
          </a:p>
          <a:p>
            <a:pPr marL="12700" marR="5080"/>
            <a:r>
              <a:rPr lang="en-US" sz="1800" kern="0" spc="-80" dirty="0">
                <a:solidFill>
                  <a:schemeClr val="accent6"/>
                </a:solidFill>
              </a:rPr>
              <a:t>The focus is on scalability, security, compliance, and hybrid cloud integration.</a:t>
            </a:r>
          </a:p>
        </p:txBody>
      </p:sp>
      <p:pic>
        <p:nvPicPr>
          <p:cNvPr id="10" name="Picture 9" descr="A table with text on it&#10;&#10;AI-generated content may be incorrect.">
            <a:extLst>
              <a:ext uri="{FF2B5EF4-FFF2-40B4-BE49-F238E27FC236}">
                <a16:creationId xmlns:a16="http://schemas.microsoft.com/office/drawing/2014/main" id="{D7375CCE-2A07-E75C-3DF6-4C2002782A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885765"/>
            <a:ext cx="8867874" cy="4023410"/>
          </a:xfrm>
          <a:prstGeom prst="rect">
            <a:avLst/>
          </a:prstGeom>
        </p:spPr>
      </p:pic>
    </p:spTree>
    <p:extLst>
      <p:ext uri="{BB962C8B-B14F-4D97-AF65-F5344CB8AC3E}">
        <p14:creationId xmlns:p14="http://schemas.microsoft.com/office/powerpoint/2010/main" val="34301673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B696C-2FCC-78C1-1FD2-F765A58C13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571F22-9C6B-0215-4CC0-49ACE49DCE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37F7ED-AE34-C754-4795-50056B7397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C86993E-89CB-9353-F17C-6D0771B7A15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435F441-95EE-EDA5-6F45-CE05F771E28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AA86980-C3AD-3799-7394-8E8E2E3221B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DDBECD1-9DD4-DB39-70A5-2FDBB8450F8E}"/>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Medium / SMB Private Clouds</a:t>
            </a:r>
          </a:p>
          <a:p>
            <a:pPr marL="12700" marR="5080"/>
            <a:r>
              <a:rPr lang="en-US" sz="1800" kern="0" spc="-80" dirty="0">
                <a:solidFill>
                  <a:schemeClr val="accent6"/>
                </a:solidFill>
              </a:rPr>
              <a:t>Simpler, open-source, and cost-effective alternatives to enterprise suites.</a:t>
            </a:r>
          </a:p>
        </p:txBody>
      </p:sp>
      <p:pic>
        <p:nvPicPr>
          <p:cNvPr id="11" name="Picture 10" descr="A table with text on it&#10;&#10;AI-generated content may be incorrect.">
            <a:extLst>
              <a:ext uri="{FF2B5EF4-FFF2-40B4-BE49-F238E27FC236}">
                <a16:creationId xmlns:a16="http://schemas.microsoft.com/office/drawing/2014/main" id="{D700AE6E-0BFF-4652-3E77-CB8892EDFD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12735"/>
            <a:ext cx="9053461" cy="4296439"/>
          </a:xfrm>
          <a:prstGeom prst="rect">
            <a:avLst/>
          </a:prstGeom>
        </p:spPr>
      </p:pic>
    </p:spTree>
    <p:extLst>
      <p:ext uri="{BB962C8B-B14F-4D97-AF65-F5344CB8AC3E}">
        <p14:creationId xmlns:p14="http://schemas.microsoft.com/office/powerpoint/2010/main" val="123311519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9CCE-B745-FF5C-8D34-0C290CEF33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29803F-D93F-AE1A-D82A-6D3EDBF0AE3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EE2B4B-7378-F525-06F3-BD285B2AB91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869EC1E-9B91-4F6A-879E-9E6ABCA49AB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61449A8-B274-66CE-9DA9-29A2BFDDAC5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78F4982-CD01-F096-7E50-FEBAD9C7113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E632211-2393-E4E4-AB97-92A7E2CEFFE4}"/>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Kubernetes / Developer-Focused Private Clouds</a:t>
            </a:r>
          </a:p>
          <a:p>
            <a:pPr marL="12700" marR="5080"/>
            <a:r>
              <a:rPr lang="en-US" sz="1800" kern="0" spc="-80" dirty="0">
                <a:solidFill>
                  <a:schemeClr val="accent6"/>
                </a:solidFill>
              </a:rPr>
              <a:t>Ideal for cloud-native applications, DevOps, and microservices.</a:t>
            </a:r>
          </a:p>
        </p:txBody>
      </p:sp>
      <p:pic>
        <p:nvPicPr>
          <p:cNvPr id="10" name="Picture 9" descr="A table with text on it&#10;&#10;AI-generated content may be incorrect.">
            <a:extLst>
              <a:ext uri="{FF2B5EF4-FFF2-40B4-BE49-F238E27FC236}">
                <a16:creationId xmlns:a16="http://schemas.microsoft.com/office/drawing/2014/main" id="{9B3F337D-5CA4-F2C6-8050-D78E9E511B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886129"/>
            <a:ext cx="9067799" cy="4023046"/>
          </a:xfrm>
          <a:prstGeom prst="rect">
            <a:avLst/>
          </a:prstGeom>
        </p:spPr>
      </p:pic>
    </p:spTree>
    <p:extLst>
      <p:ext uri="{BB962C8B-B14F-4D97-AF65-F5344CB8AC3E}">
        <p14:creationId xmlns:p14="http://schemas.microsoft.com/office/powerpoint/2010/main" val="420944426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5DFF6-72BA-C927-FB41-8C9CB88F8B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F61744-1AA4-416B-13FE-DD9F8AB5E65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462E82-C1B6-962E-CB66-37E8AE4D175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62A5E35-3BC3-AD27-83BD-BBFEDED10D4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940DA18-8143-D1ED-5D3C-C4310AE6E32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8FCF754-2568-7A14-FC82-0486060DF5B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91E9DF0-6316-0F76-FEC1-C93657D3807D}"/>
              </a:ext>
            </a:extLst>
          </p:cNvPr>
          <p:cNvSpPr txBox="1">
            <a:spLocks/>
          </p:cNvSpPr>
          <p:nvPr/>
        </p:nvSpPr>
        <p:spPr>
          <a:xfrm>
            <a:off x="0" y="685800"/>
            <a:ext cx="8915399"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Hybrid &amp; Multi-Cloud Private Environments</a:t>
            </a:r>
          </a:p>
          <a:p>
            <a:pPr marL="12700" marR="5080"/>
            <a:r>
              <a:rPr lang="en-US" sz="1800" kern="0" spc="-80" dirty="0">
                <a:solidFill>
                  <a:schemeClr val="accent6"/>
                </a:solidFill>
              </a:rPr>
              <a:t>Used when organizations want unified control across multiple environments (on-prem + public cloud).</a:t>
            </a:r>
          </a:p>
        </p:txBody>
      </p:sp>
      <p:pic>
        <p:nvPicPr>
          <p:cNvPr id="10" name="Picture 9" descr="A table with text on it&#10;&#10;AI-generated content may be incorrect.">
            <a:extLst>
              <a:ext uri="{FF2B5EF4-FFF2-40B4-BE49-F238E27FC236}">
                <a16:creationId xmlns:a16="http://schemas.microsoft.com/office/drawing/2014/main" id="{F840DDC1-5289-1E07-4828-2E3F82F5A8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201864"/>
            <a:ext cx="9143999" cy="3707310"/>
          </a:xfrm>
          <a:prstGeom prst="rect">
            <a:avLst/>
          </a:prstGeom>
        </p:spPr>
      </p:pic>
    </p:spTree>
    <p:extLst>
      <p:ext uri="{BB962C8B-B14F-4D97-AF65-F5344CB8AC3E}">
        <p14:creationId xmlns:p14="http://schemas.microsoft.com/office/powerpoint/2010/main" val="185553749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F4D6-730A-2DF1-8901-3628C6A8FC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BD4D31-B9D0-296D-80F2-5BF10BAC2A0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B81E25-F674-CABA-EDBC-EA691CF9567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05276B9-967D-794B-E924-89544CB8910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9A9665B-EE70-1130-6608-A55F6026CC4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B30F919-3838-B667-F7BA-DB113C7A166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22CB6BD-40B9-4556-389F-30DE369514E2}"/>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Specialized / Edge Private Clouds</a:t>
            </a:r>
          </a:p>
          <a:p>
            <a:pPr marL="12700" marR="5080"/>
            <a:r>
              <a:rPr lang="en-US" sz="1800" kern="0" spc="-80" dirty="0">
                <a:solidFill>
                  <a:schemeClr val="accent6"/>
                </a:solidFill>
              </a:rPr>
              <a:t>Lightweight private clouds for remote sites, IoT, or edge compute.</a:t>
            </a:r>
          </a:p>
        </p:txBody>
      </p:sp>
      <p:pic>
        <p:nvPicPr>
          <p:cNvPr id="12" name="Picture 11" descr="A screenshot of a computer&#10;&#10;AI-generated content may be incorrect.">
            <a:extLst>
              <a:ext uri="{FF2B5EF4-FFF2-40B4-BE49-F238E27FC236}">
                <a16:creationId xmlns:a16="http://schemas.microsoft.com/office/drawing/2014/main" id="{9EA14EA4-9D45-BD8D-E8CD-5C3A5C054C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924865"/>
            <a:ext cx="9144000" cy="3984310"/>
          </a:xfrm>
          <a:prstGeom prst="rect">
            <a:avLst/>
          </a:prstGeom>
        </p:spPr>
      </p:pic>
    </p:spTree>
    <p:extLst>
      <p:ext uri="{BB962C8B-B14F-4D97-AF65-F5344CB8AC3E}">
        <p14:creationId xmlns:p14="http://schemas.microsoft.com/office/powerpoint/2010/main" val="373898337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B30B-0F09-F13E-C522-98EC671590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E82DBC2-66B4-CAF3-55A9-F81E457881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1486BE-CB43-69B9-A541-12C00EAD27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B73C32-99C6-E1F3-03D1-38052E95F2B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EFF637F-DE99-AA50-5861-DE8C55E4A5F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C0692EA-1901-0AF0-A09F-A36AED85F66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79BDCA-464D-DFC8-76E1-6F321E004740}"/>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1 – Virtualization / Compute Layer</a:t>
            </a:r>
          </a:p>
        </p:txBody>
      </p:sp>
      <p:pic>
        <p:nvPicPr>
          <p:cNvPr id="10" name="Picture 9" descr="A table with text on it&#10;&#10;AI-generated content may be incorrect.">
            <a:extLst>
              <a:ext uri="{FF2B5EF4-FFF2-40B4-BE49-F238E27FC236}">
                <a16:creationId xmlns:a16="http://schemas.microsoft.com/office/drawing/2014/main" id="{543F9B89-FB61-CFFF-1119-19637A6EB2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09131"/>
            <a:ext cx="9144000" cy="4258270"/>
          </a:xfrm>
          <a:prstGeom prst="rect">
            <a:avLst/>
          </a:prstGeom>
        </p:spPr>
      </p:pic>
    </p:spTree>
    <p:extLst>
      <p:ext uri="{BB962C8B-B14F-4D97-AF65-F5344CB8AC3E}">
        <p14:creationId xmlns:p14="http://schemas.microsoft.com/office/powerpoint/2010/main" val="398733693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C12A-453C-C657-BA0F-618BD2B710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67DE81-FD2F-6F3E-BE31-0E12E4316C0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8881AE-769D-F6F9-E88D-C7EBD8355E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B8B5FA9-803E-D42F-C41B-6DBE618AEC0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2CD7718-ED9C-2FD7-7F84-3281288BF54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A1A4ABA-F4D3-F74E-F2B2-366752CF75E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04B5BAA-8AB2-EA6C-E491-921F702FCD7A}"/>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2 – Networking (SDN) Layer</a:t>
            </a:r>
          </a:p>
        </p:txBody>
      </p:sp>
      <p:pic>
        <p:nvPicPr>
          <p:cNvPr id="10" name="Picture 9" descr="A table with text on it&#10;&#10;AI-generated content may be incorrect.">
            <a:extLst>
              <a:ext uri="{FF2B5EF4-FFF2-40B4-BE49-F238E27FC236}">
                <a16:creationId xmlns:a16="http://schemas.microsoft.com/office/drawing/2014/main" id="{0312B01E-7754-B259-FF78-D217DB6C7D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54107"/>
            <a:ext cx="9053461" cy="4255068"/>
          </a:xfrm>
          <a:prstGeom prst="rect">
            <a:avLst/>
          </a:prstGeom>
        </p:spPr>
      </p:pic>
    </p:spTree>
    <p:extLst>
      <p:ext uri="{BB962C8B-B14F-4D97-AF65-F5344CB8AC3E}">
        <p14:creationId xmlns:p14="http://schemas.microsoft.com/office/powerpoint/2010/main" val="150838168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144A1-79B0-4F82-5610-15B5E085AA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6C55D7-BA30-66F4-8B50-059279B928B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A717D7-69F9-8E10-3973-97AD869D34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59B8C7-F822-25A9-19C1-1033B2F5EFE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7A8DEAB-A9F0-E5DD-EF20-5D040521BAE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BB5A9C4-60A7-A82C-6534-5B622B04CE2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8101DC4-6E67-5DB4-C340-80B96818619F}"/>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3 – Storage Layer (SDS)</a:t>
            </a:r>
          </a:p>
        </p:txBody>
      </p:sp>
      <p:pic>
        <p:nvPicPr>
          <p:cNvPr id="10" name="Picture 9" descr="A screenshot of a computer function&#10;&#10;AI-generated content may be incorrect.">
            <a:extLst>
              <a:ext uri="{FF2B5EF4-FFF2-40B4-BE49-F238E27FC236}">
                <a16:creationId xmlns:a16="http://schemas.microsoft.com/office/drawing/2014/main" id="{7D76118B-29EF-2B98-35DA-727C2CCEC6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4" y="1647866"/>
            <a:ext cx="8915398" cy="4261309"/>
          </a:xfrm>
          <a:prstGeom prst="rect">
            <a:avLst/>
          </a:prstGeom>
        </p:spPr>
      </p:pic>
    </p:spTree>
    <p:extLst>
      <p:ext uri="{BB962C8B-B14F-4D97-AF65-F5344CB8AC3E}">
        <p14:creationId xmlns:p14="http://schemas.microsoft.com/office/powerpoint/2010/main" val="274072652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EC76-A320-25ED-AE53-8A99C56443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2DC0FF-9F9E-DABB-83D1-9C7357045C6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2183E5-AFDB-9DC6-7DDC-1257769C253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A3B9D6-4055-333F-9B0C-38ADD2EBCB4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F1C15EE-C643-5AE6-AF2D-94C6631F50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0B918A0-E2B6-689F-64BD-67D002D9EDF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92E9FF7-832C-0DDC-C077-0DDAEF40F050}"/>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4 – Orchestration / Automation Layer</a:t>
            </a:r>
          </a:p>
        </p:txBody>
      </p:sp>
      <p:pic>
        <p:nvPicPr>
          <p:cNvPr id="12" name="Picture 11" descr="A blue and white table with black text&#10;&#10;AI-generated content may be incorrect.">
            <a:extLst>
              <a:ext uri="{FF2B5EF4-FFF2-40B4-BE49-F238E27FC236}">
                <a16:creationId xmlns:a16="http://schemas.microsoft.com/office/drawing/2014/main" id="{3229B7C8-B13C-54A3-284F-539AC96FF8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647866"/>
            <a:ext cx="8777336" cy="4261309"/>
          </a:xfrm>
          <a:prstGeom prst="rect">
            <a:avLst/>
          </a:prstGeom>
        </p:spPr>
      </p:pic>
    </p:spTree>
    <p:extLst>
      <p:ext uri="{BB962C8B-B14F-4D97-AF65-F5344CB8AC3E}">
        <p14:creationId xmlns:p14="http://schemas.microsoft.com/office/powerpoint/2010/main" val="9599903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7553B-B47E-EA78-D190-B940A1C02A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C48D05-9D6F-1773-B750-D62B5FF93AC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5BE93F4-18FC-E0D5-A863-8729EF04EA5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F4C12E-95DE-6CEC-7119-529CB1FBB90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5B78381-AE01-AC56-EFDF-E0EFE9E589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1B2FDD8-8D7D-F0C3-C852-C39354C99B9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2F986CC-FC1E-EA5A-5574-3A0D770BD141}"/>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5 – Management, Monitoring &amp; Governance</a:t>
            </a:r>
          </a:p>
        </p:txBody>
      </p:sp>
      <p:pic>
        <p:nvPicPr>
          <p:cNvPr id="10" name="Picture 9" descr="A blue and white table with text&#10;&#10;AI-generated content may be incorrect.">
            <a:extLst>
              <a:ext uri="{FF2B5EF4-FFF2-40B4-BE49-F238E27FC236}">
                <a16:creationId xmlns:a16="http://schemas.microsoft.com/office/drawing/2014/main" id="{309F0ED6-C3FE-5326-1EF4-6283184C0C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1" y="1609130"/>
            <a:ext cx="8929736" cy="4300045"/>
          </a:xfrm>
          <a:prstGeom prst="rect">
            <a:avLst/>
          </a:prstGeom>
        </p:spPr>
      </p:pic>
    </p:spTree>
    <p:extLst>
      <p:ext uri="{BB962C8B-B14F-4D97-AF65-F5344CB8AC3E}">
        <p14:creationId xmlns:p14="http://schemas.microsoft.com/office/powerpoint/2010/main" val="327978651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2822-AB37-9688-62A3-3F901A7DB6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B23181-CC19-E1C6-5B70-FFD56F63B37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DDD90C-2184-F1F1-FF33-96042334406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1BF8F17-1984-2DEE-90BC-AFD04583C36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C349193-3E16-9D04-1A94-6F8BB2E8D0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54BEE4-A4DB-7346-5AF2-4F090739731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3453EB0-9F87-F49B-DCA6-B436E7E79D05}"/>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6 – Security &amp; Access</a:t>
            </a:r>
          </a:p>
        </p:txBody>
      </p:sp>
      <p:pic>
        <p:nvPicPr>
          <p:cNvPr id="10" name="Picture 9" descr="A blue and white table with text&#10;&#10;AI-generated content may be incorrect.">
            <a:extLst>
              <a:ext uri="{FF2B5EF4-FFF2-40B4-BE49-F238E27FC236}">
                <a16:creationId xmlns:a16="http://schemas.microsoft.com/office/drawing/2014/main" id="{1CE57BB0-A6F0-8840-482D-95F12167CB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647866"/>
            <a:ext cx="8915399" cy="4261309"/>
          </a:xfrm>
          <a:prstGeom prst="rect">
            <a:avLst/>
          </a:prstGeom>
        </p:spPr>
      </p:pic>
    </p:spTree>
    <p:extLst>
      <p:ext uri="{BB962C8B-B14F-4D97-AF65-F5344CB8AC3E}">
        <p14:creationId xmlns:p14="http://schemas.microsoft.com/office/powerpoint/2010/main" val="359651092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0090-756A-AD6B-4520-886A8FD133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0A05D9-D3C8-4F61-943E-344EDA6BFB9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03F9F4-095E-9FCF-C2E6-A67161BCBB0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83D836-24D2-03C8-891D-C5C9F3F5AAB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C67261-9A62-87D1-AD0F-746F24FFA8D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A47C44-8E5C-2908-66A0-E616EA53EEA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1C1BA0-E486-D72A-5DC0-57C411B207F8}"/>
              </a:ext>
            </a:extLst>
          </p:cNvPr>
          <p:cNvSpPr txBox="1">
            <a:spLocks/>
          </p:cNvSpPr>
          <p:nvPr/>
        </p:nvSpPr>
        <p:spPr>
          <a:xfrm>
            <a:off x="0" y="685800"/>
            <a:ext cx="8915399" cy="6463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Summary Mapping</a:t>
            </a:r>
          </a:p>
        </p:txBody>
      </p:sp>
      <p:graphicFrame>
        <p:nvGraphicFramePr>
          <p:cNvPr id="9" name="Table 8">
            <a:extLst>
              <a:ext uri="{FF2B5EF4-FFF2-40B4-BE49-F238E27FC236}">
                <a16:creationId xmlns:a16="http://schemas.microsoft.com/office/drawing/2014/main" id="{F24C4062-D69B-BC21-548D-BE8CD779BE08}"/>
              </a:ext>
            </a:extLst>
          </p:cNvPr>
          <p:cNvGraphicFramePr>
            <a:graphicFrameLocks noGrp="1"/>
          </p:cNvGraphicFramePr>
          <p:nvPr/>
        </p:nvGraphicFramePr>
        <p:xfrm>
          <a:off x="0" y="1332131"/>
          <a:ext cx="9067800" cy="4577043"/>
        </p:xfrm>
        <a:graphic>
          <a:graphicData uri="http://schemas.openxmlformats.org/drawingml/2006/table">
            <a:tbl>
              <a:tblPr firstRow="1" bandRow="1">
                <a:tableStyleId>{5C22544A-7EE6-4342-B048-85BDC9FD1C3A}</a:tableStyleId>
              </a:tblPr>
              <a:tblGrid>
                <a:gridCol w="4533900">
                  <a:extLst>
                    <a:ext uri="{9D8B030D-6E8A-4147-A177-3AD203B41FA5}">
                      <a16:colId xmlns:a16="http://schemas.microsoft.com/office/drawing/2014/main" val="1407168732"/>
                    </a:ext>
                  </a:extLst>
                </a:gridCol>
                <a:gridCol w="4533900">
                  <a:extLst>
                    <a:ext uri="{9D8B030D-6E8A-4147-A177-3AD203B41FA5}">
                      <a16:colId xmlns:a16="http://schemas.microsoft.com/office/drawing/2014/main" val="3886616718"/>
                    </a:ext>
                  </a:extLst>
                </a:gridCol>
              </a:tblGrid>
              <a:tr h="860757">
                <a:tc>
                  <a:txBody>
                    <a:bodyPr/>
                    <a:lstStyle/>
                    <a:p>
                      <a:r>
                        <a:rPr lang="en-IN" dirty="0"/>
                        <a:t>Use Case</a:t>
                      </a:r>
                    </a:p>
                  </a:txBody>
                  <a:tcPr/>
                </a:tc>
                <a:tc>
                  <a:txBody>
                    <a:bodyPr/>
                    <a:lstStyle/>
                    <a:p>
                      <a:r>
                        <a:rPr lang="en-IN" dirty="0"/>
                        <a:t>Recommended Stack</a:t>
                      </a:r>
                    </a:p>
                    <a:p>
                      <a:endParaRPr lang="en-IN" dirty="0"/>
                    </a:p>
                  </a:txBody>
                  <a:tcPr/>
                </a:tc>
                <a:extLst>
                  <a:ext uri="{0D108BD9-81ED-4DB2-BD59-A6C34878D82A}">
                    <a16:rowId xmlns:a16="http://schemas.microsoft.com/office/drawing/2014/main" val="3731846339"/>
                  </a:ext>
                </a:extLst>
              </a:tr>
              <a:tr h="860757">
                <a:tc>
                  <a:txBody>
                    <a:bodyPr/>
                    <a:lstStyle/>
                    <a:p>
                      <a:r>
                        <a:rPr lang="en-IN" dirty="0"/>
                        <a:t>Enterprise hybrid</a:t>
                      </a:r>
                    </a:p>
                  </a:txBody>
                  <a:tcPr/>
                </a:tc>
                <a:tc>
                  <a:txBody>
                    <a:bodyPr/>
                    <a:lstStyle/>
                    <a:p>
                      <a:r>
                        <a:rPr lang="en-US" dirty="0"/>
                        <a:t>VMware Cloud Foundation + NSX + </a:t>
                      </a:r>
                      <a:r>
                        <a:rPr lang="en-US" dirty="0" err="1"/>
                        <a:t>vRealize</a:t>
                      </a:r>
                      <a:r>
                        <a:rPr lang="en-US" dirty="0"/>
                        <a:t> + Tanzu</a:t>
                      </a:r>
                    </a:p>
                  </a:txBody>
                  <a:tcPr/>
                </a:tc>
                <a:extLst>
                  <a:ext uri="{0D108BD9-81ED-4DB2-BD59-A6C34878D82A}">
                    <a16:rowId xmlns:a16="http://schemas.microsoft.com/office/drawing/2014/main" val="1436082585"/>
                  </a:ext>
                </a:extLst>
              </a:tr>
              <a:tr h="860757">
                <a:tc>
                  <a:txBody>
                    <a:bodyPr/>
                    <a:lstStyle/>
                    <a:p>
                      <a:r>
                        <a:rPr lang="en-IN" dirty="0"/>
                        <a:t>Open-source enterprise</a:t>
                      </a:r>
                    </a:p>
                  </a:txBody>
                  <a:tcPr/>
                </a:tc>
                <a:tc>
                  <a:txBody>
                    <a:bodyPr/>
                    <a:lstStyle/>
                    <a:p>
                      <a:r>
                        <a:rPr lang="en-US" dirty="0"/>
                        <a:t>Red Hat OpenStack + Ceph + Ansible + Prometheus</a:t>
                      </a:r>
                    </a:p>
                  </a:txBody>
                  <a:tcPr/>
                </a:tc>
                <a:extLst>
                  <a:ext uri="{0D108BD9-81ED-4DB2-BD59-A6C34878D82A}">
                    <a16:rowId xmlns:a16="http://schemas.microsoft.com/office/drawing/2014/main" val="2159023703"/>
                  </a:ext>
                </a:extLst>
              </a:tr>
              <a:tr h="498693">
                <a:tc>
                  <a:txBody>
                    <a:bodyPr/>
                    <a:lstStyle/>
                    <a:p>
                      <a:r>
                        <a:rPr lang="en-IN" dirty="0"/>
                        <a:t>SMB / cost-efficient</a:t>
                      </a:r>
                    </a:p>
                  </a:txBody>
                  <a:tcPr/>
                </a:tc>
                <a:tc>
                  <a:txBody>
                    <a:bodyPr/>
                    <a:lstStyle/>
                    <a:p>
                      <a:r>
                        <a:rPr lang="en-IN" dirty="0" err="1"/>
                        <a:t>Proxmox</a:t>
                      </a:r>
                      <a:r>
                        <a:rPr lang="en-IN" dirty="0"/>
                        <a:t> + Ceph + Terraform + Zabbix</a:t>
                      </a:r>
                    </a:p>
                  </a:txBody>
                  <a:tcPr/>
                </a:tc>
                <a:extLst>
                  <a:ext uri="{0D108BD9-81ED-4DB2-BD59-A6C34878D82A}">
                    <a16:rowId xmlns:a16="http://schemas.microsoft.com/office/drawing/2014/main" val="313340909"/>
                  </a:ext>
                </a:extLst>
              </a:tr>
              <a:tr h="498693">
                <a:tc>
                  <a:txBody>
                    <a:bodyPr/>
                    <a:lstStyle/>
                    <a:p>
                      <a:r>
                        <a:rPr lang="en-IN" dirty="0"/>
                        <a:t>Cloud-native / DevOps</a:t>
                      </a:r>
                    </a:p>
                  </a:txBody>
                  <a:tcPr/>
                </a:tc>
                <a:tc>
                  <a:txBody>
                    <a:bodyPr/>
                    <a:lstStyle/>
                    <a:p>
                      <a:r>
                        <a:rPr lang="en-IN" dirty="0"/>
                        <a:t>OpenShift / Rancher + Longhorn + Vault</a:t>
                      </a:r>
                    </a:p>
                  </a:txBody>
                  <a:tcPr/>
                </a:tc>
                <a:extLst>
                  <a:ext uri="{0D108BD9-81ED-4DB2-BD59-A6C34878D82A}">
                    <a16:rowId xmlns:a16="http://schemas.microsoft.com/office/drawing/2014/main" val="3493762980"/>
                  </a:ext>
                </a:extLst>
              </a:tr>
              <a:tr h="498693">
                <a:tc>
                  <a:txBody>
                    <a:bodyPr/>
                    <a:lstStyle/>
                    <a:p>
                      <a:r>
                        <a:rPr lang="en-IN" dirty="0"/>
                        <a:t>Edge / lightweight</a:t>
                      </a:r>
                    </a:p>
                  </a:txBody>
                  <a:tcPr/>
                </a:tc>
                <a:tc>
                  <a:txBody>
                    <a:bodyPr/>
                    <a:lstStyle/>
                    <a:p>
                      <a:r>
                        <a:rPr lang="en-US" dirty="0"/>
                        <a:t>K3s + </a:t>
                      </a:r>
                      <a:r>
                        <a:rPr lang="en-US" dirty="0" err="1"/>
                        <a:t>OpenNebula</a:t>
                      </a:r>
                      <a:r>
                        <a:rPr lang="en-US" dirty="0"/>
                        <a:t> Edge + Prometheus Lite</a:t>
                      </a:r>
                    </a:p>
                  </a:txBody>
                  <a:tcPr/>
                </a:tc>
                <a:extLst>
                  <a:ext uri="{0D108BD9-81ED-4DB2-BD59-A6C34878D82A}">
                    <a16:rowId xmlns:a16="http://schemas.microsoft.com/office/drawing/2014/main" val="192069350"/>
                  </a:ext>
                </a:extLst>
              </a:tr>
              <a:tr h="498693">
                <a:tc>
                  <a:txBody>
                    <a:bodyPr/>
                    <a:lstStyle/>
                    <a:p>
                      <a:r>
                        <a:rPr lang="en-IN" dirty="0"/>
                        <a:t>Multi-cloud orchestration</a:t>
                      </a:r>
                    </a:p>
                  </a:txBody>
                  <a:tcPr/>
                </a:tc>
                <a:tc>
                  <a:txBody>
                    <a:bodyPr/>
                    <a:lstStyle/>
                    <a:p>
                      <a:r>
                        <a:rPr lang="en-IN" dirty="0"/>
                        <a:t>Anthos / Azure Arc / </a:t>
                      </a:r>
                      <a:r>
                        <a:rPr lang="en-IN" dirty="0" err="1"/>
                        <a:t>HashiCorp</a:t>
                      </a:r>
                      <a:r>
                        <a:rPr lang="en-IN" dirty="0"/>
                        <a:t> Suite</a:t>
                      </a:r>
                    </a:p>
                  </a:txBody>
                  <a:tcPr/>
                </a:tc>
                <a:extLst>
                  <a:ext uri="{0D108BD9-81ED-4DB2-BD59-A6C34878D82A}">
                    <a16:rowId xmlns:a16="http://schemas.microsoft.com/office/drawing/2014/main" val="2796969781"/>
                  </a:ext>
                </a:extLst>
              </a:tr>
            </a:tbl>
          </a:graphicData>
        </a:graphic>
      </p:graphicFrame>
    </p:spTree>
    <p:extLst>
      <p:ext uri="{BB962C8B-B14F-4D97-AF65-F5344CB8AC3E}">
        <p14:creationId xmlns:p14="http://schemas.microsoft.com/office/powerpoint/2010/main" val="130331809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F727-3211-708D-F36E-39E1BE82A2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3805B5-2A19-DD1C-D26D-BCB20746768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6A2B26-9299-C9C4-7BED-5FD7E89215B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8FE548E-8334-3D7E-876C-432DDBBCE16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07EB5D9-177D-BEF4-598E-819B8CA306A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3D25EB8-50BF-129C-1107-B27F7056A8B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179E7EA-E74C-B5C4-BB48-4175533BC4AC}"/>
              </a:ext>
            </a:extLst>
          </p:cNvPr>
          <p:cNvSpPr txBox="1">
            <a:spLocks/>
          </p:cNvSpPr>
          <p:nvPr/>
        </p:nvSpPr>
        <p:spPr>
          <a:xfrm>
            <a:off x="0" y="685800"/>
            <a:ext cx="8915399" cy="60016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1️⃣ What “Enterprise-Grade Private Cloud” REALLY Means</a:t>
            </a:r>
          </a:p>
          <a:p>
            <a:pPr marL="12700" marR="5080"/>
            <a:r>
              <a:rPr lang="en-US" sz="1500" kern="0" spc="-80" dirty="0">
                <a:solidFill>
                  <a:schemeClr val="accent6"/>
                </a:solidFill>
              </a:rPr>
              <a:t>A private cloud is not just “VMware + some VMs”.</a:t>
            </a:r>
          </a:p>
          <a:p>
            <a:pPr marL="12700" marR="5080"/>
            <a:r>
              <a:rPr lang="en-US" sz="1500" kern="0" spc="-80" dirty="0">
                <a:solidFill>
                  <a:schemeClr val="accent2"/>
                </a:solidFill>
              </a:rPr>
              <a:t>Enterprise-grade means:</a:t>
            </a:r>
          </a:p>
          <a:p>
            <a:pPr marL="12700" marR="5080"/>
            <a:r>
              <a:rPr lang="en-US" sz="1500" kern="0" spc="-80" dirty="0">
                <a:solidFill>
                  <a:schemeClr val="accent2"/>
                </a:solidFill>
              </a:rPr>
              <a:t>Dimension	Requirement</a:t>
            </a:r>
          </a:p>
          <a:p>
            <a:pPr marL="12700" marR="5080"/>
            <a:r>
              <a:rPr lang="en-US" sz="1500" kern="0" spc="-80" dirty="0">
                <a:solidFill>
                  <a:schemeClr val="accent6"/>
                </a:solidFill>
              </a:rPr>
              <a:t>Multi-tenancy	Business units isolated but share infra</a:t>
            </a:r>
          </a:p>
          <a:p>
            <a:pPr marL="12700" marR="5080"/>
            <a:r>
              <a:rPr lang="en-US" sz="1500" kern="0" spc="-80" dirty="0">
                <a:solidFill>
                  <a:schemeClr val="accent6"/>
                </a:solidFill>
              </a:rPr>
              <a:t>Self-service	Developers provision without tickets</a:t>
            </a:r>
          </a:p>
          <a:p>
            <a:pPr marL="12700" marR="5080"/>
            <a:r>
              <a:rPr lang="en-US" sz="1500" kern="0" spc="-80" dirty="0">
                <a:solidFill>
                  <a:schemeClr val="accent6"/>
                </a:solidFill>
              </a:rPr>
              <a:t>Elasticity	                  Scale on demand</a:t>
            </a:r>
          </a:p>
          <a:p>
            <a:pPr marL="12700" marR="5080"/>
            <a:r>
              <a:rPr lang="en-US" sz="1500" kern="0" spc="-80" dirty="0">
                <a:solidFill>
                  <a:schemeClr val="accent6"/>
                </a:solidFill>
              </a:rPr>
              <a:t>Security	                  Zero-trust, compliance, audit</a:t>
            </a:r>
          </a:p>
          <a:p>
            <a:pPr marL="12700" marR="5080"/>
            <a:r>
              <a:rPr lang="en-US" sz="1500" kern="0" spc="-80" dirty="0">
                <a:solidFill>
                  <a:schemeClr val="accent6"/>
                </a:solidFill>
              </a:rPr>
              <a:t>Reliability	                  HA, DR, fault tolerance</a:t>
            </a:r>
          </a:p>
          <a:p>
            <a:pPr marL="12700" marR="5080"/>
            <a:r>
              <a:rPr lang="en-US" sz="1500" kern="0" spc="-80" dirty="0">
                <a:solidFill>
                  <a:schemeClr val="accent6"/>
                </a:solidFill>
              </a:rPr>
              <a:t>Governance	Cost, policy, approvals</a:t>
            </a:r>
          </a:p>
          <a:p>
            <a:pPr marL="12700" marR="5080"/>
            <a:r>
              <a:rPr lang="en-US" sz="1500" kern="0" spc="-80" dirty="0">
                <a:solidFill>
                  <a:schemeClr val="accent6"/>
                </a:solidFill>
              </a:rPr>
              <a:t>Automation	No manual server work</a:t>
            </a:r>
          </a:p>
          <a:p>
            <a:pPr marL="12700" marR="5080"/>
            <a:r>
              <a:rPr lang="en-US" sz="1500" kern="0" spc="-80" dirty="0">
                <a:solidFill>
                  <a:schemeClr val="accent6"/>
                </a:solidFill>
              </a:rPr>
              <a:t>Observability	Logs, metrics, traces</a:t>
            </a:r>
          </a:p>
          <a:p>
            <a:pPr marL="12700" marR="5080"/>
            <a:r>
              <a:rPr lang="en-US" sz="1500" kern="0" spc="-80" dirty="0">
                <a:solidFill>
                  <a:schemeClr val="accent6"/>
                </a:solidFill>
              </a:rPr>
              <a:t>Lifecycle </a:t>
            </a:r>
            <a:r>
              <a:rPr lang="en-US" sz="1500" kern="0" spc="-80" dirty="0" err="1">
                <a:solidFill>
                  <a:schemeClr val="accent6"/>
                </a:solidFill>
              </a:rPr>
              <a:t>mgmt</a:t>
            </a:r>
            <a:r>
              <a:rPr lang="en-US" sz="1500" kern="0" spc="-80" dirty="0">
                <a:solidFill>
                  <a:schemeClr val="accent6"/>
                </a:solidFill>
              </a:rPr>
              <a:t>	Patch, upgrade, decommission</a:t>
            </a:r>
          </a:p>
          <a:p>
            <a:pPr marL="12700" marR="5080"/>
            <a:endParaRPr lang="en-US" sz="1500" kern="0" spc="-80" dirty="0">
              <a:solidFill>
                <a:schemeClr val="accent6"/>
              </a:solidFill>
            </a:endParaRPr>
          </a:p>
          <a:p>
            <a:pPr marL="12700" marR="5080"/>
            <a:r>
              <a:rPr lang="en-US" sz="1500" kern="0" spc="-80" dirty="0">
                <a:solidFill>
                  <a:schemeClr val="accent2"/>
                </a:solidFill>
              </a:rPr>
              <a:t>2️⃣ Reference Architecture (Bird’s-Eye View)</a:t>
            </a:r>
          </a:p>
          <a:p>
            <a:pPr marL="12700" marR="5080"/>
            <a:r>
              <a:rPr lang="en-US" sz="1500" kern="0" spc="-80" dirty="0">
                <a:solidFill>
                  <a:schemeClr val="accent6"/>
                </a:solidFill>
              </a:rPr>
              <a:t>┌────────────────────────────────────────────┐</a:t>
            </a:r>
          </a:p>
          <a:p>
            <a:pPr marL="12700" marR="5080"/>
            <a:r>
              <a:rPr lang="en-US" sz="1500" kern="0" spc="-80" dirty="0">
                <a:solidFill>
                  <a:schemeClr val="accent6"/>
                </a:solidFill>
              </a:rPr>
              <a:t>│              Enterprise Portal              │</a:t>
            </a:r>
          </a:p>
          <a:p>
            <a:pPr marL="12700" marR="5080"/>
            <a:r>
              <a:rPr lang="en-US" sz="1500" kern="0" spc="-80" dirty="0">
                <a:solidFill>
                  <a:schemeClr val="accent6"/>
                </a:solidFill>
              </a:rPr>
              <a:t>│  (Self-service, approvals, cost visibility)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800" kern="0" spc="-80" dirty="0">
              <a:solidFill>
                <a:schemeClr val="accent6"/>
              </a:solidFill>
            </a:endParaRPr>
          </a:p>
          <a:p>
            <a:pPr marL="12700" marR="5080"/>
            <a:endParaRPr lang="en-US" sz="1800" kern="0" spc="-80" dirty="0">
              <a:solidFill>
                <a:schemeClr val="accent6"/>
              </a:solidFill>
            </a:endParaRPr>
          </a:p>
        </p:txBody>
      </p:sp>
    </p:spTree>
    <p:extLst>
      <p:ext uri="{BB962C8B-B14F-4D97-AF65-F5344CB8AC3E}">
        <p14:creationId xmlns:p14="http://schemas.microsoft.com/office/powerpoint/2010/main" val="150547300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B940-11C8-8110-2DDF-3D4CCD5E9B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AB8423-FBD1-73B8-1F68-4767EEA6429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8B88DB-B8A1-CECE-F4D4-CED707B9724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E53F270-DAF8-7C10-9EAD-A23647EC6CF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F80359D-DDD3-54DE-57CC-07028ED4CC6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22A5474-761F-9D76-0BB3-B54B4ADCE9C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8B73377-2C6D-4698-46B7-0F6EFB7D2926}"/>
              </a:ext>
            </a:extLst>
          </p:cNvPr>
          <p:cNvSpPr txBox="1">
            <a:spLocks/>
          </p:cNvSpPr>
          <p:nvPr/>
        </p:nvSpPr>
        <p:spPr>
          <a:xfrm>
            <a:off x="0" y="685800"/>
            <a:ext cx="8915399"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800" kern="0" spc="-80" dirty="0">
                <a:solidFill>
                  <a:schemeClr val="accent2"/>
                </a:solidFill>
              </a:rPr>
              <a:t>2️⃣ Reference Architecture (Bird’s-Eye View)</a:t>
            </a:r>
          </a:p>
          <a:p>
            <a:pPr marL="12700" marR="5080"/>
            <a:r>
              <a:rPr lang="en-US" sz="1800" kern="0" spc="-80" dirty="0">
                <a:solidFill>
                  <a:schemeClr val="accent6"/>
                </a:solidFill>
              </a:rPr>
              <a:t>                 </a:t>
            </a:r>
            <a:r>
              <a:rPr lang="en-US" sz="1500" kern="0" spc="-80" dirty="0">
                <a:solidFill>
                  <a:schemeClr val="accent6"/>
                </a:solidFill>
              </a:rPr>
              <a:t>↓</a:t>
            </a:r>
          </a:p>
          <a:p>
            <a:pPr marL="12700" marR="5080"/>
            <a:r>
              <a:rPr lang="en-US" sz="1500" kern="0" spc="-80" dirty="0">
                <a:solidFill>
                  <a:schemeClr val="accent6"/>
                </a:solidFill>
              </a:rPr>
              <a:t>┌────────────────────────────────────────────┐</a:t>
            </a:r>
          </a:p>
          <a:p>
            <a:pPr marL="12700" marR="5080"/>
            <a:r>
              <a:rPr lang="en-US" sz="1500" kern="0" spc="-80" dirty="0">
                <a:solidFill>
                  <a:schemeClr val="accent6"/>
                </a:solidFill>
              </a:rPr>
              <a:t>│        Cloud Management Platform (CMP)               │</a:t>
            </a:r>
          </a:p>
          <a:p>
            <a:pPr marL="12700" marR="5080"/>
            <a:r>
              <a:rPr lang="en-US" sz="1500" kern="0" spc="-80" dirty="0">
                <a:solidFill>
                  <a:schemeClr val="accent6"/>
                </a:solidFill>
              </a:rPr>
              <a:t>│  (VMware Aria / OpenStack Horizon / Morpheus│</a:t>
            </a:r>
          </a:p>
          <a:p>
            <a:pPr marL="12700" marR="5080"/>
            <a:r>
              <a:rPr lang="en-US" sz="1500" kern="0" spc="-80" dirty="0">
                <a:solidFill>
                  <a:schemeClr val="accent6"/>
                </a:solidFill>
              </a:rPr>
              <a:t>│   / ServiceNow + Terraform)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Control Plane (K8s + Virtualization)                  │</a:t>
            </a:r>
          </a:p>
          <a:p>
            <a:pPr marL="12700" marR="5080"/>
            <a:r>
              <a:rPr lang="en-US" sz="1500" kern="0" spc="-80" dirty="0">
                <a:solidFill>
                  <a:schemeClr val="accent6"/>
                </a:solidFill>
              </a:rPr>
              <a:t>│  - Kubernetes (AKS-HCI / OpenShift / TKG)          │</a:t>
            </a:r>
          </a:p>
          <a:p>
            <a:pPr marL="12700" marR="5080"/>
            <a:r>
              <a:rPr lang="en-US" sz="1500" kern="0" spc="-80" dirty="0">
                <a:solidFill>
                  <a:schemeClr val="accent6"/>
                </a:solidFill>
              </a:rPr>
              <a:t>│  - VM Platform (vSphere / KVM)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Software-Defined Infrastructure (SDI)                 │</a:t>
            </a:r>
          </a:p>
          <a:p>
            <a:pPr marL="12700" marR="5080"/>
            <a:r>
              <a:rPr lang="en-US" sz="1500" kern="0" spc="-80" dirty="0">
                <a:solidFill>
                  <a:schemeClr val="accent6"/>
                </a:solidFill>
              </a:rPr>
              <a:t>│  - Compute (Bare metal)                                          │</a:t>
            </a:r>
          </a:p>
          <a:p>
            <a:pPr marL="12700" marR="5080"/>
            <a:r>
              <a:rPr lang="en-US" sz="1500" kern="0" spc="-80" dirty="0">
                <a:solidFill>
                  <a:schemeClr val="accent6"/>
                </a:solidFill>
              </a:rPr>
              <a:t>│  - Storage (Ceph / </a:t>
            </a:r>
            <a:r>
              <a:rPr lang="en-US" sz="1500" kern="0" spc="-80" dirty="0" err="1">
                <a:solidFill>
                  <a:schemeClr val="accent6"/>
                </a:solidFill>
              </a:rPr>
              <a:t>vSAN</a:t>
            </a:r>
            <a:r>
              <a:rPr lang="en-US" sz="1500" kern="0" spc="-80" dirty="0">
                <a:solidFill>
                  <a:schemeClr val="accent6"/>
                </a:solidFill>
              </a:rPr>
              <a:t>)                                         │</a:t>
            </a:r>
          </a:p>
          <a:p>
            <a:pPr marL="12700" marR="5080"/>
            <a:r>
              <a:rPr lang="en-US" sz="1500" kern="0" spc="-80" dirty="0">
                <a:solidFill>
                  <a:schemeClr val="accent6"/>
                </a:solidFill>
              </a:rPr>
              <a:t>│  - Network (NSX / Calico / OVN)                            │</a:t>
            </a:r>
          </a:p>
          <a:p>
            <a:pPr marL="12700" marR="5080"/>
            <a:r>
              <a:rPr lang="en-US" sz="1800" kern="0" spc="-80" dirty="0">
                <a:solidFill>
                  <a:schemeClr val="accent6"/>
                </a:solidFill>
              </a:rPr>
              <a:t>└───────────────────────────────────────</a:t>
            </a:r>
          </a:p>
        </p:txBody>
      </p:sp>
    </p:spTree>
    <p:extLst>
      <p:ext uri="{BB962C8B-B14F-4D97-AF65-F5344CB8AC3E}">
        <p14:creationId xmlns:p14="http://schemas.microsoft.com/office/powerpoint/2010/main" val="294724871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FF06-4259-3B96-21C9-4880039A67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879903-5E81-D193-D81B-AF98BF48B7B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B59C13-FDEB-3AE1-2674-2B0B0DE6D1B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0FD309A-62B7-9C46-4D6A-B660CDF76C9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7FF0AD9-1D1B-01B4-496B-EAFD20FF008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3089041-C6EA-E39B-AE84-3B32FEA2A57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E4C7CA6-1AEE-A6B6-6BAF-ECE7C6B8AA4F}"/>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2️⃣ Reference Architecture (Bird’s-Eye View)</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Physical Datacenter            │</a:t>
            </a:r>
          </a:p>
          <a:p>
            <a:pPr marL="12700" marR="5080"/>
            <a:r>
              <a:rPr lang="en-US" sz="1500" kern="0" spc="-80" dirty="0">
                <a:solidFill>
                  <a:schemeClr val="accent6"/>
                </a:solidFill>
              </a:rPr>
              <a:t>│  - Racks, Power, Cooling, Network │</a:t>
            </a:r>
          </a:p>
          <a:p>
            <a:pPr marL="12700" marR="5080"/>
            <a:r>
              <a:rPr lang="en-US" sz="1500" kern="0" spc="-80" dirty="0">
                <a:solidFill>
                  <a:schemeClr val="accent6"/>
                </a:solidFill>
              </a:rPr>
              <a:t>└────────────────────────────────────────────┘</a:t>
            </a:r>
          </a:p>
          <a:p>
            <a:pPr marL="12700" marR="5080"/>
            <a:r>
              <a:rPr lang="en-US" sz="1500" kern="0" spc="-80" dirty="0">
                <a:solidFill>
                  <a:schemeClr val="accent2"/>
                </a:solidFill>
              </a:rPr>
              <a:t>3️⃣ Step-by-Step E2E Implementation (Real Example)</a:t>
            </a:r>
          </a:p>
          <a:p>
            <a:pPr marL="12700" marR="5080"/>
            <a:r>
              <a:rPr lang="en-US" sz="1500" kern="0" spc="-80" dirty="0">
                <a:solidFill>
                  <a:schemeClr val="accent2"/>
                </a:solidFill>
              </a:rPr>
              <a:t>Let’s assume a bank building its own private cloud.</a:t>
            </a:r>
          </a:p>
          <a:p>
            <a:pPr marL="12700" marR="5080"/>
            <a:r>
              <a:rPr lang="en-US" sz="1500" kern="0" spc="-80" dirty="0">
                <a:solidFill>
                  <a:schemeClr val="accent2"/>
                </a:solidFill>
              </a:rPr>
              <a:t>STEP 1: Physical Infrastructure Layer</a:t>
            </a:r>
          </a:p>
          <a:p>
            <a:pPr marL="12700" marR="5080"/>
            <a:r>
              <a:rPr lang="en-US" sz="1500" kern="0" spc="-80" dirty="0">
                <a:solidFill>
                  <a:schemeClr val="accent2"/>
                </a:solidFill>
              </a:rPr>
              <a:t>Hardware</a:t>
            </a:r>
          </a:p>
          <a:p>
            <a:pPr marL="12700" marR="5080"/>
            <a:r>
              <a:rPr lang="en-US" sz="1500" kern="0" spc="-80" dirty="0">
                <a:solidFill>
                  <a:schemeClr val="accent2"/>
                </a:solidFill>
              </a:rPr>
              <a:t>Compute:</a:t>
            </a:r>
            <a:r>
              <a:rPr lang="en-US" sz="1500" kern="0" spc="-80" dirty="0">
                <a:solidFill>
                  <a:schemeClr val="accent6"/>
                </a:solidFill>
              </a:rPr>
              <a:t> Dell PowerEdge / HPE ProLiant</a:t>
            </a:r>
          </a:p>
          <a:p>
            <a:pPr marL="12700" marR="5080"/>
            <a:r>
              <a:rPr lang="en-US" sz="1500" kern="0" spc="-80" dirty="0">
                <a:solidFill>
                  <a:schemeClr val="accent2"/>
                </a:solidFill>
              </a:rPr>
              <a:t>CPU: </a:t>
            </a:r>
            <a:r>
              <a:rPr lang="en-US" sz="1500" kern="0" spc="-80" dirty="0">
                <a:solidFill>
                  <a:schemeClr val="accent6"/>
                </a:solidFill>
              </a:rPr>
              <a:t>Dual Xeon / EPYC</a:t>
            </a:r>
          </a:p>
          <a:p>
            <a:pPr marL="12700" marR="5080"/>
            <a:r>
              <a:rPr lang="en-US" sz="1500" kern="0" spc="-80" dirty="0">
                <a:solidFill>
                  <a:schemeClr val="accent2"/>
                </a:solidFill>
              </a:rPr>
              <a:t>RAM:</a:t>
            </a:r>
            <a:r>
              <a:rPr lang="en-US" sz="1500" kern="0" spc="-80" dirty="0">
                <a:solidFill>
                  <a:schemeClr val="accent6"/>
                </a:solidFill>
              </a:rPr>
              <a:t> 512 GB per node</a:t>
            </a:r>
          </a:p>
          <a:p>
            <a:pPr marL="12700" marR="5080"/>
            <a:r>
              <a:rPr lang="en-US" sz="1500" kern="0" spc="-80" dirty="0">
                <a:solidFill>
                  <a:schemeClr val="accent2"/>
                </a:solidFill>
              </a:rPr>
              <a:t>NICs:</a:t>
            </a:r>
            <a:r>
              <a:rPr lang="en-US" sz="1500" kern="0" spc="-80" dirty="0">
                <a:solidFill>
                  <a:schemeClr val="accent6"/>
                </a:solidFill>
              </a:rPr>
              <a:t> Dual 25/40 Gbps</a:t>
            </a:r>
          </a:p>
          <a:p>
            <a:pPr marL="12700" marR="5080"/>
            <a:r>
              <a:rPr lang="en-US" sz="1500" kern="0" spc="-80" dirty="0">
                <a:solidFill>
                  <a:schemeClr val="accent2"/>
                </a:solidFill>
              </a:rPr>
              <a:t>Disk: </a:t>
            </a:r>
            <a:r>
              <a:rPr lang="en-US" sz="1500" kern="0" spc="-80" dirty="0" err="1">
                <a:solidFill>
                  <a:schemeClr val="accent6"/>
                </a:solidFill>
              </a:rPr>
              <a:t>NVMe</a:t>
            </a:r>
            <a:r>
              <a:rPr lang="en-US" sz="1500" kern="0" spc="-80" dirty="0">
                <a:solidFill>
                  <a:schemeClr val="accent6"/>
                </a:solidFill>
              </a:rPr>
              <a:t> + SSD</a:t>
            </a:r>
          </a:p>
          <a:p>
            <a:pPr marL="12700" marR="5080"/>
            <a:r>
              <a:rPr lang="en-US" sz="1600" kern="0" spc="-80" dirty="0">
                <a:solidFill>
                  <a:schemeClr val="accent2"/>
                </a:solidFill>
              </a:rPr>
              <a:t>Network</a:t>
            </a:r>
          </a:p>
          <a:p>
            <a:pPr marL="12700" marR="5080"/>
            <a:r>
              <a:rPr lang="en-US" sz="1600" kern="0" spc="-80" dirty="0">
                <a:solidFill>
                  <a:schemeClr val="accent6"/>
                </a:solidFill>
              </a:rPr>
              <a:t>Leaf-Spine topology</a:t>
            </a:r>
          </a:p>
          <a:p>
            <a:pPr marL="12700" marR="5080"/>
            <a:r>
              <a:rPr lang="en-US" sz="1600" kern="0" spc="-80" dirty="0">
                <a:solidFill>
                  <a:schemeClr val="accent6"/>
                </a:solidFill>
              </a:rPr>
              <a:t>Redundant TOR switches</a:t>
            </a:r>
          </a:p>
          <a:p>
            <a:pPr marL="12700" marR="5080"/>
            <a:r>
              <a:rPr lang="en-US" sz="1600" kern="0" spc="-80" dirty="0">
                <a:solidFill>
                  <a:schemeClr val="accent2"/>
                </a:solidFill>
              </a:rPr>
              <a:t>Separate VLANs:</a:t>
            </a:r>
          </a:p>
          <a:p>
            <a:pPr marL="12700" marR="5080"/>
            <a:r>
              <a:rPr lang="en-US" sz="1600" kern="0" spc="-80" dirty="0">
                <a:solidFill>
                  <a:schemeClr val="accent6"/>
                </a:solidFill>
              </a:rPr>
              <a:t>Management</a:t>
            </a:r>
          </a:p>
          <a:p>
            <a:pPr marL="12700" marR="5080"/>
            <a:r>
              <a:rPr lang="en-US" sz="1600" kern="0" spc="-80" dirty="0">
                <a:solidFill>
                  <a:schemeClr val="accent6"/>
                </a:solidFill>
              </a:rPr>
              <a:t>Storage</a:t>
            </a:r>
            <a:endParaRPr lang="en-US" sz="1500" kern="0" spc="-80" dirty="0">
              <a:solidFill>
                <a:schemeClr val="accent2"/>
              </a:solidFill>
            </a:endParaRPr>
          </a:p>
        </p:txBody>
      </p:sp>
    </p:spTree>
    <p:extLst>
      <p:ext uri="{BB962C8B-B14F-4D97-AF65-F5344CB8AC3E}">
        <p14:creationId xmlns:p14="http://schemas.microsoft.com/office/powerpoint/2010/main" val="356803908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1DF2-6E3F-F1B0-32F0-67DEE94C37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107817-A1F2-1260-7AEE-27FBE876E96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BEB446-4CA4-9DF0-47E3-18AA042BE21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C44C2B1-F679-AC8B-2708-3CDFBF5ADB6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24F733A-9B17-4BEB-1F64-CFAF42FA23D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EA8B1C4-3C1B-3BCD-721A-5695A1E7C8D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7A49EE2-9877-5709-9CBD-D84F59E549D0}"/>
              </a:ext>
            </a:extLst>
          </p:cNvPr>
          <p:cNvSpPr txBox="1">
            <a:spLocks/>
          </p:cNvSpPr>
          <p:nvPr/>
        </p:nvSpPr>
        <p:spPr>
          <a:xfrm>
            <a:off x="0" y="685800"/>
            <a:ext cx="8915399" cy="57246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800" kern="0" spc="-80" dirty="0">
                <a:solidFill>
                  <a:schemeClr val="accent2"/>
                </a:solidFill>
              </a:rPr>
              <a:t>3️⃣ </a:t>
            </a:r>
            <a:r>
              <a:rPr lang="en-US" sz="1500" kern="0" spc="-80" dirty="0">
                <a:solidFill>
                  <a:schemeClr val="accent2"/>
                </a:solidFill>
              </a:rPr>
              <a:t>Step-by-Step E2E Implementation (Real Example)</a:t>
            </a:r>
          </a:p>
          <a:p>
            <a:pPr marL="12700" marR="5080"/>
            <a:r>
              <a:rPr lang="en-US" sz="1500" kern="0" spc="-80" dirty="0">
                <a:solidFill>
                  <a:schemeClr val="accent2"/>
                </a:solidFill>
              </a:rPr>
              <a:t>STEP 1: Physical Infrastructure Layer</a:t>
            </a:r>
          </a:p>
          <a:p>
            <a:pPr marL="12700" marR="5080"/>
            <a:r>
              <a:rPr lang="en-US" sz="1500" kern="0" spc="-80" dirty="0">
                <a:solidFill>
                  <a:schemeClr val="accent2"/>
                </a:solidFill>
              </a:rPr>
              <a:t>Network</a:t>
            </a:r>
          </a:p>
          <a:p>
            <a:pPr marL="12700" marR="5080"/>
            <a:r>
              <a:rPr lang="en-US" sz="1500" kern="0" spc="-80" dirty="0">
                <a:solidFill>
                  <a:schemeClr val="accent2"/>
                </a:solidFill>
              </a:rPr>
              <a:t>Separate VLANs:</a:t>
            </a:r>
          </a:p>
          <a:p>
            <a:pPr marL="12700" marR="5080"/>
            <a:r>
              <a:rPr lang="en-US" sz="1500" kern="0" spc="-80" dirty="0">
                <a:solidFill>
                  <a:schemeClr val="accent6"/>
                </a:solidFill>
              </a:rPr>
              <a:t>Tenant traffic</a:t>
            </a:r>
          </a:p>
          <a:p>
            <a:pPr marL="12700" marR="5080"/>
            <a:r>
              <a:rPr lang="en-US" sz="1500" kern="0" spc="-80" dirty="0">
                <a:solidFill>
                  <a:schemeClr val="accent6"/>
                </a:solidFill>
              </a:rPr>
              <a:t>Backup</a:t>
            </a:r>
          </a:p>
          <a:p>
            <a:pPr marL="12700" marR="5080"/>
            <a:r>
              <a:rPr lang="en-US" sz="1500" kern="0" spc="-80" dirty="0">
                <a:solidFill>
                  <a:schemeClr val="accent6"/>
                </a:solidFill>
              </a:rPr>
              <a:t>OOB (IPMI)</a:t>
            </a:r>
          </a:p>
          <a:p>
            <a:pPr marL="12700" marR="5080"/>
            <a:endParaRPr lang="en-US" sz="1500" kern="0" spc="-80" dirty="0">
              <a:solidFill>
                <a:schemeClr val="accent6"/>
              </a:solidFill>
            </a:endParaRPr>
          </a:p>
          <a:p>
            <a:pPr marL="12700" marR="5080"/>
            <a:r>
              <a:rPr lang="en-US" sz="1500" kern="0" spc="-80" dirty="0">
                <a:solidFill>
                  <a:schemeClr val="accent2"/>
                </a:solidFill>
              </a:rPr>
              <a:t>STEP 2: Software-Defined Infrastructure (SDI)</a:t>
            </a:r>
          </a:p>
          <a:p>
            <a:pPr marL="12700" marR="5080"/>
            <a:r>
              <a:rPr lang="en-US" sz="1500" kern="0" spc="-80" dirty="0">
                <a:solidFill>
                  <a:schemeClr val="accent6"/>
                </a:solidFill>
              </a:rPr>
              <a:t>Compute Virtualization</a:t>
            </a:r>
          </a:p>
          <a:p>
            <a:pPr marL="12700" marR="5080"/>
            <a:r>
              <a:rPr lang="en-US" sz="1500" kern="0" spc="-80" dirty="0">
                <a:solidFill>
                  <a:schemeClr val="accent2"/>
                </a:solidFill>
              </a:rPr>
              <a:t>Choose one:</a:t>
            </a:r>
          </a:p>
          <a:p>
            <a:pPr marL="12700" marR="5080"/>
            <a:r>
              <a:rPr lang="en-US" sz="1500" kern="0" spc="-80" dirty="0">
                <a:solidFill>
                  <a:schemeClr val="accent6"/>
                </a:solidFill>
              </a:rPr>
              <a:t>VMware vSphere (most enterprises)</a:t>
            </a:r>
          </a:p>
          <a:p>
            <a:pPr marL="12700" marR="5080"/>
            <a:r>
              <a:rPr lang="en-US" sz="1500" kern="0" spc="-80" dirty="0">
                <a:solidFill>
                  <a:schemeClr val="accent6"/>
                </a:solidFill>
              </a:rPr>
              <a:t>KVM (OpenStack)</a:t>
            </a:r>
          </a:p>
          <a:p>
            <a:pPr marL="12700" marR="5080"/>
            <a:r>
              <a:rPr lang="en-US" sz="1500" kern="0" spc="-80" dirty="0">
                <a:solidFill>
                  <a:schemeClr val="accent6"/>
                </a:solidFill>
              </a:rPr>
              <a:t>Hyper-V (Windows heavy shops)</a:t>
            </a:r>
          </a:p>
          <a:p>
            <a:pPr marL="12700" marR="5080"/>
            <a:r>
              <a:rPr lang="en-US" sz="1500" kern="0" spc="-80" dirty="0">
                <a:solidFill>
                  <a:schemeClr val="accent2"/>
                </a:solidFill>
              </a:rPr>
              <a:t>Example:</a:t>
            </a:r>
          </a:p>
          <a:p>
            <a:pPr marL="12700" marR="5080"/>
            <a:r>
              <a:rPr lang="en-US" sz="1500" kern="0" spc="-80" dirty="0">
                <a:solidFill>
                  <a:schemeClr val="accent6"/>
                </a:solidFill>
              </a:rPr>
              <a:t>Bare metal → </a:t>
            </a:r>
            <a:r>
              <a:rPr lang="en-US" sz="1500" kern="0" spc="-80" dirty="0" err="1">
                <a:solidFill>
                  <a:schemeClr val="accent6"/>
                </a:solidFill>
              </a:rPr>
              <a:t>ESXi</a:t>
            </a:r>
            <a:r>
              <a:rPr lang="en-US" sz="1500" kern="0" spc="-80" dirty="0">
                <a:solidFill>
                  <a:schemeClr val="accent6"/>
                </a:solidFill>
              </a:rPr>
              <a:t> → Resource Pools</a:t>
            </a:r>
          </a:p>
          <a:p>
            <a:pPr marL="12700" marR="5080"/>
            <a:r>
              <a:rPr lang="en-US" sz="1500" kern="0" spc="-80" dirty="0">
                <a:solidFill>
                  <a:schemeClr val="accent6"/>
                </a:solidFill>
              </a:rPr>
              <a:t>Storage (Enterprise Pattern)</a:t>
            </a:r>
          </a:p>
          <a:p>
            <a:pPr marL="12700" marR="5080"/>
            <a:r>
              <a:rPr lang="en-US" sz="1500" kern="0" spc="-80" dirty="0">
                <a:solidFill>
                  <a:schemeClr val="accent6"/>
                </a:solidFill>
              </a:rPr>
              <a:t>Ceph or </a:t>
            </a:r>
            <a:r>
              <a:rPr lang="en-US" sz="1500" kern="0" spc="-80" dirty="0" err="1">
                <a:solidFill>
                  <a:schemeClr val="accent6"/>
                </a:solidFill>
              </a:rPr>
              <a:t>vSAN</a:t>
            </a:r>
            <a:endParaRPr lang="en-US" sz="1500" kern="0" spc="-80" dirty="0">
              <a:solidFill>
                <a:schemeClr val="accent6"/>
              </a:solidFill>
            </a:endParaRPr>
          </a:p>
          <a:p>
            <a:pPr marL="12700" marR="5080"/>
            <a:r>
              <a:rPr lang="en-US" sz="1500" kern="0" spc="-80" dirty="0">
                <a:solidFill>
                  <a:schemeClr val="accent6"/>
                </a:solidFill>
              </a:rPr>
              <a:t>Replication factor = 3</a:t>
            </a:r>
          </a:p>
          <a:p>
            <a:pPr marL="12700" marR="5080"/>
            <a:r>
              <a:rPr lang="en-US" sz="1500" kern="0" spc="-80" dirty="0">
                <a:solidFill>
                  <a:schemeClr val="accent6"/>
                </a:solidFill>
              </a:rPr>
              <a:t>Encryption at rest</a:t>
            </a:r>
          </a:p>
          <a:p>
            <a:pPr marL="12700" marR="5080"/>
            <a:r>
              <a:rPr lang="en-US" sz="1500" kern="0" spc="-80" dirty="0">
                <a:solidFill>
                  <a:schemeClr val="accent6"/>
                </a:solidFill>
              </a:rPr>
              <a:t>Snapshots + clones</a:t>
            </a:r>
          </a:p>
          <a:p>
            <a:pPr marL="12700" marR="5080"/>
            <a:endParaRPr lang="en-US" sz="1500" kern="0" spc="-80" dirty="0">
              <a:solidFill>
                <a:schemeClr val="accent6"/>
              </a:solidFill>
            </a:endParaRP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90026085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E168-F8D3-A219-BBD1-52A90624E35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051CEF-B547-740D-0A9A-06BF2BBB421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12F1319-BD8E-BF28-B064-A8C41E2FFC5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26AE1C0-FD8D-14FD-7FCD-66E9EDE84E4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D15E8ED-2675-A2B1-939A-9AAD62BDF68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7EB0A28-966E-A420-D798-6EE294B1D8D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84E7FEE-DA54-D4F2-A7BA-B0DAA79E2ACC}"/>
              </a:ext>
            </a:extLst>
          </p:cNvPr>
          <p:cNvSpPr txBox="1">
            <a:spLocks/>
          </p:cNvSpPr>
          <p:nvPr/>
        </p:nvSpPr>
        <p:spPr>
          <a:xfrm>
            <a:off x="0" y="685800"/>
            <a:ext cx="8915399"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3️⃣</a:t>
            </a:r>
            <a:r>
              <a:rPr lang="en-US" sz="2800" kern="0" spc="-80" dirty="0">
                <a:solidFill>
                  <a:schemeClr val="accent2"/>
                </a:solidFill>
              </a:rPr>
              <a:t> </a:t>
            </a:r>
            <a:r>
              <a:rPr lang="en-US" sz="1500" kern="0" spc="-80" dirty="0">
                <a:solidFill>
                  <a:schemeClr val="accent2"/>
                </a:solidFill>
              </a:rPr>
              <a:t>Step-by-Step E2E Implementation (Real Example)</a:t>
            </a:r>
          </a:p>
          <a:p>
            <a:pPr marL="12700" marR="5080"/>
            <a:r>
              <a:rPr lang="en-US" sz="1500" kern="0" spc="-80" dirty="0">
                <a:solidFill>
                  <a:schemeClr val="accent2"/>
                </a:solidFill>
              </a:rPr>
              <a:t>STEP 2: Software-Defined Infrastructure (SDI)</a:t>
            </a:r>
          </a:p>
          <a:p>
            <a:pPr marL="12700" marR="5080"/>
            <a:r>
              <a:rPr lang="en-US" sz="1500" kern="0" spc="-80" dirty="0">
                <a:solidFill>
                  <a:schemeClr val="accent2"/>
                </a:solidFill>
              </a:rPr>
              <a:t>Networking</a:t>
            </a:r>
          </a:p>
          <a:p>
            <a:pPr marL="12700" marR="5080"/>
            <a:r>
              <a:rPr lang="en-US" sz="1500" kern="0" spc="-80" dirty="0">
                <a:solidFill>
                  <a:schemeClr val="accent6"/>
                </a:solidFill>
              </a:rPr>
              <a:t>SDN (VMware NSX / OVN)</a:t>
            </a:r>
          </a:p>
          <a:p>
            <a:pPr marL="12700" marR="5080"/>
            <a:r>
              <a:rPr lang="en-US" sz="1500" kern="0" spc="-80" dirty="0">
                <a:solidFill>
                  <a:schemeClr val="accent2"/>
                </a:solidFill>
              </a:rPr>
              <a:t>Features:</a:t>
            </a:r>
          </a:p>
          <a:p>
            <a:pPr marL="12700" marR="5080"/>
            <a:r>
              <a:rPr lang="en-US" sz="1500" kern="0" spc="-80" dirty="0">
                <a:solidFill>
                  <a:schemeClr val="accent6"/>
                </a:solidFill>
              </a:rPr>
              <a:t>Micro-segmentation</a:t>
            </a:r>
          </a:p>
          <a:p>
            <a:pPr marL="12700" marR="5080"/>
            <a:r>
              <a:rPr lang="en-US" sz="1500" kern="0" spc="-80" dirty="0">
                <a:solidFill>
                  <a:schemeClr val="accent6"/>
                </a:solidFill>
              </a:rPr>
              <a:t>East-West firewalling</a:t>
            </a:r>
          </a:p>
          <a:p>
            <a:pPr marL="12700" marR="5080"/>
            <a:r>
              <a:rPr lang="en-US" sz="1500" kern="0" spc="-80" dirty="0">
                <a:solidFill>
                  <a:schemeClr val="accent6"/>
                </a:solidFill>
              </a:rPr>
              <a:t>Load balancing</a:t>
            </a:r>
          </a:p>
          <a:p>
            <a:pPr marL="12700" marR="5080"/>
            <a:r>
              <a:rPr lang="en-US" sz="1500" kern="0" spc="-80" dirty="0">
                <a:solidFill>
                  <a:schemeClr val="accent6"/>
                </a:solidFill>
              </a:rPr>
              <a:t>NAT &amp; VPN</a:t>
            </a:r>
          </a:p>
          <a:p>
            <a:pPr marL="12700" marR="5080"/>
            <a:endParaRPr lang="en-US" sz="1500" kern="0" spc="-80" dirty="0">
              <a:solidFill>
                <a:schemeClr val="accent6"/>
              </a:solidFill>
            </a:endParaRPr>
          </a:p>
          <a:p>
            <a:pPr marL="12700" marR="5080"/>
            <a:r>
              <a:rPr lang="en-US" sz="1500" kern="0" spc="-80" dirty="0">
                <a:solidFill>
                  <a:schemeClr val="accent2"/>
                </a:solidFill>
              </a:rPr>
              <a:t>STEP 4: Identity, Access &amp; Zero Trust</a:t>
            </a:r>
          </a:p>
          <a:p>
            <a:pPr marL="12700" marR="5080"/>
            <a:r>
              <a:rPr lang="en-US" sz="1500" kern="0" spc="-80" dirty="0">
                <a:solidFill>
                  <a:schemeClr val="accent2"/>
                </a:solidFill>
              </a:rPr>
              <a:t>Identity</a:t>
            </a:r>
          </a:p>
          <a:p>
            <a:pPr marL="12700" marR="5080"/>
            <a:r>
              <a:rPr lang="en-US" sz="1500" kern="0" spc="-80" dirty="0">
                <a:solidFill>
                  <a:schemeClr val="accent6"/>
                </a:solidFill>
              </a:rPr>
              <a:t>Azure AD / LDAP / AD</a:t>
            </a:r>
          </a:p>
          <a:p>
            <a:pPr marL="12700" marR="5080"/>
            <a:r>
              <a:rPr lang="en-US" sz="1500" kern="0" spc="-80" dirty="0">
                <a:solidFill>
                  <a:schemeClr val="accent6"/>
                </a:solidFill>
              </a:rPr>
              <a:t>SSO everywhere</a:t>
            </a:r>
          </a:p>
          <a:p>
            <a:pPr marL="12700" marR="5080"/>
            <a:r>
              <a:rPr lang="en-US" sz="1500" kern="0" spc="-80" dirty="0">
                <a:solidFill>
                  <a:schemeClr val="accent6"/>
                </a:solidFill>
              </a:rPr>
              <a:t>RBAC Model</a:t>
            </a:r>
          </a:p>
          <a:p>
            <a:pPr marL="12700" marR="5080"/>
            <a:r>
              <a:rPr lang="en-US" sz="1500" kern="0" spc="-80" dirty="0">
                <a:solidFill>
                  <a:schemeClr val="accent6"/>
                </a:solidFill>
              </a:rPr>
              <a:t>Org</a:t>
            </a:r>
          </a:p>
          <a:p>
            <a:pPr marL="12700" marR="5080"/>
            <a:r>
              <a:rPr lang="en-US" sz="1500" kern="0" spc="-80" dirty="0">
                <a:solidFill>
                  <a:schemeClr val="accent6"/>
                </a:solidFill>
              </a:rPr>
              <a:t> ├── BU</a:t>
            </a:r>
          </a:p>
          <a:p>
            <a:pPr marL="12700" marR="5080"/>
            <a:r>
              <a:rPr lang="en-US" sz="1500" kern="0" spc="-80" dirty="0">
                <a:solidFill>
                  <a:schemeClr val="accent6"/>
                </a:solidFill>
              </a:rPr>
              <a:t> │   ├── Project</a:t>
            </a:r>
          </a:p>
          <a:p>
            <a:pPr marL="12700" marR="5080"/>
            <a:r>
              <a:rPr lang="en-US" sz="1500" kern="0" spc="-80" dirty="0">
                <a:solidFill>
                  <a:schemeClr val="accent6"/>
                </a:solidFill>
              </a:rPr>
              <a:t> │   │   ├── Namespace</a:t>
            </a:r>
          </a:p>
        </p:txBody>
      </p:sp>
    </p:spTree>
    <p:extLst>
      <p:ext uri="{BB962C8B-B14F-4D97-AF65-F5344CB8AC3E}">
        <p14:creationId xmlns:p14="http://schemas.microsoft.com/office/powerpoint/2010/main" val="138762010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8901-2EF4-AF00-A650-C36C0111A84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9700F6-D090-C6AC-A6E3-C5D2DCB8FAF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C4E3FD-6459-AC72-6447-A66A03FA1CC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629799-B879-D837-B5E6-14E229BE6D3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CF85305-B04D-61E7-D309-5F3A23AD91D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61C8098-85D9-C241-B492-B900E9C1F81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49F1D36-9834-7AE9-A84F-D7037A401569}"/>
              </a:ext>
            </a:extLst>
          </p:cNvPr>
          <p:cNvSpPr txBox="1">
            <a:spLocks/>
          </p:cNvSpPr>
          <p:nvPr/>
        </p:nvSpPr>
        <p:spPr>
          <a:xfrm>
            <a:off x="0" y="685800"/>
            <a:ext cx="8915399" cy="63709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3️⃣ Step-by-Step E2E Implementation (Real Example)</a:t>
            </a:r>
          </a:p>
          <a:p>
            <a:pPr marL="12700" marR="5080"/>
            <a:r>
              <a:rPr lang="en-US" sz="1500" kern="0" spc="-80" dirty="0">
                <a:solidFill>
                  <a:schemeClr val="accent2"/>
                </a:solidFill>
              </a:rPr>
              <a:t>STEP 4: Identity, Access &amp; Zero Trust</a:t>
            </a:r>
          </a:p>
          <a:p>
            <a:pPr marL="12700" marR="5080"/>
            <a:r>
              <a:rPr lang="en-US" sz="1500" kern="0" spc="-80" dirty="0">
                <a:solidFill>
                  <a:schemeClr val="accent2"/>
                </a:solidFill>
              </a:rPr>
              <a:t>Zero Trust</a:t>
            </a:r>
          </a:p>
          <a:p>
            <a:pPr marL="12700" marR="5080"/>
            <a:r>
              <a:rPr lang="en-US" sz="1500" kern="0" spc="-80" dirty="0">
                <a:solidFill>
                  <a:schemeClr val="accent6"/>
                </a:solidFill>
              </a:rPr>
              <a:t>No flat network</a:t>
            </a:r>
          </a:p>
          <a:p>
            <a:pPr marL="12700" marR="5080"/>
            <a:r>
              <a:rPr lang="en-US" sz="1500" kern="0" spc="-80" dirty="0" err="1">
                <a:solidFill>
                  <a:schemeClr val="accent6"/>
                </a:solidFill>
              </a:rPr>
              <a:t>mTLS</a:t>
            </a:r>
            <a:endParaRPr lang="en-US" sz="1500" kern="0" spc="-80" dirty="0">
              <a:solidFill>
                <a:schemeClr val="accent6"/>
              </a:solidFill>
            </a:endParaRPr>
          </a:p>
          <a:p>
            <a:pPr marL="12700" marR="5080"/>
            <a:r>
              <a:rPr lang="en-US" sz="1500" kern="0" spc="-80" dirty="0">
                <a:solidFill>
                  <a:schemeClr val="accent6"/>
                </a:solidFill>
              </a:rPr>
              <a:t>Service identity (SPIFFE)</a:t>
            </a:r>
          </a:p>
          <a:p>
            <a:pPr marL="12700" marR="5080"/>
            <a:r>
              <a:rPr lang="en-US" sz="1500" kern="0" spc="-80" dirty="0">
                <a:solidFill>
                  <a:schemeClr val="accent6"/>
                </a:solidFill>
              </a:rPr>
              <a:t>Just-in-time access</a:t>
            </a:r>
          </a:p>
          <a:p>
            <a:pPr marL="12700" marR="5080"/>
            <a:endParaRPr lang="en-US" sz="1500" kern="0" spc="-80" dirty="0">
              <a:solidFill>
                <a:schemeClr val="accent6"/>
              </a:solidFill>
            </a:endParaRPr>
          </a:p>
          <a:p>
            <a:pPr marL="12700" marR="5080"/>
            <a:r>
              <a:rPr lang="en-US" sz="1500" kern="0" spc="-80" dirty="0">
                <a:solidFill>
                  <a:schemeClr val="accent2"/>
                </a:solidFill>
              </a:rPr>
              <a:t>STEP 5: Cloud Management Platform (CMP)</a:t>
            </a:r>
          </a:p>
          <a:p>
            <a:pPr marL="12700" marR="5080"/>
            <a:r>
              <a:rPr lang="en-US" sz="1500" kern="0" spc="-80" dirty="0">
                <a:solidFill>
                  <a:schemeClr val="accent2"/>
                </a:solidFill>
              </a:rPr>
              <a:t>This is what makes it feel like AWS.</a:t>
            </a:r>
          </a:p>
          <a:p>
            <a:pPr marL="12700" marR="5080"/>
            <a:r>
              <a:rPr lang="en-US" sz="1500" kern="0" spc="-80" dirty="0">
                <a:solidFill>
                  <a:schemeClr val="accent2"/>
                </a:solidFill>
              </a:rPr>
              <a:t>Capabilities</a:t>
            </a:r>
          </a:p>
          <a:p>
            <a:pPr marL="12700" marR="5080"/>
            <a:r>
              <a:rPr lang="en-US" sz="1500" kern="0" spc="-80" dirty="0">
                <a:solidFill>
                  <a:schemeClr val="accent6"/>
                </a:solidFill>
              </a:rPr>
              <a:t>Self-service catalog</a:t>
            </a:r>
          </a:p>
          <a:p>
            <a:pPr marL="12700" marR="5080"/>
            <a:r>
              <a:rPr lang="en-US" sz="1500" kern="0" spc="-80" dirty="0">
                <a:solidFill>
                  <a:schemeClr val="accent6"/>
                </a:solidFill>
              </a:rPr>
              <a:t>Approval workflows</a:t>
            </a:r>
          </a:p>
          <a:p>
            <a:pPr marL="12700" marR="5080"/>
            <a:r>
              <a:rPr lang="en-US" sz="1500" kern="0" spc="-80" dirty="0">
                <a:solidFill>
                  <a:schemeClr val="accent6"/>
                </a:solidFill>
              </a:rPr>
              <a:t>Cost tracking</a:t>
            </a:r>
          </a:p>
          <a:p>
            <a:pPr marL="12700" marR="5080"/>
            <a:r>
              <a:rPr lang="en-US" sz="1500" kern="0" spc="-80" dirty="0">
                <a:solidFill>
                  <a:schemeClr val="accent6"/>
                </a:solidFill>
              </a:rPr>
              <a:t>Quotas</a:t>
            </a:r>
          </a:p>
          <a:p>
            <a:pPr marL="12700" marR="5080"/>
            <a:r>
              <a:rPr lang="en-US" sz="1500" kern="0" spc="-80" dirty="0">
                <a:solidFill>
                  <a:schemeClr val="accent6"/>
                </a:solidFill>
              </a:rPr>
              <a:t>Policy enforcement</a:t>
            </a:r>
          </a:p>
          <a:p>
            <a:pPr marL="12700" marR="5080"/>
            <a:r>
              <a:rPr lang="en-US" sz="1500" kern="0" spc="-80" dirty="0">
                <a:solidFill>
                  <a:schemeClr val="accent6"/>
                </a:solidFill>
              </a:rPr>
              <a:t>Tools</a:t>
            </a:r>
          </a:p>
          <a:p>
            <a:pPr marL="12700" marR="5080"/>
            <a:r>
              <a:rPr lang="en-US" sz="1500" kern="0" spc="-80" dirty="0">
                <a:solidFill>
                  <a:schemeClr val="accent6"/>
                </a:solidFill>
              </a:rPr>
              <a:t>VMware Aria</a:t>
            </a:r>
          </a:p>
          <a:p>
            <a:pPr marL="12700" marR="5080"/>
            <a:r>
              <a:rPr lang="en-US" sz="1500" kern="0" spc="-80" dirty="0">
                <a:solidFill>
                  <a:schemeClr val="accent6"/>
                </a:solidFill>
              </a:rPr>
              <a:t>OpenStack Horizon</a:t>
            </a:r>
          </a:p>
          <a:p>
            <a:pPr marL="12700" marR="5080"/>
            <a:r>
              <a:rPr lang="en-US" sz="1500" kern="0" spc="-80" dirty="0">
                <a:solidFill>
                  <a:schemeClr val="accent6"/>
                </a:solidFill>
              </a:rPr>
              <a:t>Morpheus</a:t>
            </a:r>
          </a:p>
          <a:p>
            <a:pPr marL="12700" marR="5080"/>
            <a:r>
              <a:rPr lang="en-US" sz="1500" kern="0" spc="-80" dirty="0">
                <a:solidFill>
                  <a:schemeClr val="accent6"/>
                </a:solidFill>
              </a:rPr>
              <a:t>ServiceNow + Terraform</a:t>
            </a:r>
          </a:p>
          <a:p>
            <a:pPr marL="12700" marR="5080"/>
            <a:endParaRPr lang="en-US" sz="1500" kern="0" spc="-80" dirty="0">
              <a:solidFill>
                <a:schemeClr val="accent6"/>
              </a:solidFill>
            </a:endParaRPr>
          </a:p>
          <a:p>
            <a:pPr marL="12700" marR="5080"/>
            <a:endParaRPr lang="en-US" sz="2400" kern="0" spc="-80" dirty="0">
              <a:solidFill>
                <a:schemeClr val="accent2"/>
              </a:solidFill>
            </a:endParaRPr>
          </a:p>
          <a:p>
            <a:pPr marL="12700" marR="5080"/>
            <a:endParaRPr lang="en-US" sz="1800" kern="0" spc="-80" dirty="0">
              <a:solidFill>
                <a:schemeClr val="accent6"/>
              </a:solidFill>
            </a:endParaRPr>
          </a:p>
          <a:p>
            <a:pPr marL="12700" marR="5080"/>
            <a:endParaRPr lang="en-US" sz="1800" kern="0" spc="-80" dirty="0">
              <a:solidFill>
                <a:schemeClr val="accent6"/>
              </a:solidFill>
            </a:endParaRPr>
          </a:p>
        </p:txBody>
      </p:sp>
    </p:spTree>
    <p:extLst>
      <p:ext uri="{BB962C8B-B14F-4D97-AF65-F5344CB8AC3E}">
        <p14:creationId xmlns:p14="http://schemas.microsoft.com/office/powerpoint/2010/main" val="27942996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8816F-E254-8A13-4CA9-777535A34E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8B09F7-297E-6E0F-B4DD-0DE7A6CD0B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2A819F-1449-93C0-78BB-131E1CE1452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DB7C85-9DF5-5C39-F66E-52CA5B087B1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D4759AE-2CE2-D7B2-E824-E1E18B24F76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E5715A7-6373-0793-90C2-B02C386AB71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B827B1B-CD13-FF66-39AD-714D8AC941EA}"/>
              </a:ext>
            </a:extLst>
          </p:cNvPr>
          <p:cNvSpPr txBox="1">
            <a:spLocks/>
          </p:cNvSpPr>
          <p:nvPr/>
        </p:nvSpPr>
        <p:spPr>
          <a:xfrm>
            <a:off x="0" y="685800"/>
            <a:ext cx="8915399"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3️⃣ Step-by-Step E2E Implementation (Real Example)</a:t>
            </a:r>
          </a:p>
          <a:p>
            <a:pPr marL="12700" marR="5080"/>
            <a:r>
              <a:rPr lang="en-US" sz="1500" kern="0" spc="-80" dirty="0">
                <a:solidFill>
                  <a:schemeClr val="accent2"/>
                </a:solidFill>
              </a:rPr>
              <a:t>STEP 5: Cloud Management Platform (CMP)</a:t>
            </a:r>
          </a:p>
          <a:p>
            <a:pPr marL="12700" marR="5080"/>
            <a:r>
              <a:rPr lang="en-US" sz="1500" kern="0" spc="-80" dirty="0">
                <a:solidFill>
                  <a:schemeClr val="accent2"/>
                </a:solidFill>
              </a:rPr>
              <a:t>Example Catalog Items</a:t>
            </a:r>
          </a:p>
          <a:p>
            <a:pPr marL="12700" marR="5080"/>
            <a:r>
              <a:rPr lang="en-US" sz="1500" kern="0" spc="-80" dirty="0">
                <a:solidFill>
                  <a:schemeClr val="accent6"/>
                </a:solidFill>
              </a:rPr>
              <a:t>“Create Kubernetes Namespace”</a:t>
            </a:r>
          </a:p>
          <a:p>
            <a:pPr marL="12700" marR="5080"/>
            <a:r>
              <a:rPr lang="en-US" sz="1500" kern="0" spc="-80" dirty="0">
                <a:solidFill>
                  <a:schemeClr val="accent6"/>
                </a:solidFill>
              </a:rPr>
              <a:t>“Provision VM (Standard)”</a:t>
            </a:r>
          </a:p>
          <a:p>
            <a:pPr marL="12700" marR="5080"/>
            <a:r>
              <a:rPr lang="en-US" sz="1500" kern="0" spc="-80" dirty="0">
                <a:solidFill>
                  <a:schemeClr val="accent6"/>
                </a:solidFill>
              </a:rPr>
              <a:t>“Create PostgreSQL DB”</a:t>
            </a:r>
          </a:p>
          <a:p>
            <a:pPr marL="12700" marR="5080"/>
            <a:r>
              <a:rPr lang="en-US" sz="1500" kern="0" spc="-80" dirty="0">
                <a:solidFill>
                  <a:schemeClr val="accent6"/>
                </a:solidFill>
              </a:rPr>
              <a:t>“Deploy App Template”</a:t>
            </a:r>
          </a:p>
          <a:p>
            <a:pPr marL="12700" marR="5080"/>
            <a:endParaRPr lang="en-US" sz="1500" kern="0" spc="-80" dirty="0">
              <a:solidFill>
                <a:schemeClr val="accent6"/>
              </a:solidFill>
            </a:endParaRPr>
          </a:p>
          <a:p>
            <a:pPr marL="12700" marR="5080"/>
            <a:r>
              <a:rPr lang="en-US" sz="1500" kern="0" spc="-80" dirty="0">
                <a:solidFill>
                  <a:schemeClr val="accent2"/>
                </a:solidFill>
              </a:rPr>
              <a:t>STEP 6: Infrastructure as Code (</a:t>
            </a:r>
            <a:r>
              <a:rPr lang="en-US" sz="1500" kern="0" spc="-80" dirty="0" err="1">
                <a:solidFill>
                  <a:schemeClr val="accent2"/>
                </a:solidFill>
              </a:rPr>
              <a:t>IaC</a:t>
            </a:r>
            <a:r>
              <a:rPr lang="en-US" sz="1500" kern="0" spc="-80" dirty="0">
                <a:solidFill>
                  <a:schemeClr val="accent2"/>
                </a:solidFill>
              </a:rPr>
              <a:t>)</a:t>
            </a:r>
          </a:p>
          <a:p>
            <a:pPr marL="12700" marR="5080"/>
            <a:r>
              <a:rPr lang="en-US" sz="1500" kern="0" spc="-80" dirty="0">
                <a:solidFill>
                  <a:schemeClr val="accent6"/>
                </a:solidFill>
              </a:rPr>
              <a:t>Terraform</a:t>
            </a:r>
          </a:p>
          <a:p>
            <a:pPr marL="12700" marR="5080"/>
            <a:r>
              <a:rPr lang="en-US" sz="1500" kern="0" spc="-80" dirty="0">
                <a:solidFill>
                  <a:schemeClr val="accent6"/>
                </a:solidFill>
              </a:rPr>
              <a:t>module "k8s_namespace" {</a:t>
            </a:r>
          </a:p>
          <a:p>
            <a:pPr marL="12700" marR="5080"/>
            <a:r>
              <a:rPr lang="en-US" sz="1500" kern="0" spc="-80" dirty="0">
                <a:solidFill>
                  <a:schemeClr val="accent6"/>
                </a:solidFill>
              </a:rPr>
              <a:t>  name  = "payments-prod"</a:t>
            </a:r>
          </a:p>
          <a:p>
            <a:pPr marL="12700" marR="5080"/>
            <a:r>
              <a:rPr lang="en-US" sz="1500" kern="0" spc="-80" dirty="0">
                <a:solidFill>
                  <a:schemeClr val="accent6"/>
                </a:solidFill>
              </a:rPr>
              <a:t>  quota = "high"</a:t>
            </a:r>
          </a:p>
          <a:p>
            <a:pPr marL="12700" marR="5080"/>
            <a:r>
              <a:rPr lang="en-US" sz="1500" kern="0" spc="-80" dirty="0">
                <a:solidFill>
                  <a:schemeClr val="accent6"/>
                </a:solidFill>
              </a:rPr>
              <a:t>}</a:t>
            </a:r>
          </a:p>
          <a:p>
            <a:pPr marL="12700" marR="5080"/>
            <a:r>
              <a:rPr lang="en-US" sz="1500" kern="0" spc="-80" dirty="0" err="1">
                <a:solidFill>
                  <a:schemeClr val="accent6"/>
                </a:solidFill>
              </a:rPr>
              <a:t>GitOps</a:t>
            </a:r>
            <a:r>
              <a:rPr lang="en-US" sz="1500" kern="0" spc="-80" dirty="0">
                <a:solidFill>
                  <a:schemeClr val="accent6"/>
                </a:solidFill>
              </a:rPr>
              <a:t> (Critical)</a:t>
            </a:r>
          </a:p>
          <a:p>
            <a:pPr marL="12700" marR="5080"/>
            <a:r>
              <a:rPr lang="en-US" sz="1500" kern="0" spc="-80" dirty="0" err="1">
                <a:solidFill>
                  <a:schemeClr val="accent6"/>
                </a:solidFill>
              </a:rPr>
              <a:t>ArgoCD</a:t>
            </a:r>
            <a:r>
              <a:rPr lang="en-US" sz="1500" kern="0" spc="-80" dirty="0">
                <a:solidFill>
                  <a:schemeClr val="accent6"/>
                </a:solidFill>
              </a:rPr>
              <a:t> / Flux</a:t>
            </a:r>
          </a:p>
          <a:p>
            <a:pPr marL="12700" marR="5080"/>
            <a:r>
              <a:rPr lang="en-US" sz="1500" kern="0" spc="-80" dirty="0">
                <a:solidFill>
                  <a:schemeClr val="accent6"/>
                </a:solidFill>
              </a:rPr>
              <a:t>Git = source of truth</a:t>
            </a:r>
          </a:p>
          <a:p>
            <a:pPr marL="12700" marR="5080"/>
            <a:r>
              <a:rPr lang="en-US" sz="1500" kern="0" spc="-80" dirty="0">
                <a:solidFill>
                  <a:schemeClr val="accent6"/>
                </a:solidFill>
              </a:rPr>
              <a:t>No manual </a:t>
            </a:r>
            <a:r>
              <a:rPr lang="en-US" sz="1500" kern="0" spc="-80" dirty="0" err="1">
                <a:solidFill>
                  <a:schemeClr val="accent6"/>
                </a:solidFill>
              </a:rPr>
              <a:t>kubectl</a:t>
            </a:r>
            <a:r>
              <a:rPr lang="en-US" sz="1500" kern="0" spc="-80" dirty="0">
                <a:solidFill>
                  <a:schemeClr val="accent6"/>
                </a:solidFill>
              </a:rPr>
              <a:t> in prod</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1911081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7781B-F5FF-902A-97F8-E54A98D837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D08F1B-656B-19BD-60AC-96322EFECE5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3A48C88-2450-DF1A-33F2-E166AB6931C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61F3E64-C50A-7D83-48F3-24D3746ED92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1977071-08AF-B39A-4A77-A2B8E34635C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FC5AD5D-FFCA-1259-CC30-45FB411DB0A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B0BDCF0-E07E-C8BE-3EDF-F7FC386B9E02}"/>
              </a:ext>
            </a:extLst>
          </p:cNvPr>
          <p:cNvSpPr txBox="1">
            <a:spLocks/>
          </p:cNvSpPr>
          <p:nvPr/>
        </p:nvSpPr>
        <p:spPr>
          <a:xfrm>
            <a:off x="0" y="685800"/>
            <a:ext cx="8915399"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3️⃣ Step-by-Step E2E Implementation (Real Example)</a:t>
            </a:r>
          </a:p>
          <a:p>
            <a:pPr marL="12700" marR="5080"/>
            <a:r>
              <a:rPr lang="en-US" sz="1400" kern="0" spc="-80" dirty="0">
                <a:solidFill>
                  <a:schemeClr val="accent2"/>
                </a:solidFill>
              </a:rPr>
              <a:t>STEP 7: Platform Services Layer (PaaS)</a:t>
            </a:r>
          </a:p>
          <a:p>
            <a:pPr marL="12700" marR="5080"/>
            <a:r>
              <a:rPr lang="en-US" sz="1400" kern="0" spc="-80" dirty="0">
                <a:solidFill>
                  <a:schemeClr val="accent2"/>
                </a:solidFill>
              </a:rPr>
              <a:t>What Enterprises Provide</a:t>
            </a:r>
          </a:p>
          <a:p>
            <a:pPr marL="12700" marR="5080"/>
            <a:r>
              <a:rPr lang="en-US" sz="1400" kern="0" spc="-80" dirty="0">
                <a:solidFill>
                  <a:schemeClr val="accent2"/>
                </a:solidFill>
              </a:rPr>
              <a:t>Service	                  Tool</a:t>
            </a:r>
          </a:p>
          <a:p>
            <a:pPr marL="12700" marR="5080"/>
            <a:r>
              <a:rPr lang="en-US" sz="1400" kern="0" spc="-80" dirty="0">
                <a:solidFill>
                  <a:schemeClr val="accent6"/>
                </a:solidFill>
              </a:rPr>
              <a:t>DB	                  PostgreSQL Operator</a:t>
            </a:r>
          </a:p>
          <a:p>
            <a:pPr marL="12700" marR="5080"/>
            <a:r>
              <a:rPr lang="en-US" sz="1400" kern="0" spc="-80" dirty="0">
                <a:solidFill>
                  <a:schemeClr val="accent6"/>
                </a:solidFill>
              </a:rPr>
              <a:t>Cache	                  Redis Operator</a:t>
            </a:r>
          </a:p>
          <a:p>
            <a:pPr marL="12700" marR="5080"/>
            <a:r>
              <a:rPr lang="en-US" sz="1400" kern="0" spc="-80" dirty="0">
                <a:solidFill>
                  <a:schemeClr val="accent6"/>
                </a:solidFill>
              </a:rPr>
              <a:t>Messaging	                  Kafka</a:t>
            </a:r>
          </a:p>
          <a:p>
            <a:pPr marL="12700" marR="5080"/>
            <a:r>
              <a:rPr lang="en-US" sz="1400" kern="0" spc="-80" dirty="0">
                <a:solidFill>
                  <a:schemeClr val="accent6"/>
                </a:solidFill>
              </a:rPr>
              <a:t>API Gateway                Kong / Apigee</a:t>
            </a:r>
          </a:p>
          <a:p>
            <a:pPr marL="12700" marR="5080"/>
            <a:r>
              <a:rPr lang="en-US" sz="1400" kern="0" spc="-80" dirty="0">
                <a:solidFill>
                  <a:schemeClr val="accent6"/>
                </a:solidFill>
              </a:rPr>
              <a:t>Secrets	                  Vault</a:t>
            </a:r>
          </a:p>
          <a:p>
            <a:pPr marL="12700" marR="5080"/>
            <a:r>
              <a:rPr lang="en-US" sz="1400" kern="0" spc="-80" dirty="0">
                <a:solidFill>
                  <a:schemeClr val="accent6"/>
                </a:solidFill>
              </a:rPr>
              <a:t>Certs	                  cert-manager</a:t>
            </a:r>
          </a:p>
          <a:p>
            <a:pPr marL="12700" marR="5080"/>
            <a:r>
              <a:rPr lang="en-US" sz="1400" kern="0" spc="-80" dirty="0">
                <a:solidFill>
                  <a:schemeClr val="accent6"/>
                </a:solidFill>
              </a:rPr>
              <a:t>CI/CD	                  GitLab / Azure DevOps</a:t>
            </a:r>
          </a:p>
          <a:p>
            <a:pPr marL="12700" marR="5080"/>
            <a:r>
              <a:rPr lang="en-US" sz="1400" kern="0" spc="-80" dirty="0">
                <a:solidFill>
                  <a:schemeClr val="accent2"/>
                </a:solidFill>
              </a:rPr>
              <a:t>STEP 8: Security (Enterprise-Grade)</a:t>
            </a:r>
          </a:p>
          <a:p>
            <a:pPr marL="12700" marR="5080"/>
            <a:r>
              <a:rPr lang="en-US" sz="1400" kern="0" spc="-80" dirty="0">
                <a:solidFill>
                  <a:schemeClr val="accent6"/>
                </a:solidFill>
              </a:rPr>
              <a:t>Defense-in-Depth</a:t>
            </a:r>
          </a:p>
          <a:p>
            <a:pPr marL="12700" marR="5080"/>
            <a:r>
              <a:rPr lang="en-US" sz="1400" kern="0" spc="-80" dirty="0">
                <a:solidFill>
                  <a:schemeClr val="accent6"/>
                </a:solidFill>
              </a:rPr>
              <a:t>WAF</a:t>
            </a:r>
          </a:p>
          <a:p>
            <a:pPr marL="12700" marR="5080"/>
            <a:r>
              <a:rPr lang="en-US" sz="1400" kern="0" spc="-80" dirty="0">
                <a:solidFill>
                  <a:schemeClr val="accent6"/>
                </a:solidFill>
              </a:rPr>
              <a:t>Runtime security (Falco)</a:t>
            </a:r>
          </a:p>
          <a:p>
            <a:pPr marL="12700" marR="5080"/>
            <a:r>
              <a:rPr lang="en-US" sz="1400" kern="0" spc="-80" dirty="0">
                <a:solidFill>
                  <a:schemeClr val="accent6"/>
                </a:solidFill>
              </a:rPr>
              <a:t>Image scanning (</a:t>
            </a:r>
            <a:r>
              <a:rPr lang="en-US" sz="1400" kern="0" spc="-80" dirty="0" err="1">
                <a:solidFill>
                  <a:schemeClr val="accent6"/>
                </a:solidFill>
              </a:rPr>
              <a:t>Trivy</a:t>
            </a:r>
            <a:r>
              <a:rPr lang="en-US" sz="1400" kern="0" spc="-80" dirty="0">
                <a:solidFill>
                  <a:schemeClr val="accent6"/>
                </a:solidFill>
              </a:rPr>
              <a:t>)</a:t>
            </a:r>
          </a:p>
          <a:p>
            <a:pPr marL="12700" marR="5080"/>
            <a:r>
              <a:rPr lang="en-US" sz="1400" kern="0" spc="-80" dirty="0">
                <a:solidFill>
                  <a:schemeClr val="accent6"/>
                </a:solidFill>
              </a:rPr>
              <a:t>Admission controllers</a:t>
            </a:r>
          </a:p>
          <a:p>
            <a:pPr marL="12700" marR="5080"/>
            <a:r>
              <a:rPr lang="en-US" sz="1400" kern="0" spc="-80" dirty="0">
                <a:solidFill>
                  <a:schemeClr val="accent6"/>
                </a:solidFill>
              </a:rPr>
              <a:t>DLP</a:t>
            </a:r>
          </a:p>
          <a:p>
            <a:pPr marL="12700" marR="5080"/>
            <a:r>
              <a:rPr lang="en-US" sz="1400" kern="0" spc="-80" dirty="0">
                <a:solidFill>
                  <a:schemeClr val="accent6"/>
                </a:solidFill>
              </a:rPr>
              <a:t>Compliance</a:t>
            </a:r>
          </a:p>
          <a:p>
            <a:pPr marL="12700" marR="5080"/>
            <a:r>
              <a:rPr lang="en-US" sz="1400" kern="0" spc="-80" dirty="0">
                <a:solidFill>
                  <a:schemeClr val="accent6"/>
                </a:solidFill>
              </a:rPr>
              <a:t>CIS benchmarks</a:t>
            </a:r>
          </a:p>
          <a:p>
            <a:pPr marL="12700" marR="5080"/>
            <a:r>
              <a:rPr lang="en-US" sz="1400" kern="0" spc="-80" dirty="0">
                <a:solidFill>
                  <a:schemeClr val="accent6"/>
                </a:solidFill>
              </a:rPr>
              <a:t>PCI-DSS / HIPAA</a:t>
            </a:r>
          </a:p>
          <a:p>
            <a:pPr marL="12700" marR="5080"/>
            <a:r>
              <a:rPr lang="en-US" sz="1400" kern="0" spc="-80" dirty="0">
                <a:solidFill>
                  <a:schemeClr val="accent6"/>
                </a:solidFill>
              </a:rPr>
              <a:t>Audit logs immutable</a:t>
            </a:r>
          </a:p>
        </p:txBody>
      </p:sp>
    </p:spTree>
    <p:extLst>
      <p:ext uri="{BB962C8B-B14F-4D97-AF65-F5344CB8AC3E}">
        <p14:creationId xmlns:p14="http://schemas.microsoft.com/office/powerpoint/2010/main" val="326280956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F644-EE04-0B09-873F-42D97A9A0E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BACE94-6B89-2545-6A89-55A2232F225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084C11-B203-C70A-14CF-277AF7ED69E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3BDECC9-49BC-1C26-4336-7C2CFFDAF32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9C4A330-E202-45C7-FC77-4930B833EFD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4850E02-7F1A-2DB6-2270-B644F7822A6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9674275-4914-96E6-30DE-E6A4EF5FB729}"/>
              </a:ext>
            </a:extLst>
          </p:cNvPr>
          <p:cNvSpPr txBox="1">
            <a:spLocks/>
          </p:cNvSpPr>
          <p:nvPr/>
        </p:nvSpPr>
        <p:spPr>
          <a:xfrm>
            <a:off x="0" y="685800"/>
            <a:ext cx="8915399"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3️⃣ Step-by-Step E2E Implementation (Real Example)</a:t>
            </a:r>
          </a:p>
          <a:p>
            <a:pPr marL="12700" marR="5080"/>
            <a:r>
              <a:rPr lang="en-US" sz="1500" kern="0" spc="-80" dirty="0">
                <a:solidFill>
                  <a:schemeClr val="accent2"/>
                </a:solidFill>
              </a:rPr>
              <a:t>STEP 9: Observability &amp; Operations</a:t>
            </a:r>
          </a:p>
          <a:p>
            <a:pPr marL="12700" marR="5080"/>
            <a:r>
              <a:rPr lang="en-US" sz="1500" kern="0" spc="-80" dirty="0">
                <a:solidFill>
                  <a:schemeClr val="accent2"/>
                </a:solidFill>
              </a:rPr>
              <a:t>Metrics</a:t>
            </a:r>
          </a:p>
          <a:p>
            <a:pPr marL="12700" marR="5080"/>
            <a:r>
              <a:rPr lang="en-US" sz="1500" kern="0" spc="-80" dirty="0">
                <a:solidFill>
                  <a:schemeClr val="accent6"/>
                </a:solidFill>
              </a:rPr>
              <a:t>Prometheus</a:t>
            </a:r>
          </a:p>
          <a:p>
            <a:pPr marL="12700" marR="5080"/>
            <a:r>
              <a:rPr lang="en-US" sz="1500" kern="0" spc="-80" dirty="0">
                <a:solidFill>
                  <a:schemeClr val="accent6"/>
                </a:solidFill>
              </a:rPr>
              <a:t>SLO-based alerts</a:t>
            </a:r>
          </a:p>
          <a:p>
            <a:pPr marL="12700" marR="5080"/>
            <a:r>
              <a:rPr lang="en-US" sz="1500" kern="0" spc="-80" dirty="0">
                <a:solidFill>
                  <a:schemeClr val="accent2"/>
                </a:solidFill>
              </a:rPr>
              <a:t>Logs</a:t>
            </a:r>
          </a:p>
          <a:p>
            <a:pPr marL="12700" marR="5080"/>
            <a:r>
              <a:rPr lang="en-US" sz="1500" kern="0" spc="-80" dirty="0" err="1">
                <a:solidFill>
                  <a:schemeClr val="accent6"/>
                </a:solidFill>
              </a:rPr>
              <a:t>FluentBit</a:t>
            </a:r>
            <a:r>
              <a:rPr lang="en-US" sz="1500" kern="0" spc="-80" dirty="0">
                <a:solidFill>
                  <a:schemeClr val="accent6"/>
                </a:solidFill>
              </a:rPr>
              <a:t> → OpenSearch</a:t>
            </a:r>
          </a:p>
          <a:p>
            <a:pPr marL="12700" marR="5080"/>
            <a:r>
              <a:rPr lang="en-US" sz="1500" kern="0" spc="-80" dirty="0">
                <a:solidFill>
                  <a:schemeClr val="accent6"/>
                </a:solidFill>
              </a:rPr>
              <a:t>Traces</a:t>
            </a:r>
          </a:p>
          <a:p>
            <a:pPr marL="12700" marR="5080"/>
            <a:r>
              <a:rPr lang="en-US" sz="1500" kern="0" spc="-80" dirty="0" err="1">
                <a:solidFill>
                  <a:schemeClr val="accent6"/>
                </a:solidFill>
              </a:rPr>
              <a:t>OpenTelemetry</a:t>
            </a:r>
            <a:endParaRPr lang="en-US" sz="1500" kern="0" spc="-80" dirty="0">
              <a:solidFill>
                <a:schemeClr val="accent6"/>
              </a:solidFill>
            </a:endParaRPr>
          </a:p>
          <a:p>
            <a:pPr marL="12700" marR="5080"/>
            <a:r>
              <a:rPr lang="en-US" sz="1500" kern="0" spc="-80" dirty="0">
                <a:solidFill>
                  <a:schemeClr val="accent2"/>
                </a:solidFill>
              </a:rPr>
              <a:t>Example SLO</a:t>
            </a:r>
          </a:p>
          <a:p>
            <a:pPr marL="12700" marR="5080"/>
            <a:r>
              <a:rPr lang="en-US" sz="1500" kern="0" spc="-80" dirty="0">
                <a:solidFill>
                  <a:schemeClr val="accent6"/>
                </a:solidFill>
              </a:rPr>
              <a:t>99.95% availability</a:t>
            </a:r>
          </a:p>
          <a:p>
            <a:pPr marL="12700" marR="5080"/>
            <a:r>
              <a:rPr lang="en-US" sz="1500" kern="0" spc="-80" dirty="0">
                <a:solidFill>
                  <a:schemeClr val="accent6"/>
                </a:solidFill>
              </a:rPr>
              <a:t>p95 latency &lt; 200ms</a:t>
            </a:r>
          </a:p>
          <a:p>
            <a:pPr marL="12700" marR="5080"/>
            <a:r>
              <a:rPr lang="en-US" sz="1500" kern="0" spc="-80" dirty="0">
                <a:solidFill>
                  <a:schemeClr val="accent2"/>
                </a:solidFill>
              </a:rPr>
              <a:t>STEP 10: DR &amp; Business Continuity</a:t>
            </a:r>
          </a:p>
          <a:p>
            <a:pPr marL="12700" marR="5080"/>
            <a:r>
              <a:rPr lang="en-US" sz="1500" kern="0" spc="-80" dirty="0">
                <a:solidFill>
                  <a:schemeClr val="accent2"/>
                </a:solidFill>
              </a:rPr>
              <a:t>Design</a:t>
            </a:r>
          </a:p>
          <a:p>
            <a:pPr marL="12700" marR="5080"/>
            <a:r>
              <a:rPr lang="en-US" sz="1500" kern="0" spc="-80" dirty="0">
                <a:solidFill>
                  <a:schemeClr val="accent6"/>
                </a:solidFill>
              </a:rPr>
              <a:t>Multi-AZ inside DC</a:t>
            </a:r>
          </a:p>
          <a:p>
            <a:pPr marL="12700" marR="5080"/>
            <a:r>
              <a:rPr lang="en-US" sz="1500" kern="0" spc="-80" dirty="0">
                <a:solidFill>
                  <a:schemeClr val="accent6"/>
                </a:solidFill>
              </a:rPr>
              <a:t>Secondary DC</a:t>
            </a:r>
          </a:p>
          <a:p>
            <a:pPr marL="12700" marR="5080"/>
            <a:r>
              <a:rPr lang="en-US" sz="1500" kern="0" spc="-80" dirty="0">
                <a:solidFill>
                  <a:schemeClr val="accent6"/>
                </a:solidFill>
              </a:rPr>
              <a:t>Active-Passive or Active-Active</a:t>
            </a:r>
          </a:p>
          <a:p>
            <a:pPr marL="12700" marR="5080"/>
            <a:r>
              <a:rPr lang="en-US" sz="1500" kern="0" spc="-80" dirty="0">
                <a:solidFill>
                  <a:schemeClr val="accent2"/>
                </a:solidFill>
              </a:rPr>
              <a:t>Tools</a:t>
            </a:r>
          </a:p>
          <a:p>
            <a:pPr marL="12700" marR="5080"/>
            <a:r>
              <a:rPr lang="en-US" sz="1500" kern="0" spc="-80" dirty="0" err="1">
                <a:solidFill>
                  <a:schemeClr val="accent6"/>
                </a:solidFill>
              </a:rPr>
              <a:t>Velero</a:t>
            </a:r>
            <a:r>
              <a:rPr lang="en-US" sz="1500" kern="0" spc="-80" dirty="0">
                <a:solidFill>
                  <a:schemeClr val="accent6"/>
                </a:solidFill>
              </a:rPr>
              <a:t> (K8s backups)</a:t>
            </a:r>
          </a:p>
          <a:p>
            <a:pPr marL="12700" marR="5080"/>
            <a:r>
              <a:rPr lang="en-US" sz="1500" kern="0" spc="-80" dirty="0">
                <a:solidFill>
                  <a:schemeClr val="accent6"/>
                </a:solidFill>
              </a:rPr>
              <a:t>Storage replication</a:t>
            </a:r>
          </a:p>
          <a:p>
            <a:pPr marL="12700" marR="5080"/>
            <a:r>
              <a:rPr lang="en-US" sz="1500" kern="0" spc="-80" dirty="0">
                <a:solidFill>
                  <a:schemeClr val="accent6"/>
                </a:solidFill>
              </a:rPr>
              <a:t>DNS failover</a:t>
            </a:r>
            <a:endParaRPr lang="en-US" sz="2400" kern="0" spc="-80" dirty="0">
              <a:solidFill>
                <a:schemeClr val="accent2"/>
              </a:solidFill>
            </a:endParaRPr>
          </a:p>
        </p:txBody>
      </p:sp>
    </p:spTree>
    <p:extLst>
      <p:ext uri="{BB962C8B-B14F-4D97-AF65-F5344CB8AC3E}">
        <p14:creationId xmlns:p14="http://schemas.microsoft.com/office/powerpoint/2010/main" val="393922140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46B3-84BB-F3F7-755D-C92DD7D1B2E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F48A94-75B7-C5E3-663A-CDA24E09AB1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5EA40D9-5C43-5FAB-0532-8B5412112EA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67B91E-0FEC-2B6F-3E5B-CB1E4D8644A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0DC9A85-34AB-69B9-4874-458C160A73B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9A8691F-A76B-5041-96DB-1D2ADBE4370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3921B4A-E0B6-0B38-0C6B-EB8CB359033F}"/>
              </a:ext>
            </a:extLst>
          </p:cNvPr>
          <p:cNvSpPr txBox="1">
            <a:spLocks/>
          </p:cNvSpPr>
          <p:nvPr/>
        </p:nvSpPr>
        <p:spPr>
          <a:xfrm>
            <a:off x="0" y="685800"/>
            <a:ext cx="8915399"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4️⃣ Example Application E2E Flow</a:t>
            </a:r>
          </a:p>
          <a:p>
            <a:pPr marL="12700" marR="5080"/>
            <a:r>
              <a:rPr lang="en-US" sz="1500" kern="0" spc="-80" dirty="0">
                <a:solidFill>
                  <a:schemeClr val="accent2"/>
                </a:solidFill>
              </a:rPr>
              <a:t>Developer Journey</a:t>
            </a:r>
          </a:p>
          <a:p>
            <a:pPr marL="12700" marR="5080"/>
            <a:r>
              <a:rPr lang="en-US" sz="1500" kern="0" spc="-80" dirty="0">
                <a:solidFill>
                  <a:schemeClr val="accent6"/>
                </a:solidFill>
              </a:rPr>
              <a:t>Login to portal</a:t>
            </a:r>
          </a:p>
          <a:p>
            <a:pPr marL="12700" marR="5080"/>
            <a:r>
              <a:rPr lang="en-US" sz="1500" kern="0" spc="-80" dirty="0">
                <a:solidFill>
                  <a:schemeClr val="accent6"/>
                </a:solidFill>
              </a:rPr>
              <a:t>Request “Payment App Namespace”</a:t>
            </a:r>
          </a:p>
          <a:p>
            <a:pPr marL="12700" marR="5080"/>
            <a:r>
              <a:rPr lang="en-US" sz="1500" kern="0" spc="-80" dirty="0">
                <a:solidFill>
                  <a:schemeClr val="accent6"/>
                </a:solidFill>
              </a:rPr>
              <a:t>Auto-approval via policy</a:t>
            </a:r>
          </a:p>
          <a:p>
            <a:pPr marL="12700" marR="5080"/>
            <a:r>
              <a:rPr lang="en-US" sz="1500" kern="0" spc="-80" dirty="0">
                <a:solidFill>
                  <a:schemeClr val="accent6"/>
                </a:solidFill>
              </a:rPr>
              <a:t>Namespace created</a:t>
            </a:r>
          </a:p>
          <a:p>
            <a:pPr marL="12700" marR="5080"/>
            <a:r>
              <a:rPr lang="en-US" sz="1500" kern="0" spc="-80" dirty="0">
                <a:solidFill>
                  <a:schemeClr val="accent6"/>
                </a:solidFill>
              </a:rPr>
              <a:t>CI pipeline deploys app</a:t>
            </a:r>
          </a:p>
          <a:p>
            <a:pPr marL="12700" marR="5080"/>
            <a:r>
              <a:rPr lang="en-US" sz="1500" kern="0" spc="-80" dirty="0">
                <a:solidFill>
                  <a:schemeClr val="accent6"/>
                </a:solidFill>
              </a:rPr>
              <a:t>Secrets auto-injected</a:t>
            </a:r>
          </a:p>
          <a:p>
            <a:pPr marL="12700" marR="5080"/>
            <a:r>
              <a:rPr lang="en-US" sz="1500" kern="0" spc="-80" dirty="0">
                <a:solidFill>
                  <a:schemeClr val="accent6"/>
                </a:solidFill>
              </a:rPr>
              <a:t>Traffic routed via ingress</a:t>
            </a:r>
          </a:p>
          <a:p>
            <a:pPr marL="12700" marR="5080"/>
            <a:r>
              <a:rPr lang="en-US" sz="1500" kern="0" spc="-80" dirty="0">
                <a:solidFill>
                  <a:schemeClr val="accent6"/>
                </a:solidFill>
              </a:rPr>
              <a:t>Logs + metrics visible</a:t>
            </a:r>
          </a:p>
          <a:p>
            <a:pPr marL="12700" marR="5080"/>
            <a:r>
              <a:rPr lang="en-US" sz="1500" kern="0" spc="-80" dirty="0">
                <a:solidFill>
                  <a:schemeClr val="accent6"/>
                </a:solidFill>
              </a:rPr>
              <a:t>Cost allocated to BU</a:t>
            </a:r>
          </a:p>
          <a:p>
            <a:pPr marL="12700" marR="5080"/>
            <a:endParaRPr lang="en-US" sz="1500" kern="0" spc="-80" dirty="0">
              <a:solidFill>
                <a:schemeClr val="accent6"/>
              </a:solidFill>
            </a:endParaRPr>
          </a:p>
          <a:p>
            <a:pPr marL="12700" marR="5080"/>
            <a:r>
              <a:rPr lang="en-US" sz="1500" kern="0" spc="-80" dirty="0">
                <a:solidFill>
                  <a:schemeClr val="accent2"/>
                </a:solidFill>
              </a:rPr>
              <a:t>5️⃣ How This Differs from Public Cloud</a:t>
            </a:r>
          </a:p>
          <a:p>
            <a:pPr marL="12700" marR="5080"/>
            <a:r>
              <a:rPr lang="en-US" sz="1500" kern="0" spc="-80" dirty="0">
                <a:solidFill>
                  <a:schemeClr val="accent2"/>
                </a:solidFill>
              </a:rPr>
              <a:t>Private Cloud	    Public Cloud</a:t>
            </a:r>
          </a:p>
          <a:p>
            <a:pPr marL="12700" marR="5080"/>
            <a:r>
              <a:rPr lang="en-US" sz="1500" kern="0" spc="-80" dirty="0" err="1">
                <a:solidFill>
                  <a:schemeClr val="accent6"/>
                </a:solidFill>
              </a:rPr>
              <a:t>CapEx</a:t>
            </a:r>
            <a:r>
              <a:rPr lang="en-US" sz="1500" kern="0" spc="-80" dirty="0">
                <a:solidFill>
                  <a:schemeClr val="accent6"/>
                </a:solidFill>
              </a:rPr>
              <a:t> heavy	    </a:t>
            </a:r>
            <a:r>
              <a:rPr lang="en-US" sz="1500" kern="0" spc="-80" dirty="0" err="1">
                <a:solidFill>
                  <a:schemeClr val="accent6"/>
                </a:solidFill>
              </a:rPr>
              <a:t>OpEx</a:t>
            </a:r>
            <a:endParaRPr lang="en-US" sz="1500" kern="0" spc="-80" dirty="0">
              <a:solidFill>
                <a:schemeClr val="accent6"/>
              </a:solidFill>
            </a:endParaRPr>
          </a:p>
          <a:p>
            <a:pPr marL="12700" marR="5080"/>
            <a:r>
              <a:rPr lang="en-US" sz="1500" kern="0" spc="-80" dirty="0">
                <a:solidFill>
                  <a:schemeClr val="accent6"/>
                </a:solidFill>
              </a:rPr>
              <a:t>Full control	    Shared responsibility</a:t>
            </a:r>
          </a:p>
          <a:p>
            <a:pPr marL="12700" marR="5080"/>
            <a:r>
              <a:rPr lang="en-US" sz="1500" kern="0" spc="-80" dirty="0">
                <a:solidFill>
                  <a:schemeClr val="accent6"/>
                </a:solidFill>
              </a:rPr>
              <a:t>Compliance friendly	    Faster innovation</a:t>
            </a:r>
          </a:p>
          <a:p>
            <a:pPr marL="12700" marR="5080"/>
            <a:r>
              <a:rPr lang="en-US" sz="1500" kern="0" spc="-80" dirty="0">
                <a:solidFill>
                  <a:schemeClr val="accent6"/>
                </a:solidFill>
              </a:rPr>
              <a:t>Slower scale	    Infinite scale</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63822978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6AF15-9D25-85E7-BB78-E4B77DA22F3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0139F5-0CDE-D2DB-D87F-6B7A2DDBB76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9F67FC1-B7E3-13A8-5112-51B7E961412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483498D-7EB2-C261-1BBC-095446AEE60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EA33295-CA2B-4078-DAAB-39F7F4D68F1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3AD111-8D42-7FB1-64E6-32C3C390F80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14D409-F637-9B89-8918-6B64C750F9A4}"/>
              </a:ext>
            </a:extLst>
          </p:cNvPr>
          <p:cNvSpPr txBox="1">
            <a:spLocks/>
          </p:cNvSpPr>
          <p:nvPr/>
        </p:nvSpPr>
        <p:spPr>
          <a:xfrm>
            <a:off x="0" y="685800"/>
            <a:ext cx="8915399"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Enterprise Private Cloud –</a:t>
            </a:r>
          </a:p>
          <a:p>
            <a:pPr marL="12700" marR="5080"/>
            <a:r>
              <a:rPr lang="en-US" sz="1500" kern="0" spc="-80" dirty="0">
                <a:solidFill>
                  <a:schemeClr val="accent2"/>
                </a:solidFill>
              </a:rPr>
              <a:t>6️⃣ Enterprise Anti-Patterns (Avoid These)</a:t>
            </a:r>
          </a:p>
          <a:p>
            <a:pPr marL="12700" marR="5080"/>
            <a:r>
              <a:rPr lang="en-US" sz="1500" kern="0" spc="-80" dirty="0">
                <a:solidFill>
                  <a:schemeClr val="accent6"/>
                </a:solidFill>
              </a:rPr>
              <a:t>❌ VM sprawl</a:t>
            </a:r>
          </a:p>
          <a:p>
            <a:pPr marL="12700" marR="5080"/>
            <a:r>
              <a:rPr lang="en-US" sz="1500" kern="0" spc="-80" dirty="0">
                <a:solidFill>
                  <a:schemeClr val="accent6"/>
                </a:solidFill>
              </a:rPr>
              <a:t>❌ Ticket-based provisioning</a:t>
            </a:r>
          </a:p>
          <a:p>
            <a:pPr marL="12700" marR="5080"/>
            <a:r>
              <a:rPr lang="en-US" sz="1500" kern="0" spc="-80" dirty="0">
                <a:solidFill>
                  <a:schemeClr val="accent6"/>
                </a:solidFill>
              </a:rPr>
              <a:t>❌ No </a:t>
            </a:r>
            <a:r>
              <a:rPr lang="en-US" sz="1500" kern="0" spc="-80" dirty="0" err="1">
                <a:solidFill>
                  <a:schemeClr val="accent6"/>
                </a:solidFill>
              </a:rPr>
              <a:t>GitOps</a:t>
            </a:r>
            <a:endParaRPr lang="en-US" sz="1500" kern="0" spc="-80" dirty="0">
              <a:solidFill>
                <a:schemeClr val="accent6"/>
              </a:solidFill>
            </a:endParaRPr>
          </a:p>
          <a:p>
            <a:pPr marL="12700" marR="5080"/>
            <a:r>
              <a:rPr lang="en-US" sz="1500" kern="0" spc="-80" dirty="0">
                <a:solidFill>
                  <a:schemeClr val="accent6"/>
                </a:solidFill>
              </a:rPr>
              <a:t>❌ Flat networks</a:t>
            </a:r>
          </a:p>
          <a:p>
            <a:pPr marL="12700" marR="5080"/>
            <a:r>
              <a:rPr lang="en-US" sz="1500" kern="0" spc="-80" dirty="0">
                <a:solidFill>
                  <a:schemeClr val="accent6"/>
                </a:solidFill>
              </a:rPr>
              <a:t>❌ Manual security</a:t>
            </a:r>
          </a:p>
          <a:p>
            <a:pPr marL="12700" marR="5080"/>
            <a:r>
              <a:rPr lang="en-US" sz="1500" kern="0" spc="-80" dirty="0">
                <a:solidFill>
                  <a:schemeClr val="accent6"/>
                </a:solidFill>
              </a:rPr>
              <a:t>❌ “Kubernetes without platform services”</a:t>
            </a:r>
          </a:p>
          <a:p>
            <a:pPr marL="12700" marR="5080"/>
            <a:endParaRPr lang="en-US" sz="1500" kern="0" spc="-80" dirty="0">
              <a:solidFill>
                <a:schemeClr val="accent6"/>
              </a:solidFill>
            </a:endParaRPr>
          </a:p>
          <a:p>
            <a:pPr marL="12700" marR="5080"/>
            <a:r>
              <a:rPr lang="en-US" sz="1500" kern="0" spc="-80" dirty="0">
                <a:solidFill>
                  <a:schemeClr val="accent2"/>
                </a:solidFill>
              </a:rPr>
              <a:t>7️⃣ When Private Cloud Makes Sense</a:t>
            </a:r>
          </a:p>
          <a:p>
            <a:pPr marL="12700" marR="5080"/>
            <a:r>
              <a:rPr lang="en-US" sz="1500" kern="0" spc="-80" dirty="0">
                <a:solidFill>
                  <a:schemeClr val="accent6"/>
                </a:solidFill>
              </a:rPr>
              <a:t>✅ Banking</a:t>
            </a:r>
          </a:p>
          <a:p>
            <a:pPr marL="12700" marR="5080"/>
            <a:r>
              <a:rPr lang="en-US" sz="1500" kern="0" spc="-80" dirty="0">
                <a:solidFill>
                  <a:schemeClr val="accent6"/>
                </a:solidFill>
              </a:rPr>
              <a:t>✅ Defense</a:t>
            </a:r>
          </a:p>
          <a:p>
            <a:pPr marL="12700" marR="5080"/>
            <a:r>
              <a:rPr lang="en-US" sz="1500" kern="0" spc="-80" dirty="0">
                <a:solidFill>
                  <a:schemeClr val="accent6"/>
                </a:solidFill>
              </a:rPr>
              <a:t>✅ Healthcare</a:t>
            </a:r>
          </a:p>
          <a:p>
            <a:pPr marL="12700" marR="5080"/>
            <a:r>
              <a:rPr lang="en-US" sz="1500" kern="0" spc="-80" dirty="0">
                <a:solidFill>
                  <a:schemeClr val="accent6"/>
                </a:solidFill>
              </a:rPr>
              <a:t>✅ Low-latency trading</a:t>
            </a:r>
          </a:p>
          <a:p>
            <a:pPr marL="12700" marR="5080"/>
            <a:r>
              <a:rPr lang="en-US" sz="1500" kern="0" spc="-80" dirty="0">
                <a:solidFill>
                  <a:schemeClr val="accent6"/>
                </a:solidFill>
              </a:rPr>
              <a:t>✅ Data sovereignty</a:t>
            </a:r>
          </a:p>
          <a:p>
            <a:pPr marL="12700" marR="5080"/>
            <a:r>
              <a:rPr lang="en-US" sz="1500" kern="0" spc="-80" dirty="0">
                <a:solidFill>
                  <a:schemeClr val="accent6"/>
                </a:solidFill>
              </a:rPr>
              <a:t>✅ Predictable workloads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77759535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8973-1DF0-D225-7EFA-98ACBDD326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1FD17B-86ED-CA5C-28CD-CA44DA6E5E1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6A16B8-CFF7-20BD-477C-ADA8C34B3B5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8B47CA2-7434-2005-48A6-AE03A68E9E0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F65F062-2305-45D4-7DBB-98CC5FD34E1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7A7416E-4583-3D8E-B75A-C999F0B09E5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1050E93-8637-C660-7567-E334097739E0}"/>
              </a:ext>
            </a:extLst>
          </p:cNvPr>
          <p:cNvSpPr txBox="1">
            <a:spLocks/>
          </p:cNvSpPr>
          <p:nvPr/>
        </p:nvSpPr>
        <p:spPr>
          <a:xfrm>
            <a:off x="0" y="685800"/>
            <a:ext cx="8915399" cy="55861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1. Target Outcomes (Design Goals)</a:t>
            </a:r>
          </a:p>
          <a:p>
            <a:pPr marL="12700" marR="5080"/>
            <a:r>
              <a:rPr lang="en-US" sz="1500" kern="0" spc="-80" dirty="0">
                <a:solidFill>
                  <a:schemeClr val="accent2"/>
                </a:solidFill>
              </a:rPr>
              <a:t>This design must deliver:</a:t>
            </a:r>
          </a:p>
          <a:p>
            <a:pPr marL="12700" marR="5080"/>
            <a:r>
              <a:rPr lang="en-US" sz="1500" kern="0" spc="-80" dirty="0">
                <a:solidFill>
                  <a:schemeClr val="accent6"/>
                </a:solidFill>
              </a:rPr>
              <a:t>AWS-like self-service</a:t>
            </a:r>
          </a:p>
          <a:p>
            <a:pPr marL="12700" marR="5080"/>
            <a:r>
              <a:rPr lang="en-US" sz="1500" kern="0" spc="-80" dirty="0">
                <a:solidFill>
                  <a:schemeClr val="accent6"/>
                </a:solidFill>
              </a:rPr>
              <a:t>Strong tenant isolation</a:t>
            </a:r>
          </a:p>
          <a:p>
            <a:pPr marL="12700" marR="5080"/>
            <a:r>
              <a:rPr lang="en-US" sz="1500" kern="0" spc="-80" dirty="0">
                <a:solidFill>
                  <a:schemeClr val="accent6"/>
                </a:solidFill>
              </a:rPr>
              <a:t>Kubernetes-first platform</a:t>
            </a:r>
          </a:p>
          <a:p>
            <a:pPr marL="12700" marR="5080"/>
            <a:r>
              <a:rPr lang="en-US" sz="1500" kern="0" spc="-80" dirty="0">
                <a:solidFill>
                  <a:schemeClr val="accent6"/>
                </a:solidFill>
              </a:rPr>
              <a:t>Zero-trust security</a:t>
            </a:r>
          </a:p>
          <a:p>
            <a:pPr marL="12700" marR="5080"/>
            <a:r>
              <a:rPr lang="en-US" sz="1500" kern="0" spc="-80" dirty="0">
                <a:solidFill>
                  <a:schemeClr val="accent6"/>
                </a:solidFill>
              </a:rPr>
              <a:t>HA + DR</a:t>
            </a:r>
          </a:p>
          <a:p>
            <a:pPr marL="12700" marR="5080"/>
            <a:r>
              <a:rPr lang="en-US" sz="1500" kern="0" spc="-80" dirty="0" err="1">
                <a:solidFill>
                  <a:schemeClr val="accent6"/>
                </a:solidFill>
              </a:rPr>
              <a:t>GitOps</a:t>
            </a:r>
            <a:r>
              <a:rPr lang="en-US" sz="1500" kern="0" spc="-80" dirty="0">
                <a:solidFill>
                  <a:schemeClr val="accent6"/>
                </a:solidFill>
              </a:rPr>
              <a:t> + </a:t>
            </a:r>
            <a:r>
              <a:rPr lang="en-US" sz="1500" kern="0" spc="-80" dirty="0" err="1">
                <a:solidFill>
                  <a:schemeClr val="accent6"/>
                </a:solidFill>
              </a:rPr>
              <a:t>IaC</a:t>
            </a:r>
            <a:endParaRPr lang="en-US" sz="1500" kern="0" spc="-80" dirty="0">
              <a:solidFill>
                <a:schemeClr val="accent6"/>
              </a:solidFill>
            </a:endParaRPr>
          </a:p>
          <a:p>
            <a:pPr marL="12700" marR="5080"/>
            <a:r>
              <a:rPr lang="en-US" sz="1500" kern="0" spc="-80" dirty="0">
                <a:solidFill>
                  <a:schemeClr val="accent6"/>
                </a:solidFill>
              </a:rPr>
              <a:t>Regulatory compliance</a:t>
            </a:r>
          </a:p>
          <a:p>
            <a:pPr marL="12700" marR="5080"/>
            <a:r>
              <a:rPr lang="en-US" sz="1500" kern="0" spc="-80" dirty="0">
                <a:solidFill>
                  <a:schemeClr val="accent6"/>
                </a:solidFill>
              </a:rPr>
              <a:t>Predictable performance</a:t>
            </a:r>
          </a:p>
          <a:p>
            <a:pPr marL="12700" marR="5080"/>
            <a:endParaRPr lang="en-US" sz="1500" kern="0" spc="-80" dirty="0">
              <a:solidFill>
                <a:schemeClr val="accent6"/>
              </a:solidFill>
            </a:endParaRPr>
          </a:p>
          <a:p>
            <a:pPr marL="12700" marR="5080"/>
            <a:r>
              <a:rPr lang="en-US" sz="1500" kern="0" spc="-80" dirty="0">
                <a:solidFill>
                  <a:schemeClr val="accent2"/>
                </a:solidFill>
              </a:rPr>
              <a:t>Together they replicate AWS-like layers:</a:t>
            </a:r>
          </a:p>
          <a:p>
            <a:pPr marL="12700" marR="5080"/>
            <a:r>
              <a:rPr lang="en-US" sz="1500" kern="0" spc="-80" dirty="0">
                <a:solidFill>
                  <a:schemeClr val="accent2"/>
                </a:solidFill>
              </a:rPr>
              <a:t>AWS	Private Cloud</a:t>
            </a:r>
          </a:p>
          <a:p>
            <a:pPr marL="12700" marR="5080"/>
            <a:r>
              <a:rPr lang="en-US" sz="1500" kern="0" spc="-80" dirty="0">
                <a:solidFill>
                  <a:schemeClr val="accent6"/>
                </a:solidFill>
              </a:rPr>
              <a:t>EC2	Nova</a:t>
            </a:r>
          </a:p>
          <a:p>
            <a:pPr marL="12700" marR="5080"/>
            <a:r>
              <a:rPr lang="en-US" sz="1500" kern="0" spc="-80" dirty="0">
                <a:solidFill>
                  <a:schemeClr val="accent6"/>
                </a:solidFill>
              </a:rPr>
              <a:t>EBS	Cinder</a:t>
            </a:r>
          </a:p>
          <a:p>
            <a:pPr marL="12700" marR="5080"/>
            <a:r>
              <a:rPr lang="en-US" sz="1500" kern="0" spc="-80" dirty="0">
                <a:solidFill>
                  <a:schemeClr val="accent6"/>
                </a:solidFill>
              </a:rPr>
              <a:t>S3	Swift / Ceph RGW</a:t>
            </a:r>
          </a:p>
          <a:p>
            <a:pPr marL="12700" marR="5080"/>
            <a:r>
              <a:rPr lang="en-US" sz="1500" kern="0" spc="-80" dirty="0">
                <a:solidFill>
                  <a:schemeClr val="accent6"/>
                </a:solidFill>
              </a:rPr>
              <a:t>VPC	Neutron</a:t>
            </a:r>
          </a:p>
          <a:p>
            <a:pPr marL="12700" marR="5080"/>
            <a:r>
              <a:rPr lang="en-US" sz="1500" kern="0" spc="-80" dirty="0">
                <a:solidFill>
                  <a:schemeClr val="accent6"/>
                </a:solidFill>
              </a:rPr>
              <a:t>EKS	Kubernetes on OpenStack</a:t>
            </a:r>
          </a:p>
          <a:p>
            <a:pPr marL="12700" marR="5080"/>
            <a:r>
              <a:rPr lang="en-US" sz="1500" kern="0" spc="-80" dirty="0">
                <a:solidFill>
                  <a:schemeClr val="accent6"/>
                </a:solidFill>
              </a:rPr>
              <a:t>IAM	Keystone + RBAC</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8809261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75BE-626B-7E73-2B68-94DC81E863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8032C0F-CCE1-FC32-59AB-3B6AF413915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F3F15B-29B1-86F6-89F0-DA84572FB0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D6229E-9170-B269-8FED-BE5649B1D2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1962300-AF44-C75C-6E53-E18EB62B823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7523265-DA07-75DC-026D-C1DA1E9B7F9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3F0F1FA-5796-49D6-D5A9-F77B23461D6D}"/>
              </a:ext>
            </a:extLst>
          </p:cNvPr>
          <p:cNvSpPr txBox="1">
            <a:spLocks/>
          </p:cNvSpPr>
          <p:nvPr/>
        </p:nvSpPr>
        <p:spPr>
          <a:xfrm>
            <a:off x="0" y="685800"/>
            <a:ext cx="8915399"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2. High-Level Architecture</a:t>
            </a:r>
          </a:p>
          <a:p>
            <a:pPr marL="12700" marR="5080"/>
            <a:r>
              <a:rPr lang="en-US" sz="1500" kern="0" spc="-80" dirty="0">
                <a:solidFill>
                  <a:schemeClr val="accent6"/>
                </a:solidFill>
              </a:rPr>
              <a:t>┌─────────────────────────────────────────────────────┐</a:t>
            </a:r>
          </a:p>
          <a:p>
            <a:pPr marL="12700" marR="5080"/>
            <a:r>
              <a:rPr lang="en-US" sz="1500" kern="0" spc="-80" dirty="0">
                <a:solidFill>
                  <a:schemeClr val="accent6"/>
                </a:solidFill>
              </a:rPr>
              <a:t>│                Enterprise Service Portal             │</a:t>
            </a:r>
          </a:p>
          <a:p>
            <a:pPr marL="12700" marR="5080"/>
            <a:r>
              <a:rPr lang="en-US" sz="1500" kern="0" spc="-80" dirty="0">
                <a:solidFill>
                  <a:schemeClr val="accent6"/>
                </a:solidFill>
              </a:rPr>
              <a:t>│     (Horizon / ServiceNow / Custom UI)               │</a:t>
            </a:r>
          </a:p>
          <a:p>
            <a:pPr marL="12700" marR="5080"/>
            <a:r>
              <a:rPr lang="en-US" sz="1500" kern="0" spc="-80" dirty="0">
                <a:solidFill>
                  <a:schemeClr val="accent6"/>
                </a:solidFill>
              </a:rPr>
              <a:t>└─────────────────────────────────────────────────────┘</a:t>
            </a:r>
          </a:p>
          <a:p>
            <a:pPr marL="12700" marR="5080"/>
            <a:r>
              <a:rPr lang="en-US" sz="1500" kern="0" spc="-80" dirty="0">
                <a:solidFill>
                  <a:schemeClr val="accent6"/>
                </a:solidFill>
              </a:rPr>
              <a:t>                     ↓</a:t>
            </a:r>
            <a:endParaRPr lang="en-US" sz="1500" kern="0" spc="-80" dirty="0">
              <a:solidFill>
                <a:schemeClr val="accent2"/>
              </a:solidFill>
            </a:endParaRPr>
          </a:p>
          <a:p>
            <a:pPr marL="12700" marR="5080"/>
            <a:r>
              <a:rPr lang="en-US" sz="1500" kern="0" spc="-80" dirty="0">
                <a:solidFill>
                  <a:schemeClr val="accent6"/>
                </a:solidFill>
              </a:rPr>
              <a:t>┌─────────────────────────────────────────────────────┐</a:t>
            </a:r>
          </a:p>
          <a:p>
            <a:pPr marL="12700" marR="5080"/>
            <a:r>
              <a:rPr lang="en-US" sz="1500" kern="0" spc="-80" dirty="0">
                <a:solidFill>
                  <a:schemeClr val="accent6"/>
                </a:solidFill>
              </a:rPr>
              <a:t>│             Cloud Management &amp; Automation            │</a:t>
            </a:r>
          </a:p>
          <a:p>
            <a:pPr marL="12700" marR="5080"/>
            <a:r>
              <a:rPr lang="en-US" sz="1500" kern="0" spc="-80" dirty="0">
                <a:solidFill>
                  <a:schemeClr val="accent6"/>
                </a:solidFill>
              </a:rPr>
              <a:t>│        (OpenStack APIs + Terraform + </a:t>
            </a:r>
            <a:r>
              <a:rPr lang="en-US" sz="1500" kern="0" spc="-80" dirty="0" err="1">
                <a:solidFill>
                  <a:schemeClr val="accent6"/>
                </a:solidFill>
              </a:rPr>
              <a:t>GitOps</a:t>
            </a:r>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OpenStack Control Plane (HA)            │</a:t>
            </a:r>
          </a:p>
          <a:p>
            <a:pPr marL="12700" marR="5080"/>
            <a:r>
              <a:rPr lang="en-US" sz="1500" kern="0" spc="-80" dirty="0">
                <a:solidFill>
                  <a:schemeClr val="accent6"/>
                </a:solidFill>
              </a:rPr>
              <a:t>│  Keystone | Nova | Neutron | Cinder | Glance   │</a:t>
            </a:r>
          </a:p>
          <a:p>
            <a:pPr marL="12700" marR="5080"/>
            <a:r>
              <a:rPr lang="en-US" sz="1500" kern="0" spc="-80" dirty="0">
                <a:solidFill>
                  <a:schemeClr val="accent6"/>
                </a:solidFill>
              </a:rPr>
              <a:t>│  Heat | Barbican | Placement                   │</a:t>
            </a:r>
          </a:p>
          <a:p>
            <a:pPr marL="12700" marR="5080"/>
            <a:r>
              <a:rPr lang="en-US" sz="1500" kern="0" spc="-80" dirty="0">
                <a:solidFill>
                  <a:schemeClr val="accent6"/>
                </a:solidFill>
              </a:rPr>
              <a:t>└───────────────────────────────────────────────┘</a:t>
            </a:r>
          </a:p>
          <a:p>
            <a:pPr marL="12700" marR="5080"/>
            <a:r>
              <a:rPr lang="en-US" sz="1500" kern="0" spc="-80" dirty="0">
                <a:solidFill>
                  <a:schemeClr val="accent6"/>
                </a:solidFill>
              </a:rPr>
              <a:t>                    ↓</a:t>
            </a:r>
          </a:p>
        </p:txBody>
      </p:sp>
    </p:spTree>
    <p:extLst>
      <p:ext uri="{BB962C8B-B14F-4D97-AF65-F5344CB8AC3E}">
        <p14:creationId xmlns:p14="http://schemas.microsoft.com/office/powerpoint/2010/main" val="351474636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CEA0-6842-0638-F57E-D0A11A65A1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8F3E85D-DDB2-0B2D-0D5F-D160417F80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945A1F-D718-8E0A-3C77-7E5391D0BA1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A085D90-F9C9-A183-63AD-E05582B101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70B132A-F2E2-6C03-0907-BF2B6B2532A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FB75730-8198-A7C6-2173-06BB8830E64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A2EA752-1931-A30C-23AE-4D0293C5DD39}"/>
              </a:ext>
            </a:extLst>
          </p:cNvPr>
          <p:cNvSpPr txBox="1">
            <a:spLocks/>
          </p:cNvSpPr>
          <p:nvPr/>
        </p:nvSpPr>
        <p:spPr>
          <a:xfrm>
            <a:off x="0" y="685800"/>
            <a:ext cx="8915399" cy="55861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2. High-Level Architecture</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Kubernetes Platform (HA)                │</a:t>
            </a:r>
          </a:p>
          <a:p>
            <a:pPr marL="12700" marR="5080"/>
            <a:r>
              <a:rPr lang="en-US" sz="1500" kern="0" spc="-80" dirty="0">
                <a:solidFill>
                  <a:schemeClr val="accent6"/>
                </a:solidFill>
              </a:rPr>
              <a:t>│  K8s Control Plane + Worker Nodes              │</a:t>
            </a:r>
          </a:p>
          <a:p>
            <a:pPr marL="12700" marR="5080"/>
            <a:r>
              <a:rPr lang="en-US" sz="1500" kern="0" spc="-80" dirty="0">
                <a:solidFill>
                  <a:schemeClr val="accent6"/>
                </a:solidFill>
              </a:rPr>
              <a:t>│  Ingress | CNI | CSI | Operators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Software-Defined Infrastructure (SDI)         │</a:t>
            </a:r>
          </a:p>
          <a:p>
            <a:pPr marL="12700" marR="5080"/>
            <a:r>
              <a:rPr lang="en-US" sz="1500" kern="0" spc="-80" dirty="0">
                <a:solidFill>
                  <a:schemeClr val="accent6"/>
                </a:solidFill>
              </a:rPr>
              <a:t>│   Compute | Network (OVN) | Storage (Ceph)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Physical Datacenter                    │</a:t>
            </a:r>
          </a:p>
          <a:p>
            <a:pPr marL="12700" marR="5080"/>
            <a:r>
              <a:rPr lang="en-US" sz="1500" kern="0" spc="-80" dirty="0">
                <a:solidFill>
                  <a:schemeClr val="accent6"/>
                </a:solidFill>
              </a:rPr>
              <a:t>│      Bare Metal | Switches | Power | Cooling         │</a:t>
            </a:r>
          </a:p>
          <a:p>
            <a:pPr marL="12700" marR="5080"/>
            <a:r>
              <a:rPr lang="en-US" sz="1500" kern="0" spc="-80" dirty="0">
                <a:solidFill>
                  <a:schemeClr val="accent6"/>
                </a:solidFill>
              </a:rPr>
              <a:t>└─────────────────────────────────────────────────────┘</a:t>
            </a:r>
          </a:p>
          <a:p>
            <a:pPr marL="12700" marR="5080"/>
            <a:endParaRPr lang="en-US" sz="1500" kern="0" spc="-80" dirty="0">
              <a:solidFill>
                <a:schemeClr val="accent6"/>
              </a:solidFill>
            </a:endParaRPr>
          </a:p>
          <a:p>
            <a:pPr marL="12700" marR="5080"/>
            <a:r>
              <a:rPr lang="en-US" sz="1500" kern="0" spc="-80" dirty="0">
                <a:solidFill>
                  <a:schemeClr val="accent6"/>
                </a:solidFill>
              </a:rPr>
              <a:t>                         </a:t>
            </a:r>
          </a:p>
        </p:txBody>
      </p:sp>
    </p:spTree>
    <p:extLst>
      <p:ext uri="{BB962C8B-B14F-4D97-AF65-F5344CB8AC3E}">
        <p14:creationId xmlns:p14="http://schemas.microsoft.com/office/powerpoint/2010/main" val="261131083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77115-5320-00FC-7DE0-27F11AF954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2C6607-3C57-CC4E-9F37-1A6D8B24A1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2E0736-A69D-9D00-0315-179435CDF55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73A1950-60DB-2C02-9914-D08D4CAFA12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5CBB1A9-D320-48D9-8755-20E9B363AA9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217754F-EAC0-84FD-9C7B-154C3D52E20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E9F3F1C-E514-847B-78C8-F0AF0DCD33B2}"/>
              </a:ext>
            </a:extLst>
          </p:cNvPr>
          <p:cNvSpPr txBox="1">
            <a:spLocks/>
          </p:cNvSpPr>
          <p:nvPr/>
        </p:nvSpPr>
        <p:spPr>
          <a:xfrm>
            <a:off x="0" y="685800"/>
            <a:ext cx="8915399"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3. Physical &amp; Network Foundation (Critical)</a:t>
            </a:r>
          </a:p>
          <a:p>
            <a:pPr marL="12700" marR="5080"/>
            <a:r>
              <a:rPr lang="en-US" sz="1500" kern="0" spc="-80" dirty="0">
                <a:solidFill>
                  <a:schemeClr val="accent2"/>
                </a:solidFill>
              </a:rPr>
              <a:t>Hardware</a:t>
            </a:r>
          </a:p>
          <a:p>
            <a:pPr marL="12700" marR="5080"/>
            <a:r>
              <a:rPr lang="en-US" sz="1500" kern="0" spc="-80" dirty="0">
                <a:solidFill>
                  <a:schemeClr val="accent2"/>
                </a:solidFill>
              </a:rPr>
              <a:t>Role	                   Nodes</a:t>
            </a:r>
          </a:p>
          <a:p>
            <a:pPr marL="12700" marR="5080"/>
            <a:r>
              <a:rPr lang="en-US" sz="1500" kern="0" spc="-80" dirty="0">
                <a:solidFill>
                  <a:schemeClr val="accent6"/>
                </a:solidFill>
              </a:rPr>
              <a:t>Controllers	 3 (HA)</a:t>
            </a:r>
          </a:p>
          <a:p>
            <a:pPr marL="12700" marR="5080"/>
            <a:r>
              <a:rPr lang="en-US" sz="1500" kern="0" spc="-80" dirty="0">
                <a:solidFill>
                  <a:schemeClr val="accent6"/>
                </a:solidFill>
              </a:rPr>
              <a:t>Compute	                   N</a:t>
            </a:r>
          </a:p>
          <a:p>
            <a:pPr marL="12700" marR="5080"/>
            <a:r>
              <a:rPr lang="en-US" sz="1500" kern="0" spc="-80" dirty="0">
                <a:solidFill>
                  <a:schemeClr val="accent6"/>
                </a:solidFill>
              </a:rPr>
              <a:t>Storage	                   3–7</a:t>
            </a:r>
          </a:p>
          <a:p>
            <a:pPr marL="12700" marR="5080"/>
            <a:r>
              <a:rPr lang="en-US" sz="1500" kern="0" spc="-80" dirty="0">
                <a:solidFill>
                  <a:schemeClr val="accent6"/>
                </a:solidFill>
              </a:rPr>
              <a:t>K8s Workers	Shared with Compute</a:t>
            </a:r>
          </a:p>
          <a:p>
            <a:pPr marL="12700" marR="5080"/>
            <a:endParaRPr lang="en-US" sz="1500" kern="0" spc="-80" dirty="0">
              <a:solidFill>
                <a:schemeClr val="accent2"/>
              </a:solidFill>
            </a:endParaRPr>
          </a:p>
          <a:p>
            <a:pPr marL="12700" marR="5080"/>
            <a:r>
              <a:rPr lang="en-US" sz="1500" kern="0" spc="-80" dirty="0">
                <a:solidFill>
                  <a:schemeClr val="accent2"/>
                </a:solidFill>
              </a:rPr>
              <a:t>Datacenter Network (Non-Negotiable)</a:t>
            </a:r>
          </a:p>
          <a:p>
            <a:pPr marL="12700" marR="5080"/>
            <a:r>
              <a:rPr lang="en-US" sz="1500" kern="0" spc="-80" dirty="0">
                <a:solidFill>
                  <a:schemeClr val="accent6"/>
                </a:solidFill>
              </a:rPr>
              <a:t>Leaf-Spine topology</a:t>
            </a:r>
          </a:p>
          <a:p>
            <a:pPr marL="12700" marR="5080"/>
            <a:r>
              <a:rPr lang="en-US" sz="1500" kern="0" spc="-80" dirty="0">
                <a:solidFill>
                  <a:schemeClr val="accent6"/>
                </a:solidFill>
              </a:rPr>
              <a:t>25/40/100 Gbps</a:t>
            </a:r>
          </a:p>
          <a:p>
            <a:pPr marL="12700" marR="5080"/>
            <a:r>
              <a:rPr lang="en-US" sz="1500" kern="0" spc="-80" dirty="0">
                <a:solidFill>
                  <a:schemeClr val="accent6"/>
                </a:solidFill>
              </a:rPr>
              <a:t>BGP EVPN</a:t>
            </a:r>
          </a:p>
          <a:p>
            <a:pPr marL="12700" marR="5080"/>
            <a:endParaRPr lang="en-US" sz="1500" kern="0" spc="-80" dirty="0">
              <a:solidFill>
                <a:schemeClr val="accent6"/>
              </a:solidFill>
            </a:endParaRPr>
          </a:p>
          <a:p>
            <a:pPr marL="12700" marR="5080"/>
            <a:r>
              <a:rPr lang="en-US" sz="1500" kern="0" spc="-80" dirty="0">
                <a:solidFill>
                  <a:schemeClr val="accent2"/>
                </a:solidFill>
              </a:rPr>
              <a:t>Mandatory Networks</a:t>
            </a:r>
          </a:p>
          <a:p>
            <a:pPr marL="12700" marR="5080"/>
            <a:r>
              <a:rPr lang="en-US" sz="1500" kern="0" spc="-80" dirty="0">
                <a:solidFill>
                  <a:schemeClr val="accent2"/>
                </a:solidFill>
              </a:rPr>
              <a:t>Network	                  Purpose</a:t>
            </a:r>
          </a:p>
          <a:p>
            <a:pPr marL="12700" marR="5080"/>
            <a:r>
              <a:rPr lang="en-US" sz="1500" kern="0" spc="-80" dirty="0">
                <a:solidFill>
                  <a:schemeClr val="accent6"/>
                </a:solidFill>
              </a:rPr>
              <a:t>OOB	                  IPMI / BMC</a:t>
            </a:r>
          </a:p>
          <a:p>
            <a:pPr marL="12700" marR="5080"/>
            <a:r>
              <a:rPr lang="en-US" sz="1500" kern="0" spc="-80" dirty="0">
                <a:solidFill>
                  <a:schemeClr val="accent6"/>
                </a:solidFill>
              </a:rPr>
              <a:t>Management	OpenStack control</a:t>
            </a:r>
          </a:p>
          <a:p>
            <a:pPr marL="12700" marR="5080"/>
            <a:r>
              <a:rPr lang="en-US" sz="1500" kern="0" spc="-80" dirty="0">
                <a:solidFill>
                  <a:schemeClr val="accent6"/>
                </a:solidFill>
              </a:rPr>
              <a:t>Storage	                  Ceph replication</a:t>
            </a:r>
          </a:p>
          <a:p>
            <a:pPr marL="12700" marR="5080"/>
            <a:r>
              <a:rPr lang="en-US" sz="1500" kern="0" spc="-80" dirty="0">
                <a:solidFill>
                  <a:schemeClr val="accent6"/>
                </a:solidFill>
              </a:rPr>
              <a:t>Tenant	                  VM / Pod traffic</a:t>
            </a:r>
          </a:p>
          <a:p>
            <a:pPr marL="12700" marR="5080"/>
            <a:r>
              <a:rPr lang="en-US" sz="1500" kern="0" spc="-80" dirty="0">
                <a:solidFill>
                  <a:schemeClr val="accent6"/>
                </a:solidFill>
              </a:rPr>
              <a:t>External	                  North-South</a:t>
            </a:r>
          </a:p>
        </p:txBody>
      </p:sp>
    </p:spTree>
    <p:extLst>
      <p:ext uri="{BB962C8B-B14F-4D97-AF65-F5344CB8AC3E}">
        <p14:creationId xmlns:p14="http://schemas.microsoft.com/office/powerpoint/2010/main" val="356030093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F957A-52F8-6727-6EA8-BC5869823E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6BD6B4C-B33E-F3AC-6280-BD08E1376FF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56523E-DCA0-CCB8-926C-B0A053C0332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BB6DDD-E07B-1E08-4981-AADF099D504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A2E4691-92A2-4326-E0B5-8F9FECDBDE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83ED72D-B02D-BFF1-360E-A79D3C6F2DA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FAA38AB-B7D4-D0A3-507F-699FB3426865}"/>
              </a:ext>
            </a:extLst>
          </p:cNvPr>
          <p:cNvSpPr txBox="1">
            <a:spLocks/>
          </p:cNvSpPr>
          <p:nvPr/>
        </p:nvSpPr>
        <p:spPr>
          <a:xfrm>
            <a:off x="0" y="685800"/>
            <a:ext cx="8915399"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4. OpenStack Design (Infrastructure Cloud)</a:t>
            </a:r>
          </a:p>
          <a:p>
            <a:pPr marL="12700" marR="5080"/>
            <a:r>
              <a:rPr lang="en-US" sz="1500" kern="0" spc="-80" dirty="0">
                <a:solidFill>
                  <a:schemeClr val="accent2"/>
                </a:solidFill>
              </a:rPr>
              <a:t>4.1 OpenStack Core Services</a:t>
            </a:r>
          </a:p>
          <a:p>
            <a:pPr marL="12700" marR="5080"/>
            <a:r>
              <a:rPr lang="en-US" sz="1500" kern="0" spc="-80" dirty="0">
                <a:solidFill>
                  <a:schemeClr val="accent2"/>
                </a:solidFill>
              </a:rPr>
              <a:t>Service	                  Role</a:t>
            </a:r>
          </a:p>
          <a:p>
            <a:pPr marL="12700" marR="5080"/>
            <a:r>
              <a:rPr lang="en-US" sz="1500" kern="0" spc="-80" dirty="0">
                <a:solidFill>
                  <a:schemeClr val="accent6"/>
                </a:solidFill>
              </a:rPr>
              <a:t>Keystone	                  Identity</a:t>
            </a:r>
          </a:p>
          <a:p>
            <a:pPr marL="12700" marR="5080"/>
            <a:r>
              <a:rPr lang="en-US" sz="1500" kern="0" spc="-80" dirty="0">
                <a:solidFill>
                  <a:schemeClr val="accent6"/>
                </a:solidFill>
              </a:rPr>
              <a:t>Nova	                  Compute</a:t>
            </a:r>
          </a:p>
          <a:p>
            <a:pPr marL="12700" marR="5080"/>
            <a:r>
              <a:rPr lang="en-US" sz="1500" kern="0" spc="-80" dirty="0">
                <a:solidFill>
                  <a:schemeClr val="accent6"/>
                </a:solidFill>
              </a:rPr>
              <a:t>Neutron (OVN)	Networking</a:t>
            </a:r>
          </a:p>
          <a:p>
            <a:pPr marL="12700" marR="5080"/>
            <a:r>
              <a:rPr lang="en-US" sz="1500" kern="0" spc="-80" dirty="0">
                <a:solidFill>
                  <a:schemeClr val="accent6"/>
                </a:solidFill>
              </a:rPr>
              <a:t>Cinder	                  Block storage</a:t>
            </a:r>
          </a:p>
          <a:p>
            <a:pPr marL="12700" marR="5080"/>
            <a:r>
              <a:rPr lang="en-US" sz="1500" kern="0" spc="-80" dirty="0">
                <a:solidFill>
                  <a:schemeClr val="accent6"/>
                </a:solidFill>
              </a:rPr>
              <a:t>Glance	                  Images</a:t>
            </a:r>
          </a:p>
          <a:p>
            <a:pPr marL="12700" marR="5080"/>
            <a:r>
              <a:rPr lang="en-US" sz="1500" kern="0" spc="-80" dirty="0">
                <a:solidFill>
                  <a:schemeClr val="accent6"/>
                </a:solidFill>
              </a:rPr>
              <a:t>Heat	                  Orchestration</a:t>
            </a:r>
          </a:p>
          <a:p>
            <a:pPr marL="12700" marR="5080"/>
            <a:r>
              <a:rPr lang="en-US" sz="1500" kern="0" spc="-80" dirty="0">
                <a:solidFill>
                  <a:schemeClr val="accent6"/>
                </a:solidFill>
              </a:rPr>
              <a:t>Horizon	                  Self-service UI</a:t>
            </a:r>
          </a:p>
          <a:p>
            <a:pPr marL="12700" marR="5080"/>
            <a:r>
              <a:rPr lang="en-US" sz="1500" kern="0" spc="-80" dirty="0">
                <a:solidFill>
                  <a:schemeClr val="accent6"/>
                </a:solidFill>
              </a:rPr>
              <a:t>Enterprise                  Add-Ons</a:t>
            </a:r>
          </a:p>
          <a:p>
            <a:pPr marL="12700" marR="5080"/>
            <a:endParaRPr lang="en-US" sz="1500" kern="0" spc="-80" dirty="0">
              <a:solidFill>
                <a:schemeClr val="accent6"/>
              </a:solidFill>
            </a:endParaRPr>
          </a:p>
          <a:p>
            <a:pPr marL="12700" marR="5080"/>
            <a:r>
              <a:rPr lang="en-US" sz="1500" kern="0" spc="-80" dirty="0">
                <a:solidFill>
                  <a:schemeClr val="accent2"/>
                </a:solidFill>
              </a:rPr>
              <a:t>Service	                   Why</a:t>
            </a:r>
          </a:p>
          <a:p>
            <a:pPr marL="12700" marR="5080"/>
            <a:r>
              <a:rPr lang="en-US" sz="1500" kern="0" spc="-80" dirty="0">
                <a:solidFill>
                  <a:schemeClr val="accent6"/>
                </a:solidFill>
              </a:rPr>
              <a:t>Heat	                   Infra templates</a:t>
            </a:r>
          </a:p>
          <a:p>
            <a:pPr marL="12700" marR="5080"/>
            <a:r>
              <a:rPr lang="en-US" sz="1500" kern="0" spc="-80" dirty="0">
                <a:solidFill>
                  <a:schemeClr val="accent6"/>
                </a:solidFill>
              </a:rPr>
              <a:t>Barbican	                   Secrets</a:t>
            </a:r>
          </a:p>
          <a:p>
            <a:pPr marL="12700" marR="5080"/>
            <a:r>
              <a:rPr lang="en-US" sz="1500" kern="0" spc="-80" dirty="0">
                <a:solidFill>
                  <a:schemeClr val="accent6"/>
                </a:solidFill>
              </a:rPr>
              <a:t>Designate	                   DNS</a:t>
            </a:r>
          </a:p>
          <a:p>
            <a:pPr marL="12700" marR="5080"/>
            <a:r>
              <a:rPr lang="en-US" sz="1500" kern="0" spc="-80" dirty="0">
                <a:solidFill>
                  <a:schemeClr val="accent6"/>
                </a:solidFill>
              </a:rPr>
              <a:t>Octavia	                   L7 LB</a:t>
            </a:r>
          </a:p>
          <a:p>
            <a:pPr marL="12700" marR="5080"/>
            <a:r>
              <a:rPr lang="en-US" sz="1500" kern="0" spc="-80" dirty="0">
                <a:solidFill>
                  <a:schemeClr val="accent6"/>
                </a:solidFill>
              </a:rPr>
              <a:t>Placement	Scheduling</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23056423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16561-B089-336C-5D4F-CEFBFA64C96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53CE4C-43A8-BB04-0726-82FD6D73276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9EFD069-7B61-9BCF-4CDC-6E477E08F39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35A8A86-F554-8234-EBD9-92EC9351E54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79064DC-6E42-A588-409E-E50EC089DC1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F4E1A8F-3215-1C53-62CE-7BD91828115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C57BF9-1D7E-6E71-2C28-0DCECD9952A3}"/>
              </a:ext>
            </a:extLst>
          </p:cNvPr>
          <p:cNvSpPr txBox="1">
            <a:spLocks/>
          </p:cNvSpPr>
          <p:nvPr/>
        </p:nvSpPr>
        <p:spPr>
          <a:xfrm>
            <a:off x="0" y="685800"/>
            <a:ext cx="8915399"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4. OpenStack Design (Infrastructure Cloud)</a:t>
            </a:r>
          </a:p>
          <a:p>
            <a:pPr marL="12700" marR="5080"/>
            <a:r>
              <a:rPr lang="en-US" sz="1500" kern="0" spc="-80" dirty="0">
                <a:solidFill>
                  <a:schemeClr val="accent2"/>
                </a:solidFill>
              </a:rPr>
              <a:t>4.2 OpenStack HA Layout</a:t>
            </a:r>
          </a:p>
          <a:p>
            <a:pPr marL="12700" marR="5080"/>
            <a:r>
              <a:rPr lang="en-US" sz="1500" kern="0" spc="-80" dirty="0">
                <a:solidFill>
                  <a:schemeClr val="accent2"/>
                </a:solidFill>
              </a:rPr>
              <a:t>3x Controller Nodes</a:t>
            </a:r>
          </a:p>
          <a:p>
            <a:pPr marL="12700" marR="5080"/>
            <a:r>
              <a:rPr lang="en-US" sz="1500" kern="0" spc="-80" dirty="0">
                <a:solidFill>
                  <a:schemeClr val="accent6"/>
                </a:solidFill>
              </a:rPr>
              <a:t>- Keystone</a:t>
            </a:r>
          </a:p>
          <a:p>
            <a:pPr marL="12700" marR="5080"/>
            <a:r>
              <a:rPr lang="en-US" sz="1500" kern="0" spc="-80" dirty="0">
                <a:solidFill>
                  <a:schemeClr val="accent6"/>
                </a:solidFill>
              </a:rPr>
              <a:t>- Neutron</a:t>
            </a:r>
          </a:p>
          <a:p>
            <a:pPr marL="12700" marR="5080"/>
            <a:r>
              <a:rPr lang="en-US" sz="1500" kern="0" spc="-80" dirty="0">
                <a:solidFill>
                  <a:schemeClr val="accent6"/>
                </a:solidFill>
              </a:rPr>
              <a:t>- Nova API</a:t>
            </a:r>
          </a:p>
          <a:p>
            <a:pPr marL="12700" marR="5080"/>
            <a:r>
              <a:rPr lang="en-US" sz="1500" kern="0" spc="-80" dirty="0">
                <a:solidFill>
                  <a:schemeClr val="accent6"/>
                </a:solidFill>
              </a:rPr>
              <a:t>- </a:t>
            </a:r>
            <a:r>
              <a:rPr lang="en-US" sz="1500" kern="0" spc="-80" dirty="0" err="1">
                <a:solidFill>
                  <a:schemeClr val="accent6"/>
                </a:solidFill>
              </a:rPr>
              <a:t>HAProxy</a:t>
            </a:r>
            <a:r>
              <a:rPr lang="en-US" sz="1500" kern="0" spc="-80" dirty="0">
                <a:solidFill>
                  <a:schemeClr val="accent6"/>
                </a:solidFill>
              </a:rPr>
              <a:t> + </a:t>
            </a:r>
            <a:r>
              <a:rPr lang="en-US" sz="1500" kern="0" spc="-80" dirty="0" err="1">
                <a:solidFill>
                  <a:schemeClr val="accent6"/>
                </a:solidFill>
              </a:rPr>
              <a:t>Keepalived</a:t>
            </a:r>
            <a:endParaRPr lang="en-US" sz="1500" kern="0" spc="-80" dirty="0">
              <a:solidFill>
                <a:schemeClr val="accent6"/>
              </a:solidFill>
            </a:endParaRPr>
          </a:p>
          <a:p>
            <a:pPr marL="12700" marR="5080"/>
            <a:endParaRPr lang="en-US" sz="1500" kern="0" spc="-80" dirty="0">
              <a:solidFill>
                <a:schemeClr val="accent6"/>
              </a:solidFill>
            </a:endParaRPr>
          </a:p>
          <a:p>
            <a:pPr marL="12700" marR="5080"/>
            <a:r>
              <a:rPr lang="en-US" sz="1500" kern="0" spc="-80" dirty="0">
                <a:solidFill>
                  <a:schemeClr val="accent2"/>
                </a:solidFill>
              </a:rPr>
              <a:t>N Compute Nodes</a:t>
            </a:r>
          </a:p>
          <a:p>
            <a:pPr marL="12700" marR="5080"/>
            <a:r>
              <a:rPr lang="en-US" sz="1500" kern="0" spc="-80" dirty="0">
                <a:solidFill>
                  <a:schemeClr val="accent6"/>
                </a:solidFill>
              </a:rPr>
              <a:t>- Nova Compute</a:t>
            </a:r>
          </a:p>
          <a:p>
            <a:pPr marL="298450" marR="5080" indent="-285750">
              <a:buFontTx/>
              <a:buChar char="-"/>
            </a:pPr>
            <a:r>
              <a:rPr lang="en-US" sz="1500" kern="0" spc="-80" dirty="0">
                <a:solidFill>
                  <a:schemeClr val="accent6"/>
                </a:solidFill>
              </a:rPr>
              <a:t>OVN agents</a:t>
            </a:r>
          </a:p>
          <a:p>
            <a:pPr marL="298450" marR="5080" indent="-285750">
              <a:buFontTx/>
              <a:buChar char="-"/>
            </a:pPr>
            <a:endParaRPr lang="en-US" sz="1500" kern="0" spc="-80" dirty="0">
              <a:solidFill>
                <a:schemeClr val="accent6"/>
              </a:solidFill>
            </a:endParaRPr>
          </a:p>
          <a:p>
            <a:pPr marL="12700" marR="5080"/>
            <a:r>
              <a:rPr lang="en-US" sz="1500" kern="0" spc="-80" dirty="0">
                <a:solidFill>
                  <a:schemeClr val="accent2"/>
                </a:solidFill>
              </a:rPr>
              <a:t>4.2 OpenStack HA Layout</a:t>
            </a:r>
          </a:p>
          <a:p>
            <a:pPr marL="12700" marR="5080"/>
            <a:r>
              <a:rPr lang="en-US" sz="1500" kern="0" spc="-80" dirty="0">
                <a:solidFill>
                  <a:schemeClr val="accent6"/>
                </a:solidFill>
              </a:rPr>
              <a:t>Ceph Cluster</a:t>
            </a:r>
          </a:p>
          <a:p>
            <a:pPr marL="12700" marR="5080"/>
            <a:r>
              <a:rPr lang="en-US" sz="1500" kern="0" spc="-80" dirty="0">
                <a:solidFill>
                  <a:schemeClr val="accent6"/>
                </a:solidFill>
              </a:rPr>
              <a:t>- 3/5 MON</a:t>
            </a:r>
          </a:p>
          <a:p>
            <a:pPr marL="12700" marR="5080"/>
            <a:r>
              <a:rPr lang="en-US" sz="1500" kern="0" spc="-80" dirty="0">
                <a:solidFill>
                  <a:schemeClr val="accent6"/>
                </a:solidFill>
              </a:rPr>
              <a:t>- OSDs on compute or dedicated</a:t>
            </a:r>
          </a:p>
          <a:p>
            <a:pPr marL="298450" marR="5080" indent="-285750">
              <a:buFontTx/>
              <a:buChar char="-"/>
            </a:pPr>
            <a:endParaRPr lang="en-US" sz="1500" kern="0" spc="-80" dirty="0">
              <a:solidFill>
                <a:schemeClr val="accent6"/>
              </a:solidFill>
            </a:endParaRPr>
          </a:p>
          <a:p>
            <a:pPr marL="298450" marR="5080" indent="-285750">
              <a:buFontTx/>
              <a:buChar char="-"/>
            </a:pPr>
            <a:endParaRPr lang="en-US" sz="1500" kern="0" spc="-80" dirty="0">
              <a:solidFill>
                <a:schemeClr val="accent6"/>
              </a:solidFill>
            </a:endParaRPr>
          </a:p>
          <a:p>
            <a:pPr marL="298450" marR="5080" indent="-285750">
              <a:buFontTx/>
              <a:buChar char="-"/>
            </a:pPr>
            <a:endParaRPr lang="en-US" sz="1500" kern="0" spc="-80" dirty="0">
              <a:solidFill>
                <a:schemeClr val="accent6"/>
              </a:solidFill>
            </a:endParaRPr>
          </a:p>
          <a:p>
            <a:pPr marL="298450" marR="5080" indent="-285750">
              <a:buFontTx/>
              <a:buChar char="-"/>
            </a:pPr>
            <a:endParaRPr lang="en-US" sz="1500" kern="0" spc="-80" dirty="0">
              <a:solidFill>
                <a:schemeClr val="accent6"/>
              </a:solidFill>
            </a:endParaRPr>
          </a:p>
          <a:p>
            <a:pPr marL="298450" marR="5080" indent="-285750">
              <a:buFontTx/>
              <a:buChar char="-"/>
            </a:pPr>
            <a:endParaRPr lang="en-US" sz="1500" kern="0" spc="-80" dirty="0">
              <a:solidFill>
                <a:schemeClr val="accent6"/>
              </a:solidFill>
            </a:endParaRPr>
          </a:p>
        </p:txBody>
      </p:sp>
    </p:spTree>
    <p:extLst>
      <p:ext uri="{BB962C8B-B14F-4D97-AF65-F5344CB8AC3E}">
        <p14:creationId xmlns:p14="http://schemas.microsoft.com/office/powerpoint/2010/main" val="80612547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63643-919C-B24C-0816-D23CCC4DBC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E3F219-20D1-767A-DFBE-CB3F34F5F79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9056C17-2AA5-77AF-FC1B-0AD706055E2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A891D76-C87C-51A7-6B30-8FB7A3CBE33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0FC525B-7C66-30D8-C936-F2D1C9D235A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B26A4EF-F7F9-76E1-7573-E784DDB9821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C95F7A7-0638-9007-65C5-C314DC7DECE0}"/>
              </a:ext>
            </a:extLst>
          </p:cNvPr>
          <p:cNvSpPr txBox="1">
            <a:spLocks/>
          </p:cNvSpPr>
          <p:nvPr/>
        </p:nvSpPr>
        <p:spPr>
          <a:xfrm>
            <a:off x="0" y="685800"/>
            <a:ext cx="8915399" cy="58169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4. OpenStack Design (Infrastructure Cloud)</a:t>
            </a:r>
          </a:p>
          <a:p>
            <a:pPr marL="12700" marR="5080"/>
            <a:r>
              <a:rPr lang="en-US" sz="1500" kern="0" spc="-80" dirty="0">
                <a:solidFill>
                  <a:schemeClr val="accent2"/>
                </a:solidFill>
              </a:rPr>
              <a:t>4.3 Multi-Tenancy Model</a:t>
            </a:r>
          </a:p>
          <a:p>
            <a:pPr marL="12700" marR="5080"/>
            <a:r>
              <a:rPr lang="en-US" sz="1500" kern="0" spc="-80" dirty="0">
                <a:solidFill>
                  <a:schemeClr val="accent6"/>
                </a:solidFill>
              </a:rPr>
              <a:t>OpenStack Domain</a:t>
            </a:r>
          </a:p>
          <a:p>
            <a:pPr marL="12700" marR="5080"/>
            <a:r>
              <a:rPr lang="en-US" sz="1500" kern="0" spc="-80" dirty="0">
                <a:solidFill>
                  <a:schemeClr val="accent6"/>
                </a:solidFill>
              </a:rPr>
              <a:t> ├── Project (Tenant)</a:t>
            </a:r>
          </a:p>
          <a:p>
            <a:pPr marL="12700" marR="5080"/>
            <a:r>
              <a:rPr lang="en-US" sz="1500" kern="0" spc="-80" dirty="0">
                <a:solidFill>
                  <a:schemeClr val="accent6"/>
                </a:solidFill>
              </a:rPr>
              <a:t> │    ├── Networks</a:t>
            </a:r>
          </a:p>
          <a:p>
            <a:pPr marL="12700" marR="5080"/>
            <a:r>
              <a:rPr lang="en-US" sz="1500" kern="0" spc="-80" dirty="0">
                <a:solidFill>
                  <a:schemeClr val="accent6"/>
                </a:solidFill>
              </a:rPr>
              <a:t> │    ├── Subnets</a:t>
            </a:r>
          </a:p>
          <a:p>
            <a:pPr marL="12700" marR="5080"/>
            <a:r>
              <a:rPr lang="en-US" sz="1500" kern="0" spc="-80" dirty="0">
                <a:solidFill>
                  <a:schemeClr val="accent6"/>
                </a:solidFill>
              </a:rPr>
              <a:t> │    ├── Security Groups</a:t>
            </a:r>
          </a:p>
          <a:p>
            <a:pPr marL="12700" marR="5080"/>
            <a:r>
              <a:rPr lang="en-US" sz="1500" kern="0" spc="-80" dirty="0">
                <a:solidFill>
                  <a:schemeClr val="accent6"/>
                </a:solidFill>
              </a:rPr>
              <a:t> │    └── VMs</a:t>
            </a:r>
          </a:p>
          <a:p>
            <a:pPr marL="12700" marR="5080"/>
            <a:r>
              <a:rPr lang="en-US" sz="1500" kern="0" spc="-80" dirty="0">
                <a:solidFill>
                  <a:schemeClr val="accent6"/>
                </a:solidFill>
              </a:rPr>
              <a:t>Network isolation via OVN</a:t>
            </a:r>
          </a:p>
          <a:p>
            <a:pPr marL="12700" marR="5080"/>
            <a:r>
              <a:rPr lang="en-US" sz="1500" kern="0" spc="-80" dirty="0">
                <a:solidFill>
                  <a:schemeClr val="accent6"/>
                </a:solidFill>
              </a:rPr>
              <a:t>Quotas enforced per project</a:t>
            </a:r>
          </a:p>
          <a:p>
            <a:pPr marL="12700" marR="5080"/>
            <a:r>
              <a:rPr lang="en-US" sz="1500" kern="0" spc="-80" dirty="0">
                <a:solidFill>
                  <a:schemeClr val="accent6"/>
                </a:solidFill>
              </a:rPr>
              <a:t>RBAC integrated with LDAP / AD</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r>
              <a:rPr lang="en-US" sz="1500" kern="0" spc="-80" dirty="0">
                <a:solidFill>
                  <a:schemeClr val="accent2"/>
                </a:solidFill>
              </a:rPr>
              <a:t>5. Kubernetes on OpenStack (Cloud-Native Layer)</a:t>
            </a:r>
          </a:p>
          <a:p>
            <a:pPr marL="12700" marR="5080"/>
            <a:r>
              <a:rPr lang="en-US" sz="1500" kern="0" spc="-80" dirty="0">
                <a:solidFill>
                  <a:schemeClr val="accent2"/>
                </a:solidFill>
              </a:rPr>
              <a:t>5.1 Cluster Provisioning Pattern</a:t>
            </a:r>
          </a:p>
          <a:p>
            <a:pPr marL="12700" marR="5080"/>
            <a:r>
              <a:rPr lang="en-US" sz="1500" kern="0" spc="-80" dirty="0">
                <a:solidFill>
                  <a:schemeClr val="accent6"/>
                </a:solidFill>
              </a:rPr>
              <a:t>DO NOT manually create clusters.</a:t>
            </a:r>
          </a:p>
          <a:p>
            <a:pPr marL="12700" marR="5080"/>
            <a:r>
              <a:rPr lang="en-US" sz="1500" kern="0" spc="-80" dirty="0">
                <a:solidFill>
                  <a:schemeClr val="accent2"/>
                </a:solidFill>
              </a:rPr>
              <a:t>Use:</a:t>
            </a:r>
          </a:p>
          <a:p>
            <a:pPr marL="12700" marR="5080"/>
            <a:r>
              <a:rPr lang="en-US" sz="1500" kern="0" spc="-80" dirty="0">
                <a:solidFill>
                  <a:schemeClr val="accent6"/>
                </a:solidFill>
              </a:rPr>
              <a:t>Cluster API (CAPI)</a:t>
            </a:r>
          </a:p>
          <a:p>
            <a:pPr marL="12700" marR="5080"/>
            <a:r>
              <a:rPr lang="en-US" sz="1500" kern="0" spc="-80" dirty="0">
                <a:solidFill>
                  <a:schemeClr val="accent6"/>
                </a:solidFill>
              </a:rPr>
              <a:t>Magnum (optional, legacy)</a:t>
            </a:r>
          </a:p>
          <a:p>
            <a:pPr marL="12700" marR="5080"/>
            <a:r>
              <a:rPr lang="en-US" sz="1500" kern="0" spc="-80" dirty="0">
                <a:solidFill>
                  <a:schemeClr val="accent6"/>
                </a:solidFill>
              </a:rPr>
              <a:t>Rancher / OpenShift</a:t>
            </a:r>
          </a:p>
          <a:p>
            <a:pPr marL="12700" marR="5080"/>
            <a:r>
              <a:rPr lang="en-US" sz="1500" kern="0" spc="-80" dirty="0">
                <a:solidFill>
                  <a:schemeClr val="accent2"/>
                </a:solidFill>
              </a:rPr>
              <a:t>Control Flow</a:t>
            </a:r>
          </a:p>
          <a:p>
            <a:pPr marL="12700" marR="5080"/>
            <a:r>
              <a:rPr lang="en-US" sz="1500" kern="0" spc="-80" dirty="0">
                <a:solidFill>
                  <a:schemeClr val="accent6"/>
                </a:solidFill>
              </a:rPr>
              <a:t>Git → Cluster API → OpenStack APIs → VMs → K8s cluster</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03129055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B43A6-A842-BD09-EDAF-5104623F5F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0E974BD-CE1A-E386-8C5F-C1E7FBC79BC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9635C68-063D-4BD8-F599-9BC049F31E5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DA2AFDF-6458-4925-80C9-DA9FAB7969B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32CD999-0AE0-2F50-B136-CBCC354213F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F2B895C-9B8C-4C83-EAF3-CDD3C285DE5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8239DCB-814D-987E-C31D-17C4C4ED601F}"/>
              </a:ext>
            </a:extLst>
          </p:cNvPr>
          <p:cNvSpPr txBox="1">
            <a:spLocks/>
          </p:cNvSpPr>
          <p:nvPr/>
        </p:nvSpPr>
        <p:spPr>
          <a:xfrm>
            <a:off x="0" y="685800"/>
            <a:ext cx="8915399" cy="32778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5. Kubernetes on OpenStack (Cloud-Native Layer)</a:t>
            </a:r>
          </a:p>
          <a:p>
            <a:pPr marL="12700" marR="5080"/>
            <a:r>
              <a:rPr lang="en-US" sz="1500" kern="0" spc="-80" dirty="0">
                <a:solidFill>
                  <a:schemeClr val="accent2"/>
                </a:solidFill>
              </a:rPr>
              <a:t>5.2 Kubernetes Cluster Architecture</a:t>
            </a:r>
          </a:p>
          <a:p>
            <a:pPr marL="12700" marR="5080"/>
            <a:r>
              <a:rPr lang="en-US" sz="1500" kern="0" spc="-80" dirty="0">
                <a:solidFill>
                  <a:schemeClr val="accent6"/>
                </a:solidFill>
              </a:rPr>
              <a:t>OpenStack Project</a:t>
            </a:r>
          </a:p>
          <a:p>
            <a:pPr marL="12700" marR="5080"/>
            <a:r>
              <a:rPr lang="en-US" sz="1500" kern="0" spc="-80" dirty="0">
                <a:solidFill>
                  <a:schemeClr val="accent6"/>
                </a:solidFill>
              </a:rPr>
              <a:t> ├── K8s Control Plane VMs (3)</a:t>
            </a:r>
          </a:p>
          <a:p>
            <a:pPr marL="12700" marR="5080"/>
            <a:r>
              <a:rPr lang="en-US" sz="1500" kern="0" spc="-80" dirty="0">
                <a:solidFill>
                  <a:schemeClr val="accent6"/>
                </a:solidFill>
              </a:rPr>
              <a:t> ├── K8s Worker VMs (Auto-scaled)</a:t>
            </a:r>
          </a:p>
          <a:p>
            <a:pPr marL="12700" marR="5080"/>
            <a:r>
              <a:rPr lang="en-US" sz="1500" kern="0" spc="-80" dirty="0">
                <a:solidFill>
                  <a:schemeClr val="accent6"/>
                </a:solidFill>
              </a:rPr>
              <a:t> ├── Load Balancer (Octavia)</a:t>
            </a:r>
          </a:p>
          <a:p>
            <a:pPr marL="12700" marR="5080"/>
            <a:r>
              <a:rPr lang="en-US" sz="1500" kern="0" spc="-80" dirty="0">
                <a:solidFill>
                  <a:schemeClr val="accent6"/>
                </a:solidFill>
              </a:rPr>
              <a:t> └── Floating IP</a:t>
            </a:r>
          </a:p>
          <a:p>
            <a:pPr marL="12700" marR="5080"/>
            <a:r>
              <a:rPr lang="en-US" sz="1500" kern="0" spc="-80" dirty="0">
                <a:solidFill>
                  <a:schemeClr val="accent2"/>
                </a:solidFill>
              </a:rPr>
              <a:t>Components</a:t>
            </a:r>
          </a:p>
          <a:p>
            <a:pPr marL="12700" marR="5080"/>
            <a:r>
              <a:rPr lang="en-US" sz="1500" kern="0" spc="-80" dirty="0" err="1">
                <a:solidFill>
                  <a:schemeClr val="accent6"/>
                </a:solidFill>
              </a:rPr>
              <a:t>etcd</a:t>
            </a:r>
            <a:r>
              <a:rPr lang="en-US" sz="1500" kern="0" spc="-80" dirty="0">
                <a:solidFill>
                  <a:schemeClr val="accent6"/>
                </a:solidFill>
              </a:rPr>
              <a:t> (HA)</a:t>
            </a:r>
          </a:p>
          <a:p>
            <a:pPr marL="12700" marR="5080"/>
            <a:r>
              <a:rPr lang="en-US" sz="1500" kern="0" spc="-80" dirty="0" err="1">
                <a:solidFill>
                  <a:schemeClr val="accent6"/>
                </a:solidFill>
              </a:rPr>
              <a:t>kube-apiserver</a:t>
            </a:r>
            <a:endParaRPr lang="en-US" sz="1500" kern="0" spc="-80" dirty="0">
              <a:solidFill>
                <a:schemeClr val="accent6"/>
              </a:solidFill>
            </a:endParaRPr>
          </a:p>
          <a:p>
            <a:pPr marL="12700" marR="5080"/>
            <a:r>
              <a:rPr lang="en-US" sz="1500" kern="0" spc="-80" dirty="0" err="1">
                <a:solidFill>
                  <a:schemeClr val="accent6"/>
                </a:solidFill>
              </a:rPr>
              <a:t>kube</a:t>
            </a:r>
            <a:r>
              <a:rPr lang="en-US" sz="1500" kern="0" spc="-80" dirty="0">
                <a:solidFill>
                  <a:schemeClr val="accent6"/>
                </a:solidFill>
              </a:rPr>
              <a:t>-scheduler</a:t>
            </a:r>
          </a:p>
          <a:p>
            <a:pPr marL="12700" marR="5080"/>
            <a:r>
              <a:rPr lang="en-US" sz="1500" kern="0" spc="-80" dirty="0" err="1">
                <a:solidFill>
                  <a:schemeClr val="accent6"/>
                </a:solidFill>
              </a:rPr>
              <a:t>kube</a:t>
            </a:r>
            <a:r>
              <a:rPr lang="en-US" sz="1500" kern="0" spc="-80" dirty="0">
                <a:solidFill>
                  <a:schemeClr val="accent6"/>
                </a:solidFill>
              </a:rPr>
              <a:t>-controller-manager</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28784424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7300-7784-38D3-5232-54E8CE757B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2B831D-3D75-0294-F672-A362ACCD74A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8D308B3-15E4-E1DB-2195-7D86657E895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B5A6BC3-0864-DAED-DD1F-8F45C295F4D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48070BF-4DDD-7B60-0F27-5BDACDDCD6D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AA85E8B-E6A4-8140-7AF5-24D2359CF2F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F3AF23C-8E52-CC96-DC9A-0C420A4FF2E0}"/>
              </a:ext>
            </a:extLst>
          </p:cNvPr>
          <p:cNvSpPr txBox="1">
            <a:spLocks/>
          </p:cNvSpPr>
          <p:nvPr/>
        </p:nvSpPr>
        <p:spPr>
          <a:xfrm>
            <a:off x="0" y="685800"/>
            <a:ext cx="8915399" cy="55861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5. Kubernetes on OpenStack (Cloud-Native Layer)</a:t>
            </a:r>
          </a:p>
          <a:p>
            <a:pPr marL="12700" marR="5080"/>
            <a:r>
              <a:rPr lang="en-US" sz="1500" kern="0" spc="-80" dirty="0">
                <a:solidFill>
                  <a:schemeClr val="accent2"/>
                </a:solidFill>
              </a:rPr>
              <a:t>5.3 Kubernetes Networking</a:t>
            </a:r>
          </a:p>
          <a:p>
            <a:pPr marL="12700" marR="5080"/>
            <a:r>
              <a:rPr lang="en-US" sz="1500" kern="0" spc="-80" dirty="0">
                <a:solidFill>
                  <a:schemeClr val="accent6"/>
                </a:solidFill>
              </a:rPr>
              <a:t>Option A (Most Common)</a:t>
            </a:r>
          </a:p>
          <a:p>
            <a:pPr marL="12700" marR="5080"/>
            <a:r>
              <a:rPr lang="en-US" sz="1500" kern="0" spc="-80" dirty="0">
                <a:solidFill>
                  <a:schemeClr val="accent6"/>
                </a:solidFill>
              </a:rPr>
              <a:t>Neutron + OVN</a:t>
            </a:r>
          </a:p>
          <a:p>
            <a:pPr marL="12700" marR="5080"/>
            <a:r>
              <a:rPr lang="en-US" sz="1500" kern="0" spc="-80" dirty="0">
                <a:solidFill>
                  <a:schemeClr val="accent6"/>
                </a:solidFill>
              </a:rPr>
              <a:t>Calico (policy only)</a:t>
            </a:r>
          </a:p>
          <a:p>
            <a:pPr marL="12700" marR="5080"/>
            <a:r>
              <a:rPr lang="en-US" sz="1500" kern="0" spc="-80" dirty="0">
                <a:solidFill>
                  <a:schemeClr val="accent6"/>
                </a:solidFill>
              </a:rPr>
              <a:t>CNI routed via Neutron</a:t>
            </a:r>
          </a:p>
          <a:p>
            <a:pPr marL="12700" marR="5080"/>
            <a:r>
              <a:rPr lang="en-US" sz="1500" kern="0" spc="-80" dirty="0">
                <a:solidFill>
                  <a:schemeClr val="accent6"/>
                </a:solidFill>
              </a:rPr>
              <a:t>Option B (Advanced)</a:t>
            </a:r>
          </a:p>
          <a:p>
            <a:pPr marL="12700" marR="5080"/>
            <a:r>
              <a:rPr lang="en-US" sz="1500" kern="0" spc="-80" dirty="0" err="1">
                <a:solidFill>
                  <a:schemeClr val="accent6"/>
                </a:solidFill>
              </a:rPr>
              <a:t>Kuryr</a:t>
            </a:r>
            <a:r>
              <a:rPr lang="en-US" sz="1500" kern="0" spc="-80" dirty="0">
                <a:solidFill>
                  <a:schemeClr val="accent6"/>
                </a:solidFill>
              </a:rPr>
              <a:t>-Kubernetes (Pods = Neutron ports)</a:t>
            </a:r>
          </a:p>
          <a:p>
            <a:pPr marL="12700" marR="5080"/>
            <a:r>
              <a:rPr lang="en-US" sz="1500" kern="0" spc="-80" dirty="0">
                <a:solidFill>
                  <a:schemeClr val="accent6"/>
                </a:solidFill>
              </a:rPr>
              <a:t>True OpenStack-native networking</a:t>
            </a:r>
          </a:p>
          <a:p>
            <a:pPr marL="12700" marR="5080"/>
            <a:endParaRPr lang="en-US" sz="1500" kern="0" spc="-80" dirty="0">
              <a:solidFill>
                <a:schemeClr val="accent6"/>
              </a:solidFill>
            </a:endParaRPr>
          </a:p>
          <a:p>
            <a:pPr marL="12700" marR="5080"/>
            <a:r>
              <a:rPr lang="en-US" sz="1500" kern="0" spc="-80" dirty="0">
                <a:solidFill>
                  <a:schemeClr val="accent2"/>
                </a:solidFill>
              </a:rPr>
              <a:t>6. Storage Integration (Ceph provides backbone)</a:t>
            </a:r>
          </a:p>
          <a:p>
            <a:pPr marL="12700" marR="5080"/>
            <a:r>
              <a:rPr lang="en-US" sz="1500" kern="0" spc="-80" dirty="0">
                <a:solidFill>
                  <a:schemeClr val="accent6"/>
                </a:solidFill>
              </a:rPr>
              <a:t>Ceph provides block, object, and file storage.</a:t>
            </a:r>
          </a:p>
          <a:p>
            <a:pPr marL="12700" marR="5080"/>
            <a:r>
              <a:rPr lang="en-US" sz="1500" kern="0" spc="-80" dirty="0">
                <a:solidFill>
                  <a:schemeClr val="accent2"/>
                </a:solidFill>
              </a:rPr>
              <a:t>Ceph Service	Used By</a:t>
            </a:r>
          </a:p>
          <a:p>
            <a:pPr marL="12700" marR="5080"/>
            <a:r>
              <a:rPr lang="en-US" sz="1500" kern="0" spc="-80" dirty="0">
                <a:solidFill>
                  <a:schemeClr val="accent6"/>
                </a:solidFill>
              </a:rPr>
              <a:t>RBD	                  OpenStack Cinder</a:t>
            </a:r>
          </a:p>
          <a:p>
            <a:pPr marL="12700" marR="5080"/>
            <a:r>
              <a:rPr lang="en-US" sz="1500" kern="0" spc="-80" dirty="0">
                <a:solidFill>
                  <a:schemeClr val="accent6"/>
                </a:solidFill>
              </a:rPr>
              <a:t>RGW	                  Swift / S3</a:t>
            </a:r>
          </a:p>
          <a:p>
            <a:pPr marL="12700" marR="5080"/>
            <a:r>
              <a:rPr lang="en-US" sz="1500" kern="0" spc="-80" dirty="0" err="1">
                <a:solidFill>
                  <a:schemeClr val="accent6"/>
                </a:solidFill>
              </a:rPr>
              <a:t>CephFS</a:t>
            </a:r>
            <a:r>
              <a:rPr lang="en-US" sz="1500" kern="0" spc="-80" dirty="0">
                <a:solidFill>
                  <a:schemeClr val="accent6"/>
                </a:solidFill>
              </a:rPr>
              <a:t>	                  Shared volumes</a:t>
            </a:r>
          </a:p>
          <a:p>
            <a:pPr marL="12700" marR="5080"/>
            <a:r>
              <a:rPr lang="en-US" sz="1500" kern="0" spc="-80" dirty="0">
                <a:solidFill>
                  <a:schemeClr val="accent6"/>
                </a:solidFill>
              </a:rPr>
              <a:t>CSI	                  Kubernetes PVCs</a:t>
            </a:r>
          </a:p>
          <a:p>
            <a:pPr marL="12700" marR="5080"/>
            <a:r>
              <a:rPr lang="en-US" sz="1500" kern="0" spc="-80" dirty="0">
                <a:solidFill>
                  <a:schemeClr val="accent6"/>
                </a:solidFill>
              </a:rPr>
              <a:t>Enterprise Features</a:t>
            </a:r>
          </a:p>
          <a:p>
            <a:pPr marL="12700" marR="5080"/>
            <a:r>
              <a:rPr lang="en-US" sz="1500" kern="0" spc="-80" dirty="0">
                <a:solidFill>
                  <a:schemeClr val="accent6"/>
                </a:solidFill>
              </a:rPr>
              <a:t>Replication factor = 3</a:t>
            </a:r>
          </a:p>
          <a:p>
            <a:pPr marL="12700" marR="5080"/>
            <a:r>
              <a:rPr lang="en-US" sz="1500" kern="0" spc="-80" dirty="0">
                <a:solidFill>
                  <a:schemeClr val="accent6"/>
                </a:solidFill>
              </a:rPr>
              <a:t>Encryption at rest</a:t>
            </a:r>
          </a:p>
          <a:p>
            <a:pPr marL="12700" marR="5080"/>
            <a:r>
              <a:rPr lang="en-US" sz="1500" kern="0" spc="-80" dirty="0">
                <a:solidFill>
                  <a:schemeClr val="accent6"/>
                </a:solidFill>
              </a:rPr>
              <a:t>Snapshot + clone</a:t>
            </a:r>
          </a:p>
          <a:p>
            <a:pPr marL="12700" marR="5080"/>
            <a:r>
              <a:rPr lang="en-US" sz="1500" kern="0" spc="-80" dirty="0">
                <a:solidFill>
                  <a:schemeClr val="accent6"/>
                </a:solidFill>
              </a:rPr>
              <a:t>Multi-pool isolation</a:t>
            </a: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48594580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F4439-829D-3394-FF99-06D8BD116B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42CB700-8A9E-E190-871E-7EDE1D6829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DF3832-A845-B954-D2AD-348C0ABB9D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2B56FFC-0878-8B93-3108-8A6A5759EC5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659839B-3419-DD59-3703-806EC7A5431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4C1F945-A6CD-EA2B-359B-8197A8527E3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D8E79A7-1198-4AF2-FA2E-DE939E6688B2}"/>
              </a:ext>
            </a:extLst>
          </p:cNvPr>
          <p:cNvSpPr txBox="1">
            <a:spLocks/>
          </p:cNvSpPr>
          <p:nvPr/>
        </p:nvSpPr>
        <p:spPr>
          <a:xfrm>
            <a:off x="0" y="685800"/>
            <a:ext cx="8915399" cy="55861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6. Storage Integration (Ceph provides backbone)</a:t>
            </a:r>
          </a:p>
          <a:p>
            <a:pPr marL="12700" marR="5080"/>
            <a:r>
              <a:rPr lang="en-US" sz="1500" kern="0" spc="-80" dirty="0">
                <a:solidFill>
                  <a:schemeClr val="accent2"/>
                </a:solidFill>
              </a:rPr>
              <a:t>OpenStack</a:t>
            </a:r>
          </a:p>
          <a:p>
            <a:pPr marL="12700" marR="5080"/>
            <a:r>
              <a:rPr lang="en-US" sz="1500" kern="0" spc="-80" dirty="0">
                <a:solidFill>
                  <a:schemeClr val="accent6"/>
                </a:solidFill>
              </a:rPr>
              <a:t>Cinder → Ceph RBD</a:t>
            </a:r>
          </a:p>
          <a:p>
            <a:pPr marL="12700" marR="5080"/>
            <a:r>
              <a:rPr lang="en-US" sz="1500" kern="0" spc="-80" dirty="0">
                <a:solidFill>
                  <a:schemeClr val="accent6"/>
                </a:solidFill>
              </a:rPr>
              <a:t>Glance → Ceph</a:t>
            </a:r>
          </a:p>
          <a:p>
            <a:pPr marL="12700" marR="5080"/>
            <a:r>
              <a:rPr lang="en-US" sz="1500" kern="0" spc="-80" dirty="0">
                <a:solidFill>
                  <a:schemeClr val="accent6"/>
                </a:solidFill>
              </a:rPr>
              <a:t>Nova ephemeral → Ceph</a:t>
            </a:r>
          </a:p>
          <a:p>
            <a:pPr marL="12700" marR="5080"/>
            <a:r>
              <a:rPr lang="en-US" sz="1500" kern="0" spc="-80" dirty="0">
                <a:solidFill>
                  <a:schemeClr val="accent2"/>
                </a:solidFill>
              </a:rPr>
              <a:t>Kubernetes</a:t>
            </a:r>
          </a:p>
          <a:p>
            <a:pPr marL="12700" marR="5080"/>
            <a:r>
              <a:rPr lang="en-US" sz="1500" kern="0" spc="-80" dirty="0">
                <a:solidFill>
                  <a:schemeClr val="accent6"/>
                </a:solidFill>
              </a:rPr>
              <a:t>CSI RBD</a:t>
            </a:r>
          </a:p>
          <a:p>
            <a:pPr marL="12700" marR="5080"/>
            <a:r>
              <a:rPr lang="en-US" sz="1500" kern="0" spc="-80" dirty="0">
                <a:solidFill>
                  <a:schemeClr val="accent6"/>
                </a:solidFill>
              </a:rPr>
              <a:t>CSI </a:t>
            </a:r>
            <a:r>
              <a:rPr lang="en-US" sz="1500" kern="0" spc="-80" dirty="0" err="1">
                <a:solidFill>
                  <a:schemeClr val="accent6"/>
                </a:solidFill>
              </a:rPr>
              <a:t>CephFS</a:t>
            </a:r>
            <a:endParaRPr lang="en-US" sz="1500" kern="0" spc="-80" dirty="0">
              <a:solidFill>
                <a:schemeClr val="accent6"/>
              </a:solidFill>
            </a:endParaRPr>
          </a:p>
          <a:p>
            <a:pPr marL="12700" marR="5080"/>
            <a:r>
              <a:rPr lang="en-US" sz="1500" kern="0" spc="-80" dirty="0">
                <a:solidFill>
                  <a:schemeClr val="accent2"/>
                </a:solidFill>
              </a:rPr>
              <a:t>Storage Classes</a:t>
            </a:r>
          </a:p>
          <a:p>
            <a:pPr marL="12700" marR="5080"/>
            <a:r>
              <a:rPr lang="en-US" sz="1500" kern="0" spc="-80" dirty="0">
                <a:solidFill>
                  <a:schemeClr val="accent6"/>
                </a:solidFill>
              </a:rPr>
              <a:t>gold   → </a:t>
            </a:r>
            <a:r>
              <a:rPr lang="en-US" sz="1500" kern="0" spc="-80" dirty="0" err="1">
                <a:solidFill>
                  <a:schemeClr val="accent6"/>
                </a:solidFill>
              </a:rPr>
              <a:t>NVMe</a:t>
            </a:r>
            <a:r>
              <a:rPr lang="en-US" sz="1500" kern="0" spc="-80" dirty="0">
                <a:solidFill>
                  <a:schemeClr val="accent6"/>
                </a:solidFill>
              </a:rPr>
              <a:t>, 3 replicas</a:t>
            </a:r>
          </a:p>
          <a:p>
            <a:pPr marL="12700" marR="5080"/>
            <a:r>
              <a:rPr lang="en-US" sz="1500" kern="0" spc="-80" dirty="0">
                <a:solidFill>
                  <a:schemeClr val="accent6"/>
                </a:solidFill>
              </a:rPr>
              <a:t>silver → SSD, 2 replicas</a:t>
            </a:r>
          </a:p>
          <a:p>
            <a:pPr marL="12700" marR="5080"/>
            <a:r>
              <a:rPr lang="en-US" sz="1500" kern="0" spc="-80" dirty="0">
                <a:solidFill>
                  <a:schemeClr val="accent6"/>
                </a:solidFill>
              </a:rPr>
              <a:t>bronze → HDD, erasure coded</a:t>
            </a:r>
          </a:p>
          <a:p>
            <a:pPr marL="12700" marR="5080"/>
            <a:r>
              <a:rPr lang="en-US" sz="1500" kern="0" spc="-80" dirty="0">
                <a:solidFill>
                  <a:schemeClr val="accent2"/>
                </a:solidFill>
              </a:rPr>
              <a:t>7. Platform Services on Kubernetes (PaaS Layer)</a:t>
            </a:r>
          </a:p>
          <a:p>
            <a:pPr marL="12700" marR="5080"/>
            <a:r>
              <a:rPr lang="en-US" sz="1500" kern="0" spc="-80" dirty="0">
                <a:solidFill>
                  <a:schemeClr val="accent2"/>
                </a:solidFill>
              </a:rPr>
              <a:t>Capability	                 Tool</a:t>
            </a:r>
          </a:p>
          <a:p>
            <a:pPr marL="12700" marR="5080"/>
            <a:r>
              <a:rPr lang="en-US" sz="1500" kern="0" spc="-80" dirty="0">
                <a:solidFill>
                  <a:schemeClr val="accent6"/>
                </a:solidFill>
              </a:rPr>
              <a:t>Ingress	                  NGINX / </a:t>
            </a:r>
            <a:r>
              <a:rPr lang="en-US" sz="1500" kern="0" spc="-80" dirty="0" err="1">
                <a:solidFill>
                  <a:schemeClr val="accent6"/>
                </a:solidFill>
              </a:rPr>
              <a:t>HAProxy</a:t>
            </a:r>
            <a:endParaRPr lang="en-US" sz="1500" kern="0" spc="-80" dirty="0">
              <a:solidFill>
                <a:schemeClr val="accent6"/>
              </a:solidFill>
            </a:endParaRPr>
          </a:p>
          <a:p>
            <a:pPr marL="12700" marR="5080"/>
            <a:r>
              <a:rPr lang="en-US" sz="1500" kern="0" spc="-80" dirty="0">
                <a:solidFill>
                  <a:schemeClr val="accent6"/>
                </a:solidFill>
              </a:rPr>
              <a:t>API Gateway	Kong</a:t>
            </a:r>
          </a:p>
          <a:p>
            <a:pPr marL="12700" marR="5080"/>
            <a:r>
              <a:rPr lang="en-US" sz="1500" kern="0" spc="-80" dirty="0">
                <a:solidFill>
                  <a:schemeClr val="accent6"/>
                </a:solidFill>
              </a:rPr>
              <a:t>Secrets	                  Vault</a:t>
            </a:r>
          </a:p>
          <a:p>
            <a:pPr marL="12700" marR="5080"/>
            <a:r>
              <a:rPr lang="en-US" sz="1500" kern="0" spc="-80" dirty="0">
                <a:solidFill>
                  <a:schemeClr val="accent6"/>
                </a:solidFill>
              </a:rPr>
              <a:t>Certs	                  cert-manager</a:t>
            </a:r>
          </a:p>
          <a:p>
            <a:pPr marL="12700" marR="5080"/>
            <a:r>
              <a:rPr lang="en-US" sz="1500" kern="0" spc="-80" dirty="0">
                <a:solidFill>
                  <a:schemeClr val="accent6"/>
                </a:solidFill>
              </a:rPr>
              <a:t>DB	                  PostgreSQL Operator</a:t>
            </a:r>
          </a:p>
          <a:p>
            <a:pPr marL="12700" marR="5080"/>
            <a:r>
              <a:rPr lang="en-US" sz="1500" kern="0" spc="-80" dirty="0">
                <a:solidFill>
                  <a:schemeClr val="accent6"/>
                </a:solidFill>
              </a:rPr>
              <a:t>Messaging	Kafka</a:t>
            </a:r>
          </a:p>
          <a:p>
            <a:pPr marL="12700" marR="5080"/>
            <a:r>
              <a:rPr lang="en-US" sz="1500" kern="0" spc="-80" dirty="0">
                <a:solidFill>
                  <a:schemeClr val="accent6"/>
                </a:solidFill>
              </a:rPr>
              <a:t>CI/CD	                  GitLab</a:t>
            </a:r>
          </a:p>
          <a:p>
            <a:pPr marL="12700" marR="5080"/>
            <a:r>
              <a:rPr lang="en-US" sz="1500" kern="0" spc="-80" dirty="0">
                <a:solidFill>
                  <a:schemeClr val="accent6"/>
                </a:solidFill>
              </a:rPr>
              <a:t>Service Mesh	Istio / </a:t>
            </a:r>
            <a:r>
              <a:rPr lang="en-US" sz="1500" kern="0" spc="-80" dirty="0" err="1">
                <a:solidFill>
                  <a:schemeClr val="accent6"/>
                </a:solidFill>
              </a:rPr>
              <a:t>Linkerd</a:t>
            </a:r>
            <a:endParaRPr lang="en-US" sz="1500" kern="0" spc="-80" dirty="0">
              <a:solidFill>
                <a:schemeClr val="accent6"/>
              </a:solidFill>
            </a:endParaRP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213246490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AB6-87F2-C2E3-2460-451FAEF2D86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3C7685-F364-6A90-37DC-8910303D67A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9684F68-A5F1-DE4F-4D62-8ACDE983A17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A07C180-97C7-BBB7-714A-0250FC0A471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4F0285C-C8E0-F3FB-0AD1-8763DC79768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50CE842-20C5-5917-257C-D5F55AFF244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FE591A2-F27F-4CD9-1829-27C4CCAAA241}"/>
              </a:ext>
            </a:extLst>
          </p:cNvPr>
          <p:cNvSpPr txBox="1">
            <a:spLocks/>
          </p:cNvSpPr>
          <p:nvPr/>
        </p:nvSpPr>
        <p:spPr>
          <a:xfrm>
            <a:off x="0" y="685800"/>
            <a:ext cx="8915399" cy="627864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450" kern="0" spc="-80" dirty="0">
                <a:solidFill>
                  <a:schemeClr val="accent2"/>
                </a:solidFill>
              </a:rPr>
              <a:t>8. Identity, Security &amp; Zero Trust</a:t>
            </a:r>
          </a:p>
          <a:p>
            <a:pPr marL="12700" marR="5080"/>
            <a:r>
              <a:rPr lang="en-US" sz="1450" kern="0" spc="-80" dirty="0">
                <a:solidFill>
                  <a:schemeClr val="accent2"/>
                </a:solidFill>
              </a:rPr>
              <a:t>Identity Flow</a:t>
            </a:r>
          </a:p>
          <a:p>
            <a:pPr marL="12700" marR="5080"/>
            <a:r>
              <a:rPr lang="en-US" sz="1450" kern="0" spc="-80" dirty="0">
                <a:solidFill>
                  <a:schemeClr val="accent2"/>
                </a:solidFill>
              </a:rPr>
              <a:t>User → SSO (AD/LDAP)</a:t>
            </a:r>
          </a:p>
          <a:p>
            <a:pPr marL="12700" marR="5080"/>
            <a:r>
              <a:rPr lang="en-US" sz="1450" kern="0" spc="-80" dirty="0">
                <a:solidFill>
                  <a:schemeClr val="accent6"/>
                </a:solidFill>
              </a:rPr>
              <a:t>     → Keystone</a:t>
            </a:r>
          </a:p>
          <a:p>
            <a:pPr marL="12700" marR="5080"/>
            <a:r>
              <a:rPr lang="en-US" sz="1450" kern="0" spc="-80" dirty="0">
                <a:solidFill>
                  <a:schemeClr val="accent6"/>
                </a:solidFill>
              </a:rPr>
              <a:t>     → Kubernetes RBAC</a:t>
            </a:r>
          </a:p>
          <a:p>
            <a:pPr marL="12700" marR="5080"/>
            <a:r>
              <a:rPr lang="en-US" sz="1450" kern="0" spc="-80" dirty="0">
                <a:solidFill>
                  <a:schemeClr val="accent2"/>
                </a:solidFill>
              </a:rPr>
              <a:t>Tenant Model</a:t>
            </a:r>
          </a:p>
          <a:p>
            <a:pPr marL="12700" marR="5080"/>
            <a:r>
              <a:rPr lang="en-US" sz="1450" kern="0" spc="-80" dirty="0">
                <a:solidFill>
                  <a:schemeClr val="accent6"/>
                </a:solidFill>
              </a:rPr>
              <a:t>OpenStack Project</a:t>
            </a:r>
          </a:p>
          <a:p>
            <a:pPr marL="12700" marR="5080"/>
            <a:r>
              <a:rPr lang="en-US" sz="1450" kern="0" spc="-80" dirty="0">
                <a:solidFill>
                  <a:schemeClr val="accent6"/>
                </a:solidFill>
              </a:rPr>
              <a:t> └── Kubernetes Cluster</a:t>
            </a:r>
          </a:p>
          <a:p>
            <a:pPr marL="12700" marR="5080"/>
            <a:r>
              <a:rPr lang="en-US" sz="1450" kern="0" spc="-80" dirty="0">
                <a:solidFill>
                  <a:schemeClr val="accent6"/>
                </a:solidFill>
              </a:rPr>
              <a:t>     └── Namespace</a:t>
            </a:r>
          </a:p>
          <a:p>
            <a:pPr marL="12700" marR="5080"/>
            <a:r>
              <a:rPr lang="en-US" sz="1450" kern="0" spc="-80" dirty="0">
                <a:solidFill>
                  <a:schemeClr val="accent2"/>
                </a:solidFill>
              </a:rPr>
              <a:t>Security</a:t>
            </a:r>
          </a:p>
          <a:p>
            <a:pPr marL="12700" marR="5080"/>
            <a:r>
              <a:rPr lang="en-US" sz="1450" kern="0" spc="-80" dirty="0">
                <a:solidFill>
                  <a:schemeClr val="accent6"/>
                </a:solidFill>
              </a:rPr>
              <a:t>OIDC for K8s</a:t>
            </a:r>
          </a:p>
          <a:p>
            <a:pPr marL="12700" marR="5080"/>
            <a:r>
              <a:rPr lang="en-US" sz="1450" kern="0" spc="-80" dirty="0">
                <a:solidFill>
                  <a:schemeClr val="accent6"/>
                </a:solidFill>
              </a:rPr>
              <a:t>Namespace isolation</a:t>
            </a:r>
          </a:p>
          <a:p>
            <a:pPr marL="12700" marR="5080"/>
            <a:r>
              <a:rPr lang="en-US" sz="1450" kern="0" spc="-80" dirty="0">
                <a:solidFill>
                  <a:schemeClr val="accent6"/>
                </a:solidFill>
              </a:rPr>
              <a:t>Network Policies enforced</a:t>
            </a:r>
          </a:p>
          <a:p>
            <a:pPr marL="12700" marR="5080"/>
            <a:r>
              <a:rPr lang="en-US" sz="1450" kern="0" spc="-80" dirty="0">
                <a:solidFill>
                  <a:schemeClr val="accent2"/>
                </a:solidFill>
              </a:rPr>
              <a:t>8.2 Network Security</a:t>
            </a:r>
          </a:p>
          <a:p>
            <a:pPr marL="12700" marR="5080"/>
            <a:r>
              <a:rPr lang="en-US" sz="1450" kern="0" spc="-80" dirty="0">
                <a:solidFill>
                  <a:schemeClr val="accent6"/>
                </a:solidFill>
              </a:rPr>
              <a:t>Neutron security groups</a:t>
            </a:r>
          </a:p>
          <a:p>
            <a:pPr marL="12700" marR="5080"/>
            <a:r>
              <a:rPr lang="en-US" sz="1450" kern="0" spc="-80" dirty="0">
                <a:solidFill>
                  <a:schemeClr val="accent6"/>
                </a:solidFill>
              </a:rPr>
              <a:t>Kubernetes </a:t>
            </a:r>
            <a:r>
              <a:rPr lang="en-US" sz="1450" kern="0" spc="-80" dirty="0" err="1">
                <a:solidFill>
                  <a:schemeClr val="accent6"/>
                </a:solidFill>
              </a:rPr>
              <a:t>NetworkPolicies</a:t>
            </a:r>
            <a:endParaRPr lang="en-US" sz="1450" kern="0" spc="-80" dirty="0">
              <a:solidFill>
                <a:schemeClr val="accent6"/>
              </a:solidFill>
            </a:endParaRPr>
          </a:p>
          <a:p>
            <a:pPr marL="12700" marR="5080"/>
            <a:r>
              <a:rPr lang="en-US" sz="1450" kern="0" spc="-80" dirty="0" err="1">
                <a:solidFill>
                  <a:schemeClr val="accent6"/>
                </a:solidFill>
              </a:rPr>
              <a:t>mTLS</a:t>
            </a:r>
            <a:r>
              <a:rPr lang="en-US" sz="1450" kern="0" spc="-80" dirty="0">
                <a:solidFill>
                  <a:schemeClr val="accent6"/>
                </a:solidFill>
              </a:rPr>
              <a:t> between services</a:t>
            </a:r>
          </a:p>
          <a:p>
            <a:pPr marL="12700" marR="5080"/>
            <a:r>
              <a:rPr lang="en-US" sz="1450" kern="0" spc="-80" dirty="0">
                <a:solidFill>
                  <a:schemeClr val="accent6"/>
                </a:solidFill>
              </a:rPr>
              <a:t>No flat networks</a:t>
            </a:r>
          </a:p>
          <a:p>
            <a:pPr marL="12700" marR="5080"/>
            <a:r>
              <a:rPr lang="en-US" sz="1450" kern="0" spc="-80" dirty="0">
                <a:solidFill>
                  <a:schemeClr val="accent2"/>
                </a:solidFill>
              </a:rPr>
              <a:t>8.3 Runtime Security</a:t>
            </a:r>
          </a:p>
          <a:p>
            <a:pPr marL="12700" marR="5080"/>
            <a:r>
              <a:rPr lang="en-US" sz="1450" kern="0" spc="-80" dirty="0">
                <a:solidFill>
                  <a:schemeClr val="accent6"/>
                </a:solidFill>
              </a:rPr>
              <a:t>Image scanning (</a:t>
            </a:r>
            <a:r>
              <a:rPr lang="en-US" sz="1450" kern="0" spc="-80" dirty="0" err="1">
                <a:solidFill>
                  <a:schemeClr val="accent6"/>
                </a:solidFill>
              </a:rPr>
              <a:t>Trivy</a:t>
            </a:r>
            <a:r>
              <a:rPr lang="en-US" sz="1450" kern="0" spc="-80" dirty="0">
                <a:solidFill>
                  <a:schemeClr val="accent6"/>
                </a:solidFill>
              </a:rPr>
              <a:t>)</a:t>
            </a:r>
          </a:p>
          <a:p>
            <a:pPr marL="12700" marR="5080"/>
            <a:r>
              <a:rPr lang="en-US" sz="1450" kern="0" spc="-80" dirty="0">
                <a:solidFill>
                  <a:schemeClr val="accent6"/>
                </a:solidFill>
              </a:rPr>
              <a:t>Admission control (OPA Gatekeeper)</a:t>
            </a:r>
          </a:p>
          <a:p>
            <a:pPr marL="12700" marR="5080"/>
            <a:r>
              <a:rPr lang="en-US" sz="1450" kern="0" spc="-80" dirty="0">
                <a:solidFill>
                  <a:schemeClr val="accent6"/>
                </a:solidFill>
              </a:rPr>
              <a:t>Runtime detection (Falco)</a:t>
            </a:r>
          </a:p>
          <a:p>
            <a:pPr marL="12700" marR="5080"/>
            <a:r>
              <a:rPr lang="en-US" sz="1450" kern="0" spc="-80" dirty="0">
                <a:solidFill>
                  <a:schemeClr val="accent6"/>
                </a:solidFill>
              </a:rPr>
              <a:t>Immutable nodes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34827463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F469-2A09-C003-6EFD-C5B8CE65B7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116B25-8B8F-4784-98A0-D0465F8D21C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0974DEB-242B-D268-0AAB-53AE930B748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C0D1CC2-BD57-1690-6845-9AFB6F97E0D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BDF640-2100-52DE-DBA9-EB4779BE1A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1B3091A-9B5C-CB21-E686-0F699105471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A26BF5F-4098-CF2C-89D8-E769E11510B8}"/>
              </a:ext>
            </a:extLst>
          </p:cNvPr>
          <p:cNvSpPr txBox="1">
            <a:spLocks/>
          </p:cNvSpPr>
          <p:nvPr/>
        </p:nvSpPr>
        <p:spPr>
          <a:xfrm>
            <a:off x="0" y="685800"/>
            <a:ext cx="8915399"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9. Automation &amp; </a:t>
            </a:r>
            <a:r>
              <a:rPr lang="en-US" sz="1500" kern="0" spc="-80" dirty="0" err="1">
                <a:solidFill>
                  <a:schemeClr val="accent2"/>
                </a:solidFill>
              </a:rPr>
              <a:t>GitOps</a:t>
            </a:r>
            <a:r>
              <a:rPr lang="en-US" sz="1500" kern="0" spc="-80" dirty="0">
                <a:solidFill>
                  <a:schemeClr val="accent2"/>
                </a:solidFill>
              </a:rPr>
              <a:t> (Mandatory)</a:t>
            </a:r>
          </a:p>
          <a:p>
            <a:pPr marL="12700" marR="5080"/>
            <a:r>
              <a:rPr lang="en-US" sz="1500" kern="0" spc="-80" dirty="0">
                <a:solidFill>
                  <a:schemeClr val="accent6"/>
                </a:solidFill>
              </a:rPr>
              <a:t>Promotion via PRs</a:t>
            </a:r>
          </a:p>
          <a:p>
            <a:pPr marL="12700" marR="5080"/>
            <a:r>
              <a:rPr lang="en-US" sz="1500" kern="0" spc="-80" dirty="0">
                <a:solidFill>
                  <a:schemeClr val="accent2"/>
                </a:solidFill>
              </a:rPr>
              <a:t>9.1 </a:t>
            </a:r>
            <a:r>
              <a:rPr lang="en-US" sz="1500" kern="0" spc="-80" dirty="0" err="1">
                <a:solidFill>
                  <a:schemeClr val="accent2"/>
                </a:solidFill>
              </a:rPr>
              <a:t>IaC</a:t>
            </a:r>
            <a:r>
              <a:rPr lang="en-US" sz="1500" kern="0" spc="-80" dirty="0">
                <a:solidFill>
                  <a:schemeClr val="accent2"/>
                </a:solidFill>
              </a:rPr>
              <a:t> Stack</a:t>
            </a:r>
          </a:p>
          <a:p>
            <a:pPr marL="12700" marR="5080"/>
            <a:r>
              <a:rPr lang="en-US" sz="1500" kern="0" spc="-80" dirty="0">
                <a:solidFill>
                  <a:schemeClr val="accent2"/>
                </a:solidFill>
              </a:rPr>
              <a:t>Layer	                  Tool</a:t>
            </a:r>
          </a:p>
          <a:p>
            <a:pPr marL="12700" marR="5080"/>
            <a:r>
              <a:rPr lang="en-US" sz="1500" kern="0" spc="-80" dirty="0">
                <a:solidFill>
                  <a:schemeClr val="accent6"/>
                </a:solidFill>
              </a:rPr>
              <a:t>Bare metal	Ironic</a:t>
            </a:r>
          </a:p>
          <a:p>
            <a:pPr marL="12700" marR="5080"/>
            <a:r>
              <a:rPr lang="en-US" sz="1500" kern="0" spc="-80" dirty="0">
                <a:solidFill>
                  <a:schemeClr val="accent6"/>
                </a:solidFill>
              </a:rPr>
              <a:t>OpenStack	Terraform</a:t>
            </a:r>
          </a:p>
          <a:p>
            <a:pPr marL="12700" marR="5080"/>
            <a:r>
              <a:rPr lang="en-US" sz="1500" kern="0" spc="-80" dirty="0">
                <a:solidFill>
                  <a:schemeClr val="accent6"/>
                </a:solidFill>
              </a:rPr>
              <a:t>K8s clusters	Cluster API</a:t>
            </a:r>
          </a:p>
          <a:p>
            <a:pPr marL="12700" marR="5080"/>
            <a:r>
              <a:rPr lang="en-US" sz="1500" kern="0" spc="-80" dirty="0">
                <a:solidFill>
                  <a:schemeClr val="accent6"/>
                </a:solidFill>
              </a:rPr>
              <a:t>Apps	                  Helm</a:t>
            </a:r>
          </a:p>
          <a:p>
            <a:pPr marL="12700" marR="5080"/>
            <a:r>
              <a:rPr lang="en-US" sz="1500" kern="0" spc="-80" dirty="0">
                <a:solidFill>
                  <a:schemeClr val="accent6"/>
                </a:solidFill>
              </a:rPr>
              <a:t>Sync	                  </a:t>
            </a:r>
            <a:r>
              <a:rPr lang="en-US" sz="1500" kern="0" spc="-80" dirty="0" err="1">
                <a:solidFill>
                  <a:schemeClr val="accent6"/>
                </a:solidFill>
              </a:rPr>
              <a:t>ArgoCD</a:t>
            </a:r>
            <a:endParaRPr lang="en-US" sz="1500" kern="0" spc="-80" dirty="0">
              <a:solidFill>
                <a:schemeClr val="accent6"/>
              </a:solidFill>
            </a:endParaRPr>
          </a:p>
          <a:p>
            <a:pPr marL="12700" marR="5080"/>
            <a:endParaRPr lang="en-US" sz="1500" kern="0" spc="-80" dirty="0">
              <a:solidFill>
                <a:schemeClr val="accent6"/>
              </a:solidFill>
            </a:endParaRPr>
          </a:p>
          <a:p>
            <a:pPr marL="12700" marR="5080"/>
            <a:r>
              <a:rPr lang="en-US" sz="1500" kern="0" spc="-80" dirty="0">
                <a:solidFill>
                  <a:schemeClr val="accent2"/>
                </a:solidFill>
              </a:rPr>
              <a:t>9.2 Repo Structure</a:t>
            </a:r>
          </a:p>
          <a:p>
            <a:pPr marL="12700" marR="5080"/>
            <a:r>
              <a:rPr lang="en-US" sz="1500" kern="0" spc="-80" dirty="0">
                <a:solidFill>
                  <a:schemeClr val="accent6"/>
                </a:solidFill>
              </a:rPr>
              <a:t>infra/</a:t>
            </a:r>
          </a:p>
          <a:p>
            <a:pPr marL="12700" marR="5080"/>
            <a:r>
              <a:rPr lang="en-US" sz="1500" kern="0" spc="-80" dirty="0">
                <a:solidFill>
                  <a:schemeClr val="accent6"/>
                </a:solidFill>
              </a:rPr>
              <a:t> ├── </a:t>
            </a:r>
            <a:r>
              <a:rPr lang="en-US" sz="1500" kern="0" spc="-80" dirty="0" err="1">
                <a:solidFill>
                  <a:schemeClr val="accent6"/>
                </a:solidFill>
              </a:rPr>
              <a:t>openstack</a:t>
            </a:r>
            <a:r>
              <a:rPr lang="en-US" sz="1500" kern="0" spc="-80" dirty="0">
                <a:solidFill>
                  <a:schemeClr val="accent6"/>
                </a:solidFill>
              </a:rPr>
              <a:t>/</a:t>
            </a:r>
          </a:p>
          <a:p>
            <a:pPr marL="12700" marR="5080"/>
            <a:r>
              <a:rPr lang="en-US" sz="1500" kern="0" spc="-80" dirty="0">
                <a:solidFill>
                  <a:schemeClr val="accent6"/>
                </a:solidFill>
              </a:rPr>
              <a:t> ├── </a:t>
            </a:r>
            <a:r>
              <a:rPr lang="en-US" sz="1500" kern="0" spc="-80" dirty="0" err="1">
                <a:solidFill>
                  <a:schemeClr val="accent6"/>
                </a:solidFill>
              </a:rPr>
              <a:t>ceph</a:t>
            </a:r>
            <a:r>
              <a:rPr lang="en-US" sz="1500" kern="0" spc="-80" dirty="0">
                <a:solidFill>
                  <a:schemeClr val="accent6"/>
                </a:solidFill>
              </a:rPr>
              <a:t>/</a:t>
            </a:r>
          </a:p>
          <a:p>
            <a:pPr marL="12700" marR="5080"/>
            <a:r>
              <a:rPr lang="en-US" sz="1500" kern="0" spc="-80" dirty="0">
                <a:solidFill>
                  <a:schemeClr val="accent6"/>
                </a:solidFill>
              </a:rPr>
              <a:t> ├── clusters/</a:t>
            </a:r>
          </a:p>
          <a:p>
            <a:pPr marL="12700" marR="5080"/>
            <a:r>
              <a:rPr lang="en-US" sz="1500" kern="0" spc="-80" dirty="0">
                <a:solidFill>
                  <a:schemeClr val="accent6"/>
                </a:solidFill>
              </a:rPr>
              <a:t> │    ├── prod/</a:t>
            </a:r>
          </a:p>
          <a:p>
            <a:pPr marL="12700" marR="5080"/>
            <a:r>
              <a:rPr lang="en-US" sz="1500" kern="0" spc="-80" dirty="0">
                <a:solidFill>
                  <a:schemeClr val="accent6"/>
                </a:solidFill>
              </a:rPr>
              <a:t> │    └── dev/</a:t>
            </a:r>
          </a:p>
          <a:p>
            <a:pPr marL="12700" marR="5080"/>
            <a:r>
              <a:rPr lang="en-US" sz="1500" kern="0" spc="-80" dirty="0">
                <a:solidFill>
                  <a:schemeClr val="accent6"/>
                </a:solidFill>
              </a:rPr>
              <a:t> └── policies/</a:t>
            </a:r>
          </a:p>
          <a:p>
            <a:pPr marL="12700" marR="5080"/>
            <a:r>
              <a:rPr lang="en-US" sz="1500" kern="0" spc="-80" dirty="0">
                <a:solidFill>
                  <a:schemeClr val="accent6"/>
                </a:solidFill>
              </a:rPr>
              <a:t>apps/</a:t>
            </a:r>
          </a:p>
          <a:p>
            <a:pPr marL="12700" marR="5080"/>
            <a:r>
              <a:rPr lang="en-US" sz="1500" kern="0" spc="-80" dirty="0">
                <a:solidFill>
                  <a:schemeClr val="accent6"/>
                </a:solidFill>
              </a:rPr>
              <a:t> ├── payments/</a:t>
            </a:r>
          </a:p>
          <a:p>
            <a:pPr marL="12700" marR="5080"/>
            <a:r>
              <a:rPr lang="en-US" sz="1500" kern="0" spc="-80" dirty="0">
                <a:solidFill>
                  <a:schemeClr val="accent6"/>
                </a:solidFill>
              </a:rPr>
              <a:t> ├── auth/</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00464603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60CE-A186-44F7-5244-4C735EE627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D30F88-9D4F-1FF9-2B13-F74A4CFA9A7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7473DF-2799-C484-2C62-5BD5B5DBAF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E5C6BC6-E105-973F-DC56-AA3FC04E2B8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347E313-E9CB-13EA-6C37-BA80ED5A8D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D1EA5DA-AEE2-FE8B-4EA7-D0E299BFE7D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B23C61F-DA38-FABE-3D7C-7E5057F2156A}"/>
              </a:ext>
            </a:extLst>
          </p:cNvPr>
          <p:cNvSpPr txBox="1">
            <a:spLocks/>
          </p:cNvSpPr>
          <p:nvPr/>
        </p:nvSpPr>
        <p:spPr>
          <a:xfrm>
            <a:off x="0" y="685800"/>
            <a:ext cx="8915399" cy="55861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10. Observability &amp; Operations</a:t>
            </a:r>
          </a:p>
          <a:p>
            <a:pPr marL="12700" marR="5080"/>
            <a:r>
              <a:rPr lang="en-US" sz="1500" kern="0" spc="-80" dirty="0">
                <a:solidFill>
                  <a:schemeClr val="accent2"/>
                </a:solidFill>
              </a:rPr>
              <a:t>Metrics</a:t>
            </a:r>
          </a:p>
          <a:p>
            <a:pPr marL="12700" marR="5080"/>
            <a:r>
              <a:rPr lang="en-US" sz="1500" kern="0" spc="-80" dirty="0">
                <a:solidFill>
                  <a:schemeClr val="accent6"/>
                </a:solidFill>
              </a:rPr>
              <a:t>Prometheus</a:t>
            </a:r>
          </a:p>
          <a:p>
            <a:pPr marL="12700" marR="5080"/>
            <a:r>
              <a:rPr lang="en-US" sz="1500" kern="0" spc="-80" dirty="0">
                <a:solidFill>
                  <a:schemeClr val="accent6"/>
                </a:solidFill>
              </a:rPr>
              <a:t>Thanos (long-term)</a:t>
            </a:r>
          </a:p>
          <a:p>
            <a:pPr marL="12700" marR="5080"/>
            <a:r>
              <a:rPr lang="en-US" sz="1500" kern="0" spc="-80" dirty="0">
                <a:solidFill>
                  <a:schemeClr val="accent2"/>
                </a:solidFill>
              </a:rPr>
              <a:t>Logs</a:t>
            </a:r>
          </a:p>
          <a:p>
            <a:pPr marL="12700" marR="5080"/>
            <a:r>
              <a:rPr lang="en-US" sz="1500" kern="0" spc="-80" dirty="0" err="1">
                <a:solidFill>
                  <a:schemeClr val="accent6"/>
                </a:solidFill>
              </a:rPr>
              <a:t>FluentBit</a:t>
            </a:r>
            <a:r>
              <a:rPr lang="en-US" sz="1500" kern="0" spc="-80" dirty="0">
                <a:solidFill>
                  <a:schemeClr val="accent6"/>
                </a:solidFill>
              </a:rPr>
              <a:t> → OpenSearch</a:t>
            </a:r>
          </a:p>
          <a:p>
            <a:pPr marL="12700" marR="5080"/>
            <a:r>
              <a:rPr lang="en-US" sz="1500" kern="0" spc="-80" dirty="0">
                <a:solidFill>
                  <a:schemeClr val="accent2"/>
                </a:solidFill>
              </a:rPr>
              <a:t>Traces</a:t>
            </a:r>
          </a:p>
          <a:p>
            <a:pPr marL="12700" marR="5080"/>
            <a:r>
              <a:rPr lang="en-US" sz="1500" kern="0" spc="-80" dirty="0" err="1">
                <a:solidFill>
                  <a:schemeClr val="accent6"/>
                </a:solidFill>
              </a:rPr>
              <a:t>OpenTelemetry</a:t>
            </a:r>
            <a:endParaRPr lang="en-US" sz="1500" kern="0" spc="-80" dirty="0">
              <a:solidFill>
                <a:schemeClr val="accent6"/>
              </a:solidFill>
            </a:endParaRPr>
          </a:p>
          <a:p>
            <a:pPr marL="12700" marR="5080"/>
            <a:r>
              <a:rPr lang="en-US" sz="1500" kern="0" spc="-80" dirty="0">
                <a:solidFill>
                  <a:schemeClr val="accent6"/>
                </a:solidFill>
              </a:rPr>
              <a:t>Alerts</a:t>
            </a:r>
          </a:p>
          <a:p>
            <a:pPr marL="12700" marR="5080"/>
            <a:r>
              <a:rPr lang="en-US" sz="1500" kern="0" spc="-80" dirty="0">
                <a:solidFill>
                  <a:schemeClr val="accent6"/>
                </a:solidFill>
              </a:rPr>
              <a:t>SLO-based, not host-based</a:t>
            </a:r>
          </a:p>
          <a:p>
            <a:pPr marL="12700" marR="5080"/>
            <a:r>
              <a:rPr lang="en-US" sz="1500" kern="0" spc="-80" dirty="0">
                <a:solidFill>
                  <a:schemeClr val="accent2"/>
                </a:solidFill>
              </a:rPr>
              <a:t>SLOs</a:t>
            </a:r>
          </a:p>
          <a:p>
            <a:pPr marL="12700" marR="5080"/>
            <a:r>
              <a:rPr lang="en-US" sz="1500" kern="0" spc="-80" dirty="0">
                <a:solidFill>
                  <a:schemeClr val="accent6"/>
                </a:solidFill>
              </a:rPr>
              <a:t>Error budgets</a:t>
            </a:r>
          </a:p>
          <a:p>
            <a:pPr marL="12700" marR="5080"/>
            <a:r>
              <a:rPr lang="en-US" sz="1500" kern="0" spc="-80" dirty="0">
                <a:solidFill>
                  <a:schemeClr val="accent6"/>
                </a:solidFill>
              </a:rPr>
              <a:t>Chaos testing</a:t>
            </a:r>
          </a:p>
          <a:p>
            <a:pPr marL="12700" marR="5080"/>
            <a:endParaRPr lang="en-US" sz="1500" kern="0" spc="-80" dirty="0">
              <a:solidFill>
                <a:schemeClr val="accent6"/>
              </a:solidFill>
            </a:endParaRPr>
          </a:p>
          <a:p>
            <a:pPr marL="12700" marR="5080"/>
            <a:r>
              <a:rPr lang="en-US" sz="1500" kern="0" spc="-80" dirty="0">
                <a:solidFill>
                  <a:schemeClr val="accent2"/>
                </a:solidFill>
              </a:rPr>
              <a:t>11. DR &amp; Failure Scenarios</a:t>
            </a:r>
          </a:p>
          <a:p>
            <a:pPr marL="12700" marR="5080"/>
            <a:r>
              <a:rPr lang="en-US" sz="1500" kern="0" spc="-80" dirty="0">
                <a:solidFill>
                  <a:schemeClr val="accent2"/>
                </a:solidFill>
              </a:rPr>
              <a:t>Failure	                  Handling</a:t>
            </a:r>
          </a:p>
          <a:p>
            <a:pPr marL="12700" marR="5080"/>
            <a:r>
              <a:rPr lang="en-US" sz="1500" kern="0" spc="-80" dirty="0">
                <a:solidFill>
                  <a:schemeClr val="accent6"/>
                </a:solidFill>
              </a:rPr>
              <a:t>Controller down	</a:t>
            </a:r>
            <a:r>
              <a:rPr lang="en-US" sz="1500" kern="0" spc="-80" dirty="0" err="1">
                <a:solidFill>
                  <a:schemeClr val="accent6"/>
                </a:solidFill>
              </a:rPr>
              <a:t>HAProxy</a:t>
            </a:r>
            <a:r>
              <a:rPr lang="en-US" sz="1500" kern="0" spc="-80" dirty="0">
                <a:solidFill>
                  <a:schemeClr val="accent6"/>
                </a:solidFill>
              </a:rPr>
              <a:t> failover</a:t>
            </a:r>
          </a:p>
          <a:p>
            <a:pPr marL="12700" marR="5080"/>
            <a:r>
              <a:rPr lang="en-US" sz="1500" kern="0" spc="-80" dirty="0">
                <a:solidFill>
                  <a:schemeClr val="accent6"/>
                </a:solidFill>
              </a:rPr>
              <a:t>Compute node lost	VM rescheduled</a:t>
            </a:r>
          </a:p>
          <a:p>
            <a:pPr marL="12700" marR="5080"/>
            <a:r>
              <a:rPr lang="en-US" sz="1500" kern="0" spc="-80" dirty="0">
                <a:solidFill>
                  <a:schemeClr val="accent6"/>
                </a:solidFill>
              </a:rPr>
              <a:t>Pod crash	                  K8s restart</a:t>
            </a:r>
          </a:p>
          <a:p>
            <a:pPr marL="12700" marR="5080"/>
            <a:r>
              <a:rPr lang="en-US" sz="1500" kern="0" spc="-80" dirty="0">
                <a:solidFill>
                  <a:schemeClr val="accent6"/>
                </a:solidFill>
              </a:rPr>
              <a:t>AZ failure	                  Multi-AZ clusters</a:t>
            </a:r>
          </a:p>
          <a:p>
            <a:pPr marL="12700" marR="5080"/>
            <a:r>
              <a:rPr lang="en-US" sz="1500" kern="0" spc="-80" dirty="0">
                <a:solidFill>
                  <a:schemeClr val="accent6"/>
                </a:solidFill>
              </a:rPr>
              <a:t>DC loss	                  Secondary OpenStack</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9699158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A8DD0-561A-9FA7-64C5-EF4690206A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8E9527-A95D-AC71-6C3D-13445F27973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931A90-2F03-387E-A43A-1714E800B78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729679-26FC-EC99-366B-C4EEC6790FE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57A0892-5308-FD0A-A42F-51D2337ABCA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A988EA4-C80B-24FB-8C1B-F033169CF7F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B9D0B7A-4724-F313-1F74-8F677DAD3A75}"/>
              </a:ext>
            </a:extLst>
          </p:cNvPr>
          <p:cNvSpPr txBox="1">
            <a:spLocks/>
          </p:cNvSpPr>
          <p:nvPr/>
        </p:nvSpPr>
        <p:spPr>
          <a:xfrm>
            <a:off x="0" y="685800"/>
            <a:ext cx="8915399"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12. Security Architecture </a:t>
            </a:r>
          </a:p>
          <a:p>
            <a:pPr marL="12700" marR="5080"/>
            <a:r>
              <a:rPr lang="en-US" sz="1500" kern="0" spc="-80" dirty="0">
                <a:solidFill>
                  <a:schemeClr val="accent6"/>
                </a:solidFill>
              </a:rPr>
              <a:t>Defense-in-Depth</a:t>
            </a:r>
          </a:p>
          <a:p>
            <a:pPr marL="12700" marR="5080"/>
            <a:r>
              <a:rPr lang="en-US" sz="1500" kern="0" spc="-80" dirty="0">
                <a:solidFill>
                  <a:schemeClr val="accent6"/>
                </a:solidFill>
              </a:rPr>
              <a:t>Neutron security groups</a:t>
            </a:r>
          </a:p>
          <a:p>
            <a:pPr marL="12700" marR="5080"/>
            <a:r>
              <a:rPr lang="en-US" sz="1500" kern="0" spc="-80" dirty="0">
                <a:solidFill>
                  <a:schemeClr val="accent6"/>
                </a:solidFill>
              </a:rPr>
              <a:t>K8s Network Policies</a:t>
            </a:r>
          </a:p>
          <a:p>
            <a:pPr marL="12700" marR="5080"/>
            <a:r>
              <a:rPr lang="en-US" sz="1500" kern="0" spc="-80" dirty="0">
                <a:solidFill>
                  <a:schemeClr val="accent6"/>
                </a:solidFill>
              </a:rPr>
              <a:t>Image scanning</a:t>
            </a:r>
          </a:p>
          <a:p>
            <a:pPr marL="12700" marR="5080"/>
            <a:r>
              <a:rPr lang="en-US" sz="1500" kern="0" spc="-80" dirty="0">
                <a:solidFill>
                  <a:schemeClr val="accent6"/>
                </a:solidFill>
              </a:rPr>
              <a:t>Runtime security (Falco)</a:t>
            </a:r>
          </a:p>
          <a:p>
            <a:pPr marL="12700" marR="5080"/>
            <a:r>
              <a:rPr lang="en-US" sz="1500" kern="0" spc="-80" dirty="0">
                <a:solidFill>
                  <a:schemeClr val="accent6"/>
                </a:solidFill>
              </a:rPr>
              <a:t>Admission controllers</a:t>
            </a:r>
          </a:p>
          <a:p>
            <a:pPr marL="12700" marR="5080"/>
            <a:r>
              <a:rPr lang="en-US" sz="1500" kern="0" spc="-80" dirty="0">
                <a:solidFill>
                  <a:schemeClr val="accent6"/>
                </a:solidFill>
              </a:rPr>
              <a:t>Compliance</a:t>
            </a:r>
          </a:p>
          <a:p>
            <a:pPr marL="12700" marR="5080"/>
            <a:r>
              <a:rPr lang="en-US" sz="1500" kern="0" spc="-80" dirty="0">
                <a:solidFill>
                  <a:schemeClr val="accent6"/>
                </a:solidFill>
              </a:rPr>
              <a:t>CIS OpenStack Benchmarks</a:t>
            </a:r>
          </a:p>
          <a:p>
            <a:pPr marL="12700" marR="5080"/>
            <a:r>
              <a:rPr lang="en-US" sz="1500" kern="0" spc="-80" dirty="0">
                <a:solidFill>
                  <a:schemeClr val="accent6"/>
                </a:solidFill>
              </a:rPr>
              <a:t>CIS Kubernetes</a:t>
            </a:r>
          </a:p>
          <a:p>
            <a:pPr marL="12700" marR="5080"/>
            <a:r>
              <a:rPr lang="en-US" sz="1500" kern="0" spc="-80" dirty="0">
                <a:solidFill>
                  <a:schemeClr val="accent6"/>
                </a:solidFill>
              </a:rPr>
              <a:t>Immutable audit logs</a:t>
            </a:r>
          </a:p>
          <a:p>
            <a:pPr marL="12700" marR="5080"/>
            <a:endParaRPr lang="en-US" sz="1500" kern="0" spc="-80" dirty="0">
              <a:solidFill>
                <a:schemeClr val="accent2"/>
              </a:solidFill>
            </a:endParaRPr>
          </a:p>
          <a:p>
            <a:pPr marL="12700" marR="5080"/>
            <a:r>
              <a:rPr lang="en-US" sz="1500" kern="0" spc="-80" dirty="0">
                <a:solidFill>
                  <a:schemeClr val="accent2"/>
                </a:solidFill>
              </a:rPr>
              <a:t>13. Developer E2E Flow</a:t>
            </a:r>
          </a:p>
          <a:p>
            <a:pPr marL="12700" marR="5080"/>
            <a:r>
              <a:rPr lang="en-US" sz="1500" kern="0" spc="-80" dirty="0">
                <a:solidFill>
                  <a:schemeClr val="accent6"/>
                </a:solidFill>
              </a:rPr>
              <a:t>Login to Horizon</a:t>
            </a:r>
          </a:p>
          <a:p>
            <a:pPr marL="12700" marR="5080"/>
            <a:r>
              <a:rPr lang="en-US" sz="1500" kern="0" spc="-80" dirty="0">
                <a:solidFill>
                  <a:schemeClr val="accent6"/>
                </a:solidFill>
              </a:rPr>
              <a:t>Create project</a:t>
            </a:r>
          </a:p>
          <a:p>
            <a:pPr marL="12700" marR="5080"/>
            <a:r>
              <a:rPr lang="en-US" sz="1500" kern="0" spc="-80" dirty="0">
                <a:solidFill>
                  <a:schemeClr val="accent6"/>
                </a:solidFill>
              </a:rPr>
              <a:t>Request K8s cluster</a:t>
            </a:r>
          </a:p>
          <a:p>
            <a:pPr marL="12700" marR="5080"/>
            <a:r>
              <a:rPr lang="en-US" sz="1500" kern="0" spc="-80" dirty="0">
                <a:solidFill>
                  <a:schemeClr val="accent6"/>
                </a:solidFill>
              </a:rPr>
              <a:t>Cluster auto-provisioned</a:t>
            </a:r>
          </a:p>
          <a:p>
            <a:pPr marL="12700" marR="5080"/>
            <a:r>
              <a:rPr lang="en-US" sz="1500" kern="0" spc="-80" dirty="0">
                <a:solidFill>
                  <a:schemeClr val="accent6"/>
                </a:solidFill>
              </a:rPr>
              <a:t>Git repo created</a:t>
            </a:r>
          </a:p>
          <a:p>
            <a:pPr marL="12700" marR="5080"/>
            <a:r>
              <a:rPr lang="en-US" sz="1500" kern="0" spc="-80" dirty="0">
                <a:solidFill>
                  <a:schemeClr val="accent6"/>
                </a:solidFill>
              </a:rPr>
              <a:t>CI deploys app</a:t>
            </a:r>
          </a:p>
          <a:p>
            <a:pPr marL="12700" marR="5080"/>
            <a:r>
              <a:rPr lang="en-US" sz="1500" kern="0" spc="-80" dirty="0">
                <a:solidFill>
                  <a:schemeClr val="accent6"/>
                </a:solidFill>
              </a:rPr>
              <a:t>Traffic routed</a:t>
            </a:r>
          </a:p>
          <a:p>
            <a:pPr marL="12700" marR="5080"/>
            <a:r>
              <a:rPr lang="en-US" sz="1500" kern="0" spc="-80" dirty="0">
                <a:solidFill>
                  <a:schemeClr val="accent6"/>
                </a:solidFill>
              </a:rPr>
              <a:t>Metrics visible</a:t>
            </a:r>
          </a:p>
          <a:p>
            <a:pPr marL="12700" marR="5080"/>
            <a:r>
              <a:rPr lang="en-US" sz="1500" kern="0" spc="-80" dirty="0">
                <a:solidFill>
                  <a:schemeClr val="accent6"/>
                </a:solidFill>
              </a:rPr>
              <a:t>Cost tracked</a:t>
            </a:r>
            <a:endParaRPr lang="en-US" sz="1500" kern="0" spc="-80" dirty="0">
              <a:solidFill>
                <a:schemeClr val="accent2"/>
              </a:solidFill>
            </a:endParaRPr>
          </a:p>
        </p:txBody>
      </p:sp>
    </p:spTree>
    <p:extLst>
      <p:ext uri="{BB962C8B-B14F-4D97-AF65-F5344CB8AC3E}">
        <p14:creationId xmlns:p14="http://schemas.microsoft.com/office/powerpoint/2010/main" val="136300316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C6C2-933F-40AE-F450-F7171ED964E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63D47D-4F3D-2786-B2D0-1E20ECCACCB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3B767D-D9DC-F820-9A69-E22390E3864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1CCC05D-E19A-B533-54EF-F8EE7F0F372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A542765-A673-1233-F5AA-3C518BD613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A415FAA-D0ED-0D13-E480-B7E06BFF35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1C7878F-4BAA-2DA8-D196-F29394C326A6}"/>
              </a:ext>
            </a:extLst>
          </p:cNvPr>
          <p:cNvSpPr txBox="1">
            <a:spLocks/>
          </p:cNvSpPr>
          <p:nvPr/>
        </p:nvSpPr>
        <p:spPr>
          <a:xfrm>
            <a:off x="0" y="685800"/>
            <a:ext cx="8915399"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13. Common Enterprise Mistakes</a:t>
            </a:r>
          </a:p>
          <a:p>
            <a:pPr marL="12700" marR="5080"/>
            <a:r>
              <a:rPr lang="en-US" sz="1500" kern="0" spc="-80" dirty="0">
                <a:solidFill>
                  <a:schemeClr val="accent6"/>
                </a:solidFill>
              </a:rPr>
              <a:t>❌ Kubernetes without Ceph</a:t>
            </a:r>
          </a:p>
          <a:p>
            <a:pPr marL="12700" marR="5080"/>
            <a:r>
              <a:rPr lang="en-US" sz="1500" kern="0" spc="-80" dirty="0">
                <a:solidFill>
                  <a:schemeClr val="accent6"/>
                </a:solidFill>
              </a:rPr>
              <a:t>❌ No Cluster API</a:t>
            </a:r>
          </a:p>
          <a:p>
            <a:pPr marL="12700" marR="5080"/>
            <a:r>
              <a:rPr lang="en-US" sz="1500" kern="0" spc="-80" dirty="0">
                <a:solidFill>
                  <a:schemeClr val="accent6"/>
                </a:solidFill>
              </a:rPr>
              <a:t>❌ Manual provisioning/ Manual cluster creation</a:t>
            </a:r>
          </a:p>
          <a:p>
            <a:pPr marL="12700" marR="5080"/>
            <a:r>
              <a:rPr lang="en-US" sz="1500" kern="0" spc="-80" dirty="0">
                <a:solidFill>
                  <a:schemeClr val="accent6"/>
                </a:solidFill>
              </a:rPr>
              <a:t>❌ Treating OpenStack as VMware</a:t>
            </a:r>
          </a:p>
          <a:p>
            <a:pPr marL="12700" marR="5080"/>
            <a:r>
              <a:rPr lang="en-US" sz="1500" kern="0" spc="-80" dirty="0">
                <a:solidFill>
                  <a:schemeClr val="accent6"/>
                </a:solidFill>
              </a:rPr>
              <a:t>❌ No </a:t>
            </a:r>
            <a:r>
              <a:rPr lang="en-US" sz="1500" kern="0" spc="-80" dirty="0" err="1">
                <a:solidFill>
                  <a:schemeClr val="accent6"/>
                </a:solidFill>
              </a:rPr>
              <a:t>GitOps</a:t>
            </a:r>
            <a:endParaRPr lang="en-US" sz="1500" kern="0" spc="-80" dirty="0">
              <a:solidFill>
                <a:schemeClr val="accent6"/>
              </a:solidFill>
            </a:endParaRPr>
          </a:p>
          <a:p>
            <a:pPr marL="12700" marR="5080"/>
            <a:r>
              <a:rPr lang="en-US" sz="1500" kern="0" spc="-80" dirty="0">
                <a:solidFill>
                  <a:schemeClr val="accent6"/>
                </a:solidFill>
              </a:rPr>
              <a:t>❌ Weak/Flat networking</a:t>
            </a:r>
          </a:p>
          <a:p>
            <a:pPr marL="12700" marR="5080"/>
            <a:r>
              <a:rPr lang="en-US" sz="1500" kern="0" spc="-80" dirty="0">
                <a:solidFill>
                  <a:schemeClr val="accent6"/>
                </a:solidFill>
              </a:rPr>
              <a:t>❌ No platform services</a:t>
            </a:r>
          </a:p>
          <a:p>
            <a:pPr marL="12700" marR="5080"/>
            <a:r>
              <a:rPr lang="en-US" sz="1500" kern="0" spc="-80" dirty="0">
                <a:solidFill>
                  <a:schemeClr val="accent6"/>
                </a:solidFill>
              </a:rPr>
              <a:t>❌ Ignoring developer experience</a:t>
            </a:r>
          </a:p>
          <a:p>
            <a:pPr marL="12700" marR="5080"/>
            <a:r>
              <a:rPr lang="en-US" sz="1500" kern="0" spc="-80" dirty="0">
                <a:solidFill>
                  <a:schemeClr val="accent6"/>
                </a:solidFill>
              </a:rPr>
              <a:t>❌ Ignoring developer experience</a:t>
            </a:r>
          </a:p>
          <a:p>
            <a:pPr marL="12700" marR="5080"/>
            <a:endParaRPr lang="en-US" sz="1500" kern="0" spc="-80" dirty="0">
              <a:solidFill>
                <a:schemeClr val="accent6"/>
              </a:solidFill>
            </a:endParaRPr>
          </a:p>
          <a:p>
            <a:pPr marL="12700" marR="5080"/>
            <a:r>
              <a:rPr lang="en-US" sz="1500" kern="0" spc="-80" dirty="0">
                <a:solidFill>
                  <a:schemeClr val="accent2"/>
                </a:solidFill>
              </a:rPr>
              <a:t>14. When This Architecture Wins</a:t>
            </a:r>
          </a:p>
          <a:p>
            <a:pPr marL="12700" marR="5080"/>
            <a:r>
              <a:rPr lang="en-US" sz="1500" kern="0" spc="-80" dirty="0">
                <a:solidFill>
                  <a:schemeClr val="accent6"/>
                </a:solidFill>
              </a:rPr>
              <a:t>✅ Regulated industries</a:t>
            </a:r>
          </a:p>
          <a:p>
            <a:pPr marL="12700" marR="5080"/>
            <a:r>
              <a:rPr lang="en-US" sz="1500" kern="0" spc="-80" dirty="0">
                <a:solidFill>
                  <a:schemeClr val="accent6"/>
                </a:solidFill>
              </a:rPr>
              <a:t>✅ On-prem compliance</a:t>
            </a:r>
          </a:p>
          <a:p>
            <a:pPr marL="12700" marR="5080"/>
            <a:r>
              <a:rPr lang="en-US" sz="1500" kern="0" spc="-80" dirty="0">
                <a:solidFill>
                  <a:schemeClr val="accent6"/>
                </a:solidFill>
              </a:rPr>
              <a:t>✅ Data sovereignty</a:t>
            </a:r>
          </a:p>
          <a:p>
            <a:pPr marL="12700" marR="5080"/>
            <a:r>
              <a:rPr lang="en-US" sz="1500" kern="0" spc="-80" dirty="0">
                <a:solidFill>
                  <a:schemeClr val="accent6"/>
                </a:solidFill>
              </a:rPr>
              <a:t>✅ Predictable workloads</a:t>
            </a:r>
          </a:p>
          <a:p>
            <a:pPr marL="12700" marR="5080"/>
            <a:r>
              <a:rPr lang="en-US" sz="1500" kern="0" spc="-80" dirty="0">
                <a:solidFill>
                  <a:schemeClr val="accent6"/>
                </a:solidFill>
              </a:rPr>
              <a:t>✅ Hybrid cloud future</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58756970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B892-AFEC-7DCA-4D80-D5D49E94850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20346C-ABA3-44DF-AD66-289BED7CB9D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05ADFE0-333D-248D-AD19-78BCE896C5B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652DD9D-D48B-1830-17CD-C1591BECFB8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AF100B4-D0BD-062F-991E-0D9DD26F9A7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E6E43E1-4519-6886-059C-3008B095BB1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0AA7A8B-D9DE-3FB2-54A9-B0931C2E4882}"/>
              </a:ext>
            </a:extLst>
          </p:cNvPr>
          <p:cNvSpPr txBox="1">
            <a:spLocks/>
          </p:cNvSpPr>
          <p:nvPr/>
        </p:nvSpPr>
        <p:spPr>
          <a:xfrm>
            <a:off x="0" y="685800"/>
            <a:ext cx="8915399" cy="33547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Enterprise Private Cloud(</a:t>
            </a:r>
            <a:r>
              <a:rPr lang="en-US" sz="1800" kern="0" spc="-80" dirty="0" err="1">
                <a:solidFill>
                  <a:schemeClr val="accent2"/>
                </a:solidFill>
              </a:rPr>
              <a:t>Openstack</a:t>
            </a:r>
            <a:r>
              <a:rPr lang="en-US" sz="1800" kern="0" spc="-80" dirty="0">
                <a:solidFill>
                  <a:schemeClr val="accent2"/>
                </a:solidFill>
              </a:rPr>
              <a:t> +K8s Example) –</a:t>
            </a:r>
          </a:p>
          <a:p>
            <a:pPr marL="12700" marR="5080"/>
            <a:r>
              <a:rPr lang="en-US" sz="1500" kern="0" spc="-80" dirty="0">
                <a:solidFill>
                  <a:schemeClr val="accent2"/>
                </a:solidFill>
              </a:rPr>
              <a:t>15. When This Design is Used</a:t>
            </a:r>
          </a:p>
          <a:p>
            <a:pPr marL="12700" marR="5080"/>
            <a:r>
              <a:rPr lang="en-US" sz="1500" kern="0" spc="-80" dirty="0">
                <a:solidFill>
                  <a:schemeClr val="accent6"/>
                </a:solidFill>
              </a:rPr>
              <a:t>✅ Banks</a:t>
            </a:r>
          </a:p>
          <a:p>
            <a:pPr marL="12700" marR="5080"/>
            <a:r>
              <a:rPr lang="en-US" sz="1500" kern="0" spc="-80" dirty="0">
                <a:solidFill>
                  <a:schemeClr val="accent6"/>
                </a:solidFill>
              </a:rPr>
              <a:t>✅ Telecoms</a:t>
            </a:r>
          </a:p>
          <a:p>
            <a:pPr marL="12700" marR="5080"/>
            <a:r>
              <a:rPr lang="en-US" sz="1500" kern="0" spc="-80" dirty="0">
                <a:solidFill>
                  <a:schemeClr val="accent6"/>
                </a:solidFill>
              </a:rPr>
              <a:t>✅ Govt / Defense</a:t>
            </a:r>
          </a:p>
          <a:p>
            <a:pPr marL="12700" marR="5080"/>
            <a:r>
              <a:rPr lang="en-US" sz="1500" kern="0" spc="-80" dirty="0">
                <a:solidFill>
                  <a:schemeClr val="accent6"/>
                </a:solidFill>
              </a:rPr>
              <a:t>✅ Large SaaS (data sovereignty)</a:t>
            </a:r>
          </a:p>
          <a:p>
            <a:pPr marL="12700" marR="5080"/>
            <a:r>
              <a:rPr lang="en-US" sz="1500" kern="0" spc="-80" dirty="0">
                <a:solidFill>
                  <a:schemeClr val="accent6"/>
                </a:solidFill>
              </a:rPr>
              <a:t>✅ AI / HPC</a:t>
            </a:r>
          </a:p>
          <a:p>
            <a:pPr marL="12700" marR="5080"/>
            <a:endParaRPr lang="en-US" sz="1500" kern="0" spc="-80" dirty="0">
              <a:solidFill>
                <a:schemeClr val="accent6"/>
              </a:solidFill>
            </a:endParaRPr>
          </a:p>
          <a:p>
            <a:pPr marL="12700" marR="5080"/>
            <a:r>
              <a:rPr lang="en-US" sz="1500" kern="0" spc="-80" dirty="0">
                <a:solidFill>
                  <a:schemeClr val="accent2"/>
                </a:solidFill>
              </a:rPr>
              <a:t>For Further Exploration – </a:t>
            </a:r>
          </a:p>
          <a:p>
            <a:pPr marL="12700" marR="5080"/>
            <a:r>
              <a:rPr lang="en-IN" sz="1600" dirty="0">
                <a:hlinkClick r:id="rId7"/>
              </a:rPr>
              <a:t>Private Cloud Computing</a:t>
            </a:r>
            <a:endParaRPr lang="en-IN" sz="1600" dirty="0"/>
          </a:p>
          <a:p>
            <a:pPr marL="12700" marR="5080"/>
            <a:r>
              <a:rPr lang="en-IN" sz="1600" dirty="0">
                <a:hlinkClick r:id="rId8"/>
              </a:rPr>
              <a:t>OpenStack Docs: 2025.2</a:t>
            </a:r>
            <a:endParaRPr lang="en-IN" sz="1600" dirty="0"/>
          </a:p>
          <a:p>
            <a:pPr marL="12700" marR="5080"/>
            <a:r>
              <a:rPr lang="en-IN" sz="1600" dirty="0">
                <a:hlinkClick r:id="rId9"/>
              </a:rPr>
              <a:t>Apache </a:t>
            </a:r>
            <a:r>
              <a:rPr lang="en-IN" sz="1600" dirty="0" err="1">
                <a:hlinkClick r:id="rId9"/>
              </a:rPr>
              <a:t>CloudStack’s</a:t>
            </a:r>
            <a:r>
              <a:rPr lang="en-IN" sz="1600" dirty="0">
                <a:hlinkClick r:id="rId9"/>
              </a:rPr>
              <a:t> Documentation</a:t>
            </a:r>
            <a:endParaRPr lang="en-IN" sz="1600" dirty="0"/>
          </a:p>
          <a:p>
            <a:pPr marL="12700" marR="5080"/>
            <a:r>
              <a:rPr lang="en-IN" sz="1600" dirty="0">
                <a:hlinkClick r:id="rId10"/>
              </a:rPr>
              <a:t>Azure Stack documentation</a:t>
            </a:r>
            <a:endParaRPr lang="en-IN" sz="1600" dirty="0"/>
          </a:p>
          <a:p>
            <a:pPr marL="12700" marR="5080"/>
            <a:r>
              <a:rPr lang="en-US" sz="1600" dirty="0" err="1">
                <a:hlinkClick r:id="rId11"/>
              </a:rPr>
              <a:t>openQRM</a:t>
            </a:r>
            <a:r>
              <a:rPr lang="en-US" sz="1600" dirty="0">
                <a:hlinkClick r:id="rId11"/>
              </a:rPr>
              <a:t> Data Centre Solution Deployment Software Provider</a:t>
            </a:r>
            <a:endParaRPr lang="en-US" sz="1500" kern="0" spc="-80" dirty="0">
              <a:solidFill>
                <a:schemeClr val="accent2"/>
              </a:solidFill>
            </a:endParaRPr>
          </a:p>
        </p:txBody>
      </p:sp>
    </p:spTree>
    <p:extLst>
      <p:ext uri="{BB962C8B-B14F-4D97-AF65-F5344CB8AC3E}">
        <p14:creationId xmlns:p14="http://schemas.microsoft.com/office/powerpoint/2010/main" val="207139296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Hybrid Cloud –</a:t>
            </a:r>
          </a:p>
          <a:p>
            <a:r>
              <a:rPr lang="en-US" sz="2400" kern="0" spc="-80" dirty="0">
                <a:solidFill>
                  <a:schemeClr val="accent2"/>
                </a:solidFill>
              </a:rPr>
              <a:t> </a:t>
            </a:r>
            <a:r>
              <a:rPr lang="en-IN" sz="1800" kern="0" spc="-80" dirty="0">
                <a:solidFill>
                  <a:schemeClr val="accent6"/>
                </a:solidFill>
              </a:rPr>
              <a:t>The common reasons for setting up a hybrid cloud may include the following: </a:t>
            </a:r>
          </a:p>
          <a:p>
            <a:r>
              <a:rPr lang="en-IN" sz="1800" kern="0" spc="-80" dirty="0">
                <a:solidFill>
                  <a:schemeClr val="accent6"/>
                </a:solidFill>
              </a:rPr>
              <a:t>  - You need to keep part of the application on-premise due</a:t>
            </a:r>
          </a:p>
          <a:p>
            <a:r>
              <a:rPr lang="en-IN" sz="1800" kern="0" spc="-80" dirty="0">
                <a:solidFill>
                  <a:schemeClr val="accent6"/>
                </a:solidFill>
              </a:rPr>
              <a:t>    to </a:t>
            </a:r>
            <a:r>
              <a:rPr lang="en-IN" sz="1800" kern="0" spc="-80" dirty="0">
                <a:solidFill>
                  <a:schemeClr val="accent1"/>
                </a:solidFill>
              </a:rPr>
              <a:t>compliance requirements</a:t>
            </a:r>
            <a:r>
              <a:rPr lang="en-IN" sz="1800" kern="0" spc="-80" dirty="0">
                <a:solidFill>
                  <a:schemeClr val="accent6"/>
                </a:solidFill>
              </a:rPr>
              <a:t>. </a:t>
            </a:r>
          </a:p>
          <a:p>
            <a:r>
              <a:rPr lang="en-IN" sz="1800" kern="0" spc="-80" dirty="0">
                <a:solidFill>
                  <a:schemeClr val="accent6"/>
                </a:solidFill>
              </a:rPr>
              <a:t>  - You want to have </a:t>
            </a:r>
            <a:r>
              <a:rPr lang="en-IN" sz="1800" kern="0" spc="-80" dirty="0">
                <a:solidFill>
                  <a:schemeClr val="accent1"/>
                </a:solidFill>
              </a:rPr>
              <a:t>operating legacy applications</a:t>
            </a:r>
            <a:r>
              <a:rPr lang="en-IN" sz="1800" kern="0" spc="-80" dirty="0">
                <a:solidFill>
                  <a:schemeClr val="accent6"/>
                </a:solidFill>
              </a:rPr>
              <a:t> in an on-premise environment</a:t>
            </a:r>
          </a:p>
          <a:p>
            <a:r>
              <a:rPr lang="en-IN" sz="1800" kern="0" spc="-80" dirty="0">
                <a:solidFill>
                  <a:schemeClr val="accent6"/>
                </a:solidFill>
              </a:rPr>
              <a:t>    while you refactor and deploy in the cloud with a blue-green deployment</a:t>
            </a:r>
          </a:p>
          <a:p>
            <a:r>
              <a:rPr lang="en-IN" sz="1800" kern="0" spc="-80" dirty="0">
                <a:solidFill>
                  <a:schemeClr val="accent6"/>
                </a:solidFill>
              </a:rPr>
              <a:t>    model. </a:t>
            </a:r>
          </a:p>
          <a:p>
            <a:r>
              <a:rPr lang="en-IN" sz="1800" kern="0" spc="-80" dirty="0">
                <a:solidFill>
                  <a:schemeClr val="accent6"/>
                </a:solidFill>
              </a:rPr>
              <a:t>  - A legacy application such as a </a:t>
            </a:r>
            <a:r>
              <a:rPr lang="en-IN" sz="1800" kern="0" spc="-80" dirty="0">
                <a:solidFill>
                  <a:schemeClr val="accent1"/>
                </a:solidFill>
              </a:rPr>
              <a:t>mainframe may not have a compatible cloud</a:t>
            </a:r>
          </a:p>
          <a:p>
            <a:r>
              <a:rPr lang="en-IN" sz="1800" kern="0" spc="-80" dirty="0">
                <a:solidFill>
                  <a:schemeClr val="accent1"/>
                </a:solidFill>
              </a:rPr>
              <a:t>    option</a:t>
            </a:r>
            <a:r>
              <a:rPr lang="en-IN" sz="1800" kern="0" spc="-80" dirty="0">
                <a:solidFill>
                  <a:schemeClr val="accent6"/>
                </a:solidFill>
              </a:rPr>
              <a:t> and has to continue running on premise. You need time to refactor the </a:t>
            </a:r>
          </a:p>
          <a:p>
            <a:r>
              <a:rPr lang="en-IN" sz="1800" kern="0" spc="-80" dirty="0">
                <a:solidFill>
                  <a:schemeClr val="accent6"/>
                </a:solidFill>
              </a:rPr>
              <a:t>    tech stack. </a:t>
            </a:r>
          </a:p>
          <a:p>
            <a:r>
              <a:rPr lang="en-IN" sz="1800" kern="0" spc="-80" dirty="0">
                <a:solidFill>
                  <a:schemeClr val="accent6"/>
                </a:solidFill>
              </a:rPr>
              <a:t>  - To </a:t>
            </a:r>
            <a:r>
              <a:rPr lang="en-IN" sz="1800" kern="0" spc="-80" dirty="0">
                <a:solidFill>
                  <a:schemeClr val="accent1"/>
                </a:solidFill>
              </a:rPr>
              <a:t>speed up migration</a:t>
            </a:r>
            <a:r>
              <a:rPr lang="en-IN" sz="1800" kern="0" spc="-80" dirty="0">
                <a:solidFill>
                  <a:schemeClr val="accent6"/>
                </a:solidFill>
              </a:rPr>
              <a:t>, keep the database on-premise and move the application </a:t>
            </a:r>
          </a:p>
          <a:p>
            <a:r>
              <a:rPr lang="en-IN" sz="1800" kern="0" spc="-80" dirty="0">
                <a:solidFill>
                  <a:schemeClr val="accent6"/>
                </a:solidFill>
              </a:rPr>
              <a:t>    server to the cloud. </a:t>
            </a:r>
          </a:p>
          <a:p>
            <a:r>
              <a:rPr lang="en-IN" sz="1800" kern="0" spc="-80" dirty="0">
                <a:solidFill>
                  <a:schemeClr val="accent6"/>
                </a:solidFill>
              </a:rPr>
              <a:t>  - The customer wants to have </a:t>
            </a:r>
            <a:r>
              <a:rPr lang="en-IN" sz="1800" kern="0" spc="-80" dirty="0">
                <a:solidFill>
                  <a:schemeClr val="accent1"/>
                </a:solidFill>
              </a:rPr>
              <a:t>more granular control </a:t>
            </a:r>
            <a:r>
              <a:rPr lang="en-IN" sz="1800" kern="0" spc="-80" dirty="0">
                <a:solidFill>
                  <a:schemeClr val="accent6"/>
                </a:solidFill>
              </a:rPr>
              <a:t>of part of the application. </a:t>
            </a:r>
          </a:p>
          <a:p>
            <a:pPr marL="12700" marR="5080"/>
            <a:r>
              <a:rPr lang="en-US" sz="2400" kern="0" spc="-80" dirty="0">
                <a:solidFill>
                  <a:schemeClr val="accent2"/>
                </a:solidFill>
              </a:rPr>
              <a:t> </a:t>
            </a:r>
            <a:r>
              <a:rPr lang="en-US" sz="2000" kern="0" spc="-80" dirty="0">
                <a:solidFill>
                  <a:schemeClr val="accent2"/>
                </a:solidFill>
              </a:rPr>
              <a:t> </a:t>
            </a:r>
            <a:endParaRPr lang="en-US" sz="1600" kern="0" spc="-80" dirty="0">
              <a:solidFill>
                <a:schemeClr val="accent2"/>
              </a:solidFill>
            </a:endParaRPr>
          </a:p>
        </p:txBody>
      </p:sp>
      <p:sp>
        <p:nvSpPr>
          <p:cNvPr id="8" name="object 2">
            <a:extLst>
              <a:ext uri="{FF2B5EF4-FFF2-40B4-BE49-F238E27FC236}">
                <a16:creationId xmlns:a16="http://schemas.microsoft.com/office/drawing/2014/main" id="{209210D5-F276-416C-4B1D-8420A8954368}"/>
              </a:ext>
            </a:extLst>
          </p:cNvPr>
          <p:cNvSpPr txBox="1">
            <a:spLocks/>
          </p:cNvSpPr>
          <p:nvPr/>
        </p:nvSpPr>
        <p:spPr>
          <a:xfrm>
            <a:off x="0" y="4953000"/>
            <a:ext cx="8915399"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IN" sz="1500" dirty="0">
                <a:hlinkClick r:id="rId7"/>
              </a:rPr>
              <a:t>Achieving Digital Transformation Using Hybrid Cloud | Cloud &amp; Networking | Print</a:t>
            </a:r>
            <a:r>
              <a:rPr lang="en-US" sz="1500" kern="0" spc="-80" dirty="0">
                <a:solidFill>
                  <a:schemeClr val="accent2"/>
                </a:solidFill>
              </a:rPr>
              <a:t> </a:t>
            </a:r>
          </a:p>
          <a:p>
            <a:pPr marL="12700" marR="5080"/>
            <a:r>
              <a:rPr lang="en-IN" sz="1500" dirty="0">
                <a:hlinkClick r:id="rId8"/>
              </a:rPr>
              <a:t>Hybrid-Cloud-Security-Patterns</a:t>
            </a:r>
            <a:endParaRPr lang="en-US" sz="1500" kern="0" spc="-80" dirty="0">
              <a:solidFill>
                <a:schemeClr val="accent2"/>
              </a:solidFill>
            </a:endParaRPr>
          </a:p>
        </p:txBody>
      </p:sp>
    </p:spTree>
    <p:extLst>
      <p:ext uri="{BB962C8B-B14F-4D97-AF65-F5344CB8AC3E}">
        <p14:creationId xmlns:p14="http://schemas.microsoft.com/office/powerpoint/2010/main" val="247792796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54476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Multi-Cloud –</a:t>
            </a:r>
          </a:p>
          <a:p>
            <a:r>
              <a:rPr lang="en-US" sz="2400" kern="0" spc="-80" dirty="0">
                <a:solidFill>
                  <a:schemeClr val="accent2"/>
                </a:solidFill>
              </a:rPr>
              <a:t> </a:t>
            </a:r>
            <a:r>
              <a:rPr lang="en-IN" sz="1800" kern="0" spc="-80" dirty="0">
                <a:solidFill>
                  <a:schemeClr val="accent6"/>
                </a:solidFill>
              </a:rPr>
              <a:t>The common reasons of setting up a multi cloud may include the following: </a:t>
            </a:r>
          </a:p>
          <a:p>
            <a:r>
              <a:rPr lang="en-IN" sz="1800" kern="0" spc="-80" dirty="0">
                <a:solidFill>
                  <a:schemeClr val="accent6"/>
                </a:solidFill>
              </a:rPr>
              <a:t>  - Best of the breed </a:t>
            </a:r>
            <a:r>
              <a:rPr lang="en-IN" sz="1800" kern="0" spc="-80" dirty="0">
                <a:solidFill>
                  <a:schemeClr val="accent1"/>
                </a:solidFill>
              </a:rPr>
              <a:t>technical capabilities </a:t>
            </a:r>
            <a:r>
              <a:rPr lang="en-IN" sz="1800" kern="0" spc="-80" dirty="0">
                <a:solidFill>
                  <a:schemeClr val="accent6"/>
                </a:solidFill>
              </a:rPr>
              <a:t>handling amongst the cloud providers</a:t>
            </a:r>
          </a:p>
          <a:p>
            <a:r>
              <a:rPr lang="en-IN" sz="1800" kern="0" spc="-80" dirty="0">
                <a:solidFill>
                  <a:schemeClr val="accent6"/>
                </a:solidFill>
              </a:rPr>
              <a:t>  - Avoid </a:t>
            </a:r>
            <a:r>
              <a:rPr lang="en-IN" sz="1800" kern="0" spc="-80" dirty="0">
                <a:solidFill>
                  <a:schemeClr val="accent1"/>
                </a:solidFill>
              </a:rPr>
              <a:t>Vendor Lock-in</a:t>
            </a:r>
          </a:p>
          <a:p>
            <a:r>
              <a:rPr lang="en-IN" sz="1800" kern="0" spc="-80" dirty="0">
                <a:solidFill>
                  <a:schemeClr val="accent6"/>
                </a:solidFill>
              </a:rPr>
              <a:t>  - </a:t>
            </a:r>
            <a:r>
              <a:rPr lang="en-IN" sz="1800" kern="0" spc="-80" dirty="0">
                <a:solidFill>
                  <a:schemeClr val="accent1"/>
                </a:solidFill>
              </a:rPr>
              <a:t>Geographical Availability</a:t>
            </a:r>
            <a:endParaRPr lang="en-US" sz="1800" kern="0" spc="-80" dirty="0">
              <a:solidFill>
                <a:schemeClr val="accent1"/>
              </a:solidFill>
            </a:endParaRPr>
          </a:p>
          <a:p>
            <a:r>
              <a:rPr lang="en-US" sz="1800" kern="0" spc="-80" dirty="0">
                <a:solidFill>
                  <a:schemeClr val="accent1"/>
                </a:solidFill>
              </a:rPr>
              <a:t> </a:t>
            </a:r>
            <a:r>
              <a:rPr lang="en-US" sz="1800" kern="0" spc="-80" dirty="0">
                <a:solidFill>
                  <a:schemeClr val="accent6"/>
                </a:solidFill>
              </a:rPr>
              <a:t> - </a:t>
            </a:r>
            <a:r>
              <a:rPr lang="en-US" sz="1800" kern="0" spc="-80" dirty="0">
                <a:solidFill>
                  <a:schemeClr val="accent1"/>
                </a:solidFill>
              </a:rPr>
              <a:t>Cost</a:t>
            </a:r>
          </a:p>
          <a:p>
            <a:endParaRPr lang="en-US" sz="1800" kern="0" spc="-80" dirty="0">
              <a:solidFill>
                <a:schemeClr val="accent1"/>
              </a:solidFill>
            </a:endParaRPr>
          </a:p>
          <a:p>
            <a:r>
              <a:rPr lang="en-US" sz="1800" kern="0" spc="-80" dirty="0">
                <a:solidFill>
                  <a:schemeClr val="accent2"/>
                </a:solidFill>
              </a:rPr>
              <a:t>NFRs Handling in Multi and Hybrid Cloud Environments</a:t>
            </a:r>
          </a:p>
          <a:p>
            <a:r>
              <a:rPr lang="en-US" sz="1800" kern="0" spc="-80" dirty="0">
                <a:solidFill>
                  <a:schemeClr val="accent2"/>
                </a:solidFill>
              </a:rPr>
              <a:t>General Techniques Across NFRs</a:t>
            </a:r>
          </a:p>
          <a:p>
            <a:r>
              <a:rPr lang="en-US" sz="1800" kern="0" spc="-80" dirty="0">
                <a:solidFill>
                  <a:schemeClr val="accent2"/>
                </a:solidFill>
              </a:rPr>
              <a:t>Establish a Robust Governance Model: </a:t>
            </a:r>
            <a:r>
              <a:rPr lang="en-US" sz="1800" kern="0" spc="-80" dirty="0">
                <a:solidFill>
                  <a:schemeClr val="accent6"/>
                </a:solidFill>
              </a:rPr>
              <a:t>Define clear policies for resource allocation, data management, access control, and security that apply consistently across all on-premises and cloud environments.</a:t>
            </a:r>
          </a:p>
          <a:p>
            <a:r>
              <a:rPr lang="en-US" sz="1800" kern="0" spc="-80" dirty="0">
                <a:solidFill>
                  <a:schemeClr val="accent2"/>
                </a:solidFill>
              </a:rPr>
              <a:t>Adopt a Unified Security Framework: </a:t>
            </a:r>
            <a:r>
              <a:rPr lang="en-US" sz="1800" kern="0" spc="-80" dirty="0">
                <a:solidFill>
                  <a:schemeClr val="accent6"/>
                </a:solidFill>
              </a:rPr>
              <a:t>Implement consistent security policies, identity and access management (IAM) systems (e.g., Single Sign-On, MFA), and a Zero-Trust security model across all platforms.</a:t>
            </a:r>
          </a:p>
          <a:p>
            <a:r>
              <a:rPr lang="en-US" sz="1800" kern="0" spc="-80" dirty="0">
                <a:solidFill>
                  <a:schemeClr val="accent2"/>
                </a:solidFill>
              </a:rPr>
              <a:t>Automate Processes: </a:t>
            </a:r>
            <a:r>
              <a:rPr lang="en-US" sz="1800" kern="0" spc="-80" dirty="0">
                <a:solidFill>
                  <a:schemeClr val="accent6"/>
                </a:solidFill>
              </a:rPr>
              <a:t>Leverage automation for security checks, compliance monitoring, provisioning, and policy enforcement using tools like Infrastructure as Code (</a:t>
            </a:r>
            <a:r>
              <a:rPr lang="en-US" sz="1800" kern="0" spc="-80" dirty="0" err="1">
                <a:solidFill>
                  <a:schemeClr val="accent6"/>
                </a:solidFill>
              </a:rPr>
              <a:t>IaC</a:t>
            </a:r>
            <a:r>
              <a:rPr lang="en-US" sz="1800" kern="0" spc="-80" dirty="0">
                <a:solidFill>
                  <a:schemeClr val="accent6"/>
                </a:solidFill>
              </a:rPr>
              <a:t>) templates.</a:t>
            </a:r>
          </a:p>
          <a:p>
            <a:endParaRPr lang="en-US" sz="1800" kern="0" spc="-80" dirty="0">
              <a:solidFill>
                <a:schemeClr val="accent2"/>
              </a:solidFill>
            </a:endParaRPr>
          </a:p>
        </p:txBody>
      </p:sp>
    </p:spTree>
    <p:extLst>
      <p:ext uri="{BB962C8B-B14F-4D97-AF65-F5344CB8AC3E}">
        <p14:creationId xmlns:p14="http://schemas.microsoft.com/office/powerpoint/2010/main" val="410827279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94BE-6613-067E-DC26-CCA0416D7A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44FC45-DB2D-ED90-4384-B1114F8E84A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E4E2B2-4AC9-FEE1-063B-4FCDABB66A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944AFB-92CF-FCF7-E78B-576DEF76E1F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7A24AA3-0062-65B5-C6A9-0F3B0140B37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E87CDB0-1119-8483-92BA-256C659850D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ED9CFE2-1E54-B86B-8506-D44527A080CB}"/>
              </a:ext>
            </a:extLst>
          </p:cNvPr>
          <p:cNvSpPr txBox="1">
            <a:spLocks/>
          </p:cNvSpPr>
          <p:nvPr/>
        </p:nvSpPr>
        <p:spPr>
          <a:xfrm>
            <a:off x="0" y="465951"/>
            <a:ext cx="8915399" cy="57554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endParaRPr lang="en-US" sz="1800" kern="0" spc="-80" dirty="0">
              <a:solidFill>
                <a:schemeClr val="accent2"/>
              </a:solidFill>
            </a:endParaRPr>
          </a:p>
          <a:p>
            <a:r>
              <a:rPr lang="en-US" sz="1800" kern="0" spc="-80" dirty="0">
                <a:solidFill>
                  <a:schemeClr val="accent2"/>
                </a:solidFill>
              </a:rPr>
              <a:t>NFRs Handling in Multi and Hybrid Cloud Environments</a:t>
            </a:r>
          </a:p>
          <a:p>
            <a:r>
              <a:rPr lang="en-US" sz="1800" kern="0" spc="-80" dirty="0">
                <a:solidFill>
                  <a:schemeClr val="accent2"/>
                </a:solidFill>
              </a:rPr>
              <a:t>General Techniques Across NFRs</a:t>
            </a:r>
          </a:p>
          <a:p>
            <a:r>
              <a:rPr lang="en-US" sz="1400" kern="0" spc="-80" dirty="0">
                <a:solidFill>
                  <a:schemeClr val="accent2"/>
                </a:solidFill>
              </a:rPr>
              <a:t>Invest in Cloud Management Tools:</a:t>
            </a:r>
            <a:r>
              <a:rPr lang="en-US" sz="1400" kern="0" spc="-80" dirty="0">
                <a:solidFill>
                  <a:schemeClr val="accent6"/>
                </a:solidFill>
              </a:rPr>
              <a:t> Use a centralized platform (e.g., SIEM or CSPM solutions) that provides a "single pane of glass" for visibility, monitoring, and management across different cloud providers.</a:t>
            </a:r>
          </a:p>
          <a:p>
            <a:r>
              <a:rPr lang="en-US" sz="1400" kern="0" spc="-80" dirty="0">
                <a:solidFill>
                  <a:schemeClr val="accent2"/>
                </a:solidFill>
              </a:rPr>
              <a:t>Design for Interoperability: </a:t>
            </a:r>
            <a:r>
              <a:rPr lang="en-US" sz="1400" kern="0" spc="-80" dirty="0">
                <a:solidFill>
                  <a:schemeClr val="accent6"/>
                </a:solidFill>
              </a:rPr>
              <a:t>Use standardized APIs, containers (like Kubernetes), and orchestration platforms to ensure seamless data flow and application portability across clouds. </a:t>
            </a:r>
          </a:p>
          <a:p>
            <a:endParaRPr lang="en-US" sz="1400" kern="0" spc="-80" dirty="0">
              <a:solidFill>
                <a:schemeClr val="accent6"/>
              </a:solidFill>
            </a:endParaRPr>
          </a:p>
          <a:p>
            <a:r>
              <a:rPr lang="en-IN" sz="1800" dirty="0">
                <a:solidFill>
                  <a:schemeClr val="accent2"/>
                </a:solidFill>
              </a:rPr>
              <a:t>Key Techniques for NFRs Compliance</a:t>
            </a:r>
          </a:p>
          <a:p>
            <a:r>
              <a:rPr lang="en-US" sz="1800" kern="0" spc="-80" dirty="0">
                <a:solidFill>
                  <a:schemeClr val="accent2"/>
                </a:solidFill>
              </a:rPr>
              <a:t>Security and Compliance</a:t>
            </a:r>
          </a:p>
          <a:p>
            <a:r>
              <a:rPr lang="en-US" sz="1400" kern="0" spc="-80" dirty="0">
                <a:solidFill>
                  <a:schemeClr val="accent2"/>
                </a:solidFill>
              </a:rPr>
              <a:t>Unified Security Framework:</a:t>
            </a:r>
            <a:r>
              <a:rPr lang="en-US" sz="1400" kern="0" spc="-80" dirty="0">
                <a:solidFill>
                  <a:schemeClr val="accent6"/>
                </a:solidFill>
              </a:rPr>
              <a:t> Establish a consistent security posture across all platforms, including on-premises, private cloud, and multiple public clouds.</a:t>
            </a:r>
          </a:p>
          <a:p>
            <a:r>
              <a:rPr lang="en-US" sz="1400" kern="0" spc="-80" dirty="0">
                <a:solidFill>
                  <a:schemeClr val="accent2"/>
                </a:solidFill>
              </a:rPr>
              <a:t>Centralized IAM: </a:t>
            </a:r>
            <a:r>
              <a:rPr lang="en-US" sz="1400" kern="0" spc="-80" dirty="0">
                <a:solidFill>
                  <a:schemeClr val="accent6"/>
                </a:solidFill>
              </a:rPr>
              <a:t>Implement a unified identity and access management (IAM) system (like Azure AD or AWS IAM) that uses role-based access control (RBAC) and multi-factor authentication (MFA) across all environments.</a:t>
            </a:r>
          </a:p>
          <a:p>
            <a:r>
              <a:rPr lang="en-US" sz="1400" kern="0" spc="-80" dirty="0">
                <a:solidFill>
                  <a:schemeClr val="accent2"/>
                </a:solidFill>
              </a:rPr>
              <a:t>Adopt a Zero-Trust Model: </a:t>
            </a:r>
            <a:r>
              <a:rPr lang="en-US" sz="1400" kern="0" spc="-80" dirty="0">
                <a:solidFill>
                  <a:schemeClr val="accent6"/>
                </a:solidFill>
              </a:rPr>
              <a:t>Assume no user or service is trusted by default, regardless of its location (inside or outside the network), and continuously verify identities and access.</a:t>
            </a:r>
          </a:p>
          <a:p>
            <a:r>
              <a:rPr lang="en-US" sz="1400" kern="0" spc="-80" dirty="0">
                <a:solidFill>
                  <a:schemeClr val="accent2"/>
                </a:solidFill>
              </a:rPr>
              <a:t>Consistent Encryption: </a:t>
            </a:r>
            <a:r>
              <a:rPr lang="en-US" sz="1400" kern="0" spc="-80" dirty="0">
                <a:solidFill>
                  <a:schemeClr val="accent6"/>
                </a:solidFill>
              </a:rPr>
              <a:t>Enforce strong, industry-grade encryption for all data, both at rest and in transit, with a consistent key management policy across all clouds.</a:t>
            </a:r>
          </a:p>
          <a:p>
            <a:r>
              <a:rPr lang="en-US" sz="1400" kern="0" spc="-80" dirty="0">
                <a:solidFill>
                  <a:schemeClr val="accent2"/>
                </a:solidFill>
              </a:rPr>
              <a:t>Automated Compliance Monitoring: </a:t>
            </a:r>
            <a:r>
              <a:rPr lang="en-US" sz="1400" kern="0" spc="-80" dirty="0">
                <a:solidFill>
                  <a:schemeClr val="accent6"/>
                </a:solidFill>
              </a:rPr>
              <a:t>Leverage automated tools (like AWS Config or Azure Policy) to continuously monitor configurations, detect non-compliance issues in real-time, and automate remediation actions.</a:t>
            </a:r>
          </a:p>
          <a:p>
            <a:r>
              <a:rPr lang="en-US" sz="1400" kern="0" spc="-80" dirty="0">
                <a:solidFill>
                  <a:schemeClr val="accent2"/>
                </a:solidFill>
              </a:rPr>
              <a:t>Regular Audits and Testing: </a:t>
            </a:r>
            <a:r>
              <a:rPr lang="en-US" sz="1400" kern="0" spc="-80" dirty="0">
                <a:solidFill>
                  <a:schemeClr val="accent6"/>
                </a:solidFill>
              </a:rPr>
              <a:t>Conduct frequent security audits, vulnerability assessments, and penetration testing to identify and mitigate risks proactively. </a:t>
            </a:r>
          </a:p>
          <a:p>
            <a:endParaRPr lang="en-US" sz="1800" kern="0" spc="-80" dirty="0">
              <a:solidFill>
                <a:schemeClr val="accent2"/>
              </a:solidFill>
            </a:endParaRPr>
          </a:p>
        </p:txBody>
      </p:sp>
    </p:spTree>
    <p:extLst>
      <p:ext uri="{BB962C8B-B14F-4D97-AF65-F5344CB8AC3E}">
        <p14:creationId xmlns:p14="http://schemas.microsoft.com/office/powerpoint/2010/main" val="259478895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379B-C6B5-BC34-0225-15726CE4D6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EEBC47-FCE3-AE8E-0E6F-C029260EA1A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88ACE1-29F2-DB96-60F2-504E3923C61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C9B46D-1A07-2C45-BDE6-F75E7B9F307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6CD2715-B55F-237C-ED9A-F7334D7A970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137E3A1-DE93-0146-F63C-3A3407C7B7F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AE530D-0581-391C-4F8A-D46513CA272B}"/>
              </a:ext>
            </a:extLst>
          </p:cNvPr>
          <p:cNvSpPr txBox="1">
            <a:spLocks/>
          </p:cNvSpPr>
          <p:nvPr/>
        </p:nvSpPr>
        <p:spPr>
          <a:xfrm>
            <a:off x="0" y="685800"/>
            <a:ext cx="8915399" cy="64633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r>
              <a:rPr lang="en-IN" sz="2400" dirty="0">
                <a:solidFill>
                  <a:schemeClr val="accent2"/>
                </a:solidFill>
              </a:rPr>
              <a:t>Key Techniques for NFRs Compliance</a:t>
            </a:r>
          </a:p>
          <a:p>
            <a:r>
              <a:rPr lang="en-US" sz="2400" kern="0" spc="-80" dirty="0">
                <a:solidFill>
                  <a:schemeClr val="accent2"/>
                </a:solidFill>
              </a:rPr>
              <a:t>Performance and Scalability</a:t>
            </a:r>
          </a:p>
          <a:p>
            <a:r>
              <a:rPr lang="en-US" sz="1400" kern="0" spc="-80" dirty="0">
                <a:solidFill>
                  <a:schemeClr val="accent2"/>
                </a:solidFill>
              </a:rPr>
              <a:t>Vendor-Agnostic Design: </a:t>
            </a:r>
            <a:r>
              <a:rPr lang="en-US" sz="1400" kern="0" spc="-80" dirty="0">
                <a:solidFill>
                  <a:schemeClr val="accent6"/>
                </a:solidFill>
              </a:rPr>
              <a:t>Use open-source tools and platforms, containerization (Docker, Kubernetes), and abstract cloud-specific functionalities to minimize vendor lock-in and allow flexibility in workload placement.</a:t>
            </a:r>
          </a:p>
          <a:p>
            <a:r>
              <a:rPr lang="en-US" sz="1400" kern="0" spc="-80" dirty="0">
                <a:solidFill>
                  <a:schemeClr val="accent2"/>
                </a:solidFill>
              </a:rPr>
              <a:t>Horizontal Scaling Architecture: </a:t>
            </a:r>
            <a:r>
              <a:rPr lang="en-US" sz="1400" kern="0" spc="-80" dirty="0">
                <a:solidFill>
                  <a:schemeClr val="accent6"/>
                </a:solidFill>
              </a:rPr>
              <a:t>Design applications for horizontal scaling by using microservices and stateless components, allowing the system to scale out (add more instances) on demand across different cloud environments.</a:t>
            </a:r>
          </a:p>
          <a:p>
            <a:r>
              <a:rPr lang="en-US" sz="1400" kern="0" spc="-80" dirty="0">
                <a:solidFill>
                  <a:schemeClr val="accent2"/>
                </a:solidFill>
              </a:rPr>
              <a:t>Global Load Balancing:</a:t>
            </a:r>
            <a:r>
              <a:rPr lang="en-US" sz="1400" kern="0" spc="-80" dirty="0">
                <a:solidFill>
                  <a:schemeClr val="accent6"/>
                </a:solidFill>
              </a:rPr>
              <a:t> Implement global load balancing to efficiently distribute traffic and user requests across multiple regions or cloud providers based on performance or proximity, reducing latency and ensuring high availability.</a:t>
            </a:r>
          </a:p>
          <a:p>
            <a:r>
              <a:rPr lang="en-US" sz="1400" kern="0" spc="-80" dirty="0">
                <a:solidFill>
                  <a:schemeClr val="accent2"/>
                </a:solidFill>
              </a:rPr>
              <a:t>Data Management and Synchronization: </a:t>
            </a:r>
            <a:r>
              <a:rPr lang="en-US" sz="1400" kern="0" spc="-80" dirty="0">
                <a:solidFill>
                  <a:schemeClr val="accent6"/>
                </a:solidFill>
              </a:rPr>
              <a:t>Use distributed databases and real-time data replication/synchronization between clouds to ensure data consistency and availability, crucial for performance in data-intensive applications.</a:t>
            </a:r>
          </a:p>
          <a:p>
            <a:r>
              <a:rPr lang="en-US" sz="1400" kern="0" spc="-80" dirty="0">
                <a:solidFill>
                  <a:schemeClr val="accent2"/>
                </a:solidFill>
              </a:rPr>
              <a:t>Caching and CDNs: </a:t>
            </a:r>
            <a:r>
              <a:rPr lang="en-US" sz="1400" kern="0" spc="-80" dirty="0">
                <a:solidFill>
                  <a:schemeClr val="accent6"/>
                </a:solidFill>
              </a:rPr>
              <a:t>Utilize caching strategies (e.g., Redis, Memcached) and Content Delivery Networks (CDNs) to store frequently accessed data closer to end-users, reducing latency and backend load. </a:t>
            </a:r>
          </a:p>
          <a:p>
            <a:endParaRPr lang="en-US" sz="1400" kern="0" spc="-80" dirty="0">
              <a:solidFill>
                <a:schemeClr val="accent6"/>
              </a:solidFill>
            </a:endParaRPr>
          </a:p>
          <a:p>
            <a:r>
              <a:rPr lang="en-US" sz="2400" kern="0" spc="-80" dirty="0">
                <a:solidFill>
                  <a:schemeClr val="accent2"/>
                </a:solidFill>
              </a:rPr>
              <a:t>Reliability and Availability</a:t>
            </a:r>
          </a:p>
          <a:p>
            <a:r>
              <a:rPr lang="en-US" sz="1400" kern="0" spc="-80" dirty="0">
                <a:solidFill>
                  <a:schemeClr val="accent6"/>
                </a:solidFill>
              </a:rPr>
              <a:t>Automated Failover: Deploy applications across multiple cloud providers and implement automated failover mechanisms to switch traffic to a healthy environment in case of an outage in one region or provider.</a:t>
            </a:r>
          </a:p>
          <a:p>
            <a:r>
              <a:rPr lang="en-US" sz="1400" kern="0" spc="-80" dirty="0">
                <a:solidFill>
                  <a:schemeClr val="accent6"/>
                </a:solidFill>
              </a:rPr>
              <a:t>Robust Incident Response Plan: Develop a single, comprehensive incident response strategy that outlines procedures for detecting, containing, and recovering from incidents across all cloud environments.</a:t>
            </a: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203565118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C90A-8600-029B-B326-920D6E33F5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51F114-EBC5-690F-7449-16172525D9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9C73FB-EA00-DA58-2811-7C34D80D994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56A53B7-1399-3B96-CF8A-A8317651A8E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2651560-E0EE-DD44-04AC-71114210B15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6B0CC15-58CE-038A-E805-701F3EEA91D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625E8CE-2E8A-77CE-44E9-46DC294204EE}"/>
              </a:ext>
            </a:extLst>
          </p:cNvPr>
          <p:cNvSpPr txBox="1">
            <a:spLocks/>
          </p:cNvSpPr>
          <p:nvPr/>
        </p:nvSpPr>
        <p:spPr>
          <a:xfrm>
            <a:off x="0" y="685800"/>
            <a:ext cx="8915399" cy="58169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r>
              <a:rPr lang="en-IN" sz="2400" dirty="0">
                <a:solidFill>
                  <a:schemeClr val="accent2"/>
                </a:solidFill>
              </a:rPr>
              <a:t>Key Techniques for NFRs Compliance</a:t>
            </a:r>
          </a:p>
          <a:p>
            <a:r>
              <a:rPr lang="en-US" sz="2400" kern="0" spc="-80" dirty="0">
                <a:solidFill>
                  <a:schemeClr val="accent2"/>
                </a:solidFill>
              </a:rPr>
              <a:t>Reliability and Availability</a:t>
            </a:r>
          </a:p>
          <a:p>
            <a:r>
              <a:rPr lang="en-US" sz="1400" kern="0" spc="-80" dirty="0">
                <a:solidFill>
                  <a:schemeClr val="accent2"/>
                </a:solidFill>
              </a:rPr>
              <a:t>Data Backup and Disaster Recovery (DR):</a:t>
            </a:r>
            <a:r>
              <a:rPr lang="en-US" sz="1400" kern="0" spc="-80" dirty="0">
                <a:solidFill>
                  <a:schemeClr val="accent6"/>
                </a:solidFill>
              </a:rPr>
              <a:t> Establish consistent backup and DR plans, replicating critical data and applications across different clouds or to an on-premises data center to ensure business continuity and minimal downtime.</a:t>
            </a:r>
          </a:p>
          <a:p>
            <a:endParaRPr lang="en-US" sz="1400" kern="0" spc="-80" dirty="0">
              <a:solidFill>
                <a:schemeClr val="accent6"/>
              </a:solidFill>
            </a:endParaRPr>
          </a:p>
          <a:p>
            <a:r>
              <a:rPr lang="en-US" sz="2400" kern="0" spc="-80" dirty="0">
                <a:solidFill>
                  <a:schemeClr val="accent2"/>
                </a:solidFill>
              </a:rPr>
              <a:t>Manageability and Cost Optimization </a:t>
            </a:r>
          </a:p>
          <a:p>
            <a:r>
              <a:rPr lang="en-US" sz="1400" kern="0" spc="-80" dirty="0">
                <a:solidFill>
                  <a:schemeClr val="accent2"/>
                </a:solidFill>
              </a:rPr>
              <a:t>Centralized Management and Observability:</a:t>
            </a:r>
            <a:r>
              <a:rPr lang="en-US" sz="1400" kern="0" spc="-80" dirty="0">
                <a:solidFill>
                  <a:schemeClr val="accent6"/>
                </a:solidFill>
              </a:rPr>
              <a:t> Use multi-cloud management platforms (CMPs) or SIEM tools to gain a unified view and centralized control over resource management, monitoring, and logging across all environments.</a:t>
            </a:r>
          </a:p>
          <a:p>
            <a:r>
              <a:rPr lang="en-US" sz="1400" kern="0" spc="-80" dirty="0">
                <a:solidFill>
                  <a:schemeClr val="accent2"/>
                </a:solidFill>
              </a:rPr>
              <a:t>Infrastructure as Code (</a:t>
            </a:r>
            <a:r>
              <a:rPr lang="en-US" sz="1400" kern="0" spc="-80" dirty="0" err="1">
                <a:solidFill>
                  <a:schemeClr val="accent2"/>
                </a:solidFill>
              </a:rPr>
              <a:t>IaC</a:t>
            </a:r>
            <a:r>
              <a:rPr lang="en-US" sz="1400" kern="0" spc="-80" dirty="0">
                <a:solidFill>
                  <a:schemeClr val="accent2"/>
                </a:solidFill>
              </a:rPr>
              <a:t>):</a:t>
            </a:r>
            <a:r>
              <a:rPr lang="en-US" sz="1400" kern="0" spc="-80" dirty="0">
                <a:solidFill>
                  <a:schemeClr val="accent6"/>
                </a:solidFill>
              </a:rPr>
              <a:t> Use </a:t>
            </a:r>
            <a:r>
              <a:rPr lang="en-US" sz="1400" kern="0" spc="-80" dirty="0" err="1">
                <a:solidFill>
                  <a:schemeClr val="accent6"/>
                </a:solidFill>
              </a:rPr>
              <a:t>IaC</a:t>
            </a:r>
            <a:r>
              <a:rPr lang="en-US" sz="1400" kern="0" spc="-80" dirty="0">
                <a:solidFill>
                  <a:schemeClr val="accent6"/>
                </a:solidFill>
              </a:rPr>
              <a:t> tools (e.g., Terraform) to automate the provisioning and management of resources, ensuring consistency, repeatability, and error reduction across disparate environments.</a:t>
            </a:r>
          </a:p>
          <a:p>
            <a:r>
              <a:rPr lang="en-US" sz="1400" kern="0" spc="-80" dirty="0">
                <a:solidFill>
                  <a:schemeClr val="accent2"/>
                </a:solidFill>
              </a:rPr>
              <a:t>Cost Management and Optimization Tools:</a:t>
            </a:r>
            <a:r>
              <a:rPr lang="en-US" sz="1400" kern="0" spc="-80" dirty="0">
                <a:solidFill>
                  <a:schemeClr val="accent6"/>
                </a:solidFill>
              </a:rPr>
              <a:t> Implement cloud cost management tools to monitor spending, analyze usage, and use cost-saving mechanisms (like spot instances or reserved instances) across all platforms.</a:t>
            </a:r>
          </a:p>
          <a:p>
            <a:r>
              <a:rPr lang="en-US" sz="1400" kern="0" spc="-80" dirty="0">
                <a:solidFill>
                  <a:schemeClr val="accent2"/>
                </a:solidFill>
              </a:rPr>
              <a:t>Defined SLAs and KPIs: </a:t>
            </a:r>
            <a:r>
              <a:rPr lang="en-US" sz="1400" kern="0" spc="-80" dirty="0">
                <a:solidFill>
                  <a:schemeClr val="accent6"/>
                </a:solidFill>
              </a:rPr>
              <a:t>Clearly define Service Level Agreements (SLAs) and Key Performance Indicators (KPIs) for applications running in hybrid/multi-cloud setups to measure performance and ensure accountability. </a:t>
            </a: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377767535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AD71-BBE7-4237-03F0-976064097C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6CD659-FE34-A6A2-5A21-9ED46908844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06AC4D-5BE9-28CB-E2FA-36DD127F9F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57CD5E-0382-7FD7-48AB-9CF0BE42831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5EFA8BB-5AD6-E2D1-08B3-9B6515E3762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68601DF-F46C-480D-904F-6DC328B1D5E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CEDA37F-A729-FDEB-2B17-9108284C4ECC}"/>
              </a:ext>
            </a:extLst>
          </p:cNvPr>
          <p:cNvSpPr txBox="1">
            <a:spLocks/>
          </p:cNvSpPr>
          <p:nvPr/>
        </p:nvSpPr>
        <p:spPr>
          <a:xfrm>
            <a:off x="0" y="685800"/>
            <a:ext cx="8915399"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pPr marL="12700" marR="5080"/>
            <a:r>
              <a:rPr lang="en-US" sz="2000" kern="0" spc="-80" dirty="0">
                <a:solidFill>
                  <a:schemeClr val="accent2"/>
                </a:solidFill>
              </a:rPr>
              <a:t>For Further Exploration – </a:t>
            </a:r>
          </a:p>
          <a:p>
            <a:pPr marL="12700" marR="5080"/>
            <a:r>
              <a:rPr lang="en-US" sz="2000" dirty="0">
                <a:hlinkClick r:id="rId7"/>
              </a:rPr>
              <a:t>7 Multi-Cloud Architecture Designs for Effective Cloud Strategy</a:t>
            </a:r>
            <a:endParaRPr lang="en-US" sz="2000" dirty="0"/>
          </a:p>
          <a:p>
            <a:pPr marL="12700" marR="5080"/>
            <a:r>
              <a:rPr lang="en-US" sz="2000" dirty="0">
                <a:hlinkClick r:id="rId8"/>
              </a:rPr>
              <a:t>Multi-Cloud Management: Tools, Challenges and Best Practices</a:t>
            </a:r>
            <a:endParaRPr lang="en-US" sz="2000" dirty="0"/>
          </a:p>
          <a:p>
            <a:pPr marL="12700" marR="5080"/>
            <a:r>
              <a:rPr lang="en-IN" sz="2000" dirty="0">
                <a:hlinkClick r:id="rId9"/>
              </a:rPr>
              <a:t>Hybrid and </a:t>
            </a:r>
            <a:r>
              <a:rPr lang="en-IN" sz="2000" dirty="0" err="1">
                <a:hlinkClick r:id="rId9"/>
              </a:rPr>
              <a:t>multicloud</a:t>
            </a:r>
            <a:r>
              <a:rPr lang="en-IN" sz="2000" dirty="0">
                <a:hlinkClick r:id="rId9"/>
              </a:rPr>
              <a:t> architecture patterns</a:t>
            </a:r>
            <a:endParaRPr lang="en-IN" sz="2000" dirty="0"/>
          </a:p>
          <a:p>
            <a:pPr marL="12700" marR="5080"/>
            <a:r>
              <a:rPr lang="en-IN" sz="2000" dirty="0">
                <a:hlinkClick r:id="rId10"/>
              </a:rPr>
              <a:t>Multi-Cloud-Handbook-for-Developers</a:t>
            </a:r>
            <a:endParaRPr lang="en-IN" sz="2000" dirty="0"/>
          </a:p>
          <a:p>
            <a:pPr marL="12700" marR="5080"/>
            <a:r>
              <a:rPr lang="en-US" sz="2000" dirty="0">
                <a:hlinkClick r:id="rId11"/>
              </a:rPr>
              <a:t>Multi-Cloud-Strategy-for-Cloud-Architects</a:t>
            </a:r>
            <a:endParaRPr lang="en-US" sz="2000" dirty="0"/>
          </a:p>
          <a:p>
            <a:pPr marL="12700" marR="5080"/>
            <a:r>
              <a:rPr lang="en-IN" sz="2000" dirty="0">
                <a:hlinkClick r:id="rId12"/>
              </a:rPr>
              <a:t>Enterprise-Grade Hybrid and Multi-Cloud Strategies</a:t>
            </a:r>
            <a:endParaRPr lang="en-IN" sz="2000" dirty="0"/>
          </a:p>
          <a:p>
            <a:pPr marL="12700" marR="5080"/>
            <a:r>
              <a:rPr lang="en-US" sz="2000" dirty="0">
                <a:hlinkClick r:id="rId13"/>
              </a:rPr>
              <a:t>Principles and Patterns for Distributed Application Architecture</a:t>
            </a:r>
            <a:endParaRPr lang="en-US" sz="20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91991588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5EFE-9C05-2EAE-6DC7-2963AE5427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CFE384-32E7-5121-4C91-3C4910D302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A63C80-2569-67EF-FF67-21A7CDE2795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788C964-5934-69D8-52DD-56DA618DDB0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0F7ED8A-1D11-5BEF-6B24-7CDE5B29ECE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D829AD6-DC01-40EB-9E5B-3C60737C66A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B120CFC-B15F-D09F-6A6C-596AE8ED05DB}"/>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2400" kern="0" spc="-80" dirty="0">
                <a:solidFill>
                  <a:schemeClr val="accent2"/>
                </a:solidFill>
              </a:rPr>
              <a:t>🏢 </a:t>
            </a:r>
            <a:r>
              <a:rPr lang="en-US" sz="1350" kern="0" spc="-80" dirty="0">
                <a:solidFill>
                  <a:schemeClr val="accent2"/>
                </a:solidFill>
              </a:rPr>
              <a:t>1. Data Centre Fundamentals</a:t>
            </a:r>
          </a:p>
          <a:p>
            <a:r>
              <a:rPr lang="en-US" sz="1350" kern="0" spc="-80" dirty="0">
                <a:solidFill>
                  <a:schemeClr val="accent2"/>
                </a:solidFill>
              </a:rPr>
              <a:t>🔹 Definition</a:t>
            </a:r>
          </a:p>
          <a:p>
            <a:r>
              <a:rPr lang="en-US" sz="1350" kern="0" spc="-80" dirty="0">
                <a:solidFill>
                  <a:schemeClr val="accent6"/>
                </a:solidFill>
              </a:rPr>
              <a:t>A data </a:t>
            </a:r>
            <a:r>
              <a:rPr lang="en-US" sz="1350" kern="0" spc="-80" dirty="0" err="1">
                <a:solidFill>
                  <a:schemeClr val="accent6"/>
                </a:solidFill>
              </a:rPr>
              <a:t>centre</a:t>
            </a:r>
            <a:r>
              <a:rPr lang="en-US" sz="1350" kern="0" spc="-80" dirty="0">
                <a:solidFill>
                  <a:schemeClr val="accent6"/>
                </a:solidFill>
              </a:rPr>
              <a:t> is a physical or virtual infrastructure used by organizations to house computer systems and associated components such as telecommunications and storage systems.</a:t>
            </a:r>
          </a:p>
          <a:p>
            <a:r>
              <a:rPr lang="en-US" sz="1350" kern="0" spc="-80" dirty="0">
                <a:solidFill>
                  <a:schemeClr val="accent2"/>
                </a:solidFill>
              </a:rPr>
              <a:t>🔹 Core Goals</a:t>
            </a:r>
          </a:p>
          <a:p>
            <a:r>
              <a:rPr lang="en-US" sz="1350" kern="0" spc="-80" dirty="0">
                <a:solidFill>
                  <a:schemeClr val="accent6"/>
                </a:solidFill>
              </a:rPr>
              <a:t>Availability (uptime, redundancy)</a:t>
            </a:r>
          </a:p>
          <a:p>
            <a:r>
              <a:rPr lang="en-US" sz="1350" kern="0" spc="-80" dirty="0">
                <a:solidFill>
                  <a:schemeClr val="accent6"/>
                </a:solidFill>
              </a:rPr>
              <a:t>Scalability (handle growth easily)</a:t>
            </a:r>
          </a:p>
          <a:p>
            <a:r>
              <a:rPr lang="en-US" sz="1350" kern="0" spc="-80" dirty="0">
                <a:solidFill>
                  <a:schemeClr val="accent6"/>
                </a:solidFill>
              </a:rPr>
              <a:t>Security (physical + cyber)</a:t>
            </a:r>
          </a:p>
          <a:p>
            <a:r>
              <a:rPr lang="en-US" sz="1350" kern="0" spc="-80" dirty="0">
                <a:solidFill>
                  <a:schemeClr val="accent6"/>
                </a:solidFill>
              </a:rPr>
              <a:t>Efficiency (power, cooling, automation)</a:t>
            </a:r>
          </a:p>
          <a:p>
            <a:r>
              <a:rPr lang="en-US" sz="1350" kern="0" spc="-80" dirty="0">
                <a:solidFill>
                  <a:schemeClr val="accent6"/>
                </a:solidFill>
              </a:rPr>
              <a:t>Resilience (disaster recovery, failover)</a:t>
            </a:r>
          </a:p>
          <a:p>
            <a:r>
              <a:rPr lang="en-US" sz="1350" kern="0" spc="-80" dirty="0">
                <a:solidFill>
                  <a:schemeClr val="accent2"/>
                </a:solidFill>
              </a:rPr>
              <a:t>⚙️ 2. Physical Infrastructure Technologies</a:t>
            </a:r>
          </a:p>
          <a:p>
            <a:r>
              <a:rPr lang="en-US" sz="1350" kern="0" spc="-80" dirty="0">
                <a:solidFill>
                  <a:schemeClr val="accent2"/>
                </a:solidFill>
              </a:rPr>
              <a:t>🧱 a. Facility Components</a:t>
            </a:r>
          </a:p>
          <a:p>
            <a:r>
              <a:rPr lang="en-US" sz="1350" kern="0" spc="-80" dirty="0">
                <a:solidFill>
                  <a:schemeClr val="accent2"/>
                </a:solidFill>
              </a:rPr>
              <a:t>Racks &amp; Cabinets: </a:t>
            </a:r>
            <a:r>
              <a:rPr lang="en-US" sz="1350" kern="0" spc="-80" dirty="0">
                <a:solidFill>
                  <a:schemeClr val="accent6"/>
                </a:solidFill>
              </a:rPr>
              <a:t>House servers and networking devices.</a:t>
            </a:r>
          </a:p>
          <a:p>
            <a:r>
              <a:rPr lang="en-US" sz="1350" kern="0" spc="-80" dirty="0">
                <a:solidFill>
                  <a:schemeClr val="accent2"/>
                </a:solidFill>
              </a:rPr>
              <a:t>Raised Floors: </a:t>
            </a:r>
            <a:r>
              <a:rPr lang="en-US" sz="1350" kern="0" spc="-80" dirty="0">
                <a:solidFill>
                  <a:schemeClr val="accent6"/>
                </a:solidFill>
              </a:rPr>
              <a:t>Enable air circulation and cable routing.</a:t>
            </a:r>
          </a:p>
          <a:p>
            <a:r>
              <a:rPr lang="en-US" sz="1350" kern="0" spc="-80" dirty="0">
                <a:solidFill>
                  <a:schemeClr val="accent2"/>
                </a:solidFill>
              </a:rPr>
              <a:t>Power Systems: </a:t>
            </a:r>
            <a:r>
              <a:rPr lang="en-US" sz="1350" kern="0" spc="-80" dirty="0">
                <a:solidFill>
                  <a:schemeClr val="accent6"/>
                </a:solidFill>
              </a:rPr>
              <a:t>UPS, PDUs, generators.</a:t>
            </a:r>
          </a:p>
          <a:p>
            <a:r>
              <a:rPr lang="en-US" sz="1350" kern="0" spc="-80" dirty="0">
                <a:solidFill>
                  <a:schemeClr val="accent2"/>
                </a:solidFill>
              </a:rPr>
              <a:t>Cooling Systems:</a:t>
            </a:r>
            <a:r>
              <a:rPr lang="en-US" sz="1350" kern="0" spc="-80" dirty="0">
                <a:solidFill>
                  <a:schemeClr val="accent6"/>
                </a:solidFill>
              </a:rPr>
              <a:t> CRAC units, liquid cooling, hot/cold aisle containment.</a:t>
            </a:r>
          </a:p>
          <a:p>
            <a:r>
              <a:rPr lang="en-US" sz="1350" kern="0" spc="-80" dirty="0">
                <a:solidFill>
                  <a:schemeClr val="accent2"/>
                </a:solidFill>
              </a:rPr>
              <a:t>Fire Suppression Systems: </a:t>
            </a:r>
            <a:r>
              <a:rPr lang="en-US" sz="1350" kern="0" spc="-80" dirty="0">
                <a:solidFill>
                  <a:schemeClr val="accent6"/>
                </a:solidFill>
              </a:rPr>
              <a:t>Gas-based or water mist systems.</a:t>
            </a:r>
          </a:p>
          <a:p>
            <a:r>
              <a:rPr lang="en-US" sz="1350" kern="0" spc="-80" dirty="0">
                <a:solidFill>
                  <a:schemeClr val="accent2"/>
                </a:solidFill>
              </a:rPr>
              <a:t>Security Systems:</a:t>
            </a:r>
            <a:r>
              <a:rPr lang="en-US" sz="1350" kern="0" spc="-80" dirty="0">
                <a:solidFill>
                  <a:schemeClr val="accent6"/>
                </a:solidFill>
              </a:rPr>
              <a:t> Biometric access, CCTV, and mantraps.</a:t>
            </a:r>
          </a:p>
          <a:p>
            <a:r>
              <a:rPr lang="en-US" sz="1350" kern="0" spc="-80" dirty="0">
                <a:solidFill>
                  <a:schemeClr val="accent2"/>
                </a:solidFill>
              </a:rPr>
              <a:t>🧊 b. Power &amp; Cooling Techniques</a:t>
            </a:r>
          </a:p>
          <a:p>
            <a:r>
              <a:rPr lang="en-US" sz="1350" kern="0" spc="-80" dirty="0">
                <a:solidFill>
                  <a:schemeClr val="accent2"/>
                </a:solidFill>
              </a:rPr>
              <a:t>PUE (Power Usage Effectiveness): </a:t>
            </a:r>
            <a:r>
              <a:rPr lang="en-US" sz="1350" kern="0" spc="-80" dirty="0">
                <a:solidFill>
                  <a:schemeClr val="accent6"/>
                </a:solidFill>
              </a:rPr>
              <a:t>Efficiency metric.</a:t>
            </a:r>
          </a:p>
          <a:p>
            <a:r>
              <a:rPr lang="en-US" sz="1350" kern="0" spc="-80" dirty="0">
                <a:solidFill>
                  <a:schemeClr val="accent2"/>
                </a:solidFill>
              </a:rPr>
              <a:t>Free Cooling: </a:t>
            </a:r>
            <a:r>
              <a:rPr lang="en-US" sz="1350" kern="0" spc="-80" dirty="0">
                <a:solidFill>
                  <a:schemeClr val="accent6"/>
                </a:solidFill>
              </a:rPr>
              <a:t>Using ambient air or water.</a:t>
            </a:r>
          </a:p>
          <a:p>
            <a:r>
              <a:rPr lang="en-US" sz="1350" kern="0" spc="-80" dirty="0">
                <a:solidFill>
                  <a:schemeClr val="accent2"/>
                </a:solidFill>
              </a:rPr>
              <a:t>Liquid Immersion Cooling:</a:t>
            </a:r>
            <a:r>
              <a:rPr lang="en-US" sz="1350" kern="0" spc="-80" dirty="0">
                <a:solidFill>
                  <a:schemeClr val="accent6"/>
                </a:solidFill>
              </a:rPr>
              <a:t> Direct liquid submersion of components.</a:t>
            </a:r>
          </a:p>
          <a:p>
            <a:r>
              <a:rPr lang="en-US" sz="1350" kern="0" spc="-80" dirty="0">
                <a:solidFill>
                  <a:schemeClr val="accent2"/>
                </a:solidFill>
              </a:rPr>
              <a:t>DCIM (Data Centre Infrastructure Management): </a:t>
            </a:r>
            <a:r>
              <a:rPr lang="en-US" sz="1350" kern="0" spc="-80" dirty="0">
                <a:solidFill>
                  <a:schemeClr val="accent6"/>
                </a:solidFill>
              </a:rPr>
              <a:t>Tools to monitor temperature, power, and resources.</a:t>
            </a:r>
          </a:p>
        </p:txBody>
      </p:sp>
    </p:spTree>
    <p:extLst>
      <p:ext uri="{BB962C8B-B14F-4D97-AF65-F5344CB8AC3E}">
        <p14:creationId xmlns:p14="http://schemas.microsoft.com/office/powerpoint/2010/main" val="356551508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9E60-38D5-12A8-9089-519D6398C0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69AE2C-6D52-44BD-141F-08572974A4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73E4F3-56B3-BECA-A4F1-92FB12F5DE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8EC6BF-0F70-99F2-A94F-8D959B1A166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C7B66C-B165-B9E5-D138-611EFC5A66B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A1643F3-BB8F-E2FD-D72C-D0698657EC5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AABECC2-15A1-7C44-DC5D-F38140149271}"/>
              </a:ext>
            </a:extLst>
          </p:cNvPr>
          <p:cNvSpPr txBox="1">
            <a:spLocks/>
          </p:cNvSpPr>
          <p:nvPr/>
        </p:nvSpPr>
        <p:spPr>
          <a:xfrm>
            <a:off x="0" y="685800"/>
            <a:ext cx="8915399"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400" kern="0" spc="-80" dirty="0">
                <a:solidFill>
                  <a:schemeClr val="accent2"/>
                </a:solidFill>
              </a:rPr>
              <a:t>🖥️ 3. Compute Technologies</a:t>
            </a:r>
          </a:p>
          <a:p>
            <a:r>
              <a:rPr lang="en-US" sz="1400" kern="0" spc="-80" dirty="0">
                <a:solidFill>
                  <a:schemeClr val="accent2"/>
                </a:solidFill>
              </a:rPr>
              <a:t>🔹 Server Architectures</a:t>
            </a:r>
          </a:p>
          <a:p>
            <a:r>
              <a:rPr lang="en-US" sz="1400" kern="0" spc="-80" dirty="0">
                <a:solidFill>
                  <a:schemeClr val="accent2"/>
                </a:solidFill>
              </a:rPr>
              <a:t>Blade Servers:</a:t>
            </a:r>
            <a:r>
              <a:rPr lang="en-US" sz="1400" kern="0" spc="-80" dirty="0">
                <a:solidFill>
                  <a:schemeClr val="accent6"/>
                </a:solidFill>
              </a:rPr>
              <a:t> Modular servers for dense compute.</a:t>
            </a:r>
          </a:p>
          <a:p>
            <a:r>
              <a:rPr lang="en-US" sz="1400" kern="0" spc="-80" dirty="0">
                <a:solidFill>
                  <a:schemeClr val="accent2"/>
                </a:solidFill>
              </a:rPr>
              <a:t>Rack Servers:</a:t>
            </a:r>
            <a:r>
              <a:rPr lang="en-US" sz="1400" kern="0" spc="-80" dirty="0">
                <a:solidFill>
                  <a:schemeClr val="accent6"/>
                </a:solidFill>
              </a:rPr>
              <a:t> Standardized form factor (1U, 2U, etc.).</a:t>
            </a:r>
          </a:p>
          <a:p>
            <a:r>
              <a:rPr lang="en-US" sz="1400" kern="0" spc="-80" dirty="0">
                <a:solidFill>
                  <a:schemeClr val="accent2"/>
                </a:solidFill>
              </a:rPr>
              <a:t>Hyperconverged Infrastructure (HCI): </a:t>
            </a:r>
            <a:r>
              <a:rPr lang="en-US" sz="1400" kern="0" spc="-80" dirty="0">
                <a:solidFill>
                  <a:schemeClr val="accent6"/>
                </a:solidFill>
              </a:rPr>
              <a:t>Combines compute, storage, and networking in software-defined systems.</a:t>
            </a:r>
          </a:p>
          <a:p>
            <a:r>
              <a:rPr lang="en-US" sz="1400" kern="0" spc="-80" dirty="0">
                <a:solidFill>
                  <a:schemeClr val="accent2"/>
                </a:solidFill>
              </a:rPr>
              <a:t>🔹 Virtualization &amp; Containers</a:t>
            </a:r>
          </a:p>
          <a:p>
            <a:r>
              <a:rPr lang="en-US" sz="1400" kern="0" spc="-80" dirty="0">
                <a:solidFill>
                  <a:schemeClr val="accent2"/>
                </a:solidFill>
              </a:rPr>
              <a:t>Server Virtualization: </a:t>
            </a:r>
            <a:r>
              <a:rPr lang="en-US" sz="1400" kern="0" spc="-80" dirty="0">
                <a:solidFill>
                  <a:schemeClr val="accent6"/>
                </a:solidFill>
              </a:rPr>
              <a:t>VMware vSphere, Hyper-V, KVM.</a:t>
            </a:r>
          </a:p>
          <a:p>
            <a:r>
              <a:rPr lang="en-US" sz="1400" kern="0" spc="-80" dirty="0">
                <a:solidFill>
                  <a:schemeClr val="accent2"/>
                </a:solidFill>
              </a:rPr>
              <a:t>Containerization:</a:t>
            </a:r>
            <a:r>
              <a:rPr lang="en-US" sz="1400" kern="0" spc="-80" dirty="0">
                <a:solidFill>
                  <a:schemeClr val="accent6"/>
                </a:solidFill>
              </a:rPr>
              <a:t> Docker, </a:t>
            </a:r>
            <a:r>
              <a:rPr lang="en-US" sz="1400" kern="0" spc="-80" dirty="0" err="1">
                <a:solidFill>
                  <a:schemeClr val="accent6"/>
                </a:solidFill>
              </a:rPr>
              <a:t>Podman</a:t>
            </a:r>
            <a:r>
              <a:rPr lang="en-US" sz="1400" kern="0" spc="-80" dirty="0">
                <a:solidFill>
                  <a:schemeClr val="accent6"/>
                </a:solidFill>
              </a:rPr>
              <a:t>.</a:t>
            </a:r>
          </a:p>
          <a:p>
            <a:r>
              <a:rPr lang="en-US" sz="1400" kern="0" spc="-80" dirty="0">
                <a:solidFill>
                  <a:schemeClr val="accent2"/>
                </a:solidFill>
              </a:rPr>
              <a:t>Container Orchestration: </a:t>
            </a:r>
            <a:r>
              <a:rPr lang="en-US" sz="1400" kern="0" spc="-80" dirty="0">
                <a:solidFill>
                  <a:schemeClr val="accent6"/>
                </a:solidFill>
              </a:rPr>
              <a:t>Kubernetes, OpenShift.</a:t>
            </a:r>
          </a:p>
          <a:p>
            <a:r>
              <a:rPr lang="en-US" sz="1400" kern="0" spc="-80" dirty="0">
                <a:solidFill>
                  <a:schemeClr val="accent2"/>
                </a:solidFill>
              </a:rPr>
              <a:t>Bare Metal as a Service (BMaaS): </a:t>
            </a:r>
            <a:r>
              <a:rPr lang="en-US" sz="1400" kern="0" spc="-80" dirty="0">
                <a:solidFill>
                  <a:schemeClr val="accent6"/>
                </a:solidFill>
              </a:rPr>
              <a:t>e.g., Metal³, Canonical MAAS.</a:t>
            </a:r>
          </a:p>
          <a:p>
            <a:r>
              <a:rPr lang="en-US" sz="1400" kern="0" spc="-80" dirty="0">
                <a:solidFill>
                  <a:schemeClr val="accent2"/>
                </a:solidFill>
              </a:rPr>
              <a:t>🧮 4. Storage Technologies</a:t>
            </a:r>
          </a:p>
          <a:p>
            <a:r>
              <a:rPr lang="en-US" sz="1400" kern="0" spc="-80" dirty="0">
                <a:solidFill>
                  <a:schemeClr val="accent2"/>
                </a:solidFill>
              </a:rPr>
              <a:t>🔹 Types of Storage</a:t>
            </a:r>
          </a:p>
          <a:p>
            <a:r>
              <a:rPr lang="en-US" sz="1400" kern="0" spc="-80" dirty="0">
                <a:solidFill>
                  <a:schemeClr val="accent6"/>
                </a:solidFill>
              </a:rPr>
              <a:t>DAS (Direct-Attached Storage)</a:t>
            </a:r>
          </a:p>
          <a:p>
            <a:r>
              <a:rPr lang="en-US" sz="1400" kern="0" spc="-80" dirty="0">
                <a:solidFill>
                  <a:schemeClr val="accent6"/>
                </a:solidFill>
              </a:rPr>
              <a:t>NAS (Network-Attached Storage)</a:t>
            </a:r>
          </a:p>
          <a:p>
            <a:r>
              <a:rPr lang="en-US" sz="1400" kern="0" spc="-80" dirty="0">
                <a:solidFill>
                  <a:schemeClr val="accent6"/>
                </a:solidFill>
              </a:rPr>
              <a:t>SAN (Storage Area Network)</a:t>
            </a:r>
          </a:p>
          <a:p>
            <a:r>
              <a:rPr lang="en-US" sz="1400" kern="0" spc="-80" dirty="0">
                <a:solidFill>
                  <a:schemeClr val="accent2"/>
                </a:solidFill>
              </a:rPr>
              <a:t>Object Storage:</a:t>
            </a:r>
            <a:r>
              <a:rPr lang="en-US" sz="1400" kern="0" spc="-80" dirty="0">
                <a:solidFill>
                  <a:schemeClr val="accent6"/>
                </a:solidFill>
              </a:rPr>
              <a:t> S3, </a:t>
            </a:r>
            <a:r>
              <a:rPr lang="en-US" sz="1400" kern="0" spc="-80" dirty="0" err="1">
                <a:solidFill>
                  <a:schemeClr val="accent6"/>
                </a:solidFill>
              </a:rPr>
              <a:t>MinIO</a:t>
            </a:r>
            <a:r>
              <a:rPr lang="en-US" sz="1400" kern="0" spc="-80" dirty="0">
                <a:solidFill>
                  <a:schemeClr val="accent6"/>
                </a:solidFill>
              </a:rPr>
              <a:t>, Ceph.</a:t>
            </a:r>
          </a:p>
          <a:p>
            <a:r>
              <a:rPr lang="en-US" sz="1400" kern="0" spc="-80" dirty="0">
                <a:solidFill>
                  <a:schemeClr val="accent2"/>
                </a:solidFill>
              </a:rPr>
              <a:t>🔹 Techniques</a:t>
            </a:r>
          </a:p>
          <a:p>
            <a:r>
              <a:rPr lang="en-US" sz="1400" kern="0" spc="-80" dirty="0">
                <a:solidFill>
                  <a:schemeClr val="accent2"/>
                </a:solidFill>
              </a:rPr>
              <a:t>RAID Levels: </a:t>
            </a:r>
            <a:r>
              <a:rPr lang="en-US" sz="1400" kern="0" spc="-80" dirty="0">
                <a:solidFill>
                  <a:schemeClr val="accent6"/>
                </a:solidFill>
              </a:rPr>
              <a:t>Data redundancy and performance.</a:t>
            </a:r>
          </a:p>
          <a:p>
            <a:r>
              <a:rPr lang="en-US" sz="1400" kern="0" spc="-80" dirty="0">
                <a:solidFill>
                  <a:schemeClr val="accent2"/>
                </a:solidFill>
              </a:rPr>
              <a:t>Tiered Storage: </a:t>
            </a:r>
            <a:r>
              <a:rPr lang="en-US" sz="1400" kern="0" spc="-80" dirty="0">
                <a:solidFill>
                  <a:schemeClr val="accent6"/>
                </a:solidFill>
              </a:rPr>
              <a:t>SSD + HDD combinations.</a:t>
            </a:r>
          </a:p>
          <a:p>
            <a:r>
              <a:rPr lang="en-US" sz="1400" kern="0" spc="-80" dirty="0">
                <a:solidFill>
                  <a:schemeClr val="accent2"/>
                </a:solidFill>
              </a:rPr>
              <a:t>Storage Virtualization: </a:t>
            </a:r>
            <a:r>
              <a:rPr lang="en-US" sz="1400" kern="0" spc="-80" dirty="0">
                <a:solidFill>
                  <a:schemeClr val="accent6"/>
                </a:solidFill>
              </a:rPr>
              <a:t>Logical pooling of storage.</a:t>
            </a:r>
          </a:p>
          <a:p>
            <a:r>
              <a:rPr lang="en-US" sz="1400" kern="0" spc="-80" dirty="0">
                <a:solidFill>
                  <a:schemeClr val="accent6"/>
                </a:solidFill>
              </a:rPr>
              <a:t>Data Deduplication and Compression.</a:t>
            </a:r>
          </a:p>
          <a:p>
            <a:endParaRPr lang="en-US" sz="2400" kern="0" spc="-80" dirty="0">
              <a:solidFill>
                <a:schemeClr val="accent2"/>
              </a:solidFill>
            </a:endParaRPr>
          </a:p>
        </p:txBody>
      </p:sp>
    </p:spTree>
    <p:extLst>
      <p:ext uri="{BB962C8B-B14F-4D97-AF65-F5344CB8AC3E}">
        <p14:creationId xmlns:p14="http://schemas.microsoft.com/office/powerpoint/2010/main" val="94527075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C514-9068-1496-7F19-181B9D6E50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4B0492-54FA-0960-F7DC-3C25D3D1E35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99DD36C-F481-E13A-CA1D-29A096E4297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685FE2-8C9A-A35B-A652-411AC9F94B5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0C7AE16-979B-A9DF-FB58-F31BF2A1512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6560B4B-DC04-D07B-72D4-5DD322CEEF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6DDB5B2-5C18-2CA1-D740-3CE60CCB7499}"/>
              </a:ext>
            </a:extLst>
          </p:cNvPr>
          <p:cNvSpPr txBox="1">
            <a:spLocks/>
          </p:cNvSpPr>
          <p:nvPr/>
        </p:nvSpPr>
        <p:spPr>
          <a:xfrm>
            <a:off x="0" y="685800"/>
            <a:ext cx="8915399"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400" kern="0" spc="-80" dirty="0">
                <a:solidFill>
                  <a:schemeClr val="accent2"/>
                </a:solidFill>
              </a:rPr>
              <a:t>🔹 Software-Defined Storage (SDS)</a:t>
            </a:r>
          </a:p>
          <a:p>
            <a:r>
              <a:rPr lang="en-US" sz="1400" kern="0" spc="-80" dirty="0">
                <a:solidFill>
                  <a:schemeClr val="accent6"/>
                </a:solidFill>
              </a:rPr>
              <a:t>Ceph, </a:t>
            </a:r>
            <a:r>
              <a:rPr lang="en-US" sz="1400" kern="0" spc="-80" dirty="0" err="1">
                <a:solidFill>
                  <a:schemeClr val="accent6"/>
                </a:solidFill>
              </a:rPr>
              <a:t>GlusterFS</a:t>
            </a:r>
            <a:r>
              <a:rPr lang="en-US" sz="1400" kern="0" spc="-80" dirty="0">
                <a:solidFill>
                  <a:schemeClr val="accent6"/>
                </a:solidFill>
              </a:rPr>
              <a:t>, </a:t>
            </a:r>
            <a:r>
              <a:rPr lang="en-US" sz="1400" kern="0" spc="-80" dirty="0" err="1">
                <a:solidFill>
                  <a:schemeClr val="accent6"/>
                </a:solidFill>
              </a:rPr>
              <a:t>vSAN</a:t>
            </a:r>
            <a:r>
              <a:rPr lang="en-US" sz="1400" kern="0" spc="-80" dirty="0">
                <a:solidFill>
                  <a:schemeClr val="accent6"/>
                </a:solidFill>
              </a:rPr>
              <a:t>, </a:t>
            </a:r>
            <a:r>
              <a:rPr lang="en-US" sz="1400" kern="0" spc="-80" dirty="0" err="1">
                <a:solidFill>
                  <a:schemeClr val="accent6"/>
                </a:solidFill>
              </a:rPr>
              <a:t>StorPool</a:t>
            </a:r>
            <a:r>
              <a:rPr lang="en-US" sz="1400" kern="0" spc="-80" dirty="0">
                <a:solidFill>
                  <a:schemeClr val="accent6"/>
                </a:solidFill>
              </a:rPr>
              <a:t>, </a:t>
            </a:r>
            <a:r>
              <a:rPr lang="en-US" sz="1400" kern="0" spc="-80" dirty="0" err="1">
                <a:solidFill>
                  <a:schemeClr val="accent6"/>
                </a:solidFill>
              </a:rPr>
              <a:t>OpenEBS</a:t>
            </a:r>
            <a:r>
              <a:rPr lang="en-US" sz="1400" kern="0" spc="-80" dirty="0">
                <a:solidFill>
                  <a:schemeClr val="accent6"/>
                </a:solidFill>
              </a:rPr>
              <a:t>.</a:t>
            </a:r>
          </a:p>
          <a:p>
            <a:r>
              <a:rPr lang="en-US" sz="1400" kern="0" spc="-80" dirty="0">
                <a:solidFill>
                  <a:schemeClr val="accent2"/>
                </a:solidFill>
              </a:rPr>
              <a:t>🌐 5. Networking Technologies</a:t>
            </a:r>
          </a:p>
          <a:p>
            <a:r>
              <a:rPr lang="en-US" sz="1400" kern="0" spc="-80" dirty="0">
                <a:solidFill>
                  <a:schemeClr val="accent2"/>
                </a:solidFill>
              </a:rPr>
              <a:t>🔹 Core Network Design</a:t>
            </a:r>
          </a:p>
          <a:p>
            <a:r>
              <a:rPr lang="en-US" sz="1400" kern="0" spc="-80" dirty="0">
                <a:solidFill>
                  <a:schemeClr val="accent2"/>
                </a:solidFill>
              </a:rPr>
              <a:t>Topologies:</a:t>
            </a:r>
            <a:r>
              <a:rPr lang="en-US" sz="1400" kern="0" spc="-80" dirty="0">
                <a:solidFill>
                  <a:schemeClr val="accent6"/>
                </a:solidFill>
              </a:rPr>
              <a:t> Spine-leaf, 3-tier (core-aggregation-access).</a:t>
            </a:r>
          </a:p>
          <a:p>
            <a:r>
              <a:rPr lang="en-US" sz="1400" kern="0" spc="-80" dirty="0">
                <a:solidFill>
                  <a:schemeClr val="accent2"/>
                </a:solidFill>
              </a:rPr>
              <a:t>High-Speed Connectivity: </a:t>
            </a:r>
            <a:r>
              <a:rPr lang="en-US" sz="1400" kern="0" spc="-80" dirty="0">
                <a:solidFill>
                  <a:schemeClr val="accent6"/>
                </a:solidFill>
              </a:rPr>
              <a:t>10G/40G/100G/400G Ethernet.</a:t>
            </a:r>
          </a:p>
          <a:p>
            <a:r>
              <a:rPr lang="en-US" sz="1400" kern="0" spc="-80" dirty="0" err="1">
                <a:solidFill>
                  <a:schemeClr val="accent2"/>
                </a:solidFill>
              </a:rPr>
              <a:t>Fibre</a:t>
            </a:r>
            <a:r>
              <a:rPr lang="en-US" sz="1400" kern="0" spc="-80" dirty="0">
                <a:solidFill>
                  <a:schemeClr val="accent2"/>
                </a:solidFill>
              </a:rPr>
              <a:t> Channel:</a:t>
            </a:r>
            <a:r>
              <a:rPr lang="en-US" sz="1400" kern="0" spc="-80" dirty="0">
                <a:solidFill>
                  <a:schemeClr val="accent6"/>
                </a:solidFill>
              </a:rPr>
              <a:t> For SAN.</a:t>
            </a:r>
          </a:p>
          <a:p>
            <a:r>
              <a:rPr lang="en-US" sz="1400" kern="0" spc="-80" dirty="0">
                <a:solidFill>
                  <a:schemeClr val="accent2"/>
                </a:solidFill>
              </a:rPr>
              <a:t>🔹 Virtual Networking</a:t>
            </a:r>
          </a:p>
          <a:p>
            <a:r>
              <a:rPr lang="en-US" sz="1400" kern="0" spc="-80" dirty="0">
                <a:solidFill>
                  <a:schemeClr val="accent2"/>
                </a:solidFill>
              </a:rPr>
              <a:t>SDN (Software-Defined Networking): </a:t>
            </a:r>
            <a:r>
              <a:rPr lang="en-US" sz="1400" kern="0" spc="-80" dirty="0">
                <a:solidFill>
                  <a:schemeClr val="accent6"/>
                </a:solidFill>
              </a:rPr>
              <a:t>OpenFlow, Cisco ACI, VMware NSX.</a:t>
            </a:r>
          </a:p>
          <a:p>
            <a:r>
              <a:rPr lang="en-US" sz="1400" kern="0" spc="-80" dirty="0">
                <a:solidFill>
                  <a:schemeClr val="accent2"/>
                </a:solidFill>
              </a:rPr>
              <a:t>Network Virtualization: </a:t>
            </a:r>
            <a:r>
              <a:rPr lang="en-US" sz="1400" kern="0" spc="-80" dirty="0">
                <a:solidFill>
                  <a:schemeClr val="accent6"/>
                </a:solidFill>
              </a:rPr>
              <a:t>VXLAN, GRE, NVGRE.</a:t>
            </a:r>
          </a:p>
          <a:p>
            <a:r>
              <a:rPr lang="en-US" sz="1400" kern="0" spc="-80" dirty="0">
                <a:solidFill>
                  <a:schemeClr val="accent2"/>
                </a:solidFill>
              </a:rPr>
              <a:t>Load Balancing: </a:t>
            </a:r>
            <a:r>
              <a:rPr lang="en-US" sz="1400" kern="0" spc="-80" dirty="0">
                <a:solidFill>
                  <a:schemeClr val="accent6"/>
                </a:solidFill>
              </a:rPr>
              <a:t>F5, </a:t>
            </a:r>
            <a:r>
              <a:rPr lang="en-US" sz="1400" kern="0" spc="-80" dirty="0" err="1">
                <a:solidFill>
                  <a:schemeClr val="accent6"/>
                </a:solidFill>
              </a:rPr>
              <a:t>HAProxy</a:t>
            </a:r>
            <a:r>
              <a:rPr lang="en-US" sz="1400" kern="0" spc="-80" dirty="0">
                <a:solidFill>
                  <a:schemeClr val="accent6"/>
                </a:solidFill>
              </a:rPr>
              <a:t>, Nginx.</a:t>
            </a:r>
          </a:p>
          <a:p>
            <a:r>
              <a:rPr lang="en-US" sz="1400" kern="0" spc="-80" dirty="0">
                <a:solidFill>
                  <a:schemeClr val="accent6"/>
                </a:solidFill>
              </a:rPr>
              <a:t>Zero Trust &amp; </a:t>
            </a:r>
            <a:r>
              <a:rPr lang="en-US" sz="1400" kern="0" spc="-80" dirty="0" err="1">
                <a:solidFill>
                  <a:schemeClr val="accent6"/>
                </a:solidFill>
              </a:rPr>
              <a:t>Microsegmentation</a:t>
            </a:r>
            <a:r>
              <a:rPr lang="en-US" sz="1400" kern="0" spc="-80" dirty="0">
                <a:solidFill>
                  <a:schemeClr val="accent6"/>
                </a:solidFill>
              </a:rPr>
              <a:t>.</a:t>
            </a:r>
          </a:p>
          <a:p>
            <a:r>
              <a:rPr lang="en-US" sz="1400" kern="0" spc="-80" dirty="0">
                <a:solidFill>
                  <a:schemeClr val="accent2"/>
                </a:solidFill>
              </a:rPr>
              <a:t>☁️ 6. Cloud Integration &amp; Virtual Data </a:t>
            </a:r>
            <a:r>
              <a:rPr lang="en-US" sz="1400" kern="0" spc="-80" dirty="0" err="1">
                <a:solidFill>
                  <a:schemeClr val="accent2"/>
                </a:solidFill>
              </a:rPr>
              <a:t>Centres</a:t>
            </a:r>
            <a:endParaRPr lang="en-US" sz="1400" kern="0" spc="-80" dirty="0">
              <a:solidFill>
                <a:schemeClr val="accent2"/>
              </a:solidFill>
            </a:endParaRPr>
          </a:p>
          <a:p>
            <a:r>
              <a:rPr lang="en-US" sz="1400" kern="0" spc="-80" dirty="0">
                <a:solidFill>
                  <a:schemeClr val="accent2"/>
                </a:solidFill>
              </a:rPr>
              <a:t>🔹 Types</a:t>
            </a:r>
          </a:p>
          <a:p>
            <a:r>
              <a:rPr lang="en-US" sz="1400" kern="0" spc="-80" dirty="0">
                <a:solidFill>
                  <a:schemeClr val="accent2"/>
                </a:solidFill>
              </a:rPr>
              <a:t>Private Cloud: </a:t>
            </a:r>
            <a:r>
              <a:rPr lang="en-US" sz="1400" kern="0" spc="-80" dirty="0">
                <a:solidFill>
                  <a:schemeClr val="accent6"/>
                </a:solidFill>
              </a:rPr>
              <a:t>OpenStack, VMware Cloud Foundation.</a:t>
            </a:r>
          </a:p>
          <a:p>
            <a:r>
              <a:rPr lang="en-US" sz="1400" kern="0" spc="-80" dirty="0">
                <a:solidFill>
                  <a:schemeClr val="accent2"/>
                </a:solidFill>
              </a:rPr>
              <a:t>Hybrid Cloud: </a:t>
            </a:r>
            <a:r>
              <a:rPr lang="en-US" sz="1400" kern="0" spc="-80" dirty="0">
                <a:solidFill>
                  <a:schemeClr val="accent6"/>
                </a:solidFill>
              </a:rPr>
              <a:t>Integration with Azure Arc, AWS Outposts, Google Anthos.</a:t>
            </a:r>
          </a:p>
          <a:p>
            <a:r>
              <a:rPr lang="en-US" sz="1400" kern="0" spc="-80" dirty="0">
                <a:solidFill>
                  <a:schemeClr val="accent2"/>
                </a:solidFill>
              </a:rPr>
              <a:t>Public Cloud Extensions:</a:t>
            </a:r>
            <a:r>
              <a:rPr lang="en-US" sz="1400" kern="0" spc="-80" dirty="0">
                <a:solidFill>
                  <a:schemeClr val="accent6"/>
                </a:solidFill>
              </a:rPr>
              <a:t> On-prem data </a:t>
            </a:r>
            <a:r>
              <a:rPr lang="en-US" sz="1400" kern="0" spc="-80" dirty="0" err="1">
                <a:solidFill>
                  <a:schemeClr val="accent6"/>
                </a:solidFill>
              </a:rPr>
              <a:t>centres</a:t>
            </a:r>
            <a:r>
              <a:rPr lang="en-US" sz="1400" kern="0" spc="-80" dirty="0">
                <a:solidFill>
                  <a:schemeClr val="accent6"/>
                </a:solidFill>
              </a:rPr>
              <a:t> connected to cloud.</a:t>
            </a:r>
          </a:p>
          <a:p>
            <a:r>
              <a:rPr lang="en-US" sz="1400" kern="0" spc="-80" dirty="0">
                <a:solidFill>
                  <a:schemeClr val="accent2"/>
                </a:solidFill>
              </a:rPr>
              <a:t>🔹 Virtual Data Centre (VDC)</a:t>
            </a:r>
          </a:p>
          <a:p>
            <a:r>
              <a:rPr lang="en-US" sz="1400" kern="0" spc="-80" dirty="0">
                <a:solidFill>
                  <a:schemeClr val="accent6"/>
                </a:solidFill>
              </a:rPr>
              <a:t>Logical abstraction of resources with software-defined infrastructure (SDI).</a:t>
            </a:r>
          </a:p>
          <a:p>
            <a:r>
              <a:rPr lang="en-US" sz="1400" kern="0" spc="-80" dirty="0">
                <a:solidFill>
                  <a:schemeClr val="accent2"/>
                </a:solidFill>
              </a:rPr>
              <a:t>🧠 7. Automation, Orchestration &amp; Management</a:t>
            </a:r>
          </a:p>
          <a:p>
            <a:r>
              <a:rPr lang="en-US" sz="1400" kern="0" spc="-80" dirty="0">
                <a:solidFill>
                  <a:schemeClr val="accent2"/>
                </a:solidFill>
              </a:rPr>
              <a:t>🔹 Tools &amp; Frameworks</a:t>
            </a:r>
          </a:p>
          <a:p>
            <a:r>
              <a:rPr lang="en-US" sz="1400" kern="0" spc="-80" dirty="0">
                <a:solidFill>
                  <a:schemeClr val="accent2"/>
                </a:solidFill>
              </a:rPr>
              <a:t>Infrastructure as Code (</a:t>
            </a:r>
            <a:r>
              <a:rPr lang="en-US" sz="1400" kern="0" spc="-80" dirty="0" err="1">
                <a:solidFill>
                  <a:schemeClr val="accent2"/>
                </a:solidFill>
              </a:rPr>
              <a:t>IaC</a:t>
            </a:r>
            <a:r>
              <a:rPr lang="en-US" sz="1400" kern="0" spc="-80" dirty="0">
                <a:solidFill>
                  <a:schemeClr val="accent2"/>
                </a:solidFill>
              </a:rPr>
              <a:t>): </a:t>
            </a:r>
            <a:r>
              <a:rPr lang="en-US" sz="1400" kern="0" spc="-80" dirty="0">
                <a:solidFill>
                  <a:schemeClr val="accent6"/>
                </a:solidFill>
              </a:rPr>
              <a:t>Terraform, Ansible, Puppet, Chef.</a:t>
            </a:r>
          </a:p>
          <a:p>
            <a:r>
              <a:rPr lang="en-US" sz="1400" kern="0" spc="-80" dirty="0">
                <a:solidFill>
                  <a:schemeClr val="accent2"/>
                </a:solidFill>
              </a:rPr>
              <a:t>Monitoring: </a:t>
            </a:r>
            <a:r>
              <a:rPr lang="en-US" sz="1400" kern="0" spc="-80" dirty="0">
                <a:solidFill>
                  <a:schemeClr val="accent6"/>
                </a:solidFill>
              </a:rPr>
              <a:t>Prometheus, Nagios, Zabbix, Grafana.</a:t>
            </a:r>
          </a:p>
        </p:txBody>
      </p:sp>
    </p:spTree>
    <p:extLst>
      <p:ext uri="{BB962C8B-B14F-4D97-AF65-F5344CB8AC3E}">
        <p14:creationId xmlns:p14="http://schemas.microsoft.com/office/powerpoint/2010/main" val="424515064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B5CB-8F9E-D6B2-171E-FEB4A8FC56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A80453-91B4-82D2-3061-DBF9596BCC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A6F36D-0D76-29C8-3B9B-A64457B3384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890EDFB-3859-6256-D321-1C0B5FE1204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8D154A5-0152-0F6B-61B2-403C4EEE49A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E04CB29-ACBC-6568-EF09-0AAAD972EF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825C982-13A8-5A99-2B8D-E1FDA24FD7EF}"/>
              </a:ext>
            </a:extLst>
          </p:cNvPr>
          <p:cNvSpPr txBox="1">
            <a:spLocks/>
          </p:cNvSpPr>
          <p:nvPr/>
        </p:nvSpPr>
        <p:spPr>
          <a:xfrm>
            <a:off x="0" y="685800"/>
            <a:ext cx="8915399"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endParaRPr lang="en-US" sz="1400" kern="0" spc="-80" dirty="0">
              <a:solidFill>
                <a:schemeClr val="accent2"/>
              </a:solidFill>
            </a:endParaRPr>
          </a:p>
          <a:p>
            <a:r>
              <a:rPr lang="en-US" sz="1400" kern="0" spc="-80" dirty="0">
                <a:solidFill>
                  <a:schemeClr val="accent2"/>
                </a:solidFill>
              </a:rPr>
              <a:t>Configuration Management:</a:t>
            </a:r>
            <a:r>
              <a:rPr lang="en-US" sz="1400" kern="0" spc="-80" dirty="0">
                <a:solidFill>
                  <a:schemeClr val="accent6"/>
                </a:solidFill>
              </a:rPr>
              <a:t> </a:t>
            </a:r>
            <a:r>
              <a:rPr lang="en-US" sz="1400" kern="0" spc="-80" dirty="0" err="1">
                <a:solidFill>
                  <a:schemeClr val="accent6"/>
                </a:solidFill>
              </a:rPr>
              <a:t>SaltStack</a:t>
            </a:r>
            <a:r>
              <a:rPr lang="en-US" sz="1400" kern="0" spc="-80" dirty="0">
                <a:solidFill>
                  <a:schemeClr val="accent6"/>
                </a:solidFill>
              </a:rPr>
              <a:t>, Ansible.</a:t>
            </a:r>
          </a:p>
          <a:p>
            <a:r>
              <a:rPr lang="en-US" sz="1400" kern="0" spc="-80" dirty="0">
                <a:solidFill>
                  <a:schemeClr val="accent2"/>
                </a:solidFill>
              </a:rPr>
              <a:t>Automation Platforms:</a:t>
            </a:r>
            <a:r>
              <a:rPr lang="en-US" sz="1400" kern="0" spc="-80" dirty="0">
                <a:solidFill>
                  <a:schemeClr val="accent6"/>
                </a:solidFill>
              </a:rPr>
              <a:t> </a:t>
            </a:r>
            <a:r>
              <a:rPr lang="en-US" sz="1400" kern="0" spc="-80" dirty="0" err="1">
                <a:solidFill>
                  <a:schemeClr val="accent6"/>
                </a:solidFill>
              </a:rPr>
              <a:t>vRealize</a:t>
            </a:r>
            <a:r>
              <a:rPr lang="en-US" sz="1400" kern="0" spc="-80" dirty="0">
                <a:solidFill>
                  <a:schemeClr val="accent6"/>
                </a:solidFill>
              </a:rPr>
              <a:t>, Red Hat Ansible Automation Platform.</a:t>
            </a:r>
          </a:p>
          <a:p>
            <a:r>
              <a:rPr lang="en-US" sz="1400" kern="0" spc="-80" dirty="0">
                <a:solidFill>
                  <a:schemeClr val="accent2"/>
                </a:solidFill>
              </a:rPr>
              <a:t>🔹 Observability Techniques</a:t>
            </a:r>
          </a:p>
          <a:p>
            <a:r>
              <a:rPr lang="en-US" sz="1400" kern="0" spc="-80" dirty="0">
                <a:solidFill>
                  <a:schemeClr val="accent6"/>
                </a:solidFill>
              </a:rPr>
              <a:t>Metrics, Logs, Traces.</a:t>
            </a:r>
          </a:p>
          <a:p>
            <a:r>
              <a:rPr lang="en-US" sz="1400" kern="0" spc="-80" dirty="0">
                <a:solidFill>
                  <a:schemeClr val="accent2"/>
                </a:solidFill>
              </a:rPr>
              <a:t>AIOps:</a:t>
            </a:r>
            <a:r>
              <a:rPr lang="en-US" sz="1400" kern="0" spc="-80" dirty="0">
                <a:solidFill>
                  <a:schemeClr val="accent6"/>
                </a:solidFill>
              </a:rPr>
              <a:t> AI-driven operations for predictive analysis.</a:t>
            </a:r>
          </a:p>
          <a:p>
            <a:r>
              <a:rPr lang="en-US" sz="1400" kern="0" spc="-80" dirty="0">
                <a:solidFill>
                  <a:schemeClr val="accent2"/>
                </a:solidFill>
              </a:rPr>
              <a:t>🔐 8. Security &amp; Compliance</a:t>
            </a:r>
          </a:p>
          <a:p>
            <a:r>
              <a:rPr lang="en-US" sz="1400" kern="0" spc="-80" dirty="0">
                <a:solidFill>
                  <a:schemeClr val="accent2"/>
                </a:solidFill>
              </a:rPr>
              <a:t>🔹 Security Layers</a:t>
            </a:r>
          </a:p>
          <a:p>
            <a:r>
              <a:rPr lang="en-US" sz="1400" kern="0" spc="-80" dirty="0">
                <a:solidFill>
                  <a:schemeClr val="accent2"/>
                </a:solidFill>
              </a:rPr>
              <a:t>Physical:</a:t>
            </a:r>
            <a:r>
              <a:rPr lang="en-US" sz="1400" kern="0" spc="-80" dirty="0">
                <a:solidFill>
                  <a:schemeClr val="accent6"/>
                </a:solidFill>
              </a:rPr>
              <a:t> Access control, surveillance.</a:t>
            </a:r>
          </a:p>
          <a:p>
            <a:r>
              <a:rPr lang="en-US" sz="1400" kern="0" spc="-80" dirty="0">
                <a:solidFill>
                  <a:schemeClr val="accent2"/>
                </a:solidFill>
              </a:rPr>
              <a:t>Network:</a:t>
            </a:r>
            <a:r>
              <a:rPr lang="en-US" sz="1400" kern="0" spc="-80" dirty="0">
                <a:solidFill>
                  <a:schemeClr val="accent6"/>
                </a:solidFill>
              </a:rPr>
              <a:t> Firewalls, IDS/IPS, DDoS protection.</a:t>
            </a:r>
          </a:p>
          <a:p>
            <a:r>
              <a:rPr lang="en-US" sz="1400" kern="0" spc="-80" dirty="0">
                <a:solidFill>
                  <a:schemeClr val="accent2"/>
                </a:solidFill>
              </a:rPr>
              <a:t>Application:</a:t>
            </a:r>
            <a:r>
              <a:rPr lang="en-US" sz="1400" kern="0" spc="-80" dirty="0">
                <a:solidFill>
                  <a:schemeClr val="accent6"/>
                </a:solidFill>
              </a:rPr>
              <a:t> WAF, API gateways.</a:t>
            </a:r>
          </a:p>
          <a:p>
            <a:r>
              <a:rPr lang="en-US" sz="1400" kern="0" spc="-80" dirty="0">
                <a:solidFill>
                  <a:schemeClr val="accent2"/>
                </a:solidFill>
              </a:rPr>
              <a:t>Data:</a:t>
            </a:r>
            <a:r>
              <a:rPr lang="en-US" sz="1400" kern="0" spc="-80" dirty="0">
                <a:solidFill>
                  <a:schemeClr val="accent6"/>
                </a:solidFill>
              </a:rPr>
              <a:t> Encryption at rest &amp; transit, key management (HSM).</a:t>
            </a:r>
          </a:p>
          <a:p>
            <a:r>
              <a:rPr lang="en-US" sz="1400" kern="0" spc="-80" dirty="0">
                <a:solidFill>
                  <a:schemeClr val="accent2"/>
                </a:solidFill>
              </a:rPr>
              <a:t>🔹 Compliance Frameworks</a:t>
            </a:r>
          </a:p>
          <a:p>
            <a:r>
              <a:rPr lang="en-US" sz="1400" kern="0" spc="-80" dirty="0">
                <a:solidFill>
                  <a:schemeClr val="accent6"/>
                </a:solidFill>
              </a:rPr>
              <a:t>ISO 27001, SOC 2, PCI DSS, HIPAA, GDPR.</a:t>
            </a:r>
          </a:p>
          <a:p>
            <a:r>
              <a:rPr lang="en-US" sz="1400" kern="0" spc="-80" dirty="0">
                <a:solidFill>
                  <a:schemeClr val="accent2"/>
                </a:solidFill>
              </a:rPr>
              <a:t>♻️ 9. Green &amp; Sustainable Data </a:t>
            </a:r>
            <a:r>
              <a:rPr lang="en-US" sz="1400" kern="0" spc="-80" dirty="0" err="1">
                <a:solidFill>
                  <a:schemeClr val="accent2"/>
                </a:solidFill>
              </a:rPr>
              <a:t>Centres</a:t>
            </a:r>
            <a:endParaRPr lang="en-US" sz="1400" kern="0" spc="-80" dirty="0">
              <a:solidFill>
                <a:schemeClr val="accent2"/>
              </a:solidFill>
            </a:endParaRPr>
          </a:p>
          <a:p>
            <a:r>
              <a:rPr lang="en-US" sz="1400" kern="0" spc="-80" dirty="0">
                <a:solidFill>
                  <a:schemeClr val="accent2"/>
                </a:solidFill>
              </a:rPr>
              <a:t>🔹 Techniques</a:t>
            </a:r>
          </a:p>
          <a:p>
            <a:r>
              <a:rPr lang="en-US" sz="1400" kern="0" spc="-80" dirty="0">
                <a:solidFill>
                  <a:schemeClr val="accent6"/>
                </a:solidFill>
              </a:rPr>
              <a:t>Renewable energy usage (solar, wind).</a:t>
            </a:r>
          </a:p>
          <a:p>
            <a:r>
              <a:rPr lang="en-US" sz="1400" kern="0" spc="-80" dirty="0">
                <a:solidFill>
                  <a:schemeClr val="accent6"/>
                </a:solidFill>
              </a:rPr>
              <a:t>AI-driven cooling optimization (Google, Meta).</a:t>
            </a:r>
          </a:p>
          <a:p>
            <a:r>
              <a:rPr lang="en-US" sz="1400" kern="0" spc="-80" dirty="0">
                <a:solidFill>
                  <a:schemeClr val="accent6"/>
                </a:solidFill>
              </a:rPr>
              <a:t>Carbon footprint tracking.</a:t>
            </a:r>
          </a:p>
          <a:p>
            <a:r>
              <a:rPr lang="en-US" sz="1400" kern="0" spc="-80" dirty="0">
                <a:solidFill>
                  <a:schemeClr val="accent6"/>
                </a:solidFill>
              </a:rPr>
              <a:t>Waste heat reuse.</a:t>
            </a:r>
          </a:p>
        </p:txBody>
      </p:sp>
    </p:spTree>
    <p:extLst>
      <p:ext uri="{BB962C8B-B14F-4D97-AF65-F5344CB8AC3E}">
        <p14:creationId xmlns:p14="http://schemas.microsoft.com/office/powerpoint/2010/main" val="106648401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44EC-CE5D-F401-7A82-436DA211BC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CB2CA26-5ECA-B109-D1C5-655EC16D8F5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8C8395-CCF3-B143-692B-8420A7D241B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1BD1189-41D6-D818-CB5D-71F8AE7AE43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5619D81-A81C-D171-EC91-12122A685AE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2EB54D7-E937-36F2-D6B1-BABC8072873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9D2AE8-53A8-A9E6-617D-04E450F8782F}"/>
              </a:ext>
            </a:extLst>
          </p:cNvPr>
          <p:cNvSpPr txBox="1">
            <a:spLocks/>
          </p:cNvSpPr>
          <p:nvPr/>
        </p:nvSpPr>
        <p:spPr>
          <a:xfrm>
            <a:off x="0" y="685800"/>
            <a:ext cx="8915399" cy="59093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350" kern="0" spc="-80" dirty="0">
                <a:solidFill>
                  <a:schemeClr val="accent2"/>
                </a:solidFill>
              </a:rPr>
              <a:t>🧩 10. Emerging &amp; Advanced Technologies</a:t>
            </a:r>
          </a:p>
          <a:p>
            <a:r>
              <a:rPr lang="en-US" sz="1350" kern="0" spc="-80" dirty="0">
                <a:solidFill>
                  <a:schemeClr val="accent2"/>
                </a:solidFill>
              </a:rPr>
              <a:t>Category	                Emerging Tech	                                           Purpose</a:t>
            </a:r>
          </a:p>
          <a:p>
            <a:r>
              <a:rPr lang="en-US" sz="1350" kern="0" spc="-80" dirty="0">
                <a:solidFill>
                  <a:schemeClr val="accent6"/>
                </a:solidFill>
              </a:rPr>
              <a:t>Compute	                Quantum &amp; neuromorphic computing	  Next-gen processing</a:t>
            </a:r>
          </a:p>
          <a:p>
            <a:r>
              <a:rPr lang="en-US" sz="1350" kern="0" spc="-80" dirty="0">
                <a:solidFill>
                  <a:schemeClr val="accent6"/>
                </a:solidFill>
              </a:rPr>
              <a:t>Cooling	                Immersion &amp; rear-door liquid cooling	                       Efficiency</a:t>
            </a:r>
          </a:p>
          <a:p>
            <a:r>
              <a:rPr lang="en-US" sz="1350" kern="0" spc="-80" dirty="0">
                <a:solidFill>
                  <a:schemeClr val="accent6"/>
                </a:solidFill>
              </a:rPr>
              <a:t>Storage	                DNA &amp; holographic storage	                       Long-term data archiving</a:t>
            </a:r>
          </a:p>
          <a:p>
            <a:r>
              <a:rPr lang="en-US" sz="1350" kern="0" spc="-80" dirty="0">
                <a:solidFill>
                  <a:schemeClr val="accent6"/>
                </a:solidFill>
              </a:rPr>
              <a:t>Networking               800G Ethernet, optical interconnects	                       Ultra-high-speed data transfer</a:t>
            </a:r>
          </a:p>
          <a:p>
            <a:r>
              <a:rPr lang="en-US" sz="1350" kern="0" spc="-80" dirty="0">
                <a:solidFill>
                  <a:schemeClr val="accent6"/>
                </a:solidFill>
              </a:rPr>
              <a:t>Automation               AI/ML for predictive ops	                                            Self-healing DCs</a:t>
            </a:r>
          </a:p>
          <a:p>
            <a:r>
              <a:rPr lang="en-US" sz="1350" kern="0" spc="-80" dirty="0">
                <a:solidFill>
                  <a:schemeClr val="accent6"/>
                </a:solidFill>
              </a:rPr>
              <a:t>Edge Computing      Micro data </a:t>
            </a:r>
            <a:r>
              <a:rPr lang="en-US" sz="1350" kern="0" spc="-80" dirty="0" err="1">
                <a:solidFill>
                  <a:schemeClr val="accent6"/>
                </a:solidFill>
              </a:rPr>
              <a:t>centres</a:t>
            </a:r>
            <a:r>
              <a:rPr lang="en-US" sz="1350" kern="0" spc="-80" dirty="0">
                <a:solidFill>
                  <a:schemeClr val="accent6"/>
                </a:solidFill>
              </a:rPr>
              <a:t>	                                            Low-latency, near-user computing</a:t>
            </a:r>
          </a:p>
          <a:p>
            <a:r>
              <a:rPr lang="en-US" sz="1350" kern="0" spc="-80" dirty="0">
                <a:solidFill>
                  <a:schemeClr val="accent2"/>
                </a:solidFill>
              </a:rPr>
              <a:t>🧭 11. Data Centre Architectures</a:t>
            </a:r>
          </a:p>
          <a:p>
            <a:r>
              <a:rPr lang="en-US" sz="1350" kern="0" spc="-80" dirty="0">
                <a:solidFill>
                  <a:schemeClr val="accent2"/>
                </a:solidFill>
              </a:rPr>
              <a:t>Tier I–IV Classification (Uptime Institute):</a:t>
            </a:r>
          </a:p>
          <a:p>
            <a:r>
              <a:rPr lang="en-US" sz="1350" kern="0" spc="-80" dirty="0">
                <a:solidFill>
                  <a:schemeClr val="accent2"/>
                </a:solidFill>
              </a:rPr>
              <a:t>Tier I: </a:t>
            </a:r>
            <a:r>
              <a:rPr lang="en-US" sz="1350" kern="0" spc="-80" dirty="0">
                <a:solidFill>
                  <a:schemeClr val="accent6"/>
                </a:solidFill>
              </a:rPr>
              <a:t>Basic</a:t>
            </a:r>
          </a:p>
          <a:p>
            <a:r>
              <a:rPr lang="en-US" sz="1350" kern="0" spc="-80" dirty="0">
                <a:solidFill>
                  <a:schemeClr val="accent2"/>
                </a:solidFill>
              </a:rPr>
              <a:t>Tier II:</a:t>
            </a:r>
            <a:r>
              <a:rPr lang="en-US" sz="1350" kern="0" spc="-80" dirty="0">
                <a:solidFill>
                  <a:schemeClr val="accent6"/>
                </a:solidFill>
              </a:rPr>
              <a:t> Redundant</a:t>
            </a:r>
          </a:p>
          <a:p>
            <a:r>
              <a:rPr lang="en-US" sz="1350" kern="0" spc="-80" dirty="0">
                <a:solidFill>
                  <a:schemeClr val="accent2"/>
                </a:solidFill>
              </a:rPr>
              <a:t>Tier III: </a:t>
            </a:r>
            <a:r>
              <a:rPr lang="en-US" sz="1350" kern="0" spc="-80" dirty="0">
                <a:solidFill>
                  <a:schemeClr val="accent6"/>
                </a:solidFill>
              </a:rPr>
              <a:t>Concurrently maintainable</a:t>
            </a:r>
          </a:p>
          <a:p>
            <a:r>
              <a:rPr lang="en-US" sz="1350" kern="0" spc="-80" dirty="0">
                <a:solidFill>
                  <a:schemeClr val="accent2"/>
                </a:solidFill>
              </a:rPr>
              <a:t>Tier IV: </a:t>
            </a:r>
            <a:r>
              <a:rPr lang="en-US" sz="1350" kern="0" spc="-80" dirty="0">
                <a:solidFill>
                  <a:schemeClr val="accent6"/>
                </a:solidFill>
              </a:rPr>
              <a:t>Fault-tolerant</a:t>
            </a:r>
          </a:p>
          <a:p>
            <a:r>
              <a:rPr lang="en-US" sz="1350" kern="0" spc="-80" dirty="0">
                <a:solidFill>
                  <a:schemeClr val="accent2"/>
                </a:solidFill>
              </a:rPr>
              <a:t>Modular Data </a:t>
            </a:r>
            <a:r>
              <a:rPr lang="en-US" sz="1350" kern="0" spc="-80" dirty="0" err="1">
                <a:solidFill>
                  <a:schemeClr val="accent2"/>
                </a:solidFill>
              </a:rPr>
              <a:t>Centres</a:t>
            </a:r>
            <a:r>
              <a:rPr lang="en-US" sz="1350" kern="0" spc="-80" dirty="0">
                <a:solidFill>
                  <a:schemeClr val="accent2"/>
                </a:solidFill>
              </a:rPr>
              <a:t>: </a:t>
            </a:r>
            <a:r>
              <a:rPr lang="en-US" sz="1350" kern="0" spc="-80" dirty="0">
                <a:solidFill>
                  <a:schemeClr val="accent6"/>
                </a:solidFill>
              </a:rPr>
              <a:t>Prefabricated, portable containers.</a:t>
            </a:r>
          </a:p>
          <a:p>
            <a:r>
              <a:rPr lang="en-US" sz="1350" kern="0" spc="-80" dirty="0">
                <a:solidFill>
                  <a:schemeClr val="accent2"/>
                </a:solidFill>
              </a:rPr>
              <a:t>Edge Data </a:t>
            </a:r>
            <a:r>
              <a:rPr lang="en-US" sz="1350" kern="0" spc="-80" dirty="0" err="1">
                <a:solidFill>
                  <a:schemeClr val="accent2"/>
                </a:solidFill>
              </a:rPr>
              <a:t>Centres</a:t>
            </a:r>
            <a:r>
              <a:rPr lang="en-US" sz="1350" kern="0" spc="-80" dirty="0">
                <a:solidFill>
                  <a:schemeClr val="accent2"/>
                </a:solidFill>
              </a:rPr>
              <a:t>: </a:t>
            </a:r>
            <a:r>
              <a:rPr lang="en-US" sz="1350" kern="0" spc="-80" dirty="0">
                <a:solidFill>
                  <a:schemeClr val="accent6"/>
                </a:solidFill>
              </a:rPr>
              <a:t>Distributed near users or IoT devices.</a:t>
            </a:r>
          </a:p>
          <a:p>
            <a:r>
              <a:rPr lang="en-US" sz="1350" kern="0" spc="-80" dirty="0">
                <a:solidFill>
                  <a:schemeClr val="accent2"/>
                </a:solidFill>
              </a:rPr>
              <a:t>🧰 12. Key Vendors &amp; Ecosystem Players</a:t>
            </a:r>
          </a:p>
          <a:p>
            <a:r>
              <a:rPr lang="en-US" sz="1350" kern="0" spc="-80" dirty="0">
                <a:solidFill>
                  <a:schemeClr val="accent2"/>
                </a:solidFill>
              </a:rPr>
              <a:t>Category	                 Examples</a:t>
            </a:r>
          </a:p>
          <a:p>
            <a:r>
              <a:rPr lang="en-US" sz="1350" kern="0" spc="-80" dirty="0">
                <a:solidFill>
                  <a:schemeClr val="accent6"/>
                </a:solidFill>
              </a:rPr>
              <a:t>Servers	                 Dell EMC, HPE, Lenovo, Supermicro</a:t>
            </a:r>
          </a:p>
          <a:p>
            <a:r>
              <a:rPr lang="en-US" sz="1350" kern="0" spc="-80" dirty="0">
                <a:solidFill>
                  <a:schemeClr val="accent6"/>
                </a:solidFill>
              </a:rPr>
              <a:t>Virtualization             VMware, Microsoft, KVM</a:t>
            </a:r>
          </a:p>
          <a:p>
            <a:r>
              <a:rPr lang="en-US" sz="1350" kern="0" spc="-80" dirty="0">
                <a:solidFill>
                  <a:schemeClr val="accent6"/>
                </a:solidFill>
              </a:rPr>
              <a:t>Storage	                 NetApp, Pure Storage, EMC, IBM</a:t>
            </a:r>
          </a:p>
          <a:p>
            <a:r>
              <a:rPr lang="en-US" sz="1350" kern="0" spc="-80" dirty="0">
                <a:solidFill>
                  <a:schemeClr val="accent6"/>
                </a:solidFill>
              </a:rPr>
              <a:t>Networking                Cisco, Juniper, Arista, Broadcom</a:t>
            </a:r>
          </a:p>
          <a:p>
            <a:r>
              <a:rPr lang="en-US" sz="1350" kern="0" spc="-80" dirty="0">
                <a:solidFill>
                  <a:schemeClr val="accent6"/>
                </a:solidFill>
              </a:rPr>
              <a:t>Cloud Integration      AWS, Azure, GCP</a:t>
            </a:r>
          </a:p>
          <a:p>
            <a:r>
              <a:rPr lang="en-US" sz="1350" kern="0" spc="-80" dirty="0">
                <a:solidFill>
                  <a:schemeClr val="accent6"/>
                </a:solidFill>
              </a:rPr>
              <a:t>Automation                Red Hat Ansible, Terraform, </a:t>
            </a:r>
            <a:r>
              <a:rPr lang="en-US" sz="1350" kern="0" spc="-80" dirty="0" err="1">
                <a:solidFill>
                  <a:schemeClr val="accent6"/>
                </a:solidFill>
              </a:rPr>
              <a:t>HashiCorp</a:t>
            </a:r>
            <a:r>
              <a:rPr lang="en-US" sz="1350" kern="0" spc="-80" dirty="0">
                <a:solidFill>
                  <a:schemeClr val="accent6"/>
                </a:solidFill>
              </a:rPr>
              <a:t> suite. </a:t>
            </a:r>
          </a:p>
          <a:p>
            <a:endParaRPr lang="en-US" sz="2400" kern="0" spc="-80" dirty="0">
              <a:solidFill>
                <a:schemeClr val="accent2"/>
              </a:solidFill>
            </a:endParaRPr>
          </a:p>
        </p:txBody>
      </p:sp>
    </p:spTree>
    <p:extLst>
      <p:ext uri="{BB962C8B-B14F-4D97-AF65-F5344CB8AC3E}">
        <p14:creationId xmlns:p14="http://schemas.microsoft.com/office/powerpoint/2010/main" val="9695318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B62E-737F-5EDE-2EDD-230F0EAA6C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8FD002-4B3F-D26A-ED50-07B55AE6066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0C209D3-CC69-DFC5-C448-22923366B0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D2F700-9904-F132-51CD-526F69AE962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14A4118-5231-3634-E3DD-7770FC4BCB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07CBC04-E1FC-B3BB-7873-B2AC8D59C32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0BD2267-0A1B-A0D2-5014-352DD5EE120E}"/>
              </a:ext>
            </a:extLst>
          </p:cNvPr>
          <p:cNvSpPr txBox="1">
            <a:spLocks/>
          </p:cNvSpPr>
          <p:nvPr/>
        </p:nvSpPr>
        <p:spPr>
          <a:xfrm>
            <a:off x="0" y="685800"/>
            <a:ext cx="8915399"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2000" kern="0" spc="-80" dirty="0">
                <a:solidFill>
                  <a:schemeClr val="accent2"/>
                </a:solidFill>
              </a:rPr>
              <a:t>For Further Exploration – </a:t>
            </a:r>
          </a:p>
          <a:p>
            <a:r>
              <a:rPr lang="en-US" sz="2000" dirty="0">
                <a:hlinkClick r:id="rId7"/>
              </a:rPr>
              <a:t>Data Centers 101: A Beginner's Guide To Understanding Core Concepts</a:t>
            </a:r>
            <a:endParaRPr lang="en-US" sz="2000" kern="0" spc="-80" dirty="0">
              <a:solidFill>
                <a:schemeClr val="accent2"/>
              </a:solidFill>
            </a:endParaRPr>
          </a:p>
          <a:p>
            <a:r>
              <a:rPr lang="en-US" sz="2000" dirty="0">
                <a:hlinkClick r:id="rId8"/>
              </a:rPr>
              <a:t>Introduction to Datacenters | Microsoft Learn</a:t>
            </a:r>
            <a:endParaRPr lang="en-US" sz="2000" dirty="0"/>
          </a:p>
          <a:p>
            <a:r>
              <a:rPr lang="en-IN" sz="2000" dirty="0">
                <a:hlinkClick r:id="rId9"/>
              </a:rPr>
              <a:t>Data </a:t>
            </a:r>
            <a:r>
              <a:rPr lang="en-IN" sz="2000" dirty="0" err="1">
                <a:hlinkClick r:id="rId9"/>
              </a:rPr>
              <a:t>Center</a:t>
            </a:r>
            <a:r>
              <a:rPr lang="en-IN" sz="2000" dirty="0">
                <a:hlinkClick r:id="rId9"/>
              </a:rPr>
              <a:t> Design Guides – Cisco</a:t>
            </a:r>
            <a:endParaRPr lang="en-IN" sz="2000" dirty="0"/>
          </a:p>
          <a:p>
            <a:r>
              <a:rPr lang="en-IN" sz="2000" dirty="0">
                <a:hlinkClick r:id="rId10"/>
              </a:rPr>
              <a:t>ASHRAE Data </a:t>
            </a:r>
            <a:r>
              <a:rPr lang="en-IN" sz="2000" dirty="0" err="1">
                <a:hlinkClick r:id="rId10"/>
              </a:rPr>
              <a:t>Center</a:t>
            </a:r>
            <a:r>
              <a:rPr lang="en-IN" sz="2000" dirty="0">
                <a:hlinkClick r:id="rId10"/>
              </a:rPr>
              <a:t> Resources | Data </a:t>
            </a:r>
            <a:r>
              <a:rPr lang="en-IN" sz="2000" dirty="0" err="1">
                <a:hlinkClick r:id="rId10"/>
              </a:rPr>
              <a:t>Centers</a:t>
            </a:r>
            <a:endParaRPr lang="en-US" sz="2000" kern="0" spc="-80" dirty="0">
              <a:solidFill>
                <a:schemeClr val="accent2"/>
              </a:solidFill>
            </a:endParaRPr>
          </a:p>
        </p:txBody>
      </p:sp>
    </p:spTree>
    <p:extLst>
      <p:ext uri="{BB962C8B-B14F-4D97-AF65-F5344CB8AC3E}">
        <p14:creationId xmlns:p14="http://schemas.microsoft.com/office/powerpoint/2010/main" val="160476913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7862" y="784034"/>
            <a:ext cx="8915399" cy="32316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Cloud Computing Further Exploration in general– </a:t>
            </a:r>
          </a:p>
          <a:p>
            <a:pPr marL="12700" marR="5080"/>
            <a:r>
              <a:rPr lang="en-US" sz="1800" dirty="0">
                <a:hlinkClick r:id="rId7"/>
              </a:rPr>
              <a:t>Public Cloud Services Comparison</a:t>
            </a:r>
            <a:endParaRPr lang="en-US" sz="1800" dirty="0"/>
          </a:p>
          <a:p>
            <a:pPr marL="12700" marR="5080"/>
            <a:r>
              <a:rPr lang="en-IN" sz="1800" dirty="0">
                <a:hlinkClick r:id="rId8"/>
              </a:rPr>
              <a:t>AWS vs Azure vs GCP Comparison</a:t>
            </a:r>
            <a:endParaRPr lang="en-IN" sz="1800" dirty="0"/>
          </a:p>
          <a:p>
            <a:pPr marL="12700" marR="5080"/>
            <a:r>
              <a:rPr lang="en-IN" sz="1800" dirty="0">
                <a:hlinkClick r:id="rId9"/>
              </a:rPr>
              <a:t>AWS Roadmap - roadmap.sh</a:t>
            </a:r>
            <a:endParaRPr lang="en-IN" sz="1800" dirty="0"/>
          </a:p>
          <a:p>
            <a:pPr marL="12700" marR="5080"/>
            <a:r>
              <a:rPr lang="en-IN" sz="1800" dirty="0">
                <a:hlinkClick r:id="rId10"/>
              </a:rPr>
              <a:t>Azure Application Architecture Fundamentals - Azure Architecture </a:t>
            </a:r>
            <a:r>
              <a:rPr lang="en-IN" sz="1800" dirty="0" err="1">
                <a:hlinkClick r:id="rId10"/>
              </a:rPr>
              <a:t>Center</a:t>
            </a:r>
            <a:r>
              <a:rPr lang="en-IN" sz="1800" dirty="0">
                <a:hlinkClick r:id="rId10"/>
              </a:rPr>
              <a:t> | Microsoft Learn</a:t>
            </a:r>
            <a:endParaRPr lang="en-IN" sz="1800" dirty="0"/>
          </a:p>
          <a:p>
            <a:pPr marL="12700" marR="5080"/>
            <a:r>
              <a:rPr lang="en-US" sz="1800" dirty="0">
                <a:hlinkClick r:id="rId11"/>
              </a:rPr>
              <a:t>Analogies Cloud: Learn Cloud with Fun &amp; Resources</a:t>
            </a:r>
            <a:r>
              <a:rPr lang="en-US" sz="1800" kern="0" spc="-80" dirty="0">
                <a:solidFill>
                  <a:schemeClr val="accent2"/>
                </a:solidFill>
              </a:rPr>
              <a:t> </a:t>
            </a:r>
          </a:p>
          <a:p>
            <a:pPr marL="12700" marR="5080"/>
            <a:r>
              <a:rPr lang="en-IN" sz="1800" dirty="0">
                <a:hlinkClick r:id="rId12"/>
              </a:rPr>
              <a:t>Become Microsoft Certified</a:t>
            </a:r>
            <a:endParaRPr lang="en-IN" sz="1800" dirty="0"/>
          </a:p>
          <a:p>
            <a:pPr marL="12700" marR="5080"/>
            <a:r>
              <a:rPr lang="en-US" sz="1800" dirty="0">
                <a:hlinkClick r:id="rId13"/>
              </a:rPr>
              <a:t>The Practice of Cloud System Administration</a:t>
            </a:r>
            <a:endParaRPr lang="en-US" sz="1800" dirty="0"/>
          </a:p>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311036968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CMS Reference Architecture</a:t>
            </a:r>
          </a:p>
          <a:p>
            <a:pPr marL="12700" marR="5080"/>
            <a:r>
              <a:rPr lang="en-US" sz="2400" kern="0" spc="-80" dirty="0">
                <a:solidFill>
                  <a:schemeClr val="accent2"/>
                </a:solidFill>
              </a:rPr>
              <a:t>  </a:t>
            </a:r>
          </a:p>
        </p:txBody>
      </p:sp>
      <p:pic>
        <p:nvPicPr>
          <p:cNvPr id="23554" name="Picture 2" descr="CMS and the Single Web Designer – A List Apart">
            <a:extLst>
              <a:ext uri="{FF2B5EF4-FFF2-40B4-BE49-F238E27FC236}">
                <a16:creationId xmlns:a16="http://schemas.microsoft.com/office/drawing/2014/main" id="{2B876291-99B6-C582-496E-EA827372E2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219200"/>
            <a:ext cx="8458200" cy="262953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03DF0C08-CFF2-D612-F21C-4190384B89AC}"/>
              </a:ext>
            </a:extLst>
          </p:cNvPr>
          <p:cNvSpPr txBox="1">
            <a:spLocks/>
          </p:cNvSpPr>
          <p:nvPr/>
        </p:nvSpPr>
        <p:spPr>
          <a:xfrm>
            <a:off x="76200" y="3978295"/>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Core Components</a:t>
            </a:r>
          </a:p>
          <a:p>
            <a:pPr marL="12700" marR="5080"/>
            <a:r>
              <a:rPr lang="en-US" sz="1500" kern="0" spc="-80" dirty="0">
                <a:solidFill>
                  <a:schemeClr val="accent6"/>
                </a:solidFill>
              </a:rPr>
              <a:t>A CMS architecture generally consists of these layers: </a:t>
            </a:r>
          </a:p>
          <a:p>
            <a:pPr marL="12700" marR="5080"/>
            <a:r>
              <a:rPr lang="en-US" sz="1500" kern="0" spc="-80" dirty="0">
                <a:solidFill>
                  <a:schemeClr val="accent2"/>
                </a:solidFill>
              </a:rPr>
              <a:t>Backend (Application Layer): </a:t>
            </a:r>
            <a:r>
              <a:rPr lang="en-US" sz="1500" kern="0" spc="-80" dirty="0">
                <a:solidFill>
                  <a:schemeClr val="accent6"/>
                </a:solidFill>
              </a:rPr>
              <a:t>This is where content is created, edited, managed, and organized through a dashboard. </a:t>
            </a:r>
          </a:p>
          <a:p>
            <a:pPr marL="12700" marR="5080"/>
            <a:r>
              <a:rPr lang="en-US" sz="1500" kern="0" spc="-80" dirty="0">
                <a:solidFill>
                  <a:schemeClr val="accent2"/>
                </a:solidFill>
              </a:rPr>
              <a:t>Database (Data Layer):</a:t>
            </a:r>
            <a:r>
              <a:rPr lang="en-US" sz="1500" kern="0" spc="-80" dirty="0">
                <a:solidFill>
                  <a:schemeClr val="accent6"/>
                </a:solidFill>
              </a:rPr>
              <a:t> This layer stores the content, metadata, configuration data, and digital assets. </a:t>
            </a:r>
          </a:p>
          <a:p>
            <a:pPr marL="12700" marR="5080"/>
            <a:r>
              <a:rPr lang="en-US" sz="1500" kern="0" spc="-80" dirty="0">
                <a:solidFill>
                  <a:schemeClr val="accent2"/>
                </a:solidFill>
              </a:rPr>
              <a:t>Frontend (Presentation Layer): </a:t>
            </a:r>
            <a:r>
              <a:rPr lang="en-US" sz="1500" kern="0" spc="-80" dirty="0">
                <a:solidFill>
                  <a:schemeClr val="accent6"/>
                </a:solidFill>
              </a:rPr>
              <a:t>This part is responsible for how the content is displayed to end-users on websites or applications. </a:t>
            </a:r>
          </a:p>
        </p:txBody>
      </p:sp>
    </p:spTree>
    <p:extLst>
      <p:ext uri="{BB962C8B-B14F-4D97-AF65-F5344CB8AC3E}">
        <p14:creationId xmlns:p14="http://schemas.microsoft.com/office/powerpoint/2010/main" val="3600105599"/>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7EC6-D185-5F0B-9B32-EF57092B2C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7DB891-A962-2BED-27D0-9458B5729A5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B923BE8-C811-EDE4-CA5E-7DC8BA2AFAF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BB982B-A115-5377-A449-3FCCA047855F}"/>
              </a:ext>
            </a:extLst>
          </p:cNvPr>
          <p:cNvGraphicFramePr/>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CC20A3-011C-C4D0-F6CD-8536611D55DF}"/>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CMS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B38669E-4822-BDAF-401C-91E254BCB1B8}"/>
              </a:ext>
            </a:extLst>
          </p:cNvPr>
          <p:cNvSpPr txBox="1">
            <a:spLocks/>
          </p:cNvSpPr>
          <p:nvPr/>
        </p:nvSpPr>
        <p:spPr>
          <a:xfrm>
            <a:off x="137369" y="1258143"/>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Types of CMS Architectures</a:t>
            </a:r>
          </a:p>
          <a:p>
            <a:pPr marL="12700" marR="5080"/>
            <a:r>
              <a:rPr lang="en-US" sz="1400" kern="0" spc="-80" dirty="0">
                <a:solidFill>
                  <a:schemeClr val="accent2"/>
                </a:solidFill>
              </a:rPr>
              <a:t>Coupled (Traditional) CMS:</a:t>
            </a:r>
          </a:p>
          <a:p>
            <a:pPr marL="12700" marR="5080"/>
            <a:r>
              <a:rPr lang="en-US" sz="1400" kern="0" spc="-80" dirty="0">
                <a:solidFill>
                  <a:schemeClr val="accent2"/>
                </a:solidFill>
              </a:rPr>
              <a:t>Description:</a:t>
            </a:r>
            <a:r>
              <a:rPr lang="en-US" sz="1400" kern="0" spc="-80" dirty="0">
                <a:solidFill>
                  <a:schemeClr val="accent6"/>
                </a:solidFill>
              </a:rPr>
              <a:t> The backend and frontend are tightly integrated, sharing common resources and services. </a:t>
            </a:r>
          </a:p>
          <a:p>
            <a:pPr marL="12700" marR="5080"/>
            <a:r>
              <a:rPr lang="en-US" sz="1400" kern="0" spc="-80" dirty="0">
                <a:solidFill>
                  <a:schemeClr val="accent2"/>
                </a:solidFill>
              </a:rPr>
              <a:t>How it Works:</a:t>
            </a:r>
            <a:r>
              <a:rPr lang="en-US" sz="1400" kern="0" spc="-80" dirty="0">
                <a:solidFill>
                  <a:schemeClr val="accent6"/>
                </a:solidFill>
              </a:rPr>
              <a:t> The backend generates web pages dynamically, and the content is displayed on the same platform. </a:t>
            </a:r>
          </a:p>
          <a:p>
            <a:pPr marL="12700" marR="5080"/>
            <a:r>
              <a:rPr lang="en-US" sz="1400" kern="0" spc="-80" dirty="0">
                <a:solidFill>
                  <a:schemeClr val="accent2"/>
                </a:solidFill>
              </a:rPr>
              <a:t>Pros/Cons:</a:t>
            </a:r>
            <a:r>
              <a:rPr lang="en-US" sz="1400" kern="0" spc="-80" dirty="0">
                <a:solidFill>
                  <a:schemeClr val="accent6"/>
                </a:solidFill>
              </a:rPr>
              <a:t> Simple to deploy but can be hard to customize and scale beyond traditional web channels. </a:t>
            </a:r>
          </a:p>
          <a:p>
            <a:pPr marL="12700" marR="5080"/>
            <a:r>
              <a:rPr lang="en-US" sz="1400" kern="0" spc="-80" dirty="0">
                <a:solidFill>
                  <a:schemeClr val="accent2"/>
                </a:solidFill>
              </a:rPr>
              <a:t>Decoupled CMS:</a:t>
            </a:r>
          </a:p>
          <a:p>
            <a:pPr marL="12700" marR="5080"/>
            <a:r>
              <a:rPr lang="en-US" sz="1400" kern="0" spc="-80" dirty="0">
                <a:solidFill>
                  <a:schemeClr val="accent2"/>
                </a:solidFill>
              </a:rPr>
              <a:t>Description:</a:t>
            </a:r>
            <a:r>
              <a:rPr lang="en-US" sz="1400" kern="0" spc="-80" dirty="0">
                <a:solidFill>
                  <a:schemeClr val="accent6"/>
                </a:solidFill>
              </a:rPr>
              <a:t> The backend (content management) and frontend (presentation) are separate. </a:t>
            </a:r>
          </a:p>
          <a:p>
            <a:pPr marL="12700" marR="5080"/>
            <a:r>
              <a:rPr lang="en-US" sz="1400" kern="0" spc="-80" dirty="0">
                <a:solidFill>
                  <a:schemeClr val="accent2"/>
                </a:solidFill>
              </a:rPr>
              <a:t>How it Works: </a:t>
            </a:r>
            <a:r>
              <a:rPr lang="en-US" sz="1400" kern="0" spc="-80" dirty="0">
                <a:solidFill>
                  <a:schemeClr val="accent6"/>
                </a:solidFill>
              </a:rPr>
              <a:t>A separate backend manages content and delivers it through APIs to a dedicated frontend, which can be a pre-built presentation layer. </a:t>
            </a:r>
          </a:p>
          <a:p>
            <a:pPr marL="12700" marR="5080"/>
            <a:r>
              <a:rPr lang="en-US" sz="1400" kern="0" spc="-80" dirty="0">
                <a:solidFill>
                  <a:schemeClr val="accent2"/>
                </a:solidFill>
              </a:rPr>
              <a:t>Pros/Cons: </a:t>
            </a:r>
            <a:r>
              <a:rPr lang="en-US" sz="1400" kern="0" spc="-80" dirty="0">
                <a:solidFill>
                  <a:schemeClr val="accent6"/>
                </a:solidFill>
              </a:rPr>
              <a:t>Offers better security and flexibility than coupled systems, but it's more complex to handle. </a:t>
            </a:r>
          </a:p>
          <a:p>
            <a:pPr marL="12700" marR="5080"/>
            <a:r>
              <a:rPr lang="en-US" sz="1400" kern="0" spc="-80" dirty="0">
                <a:solidFill>
                  <a:schemeClr val="accent2"/>
                </a:solidFill>
              </a:rPr>
              <a:t>Headless CMS:</a:t>
            </a:r>
          </a:p>
          <a:p>
            <a:pPr marL="12700" marR="5080"/>
            <a:r>
              <a:rPr lang="en-US" sz="1400" kern="0" spc="-80" dirty="0">
                <a:solidFill>
                  <a:schemeClr val="accent2"/>
                </a:solidFill>
              </a:rPr>
              <a:t>Description: </a:t>
            </a:r>
            <a:r>
              <a:rPr lang="en-US" sz="1400" kern="0" spc="-80" dirty="0">
                <a:solidFill>
                  <a:schemeClr val="accent6"/>
                </a:solidFill>
              </a:rPr>
              <a:t>Similar to a decoupled CMS, but it separates the content repository from any presentation layer, delivering content purely via APIs. </a:t>
            </a:r>
          </a:p>
          <a:p>
            <a:pPr marL="12700" marR="5080"/>
            <a:r>
              <a:rPr lang="en-US" sz="1400" kern="0" spc="-80" dirty="0">
                <a:solidFill>
                  <a:schemeClr val="accent2"/>
                </a:solidFill>
              </a:rPr>
              <a:t>How it Works: </a:t>
            </a:r>
            <a:r>
              <a:rPr lang="en-US" sz="1400" kern="0" spc="-80" dirty="0">
                <a:solidFill>
                  <a:schemeClr val="accent6"/>
                </a:solidFill>
              </a:rPr>
              <a:t>Content is available for any device or platform, allowing for seamless integration across web, mobile, and emerging channels. </a:t>
            </a:r>
          </a:p>
          <a:p>
            <a:pPr marL="12700" marR="5080"/>
            <a:r>
              <a:rPr lang="en-US" sz="1400" kern="0" spc="-80" dirty="0">
                <a:solidFill>
                  <a:schemeClr val="accent2"/>
                </a:solidFill>
              </a:rPr>
              <a:t>Pros/Cons: </a:t>
            </a:r>
            <a:r>
              <a:rPr lang="en-US" sz="1400" kern="0" spc="-80" dirty="0">
                <a:solidFill>
                  <a:schemeClr val="accent6"/>
                </a:solidFill>
              </a:rPr>
              <a:t>Provides maximum freedom to integrate custom front-end components and support a wider variety of devices and contexts. </a:t>
            </a:r>
          </a:p>
          <a:p>
            <a:pPr marL="12700" marR="5080"/>
            <a:r>
              <a:rPr lang="en-US" sz="1400" kern="0" spc="-80" dirty="0">
                <a:solidFill>
                  <a:schemeClr val="accent2"/>
                </a:solidFill>
              </a:rPr>
              <a:t>Emerging Architectures (e.g. MACH) </a:t>
            </a:r>
          </a:p>
          <a:p>
            <a:pPr marL="12700" marR="5080"/>
            <a:r>
              <a:rPr lang="en-US" sz="1400" kern="0" spc="-80" dirty="0">
                <a:solidFill>
                  <a:schemeClr val="accent2"/>
                </a:solidFill>
              </a:rPr>
              <a:t>Description: </a:t>
            </a:r>
            <a:r>
              <a:rPr lang="en-US" sz="1400" kern="0" spc="-80" dirty="0">
                <a:solidFill>
                  <a:schemeClr val="accent6"/>
                </a:solidFill>
              </a:rPr>
              <a:t>Architectures built on MACH (Microservices, API-first, Cloud-native, Headless) principles.</a:t>
            </a:r>
          </a:p>
          <a:p>
            <a:pPr marL="12700" marR="5080"/>
            <a:r>
              <a:rPr lang="en-US" sz="1400" kern="0" spc="-80" dirty="0">
                <a:solidFill>
                  <a:schemeClr val="accent2"/>
                </a:solidFill>
              </a:rPr>
              <a:t>How it Works:</a:t>
            </a:r>
            <a:r>
              <a:rPr lang="en-US" sz="1400" kern="0" spc="-80" dirty="0">
                <a:solidFill>
                  <a:schemeClr val="accent6"/>
                </a:solidFill>
              </a:rPr>
              <a:t> These architectures offer modularity, scalability, and the flexibility to choose and integrate best-of-breed tools, allowing for continuous evolution of the enterprise architecture.</a:t>
            </a:r>
          </a:p>
        </p:txBody>
      </p:sp>
    </p:spTree>
    <p:extLst>
      <p:ext uri="{BB962C8B-B14F-4D97-AF65-F5344CB8AC3E}">
        <p14:creationId xmlns:p14="http://schemas.microsoft.com/office/powerpoint/2010/main" val="37373801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B772-8255-006A-21E3-D46BC93BDC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CE35A5-54EF-A2CF-F361-22D8EB99B09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7EDC28-0D41-A13D-9619-22F3CDDEAD1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419A94E-53C7-BA06-1C78-D7A9255381D8}"/>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13ADC2B-B5A2-C3CA-0F2B-6A9AB78FD748}"/>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0C360B5A-3129-C433-5660-AD141DAD19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240699"/>
            <a:ext cx="8706998" cy="316442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AD574E7B-93C8-E777-0FE3-7D160893AEF4}"/>
              </a:ext>
            </a:extLst>
          </p:cNvPr>
          <p:cNvSpPr txBox="1">
            <a:spLocks/>
          </p:cNvSpPr>
          <p:nvPr/>
        </p:nvSpPr>
        <p:spPr>
          <a:xfrm>
            <a:off x="0" y="4281607"/>
            <a:ext cx="8624937"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6"/>
              </a:solidFill>
            </a:endParaRPr>
          </a:p>
          <a:p>
            <a:pPr marL="12700" marR="5080"/>
            <a:r>
              <a:rPr lang="en-US" sz="1200" kern="0" spc="-80" dirty="0">
                <a:solidFill>
                  <a:schemeClr val="accent2"/>
                </a:solidFill>
              </a:rPr>
              <a:t>Key Architectural Components </a:t>
            </a:r>
          </a:p>
          <a:p>
            <a:pPr marL="12700" marR="5080"/>
            <a:r>
              <a:rPr lang="en-US" sz="1200" kern="0" spc="-80" dirty="0">
                <a:solidFill>
                  <a:schemeClr val="accent2"/>
                </a:solidFill>
              </a:rPr>
              <a:t>Presentation Layer (Developer Control Plane):</a:t>
            </a:r>
          </a:p>
          <a:p>
            <a:pPr marL="12700" marR="5080"/>
            <a:r>
              <a:rPr lang="en-US" sz="1200" kern="0" spc="-80" dirty="0">
                <a:solidFill>
                  <a:schemeClr val="accent6"/>
                </a:solidFill>
              </a:rPr>
              <a:t>This is the user-facing interface of the portal, providing a centralized hub for developers. </a:t>
            </a:r>
          </a:p>
          <a:p>
            <a:pPr marL="12700" marR="5080"/>
            <a:r>
              <a:rPr lang="en-US" sz="1200" kern="0" spc="-80" dirty="0">
                <a:solidFill>
                  <a:schemeClr val="accent2"/>
                </a:solidFill>
              </a:rPr>
              <a:t>Key components include:</a:t>
            </a:r>
          </a:p>
          <a:p>
            <a:pPr marL="12700" marR="5080"/>
            <a:r>
              <a:rPr lang="en-US" sz="1200" kern="0" spc="-80" dirty="0">
                <a:solidFill>
                  <a:schemeClr val="accent2"/>
                </a:solidFill>
              </a:rPr>
              <a:t>Software Catalog: </a:t>
            </a:r>
            <a:r>
              <a:rPr lang="en-US" sz="1200" kern="0" spc="-80" dirty="0">
                <a:solidFill>
                  <a:schemeClr val="accent6"/>
                </a:solidFill>
              </a:rPr>
              <a:t>A comprehensive inventory of services, APIs, libraries, and tools available within the organization.</a:t>
            </a:r>
          </a:p>
          <a:p>
            <a:pPr marL="12700" marR="5080"/>
            <a:r>
              <a:rPr lang="en-US" sz="1200" kern="0" spc="-80" dirty="0">
                <a:solidFill>
                  <a:schemeClr val="accent2"/>
                </a:solidFill>
              </a:rPr>
              <a:t>Self-Service Actions:</a:t>
            </a:r>
            <a:r>
              <a:rPr lang="en-US" sz="1200" kern="0" spc="-80" dirty="0">
                <a:solidFill>
                  <a:schemeClr val="accent6"/>
                </a:solidFill>
              </a:rPr>
              <a:t> Mechanisms for developers to autonomously perform tasks like provisioning environments, deploying applications, generating API keys, or creating new projects.</a:t>
            </a:r>
          </a:p>
          <a:p>
            <a:pPr marL="12700" marR="5080"/>
            <a:r>
              <a:rPr lang="en-US" sz="1200" kern="0" spc="-80" dirty="0">
                <a:solidFill>
                  <a:schemeClr val="accent2"/>
                </a:solidFill>
              </a:rPr>
              <a:t>Documentation &amp; Tutorials: </a:t>
            </a:r>
            <a:r>
              <a:rPr lang="en-US" sz="1200" kern="0" spc="-80" dirty="0">
                <a:solidFill>
                  <a:schemeClr val="accent6"/>
                </a:solidFill>
              </a:rPr>
              <a:t>Up-to-date and easily navigable documentation for all available resources, including API</a:t>
            </a:r>
          </a:p>
        </p:txBody>
      </p:sp>
    </p:spTree>
    <p:extLst>
      <p:ext uri="{BB962C8B-B14F-4D97-AF65-F5344CB8AC3E}">
        <p14:creationId xmlns:p14="http://schemas.microsoft.com/office/powerpoint/2010/main" val="130566676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9460-2BFB-C0A1-0F10-022DECAB99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C4473F-B920-8FFD-68E3-46D8E87CBF0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DCBDA3-4F38-72BD-AEB0-6A24F0B4C06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B1F04E-5E48-83C7-AE27-7F13BB3704E7}"/>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81CA06-2938-72A6-9991-2305C1F30BA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0D3155B-8ACF-B089-4A6F-C560349C4C7A}"/>
              </a:ext>
            </a:extLst>
          </p:cNvPr>
          <p:cNvSpPr txBox="1">
            <a:spLocks/>
          </p:cNvSpPr>
          <p:nvPr/>
        </p:nvSpPr>
        <p:spPr>
          <a:xfrm>
            <a:off x="220337" y="1287482"/>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6"/>
                </a:solidFill>
              </a:rPr>
              <a:t>references, usage guides, and best practices.</a:t>
            </a:r>
            <a:endParaRPr lang="en-US" sz="1200" kern="0" spc="-80" dirty="0">
              <a:solidFill>
                <a:schemeClr val="accent2"/>
              </a:solidFill>
            </a:endParaRPr>
          </a:p>
          <a:p>
            <a:pPr marL="12700" marR="5080"/>
            <a:r>
              <a:rPr lang="en-US" sz="1200" kern="0" spc="-80" dirty="0">
                <a:solidFill>
                  <a:schemeClr val="accent2"/>
                </a:solidFill>
              </a:rPr>
              <a:t>Dashboards &amp; Analytics:</a:t>
            </a:r>
            <a:r>
              <a:rPr lang="en-US" sz="1200" kern="0" spc="-80" dirty="0">
                <a:solidFill>
                  <a:schemeClr val="accent6"/>
                </a:solidFill>
              </a:rPr>
              <a:t> Personalized views of application performance, usage metrics, and resource consumption.</a:t>
            </a:r>
          </a:p>
          <a:p>
            <a:pPr marL="12700" marR="5080"/>
            <a:r>
              <a:rPr lang="en-US" sz="1200" kern="0" spc="-80" dirty="0">
                <a:solidFill>
                  <a:schemeClr val="accent2"/>
                </a:solidFill>
              </a:rPr>
              <a:t>Support &amp; Community Features: </a:t>
            </a:r>
            <a:r>
              <a:rPr lang="en-US" sz="1200" kern="0" spc="-80" dirty="0">
                <a:solidFill>
                  <a:schemeClr val="accent6"/>
                </a:solidFill>
              </a:rPr>
              <a:t>Channels for seeking assistance, collaborating with peers, and sharing knowledge.</a:t>
            </a:r>
          </a:p>
          <a:p>
            <a:pPr marL="12700" marR="5080"/>
            <a:r>
              <a:rPr lang="en-US" sz="1200" kern="0" spc="-80" dirty="0">
                <a:solidFill>
                  <a:schemeClr val="accent2"/>
                </a:solidFill>
              </a:rPr>
              <a:t>2. Integration &amp; Delivery Layer:</a:t>
            </a:r>
          </a:p>
          <a:p>
            <a:pPr marL="12700" marR="5080"/>
            <a:r>
              <a:rPr lang="en-US" sz="1200" kern="0" spc="-80" dirty="0">
                <a:solidFill>
                  <a:schemeClr val="accent6"/>
                </a:solidFill>
              </a:rPr>
              <a:t>This layer focuses on connecting the developer portal to the underlying infrastructure and facilitating the software delivery lifecycle.</a:t>
            </a:r>
          </a:p>
          <a:p>
            <a:pPr marL="12700" marR="5080"/>
            <a:r>
              <a:rPr lang="en-US" sz="1200" kern="0" spc="-80" dirty="0">
                <a:solidFill>
                  <a:schemeClr val="accent2"/>
                </a:solidFill>
              </a:rPr>
              <a:t> Components include:</a:t>
            </a:r>
          </a:p>
          <a:p>
            <a:pPr marL="12700" marR="5080"/>
            <a:r>
              <a:rPr lang="en-US" sz="1200" kern="0" spc="-80" dirty="0">
                <a:solidFill>
                  <a:schemeClr val="accent2"/>
                </a:solidFill>
              </a:rPr>
              <a:t>CI/CD Pipeline Integration: </a:t>
            </a:r>
            <a:r>
              <a:rPr lang="en-US" sz="1200" kern="0" spc="-80" dirty="0">
                <a:solidFill>
                  <a:schemeClr val="accent6"/>
                </a:solidFill>
              </a:rPr>
              <a:t>Seamless integration with existing continuous integration and continuous delivery pipelines for automated builds, testing, and deployments.</a:t>
            </a:r>
          </a:p>
          <a:p>
            <a:pPr marL="12700" marR="5080"/>
            <a:r>
              <a:rPr lang="en-US" sz="1200" kern="0" spc="-80" dirty="0">
                <a:solidFill>
                  <a:schemeClr val="accent2"/>
                </a:solidFill>
              </a:rPr>
              <a:t>Platform Orchestrator: </a:t>
            </a:r>
            <a:r>
              <a:rPr lang="en-US" sz="1200" kern="0" spc="-80" dirty="0">
                <a:solidFill>
                  <a:schemeClr val="accent6"/>
                </a:solidFill>
              </a:rPr>
              <a:t>A system responsible for managing and orchestrating infrastructure resources based on developer requests.</a:t>
            </a:r>
          </a:p>
          <a:p>
            <a:pPr marL="12700" marR="5080"/>
            <a:r>
              <a:rPr lang="en-US" sz="1200" kern="0" spc="-80" dirty="0">
                <a:solidFill>
                  <a:schemeClr val="accent2"/>
                </a:solidFill>
              </a:rPr>
              <a:t>Image Registry: </a:t>
            </a:r>
            <a:r>
              <a:rPr lang="en-US" sz="1200" kern="0" spc="-80" dirty="0">
                <a:solidFill>
                  <a:schemeClr val="accent6"/>
                </a:solidFill>
              </a:rPr>
              <a:t>A repository for storing and managing container images.</a:t>
            </a:r>
          </a:p>
          <a:p>
            <a:pPr marL="12700" marR="5080"/>
            <a:r>
              <a:rPr lang="en-US" sz="1200" kern="0" spc="-80" dirty="0">
                <a:solidFill>
                  <a:schemeClr val="accent2"/>
                </a:solidFill>
              </a:rPr>
              <a:t>3. Resource Layer:</a:t>
            </a:r>
          </a:p>
          <a:p>
            <a:pPr marL="12700" marR="5080"/>
            <a:r>
              <a:rPr lang="en-US" sz="1200" kern="0" spc="-80" dirty="0">
                <a:solidFill>
                  <a:schemeClr val="accent6"/>
                </a:solidFill>
              </a:rPr>
              <a:t>This layer represents the actual infrastructure and services that developers consume. Examples include:</a:t>
            </a:r>
          </a:p>
          <a:p>
            <a:pPr marL="12700" marR="5080"/>
            <a:r>
              <a:rPr lang="en-US" sz="1200" kern="0" spc="-80" dirty="0">
                <a:solidFill>
                  <a:schemeClr val="accent2"/>
                </a:solidFill>
              </a:rPr>
              <a:t>Compute Resources: </a:t>
            </a:r>
            <a:r>
              <a:rPr lang="en-US" sz="1200" kern="0" spc="-80" dirty="0">
                <a:solidFill>
                  <a:schemeClr val="accent6"/>
                </a:solidFill>
              </a:rPr>
              <a:t>Virtual machines, containers, serverless functions.</a:t>
            </a:r>
          </a:p>
          <a:p>
            <a:pPr marL="12700" marR="5080"/>
            <a:r>
              <a:rPr lang="en-US" sz="1200" kern="0" spc="-80" dirty="0">
                <a:solidFill>
                  <a:schemeClr val="accent2"/>
                </a:solidFill>
              </a:rPr>
              <a:t>Data Stores:</a:t>
            </a:r>
            <a:r>
              <a:rPr lang="en-US" sz="1200" kern="0" spc="-80" dirty="0">
                <a:solidFill>
                  <a:schemeClr val="accent6"/>
                </a:solidFill>
              </a:rPr>
              <a:t> Databases, object storage, caching systems.</a:t>
            </a:r>
          </a:p>
          <a:p>
            <a:pPr marL="12700" marR="5080"/>
            <a:r>
              <a:rPr lang="en-US" sz="1200" kern="0" spc="-80" dirty="0">
                <a:solidFill>
                  <a:schemeClr val="accent2"/>
                </a:solidFill>
              </a:rPr>
              <a:t>Networking Services: </a:t>
            </a:r>
            <a:r>
              <a:rPr lang="en-US" sz="1200" kern="0" spc="-80" dirty="0">
                <a:solidFill>
                  <a:schemeClr val="accent6"/>
                </a:solidFill>
              </a:rPr>
              <a:t>Load balancers, DNS, API gateways.</a:t>
            </a:r>
          </a:p>
          <a:p>
            <a:pPr marL="12700" marR="5080"/>
            <a:r>
              <a:rPr lang="en-US" sz="1200" kern="0" spc="-80" dirty="0">
                <a:solidFill>
                  <a:schemeClr val="accent2"/>
                </a:solidFill>
              </a:rPr>
              <a:t>4. Monitoring &amp; Logging Layer:</a:t>
            </a:r>
          </a:p>
          <a:p>
            <a:pPr marL="12700" marR="5080"/>
            <a:r>
              <a:rPr lang="en-US" sz="1200" kern="0" spc="-80" dirty="0">
                <a:solidFill>
                  <a:schemeClr val="accent6"/>
                </a:solidFill>
              </a:rPr>
              <a:t>This layer provides visibility into the health and performance of applications and infrastructure. </a:t>
            </a:r>
          </a:p>
          <a:p>
            <a:pPr marL="12700" marR="5080"/>
            <a:r>
              <a:rPr lang="en-US" sz="1200" kern="0" spc="-80" dirty="0">
                <a:solidFill>
                  <a:schemeClr val="accent2"/>
                </a:solidFill>
              </a:rPr>
              <a:t>Components include:</a:t>
            </a:r>
          </a:p>
          <a:p>
            <a:pPr marL="12700" marR="5080"/>
            <a:r>
              <a:rPr lang="en-US" sz="1200" kern="0" spc="-80" dirty="0">
                <a:solidFill>
                  <a:schemeClr val="accent2"/>
                </a:solidFill>
              </a:rPr>
              <a:t>Centralized Logging: </a:t>
            </a:r>
            <a:r>
              <a:rPr lang="en-US" sz="1200" kern="0" spc="-80" dirty="0">
                <a:solidFill>
                  <a:schemeClr val="accent6"/>
                </a:solidFill>
              </a:rPr>
              <a:t>Aggregation and analysis of logs from various sources.</a:t>
            </a:r>
          </a:p>
          <a:p>
            <a:pPr marL="12700" marR="5080"/>
            <a:r>
              <a:rPr lang="en-US" sz="1200" kern="0" spc="-80" dirty="0">
                <a:solidFill>
                  <a:schemeClr val="accent2"/>
                </a:solidFill>
              </a:rPr>
              <a:t>Monitoring Tools: </a:t>
            </a:r>
            <a:r>
              <a:rPr lang="en-US" sz="1200" kern="0" spc="-80" dirty="0">
                <a:solidFill>
                  <a:schemeClr val="accent6"/>
                </a:solidFill>
              </a:rPr>
              <a:t>Real-time metrics collection and alerting for application and infrastructure performance.</a:t>
            </a:r>
          </a:p>
          <a:p>
            <a:pPr marL="12700" marR="5080"/>
            <a:r>
              <a:rPr lang="en-US" sz="1200" kern="0" spc="-80" dirty="0">
                <a:solidFill>
                  <a:schemeClr val="accent2"/>
                </a:solidFill>
              </a:rPr>
              <a:t>5. Security Layer:</a:t>
            </a:r>
          </a:p>
          <a:p>
            <a:pPr marL="12700" marR="5080"/>
            <a:r>
              <a:rPr lang="en-US" sz="1200" kern="0" spc="-80" dirty="0">
                <a:solidFill>
                  <a:schemeClr val="accent6"/>
                </a:solidFill>
              </a:rPr>
              <a:t>This layer ensures the security of the portal and the resources it manages. </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276911640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AE1F-44FC-5EBA-B405-61F2D61EB1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1293D5-CD8D-0CA8-7C02-62F007614D2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9CD51E-51FA-DB1D-0924-8E021D91AF1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1AE6C76-7B6C-6096-CCC7-72951D3773AF}"/>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2650FD1-8ABB-4659-C74A-343EE7A8C616}"/>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E726995-57E9-7DC2-3973-C1AF7F6B2B7E}"/>
              </a:ext>
            </a:extLst>
          </p:cNvPr>
          <p:cNvSpPr txBox="1">
            <a:spLocks/>
          </p:cNvSpPr>
          <p:nvPr/>
        </p:nvSpPr>
        <p:spPr>
          <a:xfrm>
            <a:off x="67816" y="1263652"/>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Key aspects include:</a:t>
            </a:r>
          </a:p>
          <a:p>
            <a:pPr marL="12700" marR="5080"/>
            <a:r>
              <a:rPr lang="en-US" sz="1400" kern="0" spc="-80" dirty="0">
                <a:solidFill>
                  <a:schemeClr val="accent2"/>
                </a:solidFill>
              </a:rPr>
              <a:t>Identity and Access Management (IAM): </a:t>
            </a:r>
            <a:r>
              <a:rPr lang="en-US" sz="1400" kern="0" spc="-80" dirty="0">
                <a:solidFill>
                  <a:schemeClr val="accent6"/>
                </a:solidFill>
              </a:rPr>
              <a:t>Secure authentication and authorization for developers and resources.</a:t>
            </a:r>
          </a:p>
          <a:p>
            <a:pPr marL="12700" marR="5080"/>
            <a:r>
              <a:rPr lang="en-US" sz="1300" kern="0" spc="-80" dirty="0">
                <a:solidFill>
                  <a:schemeClr val="accent2"/>
                </a:solidFill>
              </a:rPr>
              <a:t>Secrets Management: </a:t>
            </a:r>
            <a:r>
              <a:rPr lang="en-US" sz="1300" kern="0" spc="-80" dirty="0">
                <a:solidFill>
                  <a:schemeClr val="accent6"/>
                </a:solidFill>
              </a:rPr>
              <a:t>Secure storage and retrieval of sensitive information like API keys and credentials.</a:t>
            </a:r>
          </a:p>
          <a:p>
            <a:pPr marL="12700" marR="5080"/>
            <a:r>
              <a:rPr lang="en-US" sz="1300" kern="0" spc="-80" dirty="0">
                <a:solidFill>
                  <a:schemeClr val="accent2"/>
                </a:solidFill>
              </a:rPr>
              <a:t>Compliance &amp; Governance:</a:t>
            </a:r>
            <a:r>
              <a:rPr lang="en-US" sz="1300" kern="0" spc="-80" dirty="0">
                <a:solidFill>
                  <a:schemeClr val="accent6"/>
                </a:solidFill>
              </a:rPr>
              <a:t> Mechanisms to enforce security policies and regulatory requirements.</a:t>
            </a:r>
          </a:p>
          <a:p>
            <a:pPr marL="12700" marR="5080"/>
            <a:endParaRPr lang="en-US" sz="1300" kern="0" spc="-80" dirty="0">
              <a:solidFill>
                <a:schemeClr val="accent6"/>
              </a:solidFill>
            </a:endParaRPr>
          </a:p>
          <a:p>
            <a:pPr marL="12700" marR="5080"/>
            <a:r>
              <a:rPr lang="en-US" sz="1300" kern="0" spc="-80" dirty="0">
                <a:solidFill>
                  <a:schemeClr val="accent2"/>
                </a:solidFill>
              </a:rPr>
              <a:t>Key Principles of a Dev Portal Reference Architecture:</a:t>
            </a:r>
          </a:p>
          <a:p>
            <a:pPr marL="12700" marR="5080"/>
            <a:r>
              <a:rPr lang="en-US" sz="1300" kern="0" spc="-80" dirty="0">
                <a:solidFill>
                  <a:schemeClr val="accent2"/>
                </a:solidFill>
              </a:rPr>
              <a:t>Developer Autonomy: </a:t>
            </a:r>
            <a:r>
              <a:rPr lang="en-US" sz="1300" kern="0" spc="-80" dirty="0">
                <a:solidFill>
                  <a:schemeClr val="accent6"/>
                </a:solidFill>
              </a:rPr>
              <a:t>Empowering developers with self-service capabilities to reduce friction and accelerate development.</a:t>
            </a:r>
          </a:p>
          <a:p>
            <a:pPr marL="12700" marR="5080"/>
            <a:r>
              <a:rPr lang="en-US" sz="1300" kern="0" spc="-80" dirty="0">
                <a:solidFill>
                  <a:schemeClr val="accent2"/>
                </a:solidFill>
              </a:rPr>
              <a:t>Consistency &amp; Standardization: </a:t>
            </a:r>
            <a:r>
              <a:rPr lang="en-US" sz="1300" kern="0" spc="-80" dirty="0">
                <a:solidFill>
                  <a:schemeClr val="accent6"/>
                </a:solidFill>
              </a:rPr>
              <a:t>Providing a unified experience and consistent workflows across different teams and projects.</a:t>
            </a:r>
          </a:p>
          <a:p>
            <a:pPr marL="12700" marR="5080"/>
            <a:r>
              <a:rPr lang="en-US" sz="1300" kern="0" spc="-80" dirty="0">
                <a:solidFill>
                  <a:schemeClr val="accent2"/>
                </a:solidFill>
              </a:rPr>
              <a:t>Observability: </a:t>
            </a:r>
            <a:r>
              <a:rPr lang="en-US" sz="1300" kern="0" spc="-80" dirty="0">
                <a:solidFill>
                  <a:schemeClr val="accent6"/>
                </a:solidFill>
              </a:rPr>
              <a:t>Offering comprehensive monitoring and logging to enable quick troubleshooting and performance optimization.</a:t>
            </a:r>
          </a:p>
          <a:p>
            <a:pPr marL="12700" marR="5080"/>
            <a:r>
              <a:rPr lang="en-US" sz="1300" kern="0" spc="-80" dirty="0">
                <a:solidFill>
                  <a:schemeClr val="accent2"/>
                </a:solidFill>
              </a:rPr>
              <a:t>Security by Design: </a:t>
            </a:r>
            <a:r>
              <a:rPr lang="en-US" sz="1300" kern="0" spc="-80" dirty="0">
                <a:solidFill>
                  <a:schemeClr val="accent6"/>
                </a:solidFill>
              </a:rPr>
              <a:t>Integrating security considerations throughout the architecture to protect sensitive data and resources.</a:t>
            </a:r>
          </a:p>
          <a:p>
            <a:pPr marL="12700" marR="5080"/>
            <a:r>
              <a:rPr lang="en-US" sz="1300" kern="0" spc="-80" dirty="0">
                <a:solidFill>
                  <a:schemeClr val="accent2"/>
                </a:solidFill>
              </a:rPr>
              <a:t>Extensibility &amp; Integrability: </a:t>
            </a:r>
            <a:r>
              <a:rPr lang="en-US" sz="1300" kern="0" spc="-80" dirty="0">
                <a:solidFill>
                  <a:schemeClr val="accent6"/>
                </a:solidFill>
              </a:rPr>
              <a:t>Designing the portal to easily integrate with existing tools and adapt to evolving needs.</a:t>
            </a:r>
          </a:p>
          <a:p>
            <a:pPr marL="12700" marR="5080"/>
            <a:endParaRPr lang="en-US" sz="1300" kern="0" spc="-80" dirty="0">
              <a:solidFill>
                <a:schemeClr val="accent6"/>
              </a:solidFill>
            </a:endParaRPr>
          </a:p>
          <a:p>
            <a:pPr marL="12700" marR="5080"/>
            <a:r>
              <a:rPr lang="en-US" sz="1300" kern="0" spc="-80" dirty="0">
                <a:solidFill>
                  <a:schemeClr val="accent2"/>
                </a:solidFill>
              </a:rPr>
              <a:t>N.B. -</a:t>
            </a:r>
            <a:r>
              <a:rPr lang="en-US" sz="1300" kern="0" spc="-80" dirty="0">
                <a:solidFill>
                  <a:schemeClr val="accent6"/>
                </a:solidFill>
              </a:rPr>
              <a:t> Ideally, Self Service based Dev Portal should be used for Alerts + Runbooks + (E2E module level) Observability and everything should be having Automated steps as much as possible(e.g. if possible, using Agentic AI to resolve multiple dependent APIs issues). And </a:t>
            </a:r>
            <a:r>
              <a:rPr lang="en-US" sz="1300" kern="0" spc="-80" dirty="0" err="1">
                <a:solidFill>
                  <a:schemeClr val="accent6"/>
                </a:solidFill>
              </a:rPr>
              <a:t>ofcourse</a:t>
            </a:r>
            <a:r>
              <a:rPr lang="en-US" sz="1300" kern="0" spc="-80" dirty="0">
                <a:solidFill>
                  <a:schemeClr val="accent6"/>
                </a:solidFill>
              </a:rPr>
              <a:t>, Dev Portal can be used for infra setup, </a:t>
            </a:r>
            <a:r>
              <a:rPr lang="en-US" sz="1300" kern="0" spc="-80" dirty="0" err="1">
                <a:solidFill>
                  <a:schemeClr val="accent6"/>
                </a:solidFill>
              </a:rPr>
              <a:t>DevSecOps</a:t>
            </a:r>
            <a:r>
              <a:rPr lang="en-US" sz="1300" kern="0" spc="-80" dirty="0">
                <a:solidFill>
                  <a:schemeClr val="accent6"/>
                </a:solidFill>
              </a:rPr>
              <a:t> and other stuffs as well. Also, (workflow based) API or other resources onboarding (&amp; corresponding life cycle management) can happen via the Dev Portal.</a:t>
            </a:r>
          </a:p>
        </p:txBody>
      </p:sp>
    </p:spTree>
    <p:extLst>
      <p:ext uri="{BB962C8B-B14F-4D97-AF65-F5344CB8AC3E}">
        <p14:creationId xmlns:p14="http://schemas.microsoft.com/office/powerpoint/2010/main" val="243281015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34C1E-880B-1ADA-77E1-F5F9E0D5C6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09798A-C40C-53B7-DC9B-EEEE019B7B6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66E46BB-023E-64ED-506E-602C0EE2530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36DCFC-85A6-D4EA-8D7F-7E6751A0EA06}"/>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81F866-7E87-7A38-05F9-5596C43D17F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DA9841E-B6C5-C22F-BB2F-9821FC1A1014}"/>
              </a:ext>
            </a:extLst>
          </p:cNvPr>
          <p:cNvSpPr txBox="1">
            <a:spLocks/>
          </p:cNvSpPr>
          <p:nvPr/>
        </p:nvSpPr>
        <p:spPr>
          <a:xfrm>
            <a:off x="67816" y="1263652"/>
            <a:ext cx="8624937" cy="21082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a:t>
            </a:r>
          </a:p>
          <a:p>
            <a:pPr marL="12700" marR="5080"/>
            <a:r>
              <a:rPr lang="en-IN" sz="1700" dirty="0">
                <a:hlinkClick r:id="rId7"/>
              </a:rPr>
              <a:t>Components of a developer portal | </a:t>
            </a:r>
            <a:r>
              <a:rPr lang="en-IN" sz="1700" dirty="0" err="1">
                <a:hlinkClick r:id="rId7"/>
              </a:rPr>
              <a:t>Pronovix</a:t>
            </a:r>
            <a:r>
              <a:rPr lang="en-US" sz="1700" kern="0" spc="-80" dirty="0">
                <a:solidFill>
                  <a:schemeClr val="accent2"/>
                </a:solidFill>
              </a:rPr>
              <a:t> </a:t>
            </a:r>
          </a:p>
          <a:p>
            <a:pPr marL="12700" marR="5080"/>
            <a:r>
              <a:rPr lang="en-US" sz="1800" dirty="0">
                <a:hlinkClick r:id="rId8"/>
              </a:rPr>
              <a:t>Backstage 101</a:t>
            </a:r>
            <a:endParaRPr lang="en-US" sz="1800" dirty="0"/>
          </a:p>
          <a:p>
            <a:pPr marL="12700" marR="5080"/>
            <a:r>
              <a:rPr lang="en-US" sz="1700" dirty="0">
                <a:hlinkClick r:id="rId9"/>
              </a:rPr>
              <a:t>Platform-Engineering-for-Architects</a:t>
            </a:r>
            <a:endParaRPr lang="en-US" sz="1700" dirty="0"/>
          </a:p>
          <a:p>
            <a:pPr marL="12700" marR="5080"/>
            <a:r>
              <a:rPr lang="en-US" sz="1700" dirty="0">
                <a:hlinkClick r:id="rId10"/>
              </a:rPr>
              <a:t>Platform-Engineer-s-Handbook</a:t>
            </a:r>
            <a:endParaRPr lang="en-US" sz="1700" dirty="0"/>
          </a:p>
          <a:p>
            <a:pPr marL="12700" marR="5080"/>
            <a:r>
              <a:rPr lang="en-IN" sz="1700" dirty="0">
                <a:hlinkClick r:id="rId11"/>
              </a:rPr>
              <a:t>Mastering Enterprise Platform Engineering</a:t>
            </a:r>
            <a:endParaRPr lang="en-IN" sz="1700" dirty="0"/>
          </a:p>
          <a:p>
            <a:pPr marL="12700" marR="5080"/>
            <a:r>
              <a:rPr lang="en-US" sz="1700" dirty="0">
                <a:hlinkClick r:id="rId12"/>
              </a:rPr>
              <a:t>The Platform Engineering Playbook</a:t>
            </a:r>
            <a:endParaRPr lang="en-US" sz="1700" dirty="0"/>
          </a:p>
          <a:p>
            <a:pPr marL="12700" marR="5080"/>
            <a:r>
              <a:rPr lang="en-US" sz="1700" dirty="0">
                <a:hlinkClick r:id="rId13"/>
              </a:rPr>
              <a:t>Platform Engineering on Kubernetes</a:t>
            </a:r>
            <a:endParaRPr lang="en-US" sz="1700" kern="0" spc="-80" dirty="0">
              <a:solidFill>
                <a:schemeClr val="accent2"/>
              </a:solidFill>
            </a:endParaRPr>
          </a:p>
        </p:txBody>
      </p:sp>
    </p:spTree>
    <p:extLst>
      <p:ext uri="{BB962C8B-B14F-4D97-AF65-F5344CB8AC3E}">
        <p14:creationId xmlns:p14="http://schemas.microsoft.com/office/powerpoint/2010/main" val="141566565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343B7-2654-B69B-4E28-CCBAA4862C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1BEC08-F049-2BB0-C023-7C41CD56DEF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815313-99B5-1360-2FED-3FCD9DA9F58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E47CC9-4840-93C7-FA4F-7C816A981CC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8043F79-74BD-3361-8DFF-51582E3B8BED}"/>
              </a:ext>
            </a:extLst>
          </p:cNvPr>
          <p:cNvSpPr txBox="1">
            <a:spLocks/>
          </p:cNvSpPr>
          <p:nvPr/>
        </p:nvSpPr>
        <p:spPr>
          <a:xfrm>
            <a:off x="228600" y="873204"/>
            <a:ext cx="8624937" cy="51475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High-Level Architecture Overview</a:t>
            </a:r>
          </a:p>
          <a:p>
            <a:pPr marL="12700" marR="5080"/>
            <a:r>
              <a:rPr lang="en-US" sz="1150" kern="0" spc="-80" dirty="0">
                <a:solidFill>
                  <a:schemeClr val="accent6"/>
                </a:solidFill>
              </a:rPr>
              <a:t>         ┌─────────────────────────────────────────┐</a:t>
            </a:r>
          </a:p>
          <a:p>
            <a:pPr marL="12700" marR="5080"/>
            <a:r>
              <a:rPr lang="en-US" sz="1150" kern="0" spc="-80" dirty="0">
                <a:solidFill>
                  <a:schemeClr val="accent6"/>
                </a:solidFill>
              </a:rPr>
              <a:t>         │          Document Producers              │</a:t>
            </a:r>
          </a:p>
          <a:p>
            <a:pPr marL="12700" marR="5080"/>
            <a:r>
              <a:rPr lang="en-US" sz="1150" kern="0" spc="-80" dirty="0">
                <a:solidFill>
                  <a:schemeClr val="accent6"/>
                </a:solidFill>
              </a:rPr>
              <a:t>         │ (Users, Scanners, Apps, APIs, E-mail)   │</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Document Ingestion</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                              │                              │</a:t>
            </a:r>
          </a:p>
          <a:p>
            <a:pPr marL="12700" marR="5080"/>
            <a:r>
              <a:rPr lang="en-US" sz="1150" kern="0" spc="-80" dirty="0">
                <a:solidFill>
                  <a:schemeClr val="accent6"/>
                </a:solidFill>
              </a:rPr>
              <a:t>OCR/AI Extraction           Validation Services           Metadata Annotation</a:t>
            </a:r>
          </a:p>
          <a:p>
            <a:pPr marL="12700" marR="5080"/>
            <a:r>
              <a:rPr lang="en-US" sz="1150" kern="0" spc="-80" dirty="0">
                <a:solidFill>
                  <a:schemeClr val="accent6"/>
                </a:solidFill>
              </a:rPr>
              <a:t>    │                              │                              │</a:t>
            </a:r>
          </a:p>
          <a:p>
            <a:pPr marL="12700" marR="5080"/>
            <a:r>
              <a:rPr lang="en-US" sz="1150" kern="0" spc="-80" dirty="0">
                <a:solidFill>
                  <a:schemeClr val="accent6"/>
                </a:solidFill>
              </a:rPr>
              <a:t>└───────────────┬──────────────┴─────────────┬────────────────┘</a:t>
            </a:r>
          </a:p>
          <a:p>
            <a:pPr marL="12700" marR="5080"/>
            <a:r>
              <a:rPr lang="en-US" sz="1150" kern="0" spc="-80" dirty="0">
                <a:solidFill>
                  <a:schemeClr val="accent6"/>
                </a:solidFill>
              </a:rPr>
              <a:t>                    ▼                            ▼</a:t>
            </a:r>
          </a:p>
          <a:p>
            <a:pPr marL="12700" marR="5080"/>
            <a:r>
              <a:rPr lang="en-US" sz="1150" kern="0" spc="-80" dirty="0">
                <a:solidFill>
                  <a:schemeClr val="accent6"/>
                </a:solidFill>
              </a:rPr>
              <a:t>               Workflow Engine (BPM / Orchestration)</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             │             │               │</a:t>
            </a:r>
          </a:p>
          <a:p>
            <a:pPr marL="12700" marR="5080"/>
            <a:r>
              <a:rPr lang="en-US" sz="1150" kern="0" spc="-80" dirty="0">
                <a:solidFill>
                  <a:schemeClr val="accent6"/>
                </a:solidFill>
              </a:rPr>
              <a:t> Human Tasks   System Tasks   Automation     External APIs</a:t>
            </a:r>
          </a:p>
          <a:p>
            <a:pPr marL="12700" marR="5080"/>
            <a:r>
              <a:rPr lang="en-US" sz="1150" kern="0" spc="-80" dirty="0">
                <a:solidFill>
                  <a:schemeClr val="accent6"/>
                </a:solidFill>
              </a:rPr>
              <a:t>(Review/Approve) (Routing)     (RPA/Bots)      (ERP/CRM)</a:t>
            </a:r>
          </a:p>
          <a:p>
            <a:pPr marL="12700" marR="5080"/>
            <a:r>
              <a:rPr lang="en-US" sz="1150" kern="0" spc="-80" dirty="0">
                <a:solidFill>
                  <a:schemeClr val="accent6"/>
                </a:solidFill>
              </a:rPr>
              <a:t>      │             │             │               │</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Document Repository / Archive / DMS</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Audit, Versioning, Security</a:t>
            </a:r>
          </a:p>
        </p:txBody>
      </p:sp>
    </p:spTree>
    <p:extLst>
      <p:ext uri="{BB962C8B-B14F-4D97-AF65-F5344CB8AC3E}">
        <p14:creationId xmlns:p14="http://schemas.microsoft.com/office/powerpoint/2010/main" val="160869088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66C0C-45EA-D97E-EFBA-B9E9CAD30D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48DDD3-5545-220A-24A7-B01EDDDA391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C84BEC-24CA-FC08-ADCB-46FB13B31A0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164617B-A53F-70B9-8DA8-865305330B2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BA96A1A-694E-1CE5-7685-ECF30173C037}"/>
              </a:ext>
            </a:extLst>
          </p:cNvPr>
          <p:cNvSpPr txBox="1">
            <a:spLocks/>
          </p:cNvSpPr>
          <p:nvPr/>
        </p:nvSpPr>
        <p:spPr>
          <a:xfrm>
            <a:off x="228600" y="873204"/>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A Document-Based Workflow Architecture is a system design pattern where documents (PDFs, forms, images, CAD/BIM files, contracts, invoices, etc.) act as the primary unit of work, driving processes through automated or human-centric workflow </a:t>
            </a:r>
            <a:r>
              <a:rPr lang="en-US" sz="1300" kern="0" spc="-80" dirty="0" err="1">
                <a:solidFill>
                  <a:schemeClr val="accent6"/>
                </a:solidFill>
              </a:rPr>
              <a:t>stages.It</a:t>
            </a:r>
            <a:r>
              <a:rPr lang="en-US" sz="1300" kern="0" spc="-80" dirty="0">
                <a:solidFill>
                  <a:schemeClr val="accent6"/>
                </a:solidFill>
              </a:rPr>
              <a:t> supports document ingestion, classification, enrichment, versioning, routing, approvals, storage, audit, and lifecycle management</a:t>
            </a:r>
            <a:r>
              <a:rPr lang="en-US" sz="1150" kern="0" spc="-80" dirty="0">
                <a:solidFill>
                  <a:schemeClr val="accent6"/>
                </a:solidFill>
              </a:rPr>
              <a:t>.               </a:t>
            </a:r>
          </a:p>
          <a:p>
            <a:pPr marL="12700" marR="5080"/>
            <a:endParaRPr lang="en-US" sz="1150" kern="0" spc="-80" dirty="0">
              <a:solidFill>
                <a:schemeClr val="accent2"/>
              </a:solidFill>
            </a:endParaRPr>
          </a:p>
          <a:p>
            <a:pPr marL="12700" marR="5080"/>
            <a:r>
              <a:rPr lang="en-US" sz="1150" kern="0" spc="-80" dirty="0">
                <a:solidFill>
                  <a:schemeClr val="accent2"/>
                </a:solidFill>
              </a:rPr>
              <a:t>Key Characteristics</a:t>
            </a:r>
          </a:p>
          <a:p>
            <a:pPr marL="12700" marR="5080"/>
            <a:r>
              <a:rPr lang="en-US" sz="1150" kern="0" spc="-80" dirty="0">
                <a:solidFill>
                  <a:schemeClr val="accent2"/>
                </a:solidFill>
              </a:rPr>
              <a:t>Feature	                                                                  Description</a:t>
            </a:r>
          </a:p>
          <a:p>
            <a:pPr marL="12700" marR="5080"/>
            <a:r>
              <a:rPr lang="en-US" sz="1300" kern="0" spc="-80" dirty="0">
                <a:solidFill>
                  <a:schemeClr val="accent6"/>
                </a:solidFill>
              </a:rPr>
              <a:t>Document is the Workflow Trigger	             A workflow begins when a document is created, uploaded, scanned, </a:t>
            </a:r>
          </a:p>
          <a:p>
            <a:pPr marL="12700" marR="5080"/>
            <a:r>
              <a:rPr lang="en-US" sz="1300" kern="0" spc="-80" dirty="0">
                <a:solidFill>
                  <a:schemeClr val="accent6"/>
                </a:solidFill>
              </a:rPr>
              <a:t>                                                                              or received via an  API/email/queue.</a:t>
            </a:r>
          </a:p>
          <a:p>
            <a:pPr marL="12700" marR="5080"/>
            <a:r>
              <a:rPr lang="en-US" sz="1300" kern="0" spc="-80" dirty="0">
                <a:solidFill>
                  <a:schemeClr val="accent6"/>
                </a:solidFill>
              </a:rPr>
              <a:t>Metadata Drives Flow	                                   Routed based on extracted metadata (</a:t>
            </a:r>
            <a:r>
              <a:rPr lang="en-US" sz="1300" kern="0" spc="-80" dirty="0" err="1">
                <a:solidFill>
                  <a:schemeClr val="accent6"/>
                </a:solidFill>
              </a:rPr>
              <a:t>customerID</a:t>
            </a:r>
            <a:r>
              <a:rPr lang="en-US" sz="1300" kern="0" spc="-80" dirty="0">
                <a:solidFill>
                  <a:schemeClr val="accent6"/>
                </a:solidFill>
              </a:rPr>
              <a:t>, invoice amount, </a:t>
            </a:r>
          </a:p>
          <a:p>
            <a:pPr marL="12700" marR="5080"/>
            <a:r>
              <a:rPr lang="en-US" sz="1300" kern="0" spc="-80" dirty="0">
                <a:solidFill>
                  <a:schemeClr val="accent6"/>
                </a:solidFill>
              </a:rPr>
              <a:t>                                                                              claim type).</a:t>
            </a:r>
          </a:p>
          <a:p>
            <a:pPr marL="12700" marR="5080"/>
            <a:r>
              <a:rPr lang="en-US" sz="1300" kern="0" spc="-80" dirty="0">
                <a:solidFill>
                  <a:schemeClr val="accent6"/>
                </a:solidFill>
              </a:rPr>
              <a:t>Human + Automation Mix	             Combines automation (OCR/AI) with human interventions (approvals,</a:t>
            </a:r>
          </a:p>
          <a:p>
            <a:pPr marL="12700" marR="5080"/>
            <a:r>
              <a:rPr lang="en-US" sz="1300" kern="0" spc="-80" dirty="0">
                <a:solidFill>
                  <a:schemeClr val="accent6"/>
                </a:solidFill>
              </a:rPr>
              <a:t>                                                                              edits, reviews).</a:t>
            </a:r>
          </a:p>
          <a:p>
            <a:pPr marL="12700" marR="5080"/>
            <a:r>
              <a:rPr lang="en-US" sz="1300" kern="0" spc="-80" dirty="0">
                <a:solidFill>
                  <a:schemeClr val="accent6"/>
                </a:solidFill>
              </a:rPr>
              <a:t>Stateful Processing	                                   Workflow system stores stage, history, timestamps, assignees.</a:t>
            </a:r>
          </a:p>
          <a:p>
            <a:pPr marL="12700" marR="5080"/>
            <a:r>
              <a:rPr lang="en-US" sz="1300" kern="0" spc="-80" dirty="0">
                <a:solidFill>
                  <a:schemeClr val="accent6"/>
                </a:solidFill>
              </a:rPr>
              <a:t>Integrates with DMS/ECM	             Works with SharePoint, Alfresco, OpenText, </a:t>
            </a:r>
            <a:r>
              <a:rPr lang="en-US" sz="1300" kern="0" spc="-80" dirty="0" err="1">
                <a:solidFill>
                  <a:schemeClr val="accent6"/>
                </a:solidFill>
              </a:rPr>
              <a:t>Filenet</a:t>
            </a:r>
            <a:r>
              <a:rPr lang="en-US" sz="1300" kern="0" spc="-80" dirty="0">
                <a:solidFill>
                  <a:schemeClr val="accent6"/>
                </a:solidFill>
              </a:rPr>
              <a:t>, S3, GCP Storage, etc.</a:t>
            </a:r>
          </a:p>
          <a:p>
            <a:pPr marL="12700" marR="5080"/>
            <a:endParaRPr lang="en-US" sz="1150" kern="0" spc="-80" dirty="0">
              <a:solidFill>
                <a:schemeClr val="accent2"/>
              </a:solidFill>
            </a:endParaRPr>
          </a:p>
          <a:p>
            <a:pPr marL="12700" marR="5080"/>
            <a:r>
              <a:rPr lang="en-US" sz="1300" kern="0" spc="-80" dirty="0">
                <a:solidFill>
                  <a:schemeClr val="accent2"/>
                </a:solidFill>
              </a:rPr>
              <a:t>Core Architecture Components</a:t>
            </a:r>
          </a:p>
          <a:p>
            <a:pPr marL="12700" marR="5080"/>
            <a:r>
              <a:rPr lang="en-US" sz="1300" kern="0" spc="-80" dirty="0">
                <a:solidFill>
                  <a:schemeClr val="accent2"/>
                </a:solidFill>
              </a:rPr>
              <a:t>1. Document Ingestion Layer</a:t>
            </a:r>
          </a:p>
          <a:p>
            <a:pPr marL="12700" marR="5080"/>
            <a:r>
              <a:rPr lang="en-US" sz="1300" kern="0" spc="-80" dirty="0">
                <a:solidFill>
                  <a:schemeClr val="accent2"/>
                </a:solidFill>
              </a:rPr>
              <a:t>Supports multiple input channels:</a:t>
            </a:r>
          </a:p>
          <a:p>
            <a:pPr marL="12700" marR="5080"/>
            <a:r>
              <a:rPr lang="en-US" sz="1300" kern="0" spc="-80" dirty="0">
                <a:solidFill>
                  <a:schemeClr val="accent6"/>
                </a:solidFill>
              </a:rPr>
              <a:t>File upload portals</a:t>
            </a:r>
          </a:p>
          <a:p>
            <a:pPr marL="12700" marR="5080"/>
            <a:r>
              <a:rPr lang="en-US" sz="1300" kern="0" spc="-80" dirty="0">
                <a:solidFill>
                  <a:schemeClr val="accent6"/>
                </a:solidFill>
              </a:rPr>
              <a:t>Email listeners</a:t>
            </a:r>
          </a:p>
          <a:p>
            <a:pPr marL="12700" marR="5080"/>
            <a:r>
              <a:rPr lang="en-US" sz="1300" kern="0" spc="-80" dirty="0">
                <a:solidFill>
                  <a:schemeClr val="accent6"/>
                </a:solidFill>
              </a:rPr>
              <a:t>API endpoints</a:t>
            </a:r>
          </a:p>
          <a:p>
            <a:pPr marL="12700" marR="5080"/>
            <a:r>
              <a:rPr lang="en-US" sz="1300" kern="0" spc="-80" dirty="0">
                <a:solidFill>
                  <a:schemeClr val="accent6"/>
                </a:solidFill>
              </a:rPr>
              <a:t>SFTP ingestion</a:t>
            </a:r>
          </a:p>
        </p:txBody>
      </p:sp>
    </p:spTree>
    <p:extLst>
      <p:ext uri="{BB962C8B-B14F-4D97-AF65-F5344CB8AC3E}">
        <p14:creationId xmlns:p14="http://schemas.microsoft.com/office/powerpoint/2010/main" val="152324270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AA17-FDAB-2834-A3BE-EE518DC737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190455-774C-0A42-BECF-A0096EA6909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0F702B-7B47-92E5-F0EB-2E3A38B06EA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FBAE6AD-E5A6-D607-A496-E8D26ACE566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331D693-4CDE-A2A6-D9CF-82EB828A486B}"/>
              </a:ext>
            </a:extLst>
          </p:cNvPr>
          <p:cNvSpPr txBox="1">
            <a:spLocks/>
          </p:cNvSpPr>
          <p:nvPr/>
        </p:nvSpPr>
        <p:spPr>
          <a:xfrm>
            <a:off x="259531" y="866457"/>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Temporal</a:t>
            </a:r>
          </a:p>
          <a:p>
            <a:pPr marL="12700" marR="5080"/>
            <a:r>
              <a:rPr lang="en-US" sz="1300" kern="0" spc="-80" dirty="0">
                <a:solidFill>
                  <a:schemeClr val="accent6"/>
                </a:solidFill>
              </a:rPr>
              <a:t>Apache Airflow (for system workflows)</a:t>
            </a:r>
          </a:p>
          <a:p>
            <a:pPr marL="12700" marR="5080"/>
            <a:r>
              <a:rPr lang="en-US" sz="1300" kern="0" spc="-80" dirty="0">
                <a:solidFill>
                  <a:schemeClr val="accent6"/>
                </a:solidFill>
              </a:rPr>
              <a:t>Power Automate</a:t>
            </a:r>
          </a:p>
          <a:p>
            <a:pPr marL="12700" marR="5080"/>
            <a:r>
              <a:rPr lang="en-US" sz="1300" kern="0" spc="-80" dirty="0">
                <a:solidFill>
                  <a:schemeClr val="accent6"/>
                </a:solidFill>
              </a:rPr>
              <a:t>Azure Logic Apps</a:t>
            </a:r>
          </a:p>
          <a:p>
            <a:pPr marL="12700" marR="5080"/>
            <a:r>
              <a:rPr lang="en-US" sz="1300" kern="0" spc="-80" dirty="0">
                <a:solidFill>
                  <a:schemeClr val="accent6"/>
                </a:solidFill>
              </a:rPr>
              <a:t>n8n</a:t>
            </a:r>
          </a:p>
          <a:p>
            <a:pPr marL="12700" marR="5080"/>
            <a:r>
              <a:rPr lang="en-US" sz="1300" kern="0" spc="-80" dirty="0">
                <a:solidFill>
                  <a:schemeClr val="accent6"/>
                </a:solidFill>
              </a:rPr>
              <a:t>JBPM</a:t>
            </a:r>
          </a:p>
          <a:p>
            <a:pPr marL="12700" marR="5080"/>
            <a:r>
              <a:rPr lang="en-US" sz="1300" kern="0" spc="-80" dirty="0">
                <a:solidFill>
                  <a:schemeClr val="accent6"/>
                </a:solidFill>
              </a:rPr>
              <a:t>Message queues (Azure Service Bus, Kafka, AWS SQS)</a:t>
            </a:r>
          </a:p>
          <a:p>
            <a:pPr marL="12700" marR="5080"/>
            <a:r>
              <a:rPr lang="en-US" sz="1300" kern="0" spc="-80" dirty="0">
                <a:solidFill>
                  <a:schemeClr val="accent6"/>
                </a:solidFill>
              </a:rPr>
              <a:t>Scanners with OCR</a:t>
            </a:r>
          </a:p>
          <a:p>
            <a:pPr marL="12700" marR="5080"/>
            <a:r>
              <a:rPr lang="en-US" sz="1300" kern="0" spc="-80" dirty="0">
                <a:solidFill>
                  <a:schemeClr val="accent6"/>
                </a:solidFill>
              </a:rPr>
              <a:t>Tech: NGINX, API Gateway, Kofax, </a:t>
            </a:r>
            <a:r>
              <a:rPr lang="en-US" sz="1300" kern="0" spc="-80" dirty="0" err="1">
                <a:solidFill>
                  <a:schemeClr val="accent6"/>
                </a:solidFill>
              </a:rPr>
              <a:t>Abbyy</a:t>
            </a:r>
            <a:r>
              <a:rPr lang="en-US" sz="1300" kern="0" spc="-80" dirty="0">
                <a:solidFill>
                  <a:schemeClr val="accent6"/>
                </a:solidFill>
              </a:rPr>
              <a:t>, Azure Form Recognizer, Tesseract.</a:t>
            </a:r>
          </a:p>
          <a:p>
            <a:pPr marL="12700" marR="5080"/>
            <a:endParaRPr lang="en-US" sz="1300" kern="0" spc="-80" dirty="0">
              <a:solidFill>
                <a:schemeClr val="accent6"/>
              </a:solidFill>
            </a:endParaRPr>
          </a:p>
          <a:p>
            <a:pPr marL="12700" marR="5080"/>
            <a:r>
              <a:rPr lang="en-US" sz="1300" kern="0" spc="-80" dirty="0">
                <a:solidFill>
                  <a:schemeClr val="accent2"/>
                </a:solidFill>
              </a:rPr>
              <a:t>2. Document Recognition &amp; Understanding</a:t>
            </a:r>
          </a:p>
          <a:p>
            <a:pPr marL="12700" marR="5080"/>
            <a:r>
              <a:rPr lang="en-US" sz="1300" kern="0" spc="-80" dirty="0">
                <a:solidFill>
                  <a:schemeClr val="accent6"/>
                </a:solidFill>
              </a:rPr>
              <a:t>AI/ML models convert unstructured content into structured metadata.</a:t>
            </a:r>
          </a:p>
          <a:p>
            <a:pPr marL="12700" marR="5080"/>
            <a:r>
              <a:rPr lang="en-US" sz="1300" kern="0" spc="-80" dirty="0">
                <a:solidFill>
                  <a:schemeClr val="accent2"/>
                </a:solidFill>
              </a:rPr>
              <a:t>Techniques:</a:t>
            </a:r>
          </a:p>
          <a:p>
            <a:pPr marL="12700" marR="5080"/>
            <a:r>
              <a:rPr lang="en-US" sz="1300" kern="0" spc="-80" dirty="0">
                <a:solidFill>
                  <a:schemeClr val="accent6"/>
                </a:solidFill>
              </a:rPr>
              <a:t>OCR/ICR (Handwriting recognition)</a:t>
            </a:r>
          </a:p>
          <a:p>
            <a:pPr marL="12700" marR="5080"/>
            <a:r>
              <a:rPr lang="en-US" sz="1300" kern="0" spc="-80" dirty="0">
                <a:solidFill>
                  <a:schemeClr val="accent6"/>
                </a:solidFill>
              </a:rPr>
              <a:t>Document classification (CNN, Transformers)</a:t>
            </a:r>
          </a:p>
          <a:p>
            <a:pPr marL="12700" marR="5080"/>
            <a:r>
              <a:rPr lang="en-US" sz="1300" kern="0" spc="-80" dirty="0">
                <a:solidFill>
                  <a:schemeClr val="accent6"/>
                </a:solidFill>
              </a:rPr>
              <a:t>Key-value extraction (</a:t>
            </a:r>
            <a:r>
              <a:rPr lang="en-US" sz="1300" kern="0" spc="-80" dirty="0" err="1">
                <a:solidFill>
                  <a:schemeClr val="accent6"/>
                </a:solidFill>
              </a:rPr>
              <a:t>LayoutLM</a:t>
            </a:r>
            <a:r>
              <a:rPr lang="en-US" sz="1300" kern="0" spc="-80" dirty="0">
                <a:solidFill>
                  <a:schemeClr val="accent6"/>
                </a:solidFill>
              </a:rPr>
              <a:t>, Donut)</a:t>
            </a:r>
          </a:p>
          <a:p>
            <a:pPr marL="12700" marR="5080"/>
            <a:r>
              <a:rPr lang="en-US" sz="1300" kern="0" spc="-80" dirty="0">
                <a:solidFill>
                  <a:schemeClr val="accent6"/>
                </a:solidFill>
              </a:rPr>
              <a:t>Signature detection</a:t>
            </a:r>
          </a:p>
          <a:p>
            <a:pPr marL="12700" marR="5080"/>
            <a:r>
              <a:rPr lang="en-US" sz="1300" kern="0" spc="-80" dirty="0">
                <a:solidFill>
                  <a:schemeClr val="accent6"/>
                </a:solidFill>
              </a:rPr>
              <a:t>Barcode reading</a:t>
            </a:r>
          </a:p>
          <a:p>
            <a:pPr marL="12700" marR="5080"/>
            <a:endParaRPr lang="en-US" sz="1300" kern="0" spc="-80" dirty="0">
              <a:solidFill>
                <a:schemeClr val="accent6"/>
              </a:solidFill>
            </a:endParaRPr>
          </a:p>
          <a:p>
            <a:pPr marL="12700" marR="5080"/>
            <a:r>
              <a:rPr lang="en-US" sz="1300" kern="0" spc="-80" dirty="0">
                <a:solidFill>
                  <a:schemeClr val="accent2"/>
                </a:solidFill>
              </a:rPr>
              <a:t>3. Metadata Enrichment</a:t>
            </a:r>
          </a:p>
          <a:p>
            <a:pPr marL="12700" marR="5080"/>
            <a:r>
              <a:rPr lang="en-US" sz="1300" kern="0" spc="-80" dirty="0">
                <a:solidFill>
                  <a:schemeClr val="accent6"/>
                </a:solidFill>
              </a:rPr>
              <a:t>Extracted metadata is validated and mapped into workflow fields.</a:t>
            </a:r>
          </a:p>
          <a:p>
            <a:pPr marL="12700" marR="5080"/>
            <a:r>
              <a:rPr lang="en-US" sz="1300" kern="0" spc="-80" dirty="0">
                <a:solidFill>
                  <a:schemeClr val="accent2"/>
                </a:solidFill>
              </a:rPr>
              <a:t>Example:</a:t>
            </a:r>
          </a:p>
          <a:p>
            <a:pPr marL="12700" marR="5080"/>
            <a:r>
              <a:rPr lang="en-US" sz="1300" kern="0" spc="-80" dirty="0">
                <a:solidFill>
                  <a:schemeClr val="accent6"/>
                </a:solidFill>
              </a:rPr>
              <a:t>“Invoice Total = ₹2,45,000 → Requires Finance Director Approval”.</a:t>
            </a:r>
          </a:p>
          <a:p>
            <a:pPr marL="12700" marR="5080"/>
            <a:r>
              <a:rPr lang="en-US" sz="1300" kern="0" spc="-80" dirty="0">
                <a:solidFill>
                  <a:schemeClr val="accent6"/>
                </a:solidFill>
              </a:rPr>
              <a:t>“Claim Category = Health → Route to Health Claims Team”.</a:t>
            </a:r>
          </a:p>
        </p:txBody>
      </p:sp>
    </p:spTree>
    <p:extLst>
      <p:ext uri="{BB962C8B-B14F-4D97-AF65-F5344CB8AC3E}">
        <p14:creationId xmlns:p14="http://schemas.microsoft.com/office/powerpoint/2010/main" val="340477378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72ED-63F2-11A1-0976-DA2AEF31209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5EF6D2-6092-62F7-ED9D-AD0DA31F7F7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486594F-CC46-DDE9-3F5D-1FB49826A2F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8C2ACF-EBF4-47C1-2F0B-231E730D0BB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608348-637D-38A6-6FDA-F03DFB2460C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4. Workflow Orchestration Layer</a:t>
            </a:r>
          </a:p>
          <a:p>
            <a:pPr marL="12700" marR="5080"/>
            <a:r>
              <a:rPr lang="en-US" sz="1300" kern="0" spc="-80" dirty="0">
                <a:solidFill>
                  <a:schemeClr val="accent6"/>
                </a:solidFill>
              </a:rPr>
              <a:t>The engine that drives the process.</a:t>
            </a:r>
          </a:p>
          <a:p>
            <a:pPr marL="12700" marR="5080"/>
            <a:r>
              <a:rPr lang="en-US" sz="1300" kern="0" spc="-80" dirty="0">
                <a:solidFill>
                  <a:schemeClr val="accent2"/>
                </a:solidFill>
              </a:rPr>
              <a:t>Common Workflow Engines:</a:t>
            </a:r>
          </a:p>
          <a:p>
            <a:pPr marL="12700" marR="5080"/>
            <a:r>
              <a:rPr lang="en-US" sz="1300" kern="0" spc="-80" dirty="0">
                <a:solidFill>
                  <a:schemeClr val="accent6"/>
                </a:solidFill>
              </a:rPr>
              <a:t>Camunda / </a:t>
            </a:r>
            <a:r>
              <a:rPr lang="en-US" sz="1300" kern="0" spc="-80" dirty="0" err="1">
                <a:solidFill>
                  <a:schemeClr val="accent6"/>
                </a:solidFill>
              </a:rPr>
              <a:t>Zeebe</a:t>
            </a:r>
            <a:endParaRPr lang="en-US" sz="1300" kern="0" spc="-80" dirty="0">
              <a:solidFill>
                <a:schemeClr val="accent6"/>
              </a:solidFill>
            </a:endParaRPr>
          </a:p>
          <a:p>
            <a:pPr marL="12700" marR="5080"/>
            <a:r>
              <a:rPr lang="en-US" sz="1300" kern="0" spc="-80" dirty="0">
                <a:solidFill>
                  <a:schemeClr val="accent6"/>
                </a:solidFill>
              </a:rPr>
              <a:t>Netflix Conductor</a:t>
            </a:r>
          </a:p>
          <a:p>
            <a:pPr marL="12700" marR="5080"/>
            <a:r>
              <a:rPr lang="en-US" sz="1300" kern="0" spc="-80" dirty="0">
                <a:solidFill>
                  <a:schemeClr val="accent6"/>
                </a:solidFill>
              </a:rPr>
              <a:t>Features:</a:t>
            </a:r>
          </a:p>
          <a:p>
            <a:pPr marL="12700" marR="5080"/>
            <a:r>
              <a:rPr lang="en-US" sz="1300" kern="0" spc="-80" dirty="0">
                <a:solidFill>
                  <a:schemeClr val="accent6"/>
                </a:solidFill>
              </a:rPr>
              <a:t>BPMN-based workflows</a:t>
            </a:r>
          </a:p>
          <a:p>
            <a:pPr marL="12700" marR="5080"/>
            <a:r>
              <a:rPr lang="en-US" sz="1300" kern="0" spc="-80" dirty="0">
                <a:solidFill>
                  <a:schemeClr val="accent6"/>
                </a:solidFill>
              </a:rPr>
              <a:t>Human tasks</a:t>
            </a:r>
          </a:p>
          <a:p>
            <a:pPr marL="12700" marR="5080"/>
            <a:r>
              <a:rPr lang="en-US" sz="1300" kern="0" spc="-80" dirty="0">
                <a:solidFill>
                  <a:schemeClr val="accent6"/>
                </a:solidFill>
              </a:rPr>
              <a:t>SLAs &amp; escalations</a:t>
            </a:r>
          </a:p>
          <a:p>
            <a:pPr marL="12700" marR="5080"/>
            <a:r>
              <a:rPr lang="en-US" sz="1300" kern="0" spc="-80" dirty="0">
                <a:solidFill>
                  <a:schemeClr val="accent6"/>
                </a:solidFill>
              </a:rPr>
              <a:t>Conditional branching</a:t>
            </a:r>
          </a:p>
          <a:p>
            <a:pPr marL="12700" marR="5080"/>
            <a:r>
              <a:rPr lang="en-US" sz="1300" kern="0" spc="-80" dirty="0">
                <a:solidFill>
                  <a:schemeClr val="accent6"/>
                </a:solidFill>
              </a:rPr>
              <a:t>Audit trails</a:t>
            </a:r>
          </a:p>
          <a:p>
            <a:pPr marL="12700" marR="5080"/>
            <a:endParaRPr lang="en-US" sz="1300" kern="0" spc="-80" dirty="0">
              <a:solidFill>
                <a:schemeClr val="accent6"/>
              </a:solidFill>
            </a:endParaRPr>
          </a:p>
          <a:p>
            <a:pPr marL="12700" marR="5080"/>
            <a:r>
              <a:rPr lang="en-US" sz="1300" kern="0" spc="-80" dirty="0">
                <a:solidFill>
                  <a:schemeClr val="accent2"/>
                </a:solidFill>
              </a:rPr>
              <a:t>5. Human Task Management</a:t>
            </a:r>
          </a:p>
          <a:p>
            <a:pPr marL="12700" marR="5080"/>
            <a:r>
              <a:rPr lang="en-US" sz="1300" kern="0" spc="-80" dirty="0">
                <a:solidFill>
                  <a:schemeClr val="accent2"/>
                </a:solidFill>
              </a:rPr>
              <a:t>Document workflows often require human steps:</a:t>
            </a:r>
          </a:p>
          <a:p>
            <a:pPr marL="12700" marR="5080"/>
            <a:r>
              <a:rPr lang="en-US" sz="1300" kern="0" spc="-80" dirty="0">
                <a:solidFill>
                  <a:schemeClr val="accent6"/>
                </a:solidFill>
              </a:rPr>
              <a:t>Approve/Reject</a:t>
            </a:r>
          </a:p>
          <a:p>
            <a:pPr marL="12700" marR="5080"/>
            <a:r>
              <a:rPr lang="en-US" sz="1300" kern="0" spc="-80" dirty="0">
                <a:solidFill>
                  <a:schemeClr val="accent6"/>
                </a:solidFill>
              </a:rPr>
              <a:t>Edit metadata</a:t>
            </a:r>
          </a:p>
          <a:p>
            <a:pPr marL="12700" marR="5080"/>
            <a:r>
              <a:rPr lang="en-US" sz="1300" kern="0" spc="-80" dirty="0">
                <a:solidFill>
                  <a:schemeClr val="accent6"/>
                </a:solidFill>
              </a:rPr>
              <a:t>Annotate documents</a:t>
            </a:r>
          </a:p>
          <a:p>
            <a:pPr marL="12700" marR="5080"/>
            <a:r>
              <a:rPr lang="en-US" sz="1300" kern="0" spc="-80" dirty="0">
                <a:solidFill>
                  <a:schemeClr val="accent6"/>
                </a:solidFill>
              </a:rPr>
              <a:t>Assign tasks across roles</a:t>
            </a:r>
          </a:p>
          <a:p>
            <a:pPr marL="12700" marR="5080"/>
            <a:r>
              <a:rPr lang="en-US" sz="1300" kern="0" spc="-80" dirty="0">
                <a:solidFill>
                  <a:schemeClr val="accent6"/>
                </a:solidFill>
              </a:rPr>
              <a:t>Tech: Camunda </a:t>
            </a:r>
            <a:r>
              <a:rPr lang="en-US" sz="1300" kern="0" spc="-80" dirty="0" err="1">
                <a:solidFill>
                  <a:schemeClr val="accent6"/>
                </a:solidFill>
              </a:rPr>
              <a:t>Tasklist</a:t>
            </a:r>
            <a:r>
              <a:rPr lang="en-US" sz="1300" kern="0" spc="-80" dirty="0">
                <a:solidFill>
                  <a:schemeClr val="accent6"/>
                </a:solidFill>
              </a:rPr>
              <a:t>, Activiti UI, custom Angular/React applications.</a:t>
            </a:r>
          </a:p>
          <a:p>
            <a:pPr marL="12700" marR="5080"/>
            <a:endParaRPr lang="en-US" sz="1300" kern="0" spc="-80" dirty="0">
              <a:solidFill>
                <a:schemeClr val="accent6"/>
              </a:solidFill>
            </a:endParaRPr>
          </a:p>
          <a:p>
            <a:pPr marL="12700" marR="5080"/>
            <a:r>
              <a:rPr lang="en-US" sz="1300" kern="0" spc="-80" dirty="0">
                <a:solidFill>
                  <a:schemeClr val="accent2"/>
                </a:solidFill>
              </a:rPr>
              <a:t>6. Document Repository Layer</a:t>
            </a:r>
          </a:p>
          <a:p>
            <a:pPr marL="12700" marR="5080"/>
            <a:r>
              <a:rPr lang="en-US" sz="1300" kern="0" spc="-80" dirty="0">
                <a:solidFill>
                  <a:schemeClr val="accent6"/>
                </a:solidFill>
              </a:rPr>
              <a:t>Stores documents, versions, and metadata.</a:t>
            </a:r>
          </a:p>
          <a:p>
            <a:pPr marL="12700" marR="5080"/>
            <a:r>
              <a:rPr lang="en-US" sz="1300" kern="0" spc="-80" dirty="0">
                <a:solidFill>
                  <a:schemeClr val="accent6"/>
                </a:solidFill>
              </a:rPr>
              <a:t>Common DMS/Storage:</a:t>
            </a:r>
          </a:p>
          <a:p>
            <a:pPr marL="12700" marR="5080"/>
            <a:r>
              <a:rPr lang="en-US" sz="1300" kern="0" spc="-80" dirty="0">
                <a:solidFill>
                  <a:schemeClr val="accent6"/>
                </a:solidFill>
              </a:rPr>
              <a:t>SharePoint</a:t>
            </a:r>
          </a:p>
        </p:txBody>
      </p:sp>
    </p:spTree>
    <p:extLst>
      <p:ext uri="{BB962C8B-B14F-4D97-AF65-F5344CB8AC3E}">
        <p14:creationId xmlns:p14="http://schemas.microsoft.com/office/powerpoint/2010/main" val="228964169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FA96-BAE3-1C26-074E-E93D3C9786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99A6DE-F87E-EBC1-5211-F46A5CC2FC0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2C21F8-8F72-A6DB-3C70-258073E4F78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8AA6FD6-FC47-775D-1256-E662452595A1}"/>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CDB202D-EE48-C58E-672B-7D91772B4E8F}"/>
              </a:ext>
            </a:extLst>
          </p:cNvPr>
          <p:cNvSpPr txBox="1">
            <a:spLocks/>
          </p:cNvSpPr>
          <p:nvPr/>
        </p:nvSpPr>
        <p:spPr>
          <a:xfrm>
            <a:off x="228600" y="873204"/>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Alfresco</a:t>
            </a:r>
          </a:p>
          <a:p>
            <a:pPr marL="12700" marR="5080"/>
            <a:r>
              <a:rPr lang="en-US" sz="1300" kern="0" spc="-80" dirty="0">
                <a:solidFill>
                  <a:schemeClr val="accent6"/>
                </a:solidFill>
              </a:rPr>
              <a:t>OpenText</a:t>
            </a:r>
          </a:p>
          <a:p>
            <a:pPr marL="12700" marR="5080"/>
            <a:r>
              <a:rPr lang="en-US" sz="1300" kern="0" spc="-80" dirty="0">
                <a:solidFill>
                  <a:schemeClr val="accent6"/>
                </a:solidFill>
              </a:rPr>
              <a:t>FileNet</a:t>
            </a:r>
          </a:p>
          <a:p>
            <a:pPr marL="12700" marR="5080"/>
            <a:r>
              <a:rPr lang="en-US" sz="1300" kern="0" spc="-80" dirty="0">
                <a:solidFill>
                  <a:schemeClr val="accent6"/>
                </a:solidFill>
              </a:rPr>
              <a:t>S3/GCS / Azure Blob</a:t>
            </a:r>
          </a:p>
          <a:p>
            <a:pPr marL="12700" marR="5080"/>
            <a:r>
              <a:rPr lang="en-US" sz="1300" kern="0" spc="-80" dirty="0">
                <a:solidFill>
                  <a:schemeClr val="accent6"/>
                </a:solidFill>
              </a:rPr>
              <a:t>MongoDB/</a:t>
            </a:r>
            <a:r>
              <a:rPr lang="en-US" sz="1300" kern="0" spc="-80" dirty="0" err="1">
                <a:solidFill>
                  <a:schemeClr val="accent6"/>
                </a:solidFill>
              </a:rPr>
              <a:t>GridFS</a:t>
            </a:r>
            <a:r>
              <a:rPr lang="en-US" sz="1300" kern="0" spc="-80" dirty="0">
                <a:solidFill>
                  <a:schemeClr val="accent6"/>
                </a:solidFill>
              </a:rPr>
              <a:t> (for binary data)</a:t>
            </a:r>
          </a:p>
          <a:p>
            <a:pPr marL="12700" marR="5080"/>
            <a:r>
              <a:rPr lang="en-US" sz="1300" kern="0" spc="-80" dirty="0">
                <a:solidFill>
                  <a:schemeClr val="accent2"/>
                </a:solidFill>
              </a:rPr>
              <a:t>Supports:</a:t>
            </a:r>
          </a:p>
          <a:p>
            <a:pPr marL="12700" marR="5080"/>
            <a:r>
              <a:rPr lang="en-US" sz="1300" kern="0" spc="-80" dirty="0">
                <a:solidFill>
                  <a:schemeClr val="accent6"/>
                </a:solidFill>
              </a:rPr>
              <a:t>Versioning</a:t>
            </a:r>
          </a:p>
          <a:p>
            <a:pPr marL="12700" marR="5080"/>
            <a:endParaRPr lang="en-US" sz="1300" kern="0" spc="-80" dirty="0">
              <a:solidFill>
                <a:schemeClr val="accent6"/>
              </a:solidFill>
            </a:endParaRPr>
          </a:p>
          <a:p>
            <a:pPr marL="12700" marR="5080"/>
            <a:r>
              <a:rPr lang="en-US" sz="1300" kern="0" spc="-80" dirty="0">
                <a:solidFill>
                  <a:schemeClr val="accent2"/>
                </a:solidFill>
              </a:rPr>
              <a:t>7. Integration Layer</a:t>
            </a:r>
          </a:p>
          <a:p>
            <a:pPr marL="12700" marR="5080"/>
            <a:r>
              <a:rPr lang="en-US" sz="1300" kern="0" spc="-80" dirty="0">
                <a:solidFill>
                  <a:schemeClr val="accent6"/>
                </a:solidFill>
              </a:rPr>
              <a:t>Document workflows must interact with enterprise apps:</a:t>
            </a:r>
          </a:p>
          <a:p>
            <a:pPr marL="12700" marR="5080"/>
            <a:r>
              <a:rPr lang="en-US" sz="1300" kern="0" spc="-80" dirty="0">
                <a:solidFill>
                  <a:schemeClr val="accent6"/>
                </a:solidFill>
              </a:rPr>
              <a:t>ERP (SAP, Oracle)</a:t>
            </a:r>
          </a:p>
          <a:p>
            <a:pPr marL="12700" marR="5080"/>
            <a:r>
              <a:rPr lang="en-US" sz="1300" kern="0" spc="-80" dirty="0">
                <a:solidFill>
                  <a:schemeClr val="accent6"/>
                </a:solidFill>
              </a:rPr>
              <a:t>CRM (Salesforce, Dynamics)</a:t>
            </a:r>
          </a:p>
          <a:p>
            <a:pPr marL="12700" marR="5080"/>
            <a:r>
              <a:rPr lang="en-US" sz="1300" kern="0" spc="-80" dirty="0">
                <a:solidFill>
                  <a:schemeClr val="accent6"/>
                </a:solidFill>
              </a:rPr>
              <a:t>Billing systems</a:t>
            </a:r>
          </a:p>
          <a:p>
            <a:pPr marL="12700" marR="5080"/>
            <a:r>
              <a:rPr lang="en-US" sz="1300" kern="0" spc="-80" dirty="0">
                <a:solidFill>
                  <a:schemeClr val="accent6"/>
                </a:solidFill>
              </a:rPr>
              <a:t>Payment gateways</a:t>
            </a:r>
          </a:p>
          <a:p>
            <a:pPr marL="12700" marR="5080"/>
            <a:r>
              <a:rPr lang="en-US" sz="1300" kern="0" spc="-80" dirty="0">
                <a:solidFill>
                  <a:schemeClr val="accent6"/>
                </a:solidFill>
              </a:rPr>
              <a:t>Notification systems (SMS, Email, WhatsApp)</a:t>
            </a:r>
          </a:p>
          <a:p>
            <a:pPr marL="12700" marR="5080"/>
            <a:r>
              <a:rPr lang="en-US" sz="1300" kern="0" spc="-80" dirty="0">
                <a:solidFill>
                  <a:schemeClr val="accent2"/>
                </a:solidFill>
              </a:rPr>
              <a:t>Tech:</a:t>
            </a:r>
          </a:p>
          <a:p>
            <a:pPr marL="12700" marR="5080"/>
            <a:r>
              <a:rPr lang="en-US" sz="1300" kern="0" spc="-80" dirty="0">
                <a:solidFill>
                  <a:schemeClr val="accent6"/>
                </a:solidFill>
              </a:rPr>
              <a:t>REST, </a:t>
            </a:r>
            <a:r>
              <a:rPr lang="en-US" sz="1300" kern="0" spc="-80" dirty="0" err="1">
                <a:solidFill>
                  <a:schemeClr val="accent6"/>
                </a:solidFill>
              </a:rPr>
              <a:t>GraphQL</a:t>
            </a:r>
            <a:endParaRPr lang="en-US" sz="1300" kern="0" spc="-80" dirty="0">
              <a:solidFill>
                <a:schemeClr val="accent6"/>
              </a:solidFill>
            </a:endParaRPr>
          </a:p>
          <a:p>
            <a:pPr marL="12700" marR="5080"/>
            <a:r>
              <a:rPr lang="en-US" sz="1300" kern="0" spc="-80" dirty="0">
                <a:solidFill>
                  <a:schemeClr val="accent6"/>
                </a:solidFill>
              </a:rPr>
              <a:t>Message queues</a:t>
            </a:r>
          </a:p>
          <a:p>
            <a:pPr marL="12700" marR="5080"/>
            <a:r>
              <a:rPr lang="en-US" sz="1300" kern="0" spc="-80" dirty="0">
                <a:solidFill>
                  <a:schemeClr val="accent6"/>
                </a:solidFill>
              </a:rPr>
              <a:t>RPA bots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1762737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2AC4B-F518-BACA-C386-FFDDA0ED82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CB2382-DE3F-C406-ADCE-1F7D3A7FCD1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16CE989-8668-4FC2-95B5-159BB3BB0E0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03561C-F6B7-68BB-54DE-C34E629AFF0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7C7ABAF-BDB7-1C86-9FA9-471326D0A141}"/>
              </a:ext>
            </a:extLst>
          </p:cNvPr>
          <p:cNvSpPr txBox="1">
            <a:spLocks/>
          </p:cNvSpPr>
          <p:nvPr/>
        </p:nvSpPr>
        <p:spPr>
          <a:xfrm>
            <a:off x="228600" y="873204"/>
            <a:ext cx="8624937" cy="59708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8. Security &amp; Compliance Layer</a:t>
            </a:r>
          </a:p>
          <a:p>
            <a:pPr marL="12700" marR="5080"/>
            <a:r>
              <a:rPr lang="en-US" sz="1300" kern="0" spc="-80" dirty="0">
                <a:solidFill>
                  <a:schemeClr val="accent6"/>
                </a:solidFill>
              </a:rPr>
              <a:t>Especially important for regulated environments like banking and healthcare.</a:t>
            </a:r>
          </a:p>
          <a:p>
            <a:pPr marL="12700" marR="5080"/>
            <a:r>
              <a:rPr lang="en-US" sz="1300" kern="0" spc="-80" dirty="0">
                <a:solidFill>
                  <a:schemeClr val="accent6"/>
                </a:solidFill>
              </a:rPr>
              <a:t>Includes:</a:t>
            </a:r>
          </a:p>
          <a:p>
            <a:pPr marL="12700" marR="5080"/>
            <a:r>
              <a:rPr lang="en-US" sz="1300" kern="0" spc="-80" dirty="0">
                <a:solidFill>
                  <a:schemeClr val="accent6"/>
                </a:solidFill>
              </a:rPr>
              <a:t>Zero-Trust architecture</a:t>
            </a:r>
          </a:p>
          <a:p>
            <a:pPr marL="12700" marR="5080"/>
            <a:r>
              <a:rPr lang="en-US" sz="1300" kern="0" spc="-80" dirty="0">
                <a:solidFill>
                  <a:schemeClr val="accent6"/>
                </a:solidFill>
              </a:rPr>
              <a:t>Role-based &amp; attribute-based access control (RBAC/ABAC)</a:t>
            </a:r>
          </a:p>
          <a:p>
            <a:pPr marL="12700" marR="5080"/>
            <a:r>
              <a:rPr lang="en-US" sz="1300" kern="0" spc="-80" dirty="0">
                <a:solidFill>
                  <a:schemeClr val="accent6"/>
                </a:solidFill>
              </a:rPr>
              <a:t>Document access policies</a:t>
            </a:r>
          </a:p>
          <a:p>
            <a:pPr marL="12700" marR="5080"/>
            <a:r>
              <a:rPr lang="en-US" sz="1300" kern="0" spc="-80" dirty="0">
                <a:solidFill>
                  <a:schemeClr val="accent6"/>
                </a:solidFill>
              </a:rPr>
              <a:t>PII masking</a:t>
            </a:r>
          </a:p>
          <a:p>
            <a:pPr marL="12700" marR="5080"/>
            <a:r>
              <a:rPr lang="en-US" sz="1300" kern="0" spc="-80" dirty="0">
                <a:solidFill>
                  <a:schemeClr val="accent6"/>
                </a:solidFill>
              </a:rPr>
              <a:t>Encryption at rest &amp; in transit</a:t>
            </a:r>
          </a:p>
          <a:p>
            <a:pPr marL="12700" marR="5080"/>
            <a:r>
              <a:rPr lang="en-US" sz="1300" kern="0" spc="-80" dirty="0">
                <a:solidFill>
                  <a:schemeClr val="accent6"/>
                </a:solidFill>
              </a:rPr>
              <a:t>Tamper-proof audit logs</a:t>
            </a:r>
          </a:p>
          <a:p>
            <a:pPr marL="12700" marR="5080"/>
            <a:endParaRPr lang="en-US" sz="1300" kern="0" spc="-80" dirty="0">
              <a:solidFill>
                <a:schemeClr val="accent6"/>
              </a:solidFill>
            </a:endParaRPr>
          </a:p>
          <a:p>
            <a:pPr marL="12700" marR="5080"/>
            <a:r>
              <a:rPr lang="en-US" sz="1300" kern="0" spc="-80" dirty="0">
                <a:solidFill>
                  <a:schemeClr val="accent2"/>
                </a:solidFill>
              </a:rPr>
              <a:t>Document Workflow Patterns</a:t>
            </a:r>
          </a:p>
          <a:p>
            <a:pPr marL="12700" marR="5080"/>
            <a:r>
              <a:rPr lang="en-US" sz="1300" kern="0" spc="-80" dirty="0">
                <a:solidFill>
                  <a:schemeClr val="accent2"/>
                </a:solidFill>
              </a:rPr>
              <a:t>Pattern 1: Straight-Through Processing (STP)</a:t>
            </a:r>
          </a:p>
          <a:p>
            <a:pPr marL="12700" marR="5080"/>
            <a:r>
              <a:rPr lang="en-US" sz="1300" kern="0" spc="-80" dirty="0">
                <a:solidFill>
                  <a:schemeClr val="accent6"/>
                </a:solidFill>
              </a:rPr>
              <a:t>Automation-only flow.</a:t>
            </a:r>
          </a:p>
          <a:p>
            <a:pPr marL="12700" marR="5080"/>
            <a:r>
              <a:rPr lang="en-US" sz="1300" kern="0" spc="-80" dirty="0">
                <a:solidFill>
                  <a:schemeClr val="accent2"/>
                </a:solidFill>
              </a:rPr>
              <a:t>Used for:</a:t>
            </a:r>
          </a:p>
          <a:p>
            <a:pPr marL="12700" marR="5080"/>
            <a:r>
              <a:rPr lang="en-US" sz="1300" kern="0" spc="-80" dirty="0">
                <a:solidFill>
                  <a:schemeClr val="accent6"/>
                </a:solidFill>
              </a:rPr>
              <a:t>Standard forms</a:t>
            </a:r>
          </a:p>
          <a:p>
            <a:pPr marL="12700" marR="5080"/>
            <a:r>
              <a:rPr lang="en-US" sz="1300" kern="0" spc="-80" dirty="0">
                <a:solidFill>
                  <a:schemeClr val="accent6"/>
                </a:solidFill>
              </a:rPr>
              <a:t>Low value invoices</a:t>
            </a:r>
          </a:p>
          <a:p>
            <a:pPr marL="12700" marR="5080"/>
            <a:r>
              <a:rPr lang="en-US" sz="1300" kern="0" spc="-80" dirty="0">
                <a:solidFill>
                  <a:schemeClr val="accent6"/>
                </a:solidFill>
              </a:rPr>
              <a:t>Ticketing systems</a:t>
            </a:r>
          </a:p>
          <a:p>
            <a:pPr marL="12700" marR="5080"/>
            <a:endParaRPr lang="en-US" sz="1300" kern="0" spc="-80" dirty="0">
              <a:solidFill>
                <a:schemeClr val="accent6"/>
              </a:solidFill>
            </a:endParaRPr>
          </a:p>
          <a:p>
            <a:pPr marL="12700" marR="5080"/>
            <a:r>
              <a:rPr lang="en-US" sz="1300" kern="0" spc="-80" dirty="0">
                <a:solidFill>
                  <a:schemeClr val="accent2"/>
                </a:solidFill>
              </a:rPr>
              <a:t>Pattern 2: Human-in-the-Loop Workflow</a:t>
            </a:r>
          </a:p>
          <a:p>
            <a:pPr marL="12700" marR="5080"/>
            <a:r>
              <a:rPr lang="en-US" sz="1300" kern="0" spc="-80" dirty="0">
                <a:solidFill>
                  <a:schemeClr val="accent6"/>
                </a:solidFill>
              </a:rPr>
              <a:t>Manual review required.</a:t>
            </a:r>
          </a:p>
          <a:p>
            <a:pPr marL="12700" marR="5080"/>
            <a:r>
              <a:rPr lang="en-US" sz="1300" kern="0" spc="-80" dirty="0">
                <a:solidFill>
                  <a:schemeClr val="accent2"/>
                </a:solidFill>
              </a:rPr>
              <a:t>Used for:</a:t>
            </a:r>
          </a:p>
          <a:p>
            <a:pPr marL="12700" marR="5080"/>
            <a:r>
              <a:rPr lang="en-US" sz="1300" kern="0" spc="-80" dirty="0">
                <a:solidFill>
                  <a:schemeClr val="accent6"/>
                </a:solidFill>
              </a:rPr>
              <a:t>Legal documents</a:t>
            </a:r>
          </a:p>
          <a:p>
            <a:pPr marL="12700" marR="5080"/>
            <a:r>
              <a:rPr lang="en-US" sz="1300" kern="0" spc="-80" dirty="0">
                <a:solidFill>
                  <a:schemeClr val="accent6"/>
                </a:solidFill>
              </a:rPr>
              <a:t>Claims</a:t>
            </a:r>
          </a:p>
          <a:p>
            <a:pPr marL="12700" marR="5080"/>
            <a:r>
              <a:rPr lang="en-US" sz="1300" kern="0" spc="-80" dirty="0">
                <a:solidFill>
                  <a:schemeClr val="accent6"/>
                </a:solidFill>
              </a:rPr>
              <a:t>High-value approvals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9962178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750A-E18D-C479-99DA-4D0E2BD1C4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5D9C72-E54E-CA9D-4FD9-2EF1DD04882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F0636E-8C7F-29E8-66CD-7BB734F0C49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6FE6FAC-67A5-A605-0E0C-4AA7AD0B201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A3B5E8-62EB-EF53-93D6-CA60DD48C8BE}"/>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Document Workflow Patterns</a:t>
            </a:r>
          </a:p>
          <a:p>
            <a:pPr marL="12700" marR="5080"/>
            <a:r>
              <a:rPr lang="en-US" sz="1300" kern="0" spc="-80" dirty="0">
                <a:solidFill>
                  <a:schemeClr val="accent2"/>
                </a:solidFill>
              </a:rPr>
              <a:t>Pattern 3: Parallel Workflows</a:t>
            </a:r>
          </a:p>
          <a:p>
            <a:pPr marL="12700" marR="5080"/>
            <a:r>
              <a:rPr lang="en-US" sz="1300" kern="0" spc="-80" dirty="0">
                <a:solidFill>
                  <a:schemeClr val="accent6"/>
                </a:solidFill>
              </a:rPr>
              <a:t>Multiple teams work on the same document concurrently.</a:t>
            </a:r>
          </a:p>
          <a:p>
            <a:pPr marL="12700" marR="5080"/>
            <a:r>
              <a:rPr lang="en-US" sz="1300" kern="0" spc="-80" dirty="0">
                <a:solidFill>
                  <a:schemeClr val="accent2"/>
                </a:solidFill>
              </a:rPr>
              <a:t>Examples:</a:t>
            </a:r>
          </a:p>
          <a:p>
            <a:pPr marL="12700" marR="5080"/>
            <a:r>
              <a:rPr lang="en-US" sz="1300" kern="0" spc="-80" dirty="0">
                <a:solidFill>
                  <a:schemeClr val="accent6"/>
                </a:solidFill>
              </a:rPr>
              <a:t>HR onboarding</a:t>
            </a:r>
          </a:p>
          <a:p>
            <a:pPr marL="12700" marR="5080"/>
            <a:r>
              <a:rPr lang="en-US" sz="1300" kern="0" spc="-80" dirty="0">
                <a:solidFill>
                  <a:schemeClr val="accent6"/>
                </a:solidFill>
              </a:rPr>
              <a:t>Mortgage processing</a:t>
            </a:r>
          </a:p>
          <a:p>
            <a:pPr marL="12700" marR="5080"/>
            <a:r>
              <a:rPr lang="en-US" sz="1300" kern="0" spc="-80" dirty="0">
                <a:solidFill>
                  <a:schemeClr val="accent6"/>
                </a:solidFill>
              </a:rPr>
              <a:t>Insurance underwriting</a:t>
            </a:r>
          </a:p>
          <a:p>
            <a:pPr marL="12700" marR="5080"/>
            <a:endParaRPr lang="en-US" sz="1300" kern="0" spc="-80" dirty="0">
              <a:solidFill>
                <a:schemeClr val="accent6"/>
              </a:solidFill>
            </a:endParaRPr>
          </a:p>
          <a:p>
            <a:pPr marL="12700" marR="5080"/>
            <a:r>
              <a:rPr lang="en-US" sz="1300" kern="0" spc="-80" dirty="0">
                <a:solidFill>
                  <a:schemeClr val="accent2"/>
                </a:solidFill>
              </a:rPr>
              <a:t>Pattern 4: Dynamic Routing</a:t>
            </a:r>
          </a:p>
          <a:p>
            <a:pPr marL="12700" marR="5080"/>
            <a:r>
              <a:rPr lang="en-US" sz="1300" kern="0" spc="-80" dirty="0">
                <a:solidFill>
                  <a:schemeClr val="accent6"/>
                </a:solidFill>
              </a:rPr>
              <a:t>Metadata decides path.</a:t>
            </a:r>
          </a:p>
          <a:p>
            <a:pPr marL="12700" marR="5080"/>
            <a:r>
              <a:rPr lang="en-US" sz="1300" kern="0" spc="-80" dirty="0">
                <a:solidFill>
                  <a:schemeClr val="accent2"/>
                </a:solidFill>
              </a:rPr>
              <a:t>Example:</a:t>
            </a:r>
          </a:p>
          <a:p>
            <a:pPr marL="12700" marR="5080"/>
            <a:r>
              <a:rPr lang="en-US" sz="1300" kern="0" spc="-80" dirty="0">
                <a:solidFill>
                  <a:schemeClr val="accent6"/>
                </a:solidFill>
              </a:rPr>
              <a:t>If invoice &lt; ₹50,000 → Auto-approve  </a:t>
            </a:r>
          </a:p>
          <a:p>
            <a:pPr marL="12700" marR="5080"/>
            <a:r>
              <a:rPr lang="en-US" sz="1300" kern="0" spc="-80" dirty="0">
                <a:solidFill>
                  <a:schemeClr val="accent6"/>
                </a:solidFill>
              </a:rPr>
              <a:t>If invoice &gt; ₹50,000 → Manager approval  </a:t>
            </a:r>
          </a:p>
          <a:p>
            <a:pPr marL="12700" marR="5080"/>
            <a:r>
              <a:rPr lang="en-US" sz="1300" kern="0" spc="-80" dirty="0">
                <a:solidFill>
                  <a:schemeClr val="accent6"/>
                </a:solidFill>
              </a:rPr>
              <a:t>If invoice &gt; ₹5,00,000 → Finance director approval</a:t>
            </a:r>
          </a:p>
          <a:p>
            <a:pPr marL="12700" marR="5080"/>
            <a:endParaRPr lang="en-US" sz="1300" kern="0" spc="-80" dirty="0">
              <a:solidFill>
                <a:schemeClr val="accent6"/>
              </a:solidFill>
            </a:endParaRPr>
          </a:p>
          <a:p>
            <a:pPr marL="12700" marR="5080"/>
            <a:r>
              <a:rPr lang="en-US" sz="1300" kern="0" spc="-80" dirty="0">
                <a:solidFill>
                  <a:schemeClr val="accent2"/>
                </a:solidFill>
              </a:rPr>
              <a:t>Pattern 5: Versioned Document Processing</a:t>
            </a:r>
          </a:p>
          <a:p>
            <a:pPr marL="12700" marR="5080"/>
            <a:r>
              <a:rPr lang="en-US" sz="1300" kern="0" spc="-80" dirty="0">
                <a:solidFill>
                  <a:schemeClr val="accent6"/>
                </a:solidFill>
              </a:rPr>
              <a:t>Each update creates a new version, and workflow can branch on version changes.</a:t>
            </a:r>
          </a:p>
          <a:p>
            <a:pPr marL="12700" marR="5080"/>
            <a:endParaRPr lang="en-US" sz="1300" kern="0" spc="-80" dirty="0">
              <a:solidFill>
                <a:schemeClr val="accent6"/>
              </a:solidFill>
            </a:endParaRPr>
          </a:p>
          <a:p>
            <a:pPr marL="12700" marR="5080"/>
            <a:r>
              <a:rPr lang="en-US" sz="1300" kern="0" spc="-80" dirty="0">
                <a:solidFill>
                  <a:schemeClr val="accent2"/>
                </a:solidFill>
              </a:rPr>
              <a:t>Pattern 6: Document Assembly Workflow</a:t>
            </a:r>
          </a:p>
          <a:p>
            <a:pPr marL="12700" marR="5080"/>
            <a:r>
              <a:rPr lang="en-US" sz="1300" kern="0" spc="-80" dirty="0">
                <a:solidFill>
                  <a:schemeClr val="accent6"/>
                </a:solidFill>
              </a:rPr>
              <a:t>Used in legal, healthcare, finance.</a:t>
            </a:r>
          </a:p>
          <a:p>
            <a:pPr marL="12700" marR="5080"/>
            <a:r>
              <a:rPr lang="en-US" sz="1300" kern="0" spc="-80" dirty="0">
                <a:solidFill>
                  <a:schemeClr val="accent2"/>
                </a:solidFill>
              </a:rPr>
              <a:t>Example:</a:t>
            </a:r>
          </a:p>
          <a:p>
            <a:pPr marL="12700" marR="5080"/>
            <a:r>
              <a:rPr lang="en-US" sz="1300" kern="0" spc="-80" dirty="0">
                <a:solidFill>
                  <a:schemeClr val="accent6"/>
                </a:solidFill>
              </a:rPr>
              <a:t>Auto-generate a contract from templates → send for signatures → archive.</a:t>
            </a: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44867835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8463-75EA-9F2E-9371-D1215AB931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342482-9764-721C-0B6C-35D1B311FD2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963D7E-6500-0267-6A99-F9EA2F08F0F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B535B94-0C81-EF1D-ED38-92D99DF98552}"/>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A3F247E-1E24-CA21-98C7-F6854A608B1A}"/>
              </a:ext>
            </a:extLst>
          </p:cNvPr>
          <p:cNvSpPr txBox="1">
            <a:spLocks/>
          </p:cNvSpPr>
          <p:nvPr/>
        </p:nvSpPr>
        <p:spPr>
          <a:xfrm>
            <a:off x="228600" y="873204"/>
            <a:ext cx="8624937" cy="60247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endParaRPr lang="en-US" sz="1300" kern="0" spc="-80" dirty="0">
              <a:solidFill>
                <a:schemeClr val="accent6"/>
              </a:solidFill>
            </a:endParaRPr>
          </a:p>
          <a:p>
            <a:pPr marL="12700" marR="5080"/>
            <a:r>
              <a:rPr lang="en-US" sz="1300" kern="0" spc="-80" dirty="0">
                <a:solidFill>
                  <a:schemeClr val="accent2"/>
                </a:solidFill>
              </a:rPr>
              <a:t>Pattern 7: Collaborative Editing Workflow</a:t>
            </a:r>
          </a:p>
          <a:p>
            <a:pPr marL="12700" marR="5080"/>
            <a:r>
              <a:rPr lang="en-US" sz="1300" kern="0" spc="-80" dirty="0">
                <a:solidFill>
                  <a:schemeClr val="accent6"/>
                </a:solidFill>
              </a:rPr>
              <a:t>Multiple reviewers annotate simultaneously (Google Docs style).</a:t>
            </a:r>
          </a:p>
          <a:p>
            <a:pPr marL="12700" marR="5080"/>
            <a:endParaRPr lang="en-US" sz="1300" kern="0" spc="-80" dirty="0">
              <a:solidFill>
                <a:schemeClr val="accent6"/>
              </a:solidFill>
            </a:endParaRPr>
          </a:p>
          <a:p>
            <a:pPr marL="12700" marR="5080"/>
            <a:r>
              <a:rPr lang="en-US" sz="1300" kern="0" spc="-80" dirty="0">
                <a:solidFill>
                  <a:schemeClr val="accent2"/>
                </a:solidFill>
              </a:rPr>
              <a:t>5. End-to-End Data Flow Example</a:t>
            </a:r>
          </a:p>
          <a:p>
            <a:pPr marL="12700" marR="5080"/>
            <a:r>
              <a:rPr lang="en-US" sz="1300" kern="0" spc="-80" dirty="0">
                <a:solidFill>
                  <a:schemeClr val="accent6"/>
                </a:solidFill>
              </a:rPr>
              <a:t>Example: Invoice Processing Workflow</a:t>
            </a:r>
          </a:p>
          <a:p>
            <a:pPr marL="12700" marR="5080"/>
            <a:endParaRPr lang="en-US" sz="1300" kern="0" spc="-80" dirty="0">
              <a:solidFill>
                <a:schemeClr val="accent6"/>
              </a:solidFill>
            </a:endParaRPr>
          </a:p>
          <a:p>
            <a:pPr marL="12700" marR="5080"/>
            <a:r>
              <a:rPr lang="en-US" sz="1300" kern="0" spc="-80" dirty="0">
                <a:solidFill>
                  <a:schemeClr val="accent2"/>
                </a:solidFill>
              </a:rPr>
              <a:t>End-to-End Data Flow Example</a:t>
            </a:r>
          </a:p>
          <a:p>
            <a:pPr marL="12700" marR="5080"/>
            <a:r>
              <a:rPr lang="en-US" sz="1300" kern="0" spc="-80" dirty="0">
                <a:solidFill>
                  <a:schemeClr val="accent2"/>
                </a:solidFill>
              </a:rPr>
              <a:t>Example: Invoice Processing Workflow</a:t>
            </a:r>
          </a:p>
          <a:p>
            <a:pPr marL="12700" marR="5080"/>
            <a:r>
              <a:rPr lang="en-US" sz="1300" kern="0" spc="-80" dirty="0">
                <a:solidFill>
                  <a:schemeClr val="accent6"/>
                </a:solidFill>
              </a:rPr>
              <a:t>Invoice uploaded through portal</a:t>
            </a:r>
          </a:p>
          <a:p>
            <a:pPr marL="12700" marR="5080"/>
            <a:r>
              <a:rPr lang="en-US" sz="1300" kern="0" spc="-80" dirty="0">
                <a:solidFill>
                  <a:schemeClr val="accent6"/>
                </a:solidFill>
              </a:rPr>
              <a:t>OCR extracts Vendor Name, Amount, Tax</a:t>
            </a:r>
          </a:p>
          <a:p>
            <a:pPr marL="12700" marR="5080"/>
            <a:r>
              <a:rPr lang="en-US" sz="1300" kern="0" spc="-80" dirty="0">
                <a:solidFill>
                  <a:schemeClr val="accent6"/>
                </a:solidFill>
              </a:rPr>
              <a:t>Workflow engine validates metadata</a:t>
            </a:r>
          </a:p>
          <a:p>
            <a:pPr marL="12700" marR="5080"/>
            <a:r>
              <a:rPr lang="en-US" sz="1300" kern="0" spc="-80" dirty="0">
                <a:solidFill>
                  <a:schemeClr val="accent6"/>
                </a:solidFill>
              </a:rPr>
              <a:t>Rules engine determines routing</a:t>
            </a:r>
          </a:p>
          <a:p>
            <a:pPr marL="12700" marR="5080"/>
            <a:r>
              <a:rPr lang="en-US" sz="1150" kern="0" spc="-80" dirty="0">
                <a:solidFill>
                  <a:schemeClr val="accent6"/>
                </a:solidFill>
              </a:rPr>
              <a:t>Approver receives human task</a:t>
            </a:r>
          </a:p>
          <a:p>
            <a:pPr marL="12700" marR="5080"/>
            <a:r>
              <a:rPr lang="en-US" sz="1150" kern="0" spc="-80" dirty="0">
                <a:solidFill>
                  <a:schemeClr val="accent6"/>
                </a:solidFill>
              </a:rPr>
              <a:t>Approved invoice is sent to SAP for posting</a:t>
            </a:r>
          </a:p>
          <a:p>
            <a:pPr marL="12700" marR="5080"/>
            <a:r>
              <a:rPr lang="en-US" sz="1150" kern="0" spc="-80" dirty="0">
                <a:solidFill>
                  <a:schemeClr val="accent6"/>
                </a:solidFill>
              </a:rPr>
              <a:t>Document stored in DMS</a:t>
            </a:r>
          </a:p>
          <a:p>
            <a:pPr marL="12700" marR="5080"/>
            <a:r>
              <a:rPr lang="en-US" sz="1150" kern="0" spc="-80" dirty="0">
                <a:solidFill>
                  <a:schemeClr val="accent6"/>
                </a:solidFill>
              </a:rPr>
              <a:t>Audit log created</a:t>
            </a:r>
          </a:p>
          <a:p>
            <a:pPr marL="12700" marR="5080"/>
            <a:r>
              <a:rPr lang="en-US" sz="1150" kern="0" spc="-80" dirty="0">
                <a:solidFill>
                  <a:schemeClr val="accent6"/>
                </a:solidFill>
              </a:rPr>
              <a:t>Notifications sent</a:t>
            </a:r>
          </a:p>
          <a:p>
            <a:pPr marL="12700" marR="5080"/>
            <a:endParaRPr lang="en-US" sz="1150" kern="0" spc="-80" dirty="0">
              <a:solidFill>
                <a:schemeClr val="accent6"/>
              </a:solidFill>
            </a:endParaRPr>
          </a:p>
          <a:p>
            <a:pPr marL="12700" marR="5080"/>
            <a:r>
              <a:rPr lang="en-US" sz="1150" kern="0" spc="-80" dirty="0">
                <a:solidFill>
                  <a:schemeClr val="accent2"/>
                </a:solidFill>
              </a:rPr>
              <a:t>Technology Stack Mapping</a:t>
            </a:r>
          </a:p>
          <a:p>
            <a:pPr marL="12700" marR="5080"/>
            <a:r>
              <a:rPr lang="en-US" sz="1150" kern="0" spc="-80" dirty="0">
                <a:solidFill>
                  <a:schemeClr val="accent2"/>
                </a:solidFill>
              </a:rPr>
              <a:t>Layer	Technologies</a:t>
            </a:r>
          </a:p>
          <a:p>
            <a:pPr marL="12700" marR="5080"/>
            <a:r>
              <a:rPr lang="en-US" sz="1150" kern="0" spc="-80" dirty="0">
                <a:solidFill>
                  <a:schemeClr val="accent6"/>
                </a:solidFill>
              </a:rPr>
              <a:t>Ingestion	API Gateway, Logic Apps, Kafka, Service Bus</a:t>
            </a:r>
          </a:p>
          <a:p>
            <a:pPr marL="12700" marR="5080"/>
            <a:r>
              <a:rPr lang="en-US" sz="1150" kern="0" spc="-80" dirty="0">
                <a:solidFill>
                  <a:schemeClr val="accent6"/>
                </a:solidFill>
              </a:rPr>
              <a:t>OCR/AI	Azure Form Recognizer, AWS </a:t>
            </a:r>
            <a:r>
              <a:rPr lang="en-US" sz="1150" kern="0" spc="-80" dirty="0" err="1">
                <a:solidFill>
                  <a:schemeClr val="accent6"/>
                </a:solidFill>
              </a:rPr>
              <a:t>Textract</a:t>
            </a:r>
            <a:r>
              <a:rPr lang="en-US" sz="1150" kern="0" spc="-80" dirty="0">
                <a:solidFill>
                  <a:schemeClr val="accent6"/>
                </a:solidFill>
              </a:rPr>
              <a:t>, Tesseract</a:t>
            </a:r>
          </a:p>
          <a:p>
            <a:pPr marL="12700" marR="5080"/>
            <a:r>
              <a:rPr lang="en-US" sz="1150" kern="0" spc="-80" dirty="0">
                <a:solidFill>
                  <a:schemeClr val="accent6"/>
                </a:solidFill>
              </a:rPr>
              <a:t>Workflow	Camunda, </a:t>
            </a:r>
            <a:r>
              <a:rPr lang="en-US" sz="1150" kern="0" spc="-80" dirty="0" err="1">
                <a:solidFill>
                  <a:schemeClr val="accent6"/>
                </a:solidFill>
              </a:rPr>
              <a:t>Zeebe</a:t>
            </a:r>
            <a:r>
              <a:rPr lang="en-US" sz="1150" kern="0" spc="-80" dirty="0">
                <a:solidFill>
                  <a:schemeClr val="accent6"/>
                </a:solidFill>
              </a:rPr>
              <a:t>, Temporal, JBPM</a:t>
            </a:r>
          </a:p>
          <a:p>
            <a:pPr marL="12700" marR="5080"/>
            <a:r>
              <a:rPr lang="en-US" sz="1150" kern="0" spc="-80" dirty="0">
                <a:solidFill>
                  <a:schemeClr val="accent6"/>
                </a:solidFill>
              </a:rPr>
              <a:t>Rules Engine	Drools, Decision Model &amp; Notation (DMN), Azure Rules Engine</a:t>
            </a: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59431707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D9ED-D874-8017-C8A2-AA4061AFD3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6F0CD1-0F6D-8A47-2996-E37379FBA6D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82413A-6815-274E-D0B2-118BF30DCEF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5D85DAF-A698-B7B8-DC72-C6E8C99079B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3C08EAB-3FE6-F721-25D9-8CF293E9D7CC}"/>
              </a:ext>
            </a:extLst>
          </p:cNvPr>
          <p:cNvSpPr txBox="1">
            <a:spLocks/>
          </p:cNvSpPr>
          <p:nvPr/>
        </p:nvSpPr>
        <p:spPr>
          <a:xfrm>
            <a:off x="228600" y="873204"/>
            <a:ext cx="8624937" cy="58554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Technology Stack Mapping</a:t>
            </a:r>
          </a:p>
          <a:p>
            <a:pPr marL="12700" marR="5080"/>
            <a:r>
              <a:rPr lang="en-US" sz="1150" kern="0" spc="-80" dirty="0">
                <a:solidFill>
                  <a:schemeClr val="accent2"/>
                </a:solidFill>
              </a:rPr>
              <a:t>Layer	Technologies</a:t>
            </a:r>
          </a:p>
          <a:p>
            <a:pPr marL="12700" marR="5080"/>
            <a:r>
              <a:rPr lang="en-US" sz="1150" kern="0" spc="-80" dirty="0">
                <a:solidFill>
                  <a:schemeClr val="accent6"/>
                </a:solidFill>
              </a:rPr>
              <a:t>UI	React, Angular, Blazor</a:t>
            </a:r>
          </a:p>
          <a:p>
            <a:pPr marL="12700" marR="5080"/>
            <a:r>
              <a:rPr lang="en-US" sz="1150" kern="0" spc="-80" dirty="0">
                <a:solidFill>
                  <a:schemeClr val="accent6"/>
                </a:solidFill>
              </a:rPr>
              <a:t>Storage	S3/Blob, MongoDB/</a:t>
            </a:r>
            <a:r>
              <a:rPr lang="en-US" sz="1150" kern="0" spc="-80" dirty="0" err="1">
                <a:solidFill>
                  <a:schemeClr val="accent6"/>
                </a:solidFill>
              </a:rPr>
              <a:t>GridFS</a:t>
            </a:r>
            <a:r>
              <a:rPr lang="en-US" sz="1150" kern="0" spc="-80" dirty="0">
                <a:solidFill>
                  <a:schemeClr val="accent6"/>
                </a:solidFill>
              </a:rPr>
              <a:t>, SharePoint</a:t>
            </a:r>
          </a:p>
          <a:p>
            <a:pPr marL="12700" marR="5080"/>
            <a:r>
              <a:rPr lang="en-US" sz="1150" kern="0" spc="-80" dirty="0">
                <a:solidFill>
                  <a:schemeClr val="accent6"/>
                </a:solidFill>
              </a:rPr>
              <a:t>Security	Key Vault, OAuth2, Azure AD, RBAC</a:t>
            </a:r>
          </a:p>
          <a:p>
            <a:pPr marL="12700" marR="5080"/>
            <a:r>
              <a:rPr lang="en-US" sz="1150" kern="0" spc="-80" dirty="0">
                <a:solidFill>
                  <a:schemeClr val="accent6"/>
                </a:solidFill>
              </a:rPr>
              <a:t>Logging	ELK, </a:t>
            </a:r>
            <a:r>
              <a:rPr lang="en-US" sz="1150" kern="0" spc="-80" dirty="0" err="1">
                <a:solidFill>
                  <a:schemeClr val="accent6"/>
                </a:solidFill>
              </a:rPr>
              <a:t>OpenTelemetry</a:t>
            </a:r>
            <a:endParaRPr lang="en-US" sz="1150" kern="0" spc="-80" dirty="0">
              <a:solidFill>
                <a:schemeClr val="accent6"/>
              </a:solidFill>
            </a:endParaRPr>
          </a:p>
          <a:p>
            <a:pPr marL="12700" marR="5080"/>
            <a:r>
              <a:rPr lang="en-US" sz="1150" kern="0" spc="-80" dirty="0">
                <a:solidFill>
                  <a:schemeClr val="accent6"/>
                </a:solidFill>
              </a:rPr>
              <a:t>Deployment	AKS, EKS, Kubernetes, Docker</a:t>
            </a:r>
          </a:p>
          <a:p>
            <a:pPr marL="12700" marR="5080"/>
            <a:endParaRPr lang="en-US" sz="1150" kern="0" spc="-80" dirty="0">
              <a:solidFill>
                <a:schemeClr val="accent6"/>
              </a:solidFill>
            </a:endParaRPr>
          </a:p>
          <a:p>
            <a:pPr marL="12700" marR="5080"/>
            <a:r>
              <a:rPr lang="en-US" sz="1150" kern="0" spc="-80" dirty="0">
                <a:solidFill>
                  <a:schemeClr val="accent2"/>
                </a:solidFill>
              </a:rPr>
              <a:t>Deployment Architecture</a:t>
            </a:r>
          </a:p>
          <a:p>
            <a:pPr marL="12700" marR="5080"/>
            <a:r>
              <a:rPr lang="en-US" sz="1150" kern="0" spc="-80" dirty="0">
                <a:solidFill>
                  <a:schemeClr val="accent2"/>
                </a:solidFill>
              </a:rPr>
              <a:t>Modern cloud-native setup</a:t>
            </a:r>
          </a:p>
          <a:p>
            <a:pPr marL="12700" marR="5080"/>
            <a:r>
              <a:rPr lang="en-US" sz="1150" kern="0" spc="-80" dirty="0">
                <a:solidFill>
                  <a:schemeClr val="accent6"/>
                </a:solidFill>
              </a:rPr>
              <a:t>Kubernetes (AKS/EKS/GKE)</a:t>
            </a:r>
          </a:p>
          <a:p>
            <a:pPr marL="12700" marR="5080"/>
            <a:r>
              <a:rPr lang="en-US" sz="1150" kern="0" spc="-80" dirty="0">
                <a:solidFill>
                  <a:schemeClr val="accent6"/>
                </a:solidFill>
              </a:rPr>
              <a:t>    ├── Document Ingestion Service</a:t>
            </a:r>
          </a:p>
          <a:p>
            <a:pPr marL="12700" marR="5080"/>
            <a:r>
              <a:rPr lang="en-US" sz="1150" kern="0" spc="-80" dirty="0">
                <a:solidFill>
                  <a:schemeClr val="accent6"/>
                </a:solidFill>
              </a:rPr>
              <a:t>    ├── OCR/AI Microservice</a:t>
            </a:r>
          </a:p>
          <a:p>
            <a:pPr marL="12700" marR="5080"/>
            <a:r>
              <a:rPr lang="en-US" sz="1150" kern="0" spc="-80" dirty="0">
                <a:solidFill>
                  <a:schemeClr val="accent6"/>
                </a:solidFill>
              </a:rPr>
              <a:t>    ├── Workflow Orchestrator (Temporal/Camunda)</a:t>
            </a:r>
          </a:p>
          <a:p>
            <a:pPr marL="12700" marR="5080"/>
            <a:r>
              <a:rPr lang="en-US" sz="1150" kern="0" spc="-80" dirty="0">
                <a:solidFill>
                  <a:schemeClr val="accent6"/>
                </a:solidFill>
              </a:rPr>
              <a:t>    ├── Rules Engine</a:t>
            </a:r>
          </a:p>
          <a:p>
            <a:pPr marL="12700" marR="5080"/>
            <a:r>
              <a:rPr lang="en-US" sz="1150" kern="0" spc="-80" dirty="0">
                <a:solidFill>
                  <a:schemeClr val="accent6"/>
                </a:solidFill>
              </a:rPr>
              <a:t>    ├── Human Task UI</a:t>
            </a:r>
          </a:p>
          <a:p>
            <a:pPr marL="12700" marR="5080"/>
            <a:r>
              <a:rPr lang="en-US" sz="1150" kern="0" spc="-80" dirty="0">
                <a:solidFill>
                  <a:schemeClr val="accent6"/>
                </a:solidFill>
              </a:rPr>
              <a:t>    ├── Integration Microservices</a:t>
            </a:r>
          </a:p>
          <a:p>
            <a:pPr marL="12700" marR="5080"/>
            <a:r>
              <a:rPr lang="en-US" sz="1150" kern="0" spc="-80" dirty="0">
                <a:solidFill>
                  <a:schemeClr val="accent6"/>
                </a:solidFill>
              </a:rPr>
              <a:t>    ├── Notification Service</a:t>
            </a:r>
          </a:p>
          <a:p>
            <a:pPr marL="12700" marR="5080"/>
            <a:r>
              <a:rPr lang="en-US" sz="1150" kern="0" spc="-80" dirty="0">
                <a:solidFill>
                  <a:schemeClr val="accent6"/>
                </a:solidFill>
              </a:rPr>
              <a:t>    └── Document Storage (Blob/S3 + Metadata DB)</a:t>
            </a:r>
          </a:p>
          <a:p>
            <a:pPr marL="12700" marR="5080"/>
            <a:endParaRPr lang="en-US" sz="1150" kern="0" spc="-80" dirty="0">
              <a:solidFill>
                <a:schemeClr val="accent6"/>
              </a:solidFill>
            </a:endParaRPr>
          </a:p>
          <a:p>
            <a:pPr marL="12700" marR="5080"/>
            <a:r>
              <a:rPr lang="en-US" sz="1150" kern="0" spc="-80" dirty="0">
                <a:solidFill>
                  <a:schemeClr val="accent2"/>
                </a:solidFill>
              </a:rPr>
              <a:t>Uses:</a:t>
            </a:r>
          </a:p>
          <a:p>
            <a:pPr marL="12700" marR="5080"/>
            <a:r>
              <a:rPr lang="en-US" sz="1150" kern="0" spc="-80" dirty="0">
                <a:solidFill>
                  <a:schemeClr val="accent6"/>
                </a:solidFill>
              </a:rPr>
              <a:t>Horizontal scaling</a:t>
            </a:r>
          </a:p>
          <a:p>
            <a:pPr marL="12700" marR="5080"/>
            <a:r>
              <a:rPr lang="en-US" sz="1150" kern="0" spc="-80" dirty="0">
                <a:solidFill>
                  <a:schemeClr val="accent6"/>
                </a:solidFill>
              </a:rPr>
              <a:t>Event-driven triggers</a:t>
            </a:r>
          </a:p>
          <a:p>
            <a:pPr marL="12700" marR="5080"/>
            <a:r>
              <a:rPr lang="en-US" sz="1150" kern="0" spc="-80" dirty="0">
                <a:solidFill>
                  <a:schemeClr val="accent6"/>
                </a:solidFill>
              </a:rPr>
              <a:t>KEDA for auto-scaling on queues</a:t>
            </a:r>
          </a:p>
          <a:p>
            <a:pPr marL="12700" marR="5080"/>
            <a:r>
              <a:rPr lang="en-US" sz="1150" kern="0" spc="-80" dirty="0">
                <a:solidFill>
                  <a:schemeClr val="accent6"/>
                </a:solidFill>
              </a:rPr>
              <a:t>Zero-downtime deployments</a:t>
            </a:r>
          </a:p>
          <a:p>
            <a:pPr marL="12700" marR="5080"/>
            <a:r>
              <a:rPr lang="en-US" sz="1150" kern="0" spc="-80" dirty="0">
                <a:solidFill>
                  <a:schemeClr val="accent6"/>
                </a:solidFill>
              </a:rPr>
              <a:t>8. Non-Functional Requirements (NFRs)</a:t>
            </a:r>
          </a:p>
          <a:p>
            <a:pPr marL="12700" marR="5080"/>
            <a:r>
              <a:rPr lang="en-US" sz="1150" kern="0" spc="-80" dirty="0">
                <a:solidFill>
                  <a:schemeClr val="accent6"/>
                </a:solidFill>
              </a:rPr>
              <a:t>Scalability (large document volumes)</a:t>
            </a: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116895120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3DA88-4572-0CE9-9441-56D35285B6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BBB2C3-0D88-C230-2685-E0653CF58F1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378D9B-3D7C-C4C1-2712-57D22F456B0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61FAB51-D8FC-E8C4-87DE-31E737B5379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901A986-D0FA-DAA8-E261-36D05111C1F6}"/>
              </a:ext>
            </a:extLst>
          </p:cNvPr>
          <p:cNvSpPr txBox="1">
            <a:spLocks/>
          </p:cNvSpPr>
          <p:nvPr/>
        </p:nvSpPr>
        <p:spPr>
          <a:xfrm>
            <a:off x="228600" y="873204"/>
            <a:ext cx="8624937" cy="37317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Uses:</a:t>
            </a:r>
          </a:p>
          <a:p>
            <a:pPr marL="12700" marR="5080"/>
            <a:r>
              <a:rPr lang="en-US" sz="1150" kern="0" spc="-80" dirty="0">
                <a:solidFill>
                  <a:schemeClr val="accent6"/>
                </a:solidFill>
              </a:rPr>
              <a:t>Fault tolerance</a:t>
            </a:r>
          </a:p>
          <a:p>
            <a:pPr marL="12700" marR="5080"/>
            <a:r>
              <a:rPr lang="en-US" sz="1150" kern="0" spc="-80" dirty="0">
                <a:solidFill>
                  <a:schemeClr val="accent6"/>
                </a:solidFill>
              </a:rPr>
              <a:t>Low-latency workflows</a:t>
            </a:r>
          </a:p>
          <a:p>
            <a:pPr marL="12700" marR="5080"/>
            <a:r>
              <a:rPr lang="en-US" sz="1150" kern="0" spc="-80" dirty="0">
                <a:solidFill>
                  <a:schemeClr val="accent6"/>
                </a:solidFill>
              </a:rPr>
              <a:t>ACID metadata consistency</a:t>
            </a:r>
          </a:p>
          <a:p>
            <a:pPr marL="12700" marR="5080"/>
            <a:r>
              <a:rPr lang="en-US" sz="1150" kern="0" spc="-80" dirty="0">
                <a:solidFill>
                  <a:schemeClr val="accent6"/>
                </a:solidFill>
              </a:rPr>
              <a:t>Immutable audit trails</a:t>
            </a:r>
          </a:p>
          <a:p>
            <a:pPr marL="12700" marR="5080"/>
            <a:r>
              <a:rPr lang="en-US" sz="1150" kern="0" spc="-80" dirty="0">
                <a:solidFill>
                  <a:schemeClr val="accent6"/>
                </a:solidFill>
              </a:rPr>
              <a:t>Compliance: GDPR, HIPAA, RBI/IRDAI guidelines</a:t>
            </a:r>
          </a:p>
          <a:p>
            <a:pPr marL="12700" marR="5080"/>
            <a:r>
              <a:rPr lang="en-US" sz="1150" kern="0" spc="-80" dirty="0">
                <a:solidFill>
                  <a:schemeClr val="accent6"/>
                </a:solidFill>
              </a:rPr>
              <a:t>Retention for 7–20 years</a:t>
            </a:r>
          </a:p>
          <a:p>
            <a:pPr marL="12700" marR="5080"/>
            <a:endParaRPr lang="en-US" sz="1150" kern="0" spc="-80" dirty="0">
              <a:solidFill>
                <a:schemeClr val="accent6"/>
              </a:solidFill>
            </a:endParaRPr>
          </a:p>
          <a:p>
            <a:pPr marL="12700" marR="5080"/>
            <a:r>
              <a:rPr lang="en-US" sz="1150" kern="0" spc="-80" dirty="0">
                <a:solidFill>
                  <a:schemeClr val="accent2"/>
                </a:solidFill>
              </a:rPr>
              <a:t>When to Use Document-Based Workflow Architecture</a:t>
            </a:r>
          </a:p>
          <a:p>
            <a:pPr marL="12700" marR="5080"/>
            <a:r>
              <a:rPr lang="en-US" sz="1150" kern="0" spc="-80" dirty="0">
                <a:solidFill>
                  <a:schemeClr val="accent2"/>
                </a:solidFill>
              </a:rPr>
              <a:t>Use it when:</a:t>
            </a:r>
          </a:p>
          <a:p>
            <a:pPr marL="12700" marR="5080"/>
            <a:r>
              <a:rPr lang="en-US" sz="1150" kern="0" spc="-80" dirty="0">
                <a:solidFill>
                  <a:schemeClr val="accent6"/>
                </a:solidFill>
              </a:rPr>
              <a:t>Documents are central to business (Insurance, Banking, HR, Logistics)</a:t>
            </a:r>
          </a:p>
          <a:p>
            <a:pPr marL="12700" marR="5080"/>
            <a:r>
              <a:rPr lang="en-US" sz="1150" kern="0" spc="-80" dirty="0">
                <a:solidFill>
                  <a:schemeClr val="accent6"/>
                </a:solidFill>
              </a:rPr>
              <a:t>High compliance is required</a:t>
            </a:r>
          </a:p>
          <a:p>
            <a:pPr marL="12700" marR="5080"/>
            <a:r>
              <a:rPr lang="en-US" sz="1150" kern="0" spc="-80" dirty="0">
                <a:solidFill>
                  <a:schemeClr val="accent6"/>
                </a:solidFill>
              </a:rPr>
              <a:t>Human approval steps exist</a:t>
            </a:r>
          </a:p>
          <a:p>
            <a:pPr marL="12700" marR="5080"/>
            <a:r>
              <a:rPr lang="en-US" sz="1150" kern="0" spc="-80" dirty="0">
                <a:solidFill>
                  <a:schemeClr val="accent6"/>
                </a:solidFill>
              </a:rPr>
              <a:t>Metadata extraction drives process decisions</a:t>
            </a:r>
          </a:p>
          <a:p>
            <a:pPr marL="12700" marR="5080"/>
            <a:endParaRPr lang="en-US" sz="1150" kern="0" spc="-80" dirty="0">
              <a:solidFill>
                <a:schemeClr val="accent6"/>
              </a:solidFill>
            </a:endParaRPr>
          </a:p>
          <a:p>
            <a:pPr marL="12700" marR="5080"/>
            <a:r>
              <a:rPr lang="en-US" sz="1150" kern="0" spc="-80" dirty="0">
                <a:solidFill>
                  <a:schemeClr val="accent2"/>
                </a:solidFill>
              </a:rPr>
              <a:t>Summary in One Line</a:t>
            </a:r>
          </a:p>
          <a:p>
            <a:pPr marL="12700" marR="5080"/>
            <a:r>
              <a:rPr lang="en-US" sz="1150" kern="0" spc="-80" dirty="0">
                <a:solidFill>
                  <a:schemeClr val="accent6"/>
                </a:solidFill>
              </a:rPr>
              <a:t>A Document-Based Workflow Architecture orchestrates the lifecycle of documents using automated extraction, metadata-driven routing, human tasks, integrations, and secure repository management.</a:t>
            </a:r>
          </a:p>
          <a:p>
            <a:pPr marL="12700" marR="5080"/>
            <a:endParaRPr lang="en-US" sz="1150" kern="0" spc="-80" dirty="0">
              <a:solidFill>
                <a:schemeClr val="accent6"/>
              </a:solidFill>
            </a:endParaRPr>
          </a:p>
        </p:txBody>
      </p:sp>
    </p:spTree>
    <p:extLst>
      <p:ext uri="{BB962C8B-B14F-4D97-AF65-F5344CB8AC3E}">
        <p14:creationId xmlns:p14="http://schemas.microsoft.com/office/powerpoint/2010/main" val="261256688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49BFE-5B97-639B-9FF7-AE2A86288C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2A3548-1356-B066-60E9-7EEE7B05A4A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1B74D39-84D7-7167-8E88-9EF870C6857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01BCCA3-B449-85E2-60FF-589BBA2351D0}"/>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DB2718-E7B7-861D-32FE-C3151D54577A}"/>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2400" kern="0" spc="-80" dirty="0">
                <a:solidFill>
                  <a:schemeClr val="accent2"/>
                </a:solidFill>
              </a:rPr>
              <a:t>  </a:t>
            </a:r>
          </a:p>
        </p:txBody>
      </p:sp>
      <p:pic>
        <p:nvPicPr>
          <p:cNvPr id="8" name="Picture 7" descr="A screenshot of a computer&#10;&#10;AI-generated content may be incorrect.">
            <a:extLst>
              <a:ext uri="{FF2B5EF4-FFF2-40B4-BE49-F238E27FC236}">
                <a16:creationId xmlns:a16="http://schemas.microsoft.com/office/drawing/2014/main" id="{0B345B8E-90F9-87D3-ECFC-5D1B80583D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662" y="1219200"/>
            <a:ext cx="9100338" cy="4724400"/>
          </a:xfrm>
          <a:prstGeom prst="rect">
            <a:avLst/>
          </a:prstGeom>
        </p:spPr>
      </p:pic>
    </p:spTree>
    <p:extLst>
      <p:ext uri="{BB962C8B-B14F-4D97-AF65-F5344CB8AC3E}">
        <p14:creationId xmlns:p14="http://schemas.microsoft.com/office/powerpoint/2010/main" val="413817099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5AC9-CE10-FE89-D2EB-E56C046BB5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8DDB706-F9FF-85EB-43ED-438EE436986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C715D9-A18B-4A32-40BC-7B8AA646A66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ABF6AF-75C6-DB67-C6CA-89ECD6B0A82E}"/>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A43F2B1-CD63-1C84-A1EC-CC023A2BB935}"/>
              </a:ext>
            </a:extLst>
          </p:cNvPr>
          <p:cNvSpPr txBox="1">
            <a:spLocks/>
          </p:cNvSpPr>
          <p:nvPr/>
        </p:nvSpPr>
        <p:spPr>
          <a:xfrm>
            <a:off x="152400" y="873204"/>
            <a:ext cx="87011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1350" kern="0" spc="-80" dirty="0">
                <a:solidFill>
                  <a:schemeClr val="accent6"/>
                </a:solidFill>
              </a:rPr>
              <a:t>Open Banking is a financial innovation model that allows third-party providers (TPPs) to access customer banking data (with consent) through secure APIs, enabling new financial products and services. It implements systems that allow secure, API-based data exchange between banks and authorized third-party providers (TPPs). This architecture is built on key components, including standardized APIs, strong security protocols, consent management, regulatory oversight, and integration capabilities with legacy banking systems. </a:t>
            </a:r>
          </a:p>
          <a:p>
            <a:pPr marL="12700" marR="5080"/>
            <a:r>
              <a:rPr lang="en-US" sz="1350" kern="0" spc="-80" dirty="0">
                <a:solidFill>
                  <a:schemeClr val="accent2"/>
                </a:solidFill>
              </a:rPr>
              <a:t>It’s about:</a:t>
            </a:r>
            <a:br>
              <a:rPr lang="en-US" sz="1350" kern="0" spc="-80" dirty="0">
                <a:solidFill>
                  <a:schemeClr val="accent6"/>
                </a:solidFill>
              </a:rPr>
            </a:br>
            <a:r>
              <a:rPr lang="en-US" sz="1350" kern="0" spc="-80" dirty="0">
                <a:solidFill>
                  <a:schemeClr val="accent2"/>
                </a:solidFill>
              </a:rPr>
              <a:t>Data ownership: </a:t>
            </a:r>
            <a:r>
              <a:rPr lang="en-US" sz="1350" kern="0" spc="-80" dirty="0">
                <a:solidFill>
                  <a:schemeClr val="accent6"/>
                </a:solidFill>
              </a:rPr>
              <a:t>Customer owns their financial data.</a:t>
            </a:r>
            <a:br>
              <a:rPr lang="en-US" sz="1350" kern="0" spc="-80" dirty="0">
                <a:solidFill>
                  <a:schemeClr val="accent6"/>
                </a:solidFill>
              </a:rPr>
            </a:br>
            <a:r>
              <a:rPr lang="en-US" sz="1350" kern="0" spc="-80" dirty="0">
                <a:solidFill>
                  <a:schemeClr val="accent2"/>
                </a:solidFill>
              </a:rPr>
              <a:t>Interoperability: </a:t>
            </a:r>
            <a:r>
              <a:rPr lang="en-US" sz="1350" kern="0" spc="-80" dirty="0">
                <a:solidFill>
                  <a:schemeClr val="accent6"/>
                </a:solidFill>
              </a:rPr>
              <a:t>Banks expose APIs to share data securely.</a:t>
            </a:r>
            <a:br>
              <a:rPr lang="en-US" sz="1350" kern="0" spc="-80" dirty="0">
                <a:solidFill>
                  <a:schemeClr val="accent6"/>
                </a:solidFill>
              </a:rPr>
            </a:br>
            <a:r>
              <a:rPr lang="en-US" sz="1350" kern="0" spc="-80" dirty="0">
                <a:solidFill>
                  <a:schemeClr val="accent2"/>
                </a:solidFill>
              </a:rPr>
              <a:t>Innovation: </a:t>
            </a:r>
            <a:r>
              <a:rPr lang="en-US" sz="1350" kern="0" spc="-80" dirty="0" err="1">
                <a:solidFill>
                  <a:schemeClr val="accent6"/>
                </a:solidFill>
              </a:rPr>
              <a:t>Fintechs</a:t>
            </a:r>
            <a:r>
              <a:rPr lang="en-US" sz="1350" kern="0" spc="-80" dirty="0">
                <a:solidFill>
                  <a:schemeClr val="accent6"/>
                </a:solidFill>
              </a:rPr>
              <a:t> and third parties build smarter apps/services on top.</a:t>
            </a:r>
          </a:p>
          <a:p>
            <a:pPr marL="12700" marR="5080"/>
            <a:r>
              <a:rPr lang="en-US" sz="2000" kern="0" spc="-80" dirty="0">
                <a:solidFill>
                  <a:schemeClr val="accent2"/>
                </a:solidFill>
              </a:rPr>
              <a:t>Core components</a:t>
            </a:r>
          </a:p>
          <a:p>
            <a:pPr marL="12700" marR="5080"/>
            <a:r>
              <a:rPr lang="en-US" sz="1350" kern="0" spc="-80" dirty="0">
                <a:solidFill>
                  <a:schemeClr val="accent2"/>
                </a:solidFill>
              </a:rPr>
              <a:t>APIs:</a:t>
            </a:r>
            <a:r>
              <a:rPr lang="en-US" sz="1350" kern="0" spc="-80" dirty="0">
                <a:solidFill>
                  <a:schemeClr val="accent6"/>
                </a:solidFill>
              </a:rPr>
              <a:t> Application Programming Interfaces are the foundation, enabling secure data exchange. These APIs are typically categorized by function:</a:t>
            </a:r>
          </a:p>
          <a:p>
            <a:pPr marL="12700" marR="5080"/>
            <a:r>
              <a:rPr lang="en-US" sz="1350" kern="0" spc="-80" dirty="0">
                <a:solidFill>
                  <a:schemeClr val="accent2"/>
                </a:solidFill>
              </a:rPr>
              <a:t>   Data APIs:</a:t>
            </a:r>
            <a:r>
              <a:rPr lang="en-US" sz="1350" kern="0" spc="-80" dirty="0">
                <a:solidFill>
                  <a:schemeClr val="accent6"/>
                </a:solidFill>
              </a:rPr>
              <a:t> Provide read-only access to consumer account information, balances, and transaction history.</a:t>
            </a:r>
          </a:p>
          <a:p>
            <a:pPr marL="12700" marR="5080"/>
            <a:r>
              <a:rPr lang="en-US" sz="1350" kern="0" spc="-80" dirty="0">
                <a:solidFill>
                  <a:schemeClr val="accent2"/>
                </a:solidFill>
              </a:rPr>
              <a:t>   Transaction APIs:</a:t>
            </a:r>
            <a:r>
              <a:rPr lang="en-US" sz="1350" kern="0" spc="-80" dirty="0">
                <a:solidFill>
                  <a:schemeClr val="accent6"/>
                </a:solidFill>
              </a:rPr>
              <a:t> Facilitate secure payments and fund transfers initiated by third parties with customer consent.</a:t>
            </a:r>
          </a:p>
          <a:p>
            <a:pPr marL="12700" marR="5080"/>
            <a:r>
              <a:rPr lang="en-US" sz="1350" kern="0" spc="-80" dirty="0">
                <a:solidFill>
                  <a:schemeClr val="accent2"/>
                </a:solidFill>
              </a:rPr>
              <a:t>   Product APIs: </a:t>
            </a:r>
            <a:r>
              <a:rPr lang="en-US" sz="1350" kern="0" spc="-80" dirty="0">
                <a:solidFill>
                  <a:schemeClr val="accent6"/>
                </a:solidFill>
              </a:rPr>
              <a:t>Allow TPPs to access information about financial products, rates, and terms, which is often used for comparison services.</a:t>
            </a:r>
          </a:p>
          <a:p>
            <a:pPr marL="12700" marR="5080"/>
            <a:r>
              <a:rPr lang="en-US" sz="1350" kern="0" spc="-80" dirty="0">
                <a:solidFill>
                  <a:schemeClr val="accent2"/>
                </a:solidFill>
              </a:rPr>
              <a:t>Security:</a:t>
            </a:r>
            <a:r>
              <a:rPr lang="en-US" sz="1350" kern="0" spc="-80" dirty="0">
                <a:solidFill>
                  <a:schemeClr val="accent6"/>
                </a:solidFill>
              </a:rPr>
              <a:t> Robust security measures are crucial for protecting sensitive financial data. </a:t>
            </a:r>
          </a:p>
          <a:p>
            <a:pPr marL="12700" marR="5080"/>
            <a:r>
              <a:rPr lang="en-US" sz="1350" kern="0" spc="-80" dirty="0">
                <a:solidFill>
                  <a:schemeClr val="accent2"/>
                </a:solidFill>
              </a:rPr>
              <a:t>This involves:</a:t>
            </a:r>
          </a:p>
          <a:p>
            <a:pPr marL="12700" marR="5080"/>
            <a:r>
              <a:rPr lang="en-US" sz="1350" kern="0" spc="-80" dirty="0">
                <a:solidFill>
                  <a:schemeClr val="accent6"/>
                </a:solidFill>
              </a:rPr>
              <a:t>   </a:t>
            </a:r>
            <a:r>
              <a:rPr lang="en-US" sz="1350" kern="0" spc="-80" dirty="0">
                <a:solidFill>
                  <a:schemeClr val="accent2"/>
                </a:solidFill>
              </a:rPr>
              <a:t>OAuth 2.0:</a:t>
            </a:r>
            <a:r>
              <a:rPr lang="en-US" sz="1350" kern="0" spc="-80" dirty="0">
                <a:solidFill>
                  <a:schemeClr val="accent6"/>
                </a:solidFill>
              </a:rPr>
              <a:t> Ensures customers explicitly approve and control access to their banking data.</a:t>
            </a:r>
          </a:p>
          <a:p>
            <a:pPr marL="12700" marR="5080"/>
            <a:r>
              <a:rPr lang="en-US" sz="1350" kern="0" spc="-80" dirty="0">
                <a:solidFill>
                  <a:schemeClr val="accent2"/>
                </a:solidFill>
              </a:rPr>
              <a:t>   Mutual Transport Layer Security (</a:t>
            </a:r>
            <a:r>
              <a:rPr lang="en-US" sz="1350" kern="0" spc="-80" dirty="0" err="1">
                <a:solidFill>
                  <a:schemeClr val="accent2"/>
                </a:solidFill>
              </a:rPr>
              <a:t>mTLS</a:t>
            </a:r>
            <a:r>
              <a:rPr lang="en-US" sz="1350" kern="0" spc="-80" dirty="0">
                <a:solidFill>
                  <a:schemeClr val="accent2"/>
                </a:solidFill>
              </a:rPr>
              <a:t>): </a:t>
            </a:r>
            <a:r>
              <a:rPr lang="en-US" sz="1350" kern="0" spc="-80" dirty="0">
                <a:solidFill>
                  <a:schemeClr val="accent6"/>
                </a:solidFill>
              </a:rPr>
              <a:t>Encrypts communication channels between banks and TPPs.</a:t>
            </a:r>
          </a:p>
          <a:p>
            <a:pPr marL="12700" marR="5080"/>
            <a:r>
              <a:rPr lang="en-US" sz="1350" kern="0" spc="-80" dirty="0">
                <a:solidFill>
                  <a:schemeClr val="accent2"/>
                </a:solidFill>
              </a:rPr>
              <a:t>   Access Control and Tokenization: </a:t>
            </a:r>
            <a:r>
              <a:rPr lang="en-US" sz="1350" kern="0" spc="-80" dirty="0">
                <a:solidFill>
                  <a:schemeClr val="accent6"/>
                </a:solidFill>
              </a:rPr>
              <a:t>Provides a granular and secure way to manage third-party access.</a:t>
            </a: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254601616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37EF-FEFF-82C2-6E13-4CBA3D6030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C21C2F-3779-3660-5146-BFDE7F1A605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A73AA2-204C-A152-42A9-A91D2D32816B}"/>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BB29554-E596-EED6-73E3-18874EDEB379}"/>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AB99B8-C916-DA41-5F84-F45CDA0CCF71}"/>
              </a:ext>
            </a:extLst>
          </p:cNvPr>
          <p:cNvSpPr txBox="1">
            <a:spLocks/>
          </p:cNvSpPr>
          <p:nvPr/>
        </p:nvSpPr>
        <p:spPr>
          <a:xfrm>
            <a:off x="152400" y="873204"/>
            <a:ext cx="8701137" cy="55015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1350" kern="0" spc="-80" dirty="0">
                <a:solidFill>
                  <a:schemeClr val="accent2"/>
                </a:solidFill>
              </a:rPr>
              <a:t>Consent Management: </a:t>
            </a:r>
            <a:r>
              <a:rPr lang="en-US" sz="1350" kern="0" spc="-80" dirty="0">
                <a:solidFill>
                  <a:schemeClr val="accent6"/>
                </a:solidFill>
              </a:rPr>
              <a:t>A mechanism for customers to grant and revoke permission for TPPs to access their </a:t>
            </a:r>
          </a:p>
          <a:p>
            <a:pPr marL="12700" marR="5080"/>
            <a:r>
              <a:rPr lang="en-US" sz="1350" kern="0" spc="-80" dirty="0">
                <a:solidFill>
                  <a:schemeClr val="accent6"/>
                </a:solidFill>
              </a:rPr>
              <a:t>financial data.</a:t>
            </a:r>
          </a:p>
          <a:p>
            <a:pPr marL="12700" marR="5080"/>
            <a:r>
              <a:rPr lang="en-US" sz="1350" kern="0" spc="-80" dirty="0">
                <a:solidFill>
                  <a:schemeClr val="accent2"/>
                </a:solidFill>
              </a:rPr>
              <a:t>Third-Party Providers (TPPs): </a:t>
            </a:r>
            <a:r>
              <a:rPr lang="en-US" sz="1350" kern="0" spc="-80" dirty="0">
                <a:solidFill>
                  <a:schemeClr val="accent6"/>
                </a:solidFill>
              </a:rPr>
              <a:t>The developers and fintech companies that use open banking APIs to build innovative applications and services.</a:t>
            </a:r>
          </a:p>
          <a:p>
            <a:pPr marL="12700" marR="5080"/>
            <a:r>
              <a:rPr lang="en-US" sz="1350" kern="0" spc="-80" dirty="0">
                <a:solidFill>
                  <a:schemeClr val="accent2"/>
                </a:solidFill>
              </a:rPr>
              <a:t>Regulatory Framework:</a:t>
            </a:r>
            <a:r>
              <a:rPr lang="en-US" sz="1350" kern="0" spc="-80" dirty="0">
                <a:solidFill>
                  <a:schemeClr val="accent6"/>
                </a:solidFill>
              </a:rPr>
              <a:t> Open banking operates within a regulatory framework that governs practices and ensures compliance and security. Examples include the Payment Services Directive (PSD2) in Europe, the Financial Data</a:t>
            </a:r>
          </a:p>
          <a:p>
            <a:pPr marL="12700" marR="5080"/>
            <a:r>
              <a:rPr lang="en-US" sz="1400" kern="0" spc="-80" dirty="0">
                <a:solidFill>
                  <a:schemeClr val="accent2"/>
                </a:solidFill>
              </a:rPr>
              <a:t>Integration with Legacy Systems:</a:t>
            </a:r>
            <a:r>
              <a:rPr lang="en-US" sz="1400" kern="0" spc="-80" dirty="0">
                <a:solidFill>
                  <a:schemeClr val="accent6"/>
                </a:solidFill>
              </a:rPr>
              <a:t> A key challenge is integrating modern API-based architecture with traditional, or legacy, core banking systems. This is often achieved through an integration layer that translates data into a format readable by open banking APIs.</a:t>
            </a:r>
          </a:p>
          <a:p>
            <a:pPr marL="12700" marR="5080"/>
            <a:r>
              <a:rPr lang="en-US" sz="1400" kern="0" spc="-80" dirty="0">
                <a:solidFill>
                  <a:schemeClr val="accent2"/>
                </a:solidFill>
              </a:rPr>
              <a:t>Cloud-Native and Microservices Architecture: </a:t>
            </a:r>
            <a:r>
              <a:rPr lang="en-US" sz="1400" kern="0" spc="-80" dirty="0">
                <a:solidFill>
                  <a:schemeClr val="accent6"/>
                </a:solidFill>
              </a:rPr>
              <a:t>Many modern open banking architectures use cloud-based, containerized microservices to ensure scalability, reliability, and high-volume transaction processing. </a:t>
            </a:r>
          </a:p>
          <a:p>
            <a:pPr marL="12700" marR="5080"/>
            <a:r>
              <a:rPr lang="en-IN" sz="2000" kern="0" spc="-80" dirty="0">
                <a:solidFill>
                  <a:schemeClr val="accent2"/>
                </a:solidFill>
              </a:rPr>
              <a:t>🏗️ Open Banking Architecture</a:t>
            </a:r>
            <a:br>
              <a:rPr lang="en-IN" sz="1350" kern="0" spc="-80" dirty="0">
                <a:solidFill>
                  <a:schemeClr val="accent2"/>
                </a:solidFill>
              </a:rPr>
            </a:br>
            <a:r>
              <a:rPr lang="en-IN" sz="1350" kern="0" spc="-80" dirty="0">
                <a:solidFill>
                  <a:schemeClr val="accent2"/>
                </a:solidFill>
              </a:rPr>
              <a:t>Layers:</a:t>
            </a:r>
            <a:br>
              <a:rPr lang="en-IN" sz="1350" kern="0" spc="-80" dirty="0">
                <a:solidFill>
                  <a:schemeClr val="accent6"/>
                </a:solidFill>
              </a:rPr>
            </a:br>
            <a:r>
              <a:rPr lang="en-IN" sz="1350" kern="0" spc="-80" dirty="0">
                <a:solidFill>
                  <a:schemeClr val="accent2"/>
                </a:solidFill>
              </a:rPr>
              <a:t>Customer Layer</a:t>
            </a:r>
            <a:r>
              <a:rPr lang="en-IN" sz="1350" kern="0" spc="-80" dirty="0">
                <a:solidFill>
                  <a:schemeClr val="accent6"/>
                </a:solidFill>
              </a:rPr>
              <a:t> – Web/mobile apps where users interact.</a:t>
            </a:r>
            <a:br>
              <a:rPr lang="en-IN" sz="1350" kern="0" spc="-80" dirty="0">
                <a:solidFill>
                  <a:schemeClr val="accent6"/>
                </a:solidFill>
              </a:rPr>
            </a:br>
            <a:r>
              <a:rPr lang="en-IN" sz="1350" kern="0" spc="-80" dirty="0">
                <a:solidFill>
                  <a:schemeClr val="accent2"/>
                </a:solidFill>
              </a:rPr>
              <a:t>TPP Layer</a:t>
            </a:r>
            <a:r>
              <a:rPr lang="en-IN" sz="1350" kern="0" spc="-80" dirty="0">
                <a:solidFill>
                  <a:schemeClr val="accent6"/>
                </a:solidFill>
              </a:rPr>
              <a:t> – </a:t>
            </a:r>
            <a:r>
              <a:rPr lang="en-IN" sz="1350" kern="0" spc="-80" dirty="0" err="1">
                <a:solidFill>
                  <a:schemeClr val="accent6"/>
                </a:solidFill>
              </a:rPr>
              <a:t>Fintechs</a:t>
            </a:r>
            <a:r>
              <a:rPr lang="en-IN" sz="1350" kern="0" spc="-80" dirty="0">
                <a:solidFill>
                  <a:schemeClr val="accent6"/>
                </a:solidFill>
              </a:rPr>
              <a:t> or external service providers.</a:t>
            </a:r>
            <a:br>
              <a:rPr lang="en-IN" sz="1350" kern="0" spc="-80" dirty="0">
                <a:solidFill>
                  <a:schemeClr val="accent6"/>
                </a:solidFill>
              </a:rPr>
            </a:br>
            <a:r>
              <a:rPr lang="en-IN" sz="1350" kern="0" spc="-80" dirty="0">
                <a:solidFill>
                  <a:schemeClr val="accent2"/>
                </a:solidFill>
              </a:rPr>
              <a:t>API Gateway –</a:t>
            </a:r>
            <a:r>
              <a:rPr lang="en-IN" sz="1350" kern="0" spc="-80" dirty="0">
                <a:solidFill>
                  <a:schemeClr val="accent6"/>
                </a:solidFill>
              </a:rPr>
              <a:t> The interface between TPPs and the bank.</a:t>
            </a:r>
            <a:br>
              <a:rPr lang="en-IN" sz="1350" kern="0" spc="-80" dirty="0">
                <a:solidFill>
                  <a:schemeClr val="accent6"/>
                </a:solidFill>
              </a:rPr>
            </a:br>
            <a:r>
              <a:rPr lang="en-IN" sz="1350" kern="0" spc="-80" dirty="0">
                <a:solidFill>
                  <a:schemeClr val="accent2"/>
                </a:solidFill>
              </a:rPr>
              <a:t>Bank Core Systems</a:t>
            </a:r>
            <a:r>
              <a:rPr lang="en-IN" sz="1350" kern="0" spc="-80" dirty="0">
                <a:solidFill>
                  <a:schemeClr val="accent6"/>
                </a:solidFill>
              </a:rPr>
              <a:t> – Account, payment, KYC, and other data sources.</a:t>
            </a:r>
            <a:br>
              <a:rPr lang="en-IN" sz="1350" kern="0" spc="-80" dirty="0">
                <a:solidFill>
                  <a:schemeClr val="accent6"/>
                </a:solidFill>
              </a:rPr>
            </a:br>
            <a:r>
              <a:rPr lang="en-IN" sz="1350" kern="0" spc="-80" dirty="0">
                <a:solidFill>
                  <a:schemeClr val="accent2"/>
                </a:solidFill>
              </a:rPr>
              <a:t>Flow Example (AISP use case):</a:t>
            </a:r>
            <a:br>
              <a:rPr lang="en-IN" sz="1350" kern="0" spc="-80" dirty="0">
                <a:solidFill>
                  <a:schemeClr val="accent6"/>
                </a:solidFill>
              </a:rPr>
            </a:br>
            <a:r>
              <a:rPr lang="en-IN" sz="1350" kern="0" spc="-80" dirty="0">
                <a:solidFill>
                  <a:schemeClr val="accent6"/>
                </a:solidFill>
              </a:rPr>
              <a:t>User → TPP App → Bank API Gateway → Bank Core System → Data → TPP → User Dashboard</a:t>
            </a:r>
            <a:br>
              <a:rPr lang="en-IN" sz="1350" kern="0" spc="-80" dirty="0">
                <a:solidFill>
                  <a:schemeClr val="accent6"/>
                </a:solidFill>
              </a:rPr>
            </a:br>
            <a:r>
              <a:rPr lang="en-IN" sz="1350" kern="0" spc="-80" dirty="0">
                <a:solidFill>
                  <a:schemeClr val="accent2"/>
                </a:solidFill>
              </a:rPr>
              <a:t>Flow Example (PISP use case):</a:t>
            </a:r>
            <a:br>
              <a:rPr lang="en-IN" sz="1350" kern="0" spc="-80" dirty="0">
                <a:solidFill>
                  <a:schemeClr val="accent6"/>
                </a:solidFill>
              </a:rPr>
            </a:br>
            <a:r>
              <a:rPr lang="en-IN" sz="1350" kern="0" spc="-80" dirty="0">
                <a:solidFill>
                  <a:schemeClr val="accent6"/>
                </a:solidFill>
              </a:rPr>
              <a:t>User → TPP App → Consent → Bank API Gateway → Payment Execution → Confirmation → TPP → User</a:t>
            </a:r>
            <a:endParaRPr lang="en-US" sz="1350" kern="0" spc="-80" dirty="0">
              <a:solidFill>
                <a:schemeClr val="accent6"/>
              </a:solidFill>
            </a:endParaRPr>
          </a:p>
          <a:p>
            <a:pPr marL="12700" marR="5080"/>
            <a:endParaRPr lang="en-US" sz="135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61015093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FB7A-7A6E-2562-57FE-CDF4EAE96E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39F9DB-AB13-7716-7DB6-02EBC0CA055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D0DF3D-960E-3742-8C92-01DC07FEF68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68B8C6-DC67-F482-4FCE-BD51AD9CA939}"/>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C6DFDEA-B7EF-EBD5-D496-5A68FD7FFAD5}"/>
              </a:ext>
            </a:extLst>
          </p:cNvPr>
          <p:cNvSpPr txBox="1">
            <a:spLocks/>
          </p:cNvSpPr>
          <p:nvPr/>
        </p:nvSpPr>
        <p:spPr>
          <a:xfrm>
            <a:off x="228600" y="873204"/>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IN" sz="2000" kern="0" spc="-80" dirty="0">
                <a:solidFill>
                  <a:schemeClr val="accent2"/>
                </a:solidFill>
              </a:rPr>
              <a:t>🚀 Future Trends – “Open Finance” and “Open Data”</a:t>
            </a:r>
            <a:br>
              <a:rPr lang="en-IN" sz="1350" kern="0" spc="-80" dirty="0">
                <a:solidFill>
                  <a:schemeClr val="accent6"/>
                </a:solidFill>
              </a:rPr>
            </a:br>
            <a:r>
              <a:rPr lang="en-IN" sz="1350" kern="0" spc="-80" dirty="0">
                <a:solidFill>
                  <a:schemeClr val="accent2"/>
                </a:solidFill>
              </a:rPr>
              <a:t>Open Finance:</a:t>
            </a:r>
            <a:r>
              <a:rPr lang="en-IN" sz="1350" kern="0" spc="-80" dirty="0">
                <a:solidFill>
                  <a:schemeClr val="accent6"/>
                </a:solidFill>
              </a:rPr>
              <a:t> Expansion to insurance, pensions, investments.</a:t>
            </a:r>
            <a:br>
              <a:rPr lang="en-IN" sz="1350" kern="0" spc="-80" dirty="0">
                <a:solidFill>
                  <a:schemeClr val="accent6"/>
                </a:solidFill>
              </a:rPr>
            </a:br>
            <a:r>
              <a:rPr lang="en-IN" sz="1350" kern="0" spc="-80" dirty="0">
                <a:solidFill>
                  <a:schemeClr val="accent2"/>
                </a:solidFill>
              </a:rPr>
              <a:t>Open Data Economy: </a:t>
            </a:r>
            <a:r>
              <a:rPr lang="en-IN" sz="1350" kern="0" spc="-80" dirty="0">
                <a:solidFill>
                  <a:schemeClr val="accent6"/>
                </a:solidFill>
              </a:rPr>
              <a:t>Cross-sectoral data sharing (telco, energy, health).</a:t>
            </a:r>
            <a:br>
              <a:rPr lang="en-IN" sz="1350" kern="0" spc="-80" dirty="0">
                <a:solidFill>
                  <a:schemeClr val="accent6"/>
                </a:solidFill>
              </a:rPr>
            </a:br>
            <a:r>
              <a:rPr lang="en-IN" sz="1350" kern="0" spc="-80" dirty="0">
                <a:solidFill>
                  <a:schemeClr val="accent2"/>
                </a:solidFill>
              </a:rPr>
              <a:t>Decentralized Identity (DID): </a:t>
            </a:r>
            <a:r>
              <a:rPr lang="en-IN" sz="1350" kern="0" spc="-80" dirty="0">
                <a:solidFill>
                  <a:schemeClr val="accent6"/>
                </a:solidFill>
              </a:rPr>
              <a:t>User-controlled digital identity.</a:t>
            </a:r>
            <a:br>
              <a:rPr lang="en-IN" sz="1350" kern="0" spc="-80" dirty="0">
                <a:solidFill>
                  <a:schemeClr val="accent6"/>
                </a:solidFill>
              </a:rPr>
            </a:br>
            <a:r>
              <a:rPr lang="en-IN" sz="1350" kern="0" spc="-80" dirty="0">
                <a:solidFill>
                  <a:schemeClr val="accent2"/>
                </a:solidFill>
              </a:rPr>
              <a:t>AI-driven Personalization:</a:t>
            </a:r>
            <a:r>
              <a:rPr lang="en-IN" sz="1350" kern="0" spc="-80" dirty="0">
                <a:solidFill>
                  <a:schemeClr val="accent6"/>
                </a:solidFill>
              </a:rPr>
              <a:t> Financial AI assistants using open banking data.</a:t>
            </a:r>
            <a:br>
              <a:rPr lang="en-IN" sz="1350" kern="0" spc="-80" dirty="0">
                <a:solidFill>
                  <a:schemeClr val="accent6"/>
                </a:solidFill>
              </a:rPr>
            </a:br>
            <a:r>
              <a:rPr lang="en-IN" sz="1350" kern="0" spc="-80" dirty="0">
                <a:solidFill>
                  <a:schemeClr val="accent2"/>
                </a:solidFill>
              </a:rPr>
              <a:t>Embedded Finance: </a:t>
            </a:r>
            <a:r>
              <a:rPr lang="en-IN" sz="1350" kern="0" spc="-80" dirty="0">
                <a:solidFill>
                  <a:schemeClr val="accent6"/>
                </a:solidFill>
              </a:rPr>
              <a:t>Banking integrated into e-commerce, ride-sharing, etc.</a:t>
            </a:r>
            <a:br>
              <a:rPr lang="en-IN" sz="1350" kern="0" spc="-80" dirty="0">
                <a:solidFill>
                  <a:schemeClr val="accent6"/>
                </a:solidFill>
              </a:rPr>
            </a:br>
            <a:r>
              <a:rPr lang="en-IN" sz="1350" kern="0" spc="-80" dirty="0">
                <a:solidFill>
                  <a:schemeClr val="accent2"/>
                </a:solidFill>
              </a:rPr>
              <a:t>Real-time Payment APIs: </a:t>
            </a:r>
            <a:r>
              <a:rPr lang="en-IN" sz="1350" kern="0" spc="-80" dirty="0">
                <a:solidFill>
                  <a:schemeClr val="accent6"/>
                </a:solidFill>
              </a:rPr>
              <a:t>Instant settlements (UPI, RTP, </a:t>
            </a:r>
            <a:r>
              <a:rPr lang="en-IN" sz="1350" kern="0" spc="-80" dirty="0" err="1">
                <a:solidFill>
                  <a:schemeClr val="accent6"/>
                </a:solidFill>
              </a:rPr>
              <a:t>FedNow</a:t>
            </a:r>
            <a:r>
              <a:rPr lang="en-IN" sz="1350" kern="0" spc="-80" dirty="0">
                <a:solidFill>
                  <a:schemeClr val="accent6"/>
                </a:solidFill>
              </a:rPr>
              <a:t>).</a:t>
            </a: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r>
              <a:rPr lang="en-IN" sz="1800" kern="0" spc="-80" dirty="0">
                <a:solidFill>
                  <a:schemeClr val="accent2"/>
                </a:solidFill>
              </a:rPr>
              <a:t>For Further Exploration</a:t>
            </a:r>
          </a:p>
          <a:p>
            <a:pPr marL="12700" marR="5080"/>
            <a:r>
              <a:rPr lang="en-US" sz="1800" dirty="0">
                <a:hlinkClick r:id="rId7"/>
              </a:rPr>
              <a:t>What Is Open Banking? | Open Banking APIs | Software AG</a:t>
            </a:r>
            <a:endParaRPr lang="en-US" sz="1800" dirty="0"/>
          </a:p>
          <a:p>
            <a:pPr marL="12700" marR="5080"/>
            <a:r>
              <a:rPr lang="en-US" sz="1800" dirty="0">
                <a:hlinkClick r:id="rId8"/>
              </a:rPr>
              <a:t>How to Build an Open Banking Architecture That Scales</a:t>
            </a:r>
            <a:endParaRPr lang="en-IN" sz="1800" kern="0" spc="-80" dirty="0">
              <a:solidFill>
                <a:schemeClr val="accent2"/>
              </a:solidFill>
            </a:endParaRPr>
          </a:p>
          <a:p>
            <a:pPr marL="12700" marR="5080"/>
            <a:r>
              <a:rPr lang="en-US" sz="1800" dirty="0">
                <a:hlinkClick r:id="rId9"/>
              </a:rPr>
              <a:t>What are open banking providers (AISP &amp; PISP) | GoCardless</a:t>
            </a:r>
            <a:endParaRPr lang="en-US" sz="1800" dirty="0"/>
          </a:p>
          <a:p>
            <a:pPr marL="12700" marR="5080"/>
            <a:r>
              <a:rPr lang="en-US" sz="1800" dirty="0">
                <a:hlinkClick r:id="rId10"/>
              </a:rPr>
              <a:t>A Blueprint for Robust Consent Management</a:t>
            </a:r>
            <a:endParaRPr lang="en-US" sz="1800" dirty="0"/>
          </a:p>
          <a:p>
            <a:pPr marL="12700" marR="5080"/>
            <a:r>
              <a:rPr lang="en-US" sz="1800" dirty="0">
                <a:hlinkClick r:id="rId11"/>
              </a:rPr>
              <a:t>Overview of permissions and consent in the Microsoft identity platform</a:t>
            </a:r>
            <a:endParaRPr lang="en-US" sz="1800" dirty="0"/>
          </a:p>
          <a:p>
            <a:pPr marL="12700" marR="5080"/>
            <a:r>
              <a:rPr lang="en-US" sz="1800" dirty="0">
                <a:hlinkClick r:id="rId12"/>
              </a:rPr>
              <a:t>Application consent management and evaluation of consent requests</a:t>
            </a:r>
            <a:endParaRPr lang="en-US" sz="1800" dirty="0"/>
          </a:p>
          <a:p>
            <a:pPr marL="12700" marR="5080"/>
            <a:r>
              <a:rPr lang="en-US" sz="1800" dirty="0">
                <a:hlinkClick r:id="rId13"/>
              </a:rPr>
              <a:t>The PAYTECH Book</a:t>
            </a:r>
            <a:endParaRPr lang="en-US" sz="1800" dirty="0"/>
          </a:p>
        </p:txBody>
      </p:sp>
    </p:spTree>
    <p:extLst>
      <p:ext uri="{BB962C8B-B14F-4D97-AF65-F5344CB8AC3E}">
        <p14:creationId xmlns:p14="http://schemas.microsoft.com/office/powerpoint/2010/main" val="114841130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53A02-58F1-EFE2-765C-6D1EF0C81E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4284A8-E951-E64C-95BD-7F817BA6198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9325772-E0DB-2F5F-07D5-A12C4F5D55D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FE1192D-A268-C86A-2917-EDE2DF89DC76}"/>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F8D8C2-4EF9-69EF-269B-DE6211D35E2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Insurance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5211505-058E-A7C9-4CB7-704E4B2E0904}"/>
              </a:ext>
            </a:extLst>
          </p:cNvPr>
          <p:cNvSpPr txBox="1">
            <a:spLocks/>
          </p:cNvSpPr>
          <p:nvPr/>
        </p:nvSpPr>
        <p:spPr>
          <a:xfrm>
            <a:off x="76200" y="4446423"/>
            <a:ext cx="8624937" cy="16158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IN" sz="1000" dirty="0">
                <a:hlinkClick r:id="rId7"/>
              </a:rPr>
              <a:t>Insurance industry | IBM Cloud Docs</a:t>
            </a:r>
            <a:endParaRPr lang="en-US" sz="1000" kern="0" spc="-80" dirty="0">
              <a:solidFill>
                <a:schemeClr val="accent2"/>
              </a:solidFill>
            </a:endParaRPr>
          </a:p>
          <a:p>
            <a:pPr marL="12700" marR="5080"/>
            <a:r>
              <a:rPr lang="en-US" sz="1000" dirty="0">
                <a:hlinkClick r:id="rId8"/>
              </a:rPr>
              <a:t>Insurance Framework | Business Architecture Info</a:t>
            </a:r>
            <a:endParaRPr lang="en-US" sz="1000" dirty="0"/>
          </a:p>
          <a:p>
            <a:pPr marL="12700" marR="5080"/>
            <a:r>
              <a:rPr lang="en-US" sz="1000" dirty="0">
                <a:hlinkClick r:id="rId9"/>
              </a:rPr>
              <a:t>Insurance claim processing reference architecture | Google Cloud Blog</a:t>
            </a:r>
            <a:endParaRPr lang="en-US" sz="1000" dirty="0"/>
          </a:p>
          <a:p>
            <a:pPr marL="12700" marR="5080"/>
            <a:r>
              <a:rPr lang="en-US" sz="1000" dirty="0">
                <a:hlinkClick r:id="rId10"/>
              </a:rPr>
              <a:t>Life and Annuity Insurance Industry Business Reference Architecture | Info-Tech Research Group</a:t>
            </a:r>
            <a:endParaRPr lang="en-US" sz="1000" kern="0" spc="-80" dirty="0">
              <a:solidFill>
                <a:schemeClr val="accent2"/>
              </a:solidFill>
            </a:endParaRPr>
          </a:p>
          <a:p>
            <a:pPr marL="12700" marR="5080"/>
            <a:r>
              <a:rPr lang="en-IN" sz="1000" dirty="0">
                <a:hlinkClick r:id="rId11"/>
              </a:rPr>
              <a:t>ACORD Reference Architecture</a:t>
            </a:r>
            <a:endParaRPr lang="en-IN" sz="1000" dirty="0"/>
          </a:p>
          <a:p>
            <a:pPr marL="12700" marR="5080"/>
            <a:r>
              <a:rPr lang="en-US" sz="1000" dirty="0">
                <a:hlinkClick r:id="rId12"/>
              </a:rPr>
              <a:t>Importance of Enterprise Reference Architecture for Insurance | LinkedIn</a:t>
            </a:r>
            <a:endParaRPr lang="en-US" sz="1000" dirty="0"/>
          </a:p>
          <a:p>
            <a:pPr marL="12700" marR="5080"/>
            <a:r>
              <a:rPr lang="en-IN" sz="1000" dirty="0">
                <a:hlinkClick r:id="rId13"/>
              </a:rPr>
              <a:t>Towards a Microservice Reference Architecture for Insurance Comps</a:t>
            </a:r>
            <a:endParaRPr lang="en-IN" sz="1000" dirty="0"/>
          </a:p>
          <a:p>
            <a:pPr marL="12700" marR="5080"/>
            <a:r>
              <a:rPr lang="en-IN" sz="1000" dirty="0">
                <a:hlinkClick r:id="rId14"/>
              </a:rPr>
              <a:t>Life Insurance &amp; Annuities Digital Transformation | Cognizant</a:t>
            </a:r>
            <a:endParaRPr lang="en-IN" sz="1000" dirty="0"/>
          </a:p>
          <a:p>
            <a:pPr marL="12700" marR="5080"/>
            <a:endParaRPr lang="en-US" sz="1000" kern="0" spc="-80" dirty="0">
              <a:solidFill>
                <a:schemeClr val="accent2"/>
              </a:solidFill>
            </a:endParaRPr>
          </a:p>
        </p:txBody>
      </p:sp>
      <p:pic>
        <p:nvPicPr>
          <p:cNvPr id="1028" name="Picture 4">
            <a:extLst>
              <a:ext uri="{FF2B5EF4-FFF2-40B4-BE49-F238E27FC236}">
                <a16:creationId xmlns:a16="http://schemas.microsoft.com/office/drawing/2014/main" id="{A18C29A3-9E48-F0B6-6865-77837DC9CC9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219200"/>
            <a:ext cx="9144000" cy="3227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348308"/>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6F7F-6107-A376-9DC2-C413CA85EF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7A23D76-C8C5-E4B8-99A8-AFBB761A9FC5}"/>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DFF4DE-3B15-72F3-839D-284D33966F9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9214DA6-8E66-7C49-1E3B-D4D9291859A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BAE3E8E-38B7-B602-10FD-AD5D94DBF4DF}"/>
              </a:ext>
            </a:extLst>
          </p:cNvPr>
          <p:cNvSpPr txBox="1">
            <a:spLocks/>
          </p:cNvSpPr>
          <p:nvPr/>
        </p:nvSpPr>
        <p:spPr>
          <a:xfrm>
            <a:off x="228600" y="873204"/>
            <a:ext cx="8624937" cy="536300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2000" kern="0" spc="-80" dirty="0">
                <a:solidFill>
                  <a:schemeClr val="accent2"/>
                </a:solidFill>
              </a:rPr>
              <a:t>High-Level Logical Architecture</a:t>
            </a:r>
          </a:p>
          <a:p>
            <a:pPr marL="12700" marR="5080"/>
            <a:r>
              <a:rPr lang="en-US" sz="1050" kern="0" spc="-80" dirty="0">
                <a:solidFill>
                  <a:schemeClr val="accent6"/>
                </a:solidFill>
              </a:rPr>
              <a:t>┌──────────────────────────────────────────────┐</a:t>
            </a:r>
          </a:p>
          <a:p>
            <a:pPr marL="12700" marR="5080"/>
            <a:r>
              <a:rPr lang="en-US" sz="1050" kern="0" spc="-80" dirty="0">
                <a:solidFill>
                  <a:schemeClr val="accent6"/>
                </a:solidFill>
              </a:rPr>
              <a:t>│                  Client Apps                 │</a:t>
            </a:r>
          </a:p>
          <a:p>
            <a:pPr marL="12700" marR="5080"/>
            <a:r>
              <a:rPr lang="en-US" sz="1050" kern="0" spc="-80" dirty="0">
                <a:solidFill>
                  <a:schemeClr val="accent6"/>
                </a:solidFill>
              </a:rPr>
              <a:t>│ (Mobile, Web, Partner Portals, POS, IoT)     │</a:t>
            </a:r>
          </a:p>
          <a:p>
            <a:pPr marL="12700" marR="5080"/>
            <a:r>
              <a:rPr lang="en-US" sz="1050" kern="0" spc="-80" dirty="0">
                <a:solidFill>
                  <a:schemeClr val="accent6"/>
                </a:solidFill>
              </a:rPr>
              <a:t>└──────────────────────────────────────────────┘</a:t>
            </a:r>
          </a:p>
          <a:p>
            <a:pPr marL="12700" marR="5080"/>
            <a:r>
              <a:rPr lang="en-US" sz="1050" kern="0" spc="-80" dirty="0">
                <a:solidFill>
                  <a:schemeClr val="accent6"/>
                </a:solidFill>
              </a:rPr>
              <a:t>                                                                      │ API Gateway</a:t>
            </a:r>
          </a:p>
          <a:p>
            <a:pPr marL="12700" marR="5080"/>
            <a:r>
              <a:rPr lang="en-US" sz="1050" kern="0" spc="-80" dirty="0">
                <a:solidFill>
                  <a:schemeClr val="accent6"/>
                </a:solidFill>
              </a:rPr>
              <a:t>                                                                      ▼</a:t>
            </a:r>
          </a:p>
          <a:p>
            <a:pPr marL="12700" marR="5080"/>
            <a:r>
              <a:rPr lang="en-US" sz="1050" kern="0" spc="-80" dirty="0">
                <a:solidFill>
                  <a:schemeClr val="accent6"/>
                </a:solidFill>
              </a:rPr>
              <a:t>┌──────────────────────────────────────────────┐</a:t>
            </a:r>
          </a:p>
          <a:p>
            <a:pPr marL="12700" marR="5080"/>
            <a:r>
              <a:rPr lang="en-US" sz="1050" kern="0" spc="-80" dirty="0">
                <a:solidFill>
                  <a:schemeClr val="accent6"/>
                </a:solidFill>
              </a:rPr>
              <a:t>│               API Aggregation Layer           │</a:t>
            </a:r>
          </a:p>
          <a:p>
            <a:pPr marL="12700" marR="5080"/>
            <a:r>
              <a:rPr lang="en-US" sz="1050" kern="0" spc="-80" dirty="0">
                <a:solidFill>
                  <a:schemeClr val="accent6"/>
                </a:solidFill>
              </a:rPr>
              <a:t>│  (BFF, Orchestration, Rate Limiting, JWT)     │</a:t>
            </a:r>
          </a:p>
          <a:p>
            <a:pPr marL="12700" marR="5080"/>
            <a:r>
              <a:rPr lang="en-US" sz="1050" kern="0" spc="-80" dirty="0">
                <a:solidFill>
                  <a:schemeClr val="accent6"/>
                </a:solidFill>
              </a:rPr>
              <a:t>└──────────────────────────────────────────────┘</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               ▼               ▼</a:t>
            </a:r>
          </a:p>
          <a:p>
            <a:pPr marL="12700" marR="5080"/>
            <a:r>
              <a:rPr lang="en-US" sz="1050" kern="0" spc="-80" dirty="0">
                <a:solidFill>
                  <a:schemeClr val="accent6"/>
                </a:solidFill>
              </a:rPr>
              <a:t>   Payments Engine    Wallet Engine      Lending Engine</a:t>
            </a:r>
          </a:p>
          <a:p>
            <a:pPr marL="12700" marR="5080"/>
            <a:r>
              <a:rPr lang="en-US" sz="1050" kern="0" spc="-80" dirty="0">
                <a:solidFill>
                  <a:schemeClr val="accent6"/>
                </a:solidFill>
              </a:rPr>
              <a:t>   Insurance Engine   Compliance Engine  Cards Engine</a:t>
            </a:r>
          </a:p>
          <a:p>
            <a:pPr marL="12700" marR="5080"/>
            <a:r>
              <a:rPr lang="en-US" sz="1050" kern="0" spc="-80" dirty="0">
                <a:solidFill>
                  <a:schemeClr val="accent6"/>
                </a:solidFill>
              </a:rPr>
              <a:t>            │               │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a:t>
            </a:r>
          </a:p>
          <a:p>
            <a:pPr marL="12700" marR="5080"/>
            <a:r>
              <a:rPr lang="en-US" sz="1050" kern="0" spc="-80" dirty="0">
                <a:solidFill>
                  <a:schemeClr val="accent6"/>
                </a:solidFill>
              </a:rPr>
              <a:t>       │        Core Financial Services          │</a:t>
            </a:r>
          </a:p>
          <a:p>
            <a:pPr marL="12700" marR="5080"/>
            <a:r>
              <a:rPr lang="en-US" sz="1050" kern="0" spc="-80" dirty="0">
                <a:solidFill>
                  <a:schemeClr val="accent6"/>
                </a:solidFill>
              </a:rPr>
              <a:t>       │ (BaaS Banks, Payment Rails, Credit APIs)│</a:t>
            </a:r>
          </a:p>
          <a:p>
            <a:pPr marL="12700" marR="5080"/>
            <a:r>
              <a:rPr lang="en-US" sz="1050" kern="0" spc="-80" dirty="0">
                <a:solidFill>
                  <a:schemeClr val="accent6"/>
                </a:solidFill>
              </a:rPr>
              <a:t>       │   (UPI, RTGS/NEFT, ACH, Visa, NPCI)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 Shared Infra: Events, Logs, Vault, KMS  │</a:t>
            </a:r>
          </a:p>
          <a:p>
            <a:pPr marL="12700" marR="5080"/>
            <a:r>
              <a:rPr lang="en-US" sz="1050" kern="0" spc="-80" dirty="0">
                <a:solidFill>
                  <a:schemeClr val="accent6"/>
                </a:solidFill>
              </a:rPr>
              <a:t>       └─────────────────────────────────────────┘</a:t>
            </a:r>
          </a:p>
          <a:p>
            <a:pPr marL="12700" marR="5080"/>
            <a:endParaRPr lang="en-US" sz="1050" kern="0" spc="-80" dirty="0">
              <a:solidFill>
                <a:schemeClr val="accent6"/>
              </a:solidFill>
            </a:endParaRPr>
          </a:p>
        </p:txBody>
      </p:sp>
    </p:spTree>
    <p:extLst>
      <p:ext uri="{BB962C8B-B14F-4D97-AF65-F5344CB8AC3E}">
        <p14:creationId xmlns:p14="http://schemas.microsoft.com/office/powerpoint/2010/main" val="160273701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49E1-72C0-B682-6355-F61A10134F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C6A944-7A16-13EE-EED4-C92004B5326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512E4F-6D7C-569F-8A5A-4C9248F17B9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16A892-32CC-0073-B32C-4B3E3147E90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CF01B48-54AB-8F31-C7C5-F4CA48128CE3}"/>
              </a:ext>
            </a:extLst>
          </p:cNvPr>
          <p:cNvSpPr txBox="1">
            <a:spLocks/>
          </p:cNvSpPr>
          <p:nvPr/>
        </p:nvSpPr>
        <p:spPr>
          <a:xfrm>
            <a:off x="228600" y="873204"/>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What is Embedded Finance?</a:t>
            </a:r>
          </a:p>
          <a:p>
            <a:pPr marL="12700" marR="5080"/>
            <a:r>
              <a:rPr lang="en-US" sz="1200" kern="0" spc="-80" dirty="0">
                <a:solidFill>
                  <a:schemeClr val="accent6"/>
                </a:solidFill>
              </a:rPr>
              <a:t>Embedded finance = integrating financial services directly inside non-financial apps, platforms, and products—so users get financial functionality without going to a bank.</a:t>
            </a:r>
          </a:p>
          <a:p>
            <a:pPr marL="12700" marR="5080"/>
            <a:r>
              <a:rPr lang="en-US" sz="1200" kern="0" spc="-80" dirty="0">
                <a:solidFill>
                  <a:schemeClr val="accent2"/>
                </a:solidFill>
              </a:rPr>
              <a:t>Examples:</a:t>
            </a:r>
          </a:p>
          <a:p>
            <a:pPr marL="12700" marR="5080"/>
            <a:r>
              <a:rPr lang="en-US" sz="1200" kern="0" spc="-80" dirty="0">
                <a:solidFill>
                  <a:schemeClr val="accent6"/>
                </a:solidFill>
              </a:rPr>
              <a:t>Uber → driver wallets + instant payouts</a:t>
            </a:r>
          </a:p>
          <a:p>
            <a:pPr marL="12700" marR="5080"/>
            <a:r>
              <a:rPr lang="en-US" sz="1200" kern="0" spc="-80" dirty="0">
                <a:solidFill>
                  <a:schemeClr val="accent6"/>
                </a:solidFill>
              </a:rPr>
              <a:t>Amazon → pay-later, EMI, insurance during checkout</a:t>
            </a:r>
          </a:p>
          <a:p>
            <a:pPr marL="12700" marR="5080"/>
            <a:r>
              <a:rPr lang="en-US" sz="1200" kern="0" spc="-80" dirty="0" err="1">
                <a:solidFill>
                  <a:schemeClr val="accent6"/>
                </a:solidFill>
              </a:rPr>
              <a:t>Dunzo</a:t>
            </a:r>
            <a:r>
              <a:rPr lang="en-US" sz="1200" kern="0" spc="-80" dirty="0">
                <a:solidFill>
                  <a:schemeClr val="accent6"/>
                </a:solidFill>
              </a:rPr>
              <a:t>/Swiggy/Zomato → delivery partner cards + payouts</a:t>
            </a:r>
          </a:p>
          <a:p>
            <a:pPr marL="12700" marR="5080"/>
            <a:r>
              <a:rPr lang="en-US" sz="1200" kern="0" spc="-80" dirty="0">
                <a:solidFill>
                  <a:schemeClr val="accent6"/>
                </a:solidFill>
              </a:rPr>
              <a:t>Shopify → merchant banking, loans</a:t>
            </a:r>
          </a:p>
          <a:p>
            <a:pPr marL="12700" marR="5080"/>
            <a:r>
              <a:rPr lang="en-US" sz="1200" kern="0" spc="-80" dirty="0">
                <a:solidFill>
                  <a:schemeClr val="accent6"/>
                </a:solidFill>
              </a:rPr>
              <a:t>Ola Money → wallet + credit</a:t>
            </a:r>
          </a:p>
          <a:p>
            <a:pPr marL="12700" marR="5080"/>
            <a:r>
              <a:rPr lang="en-US" sz="1200" kern="0" spc="-80" dirty="0">
                <a:solidFill>
                  <a:schemeClr val="accent6"/>
                </a:solidFill>
              </a:rPr>
              <a:t>Apple Pay / Google Pay → embedded payments</a:t>
            </a:r>
          </a:p>
          <a:p>
            <a:pPr marL="12700" marR="5080"/>
            <a:r>
              <a:rPr lang="en-US" sz="1200" kern="0" spc="-80" dirty="0">
                <a:solidFill>
                  <a:schemeClr val="accent6"/>
                </a:solidFill>
              </a:rPr>
              <a:t>Flipkart → product insurance + Buy Now Pay Later</a:t>
            </a:r>
          </a:p>
          <a:p>
            <a:pPr marL="12700" marR="5080"/>
            <a:endParaRPr lang="en-US" sz="1200" kern="0" spc="-80" dirty="0">
              <a:solidFill>
                <a:schemeClr val="accent6"/>
              </a:solidFill>
            </a:endParaRPr>
          </a:p>
          <a:p>
            <a:pPr marL="12700" marR="5080"/>
            <a:r>
              <a:rPr lang="en-US" sz="1200" kern="0" spc="-80" dirty="0">
                <a:solidFill>
                  <a:schemeClr val="accent2"/>
                </a:solidFill>
              </a:rPr>
              <a:t>⭐ Key Modules of Embedded Finance</a:t>
            </a:r>
          </a:p>
          <a:p>
            <a:pPr marL="12700" marR="5080"/>
            <a:r>
              <a:rPr lang="en-US" sz="1200" kern="0" spc="-80" dirty="0">
                <a:solidFill>
                  <a:schemeClr val="accent2"/>
                </a:solidFill>
              </a:rPr>
              <a:t>Embedded finance typically includes:</a:t>
            </a:r>
          </a:p>
          <a:p>
            <a:pPr marL="12700" marR="5080"/>
            <a:r>
              <a:rPr lang="en-US" sz="1200" kern="0" spc="-80" dirty="0">
                <a:solidFill>
                  <a:schemeClr val="accent6"/>
                </a:solidFill>
              </a:rPr>
              <a:t>Embedded Payments</a:t>
            </a:r>
          </a:p>
          <a:p>
            <a:pPr marL="12700" marR="5080"/>
            <a:r>
              <a:rPr lang="en-US" sz="1200" kern="0" spc="-80" dirty="0">
                <a:solidFill>
                  <a:schemeClr val="accent6"/>
                </a:solidFill>
              </a:rPr>
              <a:t>Embedded Lending (BNPL, micro-loans, EMI)</a:t>
            </a:r>
          </a:p>
          <a:p>
            <a:pPr marL="12700" marR="5080"/>
            <a:r>
              <a:rPr lang="en-US" sz="1200" kern="0" spc="-80" dirty="0">
                <a:solidFill>
                  <a:schemeClr val="accent6"/>
                </a:solidFill>
              </a:rPr>
              <a:t>Embedded Insurance</a:t>
            </a:r>
          </a:p>
          <a:p>
            <a:pPr marL="12700" marR="5080"/>
            <a:r>
              <a:rPr lang="en-US" sz="1200" kern="0" spc="-80" dirty="0">
                <a:solidFill>
                  <a:schemeClr val="accent6"/>
                </a:solidFill>
              </a:rPr>
              <a:t>Embedded Banking (wallets, accounts, cards)</a:t>
            </a:r>
          </a:p>
          <a:p>
            <a:pPr marL="12700" marR="5080"/>
            <a:r>
              <a:rPr lang="en-US" sz="1200" kern="0" spc="-80" dirty="0">
                <a:solidFill>
                  <a:schemeClr val="accent6"/>
                </a:solidFill>
              </a:rPr>
              <a:t>Embedded Investments (mutual funds, stocks)</a:t>
            </a:r>
          </a:p>
          <a:p>
            <a:pPr marL="12700" marR="5080"/>
            <a:r>
              <a:rPr lang="en-US" sz="1200" kern="0" spc="-80" dirty="0">
                <a:solidFill>
                  <a:schemeClr val="accent6"/>
                </a:solidFill>
              </a:rPr>
              <a:t>Embedded Payroll (instant payouts)</a:t>
            </a:r>
          </a:p>
          <a:p>
            <a:pPr marL="12700" marR="5080"/>
            <a:r>
              <a:rPr lang="en-US" sz="1200" kern="0" spc="-80" dirty="0">
                <a:solidFill>
                  <a:schemeClr val="accent6"/>
                </a:solidFill>
              </a:rPr>
              <a:t>Each uses APIs + background services + compliance layers.</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226486860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3829-AAD2-4F61-3E8C-FE2C81BEBE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35DEAD-8F84-4512-6C09-1B6ED1BA94B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025960-5F2E-2656-44F9-644D2B4D5FF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F14D32-6BDD-E9C0-EED3-6D70265D976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5B1305B-0103-C8BF-DB12-A00BBCC534A7}"/>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1. Embedded Payments</a:t>
            </a:r>
          </a:p>
          <a:p>
            <a:pPr marL="12700" marR="5080"/>
            <a:r>
              <a:rPr lang="en-US" sz="1200" kern="0" spc="-80" dirty="0">
                <a:solidFill>
                  <a:schemeClr val="accent6"/>
                </a:solidFill>
              </a:rPr>
              <a:t>Enables frictionless transactions inside the host app.</a:t>
            </a:r>
          </a:p>
          <a:p>
            <a:pPr marL="12700" marR="5080"/>
            <a:r>
              <a:rPr lang="en-US" sz="1200" kern="0" spc="-80" dirty="0">
                <a:solidFill>
                  <a:schemeClr val="accent2"/>
                </a:solidFill>
              </a:rPr>
              <a:t>🔹 Examples:</a:t>
            </a:r>
          </a:p>
          <a:p>
            <a:pPr marL="12700" marR="5080"/>
            <a:r>
              <a:rPr lang="en-US" sz="1200" kern="0" spc="-80" dirty="0">
                <a:solidFill>
                  <a:schemeClr val="accent6"/>
                </a:solidFill>
              </a:rPr>
              <a:t>UPI autopay (India)</a:t>
            </a:r>
          </a:p>
          <a:p>
            <a:pPr marL="12700" marR="5080"/>
            <a:r>
              <a:rPr lang="en-US" sz="1200" kern="0" spc="-80" dirty="0">
                <a:solidFill>
                  <a:schemeClr val="accent6"/>
                </a:solidFill>
              </a:rPr>
              <a:t>Card vaulting (Stripe)</a:t>
            </a:r>
          </a:p>
          <a:p>
            <a:pPr marL="12700" marR="5080"/>
            <a:r>
              <a:rPr lang="en-US" sz="1200" kern="0" spc="-80" dirty="0">
                <a:solidFill>
                  <a:schemeClr val="accent6"/>
                </a:solidFill>
              </a:rPr>
              <a:t>Subscription management</a:t>
            </a:r>
          </a:p>
          <a:p>
            <a:pPr marL="12700" marR="5080"/>
            <a:r>
              <a:rPr lang="en-US" sz="1200" kern="0" spc="-80" dirty="0">
                <a:solidFill>
                  <a:schemeClr val="accent6"/>
                </a:solidFill>
              </a:rPr>
              <a:t>Payouts to vendors/drivers</a:t>
            </a:r>
          </a:p>
          <a:p>
            <a:pPr marL="12700" marR="5080"/>
            <a:r>
              <a:rPr lang="en-US" sz="1200" kern="0" spc="-80" dirty="0">
                <a:solidFill>
                  <a:schemeClr val="accent2"/>
                </a:solidFill>
              </a:rPr>
              <a:t>🔹 API Architecture:</a:t>
            </a:r>
          </a:p>
          <a:p>
            <a:pPr marL="12700" marR="5080"/>
            <a:r>
              <a:rPr lang="en-US" sz="1200" kern="0" spc="-80" dirty="0">
                <a:solidFill>
                  <a:schemeClr val="accent6"/>
                </a:solidFill>
              </a:rPr>
              <a:t>Tokenization API</a:t>
            </a:r>
          </a:p>
          <a:p>
            <a:pPr marL="12700" marR="5080"/>
            <a:r>
              <a:rPr lang="en-US" sz="1200" kern="0" spc="-80" dirty="0">
                <a:solidFill>
                  <a:schemeClr val="accent6"/>
                </a:solidFill>
              </a:rPr>
              <a:t>Payment intent API</a:t>
            </a:r>
          </a:p>
          <a:p>
            <a:pPr marL="12700" marR="5080"/>
            <a:r>
              <a:rPr lang="en-US" sz="1200" kern="0" spc="-80" dirty="0">
                <a:solidFill>
                  <a:schemeClr val="accent6"/>
                </a:solidFill>
              </a:rPr>
              <a:t>Refund API</a:t>
            </a:r>
          </a:p>
          <a:p>
            <a:pPr marL="12700" marR="5080"/>
            <a:r>
              <a:rPr lang="en-US" sz="1200" kern="0" spc="-80" dirty="0">
                <a:solidFill>
                  <a:schemeClr val="accent6"/>
                </a:solidFill>
              </a:rPr>
              <a:t>Webhooks for payment status</a:t>
            </a:r>
          </a:p>
          <a:p>
            <a:pPr marL="12700" marR="5080"/>
            <a:r>
              <a:rPr lang="en-US" sz="1200" kern="0" spc="-80" dirty="0">
                <a:solidFill>
                  <a:schemeClr val="accent6"/>
                </a:solidFill>
              </a:rPr>
              <a:t>Settlement background jobs</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Reconciliation worker</a:t>
            </a:r>
          </a:p>
          <a:p>
            <a:pPr marL="12700" marR="5080"/>
            <a:r>
              <a:rPr lang="en-US" sz="1200" kern="0" spc="-80" dirty="0">
                <a:solidFill>
                  <a:schemeClr val="accent6"/>
                </a:solidFill>
              </a:rPr>
              <a:t>Fraud detection ML job</a:t>
            </a:r>
          </a:p>
          <a:p>
            <a:pPr marL="12700" marR="5080"/>
            <a:r>
              <a:rPr lang="en-US" sz="1200" kern="0" spc="-80" dirty="0">
                <a:solidFill>
                  <a:schemeClr val="accent6"/>
                </a:solidFill>
              </a:rPr>
              <a:t>Chargeback workflow engine</a:t>
            </a:r>
          </a:p>
          <a:p>
            <a:pPr marL="12700" marR="5080"/>
            <a:r>
              <a:rPr lang="en-US" sz="1200" kern="0" spc="-80" dirty="0">
                <a:solidFill>
                  <a:schemeClr val="accent2"/>
                </a:solidFill>
              </a:rPr>
              <a:t>🔹 Best Providers:</a:t>
            </a:r>
          </a:p>
          <a:p>
            <a:pPr marL="12700" marR="5080"/>
            <a:r>
              <a:rPr lang="en-US" sz="1200" kern="0" spc="-80" dirty="0">
                <a:solidFill>
                  <a:schemeClr val="accent6"/>
                </a:solidFill>
              </a:rPr>
              <a:t>Stripe, </a:t>
            </a:r>
            <a:r>
              <a:rPr lang="en-US" sz="1200" kern="0" spc="-80" dirty="0" err="1">
                <a:solidFill>
                  <a:schemeClr val="accent6"/>
                </a:solidFill>
              </a:rPr>
              <a:t>Razorpay</a:t>
            </a:r>
            <a:r>
              <a:rPr lang="en-US" sz="1200" kern="0" spc="-80" dirty="0">
                <a:solidFill>
                  <a:schemeClr val="accent6"/>
                </a:solidFill>
              </a:rPr>
              <a:t>, </a:t>
            </a:r>
            <a:r>
              <a:rPr lang="en-US" sz="1200" kern="0" spc="-80" dirty="0" err="1">
                <a:solidFill>
                  <a:schemeClr val="accent6"/>
                </a:solidFill>
              </a:rPr>
              <a:t>Cashfree</a:t>
            </a:r>
            <a:r>
              <a:rPr lang="en-US" sz="1200" kern="0" spc="-80" dirty="0">
                <a:solidFill>
                  <a:schemeClr val="accent6"/>
                </a:solidFill>
              </a:rPr>
              <a:t>, Adyen, Braintree, PayPal</a:t>
            </a:r>
          </a:p>
          <a:p>
            <a:pPr marL="12700" marR="5080"/>
            <a:endParaRPr lang="en-US" sz="1200" kern="0" spc="-80" dirty="0">
              <a:solidFill>
                <a:schemeClr val="accent6"/>
              </a:solidFill>
            </a:endParaRPr>
          </a:p>
          <a:p>
            <a:pPr marL="12700" marR="5080"/>
            <a:r>
              <a:rPr lang="en-US" sz="1200" kern="0" spc="-80" dirty="0">
                <a:solidFill>
                  <a:schemeClr val="accent2"/>
                </a:solidFill>
              </a:rPr>
              <a:t>🆘 2. Embedded Lending (BNPL)</a:t>
            </a:r>
          </a:p>
          <a:p>
            <a:pPr marL="12700" marR="5080"/>
            <a:r>
              <a:rPr lang="en-US" sz="1200" kern="0" spc="-80" dirty="0">
                <a:solidFill>
                  <a:schemeClr val="accent6"/>
                </a:solidFill>
              </a:rPr>
              <a:t>The fastest-growing part of embedded finance.</a:t>
            </a:r>
          </a:p>
          <a:p>
            <a:pPr marL="12700" marR="5080"/>
            <a:r>
              <a:rPr lang="en-US" sz="1200" kern="0" spc="-80" dirty="0">
                <a:solidFill>
                  <a:schemeClr val="accent2"/>
                </a:solidFill>
              </a:rPr>
              <a:t>🔹 Examples:</a:t>
            </a:r>
          </a:p>
          <a:p>
            <a:pPr marL="12700" marR="5080"/>
            <a:r>
              <a:rPr lang="en-US" sz="1200" kern="0" spc="-80" dirty="0">
                <a:solidFill>
                  <a:schemeClr val="accent6"/>
                </a:solidFill>
              </a:rPr>
              <a:t>Amazon Pay Later</a:t>
            </a:r>
          </a:p>
          <a:p>
            <a:pPr marL="12700" marR="5080"/>
            <a:r>
              <a:rPr lang="en-US" sz="1200" kern="0" spc="-80" dirty="0">
                <a:solidFill>
                  <a:schemeClr val="accent6"/>
                </a:solidFill>
              </a:rPr>
              <a:t>Ola Postpaid</a:t>
            </a:r>
          </a:p>
          <a:p>
            <a:pPr marL="12700" marR="5080"/>
            <a:r>
              <a:rPr lang="en-US" sz="1200" kern="0" spc="-80" dirty="0">
                <a:solidFill>
                  <a:schemeClr val="accent6"/>
                </a:solidFill>
              </a:rPr>
              <a:t>Flipkart Pay Later</a:t>
            </a:r>
          </a:p>
        </p:txBody>
      </p:sp>
    </p:spTree>
    <p:extLst>
      <p:ext uri="{BB962C8B-B14F-4D97-AF65-F5344CB8AC3E}">
        <p14:creationId xmlns:p14="http://schemas.microsoft.com/office/powerpoint/2010/main" val="114392143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A5E2-4A4B-AA70-7FB5-CE20678119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B32C6B-28B6-1097-E20A-E7C2F6B425B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B13930-311D-140F-3E82-093B4A9C9A1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932838-9326-3B2C-8581-CCF5C01B3D99}"/>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9A76B6C-9446-A5B8-532F-D67268A79F7B}"/>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2. Embedded Lending (BNPL)</a:t>
            </a:r>
          </a:p>
          <a:p>
            <a:pPr marL="12700" marR="5080"/>
            <a:r>
              <a:rPr lang="en-US" sz="1200" kern="0" spc="-80" dirty="0">
                <a:solidFill>
                  <a:schemeClr val="accent2"/>
                </a:solidFill>
              </a:rPr>
              <a:t>🔹 Examples:</a:t>
            </a:r>
          </a:p>
          <a:p>
            <a:pPr marL="12700" marR="5080"/>
            <a:r>
              <a:rPr lang="en-US" sz="1200" kern="0" spc="-80" dirty="0">
                <a:solidFill>
                  <a:schemeClr val="accent6"/>
                </a:solidFill>
              </a:rPr>
              <a:t>Laptop EMI options</a:t>
            </a:r>
          </a:p>
          <a:p>
            <a:pPr marL="12700" marR="5080"/>
            <a:r>
              <a:rPr lang="en-US" sz="1200" kern="0" spc="-80" dirty="0">
                <a:solidFill>
                  <a:schemeClr val="accent2"/>
                </a:solidFill>
              </a:rPr>
              <a:t>🔹 API Workflow:</a:t>
            </a:r>
          </a:p>
          <a:p>
            <a:pPr marL="12700" marR="5080"/>
            <a:r>
              <a:rPr lang="en-US" sz="1200" kern="0" spc="-80" dirty="0">
                <a:solidFill>
                  <a:schemeClr val="accent6"/>
                </a:solidFill>
              </a:rPr>
              <a:t>Eligibility API</a:t>
            </a:r>
          </a:p>
          <a:p>
            <a:pPr marL="12700" marR="5080"/>
            <a:r>
              <a:rPr lang="en-US" sz="1200" kern="0" spc="-80" dirty="0">
                <a:solidFill>
                  <a:schemeClr val="accent6"/>
                </a:solidFill>
              </a:rPr>
              <a:t>KYC API</a:t>
            </a:r>
          </a:p>
          <a:p>
            <a:pPr marL="12700" marR="5080"/>
            <a:r>
              <a:rPr lang="en-US" sz="1200" kern="0" spc="-80" dirty="0">
                <a:solidFill>
                  <a:schemeClr val="accent6"/>
                </a:solidFill>
              </a:rPr>
              <a:t>Credit Bureau Pull</a:t>
            </a:r>
          </a:p>
          <a:p>
            <a:pPr marL="12700" marR="5080"/>
            <a:r>
              <a:rPr lang="en-US" sz="1200" kern="0" spc="-80" dirty="0">
                <a:solidFill>
                  <a:schemeClr val="accent6"/>
                </a:solidFill>
              </a:rPr>
              <a:t>Risk Scoring Engine</a:t>
            </a:r>
          </a:p>
          <a:p>
            <a:pPr marL="12700" marR="5080"/>
            <a:r>
              <a:rPr lang="en-US" sz="1200" kern="0" spc="-80" dirty="0">
                <a:solidFill>
                  <a:schemeClr val="accent6"/>
                </a:solidFill>
              </a:rPr>
              <a:t>Loan Creation API</a:t>
            </a:r>
          </a:p>
          <a:p>
            <a:pPr marL="12700" marR="5080"/>
            <a:r>
              <a:rPr lang="en-US" sz="1200" kern="0" spc="-80" dirty="0">
                <a:solidFill>
                  <a:schemeClr val="accent6"/>
                </a:solidFill>
              </a:rPr>
              <a:t>Repayment APIs</a:t>
            </a:r>
          </a:p>
          <a:p>
            <a:pPr marL="12700" marR="5080"/>
            <a:r>
              <a:rPr lang="en-US" sz="1200" kern="0" spc="-80" dirty="0">
                <a:solidFill>
                  <a:schemeClr val="accent6"/>
                </a:solidFill>
              </a:rPr>
              <a:t>NACH / </a:t>
            </a:r>
            <a:r>
              <a:rPr lang="en-US" sz="1200" kern="0" spc="-80" dirty="0" err="1">
                <a:solidFill>
                  <a:schemeClr val="accent6"/>
                </a:solidFill>
              </a:rPr>
              <a:t>Autodebit</a:t>
            </a:r>
            <a:r>
              <a:rPr lang="en-US" sz="1200" kern="0" spc="-80" dirty="0">
                <a:solidFill>
                  <a:schemeClr val="accent6"/>
                </a:solidFill>
              </a:rPr>
              <a:t> setup</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Credit scoring engine</a:t>
            </a:r>
          </a:p>
          <a:p>
            <a:pPr marL="12700" marR="5080"/>
            <a:r>
              <a:rPr lang="en-US" sz="1200" kern="0" spc="-80" dirty="0">
                <a:solidFill>
                  <a:schemeClr val="accent6"/>
                </a:solidFill>
              </a:rPr>
              <a:t>EMI scheduler</a:t>
            </a:r>
          </a:p>
          <a:p>
            <a:pPr marL="12700" marR="5080"/>
            <a:r>
              <a:rPr lang="en-US" sz="1200" kern="0" spc="-80" dirty="0">
                <a:solidFill>
                  <a:schemeClr val="accent6"/>
                </a:solidFill>
              </a:rPr>
              <a:t>Default monitoring worker</a:t>
            </a:r>
          </a:p>
          <a:p>
            <a:pPr marL="12700" marR="5080"/>
            <a:r>
              <a:rPr lang="en-US" sz="1200" kern="0" spc="-80" dirty="0">
                <a:solidFill>
                  <a:schemeClr val="accent6"/>
                </a:solidFill>
              </a:rPr>
              <a:t>Collections workflow automation</a:t>
            </a:r>
          </a:p>
          <a:p>
            <a:pPr marL="12700" marR="5080"/>
            <a:r>
              <a:rPr lang="en-US" sz="1200" kern="0" spc="-80" dirty="0">
                <a:solidFill>
                  <a:schemeClr val="accent2"/>
                </a:solidFill>
              </a:rPr>
              <a:t>🔹 Providers:</a:t>
            </a:r>
          </a:p>
          <a:p>
            <a:pPr marL="12700" marR="5080"/>
            <a:r>
              <a:rPr lang="en-US" sz="1200" kern="0" spc="-80" dirty="0" err="1">
                <a:solidFill>
                  <a:schemeClr val="accent6"/>
                </a:solidFill>
              </a:rPr>
              <a:t>ZestMoney</a:t>
            </a:r>
            <a:r>
              <a:rPr lang="en-US" sz="1200" kern="0" spc="-80" dirty="0">
                <a:solidFill>
                  <a:schemeClr val="accent6"/>
                </a:solidFill>
              </a:rPr>
              <a:t>, </a:t>
            </a:r>
            <a:r>
              <a:rPr lang="en-US" sz="1200" kern="0" spc="-80" dirty="0" err="1">
                <a:solidFill>
                  <a:schemeClr val="accent6"/>
                </a:solidFill>
              </a:rPr>
              <a:t>Simpl</a:t>
            </a:r>
            <a:r>
              <a:rPr lang="en-US" sz="1200" kern="0" spc="-80" dirty="0">
                <a:solidFill>
                  <a:schemeClr val="accent6"/>
                </a:solidFill>
              </a:rPr>
              <a:t>, </a:t>
            </a:r>
            <a:r>
              <a:rPr lang="en-US" sz="1200" kern="0" spc="-80" dirty="0" err="1">
                <a:solidFill>
                  <a:schemeClr val="accent6"/>
                </a:solidFill>
              </a:rPr>
              <a:t>LazyPay</a:t>
            </a:r>
            <a:r>
              <a:rPr lang="en-US" sz="1200" kern="0" spc="-80" dirty="0">
                <a:solidFill>
                  <a:schemeClr val="accent6"/>
                </a:solidFill>
              </a:rPr>
              <a:t>, Slice</a:t>
            </a:r>
          </a:p>
          <a:p>
            <a:pPr marL="12700" marR="5080"/>
            <a:r>
              <a:rPr lang="en-US" sz="1200" kern="0" spc="-80" dirty="0">
                <a:solidFill>
                  <a:schemeClr val="accent6"/>
                </a:solidFill>
              </a:rPr>
              <a:t>Banking partners: ICICI, HDFC, Axis</a:t>
            </a:r>
          </a:p>
          <a:p>
            <a:pPr marL="12700" marR="5080"/>
            <a:endParaRPr lang="en-US" sz="1200" kern="0" spc="-80" dirty="0">
              <a:solidFill>
                <a:schemeClr val="accent6"/>
              </a:solidFill>
            </a:endParaRPr>
          </a:p>
          <a:p>
            <a:pPr marL="12700" marR="5080"/>
            <a:r>
              <a:rPr lang="en-US" sz="1200" kern="0" spc="-80" dirty="0">
                <a:solidFill>
                  <a:schemeClr val="accent2"/>
                </a:solidFill>
              </a:rPr>
              <a:t>🛡️ 3. Embedded Insurance</a:t>
            </a:r>
          </a:p>
          <a:p>
            <a:pPr marL="12700" marR="5080"/>
            <a:r>
              <a:rPr lang="en-US" sz="1200" kern="0" spc="-80" dirty="0">
                <a:solidFill>
                  <a:schemeClr val="accent6"/>
                </a:solidFill>
              </a:rPr>
              <a:t>Insurance offered at checkout or inside apps.</a:t>
            </a:r>
          </a:p>
          <a:p>
            <a:pPr marL="12700" marR="5080"/>
            <a:r>
              <a:rPr lang="en-US" sz="1200" kern="0" spc="-80" dirty="0">
                <a:solidFill>
                  <a:schemeClr val="accent2"/>
                </a:solidFill>
              </a:rPr>
              <a:t>🔹 Examples:</a:t>
            </a:r>
          </a:p>
          <a:p>
            <a:pPr marL="12700" marR="5080"/>
            <a:r>
              <a:rPr lang="en-US" sz="1200" kern="0" spc="-80" dirty="0">
                <a:solidFill>
                  <a:schemeClr val="accent6"/>
                </a:solidFill>
              </a:rPr>
              <a:t>Phone insurance on Amazon</a:t>
            </a:r>
          </a:p>
          <a:p>
            <a:pPr marL="12700" marR="5080"/>
            <a:r>
              <a:rPr lang="en-US" sz="1200" kern="0" spc="-80" dirty="0">
                <a:solidFill>
                  <a:schemeClr val="accent6"/>
                </a:solidFill>
              </a:rPr>
              <a:t>Trip cancellation insurance</a:t>
            </a:r>
          </a:p>
          <a:p>
            <a:pPr marL="12700" marR="5080"/>
            <a:r>
              <a:rPr lang="en-US" sz="1200" kern="0" spc="-80" dirty="0">
                <a:solidFill>
                  <a:schemeClr val="accent6"/>
                </a:solidFill>
              </a:rPr>
              <a:t>Swiggy/</a:t>
            </a:r>
            <a:r>
              <a:rPr lang="en-US" sz="1200" kern="0" spc="-80" dirty="0" err="1">
                <a:solidFill>
                  <a:schemeClr val="accent6"/>
                </a:solidFill>
              </a:rPr>
              <a:t>BigBasket</a:t>
            </a:r>
            <a:r>
              <a:rPr lang="en-US" sz="1200" kern="0" spc="-80" dirty="0">
                <a:solidFill>
                  <a:schemeClr val="accent6"/>
                </a:solidFill>
              </a:rPr>
              <a:t> order insurance</a:t>
            </a:r>
          </a:p>
        </p:txBody>
      </p:sp>
    </p:spTree>
    <p:extLst>
      <p:ext uri="{BB962C8B-B14F-4D97-AF65-F5344CB8AC3E}">
        <p14:creationId xmlns:p14="http://schemas.microsoft.com/office/powerpoint/2010/main" val="127778087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A285B-D242-1965-D4F1-7EA7C8FE616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278629-2F1A-955D-39A4-950519EAD8B0}"/>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ABD8C4-647F-5F97-8780-7886061D372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6334468-C1AF-F455-52FF-D06F0ED34F5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9FD4E9-7274-8DD3-B9B7-160896AB350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3. Embedded Insurance</a:t>
            </a:r>
          </a:p>
          <a:p>
            <a:pPr marL="12700" marR="5080"/>
            <a:r>
              <a:rPr lang="en-US" sz="1200" kern="0" spc="-80" dirty="0">
                <a:solidFill>
                  <a:schemeClr val="accent2"/>
                </a:solidFill>
              </a:rPr>
              <a:t>🔹 API Flow:</a:t>
            </a:r>
          </a:p>
          <a:p>
            <a:pPr marL="12700" marR="5080"/>
            <a:r>
              <a:rPr lang="en-US" sz="1200" kern="0" spc="-80" dirty="0">
                <a:solidFill>
                  <a:schemeClr val="accent6"/>
                </a:solidFill>
              </a:rPr>
              <a:t>Eligibility + Quote API</a:t>
            </a:r>
          </a:p>
          <a:p>
            <a:pPr marL="12700" marR="5080"/>
            <a:r>
              <a:rPr lang="en-US" sz="1200" kern="0" spc="-80" dirty="0">
                <a:solidFill>
                  <a:schemeClr val="accent6"/>
                </a:solidFill>
              </a:rPr>
              <a:t>Premium calculation API</a:t>
            </a:r>
          </a:p>
          <a:p>
            <a:pPr marL="12700" marR="5080"/>
            <a:r>
              <a:rPr lang="en-US" sz="1200" kern="0" spc="-80" dirty="0">
                <a:solidFill>
                  <a:schemeClr val="accent6"/>
                </a:solidFill>
              </a:rPr>
              <a:t>Underwriting engine</a:t>
            </a:r>
          </a:p>
          <a:p>
            <a:pPr marL="12700" marR="5080"/>
            <a:r>
              <a:rPr lang="en-US" sz="1200" kern="0" spc="-80" dirty="0">
                <a:solidFill>
                  <a:schemeClr val="accent6"/>
                </a:solidFill>
              </a:rPr>
              <a:t>Policy issuance API</a:t>
            </a:r>
          </a:p>
          <a:p>
            <a:pPr marL="12700" marR="5080"/>
            <a:r>
              <a:rPr lang="en-US" sz="1200" kern="0" spc="-80" dirty="0">
                <a:solidFill>
                  <a:schemeClr val="accent6"/>
                </a:solidFill>
              </a:rPr>
              <a:t>Claims APIs</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Risk scoring job</a:t>
            </a:r>
          </a:p>
          <a:p>
            <a:pPr marL="12700" marR="5080"/>
            <a:r>
              <a:rPr lang="en-US" sz="1200" kern="0" spc="-80" dirty="0">
                <a:solidFill>
                  <a:schemeClr val="accent6"/>
                </a:solidFill>
              </a:rPr>
              <a:t>Claims adjudication pipeline</a:t>
            </a:r>
          </a:p>
          <a:p>
            <a:pPr marL="12700" marR="5080"/>
            <a:r>
              <a:rPr lang="en-US" sz="1200" kern="0" spc="-80" dirty="0">
                <a:solidFill>
                  <a:schemeClr val="accent6"/>
                </a:solidFill>
              </a:rPr>
              <a:t>Rule engine + document verification</a:t>
            </a:r>
          </a:p>
          <a:p>
            <a:pPr marL="12700" marR="5080"/>
            <a:r>
              <a:rPr lang="en-US" sz="1200" kern="0" spc="-80" dirty="0">
                <a:solidFill>
                  <a:schemeClr val="accent2"/>
                </a:solidFill>
              </a:rPr>
              <a:t>🔹 Providers:</a:t>
            </a:r>
          </a:p>
          <a:p>
            <a:pPr marL="12700" marR="5080"/>
            <a:r>
              <a:rPr lang="en-US" sz="1200" kern="0" spc="-80" dirty="0" err="1">
                <a:solidFill>
                  <a:schemeClr val="accent6"/>
                </a:solidFill>
              </a:rPr>
              <a:t>Acko</a:t>
            </a:r>
            <a:r>
              <a:rPr lang="en-US" sz="1200" kern="0" spc="-80" dirty="0">
                <a:solidFill>
                  <a:schemeClr val="accent6"/>
                </a:solidFill>
              </a:rPr>
              <a:t>, Digit, ICICI Lombard, </a:t>
            </a:r>
            <a:r>
              <a:rPr lang="en-US" sz="1200" kern="0" spc="-80" dirty="0" err="1">
                <a:solidFill>
                  <a:schemeClr val="accent6"/>
                </a:solidFill>
              </a:rPr>
              <a:t>PolicyBazaar</a:t>
            </a:r>
            <a:r>
              <a:rPr lang="en-US" sz="1200" kern="0" spc="-80" dirty="0">
                <a:solidFill>
                  <a:schemeClr val="accent6"/>
                </a:solidFill>
              </a:rPr>
              <a:t> APIs</a:t>
            </a:r>
          </a:p>
          <a:p>
            <a:pPr marL="12700" marR="5080"/>
            <a:endParaRPr lang="en-US" sz="1200" kern="0" spc="-80" dirty="0">
              <a:solidFill>
                <a:schemeClr val="accent6"/>
              </a:solidFill>
            </a:endParaRPr>
          </a:p>
          <a:p>
            <a:pPr marL="12700" marR="5080"/>
            <a:r>
              <a:rPr lang="en-US" sz="1200" kern="0" spc="-80" dirty="0">
                <a:solidFill>
                  <a:schemeClr val="accent2"/>
                </a:solidFill>
              </a:rPr>
              <a:t>💳 4. Embedded Banking</a:t>
            </a:r>
          </a:p>
          <a:p>
            <a:pPr marL="12700" marR="5080"/>
            <a:r>
              <a:rPr lang="en-US" sz="1200" kern="0" spc="-80" dirty="0">
                <a:solidFill>
                  <a:schemeClr val="accent2"/>
                </a:solidFill>
              </a:rPr>
              <a:t>Creating bank-like features inside apps:</a:t>
            </a:r>
          </a:p>
          <a:p>
            <a:pPr marL="12700" marR="5080"/>
            <a:r>
              <a:rPr lang="en-US" sz="1200" kern="0" spc="-80" dirty="0">
                <a:solidFill>
                  <a:schemeClr val="accent6"/>
                </a:solidFill>
              </a:rPr>
              <a:t>Provided via Banking-as-a-Service (BaaS):</a:t>
            </a:r>
          </a:p>
          <a:p>
            <a:pPr marL="12700" marR="5080"/>
            <a:r>
              <a:rPr lang="en-US" sz="1200" kern="0" spc="-80" dirty="0" err="1">
                <a:solidFill>
                  <a:schemeClr val="accent6"/>
                </a:solidFill>
              </a:rPr>
              <a:t>NiyoX</a:t>
            </a:r>
            <a:endParaRPr lang="en-US" sz="1200" kern="0" spc="-80" dirty="0">
              <a:solidFill>
                <a:schemeClr val="accent6"/>
              </a:solidFill>
            </a:endParaRPr>
          </a:p>
          <a:p>
            <a:pPr marL="12700" marR="5080"/>
            <a:r>
              <a:rPr lang="en-US" sz="1200" kern="0" spc="-80" dirty="0" err="1">
                <a:solidFill>
                  <a:schemeClr val="accent6"/>
                </a:solidFill>
              </a:rPr>
              <a:t>Zolve</a:t>
            </a:r>
            <a:endParaRPr lang="en-US" sz="1200" kern="0" spc="-80" dirty="0">
              <a:solidFill>
                <a:schemeClr val="accent6"/>
              </a:solidFill>
            </a:endParaRPr>
          </a:p>
          <a:p>
            <a:pPr marL="12700" marR="5080"/>
            <a:r>
              <a:rPr lang="en-US" sz="1200" kern="0" spc="-80" dirty="0">
                <a:solidFill>
                  <a:schemeClr val="accent6"/>
                </a:solidFill>
              </a:rPr>
              <a:t>Jupiter</a:t>
            </a:r>
          </a:p>
          <a:p>
            <a:pPr marL="12700" marR="5080"/>
            <a:r>
              <a:rPr lang="en-US" sz="1200" kern="0" spc="-80" dirty="0">
                <a:solidFill>
                  <a:schemeClr val="accent6"/>
                </a:solidFill>
              </a:rPr>
              <a:t>Fi Money</a:t>
            </a:r>
          </a:p>
          <a:p>
            <a:pPr marL="12700" marR="5080"/>
            <a:r>
              <a:rPr lang="en-US" sz="1200" kern="0" spc="-80" dirty="0">
                <a:solidFill>
                  <a:schemeClr val="accent6"/>
                </a:solidFill>
              </a:rPr>
              <a:t>Open Money</a:t>
            </a:r>
          </a:p>
          <a:p>
            <a:pPr marL="12700" marR="5080"/>
            <a:r>
              <a:rPr lang="en-US" sz="1200" kern="0" spc="-80" dirty="0">
                <a:solidFill>
                  <a:schemeClr val="accent6"/>
                </a:solidFill>
              </a:rPr>
              <a:t>Paytm Payments Bank</a:t>
            </a:r>
          </a:p>
          <a:p>
            <a:pPr marL="12700" marR="5080"/>
            <a:r>
              <a:rPr lang="en-US" sz="1200" kern="0" spc="-80" dirty="0">
                <a:solidFill>
                  <a:schemeClr val="accent6"/>
                </a:solidFill>
              </a:rPr>
              <a:t>Typical Features:</a:t>
            </a:r>
          </a:p>
          <a:p>
            <a:pPr marL="12700" marR="5080"/>
            <a:r>
              <a:rPr lang="en-US" sz="1200" kern="0" spc="-80" dirty="0">
                <a:solidFill>
                  <a:schemeClr val="accent6"/>
                </a:solidFill>
              </a:rPr>
              <a:t>Virtual accounts</a:t>
            </a:r>
          </a:p>
          <a:p>
            <a:pPr marL="12700" marR="5080"/>
            <a:r>
              <a:rPr lang="en-US" sz="1200" kern="0" spc="-80" dirty="0">
                <a:solidFill>
                  <a:schemeClr val="accent6"/>
                </a:solidFill>
              </a:rPr>
              <a:t>Wallets</a:t>
            </a:r>
          </a:p>
        </p:txBody>
      </p:sp>
    </p:spTree>
    <p:extLst>
      <p:ext uri="{BB962C8B-B14F-4D97-AF65-F5344CB8AC3E}">
        <p14:creationId xmlns:p14="http://schemas.microsoft.com/office/powerpoint/2010/main" val="165550055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FBF1-183B-4768-D4C5-E370EA6415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9BC8E9-4327-6906-0D5A-55E50CC7097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92F5381-88DF-B26A-AFC0-9E2AEDC119C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C239B8-7D0D-85F2-523F-A727AEA93DB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C6F289F-EF38-8230-6226-55EA62DF7C5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4. Embedded Banking</a:t>
            </a:r>
          </a:p>
          <a:p>
            <a:pPr marL="12700" marR="5080"/>
            <a:r>
              <a:rPr lang="en-US" sz="1200" kern="0" spc="-80" dirty="0">
                <a:solidFill>
                  <a:schemeClr val="accent2"/>
                </a:solidFill>
              </a:rPr>
              <a:t>Creating bank-like features inside apps:</a:t>
            </a:r>
          </a:p>
          <a:p>
            <a:pPr marL="12700" marR="5080"/>
            <a:r>
              <a:rPr lang="en-US" sz="1200" kern="0" spc="-80" dirty="0">
                <a:solidFill>
                  <a:schemeClr val="accent6"/>
                </a:solidFill>
              </a:rPr>
              <a:t>Cards (debit/credit/prepaid)</a:t>
            </a:r>
          </a:p>
          <a:p>
            <a:pPr marL="12700" marR="5080"/>
            <a:r>
              <a:rPr lang="en-US" sz="1200" kern="0" spc="-80" dirty="0">
                <a:solidFill>
                  <a:schemeClr val="accent6"/>
                </a:solidFill>
              </a:rPr>
              <a:t>KYC onboarding</a:t>
            </a:r>
          </a:p>
          <a:p>
            <a:pPr marL="12700" marR="5080"/>
            <a:r>
              <a:rPr lang="en-US" sz="1200" kern="0" spc="-80" dirty="0">
                <a:solidFill>
                  <a:schemeClr val="accent6"/>
                </a:solidFill>
              </a:rPr>
              <a:t>Account-to-account transfers</a:t>
            </a:r>
          </a:p>
          <a:p>
            <a:pPr marL="12700" marR="5080"/>
            <a:r>
              <a:rPr lang="en-US" sz="1200" kern="0" spc="-80" dirty="0">
                <a:solidFill>
                  <a:schemeClr val="accent6"/>
                </a:solidFill>
              </a:rPr>
              <a:t>APIs:</a:t>
            </a:r>
          </a:p>
          <a:p>
            <a:pPr marL="12700" marR="5080"/>
            <a:r>
              <a:rPr lang="en-US" sz="1200" kern="0" spc="-80" dirty="0">
                <a:solidFill>
                  <a:schemeClr val="accent6"/>
                </a:solidFill>
              </a:rPr>
              <a:t>Virtual account creation</a:t>
            </a:r>
          </a:p>
          <a:p>
            <a:pPr marL="12700" marR="5080"/>
            <a:r>
              <a:rPr lang="en-US" sz="1200" kern="0" spc="-80" dirty="0">
                <a:solidFill>
                  <a:schemeClr val="accent6"/>
                </a:solidFill>
              </a:rPr>
              <a:t>Card issuance</a:t>
            </a:r>
          </a:p>
          <a:p>
            <a:pPr marL="12700" marR="5080"/>
            <a:r>
              <a:rPr lang="en-US" sz="1200" kern="0" spc="-80" dirty="0">
                <a:solidFill>
                  <a:schemeClr val="accent6"/>
                </a:solidFill>
              </a:rPr>
              <a:t>Card controls (limit, freeze, PIN)</a:t>
            </a:r>
          </a:p>
          <a:p>
            <a:pPr marL="12700" marR="5080"/>
            <a:r>
              <a:rPr lang="en-US" sz="1200" kern="0" spc="-80" dirty="0">
                <a:solidFill>
                  <a:schemeClr val="accent6"/>
                </a:solidFill>
              </a:rPr>
              <a:t>Bank transfers (IMPS, NEFT, RTGS)</a:t>
            </a:r>
          </a:p>
          <a:p>
            <a:pPr marL="12700" marR="5080"/>
            <a:r>
              <a:rPr lang="en-US" sz="1200" kern="0" spc="-80" dirty="0">
                <a:solidFill>
                  <a:schemeClr val="accent6"/>
                </a:solidFill>
              </a:rPr>
              <a:t>Wallet top-up</a:t>
            </a:r>
          </a:p>
          <a:p>
            <a:pPr marL="12700" marR="5080"/>
            <a:endParaRPr lang="en-US" sz="1200" kern="0" spc="-80" dirty="0">
              <a:solidFill>
                <a:schemeClr val="accent6"/>
              </a:solidFill>
            </a:endParaRPr>
          </a:p>
          <a:p>
            <a:pPr marL="12700" marR="5080"/>
            <a:r>
              <a:rPr lang="en-US" sz="1200" kern="0" spc="-80" dirty="0">
                <a:solidFill>
                  <a:schemeClr val="accent2"/>
                </a:solidFill>
              </a:rPr>
              <a:t>📈 5. Embedded Investments</a:t>
            </a:r>
          </a:p>
          <a:p>
            <a:pPr marL="12700" marR="5080"/>
            <a:r>
              <a:rPr lang="en-US" sz="1200" kern="0" spc="-80" dirty="0">
                <a:solidFill>
                  <a:schemeClr val="accent2"/>
                </a:solidFill>
              </a:rPr>
              <a:t>Examples:</a:t>
            </a:r>
          </a:p>
          <a:p>
            <a:pPr marL="12700" marR="5080"/>
            <a:r>
              <a:rPr lang="en-US" sz="1200" kern="0" spc="-80" dirty="0" err="1">
                <a:solidFill>
                  <a:schemeClr val="accent6"/>
                </a:solidFill>
              </a:rPr>
              <a:t>Groww</a:t>
            </a:r>
            <a:r>
              <a:rPr lang="en-US" sz="1200" kern="0" spc="-80" dirty="0">
                <a:solidFill>
                  <a:schemeClr val="accent6"/>
                </a:solidFill>
              </a:rPr>
              <a:t> inside Paytm</a:t>
            </a:r>
          </a:p>
          <a:p>
            <a:pPr marL="12700" marR="5080"/>
            <a:r>
              <a:rPr lang="en-US" sz="1200" kern="0" spc="-80" dirty="0">
                <a:solidFill>
                  <a:schemeClr val="accent6"/>
                </a:solidFill>
              </a:rPr>
              <a:t>SIP setup inside </a:t>
            </a:r>
            <a:r>
              <a:rPr lang="en-US" sz="1200" kern="0" spc="-80" dirty="0" err="1">
                <a:solidFill>
                  <a:schemeClr val="accent6"/>
                </a:solidFill>
              </a:rPr>
              <a:t>PhonePe</a:t>
            </a:r>
            <a:endParaRPr lang="en-US" sz="1200" kern="0" spc="-80" dirty="0">
              <a:solidFill>
                <a:schemeClr val="accent6"/>
              </a:solidFill>
            </a:endParaRPr>
          </a:p>
          <a:p>
            <a:pPr marL="12700" marR="5080"/>
            <a:r>
              <a:rPr lang="en-US" sz="1200" kern="0" spc="-80" dirty="0">
                <a:solidFill>
                  <a:schemeClr val="accent6"/>
                </a:solidFill>
              </a:rPr>
              <a:t>Gold investment inside Google Pay</a:t>
            </a:r>
          </a:p>
          <a:p>
            <a:pPr marL="12700" marR="5080"/>
            <a:r>
              <a:rPr lang="en-US" sz="1200" kern="0" spc="-80" dirty="0">
                <a:solidFill>
                  <a:schemeClr val="accent2"/>
                </a:solidFill>
              </a:rPr>
              <a:t>APIs:</a:t>
            </a:r>
          </a:p>
          <a:p>
            <a:pPr marL="12700" marR="5080"/>
            <a:r>
              <a:rPr lang="en-US" sz="1200" kern="0" spc="-80" dirty="0">
                <a:solidFill>
                  <a:schemeClr val="accent6"/>
                </a:solidFill>
              </a:rPr>
              <a:t>KYC + PAN validation</a:t>
            </a:r>
          </a:p>
          <a:p>
            <a:pPr marL="12700" marR="5080"/>
            <a:r>
              <a:rPr lang="en-US" sz="1200" kern="0" spc="-80" dirty="0">
                <a:solidFill>
                  <a:schemeClr val="accent6"/>
                </a:solidFill>
              </a:rPr>
              <a:t>Mutual fund list API</a:t>
            </a:r>
          </a:p>
          <a:p>
            <a:pPr marL="12700" marR="5080"/>
            <a:r>
              <a:rPr lang="en-US" sz="1200" kern="0" spc="-80" dirty="0">
                <a:solidFill>
                  <a:schemeClr val="accent6"/>
                </a:solidFill>
              </a:rPr>
              <a:t>BSE order placement</a:t>
            </a:r>
          </a:p>
          <a:p>
            <a:pPr marL="12700" marR="5080"/>
            <a:r>
              <a:rPr lang="en-US" sz="1200" kern="0" spc="-80" dirty="0">
                <a:solidFill>
                  <a:schemeClr val="accent6"/>
                </a:solidFill>
              </a:rPr>
              <a:t>NAV updates</a:t>
            </a:r>
          </a:p>
          <a:p>
            <a:pPr marL="12700" marR="5080"/>
            <a:r>
              <a:rPr lang="en-US" sz="1200" kern="0" spc="-80" dirty="0">
                <a:solidFill>
                  <a:schemeClr val="accent6"/>
                </a:solidFill>
              </a:rPr>
              <a:t>Portfolio reconciliation</a:t>
            </a:r>
          </a:p>
          <a:p>
            <a:pPr marL="12700" marR="5080"/>
            <a:r>
              <a:rPr lang="en-US" sz="1200" kern="0" spc="-80" dirty="0">
                <a:solidFill>
                  <a:schemeClr val="accent2"/>
                </a:solidFill>
              </a:rPr>
              <a:t>Background Services:</a:t>
            </a:r>
          </a:p>
          <a:p>
            <a:pPr marL="12700" marR="5080"/>
            <a:r>
              <a:rPr lang="en-US" sz="1200" kern="0" spc="-80" dirty="0">
                <a:solidFill>
                  <a:schemeClr val="accent6"/>
                </a:solidFill>
              </a:rPr>
              <a:t>Daily NAV updater</a:t>
            </a:r>
          </a:p>
          <a:p>
            <a:pPr marL="12700" marR="5080"/>
            <a:r>
              <a:rPr lang="en-US" sz="1200" kern="0" spc="-80" dirty="0">
                <a:solidFill>
                  <a:schemeClr val="accent6"/>
                </a:solidFill>
              </a:rPr>
              <a:t>SIP scheduler</a:t>
            </a:r>
          </a:p>
        </p:txBody>
      </p:sp>
    </p:spTree>
    <p:extLst>
      <p:ext uri="{BB962C8B-B14F-4D97-AF65-F5344CB8AC3E}">
        <p14:creationId xmlns:p14="http://schemas.microsoft.com/office/powerpoint/2010/main" val="354445176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F931-3766-E87A-3D3F-13CB840C43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797275-7B7E-1971-621F-3475C790AC6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F46B97-1FF3-A660-8992-7005E20BCA8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2C1D2E-3E3B-2199-6401-6B65A6FEBCB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EF9FFF1-64A4-E8D4-F1A6-7F37259D7A87}"/>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5. Embedded Investments</a:t>
            </a:r>
          </a:p>
          <a:p>
            <a:pPr marL="12700" marR="5080"/>
            <a:r>
              <a:rPr lang="en-US" sz="1200" kern="0" spc="-80" dirty="0">
                <a:solidFill>
                  <a:schemeClr val="accent2"/>
                </a:solidFill>
              </a:rPr>
              <a:t>Background Services:</a:t>
            </a:r>
          </a:p>
          <a:p>
            <a:pPr marL="12700" marR="5080"/>
            <a:r>
              <a:rPr lang="en-US" sz="1200" kern="0" spc="-80" dirty="0">
                <a:solidFill>
                  <a:schemeClr val="accent6"/>
                </a:solidFill>
              </a:rPr>
              <a:t>Portfolio valuation worker</a:t>
            </a:r>
          </a:p>
          <a:p>
            <a:pPr marL="12700" marR="5080"/>
            <a:endParaRPr lang="en-US" sz="1200" kern="0" spc="-80" dirty="0">
              <a:solidFill>
                <a:schemeClr val="accent6"/>
              </a:solidFill>
            </a:endParaRP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Layers:</a:t>
            </a:r>
          </a:p>
          <a:p>
            <a:pPr marL="12700" marR="5080"/>
            <a:r>
              <a:rPr lang="en-US" sz="1200" kern="0" spc="-80" dirty="0">
                <a:solidFill>
                  <a:schemeClr val="accent6"/>
                </a:solidFill>
              </a:rPr>
              <a:t>Frontend Layer – host app (Swiggy, Amazon, Ola)</a:t>
            </a:r>
          </a:p>
          <a:p>
            <a:pPr marL="12700" marR="5080"/>
            <a:r>
              <a:rPr lang="en-US" sz="1200" kern="0" spc="-80" dirty="0">
                <a:solidFill>
                  <a:schemeClr val="accent6"/>
                </a:solidFill>
              </a:rPr>
              <a:t>Integration Layer – SDKs, payment widgets, UI components</a:t>
            </a:r>
          </a:p>
          <a:p>
            <a:pPr marL="12700" marR="5080"/>
            <a:r>
              <a:rPr lang="en-US" sz="1200" kern="0" spc="-80" dirty="0">
                <a:solidFill>
                  <a:schemeClr val="accent6"/>
                </a:solidFill>
              </a:rPr>
              <a:t>API Gateway</a:t>
            </a:r>
          </a:p>
          <a:p>
            <a:pPr marL="12700" marR="5080"/>
            <a:r>
              <a:rPr lang="en-US" sz="1200" kern="0" spc="-80" dirty="0">
                <a:solidFill>
                  <a:schemeClr val="accent6"/>
                </a:solidFill>
              </a:rPr>
              <a:t>BaaS / Fintech Providers</a:t>
            </a:r>
          </a:p>
          <a:p>
            <a:pPr marL="12700" marR="5080"/>
            <a:r>
              <a:rPr lang="en-US" sz="1200" kern="0" spc="-80" dirty="0">
                <a:solidFill>
                  <a:schemeClr val="accent6"/>
                </a:solidFill>
              </a:rPr>
              <a:t>Bank / Insurance Company</a:t>
            </a:r>
          </a:p>
          <a:p>
            <a:pPr marL="12700" marR="5080"/>
            <a:r>
              <a:rPr lang="en-US" sz="1200" kern="0" spc="-80" dirty="0">
                <a:solidFill>
                  <a:schemeClr val="accent6"/>
                </a:solidFill>
              </a:rPr>
              <a:t>Compliance Layer – KYC, AML, fraud</a:t>
            </a:r>
          </a:p>
          <a:p>
            <a:pPr marL="12700" marR="5080"/>
            <a:r>
              <a:rPr lang="en-US" sz="1200" kern="0" spc="-80" dirty="0">
                <a:solidFill>
                  <a:schemeClr val="accent6"/>
                </a:solidFill>
              </a:rPr>
              <a:t>Background Services – batch jobs, scoring, ledgering</a:t>
            </a:r>
          </a:p>
          <a:p>
            <a:pPr marL="12700" marR="5080"/>
            <a:r>
              <a:rPr lang="en-US" sz="1200" kern="0" spc="-80" dirty="0">
                <a:solidFill>
                  <a:schemeClr val="accent6"/>
                </a:solidFill>
              </a:rPr>
              <a:t>Ledger &amp; Accounting System</a:t>
            </a:r>
          </a:p>
          <a:p>
            <a:pPr marL="12700" marR="5080"/>
            <a:endParaRPr lang="en-US" sz="1200" kern="0" spc="-80" dirty="0">
              <a:solidFill>
                <a:schemeClr val="accent6"/>
              </a:solidFill>
            </a:endParaRPr>
          </a:p>
          <a:p>
            <a:pPr marL="12700" marR="5080"/>
            <a:r>
              <a:rPr lang="en-US" sz="1200" kern="0" spc="-80" dirty="0">
                <a:solidFill>
                  <a:schemeClr val="accent2"/>
                </a:solidFill>
              </a:rPr>
              <a:t>🔄 Typical End-to-End Workflow</a:t>
            </a:r>
          </a:p>
          <a:p>
            <a:pPr marL="12700" marR="5080"/>
            <a:r>
              <a:rPr lang="en-US" sz="1200" kern="0" spc="-80" dirty="0">
                <a:solidFill>
                  <a:schemeClr val="accent2"/>
                </a:solidFill>
              </a:rPr>
              <a:t>Let’s take Buy Now Pay Later (BNPL) as an example:</a:t>
            </a:r>
          </a:p>
          <a:p>
            <a:pPr marL="12700" marR="5080"/>
            <a:r>
              <a:rPr lang="en-US" sz="1200" kern="0" spc="-80" dirty="0">
                <a:solidFill>
                  <a:schemeClr val="accent6"/>
                </a:solidFill>
              </a:rPr>
              <a:t>Step 1: User selects BNPL in checkout</a:t>
            </a:r>
          </a:p>
          <a:p>
            <a:pPr marL="12700" marR="5080"/>
            <a:r>
              <a:rPr lang="en-US" sz="1200" kern="0" spc="-80" dirty="0">
                <a:solidFill>
                  <a:schemeClr val="accent6"/>
                </a:solidFill>
              </a:rPr>
              <a:t>Step 2: App calls Eligibility API</a:t>
            </a:r>
          </a:p>
          <a:p>
            <a:pPr marL="12700" marR="5080"/>
            <a:r>
              <a:rPr lang="en-US" sz="1200" kern="0" spc="-80" dirty="0">
                <a:solidFill>
                  <a:schemeClr val="accent6"/>
                </a:solidFill>
              </a:rPr>
              <a:t>Step 3: Partner runs</a:t>
            </a:r>
          </a:p>
          <a:p>
            <a:pPr marL="12700" marR="5080"/>
            <a:r>
              <a:rPr lang="en-US" sz="1200" kern="0" spc="-80" dirty="0">
                <a:solidFill>
                  <a:schemeClr val="accent6"/>
                </a:solidFill>
              </a:rPr>
              <a:t>KYC</a:t>
            </a:r>
          </a:p>
          <a:p>
            <a:pPr marL="12700" marR="5080"/>
            <a:r>
              <a:rPr lang="en-US" sz="1200" kern="0" spc="-80" dirty="0">
                <a:solidFill>
                  <a:schemeClr val="accent6"/>
                </a:solidFill>
              </a:rPr>
              <a:t>PAN validation</a:t>
            </a:r>
          </a:p>
          <a:p>
            <a:pPr marL="12700" marR="5080"/>
            <a:r>
              <a:rPr lang="en-US" sz="1200" kern="0" spc="-80" dirty="0">
                <a:solidFill>
                  <a:schemeClr val="accent6"/>
                </a:solidFill>
              </a:rPr>
              <a:t>Credit bureau fetch</a:t>
            </a:r>
          </a:p>
          <a:p>
            <a:pPr marL="12700" marR="5080"/>
            <a:r>
              <a:rPr lang="en-US" sz="1200" kern="0" spc="-80" dirty="0">
                <a:solidFill>
                  <a:schemeClr val="accent6"/>
                </a:solidFill>
              </a:rPr>
              <a:t>Risk scoring</a:t>
            </a:r>
          </a:p>
          <a:p>
            <a:pPr marL="12700" marR="5080"/>
            <a:r>
              <a:rPr lang="en-US" sz="1200" kern="0" spc="-80" dirty="0">
                <a:solidFill>
                  <a:schemeClr val="accent6"/>
                </a:solidFill>
              </a:rPr>
              <a:t>Step 4: Offer returned (limit, tenure, interest)</a:t>
            </a:r>
          </a:p>
          <a:p>
            <a:pPr marL="12700" marR="5080"/>
            <a:r>
              <a:rPr lang="en-US" sz="1200" kern="0" spc="-80" dirty="0">
                <a:solidFill>
                  <a:schemeClr val="accent6"/>
                </a:solidFill>
              </a:rPr>
              <a:t>Step 5: User confirms</a:t>
            </a:r>
          </a:p>
        </p:txBody>
      </p:sp>
    </p:spTree>
    <p:extLst>
      <p:ext uri="{BB962C8B-B14F-4D97-AF65-F5344CB8AC3E}">
        <p14:creationId xmlns:p14="http://schemas.microsoft.com/office/powerpoint/2010/main" val="98590601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C85D-5285-499F-68FB-0AD460ACB91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A2FCEF-DC2A-EFE9-A8F9-3FCBE68A525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864735-A198-B665-E018-3A81C443D201}"/>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A03782C-E609-56A8-3738-4ECEA97C8EA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B225F85-09A6-43E7-C1CA-06197640F43A}"/>
              </a:ext>
            </a:extLst>
          </p:cNvPr>
          <p:cNvSpPr txBox="1">
            <a:spLocks/>
          </p:cNvSpPr>
          <p:nvPr/>
        </p:nvSpPr>
        <p:spPr>
          <a:xfrm>
            <a:off x="228600" y="873204"/>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Typical End-to-End Workflow</a:t>
            </a:r>
          </a:p>
          <a:p>
            <a:pPr marL="12700" marR="5080"/>
            <a:r>
              <a:rPr lang="en-US" sz="1200" kern="0" spc="-80" dirty="0">
                <a:solidFill>
                  <a:schemeClr val="accent6"/>
                </a:solidFill>
              </a:rPr>
              <a:t>Step 6: Loan disbursed to merchant</a:t>
            </a:r>
          </a:p>
          <a:p>
            <a:pPr marL="12700" marR="5080"/>
            <a:r>
              <a:rPr lang="en-US" sz="1200" kern="0" spc="-80" dirty="0">
                <a:solidFill>
                  <a:schemeClr val="accent6"/>
                </a:solidFill>
              </a:rPr>
              <a:t>Step 7: EMI scheduler job creates monthly EMIs</a:t>
            </a:r>
          </a:p>
          <a:p>
            <a:pPr marL="12700" marR="5080"/>
            <a:r>
              <a:rPr lang="en-US" sz="1200" kern="0" spc="-80" dirty="0">
                <a:solidFill>
                  <a:schemeClr val="accent6"/>
                </a:solidFill>
              </a:rPr>
              <a:t>Step 8: Collections workflow processes auto-debit</a:t>
            </a:r>
          </a:p>
          <a:p>
            <a:pPr marL="12700" marR="5080"/>
            <a:r>
              <a:rPr lang="en-US" sz="1200" kern="0" spc="-80" dirty="0">
                <a:solidFill>
                  <a:schemeClr val="accent6"/>
                </a:solidFill>
              </a:rPr>
              <a:t>Step 9: Defaults go to risk team </a:t>
            </a:r>
          </a:p>
          <a:p>
            <a:pPr marL="12700" marR="5080"/>
            <a:endParaRPr lang="en-US" sz="1200" kern="0" spc="-80" dirty="0">
              <a:solidFill>
                <a:schemeClr val="accent6"/>
              </a:solidFill>
            </a:endParaRPr>
          </a:p>
          <a:p>
            <a:pPr marL="12700" marR="5080"/>
            <a:r>
              <a:rPr lang="en-US" sz="1200" kern="0" spc="-80" dirty="0">
                <a:solidFill>
                  <a:schemeClr val="accent2"/>
                </a:solidFill>
              </a:rPr>
              <a:t>🏦 Internal Systems &amp; Background Services</a:t>
            </a:r>
          </a:p>
          <a:p>
            <a:pPr marL="12700" marR="5080"/>
            <a:r>
              <a:rPr lang="en-US" sz="1200" kern="0" spc="-80" dirty="0">
                <a:solidFill>
                  <a:schemeClr val="accent6"/>
                </a:solidFill>
              </a:rPr>
              <a:t>Embedded finance relies heavily on backend automation:</a:t>
            </a:r>
          </a:p>
          <a:p>
            <a:pPr marL="12700" marR="5080"/>
            <a:r>
              <a:rPr lang="en-US" sz="1200" kern="0" spc="-80" dirty="0">
                <a:solidFill>
                  <a:schemeClr val="accent2"/>
                </a:solidFill>
              </a:rPr>
              <a:t>🔹 KYC Workflow Engine</a:t>
            </a:r>
          </a:p>
          <a:p>
            <a:pPr marL="12700" marR="5080"/>
            <a:r>
              <a:rPr lang="en-US" sz="1200" kern="0" spc="-80" dirty="0">
                <a:solidFill>
                  <a:schemeClr val="accent6"/>
                </a:solidFill>
              </a:rPr>
              <a:t>Face match</a:t>
            </a:r>
          </a:p>
          <a:p>
            <a:pPr marL="12700" marR="5080"/>
            <a:r>
              <a:rPr lang="en-US" sz="1200" kern="0" spc="-80" dirty="0">
                <a:solidFill>
                  <a:schemeClr val="accent6"/>
                </a:solidFill>
              </a:rPr>
              <a:t>Liveliness</a:t>
            </a:r>
          </a:p>
          <a:p>
            <a:pPr marL="12700" marR="5080"/>
            <a:r>
              <a:rPr lang="en-US" sz="1200" kern="0" spc="-80" dirty="0">
                <a:solidFill>
                  <a:schemeClr val="accent6"/>
                </a:solidFill>
              </a:rPr>
              <a:t>PAN OCR</a:t>
            </a:r>
          </a:p>
          <a:p>
            <a:pPr marL="12700" marR="5080"/>
            <a:r>
              <a:rPr lang="en-US" sz="1200" kern="0" spc="-80" dirty="0">
                <a:solidFill>
                  <a:schemeClr val="accent6"/>
                </a:solidFill>
              </a:rPr>
              <a:t>Aadhaar XML/OTP</a:t>
            </a:r>
          </a:p>
          <a:p>
            <a:pPr marL="12700" marR="5080"/>
            <a:r>
              <a:rPr lang="en-US" sz="1200" kern="0" spc="-80" dirty="0">
                <a:solidFill>
                  <a:schemeClr val="accent2"/>
                </a:solidFill>
              </a:rPr>
              <a:t>🔹 Ledger System</a:t>
            </a:r>
          </a:p>
          <a:p>
            <a:pPr marL="12700" marR="5080"/>
            <a:r>
              <a:rPr lang="en-US" sz="1200" kern="0" spc="-80" dirty="0">
                <a:solidFill>
                  <a:schemeClr val="accent6"/>
                </a:solidFill>
              </a:rPr>
              <a:t>Tracks every transaction, payout, adjustment.</a:t>
            </a:r>
          </a:p>
          <a:p>
            <a:pPr marL="12700" marR="5080"/>
            <a:r>
              <a:rPr lang="en-US" sz="1200" kern="0" spc="-80" dirty="0">
                <a:solidFill>
                  <a:schemeClr val="accent2"/>
                </a:solidFill>
              </a:rPr>
              <a:t>🔹 Settlement Engine</a:t>
            </a:r>
          </a:p>
          <a:p>
            <a:pPr marL="12700" marR="5080"/>
            <a:r>
              <a:rPr lang="en-US" sz="1200" kern="0" spc="-80" dirty="0">
                <a:solidFill>
                  <a:schemeClr val="accent6"/>
                </a:solidFill>
              </a:rPr>
              <a:t>Reconciles money with banks every night.</a:t>
            </a:r>
          </a:p>
          <a:p>
            <a:pPr marL="12700" marR="5080"/>
            <a:r>
              <a:rPr lang="en-US" sz="1200" kern="0" spc="-80" dirty="0">
                <a:solidFill>
                  <a:schemeClr val="accent2"/>
                </a:solidFill>
              </a:rPr>
              <a:t>🔹 Fraud Engine</a:t>
            </a:r>
          </a:p>
          <a:p>
            <a:pPr marL="12700" marR="5080"/>
            <a:r>
              <a:rPr lang="en-US" sz="1200" kern="0" spc="-80" dirty="0">
                <a:solidFill>
                  <a:schemeClr val="accent6"/>
                </a:solidFill>
              </a:rPr>
              <a:t>Device scoring, IP risk, velocity rules, ML.</a:t>
            </a:r>
          </a:p>
          <a:p>
            <a:pPr marL="12700" marR="5080"/>
            <a:r>
              <a:rPr lang="en-US" sz="1200" kern="0" spc="-80" dirty="0">
                <a:solidFill>
                  <a:schemeClr val="accent2"/>
                </a:solidFill>
              </a:rPr>
              <a:t>🔹 Notification Engine</a:t>
            </a:r>
          </a:p>
          <a:p>
            <a:pPr marL="12700" marR="5080"/>
            <a:r>
              <a:rPr lang="en-US" sz="1200" kern="0" spc="-80" dirty="0">
                <a:solidFill>
                  <a:schemeClr val="accent6"/>
                </a:solidFill>
              </a:rPr>
              <a:t>Success/failure/EMI reminders.</a:t>
            </a:r>
          </a:p>
          <a:p>
            <a:pPr marL="12700" marR="5080"/>
            <a:r>
              <a:rPr lang="en-US" sz="1200" kern="0" spc="-80" dirty="0">
                <a:solidFill>
                  <a:schemeClr val="accent2"/>
                </a:solidFill>
              </a:rPr>
              <a:t>🔹 Document Generator</a:t>
            </a:r>
          </a:p>
          <a:p>
            <a:pPr marL="12700" marR="5080"/>
            <a:r>
              <a:rPr lang="en-US" sz="1200" kern="0" spc="-80" dirty="0">
                <a:solidFill>
                  <a:schemeClr val="accent6"/>
                </a:solidFill>
              </a:rPr>
              <a:t>Policy documents, loan agreements.</a:t>
            </a:r>
          </a:p>
        </p:txBody>
      </p:sp>
    </p:spTree>
    <p:extLst>
      <p:ext uri="{BB962C8B-B14F-4D97-AF65-F5344CB8AC3E}">
        <p14:creationId xmlns:p14="http://schemas.microsoft.com/office/powerpoint/2010/main" val="308022356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6708-FE7B-35B9-C78E-E92E1654A64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91AA4A-3316-B583-9B5E-627DB412899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4F394B-3F7B-DC6A-28D9-78F505CC56C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443DC28-7728-3F7A-DD2B-6B01AC980AA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6910E9-0750-728A-107F-F0ED71E14827}"/>
              </a:ext>
            </a:extLst>
          </p:cNvPr>
          <p:cNvSpPr txBox="1">
            <a:spLocks/>
          </p:cNvSpPr>
          <p:nvPr/>
        </p:nvSpPr>
        <p:spPr>
          <a:xfrm>
            <a:off x="228600" y="873204"/>
            <a:ext cx="8624937" cy="46397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Internal Systems &amp; Background Services</a:t>
            </a:r>
          </a:p>
          <a:p>
            <a:pPr marL="12700" marR="5080"/>
            <a:r>
              <a:rPr lang="en-US" sz="1200" kern="0" spc="-80" dirty="0">
                <a:solidFill>
                  <a:schemeClr val="accent2"/>
                </a:solidFill>
              </a:rPr>
              <a:t>🔹 Regulatory Reporting</a:t>
            </a:r>
          </a:p>
          <a:p>
            <a:pPr marL="12700" marR="5080"/>
            <a:r>
              <a:rPr lang="en-US" sz="1200" kern="0" spc="-80" dirty="0">
                <a:solidFill>
                  <a:schemeClr val="accent6"/>
                </a:solidFill>
              </a:rPr>
              <a:t>For RBI, SEBI, IRDAI, FIU-IND.</a:t>
            </a:r>
          </a:p>
          <a:p>
            <a:pPr marL="12700" marR="5080"/>
            <a:endParaRPr lang="en-US" sz="1200" kern="0" spc="-80" dirty="0">
              <a:solidFill>
                <a:schemeClr val="accent6"/>
              </a:solidFill>
            </a:endParaRPr>
          </a:p>
          <a:p>
            <a:pPr marL="12700" marR="5080"/>
            <a:r>
              <a:rPr lang="en-US" sz="1200" kern="0" spc="-80" dirty="0">
                <a:solidFill>
                  <a:schemeClr val="accent2"/>
                </a:solidFill>
              </a:rPr>
              <a:t>⚖️ Compliance Requirements</a:t>
            </a:r>
          </a:p>
          <a:p>
            <a:pPr marL="12700" marR="5080"/>
            <a:r>
              <a:rPr lang="en-US" sz="1200" kern="0" spc="-80" dirty="0">
                <a:solidFill>
                  <a:schemeClr val="accent6"/>
                </a:solidFill>
              </a:rPr>
              <a:t>Because finance is highly regulated:</a:t>
            </a:r>
          </a:p>
          <a:p>
            <a:pPr marL="12700" marR="5080"/>
            <a:r>
              <a:rPr lang="en-US" sz="1200" kern="0" spc="-80" dirty="0">
                <a:solidFill>
                  <a:schemeClr val="accent2"/>
                </a:solidFill>
              </a:rPr>
              <a:t>🔹 KYC/AML</a:t>
            </a:r>
          </a:p>
          <a:p>
            <a:pPr marL="12700" marR="5080"/>
            <a:r>
              <a:rPr lang="en-US" sz="1200" kern="0" spc="-80" dirty="0">
                <a:solidFill>
                  <a:schemeClr val="accent6"/>
                </a:solidFill>
              </a:rPr>
              <a:t>Aadhaar</a:t>
            </a:r>
          </a:p>
          <a:p>
            <a:pPr marL="12700" marR="5080"/>
            <a:r>
              <a:rPr lang="en-US" sz="1200" kern="0" spc="-80" dirty="0">
                <a:solidFill>
                  <a:schemeClr val="accent6"/>
                </a:solidFill>
              </a:rPr>
              <a:t>PAN</a:t>
            </a:r>
          </a:p>
          <a:p>
            <a:pPr marL="12700" marR="5080"/>
            <a:r>
              <a:rPr lang="en-US" sz="1200" kern="0" spc="-80" dirty="0">
                <a:solidFill>
                  <a:schemeClr val="accent6"/>
                </a:solidFill>
              </a:rPr>
              <a:t>CKYC</a:t>
            </a:r>
          </a:p>
          <a:p>
            <a:pPr marL="12700" marR="5080"/>
            <a:r>
              <a:rPr lang="en-US" sz="1200" kern="0" spc="-80" dirty="0">
                <a:solidFill>
                  <a:schemeClr val="accent6"/>
                </a:solidFill>
              </a:rPr>
              <a:t>Video KYC</a:t>
            </a:r>
          </a:p>
          <a:p>
            <a:pPr marL="12700" marR="5080"/>
            <a:r>
              <a:rPr lang="en-US" sz="1200" kern="0" spc="-80" dirty="0">
                <a:solidFill>
                  <a:schemeClr val="accent2"/>
                </a:solidFill>
              </a:rPr>
              <a:t>🔹 Data Protection</a:t>
            </a:r>
          </a:p>
          <a:p>
            <a:pPr marL="12700" marR="5080"/>
            <a:r>
              <a:rPr lang="en-US" sz="1200" kern="0" spc="-80" dirty="0">
                <a:solidFill>
                  <a:schemeClr val="accent6"/>
                </a:solidFill>
              </a:rPr>
              <a:t>Tokenization</a:t>
            </a:r>
          </a:p>
          <a:p>
            <a:pPr marL="12700" marR="5080"/>
            <a:r>
              <a:rPr lang="en-US" sz="1200" kern="0" spc="-80" dirty="0">
                <a:solidFill>
                  <a:schemeClr val="accent6"/>
                </a:solidFill>
              </a:rPr>
              <a:t>PCI-DSS</a:t>
            </a:r>
          </a:p>
          <a:p>
            <a:pPr marL="12700" marR="5080"/>
            <a:r>
              <a:rPr lang="en-US" sz="1200" kern="0" spc="-80" dirty="0">
                <a:solidFill>
                  <a:schemeClr val="accent6"/>
                </a:solidFill>
              </a:rPr>
              <a:t>Encryption at rest + transit</a:t>
            </a:r>
          </a:p>
          <a:p>
            <a:pPr marL="12700" marR="5080"/>
            <a:r>
              <a:rPr lang="en-US" sz="1200" kern="0" spc="-80" dirty="0">
                <a:solidFill>
                  <a:schemeClr val="accent2"/>
                </a:solidFill>
              </a:rPr>
              <a:t>🔹 RBI Guidelines</a:t>
            </a:r>
          </a:p>
          <a:p>
            <a:pPr marL="12700" marR="5080"/>
            <a:r>
              <a:rPr lang="en-US" sz="1200" kern="0" spc="-80" dirty="0">
                <a:solidFill>
                  <a:schemeClr val="accent6"/>
                </a:solidFill>
              </a:rPr>
              <a:t>Digital lending</a:t>
            </a:r>
          </a:p>
          <a:p>
            <a:pPr marL="12700" marR="5080"/>
            <a:r>
              <a:rPr lang="en-US" sz="1200" kern="0" spc="-80" dirty="0">
                <a:solidFill>
                  <a:schemeClr val="accent6"/>
                </a:solidFill>
              </a:rPr>
              <a:t>Wallet rules</a:t>
            </a:r>
          </a:p>
          <a:p>
            <a:pPr marL="12700" marR="5080"/>
            <a:r>
              <a:rPr lang="en-US" sz="1200" kern="0" spc="-80" dirty="0">
                <a:solidFill>
                  <a:schemeClr val="accent6"/>
                </a:solidFill>
              </a:rPr>
              <a:t>Co-lending</a:t>
            </a:r>
          </a:p>
          <a:p>
            <a:pPr marL="12700" marR="5080"/>
            <a:r>
              <a:rPr lang="en-US" sz="1200" kern="0" spc="-80" dirty="0">
                <a:solidFill>
                  <a:schemeClr val="accent2"/>
                </a:solidFill>
              </a:rPr>
              <a:t>🔹 Logging + audit trails</a:t>
            </a:r>
          </a:p>
          <a:p>
            <a:pPr marL="12700" marR="5080"/>
            <a:r>
              <a:rPr lang="en-US" sz="1200" kern="0" spc="-80" dirty="0">
                <a:solidFill>
                  <a:schemeClr val="accent6"/>
                </a:solidFill>
              </a:rPr>
              <a:t>Every financial workflow must be auditable.</a:t>
            </a: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351482784"/>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14D2-9822-5EA0-AF0F-3DA6DDD31E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4E36EF-C144-7A23-EDF9-485A7849118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CAC958-9AB3-37A4-8E83-04CFDFB2432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B3AF1B2-8D06-D61B-2F24-CD6C301F4586}"/>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18F9D3C-7057-20B2-D3F4-97217A9A97BF}"/>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err="1">
                <a:solidFill>
                  <a:schemeClr val="accent2"/>
                </a:solidFill>
              </a:rPr>
              <a:t>MarTech</a:t>
            </a:r>
            <a:r>
              <a:rPr lang="en-US" sz="2000" kern="0" spc="-80" dirty="0">
                <a:solidFill>
                  <a:schemeClr val="accent2"/>
                </a:solidFill>
              </a:rPr>
              <a:t> Reference Architecture</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C514311A-525B-A6CB-19B4-098571B7DF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1759"/>
            <a:ext cx="9144000" cy="217977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F64FE25F-19D0-36A9-3981-5FDCD6796CC1}"/>
              </a:ext>
            </a:extLst>
          </p:cNvPr>
          <p:cNvSpPr txBox="1">
            <a:spLocks/>
          </p:cNvSpPr>
          <p:nvPr/>
        </p:nvSpPr>
        <p:spPr>
          <a:xfrm>
            <a:off x="137369" y="3312221"/>
            <a:ext cx="8624937" cy="25853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Components of a </a:t>
            </a:r>
            <a:r>
              <a:rPr lang="en-US" sz="1200" kern="0" spc="-80" dirty="0" err="1">
                <a:solidFill>
                  <a:schemeClr val="accent2"/>
                </a:solidFill>
              </a:rPr>
              <a:t>MarTech</a:t>
            </a:r>
            <a:r>
              <a:rPr lang="en-US" sz="1200" kern="0" spc="-80" dirty="0">
                <a:solidFill>
                  <a:schemeClr val="accent2"/>
                </a:solidFill>
              </a:rPr>
              <a:t> Reference Architecture</a:t>
            </a:r>
          </a:p>
          <a:p>
            <a:pPr marL="12700" marR="5080"/>
            <a:r>
              <a:rPr lang="en-US" sz="1200" kern="0" spc="-80" dirty="0">
                <a:solidFill>
                  <a:schemeClr val="accent6"/>
                </a:solidFill>
              </a:rPr>
              <a:t>A comprehensive </a:t>
            </a:r>
            <a:r>
              <a:rPr lang="en-US" sz="1200" kern="0" spc="-80" dirty="0" err="1">
                <a:solidFill>
                  <a:schemeClr val="accent6"/>
                </a:solidFill>
              </a:rPr>
              <a:t>MarTech</a:t>
            </a:r>
            <a:r>
              <a:rPr lang="en-US" sz="1200" kern="0" spc="-80" dirty="0">
                <a:solidFill>
                  <a:schemeClr val="accent6"/>
                </a:solidFill>
              </a:rPr>
              <a:t> reference architecture typically includes the following elements: </a:t>
            </a:r>
          </a:p>
          <a:p>
            <a:pPr marL="12700" marR="5080"/>
            <a:r>
              <a:rPr lang="en-US" sz="1200" kern="0" spc="-80" dirty="0">
                <a:solidFill>
                  <a:schemeClr val="accent2"/>
                </a:solidFill>
              </a:rPr>
              <a:t>Customer: </a:t>
            </a:r>
            <a:r>
              <a:rPr lang="en-US" sz="1200" kern="0" spc="-80" dirty="0">
                <a:solidFill>
                  <a:schemeClr val="accent6"/>
                </a:solidFill>
              </a:rPr>
              <a:t>The central focus of the architecture, representing the target audience and their needs. </a:t>
            </a:r>
          </a:p>
          <a:p>
            <a:pPr marL="12700" marR="5080"/>
            <a:r>
              <a:rPr lang="en-US" sz="1200" kern="0" spc="-80" dirty="0">
                <a:solidFill>
                  <a:schemeClr val="accent2"/>
                </a:solidFill>
              </a:rPr>
              <a:t>Journeys: </a:t>
            </a:r>
            <a:r>
              <a:rPr lang="en-US" sz="1200" kern="0" spc="-80" dirty="0">
                <a:solidFill>
                  <a:schemeClr val="accent6"/>
                </a:solidFill>
              </a:rPr>
              <a:t>The defined pathways customers take when interacting with a brand, from discovery to purchase and beyond. </a:t>
            </a:r>
          </a:p>
          <a:p>
            <a:pPr marL="12700" marR="5080"/>
            <a:r>
              <a:rPr lang="en-US" sz="1200" kern="0" spc="-80" dirty="0">
                <a:solidFill>
                  <a:schemeClr val="accent2"/>
                </a:solidFill>
              </a:rPr>
              <a:t>Channels: </a:t>
            </a:r>
            <a:r>
              <a:rPr lang="en-US" sz="1200" kern="0" spc="-80" dirty="0">
                <a:solidFill>
                  <a:schemeClr val="accent6"/>
                </a:solidFill>
              </a:rPr>
              <a:t>The online and offline touchpoints where a brand interacts with customers, such as websites, social media, email, and retail stores. </a:t>
            </a:r>
          </a:p>
          <a:p>
            <a:pPr marL="12700" marR="5080"/>
            <a:r>
              <a:rPr lang="en-US" sz="1200" kern="0" spc="-80" dirty="0">
                <a:solidFill>
                  <a:schemeClr val="accent2"/>
                </a:solidFill>
              </a:rPr>
              <a:t>Experiences: </a:t>
            </a:r>
            <a:r>
              <a:rPr lang="en-US" sz="1200" kern="0" spc="-80" dirty="0">
                <a:solidFill>
                  <a:schemeClr val="accent6"/>
                </a:solidFill>
              </a:rPr>
              <a:t>The personalized and seamless content and service delivery across the customer journey. </a:t>
            </a:r>
          </a:p>
          <a:p>
            <a:pPr marL="12700" marR="5080"/>
            <a:r>
              <a:rPr lang="en-US" sz="1200" kern="0" spc="-80" dirty="0">
                <a:solidFill>
                  <a:schemeClr val="accent2"/>
                </a:solidFill>
              </a:rPr>
              <a:t>Processes: </a:t>
            </a:r>
            <a:r>
              <a:rPr lang="en-US" sz="1200" kern="0" spc="-80" dirty="0">
                <a:solidFill>
                  <a:schemeClr val="accent6"/>
                </a:solidFill>
              </a:rPr>
              <a:t>The workflows and operations involved in marketing, such as content creation, campaign execution, and data analysis. </a:t>
            </a:r>
          </a:p>
          <a:p>
            <a:pPr marL="12700" marR="5080"/>
            <a:r>
              <a:rPr lang="en-US" sz="1200" kern="0" spc="-80" dirty="0">
                <a:solidFill>
                  <a:schemeClr val="accent2"/>
                </a:solidFill>
              </a:rPr>
              <a:t>People: </a:t>
            </a:r>
            <a:r>
              <a:rPr lang="en-US" sz="1200" kern="0" spc="-80" dirty="0">
                <a:solidFill>
                  <a:schemeClr val="accent6"/>
                </a:solidFill>
              </a:rPr>
              <a:t>The human element, including marketing teams and stakeholders responsible for managing the </a:t>
            </a:r>
            <a:r>
              <a:rPr lang="en-US" sz="1200" kern="0" spc="-80" dirty="0" err="1">
                <a:solidFill>
                  <a:schemeClr val="accent6"/>
                </a:solidFill>
              </a:rPr>
              <a:t>MarTech</a:t>
            </a:r>
            <a:r>
              <a:rPr lang="en-US" sz="1200" kern="0" spc="-80" dirty="0">
                <a:solidFill>
                  <a:schemeClr val="accent6"/>
                </a:solidFill>
              </a:rPr>
              <a:t> stack. </a:t>
            </a:r>
          </a:p>
          <a:p>
            <a:pPr marL="12700" marR="5080"/>
            <a:r>
              <a:rPr lang="en-US" sz="1200" kern="0" spc="-80" dirty="0">
                <a:solidFill>
                  <a:schemeClr val="accent2"/>
                </a:solidFill>
              </a:rPr>
              <a:t>Technology: </a:t>
            </a:r>
            <a:r>
              <a:rPr lang="en-US" sz="1200" kern="0" spc="-80" dirty="0">
                <a:solidFill>
                  <a:schemeClr val="accent6"/>
                </a:solidFill>
              </a:rPr>
              <a:t>The various software and hardware tools that enable marketing activities, including Content Management Systems (CMS), Customer Data Platforms (CDPs), and Marketing Automation tools. </a:t>
            </a:r>
          </a:p>
          <a:p>
            <a:pPr marL="12700" marR="5080"/>
            <a:r>
              <a:rPr lang="en-US" sz="1200" kern="0" spc="-80" dirty="0">
                <a:solidFill>
                  <a:schemeClr val="accent2"/>
                </a:solidFill>
              </a:rPr>
              <a:t>Data: </a:t>
            </a:r>
            <a:r>
              <a:rPr lang="en-US" sz="1200" kern="0" spc="-80" dirty="0">
                <a:solidFill>
                  <a:schemeClr val="accent6"/>
                </a:solidFill>
              </a:rPr>
              <a:t>The customer information that fuels personalized marketing efforts, including demographics, behaviors, and preferences. </a:t>
            </a:r>
          </a:p>
        </p:txBody>
      </p:sp>
    </p:spTree>
    <p:extLst>
      <p:ext uri="{BB962C8B-B14F-4D97-AF65-F5344CB8AC3E}">
        <p14:creationId xmlns:p14="http://schemas.microsoft.com/office/powerpoint/2010/main" val="174163352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68333-F24A-E696-4D3C-2FA6AE69A4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C8FF70-2245-824E-0DDA-A99FFA4ED43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0F6077-E898-1238-8436-B1162888A71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71830B-2B3D-91F5-DCC5-CAF9AF96D9A9}"/>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1D20CA-A3A0-E303-9D37-3B8759F28ADE}"/>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err="1">
                <a:solidFill>
                  <a:schemeClr val="accent2"/>
                </a:solidFill>
              </a:rPr>
              <a:t>MarTech</a:t>
            </a:r>
            <a:r>
              <a:rPr lang="en-US" sz="2000" kern="0" spc="-80" dirty="0">
                <a:solidFill>
                  <a:schemeClr val="accent2"/>
                </a:solidFill>
              </a:rPr>
              <a:t>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B3BBF16-EF69-59FE-EB37-6BB7E3F9BA49}"/>
              </a:ext>
            </a:extLst>
          </p:cNvPr>
          <p:cNvSpPr txBox="1">
            <a:spLocks/>
          </p:cNvSpPr>
          <p:nvPr/>
        </p:nvSpPr>
        <p:spPr>
          <a:xfrm>
            <a:off x="137369" y="1227365"/>
            <a:ext cx="8624937" cy="20621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US" sz="1200" dirty="0" err="1">
                <a:hlinkClick r:id="rId7"/>
              </a:rPr>
              <a:t>Credera’s</a:t>
            </a:r>
            <a:r>
              <a:rPr lang="en-US" sz="1200" dirty="0">
                <a:hlinkClick r:id="rId7"/>
              </a:rPr>
              <a:t> </a:t>
            </a:r>
            <a:r>
              <a:rPr lang="en-US" sz="1200" dirty="0" err="1">
                <a:hlinkClick r:id="rId7"/>
              </a:rPr>
              <a:t>MarTech</a:t>
            </a:r>
            <a:r>
              <a:rPr lang="en-US" sz="1200" dirty="0">
                <a:hlinkClick r:id="rId7"/>
              </a:rPr>
              <a:t> Reference Architecture part 1: An overview of how it works | </a:t>
            </a:r>
            <a:r>
              <a:rPr lang="en-US" sz="1200" dirty="0" err="1">
                <a:hlinkClick r:id="rId7"/>
              </a:rPr>
              <a:t>Credera</a:t>
            </a:r>
            <a:endParaRPr lang="en-US" sz="1200" dirty="0"/>
          </a:p>
          <a:p>
            <a:pPr marL="12700" marR="5080"/>
            <a:r>
              <a:rPr lang="en-IN" sz="1200" dirty="0">
                <a:hlinkClick r:id="rId8"/>
              </a:rPr>
              <a:t>Marketing | The GitLab Handbook</a:t>
            </a:r>
            <a:endParaRPr lang="en-US" sz="1200" dirty="0"/>
          </a:p>
          <a:p>
            <a:pPr marL="12700" marR="5080"/>
            <a:r>
              <a:rPr lang="en-US" sz="1200" dirty="0">
                <a:hlinkClick r:id="rId9"/>
              </a:rPr>
              <a:t>Your free guide to technical marketing - Technical Marketing Handbook</a:t>
            </a:r>
            <a:endParaRPr lang="en-US" sz="1200" dirty="0"/>
          </a:p>
          <a:p>
            <a:pPr marL="12700" marR="5080"/>
            <a:r>
              <a:rPr lang="en-US" sz="1200" dirty="0">
                <a:hlinkClick r:id="rId10"/>
              </a:rPr>
              <a:t>The Martech Handbook: “Build a Technology Stack to Attract and Retain Customers</a:t>
            </a:r>
            <a:r>
              <a:rPr lang="en-US" sz="1200" dirty="0">
                <a:hlinkClick r:id="rId11"/>
              </a:rPr>
              <a:t>“</a:t>
            </a:r>
            <a:endParaRPr lang="en-US" sz="1200" dirty="0"/>
          </a:p>
          <a:p>
            <a:pPr marL="12700" marR="5080"/>
            <a:r>
              <a:rPr lang="en-US" sz="1200" dirty="0">
                <a:hlinkClick r:id="rId11"/>
              </a:rPr>
              <a:t>The Ultimate </a:t>
            </a:r>
            <a:r>
              <a:rPr lang="en-US" sz="1200" dirty="0" err="1">
                <a:hlinkClick r:id="rId11"/>
              </a:rPr>
              <a:t>MarTech</a:t>
            </a:r>
            <a:r>
              <a:rPr lang="en-US" sz="1200" dirty="0">
                <a:hlinkClick r:id="rId11"/>
              </a:rPr>
              <a:t> Stack Handbook | </a:t>
            </a:r>
            <a:r>
              <a:rPr lang="en-US" sz="1200" dirty="0" err="1">
                <a:hlinkClick r:id="rId11"/>
              </a:rPr>
              <a:t>TransFunnel</a:t>
            </a:r>
            <a:endParaRPr lang="en-US" sz="1200" dirty="0"/>
          </a:p>
          <a:p>
            <a:pPr marL="12700" marR="5080"/>
            <a:r>
              <a:rPr lang="en-US" sz="1200" dirty="0">
                <a:hlinkClick r:id="rId12"/>
              </a:rPr>
              <a:t>6 Steps to Design the Ideal Martech Stack</a:t>
            </a:r>
            <a:endParaRPr lang="en-US" sz="1200" dirty="0"/>
          </a:p>
          <a:p>
            <a:pPr marL="12700" marR="5080"/>
            <a:r>
              <a:rPr lang="en-US" sz="1200" dirty="0">
                <a:hlinkClick r:id="rId13"/>
              </a:rPr>
              <a:t>Known Customer Activation blueprint | Adobe Real-Time Customer Data Platform</a:t>
            </a:r>
            <a:endParaRPr lang="en-US" sz="1200" dirty="0"/>
          </a:p>
          <a:p>
            <a:pPr marL="12700" marR="5080"/>
            <a:r>
              <a:rPr lang="en-US" sz="1200" dirty="0">
                <a:hlinkClick r:id="rId14"/>
              </a:rPr>
              <a:t>Dynamics 365 guidance documentation and other resources - Dynamics 365 | Microsoft Learn</a:t>
            </a:r>
            <a:endParaRPr lang="en-US" sz="1200" dirty="0"/>
          </a:p>
          <a:p>
            <a:pPr marL="12700" marR="5080"/>
            <a:endParaRPr lang="en-US" sz="12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357273578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D32B-A7FE-0FC0-67D5-A3B317691C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6053C5-9704-B4A3-9BAC-9D428134232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CAD78E-58FA-A32A-1A84-63EC3B1BF37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E2C893F-0DF8-D437-37C9-4A4FAC75AD10}"/>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F95AF5A-EB41-CF19-9769-06D2292ED9C4}"/>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CFBB639-B893-6DD3-E611-6CD464980783}"/>
              </a:ext>
            </a:extLst>
          </p:cNvPr>
          <p:cNvSpPr txBox="1">
            <a:spLocks/>
          </p:cNvSpPr>
          <p:nvPr/>
        </p:nvSpPr>
        <p:spPr>
          <a:xfrm>
            <a:off x="137369" y="3312221"/>
            <a:ext cx="8624937" cy="25853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Components of a AdTech Reference Architecture</a:t>
            </a:r>
          </a:p>
          <a:p>
            <a:pPr marL="12700" marR="5080"/>
            <a:r>
              <a:rPr lang="en-US" sz="1200" kern="0" spc="-80" dirty="0">
                <a:solidFill>
                  <a:schemeClr val="accent2"/>
                </a:solidFill>
              </a:rPr>
              <a:t>Demand-Side Platform (DSP)</a:t>
            </a:r>
          </a:p>
          <a:p>
            <a:pPr marL="12700" marR="5080"/>
            <a:r>
              <a:rPr lang="en-US" sz="1200" kern="0" spc="-80" dirty="0">
                <a:solidFill>
                  <a:schemeClr val="accent6"/>
                </a:solidFill>
              </a:rPr>
              <a:t>This software is used by advertisers and agencies to purchase ad inventory automatically across various ad exchanges. A DSP helps advertisers manage campaigns and optimize ad spend by: </a:t>
            </a:r>
          </a:p>
          <a:p>
            <a:pPr marL="12700" marR="5080"/>
            <a:r>
              <a:rPr lang="en-US" sz="1200" kern="0" spc="-80" dirty="0">
                <a:solidFill>
                  <a:schemeClr val="accent2"/>
                </a:solidFill>
              </a:rPr>
              <a:t>Targeting:</a:t>
            </a:r>
            <a:r>
              <a:rPr lang="en-US" sz="1200" kern="0" spc="-80" dirty="0">
                <a:solidFill>
                  <a:schemeClr val="accent6"/>
                </a:solidFill>
              </a:rPr>
              <a:t> Using data to identify and reach specific audiences based on demographics, interests, and behavior.</a:t>
            </a:r>
          </a:p>
          <a:p>
            <a:pPr marL="12700" marR="5080"/>
            <a:r>
              <a:rPr lang="en-US" sz="1200" kern="0" spc="-80" dirty="0">
                <a:solidFill>
                  <a:schemeClr val="accent2"/>
                </a:solidFill>
              </a:rPr>
              <a:t>Bidding: </a:t>
            </a:r>
            <a:r>
              <a:rPr lang="en-US" sz="1200" kern="0" spc="-80" dirty="0">
                <a:solidFill>
                  <a:schemeClr val="accent6"/>
                </a:solidFill>
              </a:rPr>
              <a:t>Placing automated, real-time bids for ad impressions based on an advertiser's budget and campaign goals.</a:t>
            </a:r>
          </a:p>
          <a:p>
            <a:pPr marL="12700" marR="5080"/>
            <a:r>
              <a:rPr lang="en-US" sz="1200" kern="0" spc="-80" dirty="0">
                <a:solidFill>
                  <a:schemeClr val="accent2"/>
                </a:solidFill>
              </a:rPr>
              <a:t>Analytics and Reporting: </a:t>
            </a:r>
            <a:r>
              <a:rPr lang="en-US" sz="1200" kern="0" spc="-80" dirty="0">
                <a:solidFill>
                  <a:schemeClr val="accent6"/>
                </a:solidFill>
              </a:rPr>
              <a:t>Providing real-time dashboards for monitoring performance metrics like return on investment (ROI), impressions, and clicks. </a:t>
            </a:r>
          </a:p>
          <a:p>
            <a:pPr marL="12700" marR="5080"/>
            <a:r>
              <a:rPr lang="en-US" sz="1200" kern="0" spc="-80" dirty="0">
                <a:solidFill>
                  <a:schemeClr val="accent2"/>
                </a:solidFill>
              </a:rPr>
              <a:t>Supply-Side Platform (SSP)</a:t>
            </a:r>
          </a:p>
          <a:p>
            <a:pPr marL="12700" marR="5080"/>
            <a:r>
              <a:rPr lang="en-US" sz="1200" kern="0" spc="-80" dirty="0">
                <a:solidFill>
                  <a:schemeClr val="accent6"/>
                </a:solidFill>
              </a:rPr>
              <a:t>This technology is used by publishers (website and app owners) to manage and sell their available ad space, or inventory. An SSP is designed to maximize revenue for publishers by: </a:t>
            </a:r>
          </a:p>
          <a:p>
            <a:pPr marL="12700" marR="5080"/>
            <a:r>
              <a:rPr lang="en-US" sz="1200" kern="0" spc="-80" dirty="0">
                <a:solidFill>
                  <a:schemeClr val="accent2"/>
                </a:solidFill>
              </a:rPr>
              <a:t>Yield Optimization: </a:t>
            </a:r>
            <a:r>
              <a:rPr lang="en-US" sz="1200" kern="0" spc="-80" dirty="0">
                <a:solidFill>
                  <a:schemeClr val="accent6"/>
                </a:solidFill>
              </a:rPr>
              <a:t>Connecting to multiple DSPs and ad exchanges to increase bidding competition for ad inventory.</a:t>
            </a:r>
          </a:p>
          <a:p>
            <a:pPr marL="12700" marR="5080"/>
            <a:r>
              <a:rPr lang="en-US" sz="1200" kern="0" spc="-80" dirty="0">
                <a:solidFill>
                  <a:schemeClr val="accent2"/>
                </a:solidFill>
              </a:rPr>
              <a:t>Inventory Management:</a:t>
            </a:r>
            <a:r>
              <a:rPr lang="en-US" sz="1200" kern="0" spc="-80" dirty="0">
                <a:solidFill>
                  <a:schemeClr val="accent6"/>
                </a:solidFill>
              </a:rPr>
              <a:t> Allowing publishers to control which ads appear on their site by setting rules for formats, price floors, and ad quality.</a:t>
            </a:r>
          </a:p>
        </p:txBody>
      </p:sp>
      <p:pic>
        <p:nvPicPr>
          <p:cNvPr id="8" name="Picture 7" descr="A diagram of a company&#10;&#10;AI-generated content may be incorrect.">
            <a:extLst>
              <a:ext uri="{FF2B5EF4-FFF2-40B4-BE49-F238E27FC236}">
                <a16:creationId xmlns:a16="http://schemas.microsoft.com/office/drawing/2014/main" id="{F41EEE2C-ADCB-DD54-98A1-6B1DC46F0B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369" y="1178003"/>
            <a:ext cx="8869261" cy="2134218"/>
          </a:xfrm>
          <a:prstGeom prst="rect">
            <a:avLst/>
          </a:prstGeom>
        </p:spPr>
      </p:pic>
    </p:spTree>
    <p:extLst>
      <p:ext uri="{BB962C8B-B14F-4D97-AF65-F5344CB8AC3E}">
        <p14:creationId xmlns:p14="http://schemas.microsoft.com/office/powerpoint/2010/main" val="50450677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B486-F18C-8004-CBE0-C5F37836A2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397580-4050-1356-ECB5-C6F4DAD2CA2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D116E7-8556-7128-84B6-515B446A378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C1827C-B5F6-9598-09F6-4D33FE4A7A55}"/>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50209CD-F3BA-BDC9-0BCF-6850419F32AD}"/>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47C7757-6F42-766C-76E6-33FC6ED2E043}"/>
              </a:ext>
            </a:extLst>
          </p:cNvPr>
          <p:cNvSpPr txBox="1">
            <a:spLocks/>
          </p:cNvSpPr>
          <p:nvPr/>
        </p:nvSpPr>
        <p:spPr>
          <a:xfrm>
            <a:off x="137369" y="1178004"/>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Header Bidding: </a:t>
            </a:r>
            <a:r>
              <a:rPr lang="en-US" sz="1200" kern="0" spc="-80" dirty="0">
                <a:solidFill>
                  <a:schemeClr val="accent6"/>
                </a:solidFill>
              </a:rPr>
              <a:t>Offering inventory to multiple demand sources simultaneously before an ad server is called, increasing the chances of finding the highest bid. </a:t>
            </a:r>
          </a:p>
          <a:p>
            <a:pPr marL="12700" marR="5080"/>
            <a:r>
              <a:rPr lang="en-US" sz="1200" kern="0" spc="-80" dirty="0">
                <a:solidFill>
                  <a:schemeClr val="accent2"/>
                </a:solidFill>
              </a:rPr>
              <a:t>Ad Exchange</a:t>
            </a:r>
          </a:p>
          <a:p>
            <a:pPr marL="12700" marR="5080"/>
            <a:r>
              <a:rPr lang="en-US" sz="1200" kern="0" spc="-80" dirty="0">
                <a:solidFill>
                  <a:schemeClr val="accent6"/>
                </a:solidFill>
              </a:rPr>
              <a:t>This is a digital marketplace where DSPs and SSPs connect to buy and sell ad inventory through real-time auctions. An ad exchange facilitates the programmatic process by: </a:t>
            </a:r>
          </a:p>
          <a:p>
            <a:pPr marL="12700" marR="5080"/>
            <a:r>
              <a:rPr lang="en-US" sz="1200" kern="0" spc="-80" dirty="0">
                <a:solidFill>
                  <a:schemeClr val="accent2"/>
                </a:solidFill>
              </a:rPr>
              <a:t>Auctioning: </a:t>
            </a:r>
            <a:r>
              <a:rPr lang="en-US" sz="1200" kern="0" spc="-80" dirty="0">
                <a:solidFill>
                  <a:schemeClr val="accent6"/>
                </a:solidFill>
              </a:rPr>
              <a:t>Handling the instantaneous bidding for each individual ad impression, awarding the space to the highest bidder.</a:t>
            </a:r>
          </a:p>
          <a:p>
            <a:pPr marL="12700" marR="5080"/>
            <a:r>
              <a:rPr lang="en-US" sz="1200" kern="0" spc="-80" dirty="0">
                <a:solidFill>
                  <a:schemeClr val="accent2"/>
                </a:solidFill>
              </a:rPr>
              <a:t>Centralizing Inventory:</a:t>
            </a:r>
            <a:r>
              <a:rPr lang="en-US" sz="1200" kern="0" spc="-80" dirty="0">
                <a:solidFill>
                  <a:schemeClr val="accent6"/>
                </a:solidFill>
              </a:rPr>
              <a:t> Providing a central hub where inventory from many publishers can be offered to a wide pool of advertisers.</a:t>
            </a:r>
          </a:p>
          <a:p>
            <a:pPr marL="12700" marR="5080"/>
            <a:r>
              <a:rPr lang="en-US" sz="1200" kern="0" spc="-80" dirty="0">
                <a:solidFill>
                  <a:schemeClr val="accent2"/>
                </a:solidFill>
              </a:rPr>
              <a:t>Creating Marketplaces: </a:t>
            </a:r>
            <a:r>
              <a:rPr lang="en-US" sz="1200" kern="0" spc="-80" dirty="0">
                <a:solidFill>
                  <a:schemeClr val="accent6"/>
                </a:solidFill>
              </a:rPr>
              <a:t>Offering open exchanges for broad reach or private marketplaces (PMPs) for curated, premium inventory. </a:t>
            </a:r>
          </a:p>
          <a:p>
            <a:pPr marL="12700" marR="5080"/>
            <a:r>
              <a:rPr lang="en-US" sz="1200" kern="0" spc="-80" dirty="0">
                <a:solidFill>
                  <a:schemeClr val="accent2"/>
                </a:solidFill>
              </a:rPr>
              <a:t>Ad Server</a:t>
            </a:r>
          </a:p>
          <a:p>
            <a:pPr marL="12700" marR="5080"/>
            <a:r>
              <a:rPr lang="en-US" sz="1200" kern="0" spc="-80" dirty="0">
                <a:solidFill>
                  <a:schemeClr val="accent6"/>
                </a:solidFill>
              </a:rPr>
              <a:t>Ad servers are responsible for storing, managing, and delivering the ad creatives once a winning bid has been determined. </a:t>
            </a:r>
            <a:r>
              <a:rPr lang="en-US" sz="1200" kern="0" spc="-80" dirty="0">
                <a:solidFill>
                  <a:schemeClr val="accent2"/>
                </a:solidFill>
              </a:rPr>
              <a:t>There are two types: </a:t>
            </a:r>
          </a:p>
          <a:p>
            <a:pPr marL="12700" marR="5080"/>
            <a:r>
              <a:rPr lang="en-US" sz="1200" kern="0" spc="-80" dirty="0">
                <a:solidFill>
                  <a:schemeClr val="accent2"/>
                </a:solidFill>
              </a:rPr>
              <a:t>Publisher Ad Server: </a:t>
            </a:r>
            <a:r>
              <a:rPr lang="en-US" sz="1200" kern="0" spc="-80" dirty="0">
                <a:solidFill>
                  <a:schemeClr val="accent6"/>
                </a:solidFill>
              </a:rPr>
              <a:t>Used by publishers to manage their available ad space and integrate with SSPs and other demand sources.</a:t>
            </a:r>
          </a:p>
          <a:p>
            <a:pPr marL="12700" marR="5080"/>
            <a:r>
              <a:rPr lang="en-US" sz="1200" kern="0" spc="-80" dirty="0">
                <a:solidFill>
                  <a:schemeClr val="accent2"/>
                </a:solidFill>
              </a:rPr>
              <a:t>Advertiser Ad Server (Third-Party):</a:t>
            </a:r>
            <a:r>
              <a:rPr lang="en-US" sz="1200" kern="0" spc="-80" dirty="0">
                <a:solidFill>
                  <a:schemeClr val="accent6"/>
                </a:solidFill>
              </a:rPr>
              <a:t> Used by advertisers to centrally manage campaigns and creatives across multiple publishers. </a:t>
            </a:r>
          </a:p>
          <a:p>
            <a:pPr marL="12700" marR="5080"/>
            <a:r>
              <a:rPr lang="en-US" sz="1200" kern="0" spc="-80" dirty="0">
                <a:solidFill>
                  <a:schemeClr val="accent2"/>
                </a:solidFill>
              </a:rPr>
              <a:t>Data Management Platform (DMP)</a:t>
            </a:r>
          </a:p>
          <a:p>
            <a:pPr marL="12700" marR="5080"/>
            <a:r>
              <a:rPr lang="en-US" sz="1200" kern="0" spc="-80" dirty="0">
                <a:solidFill>
                  <a:schemeClr val="accent6"/>
                </a:solidFill>
              </a:rPr>
              <a:t>A DMP is a centralized platform that collects, organizes, and manages audience data from various sources. This data is used to create and enrich audience segments for more precise ad targeting. Key functions include: </a:t>
            </a:r>
          </a:p>
          <a:p>
            <a:pPr marL="12700" marR="5080"/>
            <a:r>
              <a:rPr lang="en-US" sz="1200" kern="0" spc="-80" dirty="0">
                <a:solidFill>
                  <a:schemeClr val="accent2"/>
                </a:solidFill>
              </a:rPr>
              <a:t>Data Aggregation:</a:t>
            </a:r>
            <a:r>
              <a:rPr lang="en-US" sz="1200" kern="0" spc="-80" dirty="0">
                <a:solidFill>
                  <a:schemeClr val="accent6"/>
                </a:solidFill>
              </a:rPr>
              <a:t> Gathering audience data from a variety of sources, including third-party providers.</a:t>
            </a:r>
          </a:p>
          <a:p>
            <a:pPr marL="12700" marR="5080"/>
            <a:r>
              <a:rPr lang="en-US" sz="1200" kern="0" spc="-80" dirty="0">
                <a:solidFill>
                  <a:schemeClr val="accent6"/>
                </a:solidFill>
              </a:rPr>
              <a:t>Audience Segmentation: Creating custom audience segments based on demographics, interests, and browsing behavior.</a:t>
            </a:r>
          </a:p>
          <a:p>
            <a:pPr marL="12700" marR="5080"/>
            <a:r>
              <a:rPr lang="en-US" sz="1200" kern="0" spc="-80" dirty="0">
                <a:solidFill>
                  <a:schemeClr val="accent2"/>
                </a:solidFill>
              </a:rPr>
              <a:t>Data Distribution</a:t>
            </a:r>
            <a:r>
              <a:rPr lang="en-US" sz="1200" kern="0" spc="-80" dirty="0">
                <a:solidFill>
                  <a:schemeClr val="accent6"/>
                </a:solidFill>
              </a:rPr>
              <a:t>: Feeding audience data and segments to DSPs to inform bidding decisions. </a:t>
            </a:r>
          </a:p>
          <a:p>
            <a:pPr marL="12700" marR="5080"/>
            <a:r>
              <a:rPr lang="en-US" sz="1200" kern="0" spc="-80" dirty="0">
                <a:solidFill>
                  <a:schemeClr val="accent2"/>
                </a:solidFill>
              </a:rPr>
              <a:t>Customer Data Platform (CDP)</a:t>
            </a:r>
          </a:p>
          <a:p>
            <a:pPr marL="12700" marR="5080"/>
            <a:r>
              <a:rPr lang="en-US" sz="1200" kern="0" spc="-80" dirty="0">
                <a:solidFill>
                  <a:schemeClr val="accent6"/>
                </a:solidFill>
              </a:rPr>
              <a:t>A CDP centralizes a company's first-party customer data, such as website interactions, purchase history, and other direct customer information. Unlike DMPs, which often use anonymous, third-party data, CDPs create a single, persistent, </a:t>
            </a:r>
          </a:p>
        </p:txBody>
      </p:sp>
    </p:spTree>
    <p:extLst>
      <p:ext uri="{BB962C8B-B14F-4D97-AF65-F5344CB8AC3E}">
        <p14:creationId xmlns:p14="http://schemas.microsoft.com/office/powerpoint/2010/main" val="62921699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C49E-2051-71F2-9850-1FD8F19CC3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97BAB2-A79A-DDE9-7C9C-DBD84AD5CE1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36B239-D639-6C5C-3B39-396508B19CE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D28065-D6DB-C847-5A4C-452AB85325D4}"/>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A1F874F-253E-DA9C-6042-E70E1118DB15}"/>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D91B3E1-C1FD-D78D-FB53-C9B3BAF368B6}"/>
              </a:ext>
            </a:extLst>
          </p:cNvPr>
          <p:cNvSpPr txBox="1">
            <a:spLocks/>
          </p:cNvSpPr>
          <p:nvPr/>
        </p:nvSpPr>
        <p:spPr>
          <a:xfrm>
            <a:off x="137369" y="1178004"/>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6"/>
                </a:solidFill>
              </a:rPr>
              <a:t>identifiable customer profile.</a:t>
            </a:r>
            <a:endParaRPr lang="en-US" sz="1350" kern="0" spc="-80" dirty="0">
              <a:solidFill>
                <a:schemeClr val="accent2"/>
              </a:solidFill>
            </a:endParaRPr>
          </a:p>
          <a:p>
            <a:pPr marL="12700" marR="5080"/>
            <a:r>
              <a:rPr lang="en-US" sz="1350" kern="0" spc="-80" dirty="0">
                <a:solidFill>
                  <a:schemeClr val="accent2"/>
                </a:solidFill>
              </a:rPr>
              <a:t>The programmatic process flow</a:t>
            </a:r>
          </a:p>
          <a:p>
            <a:pPr marL="12700" marR="5080"/>
            <a:r>
              <a:rPr lang="en-US" sz="1350" kern="0" spc="-80" dirty="0">
                <a:solidFill>
                  <a:schemeClr val="accent6"/>
                </a:solidFill>
              </a:rPr>
              <a:t>The ad delivery process occurs in milliseconds and follows a standard sequence:</a:t>
            </a:r>
          </a:p>
          <a:p>
            <a:pPr marL="12700" marR="5080"/>
            <a:r>
              <a:rPr lang="en-US" sz="1350" kern="0" spc="-80" dirty="0">
                <a:solidFill>
                  <a:schemeClr val="accent2"/>
                </a:solidFill>
              </a:rPr>
              <a:t>User Event: </a:t>
            </a:r>
            <a:r>
              <a:rPr lang="en-US" sz="1350" kern="0" spc="-80" dirty="0">
                <a:solidFill>
                  <a:schemeClr val="accent6"/>
                </a:solidFill>
              </a:rPr>
              <a:t>A user visits a website or opens a mobile app that contains an available ad slot.</a:t>
            </a:r>
          </a:p>
          <a:p>
            <a:pPr marL="12700" marR="5080"/>
            <a:r>
              <a:rPr lang="en-US" sz="1350" kern="0" spc="-80" dirty="0">
                <a:solidFill>
                  <a:schemeClr val="accent2"/>
                </a:solidFill>
              </a:rPr>
              <a:t>Ad Request: </a:t>
            </a:r>
            <a:r>
              <a:rPr lang="en-US" sz="1350" kern="0" spc="-80" dirty="0">
                <a:solidFill>
                  <a:schemeClr val="accent6"/>
                </a:solidFill>
              </a:rPr>
              <a:t>The publisher's ad server sends a request to its SSP, which includes user, content, and ad placement data.</a:t>
            </a:r>
          </a:p>
          <a:p>
            <a:pPr marL="12700" marR="5080"/>
            <a:r>
              <a:rPr lang="en-US" sz="1350" kern="0" spc="-80" dirty="0">
                <a:solidFill>
                  <a:schemeClr val="accent2"/>
                </a:solidFill>
              </a:rPr>
              <a:t>Auction: </a:t>
            </a:r>
            <a:r>
              <a:rPr lang="en-US" sz="1350" kern="0" spc="-80" dirty="0">
                <a:solidFill>
                  <a:schemeClr val="accent6"/>
                </a:solidFill>
              </a:rPr>
              <a:t>The SSP forwards this information to an ad exchange, which initiates a real-time auction for the ad impression. The exchange invites relevant DSPs to bid on the impression.</a:t>
            </a:r>
          </a:p>
          <a:p>
            <a:pPr marL="12700" marR="5080"/>
            <a:r>
              <a:rPr lang="en-US" sz="1350" kern="0" spc="-80" dirty="0">
                <a:solidFill>
                  <a:schemeClr val="accent2"/>
                </a:solidFill>
              </a:rPr>
              <a:t>Bidding Decision: </a:t>
            </a:r>
            <a:r>
              <a:rPr lang="en-US" sz="1350" kern="0" spc="-80" dirty="0">
                <a:solidFill>
                  <a:schemeClr val="accent6"/>
                </a:solidFill>
              </a:rPr>
              <a:t>The DSPs use their data (often from a DMP or CDP) and an advertiser's campaign parameters to determine the value of the impression and submit a bid.</a:t>
            </a:r>
          </a:p>
          <a:p>
            <a:pPr marL="12700" marR="5080"/>
            <a:r>
              <a:rPr lang="en-US" sz="1350" kern="0" spc="-80" dirty="0">
                <a:solidFill>
                  <a:schemeClr val="accent2"/>
                </a:solidFill>
              </a:rPr>
              <a:t>Ad Selection: </a:t>
            </a:r>
            <a:r>
              <a:rPr lang="en-US" sz="1350" kern="0" spc="-80" dirty="0">
                <a:solidFill>
                  <a:schemeClr val="accent6"/>
                </a:solidFill>
              </a:rPr>
              <a:t>The ad exchange selects the highest bid and notifies the SSP and the winning DSP.</a:t>
            </a:r>
          </a:p>
          <a:p>
            <a:pPr marL="12700" marR="5080"/>
            <a:r>
              <a:rPr lang="en-US" sz="1350" kern="0" spc="-80" dirty="0">
                <a:solidFill>
                  <a:schemeClr val="accent2"/>
                </a:solidFill>
              </a:rPr>
              <a:t>Ad Serving: </a:t>
            </a:r>
            <a:r>
              <a:rPr lang="en-US" sz="1350" kern="0" spc="-80" dirty="0">
                <a:solidFill>
                  <a:schemeClr val="accent6"/>
                </a:solidFill>
              </a:rPr>
              <a:t>The winning DSP's ad server delivers the creative to the user's browser or app.</a:t>
            </a:r>
          </a:p>
          <a:p>
            <a:pPr marL="12700" marR="5080"/>
            <a:r>
              <a:rPr lang="en-US" sz="1350" kern="0" spc="-80" dirty="0">
                <a:solidFill>
                  <a:schemeClr val="accent2"/>
                </a:solidFill>
              </a:rPr>
              <a:t>Data Collection: </a:t>
            </a:r>
            <a:r>
              <a:rPr lang="en-US" sz="1350" kern="0" spc="-80" dirty="0">
                <a:solidFill>
                  <a:schemeClr val="accent6"/>
                </a:solidFill>
              </a:rPr>
              <a:t>Once the ad is displayed (an impression) or clicked, data is sent back to the DSP and other analytics platforms to inform future bidding and campaign optimization. </a:t>
            </a:r>
          </a:p>
          <a:p>
            <a:pPr marL="12700" marR="5080"/>
            <a:r>
              <a:rPr lang="en-US" sz="1350" kern="0" spc="-80" dirty="0">
                <a:solidFill>
                  <a:schemeClr val="accent2"/>
                </a:solidFill>
              </a:rPr>
              <a:t>Emerging architectural trends and considerations</a:t>
            </a:r>
          </a:p>
          <a:p>
            <a:pPr marL="12700" marR="5080"/>
            <a:r>
              <a:rPr lang="en-US" sz="1350" kern="0" spc="-80" dirty="0">
                <a:solidFill>
                  <a:schemeClr val="accent2"/>
                </a:solidFill>
              </a:rPr>
              <a:t>Data Privacy: </a:t>
            </a:r>
            <a:r>
              <a:rPr lang="en-US" sz="1350" kern="0" spc="-80" dirty="0">
                <a:solidFill>
                  <a:schemeClr val="accent6"/>
                </a:solidFill>
              </a:rPr>
              <a:t>Regulations like GDPR and CCPA, along with the deprecation of third-party cookies, are shifting the architecture toward greater reliance on first-party data and privacy-centric solutions.</a:t>
            </a:r>
          </a:p>
          <a:p>
            <a:pPr marL="12700" marR="5080"/>
            <a:r>
              <a:rPr lang="en-US" sz="1350" kern="0" spc="-80" dirty="0">
                <a:solidFill>
                  <a:schemeClr val="accent2"/>
                </a:solidFill>
              </a:rPr>
              <a:t>Real-Time Analytics: </a:t>
            </a:r>
            <a:r>
              <a:rPr lang="en-US" sz="1350" kern="0" spc="-80" dirty="0">
                <a:solidFill>
                  <a:schemeClr val="accent6"/>
                </a:solidFill>
              </a:rPr>
              <a:t>AdTech relies on advanced data analytics platforms with high performance to ingest and process ad event data for real-time reporting and optimization.</a:t>
            </a:r>
          </a:p>
          <a:p>
            <a:pPr marL="12700" marR="5080"/>
            <a:r>
              <a:rPr lang="en-US" sz="1350" kern="0" spc="-80" dirty="0">
                <a:solidFill>
                  <a:schemeClr val="accent2"/>
                </a:solidFill>
              </a:rPr>
              <a:t>Cross-Channel Support: </a:t>
            </a:r>
            <a:r>
              <a:rPr lang="en-US" sz="1350" kern="0" spc="-80" dirty="0">
                <a:solidFill>
                  <a:schemeClr val="accent6"/>
                </a:solidFill>
              </a:rPr>
              <a:t>Reference architectures must support the increasingly complex ad landscape, which now includes connected TV (CTV), mobile apps, and other non-traditional channels.</a:t>
            </a:r>
          </a:p>
          <a:p>
            <a:pPr marL="12700" marR="5080"/>
            <a:r>
              <a:rPr lang="en-US" sz="1350" kern="0" spc="-80" dirty="0">
                <a:solidFill>
                  <a:schemeClr val="accent2"/>
                </a:solidFill>
              </a:rPr>
              <a:t>Hybrid Models: </a:t>
            </a:r>
            <a:r>
              <a:rPr lang="en-US" sz="1350" kern="0" spc="-80" dirty="0">
                <a:solidFill>
                  <a:schemeClr val="accent6"/>
                </a:solidFill>
              </a:rPr>
              <a:t>Some publishers and advertisers choose a hybrid approach, using external platforms like DSPs and SSPs while also developing proprietary components in-house. </a:t>
            </a:r>
          </a:p>
        </p:txBody>
      </p:sp>
    </p:spTree>
    <p:extLst>
      <p:ext uri="{BB962C8B-B14F-4D97-AF65-F5344CB8AC3E}">
        <p14:creationId xmlns:p14="http://schemas.microsoft.com/office/powerpoint/2010/main" val="128577336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3718-BC4B-2F93-8DFD-DD250D4835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4BA5608-9E02-4EFE-9136-B3C77F67089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AECB5E-F8A9-E9A5-3A92-1AD24088EA7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F9C756-5BB3-EBC4-24F1-F66464A78BC0}"/>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FA2F73A-11BC-2FF1-67FB-50A021444AC2}"/>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DF42A1A-E501-9557-1D24-AD2FB8362FB1}"/>
              </a:ext>
            </a:extLst>
          </p:cNvPr>
          <p:cNvSpPr txBox="1">
            <a:spLocks/>
          </p:cNvSpPr>
          <p:nvPr/>
        </p:nvSpPr>
        <p:spPr>
          <a:xfrm>
            <a:off x="137369" y="1238382"/>
            <a:ext cx="8624937" cy="29854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IN" sz="1400" dirty="0">
                <a:hlinkClick r:id="rId7"/>
              </a:rPr>
              <a:t>Adtech-Reference-Architecture-Whitepaper.pdf</a:t>
            </a:r>
            <a:endParaRPr lang="en-US" sz="1400" kern="0" spc="-80" dirty="0">
              <a:solidFill>
                <a:schemeClr val="accent2"/>
              </a:solidFill>
            </a:endParaRPr>
          </a:p>
          <a:p>
            <a:pPr marL="12700" marR="5080"/>
            <a:r>
              <a:rPr lang="en-US" sz="1400" dirty="0">
                <a:hlinkClick r:id="rId8"/>
              </a:rPr>
              <a:t>Programmatic Advertising - What It Is and How It Works | Amazon Ads</a:t>
            </a:r>
            <a:endParaRPr lang="en-US" sz="1400" dirty="0"/>
          </a:p>
          <a:p>
            <a:pPr marL="12700" marR="5080"/>
            <a:r>
              <a:rPr lang="en-US" sz="1400" dirty="0">
                <a:hlinkClick r:id="rId9"/>
              </a:rPr>
              <a:t>Guidance for AdTech Private Network on AWS</a:t>
            </a:r>
            <a:endParaRPr lang="en-US" sz="1400" dirty="0"/>
          </a:p>
          <a:p>
            <a:pPr marL="12700" marR="5080"/>
            <a:r>
              <a:rPr lang="en-US" sz="1400" dirty="0">
                <a:hlinkClick r:id="rId10"/>
              </a:rPr>
              <a:t>Programmatic Advertising Guide: Elevate Your B2B Advertising</a:t>
            </a:r>
            <a:endParaRPr lang="en-US" sz="1400" dirty="0"/>
          </a:p>
          <a:p>
            <a:pPr marL="12700" marR="5080"/>
            <a:r>
              <a:rPr lang="en-US" sz="1400" dirty="0">
                <a:hlinkClick r:id="rId11"/>
              </a:rPr>
              <a:t>The AdTech Book by </a:t>
            </a:r>
            <a:r>
              <a:rPr lang="en-US" sz="1400" dirty="0" err="1">
                <a:hlinkClick r:id="rId11"/>
              </a:rPr>
              <a:t>Clearcode</a:t>
            </a:r>
            <a:r>
              <a:rPr lang="en-US" sz="1400" dirty="0">
                <a:hlinkClick r:id="rId11"/>
              </a:rPr>
              <a:t> | The Platforms, Processes, and Players</a:t>
            </a:r>
            <a:endParaRPr lang="en-US" sz="1400" dirty="0"/>
          </a:p>
          <a:p>
            <a:pPr marL="12700" marR="5080"/>
            <a:r>
              <a:rPr lang="en-IN" sz="1400" dirty="0">
                <a:hlinkClick r:id="rId12"/>
              </a:rPr>
              <a:t>AdTech &amp; </a:t>
            </a:r>
            <a:r>
              <a:rPr lang="en-IN" sz="1400" dirty="0" err="1">
                <a:hlinkClick r:id="rId12"/>
              </a:rPr>
              <a:t>MarTech</a:t>
            </a:r>
            <a:r>
              <a:rPr lang="en-IN" sz="1400" dirty="0">
                <a:hlinkClick r:id="rId12"/>
              </a:rPr>
              <a:t> Resources – </a:t>
            </a:r>
            <a:r>
              <a:rPr lang="en-IN" sz="1400" dirty="0" err="1">
                <a:hlinkClick r:id="rId12"/>
              </a:rPr>
              <a:t>Clearcode</a:t>
            </a:r>
            <a:endParaRPr lang="en-IN" sz="1400" dirty="0"/>
          </a:p>
          <a:p>
            <a:pPr marL="12700" marR="5080"/>
            <a:r>
              <a:rPr lang="en-IN" sz="1400" dirty="0">
                <a:hlinkClick r:id="rId13"/>
              </a:rPr>
              <a:t>Adobe Experience Cloud Resources | Adobe for Enterprise | Adobe India</a:t>
            </a:r>
            <a:endParaRPr lang="en-IN" sz="1400" dirty="0"/>
          </a:p>
          <a:p>
            <a:pPr marL="12700" marR="5080"/>
            <a:r>
              <a:rPr lang="en-US" sz="1400" dirty="0">
                <a:hlinkClick r:id="rId14"/>
              </a:rPr>
              <a:t>Complete Programmatic Advertising Course With Tool - 2024 | Udemy</a:t>
            </a:r>
            <a:endParaRPr lang="en-US" sz="1400" dirty="0"/>
          </a:p>
          <a:p>
            <a:pPr marL="12700" marR="5080"/>
            <a:r>
              <a:rPr lang="en-US" sz="1400" dirty="0">
                <a:hlinkClick r:id="rId15"/>
              </a:rPr>
              <a:t>Build a reference architecture for a demand-side platform in AdTech</a:t>
            </a:r>
            <a:endParaRPr lang="en-US" sz="1400" dirty="0"/>
          </a:p>
          <a:p>
            <a:pPr marL="12700" marR="5080"/>
            <a:r>
              <a:rPr lang="en-IN" sz="1400" dirty="0">
                <a:hlinkClick r:id="rId16"/>
              </a:rPr>
              <a:t>Interactive Advertising Bureau | Guidelines</a:t>
            </a:r>
            <a:endParaRPr lang="en-IN" sz="1400" dirty="0"/>
          </a:p>
          <a:p>
            <a:pPr marL="12700" marR="5080"/>
            <a:r>
              <a:rPr lang="en-IN" sz="1400" dirty="0">
                <a:hlinkClick r:id="rId17"/>
              </a:rPr>
              <a:t>Airbnb’s Promotions and Communications Platform | by </a:t>
            </a:r>
            <a:r>
              <a:rPr lang="en-IN" sz="1400">
                <a:hlinkClick r:id="rId17"/>
              </a:rPr>
              <a:t>Paritosh Aggarwal</a:t>
            </a:r>
            <a:endParaRPr lang="en-IN" sz="1400" dirty="0"/>
          </a:p>
          <a:p>
            <a:pPr marL="12700" marR="5080"/>
            <a:r>
              <a:rPr lang="en-US" sz="1400" dirty="0">
                <a:hlinkClick r:id="rId18"/>
              </a:rPr>
              <a:t>4 Must Read Web Analytics Books That Will Help you Take Charge of Your Career | </a:t>
            </a:r>
            <a:r>
              <a:rPr lang="en-US" sz="1400" dirty="0" err="1">
                <a:hlinkClick r:id="rId18"/>
              </a:rPr>
              <a:t>UNext</a:t>
            </a:r>
            <a:endParaRPr lang="en-IN" sz="14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231390189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0" y="-85781"/>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Loyalty Reference Architecture</a:t>
            </a:r>
          </a:p>
          <a:p>
            <a:pPr marL="12700" marR="5080"/>
            <a:r>
              <a:rPr lang="en-US" sz="2400" kern="0" spc="-80" dirty="0">
                <a:solidFill>
                  <a:schemeClr val="accent2"/>
                </a:solidFill>
              </a:rPr>
              <a:t>  </a:t>
            </a:r>
          </a:p>
        </p:txBody>
      </p:sp>
      <p:pic>
        <p:nvPicPr>
          <p:cNvPr id="7" name="Picture 6">
            <a:extLst>
              <a:ext uri="{FF2B5EF4-FFF2-40B4-BE49-F238E27FC236}">
                <a16:creationId xmlns:a16="http://schemas.microsoft.com/office/drawing/2014/main" id="{BB94FE12-812B-A496-E126-6EBAD39115DD}"/>
              </a:ext>
            </a:extLst>
          </p:cNvPr>
          <p:cNvPicPr>
            <a:picLocks noChangeAspect="1"/>
          </p:cNvPicPr>
          <p:nvPr/>
        </p:nvPicPr>
        <p:blipFill>
          <a:blip r:embed="rId7"/>
          <a:stretch>
            <a:fillRect/>
          </a:stretch>
        </p:blipFill>
        <p:spPr>
          <a:xfrm>
            <a:off x="290462" y="1219200"/>
            <a:ext cx="8701137" cy="4724400"/>
          </a:xfrm>
          <a:prstGeom prst="rect">
            <a:avLst/>
          </a:prstGeom>
        </p:spPr>
      </p:pic>
    </p:spTree>
    <p:extLst>
      <p:ext uri="{BB962C8B-B14F-4D97-AF65-F5344CB8AC3E}">
        <p14:creationId xmlns:p14="http://schemas.microsoft.com/office/powerpoint/2010/main" val="152913014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E5FF5-5613-8EB0-438E-FDBB150C6F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8BE9CF-FC90-3E6D-0890-2809DCE83DE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98FFF8-6F45-99AB-B677-1A9C3DC94F2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CEF0E1-4F20-F462-0DE3-2E26CDCF8A20}"/>
              </a:ext>
            </a:extLst>
          </p:cNvPr>
          <p:cNvGraphicFramePr/>
          <p:nvPr/>
        </p:nvGraphicFramePr>
        <p:xfrm>
          <a:off x="0" y="-85781"/>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88A3B29-768E-DDA0-A056-0796783E4C6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Loyalty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8C07F3F-DB05-EDBF-5E8A-113E69D216CD}"/>
              </a:ext>
            </a:extLst>
          </p:cNvPr>
          <p:cNvSpPr txBox="1">
            <a:spLocks/>
          </p:cNvSpPr>
          <p:nvPr/>
        </p:nvSpPr>
        <p:spPr>
          <a:xfrm>
            <a:off x="228599" y="1262151"/>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Key Components of a Loyalty Reference Architecture</a:t>
            </a:r>
          </a:p>
          <a:p>
            <a:pPr marL="12700" marR="5080"/>
            <a:r>
              <a:rPr lang="en-US" sz="1400" kern="0" spc="-80" dirty="0">
                <a:solidFill>
                  <a:schemeClr val="accent2"/>
                </a:solidFill>
              </a:rPr>
              <a:t>Unified Customer View: </a:t>
            </a:r>
            <a:r>
              <a:rPr lang="en-US" sz="1400" kern="0" spc="-80" dirty="0">
                <a:solidFill>
                  <a:schemeClr val="accent6"/>
                </a:solidFill>
              </a:rPr>
              <a:t>A foundational element that integrates data from sales, marketing, and service to create a comprehensive view of each customer. </a:t>
            </a:r>
          </a:p>
          <a:p>
            <a:pPr marL="12700" marR="5080"/>
            <a:r>
              <a:rPr lang="en-US" sz="1400" kern="0" spc="-80" dirty="0">
                <a:solidFill>
                  <a:schemeClr val="accent2"/>
                </a:solidFill>
              </a:rPr>
              <a:t>Loyalty Engine: </a:t>
            </a:r>
            <a:r>
              <a:rPr lang="en-US" sz="1400" kern="0" spc="-80" dirty="0">
                <a:solidFill>
                  <a:schemeClr val="accent6"/>
                </a:solidFill>
              </a:rPr>
              <a:t>A core system that manages loyalty rules, processes transactions, tracks points, and handles tier management and rewards. </a:t>
            </a:r>
          </a:p>
          <a:p>
            <a:pPr marL="12700" marR="5080"/>
            <a:r>
              <a:rPr lang="en-US" sz="1400" kern="0" spc="-80" dirty="0">
                <a:solidFill>
                  <a:schemeClr val="accent2"/>
                </a:solidFill>
              </a:rPr>
              <a:t>Integration Layer (APIs): </a:t>
            </a:r>
            <a:r>
              <a:rPr lang="en-US" sz="1400" kern="0" spc="-80" dirty="0">
                <a:solidFill>
                  <a:schemeClr val="accent6"/>
                </a:solidFill>
              </a:rPr>
              <a:t>Enables real-time communication between the loyalty engine and other systems, such as websites, mobile apps, point-of-sale (POS) systems, and CRM. </a:t>
            </a:r>
          </a:p>
          <a:p>
            <a:pPr marL="12700" marR="5080"/>
            <a:r>
              <a:rPr lang="en-US" sz="1400" kern="0" spc="-80" dirty="0">
                <a:solidFill>
                  <a:schemeClr val="accent2"/>
                </a:solidFill>
              </a:rPr>
              <a:t>Customer Engagement Channels: </a:t>
            </a:r>
            <a:r>
              <a:rPr lang="en-US" sz="1400" kern="0" spc="-80" dirty="0">
                <a:solidFill>
                  <a:schemeClr val="accent6"/>
                </a:solidFill>
              </a:rPr>
              <a:t>Includes web and mobile applications, email, and other marketing channels used to deliver loyalty offers, communicate program updates, and allow customers to track their status. </a:t>
            </a:r>
          </a:p>
          <a:p>
            <a:pPr marL="12700" marR="5080"/>
            <a:r>
              <a:rPr lang="en-US" sz="1400" kern="0" spc="-80" dirty="0">
                <a:solidFill>
                  <a:schemeClr val="accent2"/>
                </a:solidFill>
              </a:rPr>
              <a:t>Analytics and Reporting:</a:t>
            </a:r>
            <a:r>
              <a:rPr lang="en-US" sz="1400" kern="0" spc="-80" dirty="0">
                <a:solidFill>
                  <a:schemeClr val="accent6"/>
                </a:solidFill>
              </a:rPr>
              <a:t> Provides dashboards and reports to monitor program performance, customer behavior, and ROI. </a:t>
            </a:r>
          </a:p>
          <a:p>
            <a:pPr marL="12700" marR="5080"/>
            <a:r>
              <a:rPr lang="en-US" sz="1400" kern="0" spc="-80" dirty="0">
                <a:solidFill>
                  <a:schemeClr val="accent2"/>
                </a:solidFill>
              </a:rPr>
              <a:t>Data Infrastructure:</a:t>
            </a:r>
            <a:r>
              <a:rPr lang="en-US" sz="1400" kern="0" spc="-80" dirty="0">
                <a:solidFill>
                  <a:schemeClr val="accent6"/>
                </a:solidFill>
              </a:rPr>
              <a:t> Stores and processes loyalty data, often leveraging data integration pipelines, data lakes, and analytics platforms. </a:t>
            </a:r>
          </a:p>
          <a:p>
            <a:pPr marL="12700" marR="5080"/>
            <a:r>
              <a:rPr lang="en-US" sz="1400" kern="0" spc="-80" dirty="0">
                <a:solidFill>
                  <a:schemeClr val="accent2"/>
                </a:solidFill>
              </a:rPr>
              <a:t>Architectural Approaches</a:t>
            </a:r>
          </a:p>
          <a:p>
            <a:pPr marL="12700" marR="5080"/>
            <a:r>
              <a:rPr lang="en-US" sz="1400" kern="0" spc="-80" dirty="0">
                <a:solidFill>
                  <a:schemeClr val="accent2"/>
                </a:solidFill>
              </a:rPr>
              <a:t>Monolithic Architecture:</a:t>
            </a:r>
            <a:r>
              <a:rPr lang="en-US" sz="1400" kern="0" spc="-80" dirty="0">
                <a:solidFill>
                  <a:schemeClr val="accent6"/>
                </a:solidFill>
              </a:rPr>
              <a:t> A traditional approach where the loyalty system is embedded within a larger application, such as Oracle Siebel's Loyalty Engine. </a:t>
            </a:r>
          </a:p>
          <a:p>
            <a:pPr marL="12700" marR="5080"/>
            <a:r>
              <a:rPr lang="en-US" sz="1400" kern="0" spc="-80" dirty="0">
                <a:solidFill>
                  <a:schemeClr val="accent2"/>
                </a:solidFill>
              </a:rPr>
              <a:t>Composable/Modular Architecture:</a:t>
            </a:r>
            <a:r>
              <a:rPr lang="en-US" sz="1400" kern="0" spc="-80" dirty="0">
                <a:solidFill>
                  <a:schemeClr val="accent6"/>
                </a:solidFill>
              </a:rPr>
              <a:t> A modern, flexible approach where the loyalty engine operates independently and connects to other systems via APIs, allowing for easier integration and component upgrades. </a:t>
            </a:r>
          </a:p>
          <a:p>
            <a:pPr marL="12700" marR="5080"/>
            <a:r>
              <a:rPr lang="en-US" sz="1500" kern="0" spc="-80" dirty="0">
                <a:solidFill>
                  <a:schemeClr val="accent2"/>
                </a:solidFill>
              </a:rPr>
              <a:t>For Further Exploration-</a:t>
            </a:r>
          </a:p>
          <a:p>
            <a:pPr marL="12700" marR="5080"/>
            <a:r>
              <a:rPr lang="en-US" sz="1000" dirty="0">
                <a:hlinkClick r:id="rId7"/>
              </a:rPr>
              <a:t>Discover </a:t>
            </a:r>
            <a:r>
              <a:rPr lang="en-US" sz="1000" dirty="0" err="1">
                <a:hlinkClick r:id="rId7"/>
              </a:rPr>
              <a:t>Livelo's</a:t>
            </a:r>
            <a:r>
              <a:rPr lang="en-US" sz="1000" dirty="0">
                <a:hlinkClick r:id="rId7"/>
              </a:rPr>
              <a:t> Latest Successes Revealed on Let’s Talk Loyalty</a:t>
            </a:r>
            <a:endParaRPr lang="en-US" sz="1000" kern="0" spc="-80" dirty="0">
              <a:solidFill>
                <a:schemeClr val="accent2"/>
              </a:solidFill>
            </a:endParaRPr>
          </a:p>
        </p:txBody>
      </p:sp>
    </p:spTree>
    <p:extLst>
      <p:ext uri="{BB962C8B-B14F-4D97-AF65-F5344CB8AC3E}">
        <p14:creationId xmlns:p14="http://schemas.microsoft.com/office/powerpoint/2010/main" val="1196812203"/>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3044-248A-1A18-CEFF-36131357B6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4C029B-6A9B-A448-B713-112716D65C4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7A0D36-EBBF-71FD-559F-25E1EFFA9101}"/>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F8F320-CE80-6FFC-9C96-B35A0B1D1742}"/>
              </a:ext>
            </a:extLst>
          </p:cNvPr>
          <p:cNvGraphicFramePr/>
          <p:nvPr/>
        </p:nvGraphicFramePr>
        <p:xfrm>
          <a:off x="0" y="-16388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43C32EB-CB94-A719-C25C-39D06990714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Marketplace Reference Architecture</a:t>
            </a:r>
          </a:p>
          <a:p>
            <a:pPr marL="12700" marR="5080"/>
            <a:r>
              <a:rPr lang="en-US" sz="2400" kern="0" spc="-80" dirty="0">
                <a:solidFill>
                  <a:schemeClr val="accent2"/>
                </a:solidFill>
              </a:rPr>
              <a:t>  </a:t>
            </a:r>
          </a:p>
        </p:txBody>
      </p:sp>
      <p:pic>
        <p:nvPicPr>
          <p:cNvPr id="1026" name="Picture 2" descr="Diagram of a product marketplace architecture.">
            <a:extLst>
              <a:ext uri="{FF2B5EF4-FFF2-40B4-BE49-F238E27FC236}">
                <a16:creationId xmlns:a16="http://schemas.microsoft.com/office/drawing/2014/main" id="{4DD170D5-00B7-1EEB-F01B-704F7B0A85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599" y="1219200"/>
            <a:ext cx="8915401" cy="4610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17800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EEE8-FD93-3D88-3899-52D0C5A22D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053F23-5683-7511-E4BB-C885899FA15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C8B620-C4C8-204A-8EF2-BCF0320BD41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2D43B3-7A24-8EE2-A673-4BA985537242}"/>
              </a:ext>
            </a:extLst>
          </p:cNvPr>
          <p:cNvGraphicFramePr/>
          <p:nvPr/>
        </p:nvGraphicFramePr>
        <p:xfrm>
          <a:off x="0" y="-16388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40CCA48-741B-606B-1557-7191FB0E64F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Marketplace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5A75A1-AC39-DA67-AE03-C899BA9AAF53}"/>
              </a:ext>
            </a:extLst>
          </p:cNvPr>
          <p:cNvSpPr txBox="1">
            <a:spLocks/>
          </p:cNvSpPr>
          <p:nvPr/>
        </p:nvSpPr>
        <p:spPr>
          <a:xfrm>
            <a:off x="137369" y="1242536"/>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Key Aspects of a Marketplace Reference Architecture</a:t>
            </a:r>
          </a:p>
          <a:p>
            <a:pPr marL="12700" marR="5080"/>
            <a:r>
              <a:rPr lang="en-US" sz="1600" kern="0" spc="-80" dirty="0">
                <a:solidFill>
                  <a:schemeClr val="accent2"/>
                </a:solidFill>
              </a:rPr>
              <a:t>Core Components: </a:t>
            </a:r>
            <a:r>
              <a:rPr lang="en-US" sz="1600" kern="0" spc="-80" dirty="0">
                <a:solidFill>
                  <a:schemeClr val="accent6"/>
                </a:solidFill>
              </a:rPr>
              <a:t>Defines the essential parts of a marketplace, including user interfaces, service discovery, catalog management, transaction processing, and payment systems. </a:t>
            </a:r>
          </a:p>
          <a:p>
            <a:pPr marL="12700" marR="5080"/>
            <a:r>
              <a:rPr lang="en-US" sz="1600" kern="0" spc="-80" dirty="0">
                <a:solidFill>
                  <a:schemeClr val="accent2"/>
                </a:solidFill>
              </a:rPr>
              <a:t>Integration Frameworks:</a:t>
            </a:r>
            <a:r>
              <a:rPr lang="en-US" sz="1600" kern="0" spc="-80" dirty="0">
                <a:solidFill>
                  <a:schemeClr val="accent6"/>
                </a:solidFill>
              </a:rPr>
              <a:t> Establishes how the marketplace interacts with external systems, such as supplier platforms, regulatory bodies, and different payment gateways, often using open APIs for standardized integration. </a:t>
            </a:r>
          </a:p>
          <a:p>
            <a:pPr marL="12700" marR="5080"/>
            <a:r>
              <a:rPr lang="en-US" sz="1600" kern="0" spc="-80" dirty="0">
                <a:solidFill>
                  <a:schemeClr val="accent2"/>
                </a:solidFill>
              </a:rPr>
              <a:t>Data Management:</a:t>
            </a:r>
            <a:r>
              <a:rPr lang="en-US" sz="1600" kern="0" spc="-80" dirty="0">
                <a:solidFill>
                  <a:schemeClr val="accent6"/>
                </a:solidFill>
              </a:rPr>
              <a:t> Outlines models for handling digital product data, ensuring consistency and flexibility for aggregating diverse offerings from multiple suppliers. </a:t>
            </a:r>
          </a:p>
          <a:p>
            <a:pPr marL="12700" marR="5080"/>
            <a:r>
              <a:rPr lang="en-US" sz="1600" kern="0" spc="-80" dirty="0">
                <a:solidFill>
                  <a:schemeClr val="accent2"/>
                </a:solidFill>
              </a:rPr>
              <a:t>Security and Governance:</a:t>
            </a:r>
            <a:r>
              <a:rPr lang="en-US" sz="1600" kern="0" spc="-80" dirty="0">
                <a:solidFill>
                  <a:schemeClr val="accent6"/>
                </a:solidFill>
              </a:rPr>
              <a:t> Incorporates best practices for securing user data, transactions, and the overall platform, often following guidelines from cloud providers like Microsoft or AWS. </a:t>
            </a:r>
          </a:p>
          <a:p>
            <a:pPr marL="12700" marR="5080"/>
            <a:r>
              <a:rPr lang="en-US" sz="1600" kern="0" spc="-80" dirty="0">
                <a:solidFill>
                  <a:schemeClr val="accent2"/>
                </a:solidFill>
              </a:rPr>
              <a:t>Scalability and Resilience: </a:t>
            </a:r>
            <a:r>
              <a:rPr lang="en-US" sz="1600" kern="0" spc="-80" dirty="0">
                <a:solidFill>
                  <a:schemeClr val="accent6"/>
                </a:solidFill>
              </a:rPr>
              <a:t>Provides a blueprint for designing a system that can handle increasing user loads and maintain operations even during failures. </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r>
              <a:rPr lang="en-US" sz="1500" kern="0" spc="-80" dirty="0">
                <a:solidFill>
                  <a:schemeClr val="accent2"/>
                </a:solidFill>
              </a:rPr>
              <a:t>For Further Exploration-</a:t>
            </a:r>
          </a:p>
          <a:p>
            <a:r>
              <a:rPr lang="en-US" sz="1400" dirty="0">
                <a:hlinkClick r:id="rId7"/>
              </a:rPr>
              <a:t>Marketplace Best Practices</a:t>
            </a:r>
            <a:endParaRPr lang="en-US" sz="1400" dirty="0"/>
          </a:p>
          <a:p>
            <a:r>
              <a:rPr lang="en-US" sz="1400" dirty="0">
                <a:hlinkClick r:id="rId8"/>
              </a:rPr>
              <a:t>The Lean Marketplace</a:t>
            </a:r>
            <a:endParaRPr lang="en-US" sz="1400" dirty="0"/>
          </a:p>
        </p:txBody>
      </p:sp>
    </p:spTree>
    <p:extLst>
      <p:ext uri="{BB962C8B-B14F-4D97-AF65-F5344CB8AC3E}">
        <p14:creationId xmlns:p14="http://schemas.microsoft.com/office/powerpoint/2010/main" val="161374483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09C5-E568-31F1-3E74-3B79FF51D1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D695F0-871D-2306-53A4-0AD9DB6DC98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1E8A06-0145-2736-32EF-67C43F264AB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7F6A1BD-C432-F6D6-9660-F50B52CFC293}"/>
              </a:ext>
            </a:extLst>
          </p:cNvPr>
          <p:cNvGraphicFramePr/>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0927859-7B46-2032-5D18-01FD77C75C2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C8986B1-7CB0-6248-ED93-4A2DDAB1147D}"/>
              </a:ext>
            </a:extLst>
          </p:cNvPr>
          <p:cNvSpPr txBox="1">
            <a:spLocks/>
          </p:cNvSpPr>
          <p:nvPr/>
        </p:nvSpPr>
        <p:spPr>
          <a:xfrm>
            <a:off x="137369" y="3554611"/>
            <a:ext cx="8624937" cy="27699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Core architectural components</a:t>
            </a:r>
          </a:p>
          <a:p>
            <a:pPr marL="12700" marR="5080"/>
            <a:r>
              <a:rPr lang="en-US" sz="1400" kern="0" spc="-80" dirty="0">
                <a:solidFill>
                  <a:schemeClr val="accent2"/>
                </a:solidFill>
              </a:rPr>
              <a:t>Order gateways</a:t>
            </a:r>
          </a:p>
          <a:p>
            <a:pPr marL="12700" marR="5080"/>
            <a:r>
              <a:rPr lang="en-US" sz="1400" kern="0" spc="-80" dirty="0">
                <a:solidFill>
                  <a:schemeClr val="accent6"/>
                </a:solidFill>
              </a:rPr>
              <a:t>These are the entry points for all incoming buy and sell orders from brokerage firms and direct market participants.</a:t>
            </a:r>
          </a:p>
          <a:p>
            <a:pPr marL="12700" marR="5080"/>
            <a:r>
              <a:rPr lang="en-US" sz="1400" kern="0" spc="-80" dirty="0">
                <a:solidFill>
                  <a:schemeClr val="accent6"/>
                </a:solidFill>
              </a:rPr>
              <a:t>They perform crucial gatekeeping functions, such as authentication, rate limiting, and basic message validation, before forwarding orders to the internal exchange system. </a:t>
            </a:r>
          </a:p>
          <a:p>
            <a:pPr marL="12700" marR="5080"/>
            <a:r>
              <a:rPr lang="en-US" sz="1400" kern="0" spc="-80" dirty="0">
                <a:solidFill>
                  <a:schemeClr val="accent2"/>
                </a:solidFill>
              </a:rPr>
              <a:t>Order accumulator and sequencer</a:t>
            </a:r>
          </a:p>
          <a:p>
            <a:pPr marL="12700" marR="5080"/>
            <a:r>
              <a:rPr lang="en-US" sz="1400" kern="0" spc="-80" dirty="0">
                <a:solidFill>
                  <a:schemeClr val="accent6"/>
                </a:solidFill>
              </a:rPr>
              <a:t>This module receives a massive, continuous stream of orders from all gateways and arranges them in a single, time-sequenced stream.</a:t>
            </a:r>
          </a:p>
          <a:p>
            <a:pPr marL="12700" marR="5080"/>
            <a:r>
              <a:rPr lang="en-US" sz="1400" kern="0" spc="-80" dirty="0">
                <a:solidFill>
                  <a:schemeClr val="accent6"/>
                </a:solidFill>
              </a:rPr>
              <a:t>High-speed sequencing is critical for maintaining "price-time priority," the standard rule for determining which order gets matched first. </a:t>
            </a:r>
          </a:p>
          <a:p>
            <a:pPr marL="12700" marR="5080"/>
            <a:endParaRPr lang="en-US" sz="1200" kern="0" spc="-80" dirty="0">
              <a:solidFill>
                <a:schemeClr val="accent6"/>
              </a:solidFill>
            </a:endParaRPr>
          </a:p>
          <a:p>
            <a:pPr marL="12700" marR="5080"/>
            <a:endParaRPr lang="en-US" sz="1200" kern="0" spc="-80" dirty="0">
              <a:solidFill>
                <a:schemeClr val="accent6"/>
              </a:solidFill>
            </a:endParaRPr>
          </a:p>
        </p:txBody>
      </p:sp>
      <p:pic>
        <p:nvPicPr>
          <p:cNvPr id="8" name="Picture 7">
            <a:extLst>
              <a:ext uri="{FF2B5EF4-FFF2-40B4-BE49-F238E27FC236}">
                <a16:creationId xmlns:a16="http://schemas.microsoft.com/office/drawing/2014/main" id="{A93B161F-D813-6840-3820-5D56D3424F35}"/>
              </a:ext>
            </a:extLst>
          </p:cNvPr>
          <p:cNvPicPr>
            <a:picLocks noChangeAspect="1"/>
          </p:cNvPicPr>
          <p:nvPr/>
        </p:nvPicPr>
        <p:blipFill>
          <a:blip r:embed="rId7"/>
          <a:stretch>
            <a:fillRect/>
          </a:stretch>
        </p:blipFill>
        <p:spPr>
          <a:xfrm>
            <a:off x="228599" y="1295399"/>
            <a:ext cx="8915401" cy="2259211"/>
          </a:xfrm>
          <a:prstGeom prst="rect">
            <a:avLst/>
          </a:prstGeom>
        </p:spPr>
      </p:pic>
    </p:spTree>
    <p:extLst>
      <p:ext uri="{BB962C8B-B14F-4D97-AF65-F5344CB8AC3E}">
        <p14:creationId xmlns:p14="http://schemas.microsoft.com/office/powerpoint/2010/main" val="98544054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426F-046C-4F8C-57FC-E122BF387A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4E2B6F-2245-7A98-3FC5-4D8C1327314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3E3EF3-DCD4-9350-67C3-4CCCCF94489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193B72-85E8-0A97-3CC3-3A1CA278999C}"/>
              </a:ext>
            </a:extLst>
          </p:cNvPr>
          <p:cNvGraphicFramePr/>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0369218-34D3-83C3-C216-A7305556233B}"/>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FE75D95-2D12-5A16-84EF-CEE55DF7AB8C}"/>
              </a:ext>
            </a:extLst>
          </p:cNvPr>
          <p:cNvSpPr txBox="1">
            <a:spLocks/>
          </p:cNvSpPr>
          <p:nvPr/>
        </p:nvSpPr>
        <p:spPr>
          <a:xfrm>
            <a:off x="137369" y="1198113"/>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Matching engine</a:t>
            </a:r>
          </a:p>
          <a:p>
            <a:pPr marL="12700" marR="5080"/>
            <a:r>
              <a:rPr lang="en-US" sz="1300" kern="0" spc="-80" dirty="0">
                <a:solidFill>
                  <a:schemeClr val="accent6"/>
                </a:solidFill>
              </a:rPr>
              <a:t>This is the heart of the stock exchange, responsible for matching compatible buy and sell orders.</a:t>
            </a:r>
          </a:p>
          <a:p>
            <a:pPr marL="12700" marR="5080"/>
            <a:r>
              <a:rPr lang="en-US" sz="1300" kern="0" spc="-80" dirty="0">
                <a:solidFill>
                  <a:schemeClr val="accent6"/>
                </a:solidFill>
              </a:rPr>
              <a:t>It maintains an electronic "order book" for every security, which lists all active, unmatched buy and sell orders.</a:t>
            </a:r>
          </a:p>
          <a:p>
            <a:pPr marL="12700" marR="5080"/>
            <a:r>
              <a:rPr lang="en-US" sz="1300" kern="0" spc="-80" dirty="0">
                <a:solidFill>
                  <a:schemeClr val="accent6"/>
                </a:solidFill>
              </a:rPr>
              <a:t>When a match occurs, the matching engine executes the trade and updates the order book. </a:t>
            </a:r>
          </a:p>
          <a:p>
            <a:pPr marL="12700" marR="5080"/>
            <a:r>
              <a:rPr lang="en-US" sz="1300" kern="0" spc="-80" dirty="0">
                <a:solidFill>
                  <a:schemeClr val="accent2"/>
                </a:solidFill>
              </a:rPr>
              <a:t>Data servers and feed handlers</a:t>
            </a:r>
          </a:p>
          <a:p>
            <a:pPr marL="12700" marR="5080"/>
            <a:r>
              <a:rPr lang="en-US" sz="1300" kern="0" spc="-80" dirty="0">
                <a:solidFill>
                  <a:schemeClr val="accent6"/>
                </a:solidFill>
              </a:rPr>
              <a:t>Once a trade is executed, the exchange needs to distribute that information to market participants in real-time.</a:t>
            </a:r>
          </a:p>
          <a:p>
            <a:pPr marL="12700" marR="5080"/>
            <a:r>
              <a:rPr lang="en-US" sz="1300" kern="0" spc="-80" dirty="0">
                <a:solidFill>
                  <a:schemeClr val="accent2"/>
                </a:solidFill>
              </a:rPr>
              <a:t>Primary Data Server (PDC)</a:t>
            </a:r>
            <a:r>
              <a:rPr lang="en-US" sz="1300" kern="0" spc="-80" dirty="0">
                <a:solidFill>
                  <a:schemeClr val="accent6"/>
                </a:solidFill>
              </a:rPr>
              <a:t>: Groups multiple trade information packets into "ticks".</a:t>
            </a:r>
          </a:p>
          <a:p>
            <a:pPr marL="12700" marR="5080"/>
            <a:r>
              <a:rPr lang="en-US" sz="1300" kern="0" spc="-80" dirty="0">
                <a:solidFill>
                  <a:schemeClr val="accent2"/>
                </a:solidFill>
              </a:rPr>
              <a:t>Ticker Plant (or TBT server):</a:t>
            </a:r>
            <a:r>
              <a:rPr lang="en-US" sz="1300" kern="0" spc="-80" dirty="0">
                <a:solidFill>
                  <a:schemeClr val="accent6"/>
                </a:solidFill>
              </a:rPr>
              <a:t> Disseminates the ticks to all subscribed members in a low-latency, real-time data feed (sometimes called a Level 1 or Level 2 feed). </a:t>
            </a:r>
          </a:p>
          <a:p>
            <a:pPr marL="12700" marR="5080"/>
            <a:r>
              <a:rPr lang="en-US" sz="1300" kern="0" spc="-80" dirty="0">
                <a:solidFill>
                  <a:schemeClr val="accent2"/>
                </a:solidFill>
              </a:rPr>
              <a:t>Historical data layer</a:t>
            </a:r>
          </a:p>
          <a:p>
            <a:pPr marL="12700" marR="5080"/>
            <a:r>
              <a:rPr lang="en-US" sz="1300" kern="0" spc="-80" dirty="0">
                <a:solidFill>
                  <a:schemeClr val="accent6"/>
                </a:solidFill>
              </a:rPr>
              <a:t>This is a repository for all historical market data, including past prices, volumes, and trades.</a:t>
            </a:r>
          </a:p>
          <a:p>
            <a:pPr marL="12700" marR="5080"/>
            <a:r>
              <a:rPr lang="en-US" sz="1300" kern="0" spc="-80" dirty="0">
                <a:solidFill>
                  <a:schemeClr val="accent6"/>
                </a:solidFill>
              </a:rPr>
              <a:t>The data is essential for various functions, including regulatory compliance, market analysis, </a:t>
            </a:r>
            <a:r>
              <a:rPr lang="en-US" sz="1300" kern="0" spc="-80" dirty="0" err="1">
                <a:solidFill>
                  <a:schemeClr val="accent6"/>
                </a:solidFill>
              </a:rPr>
              <a:t>backtesting</a:t>
            </a:r>
            <a:r>
              <a:rPr lang="en-US" sz="1300" kern="0" spc="-80" dirty="0">
                <a:solidFill>
                  <a:schemeClr val="accent6"/>
                </a:solidFill>
              </a:rPr>
              <a:t> trading strategies, and managing risk. </a:t>
            </a:r>
          </a:p>
          <a:p>
            <a:pPr marL="12700" marR="5080"/>
            <a:r>
              <a:rPr lang="en-US" sz="1300" kern="0" spc="-80" dirty="0">
                <a:solidFill>
                  <a:schemeClr val="accent2"/>
                </a:solidFill>
              </a:rPr>
              <a:t>Clearing and settlement system</a:t>
            </a:r>
          </a:p>
          <a:p>
            <a:pPr marL="12700" marR="5080"/>
            <a:r>
              <a:rPr lang="en-US" sz="1300" kern="0" spc="-80" dirty="0">
                <a:solidFill>
                  <a:schemeClr val="accent6"/>
                </a:solidFill>
              </a:rPr>
              <a:t>While not always a part of the exchange's core trading system, this component is part of the broader reference architecture.</a:t>
            </a:r>
          </a:p>
          <a:p>
            <a:pPr marL="12700" marR="5080"/>
            <a:r>
              <a:rPr lang="en-US" sz="1300" kern="0" spc="-80" dirty="0">
                <a:solidFill>
                  <a:schemeClr val="accent2"/>
                </a:solidFill>
              </a:rPr>
              <a:t>Clearing: </a:t>
            </a:r>
            <a:r>
              <a:rPr lang="en-US" sz="1300" kern="0" spc="-80" dirty="0">
                <a:solidFill>
                  <a:schemeClr val="accent6"/>
                </a:solidFill>
              </a:rPr>
              <a:t>This process calculates the obligations of buyers and sellers after a trade has been executed.</a:t>
            </a:r>
          </a:p>
          <a:p>
            <a:pPr marL="12700" marR="5080"/>
            <a:r>
              <a:rPr lang="en-US" sz="1300" kern="0" spc="-80" dirty="0">
                <a:solidFill>
                  <a:schemeClr val="accent2"/>
                </a:solidFill>
              </a:rPr>
              <a:t>Settlement:</a:t>
            </a:r>
            <a:r>
              <a:rPr lang="en-US" sz="1300" kern="0" spc="-80" dirty="0">
                <a:solidFill>
                  <a:schemeClr val="accent6"/>
                </a:solidFill>
              </a:rPr>
              <a:t> This is the final step where securities are delivered to the buyer's account and cash is delivered to the seller. </a:t>
            </a:r>
          </a:p>
          <a:p>
            <a:pPr marL="12700" marR="5080"/>
            <a:r>
              <a:rPr lang="en-US" sz="1400" kern="0" spc="-80" dirty="0">
                <a:solidFill>
                  <a:schemeClr val="accent2"/>
                </a:solidFill>
              </a:rPr>
              <a:t>Key architectural considerations</a:t>
            </a:r>
          </a:p>
          <a:p>
            <a:pPr marL="12700" marR="5080"/>
            <a:r>
              <a:rPr lang="en-US" sz="1400" kern="0" spc="-80" dirty="0">
                <a:solidFill>
                  <a:schemeClr val="accent6"/>
                </a:solidFill>
              </a:rPr>
              <a:t>Stock exchange architectures are designed to meet extremely demanding requirements, often prioritizing performance over other factors. </a:t>
            </a:r>
          </a:p>
          <a:p>
            <a:pPr marL="12700" marR="5080"/>
            <a:r>
              <a:rPr lang="en-US" sz="1400" kern="0" spc="-80" dirty="0">
                <a:solidFill>
                  <a:schemeClr val="accent2"/>
                </a:solidFill>
              </a:rPr>
              <a:t>Low latency: </a:t>
            </a:r>
            <a:r>
              <a:rPr lang="en-US" sz="1400" kern="0" spc="-80" dirty="0">
                <a:solidFill>
                  <a:schemeClr val="accent6"/>
                </a:solidFill>
              </a:rPr>
              <a:t>The time it takes to process an order must be as close to zero as possible. This is achieved through techniques like eliminating runtime memory allocation and avoiding locks/mutexes.</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51651996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2E01-C857-3DFA-6AF5-1F2C1A7DE8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DDAAEA-909F-13D3-6403-252A0397D9D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E64897-232C-CE62-70FD-E8085759F99B}"/>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5FBB24-B061-AC4D-5538-B99F080CC0CC}"/>
              </a:ext>
            </a:extLst>
          </p:cNvPr>
          <p:cNvGraphicFramePr/>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FC3BA9E-A30B-53CF-EC4F-2DABD5611CF4}"/>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B2D82F0-DDE0-899F-2776-D105787DEBA0}"/>
              </a:ext>
            </a:extLst>
          </p:cNvPr>
          <p:cNvSpPr txBox="1">
            <a:spLocks/>
          </p:cNvSpPr>
          <p:nvPr/>
        </p:nvSpPr>
        <p:spPr>
          <a:xfrm>
            <a:off x="137369" y="3561086"/>
            <a:ext cx="8624937" cy="15388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2"/>
              </a:solidFill>
            </a:endParaRPr>
          </a:p>
        </p:txBody>
      </p:sp>
      <p:sp>
        <p:nvSpPr>
          <p:cNvPr id="9" name="object 2">
            <a:extLst>
              <a:ext uri="{FF2B5EF4-FFF2-40B4-BE49-F238E27FC236}">
                <a16:creationId xmlns:a16="http://schemas.microsoft.com/office/drawing/2014/main" id="{68842FEC-FC8D-C994-9FCA-8225373C7642}"/>
              </a:ext>
            </a:extLst>
          </p:cNvPr>
          <p:cNvSpPr txBox="1">
            <a:spLocks/>
          </p:cNvSpPr>
          <p:nvPr/>
        </p:nvSpPr>
        <p:spPr>
          <a:xfrm>
            <a:off x="119926" y="1255400"/>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High throughput: </a:t>
            </a:r>
            <a:r>
              <a:rPr lang="en-US" sz="1300" kern="0" spc="-80" dirty="0">
                <a:solidFill>
                  <a:schemeClr val="accent6"/>
                </a:solidFill>
              </a:rPr>
              <a:t>The system must handle millions of orders and executions per second. This is managed using distributed systems and asynchronous processing.</a:t>
            </a:r>
          </a:p>
          <a:p>
            <a:pPr marL="12700" marR="5080"/>
            <a:r>
              <a:rPr lang="en-US" sz="1300" kern="0" spc="-80" dirty="0">
                <a:solidFill>
                  <a:schemeClr val="accent2"/>
                </a:solidFill>
              </a:rPr>
              <a:t>High availability:</a:t>
            </a:r>
            <a:r>
              <a:rPr lang="en-US" sz="1300" kern="0" spc="-80" dirty="0">
                <a:solidFill>
                  <a:schemeClr val="accent6"/>
                </a:solidFill>
              </a:rPr>
              <a:t> Trading systems must operate continuously and reliably during market hours. This requires resilient, redundant hardware and software.</a:t>
            </a:r>
          </a:p>
          <a:p>
            <a:pPr marL="12700" marR="5080"/>
            <a:r>
              <a:rPr lang="en-US" sz="1300" kern="0" spc="-80" dirty="0">
                <a:solidFill>
                  <a:schemeClr val="accent2"/>
                </a:solidFill>
              </a:rPr>
              <a:t>Message brokers: </a:t>
            </a:r>
            <a:r>
              <a:rPr lang="en-US" sz="1300" kern="0" spc="-80" dirty="0">
                <a:solidFill>
                  <a:schemeClr val="accent6"/>
                </a:solidFill>
              </a:rPr>
              <a:t>These are often used for handling high-volume data streams. They provide a scalable, reliable messaging infrastructure to ensure different components of the system can communicate efficiently.</a:t>
            </a:r>
          </a:p>
          <a:p>
            <a:pPr marL="12700" marR="5080"/>
            <a:r>
              <a:rPr lang="en-US" sz="1300" kern="0" spc="-80" dirty="0">
                <a:solidFill>
                  <a:schemeClr val="accent2"/>
                </a:solidFill>
              </a:rPr>
              <a:t>Deterministic processing: </a:t>
            </a:r>
            <a:r>
              <a:rPr lang="en-US" sz="1300" kern="0" spc="-80" dirty="0">
                <a:solidFill>
                  <a:schemeClr val="accent6"/>
                </a:solidFill>
              </a:rPr>
              <a:t>In cases of system failure, it should be possible to replay the sequence of events to ensure accurate recovery. This is achieved by sequencing all orders and executions.</a:t>
            </a:r>
          </a:p>
          <a:p>
            <a:pPr marL="12700" marR="5080"/>
            <a:r>
              <a:rPr lang="en-US" sz="1300" kern="0" spc="-80" dirty="0">
                <a:solidFill>
                  <a:schemeClr val="accent2"/>
                </a:solidFill>
              </a:rPr>
              <a:t>Security: </a:t>
            </a:r>
            <a:r>
              <a:rPr lang="en-US" sz="1300" kern="0" spc="-80" dirty="0">
                <a:solidFill>
                  <a:schemeClr val="accent6"/>
                </a:solidFill>
              </a:rPr>
              <a:t>Given the financial nature of the business, a robust authentication server is necessary to verify the identity and permissions of users, brokers, and other systems. </a:t>
            </a:r>
          </a:p>
          <a:p>
            <a:pPr marL="12700" marR="5080"/>
            <a:endParaRPr lang="en-US" sz="1300" kern="0" spc="-80" dirty="0">
              <a:solidFill>
                <a:schemeClr val="accent6"/>
              </a:solidFill>
            </a:endParaRPr>
          </a:p>
          <a:p>
            <a:pPr marL="12700" marR="5080"/>
            <a:r>
              <a:rPr lang="en-US" sz="1500" kern="0" spc="-80" dirty="0">
                <a:solidFill>
                  <a:schemeClr val="accent2"/>
                </a:solidFill>
              </a:rPr>
              <a:t>For Further Exploration-</a:t>
            </a:r>
            <a:endParaRPr lang="en-US" sz="2400" kern="0" spc="-80" dirty="0">
              <a:solidFill>
                <a:schemeClr val="accent2"/>
              </a:solidFill>
            </a:endParaRPr>
          </a:p>
          <a:p>
            <a:pPr marL="12700" marR="5080"/>
            <a:r>
              <a:rPr lang="en-US" sz="1000" dirty="0">
                <a:hlinkClick r:id="rId7"/>
              </a:rPr>
              <a:t>Exchange Architecture. This article acts as a refresher on the… | by Deepak </a:t>
            </a:r>
            <a:r>
              <a:rPr lang="en-US" sz="1000" dirty="0" err="1">
                <a:hlinkClick r:id="rId7"/>
              </a:rPr>
              <a:t>Sanchety</a:t>
            </a:r>
            <a:r>
              <a:rPr lang="en-US" sz="1000" dirty="0">
                <a:hlinkClick r:id="rId7"/>
              </a:rPr>
              <a:t> | Medium</a:t>
            </a:r>
            <a:endParaRPr lang="en-US" sz="1000" kern="0" spc="-80" dirty="0">
              <a:solidFill>
                <a:schemeClr val="accent2"/>
              </a:solidFill>
            </a:endParaRPr>
          </a:p>
          <a:p>
            <a:pPr marL="12700" marR="5080"/>
            <a:r>
              <a:rPr lang="en-IN" sz="1000" dirty="0">
                <a:hlinkClick r:id="rId8"/>
              </a:rPr>
              <a:t>Trading System - NSE India</a:t>
            </a:r>
            <a:endParaRPr lang="en-IN" sz="1000" dirty="0"/>
          </a:p>
          <a:p>
            <a:pPr marL="12700" marR="5080"/>
            <a:r>
              <a:rPr lang="en-US" sz="1000" dirty="0">
                <a:hlinkClick r:id="rId9"/>
              </a:rPr>
              <a:t>NSE Trading Technology - NSE India </a:t>
            </a:r>
            <a:endParaRPr lang="en-US" sz="1000" dirty="0"/>
          </a:p>
          <a:p>
            <a:pPr marL="12700" marR="5080"/>
            <a:r>
              <a:rPr lang="en-IN" sz="1000" dirty="0">
                <a:hlinkClick r:id="rId10"/>
              </a:rPr>
              <a:t>Co-location Facility</a:t>
            </a:r>
            <a:r>
              <a:rPr lang="en-US" sz="1000" kern="0" spc="-80" dirty="0">
                <a:solidFill>
                  <a:schemeClr val="accent2"/>
                </a:solidFill>
              </a:rPr>
              <a:t> </a:t>
            </a:r>
          </a:p>
          <a:p>
            <a:pPr marL="12700" marR="5080"/>
            <a:r>
              <a:rPr lang="en-US" sz="1000" dirty="0">
                <a:hlinkClick r:id="rId11"/>
              </a:rPr>
              <a:t>Order Matching Algorithms: The Backbone of Crypto Markets</a:t>
            </a:r>
            <a:endParaRPr lang="en-US" sz="1000" dirty="0"/>
          </a:p>
          <a:p>
            <a:pPr marL="12700" marR="5080"/>
            <a:r>
              <a:rPr lang="en-US" sz="1000" dirty="0">
                <a:hlinkClick r:id="rId12"/>
              </a:rPr>
              <a:t>How to Build a Fast Limit Order Book · GitHub</a:t>
            </a:r>
            <a:endParaRPr lang="en-US" sz="1000" dirty="0"/>
          </a:p>
          <a:p>
            <a:pPr marL="12700" marR="5080"/>
            <a:r>
              <a:rPr lang="en-US" sz="1000" dirty="0">
                <a:hlinkClick r:id="rId13"/>
              </a:rPr>
              <a:t>Order-Matching-Engine</a:t>
            </a:r>
            <a:endParaRPr lang="en-US" sz="1000" dirty="0"/>
          </a:p>
          <a:p>
            <a:pPr marL="12700" marR="5080"/>
            <a:r>
              <a:rPr lang="en-US" sz="1000" dirty="0">
                <a:hlinkClick r:id="rId14"/>
              </a:rPr>
              <a:t>How Are Stock Prices Determined? | Stash Learn</a:t>
            </a:r>
            <a:endParaRPr lang="en-US" sz="1000" dirty="0"/>
          </a:p>
          <a:p>
            <a:pPr marL="12700" marR="5080"/>
            <a:r>
              <a:rPr lang="en-US" sz="1000" dirty="0">
                <a:hlinkClick r:id="rId15"/>
              </a:rPr>
              <a:t>How Stock Prices Are Determined in India? | 5paisa</a:t>
            </a:r>
            <a:endParaRPr lang="en-US" sz="1000" dirty="0"/>
          </a:p>
          <a:p>
            <a:pPr marL="12700" marR="5080"/>
            <a:r>
              <a:rPr lang="en-US" sz="1000" dirty="0">
                <a:hlinkClick r:id="rId16"/>
              </a:rPr>
              <a:t>How Share Price is Calculated? Know the Methods | Angel One</a:t>
            </a:r>
            <a:endParaRPr lang="en-US" sz="1000" dirty="0"/>
          </a:p>
          <a:p>
            <a:pPr marL="12700" marR="5080"/>
            <a:r>
              <a:rPr lang="en-US" sz="1000" dirty="0">
                <a:hlinkClick r:id="rId17"/>
              </a:rPr>
              <a:t>How Are Stock Prices Determined? | The Motley Fool</a:t>
            </a:r>
            <a:endParaRPr lang="en-US" sz="1000" dirty="0"/>
          </a:p>
          <a:p>
            <a:pPr marL="12700" marR="5080"/>
            <a:r>
              <a:rPr lang="en-IN" sz="1000" dirty="0" err="1">
                <a:hlinkClick r:id="rId18"/>
              </a:rPr>
              <a:t>SaltwaterTaffy</a:t>
            </a:r>
            <a:r>
              <a:rPr lang="en-IN" sz="1000" dirty="0">
                <a:hlinkClick r:id="rId18"/>
              </a:rPr>
              <a:t>: An </a:t>
            </a:r>
            <a:r>
              <a:rPr lang="en-IN" sz="1000" dirty="0" err="1">
                <a:hlinkClick r:id="rId18"/>
              </a:rPr>
              <a:t>nmap</a:t>
            </a:r>
            <a:r>
              <a:rPr lang="en-IN" sz="1000" dirty="0">
                <a:hlinkClick r:id="rId18"/>
              </a:rPr>
              <a:t> wrapper library for .NET</a:t>
            </a:r>
            <a:endParaRPr lang="en-IN" sz="1000" dirty="0"/>
          </a:p>
          <a:p>
            <a:pPr marL="12700" marR="5080"/>
            <a:r>
              <a:rPr lang="en-US" sz="1000" dirty="0">
                <a:hlinkClick r:id="rId19"/>
              </a:rPr>
              <a:t>Developing with </a:t>
            </a:r>
            <a:r>
              <a:rPr lang="en-US" sz="1000" dirty="0" err="1">
                <a:hlinkClick r:id="rId19"/>
              </a:rPr>
              <a:t>kdb</a:t>
            </a:r>
            <a:r>
              <a:rPr lang="en-US" sz="1000" dirty="0">
                <a:hlinkClick r:id="rId19"/>
              </a:rPr>
              <a:t>+ and the q language - </a:t>
            </a:r>
            <a:r>
              <a:rPr lang="en-US" sz="1000" dirty="0" err="1">
                <a:hlinkClick r:id="rId19"/>
              </a:rPr>
              <a:t>kdb</a:t>
            </a:r>
            <a:r>
              <a:rPr lang="en-US" sz="1000" dirty="0">
                <a:hlinkClick r:id="rId19"/>
              </a:rPr>
              <a:t>+ and q documentation</a:t>
            </a:r>
            <a:r>
              <a:rPr lang="en-US" sz="1000" dirty="0"/>
              <a:t> </a:t>
            </a:r>
          </a:p>
          <a:p>
            <a:pPr marL="12700" marR="5080"/>
            <a:r>
              <a:rPr lang="en-IN" sz="1000" dirty="0">
                <a:hlinkClick r:id="rId20"/>
              </a:rPr>
              <a:t>The LMAX Architecture</a:t>
            </a:r>
            <a:endParaRPr lang="en-US" sz="1000" dirty="0"/>
          </a:p>
          <a:p>
            <a:pPr marL="12700" marR="5080"/>
            <a:r>
              <a:rPr lang="en-IN" sz="1000" dirty="0">
                <a:hlinkClick r:id="rId21"/>
              </a:rPr>
              <a:t>Disruptor-net: Port of LMAX Disruptor to .NET</a:t>
            </a:r>
            <a:endParaRPr lang="en-US" sz="1000" kern="0" spc="-80" dirty="0">
              <a:solidFill>
                <a:schemeClr val="accent2"/>
              </a:solidFill>
            </a:endParaRPr>
          </a:p>
        </p:txBody>
      </p:sp>
    </p:spTree>
    <p:extLst>
      <p:ext uri="{BB962C8B-B14F-4D97-AF65-F5344CB8AC3E}">
        <p14:creationId xmlns:p14="http://schemas.microsoft.com/office/powerpoint/2010/main" val="353479318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3B16-9973-0A3F-A624-FA3E0166DD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70192C-0D9B-4A01-EF8E-94D241331D4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313C9A-6FBE-0CDE-61D9-23E25E9EC20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BA11D4-D860-F170-423D-AC3892D05A21}"/>
              </a:ext>
            </a:extLst>
          </p:cNvPr>
          <p:cNvGraphicFramePr/>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A5166B4-2067-7637-FD7E-96C65B437BEF}"/>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FF584A7-E76E-7AF1-678E-DEE286F9FC42}"/>
              </a:ext>
            </a:extLst>
          </p:cNvPr>
          <p:cNvSpPr txBox="1">
            <a:spLocks/>
          </p:cNvSpPr>
          <p:nvPr/>
        </p:nvSpPr>
        <p:spPr>
          <a:xfrm>
            <a:off x="137369" y="442010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architectural layers and components</a:t>
            </a:r>
          </a:p>
          <a:p>
            <a:pPr marL="12700" marR="5080"/>
            <a:r>
              <a:rPr lang="en-US" sz="1200" kern="0" spc="-80" dirty="0">
                <a:solidFill>
                  <a:schemeClr val="accent6"/>
                </a:solidFill>
              </a:rPr>
              <a:t>A typical trading system architecture is layered to separate concerns and optimize for speed and resilience. </a:t>
            </a:r>
          </a:p>
          <a:p>
            <a:pPr marL="12700" marR="5080"/>
            <a:r>
              <a:rPr lang="en-US" sz="1200" kern="0" spc="-80" dirty="0">
                <a:solidFill>
                  <a:schemeClr val="accent2"/>
                </a:solidFill>
              </a:rPr>
              <a:t>1. Data layer</a:t>
            </a:r>
          </a:p>
          <a:p>
            <a:pPr marL="12700" marR="5080"/>
            <a:r>
              <a:rPr lang="en-US" sz="1200" kern="0" spc="-80" dirty="0">
                <a:solidFill>
                  <a:schemeClr val="accent6"/>
                </a:solidFill>
              </a:rPr>
              <a:t>This layer is responsible for ingesting, processing, and storing all market-related data.</a:t>
            </a:r>
          </a:p>
          <a:p>
            <a:pPr marL="12700" marR="5080"/>
            <a:r>
              <a:rPr lang="en-US" sz="1200" kern="0" spc="-80" dirty="0">
                <a:solidFill>
                  <a:schemeClr val="accent2"/>
                </a:solidFill>
              </a:rPr>
              <a:t>Data Sources:</a:t>
            </a:r>
            <a:r>
              <a:rPr lang="en-US" sz="1200" kern="0" spc="-80" dirty="0">
                <a:solidFill>
                  <a:schemeClr val="accent6"/>
                </a:solidFill>
              </a:rPr>
              <a:t> External exchanges and data vendors that supply real-time market data, including prices, order book information, and trade volumes.</a:t>
            </a:r>
          </a:p>
          <a:p>
            <a:pPr marL="12700" marR="5080"/>
            <a:r>
              <a:rPr lang="en-US" sz="1200" kern="0" spc="-80" dirty="0">
                <a:solidFill>
                  <a:schemeClr val="accent2"/>
                </a:solidFill>
              </a:rPr>
              <a:t>Feed Handlers: </a:t>
            </a:r>
            <a:r>
              <a:rPr lang="en-US" sz="1200" kern="0" spc="-80" dirty="0">
                <a:solidFill>
                  <a:schemeClr val="accent6"/>
                </a:solidFill>
              </a:rPr>
              <a:t>These components collect raw data packets from exchanges and other sources. They are designed for low-latency and high-throughput ingestion.</a:t>
            </a:r>
          </a:p>
        </p:txBody>
      </p:sp>
      <p:pic>
        <p:nvPicPr>
          <p:cNvPr id="9" name="Picture 8">
            <a:extLst>
              <a:ext uri="{FF2B5EF4-FFF2-40B4-BE49-F238E27FC236}">
                <a16:creationId xmlns:a16="http://schemas.microsoft.com/office/drawing/2014/main" id="{67861387-3CCD-1256-E8BE-83C3427B819B}"/>
              </a:ext>
            </a:extLst>
          </p:cNvPr>
          <p:cNvPicPr>
            <a:picLocks noChangeAspect="1"/>
          </p:cNvPicPr>
          <p:nvPr/>
        </p:nvPicPr>
        <p:blipFill>
          <a:blip r:embed="rId7"/>
          <a:stretch>
            <a:fillRect/>
          </a:stretch>
        </p:blipFill>
        <p:spPr>
          <a:xfrm>
            <a:off x="0" y="1242536"/>
            <a:ext cx="8566590" cy="3177570"/>
          </a:xfrm>
          <a:prstGeom prst="rect">
            <a:avLst/>
          </a:prstGeom>
        </p:spPr>
      </p:pic>
    </p:spTree>
    <p:extLst>
      <p:ext uri="{BB962C8B-B14F-4D97-AF65-F5344CB8AC3E}">
        <p14:creationId xmlns:p14="http://schemas.microsoft.com/office/powerpoint/2010/main" val="260659672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0046-6511-9C66-B929-E5C8D9B27B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5CD6B8-1501-2EAF-0B89-43CE2ECE4A5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BA6CB80-847A-109A-0B8A-FA47C88AFA1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D3AFF1-C888-F644-2C06-5ADC4BCC6152}"/>
              </a:ext>
            </a:extLst>
          </p:cNvPr>
          <p:cNvGraphicFramePr/>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34B94A0-3F59-2A08-DD44-F731377D2F9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CE93C84-338B-08D5-1CF6-8B0A443E90A8}"/>
              </a:ext>
            </a:extLst>
          </p:cNvPr>
          <p:cNvSpPr txBox="1">
            <a:spLocks/>
          </p:cNvSpPr>
          <p:nvPr/>
        </p:nvSpPr>
        <p:spPr>
          <a:xfrm>
            <a:off x="228600" y="127650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Data Stager:</a:t>
            </a:r>
            <a:r>
              <a:rPr lang="en-US" sz="1200" kern="0" spc="-80" dirty="0">
                <a:solidFill>
                  <a:schemeClr val="accent6"/>
                </a:solidFill>
              </a:rPr>
              <a:t> A temporary storage area where raw data is held before filtering and normalization.</a:t>
            </a:r>
          </a:p>
          <a:p>
            <a:pPr marL="12700" marR="5080"/>
            <a:r>
              <a:rPr lang="en-US" sz="1200" kern="0" spc="-80" dirty="0">
                <a:solidFill>
                  <a:schemeClr val="accent2"/>
                </a:solidFill>
              </a:rPr>
              <a:t>Operational Data Store (ODS): </a:t>
            </a:r>
            <a:r>
              <a:rPr lang="en-US" sz="1200" kern="0" spc="-80" dirty="0">
                <a:solidFill>
                  <a:schemeClr val="accent6"/>
                </a:solidFill>
              </a:rPr>
              <a:t>A repository for real-time and near-real-time data that the system uses for immediate decision-making.</a:t>
            </a:r>
          </a:p>
          <a:p>
            <a:pPr marL="12700" marR="5080"/>
            <a:r>
              <a:rPr lang="en-US" sz="1200" kern="0" spc="-80" dirty="0">
                <a:solidFill>
                  <a:schemeClr val="accent2"/>
                </a:solidFill>
              </a:rPr>
              <a:t>Data Warehouse: </a:t>
            </a:r>
            <a:r>
              <a:rPr lang="en-US" sz="1200" kern="0" spc="-80" dirty="0">
                <a:solidFill>
                  <a:schemeClr val="accent6"/>
                </a:solidFill>
              </a:rPr>
              <a:t>A long-term storage solution for historical market data, used for analysis, </a:t>
            </a:r>
            <a:r>
              <a:rPr lang="en-US" sz="1200" kern="0" spc="-80" dirty="0" err="1">
                <a:solidFill>
                  <a:schemeClr val="accent6"/>
                </a:solidFill>
              </a:rPr>
              <a:t>backtesting</a:t>
            </a:r>
            <a:r>
              <a:rPr lang="en-US" sz="1200" kern="0" spc="-80" dirty="0">
                <a:solidFill>
                  <a:schemeClr val="accent6"/>
                </a:solidFill>
              </a:rPr>
              <a:t>, and compliance reporting. </a:t>
            </a:r>
          </a:p>
          <a:p>
            <a:pPr marL="12700" marR="5080"/>
            <a:r>
              <a:rPr lang="en-US" sz="1200" kern="0" spc="-80" dirty="0">
                <a:solidFill>
                  <a:schemeClr val="accent2"/>
                </a:solidFill>
              </a:rPr>
              <a:t>2. Strategy and processing layer</a:t>
            </a:r>
          </a:p>
          <a:p>
            <a:pPr marL="12700" marR="5080"/>
            <a:r>
              <a:rPr lang="en-US" sz="1200" kern="0" spc="-80" dirty="0">
                <a:solidFill>
                  <a:schemeClr val="accent6"/>
                </a:solidFill>
              </a:rPr>
              <a:t>This is the "brain" of the system, where algorithms analyze data and generate trading signals.</a:t>
            </a:r>
          </a:p>
          <a:p>
            <a:pPr marL="12700" marR="5080"/>
            <a:r>
              <a:rPr lang="en-US" sz="1200" kern="0" spc="-80" dirty="0">
                <a:solidFill>
                  <a:schemeClr val="accent2"/>
                </a:solidFill>
              </a:rPr>
              <a:t>Complex Event Processing (CEP) Engine:</a:t>
            </a:r>
            <a:r>
              <a:rPr lang="en-US" sz="1200" kern="0" spc="-80" dirty="0">
                <a:solidFill>
                  <a:schemeClr val="accent6"/>
                </a:solidFill>
              </a:rPr>
              <a:t> Analyzes incoming market data to detect patterns, trends, and anomalies that indicate trading opportunities. This component is central to an algorithmic trading strategy.</a:t>
            </a:r>
          </a:p>
          <a:p>
            <a:pPr marL="12700" marR="5080"/>
            <a:r>
              <a:rPr lang="en-US" sz="1200" kern="0" spc="-80" dirty="0">
                <a:solidFill>
                  <a:schemeClr val="accent2"/>
                </a:solidFill>
              </a:rPr>
              <a:t>Strategy Engine:</a:t>
            </a:r>
            <a:r>
              <a:rPr lang="en-US" sz="1200" kern="0" spc="-80" dirty="0">
                <a:solidFill>
                  <a:schemeClr val="accent6"/>
                </a:solidFill>
              </a:rPr>
              <a:t> Runs trading algorithms based on the output of the CEP engine. These algorithms implement the core trading logic and determine buy, sell, or hold decisions.</a:t>
            </a:r>
          </a:p>
          <a:p>
            <a:pPr marL="12700" marR="5080"/>
            <a:r>
              <a:rPr lang="en-US" sz="1200" kern="0" spc="-80" dirty="0" err="1">
                <a:solidFill>
                  <a:schemeClr val="accent2"/>
                </a:solidFill>
              </a:rPr>
              <a:t>Backtesting</a:t>
            </a:r>
            <a:r>
              <a:rPr lang="en-US" sz="1200" kern="0" spc="-80" dirty="0">
                <a:solidFill>
                  <a:schemeClr val="accent2"/>
                </a:solidFill>
              </a:rPr>
              <a:t> and Simulation:</a:t>
            </a:r>
            <a:r>
              <a:rPr lang="en-US" sz="1200" kern="0" spc="-80" dirty="0">
                <a:solidFill>
                  <a:schemeClr val="accent6"/>
                </a:solidFill>
              </a:rPr>
              <a:t> A module that uses historical data from the data warehouse to test and validate trading strategies before they are deployed live. </a:t>
            </a:r>
          </a:p>
          <a:p>
            <a:pPr marL="12700" marR="5080"/>
            <a:r>
              <a:rPr lang="en-US" sz="1200" kern="0" spc="-80" dirty="0">
                <a:solidFill>
                  <a:schemeClr val="accent2"/>
                </a:solidFill>
              </a:rPr>
              <a:t>3. Execution layer</a:t>
            </a:r>
          </a:p>
          <a:p>
            <a:pPr marL="12700" marR="5080"/>
            <a:r>
              <a:rPr lang="en-US" sz="1200" kern="0" spc="-80" dirty="0">
                <a:solidFill>
                  <a:schemeClr val="accent6"/>
                </a:solidFill>
              </a:rPr>
              <a:t>This layer handles the lifecycle of an order, from its creation to its execution on an exchange.</a:t>
            </a:r>
          </a:p>
          <a:p>
            <a:pPr marL="12700" marR="5080"/>
            <a:r>
              <a:rPr lang="en-US" sz="1200" kern="0" spc="-80" dirty="0">
                <a:solidFill>
                  <a:schemeClr val="accent2"/>
                </a:solidFill>
              </a:rPr>
              <a:t>Order Management System (OMS):</a:t>
            </a:r>
            <a:r>
              <a:rPr lang="en-US" sz="1200" kern="0" spc="-80" dirty="0">
                <a:solidFill>
                  <a:schemeClr val="accent6"/>
                </a:solidFill>
              </a:rPr>
              <a:t> Manages the complete lifecycle of a trade order, including its creation, validation, status tracking, modification, and cancellation.</a:t>
            </a:r>
          </a:p>
          <a:p>
            <a:pPr marL="12700" marR="5080"/>
            <a:r>
              <a:rPr lang="en-US" sz="1200" kern="0" spc="-80" dirty="0">
                <a:solidFill>
                  <a:schemeClr val="accent2"/>
                </a:solidFill>
              </a:rPr>
              <a:t>Execution Management System (EMS):</a:t>
            </a:r>
            <a:r>
              <a:rPr lang="en-US" sz="1200" kern="0" spc="-80" dirty="0">
                <a:solidFill>
                  <a:schemeClr val="accent6"/>
                </a:solidFill>
              </a:rPr>
              <a:t> Optimizes the execution of orders by selecting the best venue (exchange or dark pool) based on factors like speed, cost, and liquidity.</a:t>
            </a:r>
          </a:p>
          <a:p>
            <a:pPr marL="12700" marR="5080"/>
            <a:r>
              <a:rPr lang="en-US" sz="1200" kern="0" spc="-80" dirty="0">
                <a:solidFill>
                  <a:schemeClr val="accent2"/>
                </a:solidFill>
              </a:rPr>
              <a:t>Smart Order Router (SOR): </a:t>
            </a:r>
            <a:r>
              <a:rPr lang="en-US" sz="1200" kern="0" spc="-80" dirty="0">
                <a:solidFill>
                  <a:schemeClr val="accent6"/>
                </a:solidFill>
              </a:rPr>
              <a:t>An advanced component of the EMS that automatically routes orders to the most suitable venue in real-time. It can split large orders to minimize market impact.</a:t>
            </a:r>
          </a:p>
          <a:p>
            <a:pPr marL="12700" marR="5080"/>
            <a:r>
              <a:rPr lang="en-US" sz="1200" kern="0" spc="-80" dirty="0">
                <a:solidFill>
                  <a:schemeClr val="accent2"/>
                </a:solidFill>
              </a:rPr>
              <a:t>Exchange Gateways: </a:t>
            </a:r>
            <a:r>
              <a:rPr lang="en-US" sz="1200" kern="0" spc="-80" dirty="0">
                <a:solidFill>
                  <a:schemeClr val="accent6"/>
                </a:solidFill>
              </a:rPr>
              <a:t>Facilitate communication with external exchanges and trading venues, often using standard protocols like the Financial Information </a:t>
            </a:r>
            <a:r>
              <a:rPr lang="en-US" sz="1200" kern="0" spc="-80" dirty="0" err="1">
                <a:solidFill>
                  <a:schemeClr val="accent6"/>
                </a:solidFill>
              </a:rPr>
              <a:t>eXchange</a:t>
            </a:r>
            <a:r>
              <a:rPr lang="en-US" sz="1200" kern="0" spc="-80" dirty="0">
                <a:solidFill>
                  <a:schemeClr val="accent6"/>
                </a:solidFill>
              </a:rPr>
              <a:t> (FIX). </a:t>
            </a:r>
          </a:p>
          <a:p>
            <a:pPr marL="12700" marR="5080"/>
            <a:r>
              <a:rPr lang="en-US" sz="1200" kern="0" spc="-80" dirty="0">
                <a:solidFill>
                  <a:schemeClr val="accent2"/>
                </a:solidFill>
              </a:rPr>
              <a:t>4. Risk management and compliance layer</a:t>
            </a:r>
          </a:p>
          <a:p>
            <a:pPr marL="12700" marR="5080"/>
            <a:r>
              <a:rPr lang="en-US" sz="1200" kern="0" spc="-80" dirty="0">
                <a:solidFill>
                  <a:schemeClr val="accent6"/>
                </a:solidFill>
              </a:rPr>
              <a:t>This layer monitors trading activity to protect against excessive losses and ensure regulatory adherence.</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00512086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DA70-10A1-8FFA-EF33-615D98943E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9932C3-7E8E-80DB-457E-7C609683719F}"/>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8B70DF-CDC1-4A51-E858-6FE51E086D2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2F3F9C3-FBBC-3B36-5247-9B3F4229D53C}"/>
              </a:ext>
            </a:extLst>
          </p:cNvPr>
          <p:cNvGraphicFramePr/>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BF63CFC-1BF4-9327-3DAA-6F5848DA990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FA204EB-9834-8A4B-F019-2CD5B7C9F7E4}"/>
              </a:ext>
            </a:extLst>
          </p:cNvPr>
          <p:cNvSpPr txBox="1">
            <a:spLocks/>
          </p:cNvSpPr>
          <p:nvPr/>
        </p:nvSpPr>
        <p:spPr>
          <a:xfrm>
            <a:off x="137369" y="1242536"/>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Pre-Trade Risk Checks:</a:t>
            </a:r>
            <a:r>
              <a:rPr lang="en-US" sz="1200" kern="0" spc="-80" dirty="0">
                <a:solidFill>
                  <a:schemeClr val="accent6"/>
                </a:solidFill>
              </a:rPr>
              <a:t> Performs automated checks before an order is sent to an exchange. This can include enforcing limits on trading quantity or notional value to prevent "fat finger" errors.</a:t>
            </a:r>
          </a:p>
          <a:p>
            <a:pPr marL="12700" marR="5080"/>
            <a:r>
              <a:rPr lang="en-US" sz="1200" kern="0" spc="-80" dirty="0">
                <a:solidFill>
                  <a:schemeClr val="accent2"/>
                </a:solidFill>
              </a:rPr>
              <a:t>Post-Trade Monitoring:</a:t>
            </a:r>
            <a:r>
              <a:rPr lang="en-US" sz="1200" kern="0" spc="-80" dirty="0">
                <a:solidFill>
                  <a:schemeClr val="accent6"/>
                </a:solidFill>
              </a:rPr>
              <a:t> Continuously monitors trades in real-time, providing visibility into risk exposure and detecting potential compliance breaches.</a:t>
            </a:r>
            <a:endParaRPr lang="en-US" sz="1200" kern="0" spc="-80" dirty="0">
              <a:solidFill>
                <a:schemeClr val="accent2"/>
              </a:solidFill>
            </a:endParaRPr>
          </a:p>
          <a:p>
            <a:pPr marL="12700" marR="5080"/>
            <a:r>
              <a:rPr lang="en-US" sz="1200" kern="0" spc="-80" dirty="0">
                <a:solidFill>
                  <a:schemeClr val="accent2"/>
                </a:solidFill>
              </a:rPr>
              <a:t>Fail-safes and Circuit Breakers:</a:t>
            </a:r>
            <a:r>
              <a:rPr lang="en-US" sz="1200" kern="0" spc="-80" dirty="0">
                <a:solidFill>
                  <a:schemeClr val="accent6"/>
                </a:solidFill>
              </a:rPr>
              <a:t> Automated systems that can halt trading or isolate components if abnormal behavior or losses exceed predefined thresholds.</a:t>
            </a:r>
          </a:p>
          <a:p>
            <a:pPr marL="12700" marR="5080"/>
            <a:r>
              <a:rPr lang="en-US" sz="1200" kern="0" spc="-80" dirty="0">
                <a:solidFill>
                  <a:schemeClr val="accent2"/>
                </a:solidFill>
              </a:rPr>
              <a:t>Compliance and Reporting: </a:t>
            </a:r>
            <a:r>
              <a:rPr lang="en-US" sz="1200" kern="0" spc="-80" dirty="0">
                <a:solidFill>
                  <a:schemeClr val="accent6"/>
                </a:solidFill>
              </a:rPr>
              <a:t>Ensures all trading activities meet legal and regulatory requirements and provides transparency to regulators. </a:t>
            </a:r>
          </a:p>
          <a:p>
            <a:pPr marL="12700" marR="5080"/>
            <a:r>
              <a:rPr lang="en-US" sz="1200" kern="0" spc="-80" dirty="0">
                <a:solidFill>
                  <a:schemeClr val="accent2"/>
                </a:solidFill>
              </a:rPr>
              <a:t>Key architectural considerations for high-performance systems</a:t>
            </a:r>
          </a:p>
          <a:p>
            <a:pPr marL="12700" marR="5080"/>
            <a:r>
              <a:rPr lang="en-US" sz="1200" kern="0" spc="-80" dirty="0">
                <a:solidFill>
                  <a:schemeClr val="accent6"/>
                </a:solidFill>
              </a:rPr>
              <a:t>For systems like high-frequency trading (HFT), latency is a critical factor, leading to specific architectural optimizations. </a:t>
            </a:r>
          </a:p>
          <a:p>
            <a:pPr marL="12700" marR="5080"/>
            <a:r>
              <a:rPr lang="en-US" sz="1200" kern="0" spc="-80" dirty="0">
                <a:solidFill>
                  <a:schemeClr val="accent2"/>
                </a:solidFill>
              </a:rPr>
              <a:t>Low-Latency Infrastructure: </a:t>
            </a:r>
            <a:r>
              <a:rPr lang="en-US" sz="1200" kern="0" spc="-80" dirty="0">
                <a:solidFill>
                  <a:schemeClr val="accent6"/>
                </a:solidFill>
              </a:rPr>
              <a:t>This involves investing in high-performance servers, fast processors, and low-latency network interface cards (NICs).</a:t>
            </a:r>
          </a:p>
          <a:p>
            <a:pPr marL="12700" marR="5080"/>
            <a:r>
              <a:rPr lang="en-US" sz="1200" kern="0" spc="-80" dirty="0">
                <a:solidFill>
                  <a:schemeClr val="accent2"/>
                </a:solidFill>
              </a:rPr>
              <a:t>Co-location:</a:t>
            </a:r>
            <a:r>
              <a:rPr lang="en-US" sz="1200" kern="0" spc="-80" dirty="0">
                <a:solidFill>
                  <a:schemeClr val="accent6"/>
                </a:solidFill>
              </a:rPr>
              <a:t> Placing trading servers directly inside the exchange's data center to minimize network latency by reducing the physical distance between the trading engine and the matching engine.</a:t>
            </a:r>
          </a:p>
          <a:p>
            <a:pPr marL="12700" marR="5080"/>
            <a:r>
              <a:rPr lang="en-US" sz="1200" kern="0" spc="-80" dirty="0">
                <a:solidFill>
                  <a:schemeClr val="accent2"/>
                </a:solidFill>
              </a:rPr>
              <a:t>Kernel Bypass and Custom Network Stacks: </a:t>
            </a:r>
            <a:r>
              <a:rPr lang="en-US" sz="1200" kern="0" spc="-80" dirty="0">
                <a:solidFill>
                  <a:schemeClr val="accent6"/>
                </a:solidFill>
              </a:rPr>
              <a:t>Using technologies like </a:t>
            </a:r>
            <a:r>
              <a:rPr lang="en-US" sz="1200" kern="0" spc="-80" dirty="0" err="1">
                <a:solidFill>
                  <a:schemeClr val="accent6"/>
                </a:solidFill>
              </a:rPr>
              <a:t>OpenOnload</a:t>
            </a:r>
            <a:r>
              <a:rPr lang="en-US" sz="1200" kern="0" spc="-80" dirty="0">
                <a:solidFill>
                  <a:schemeClr val="accent6"/>
                </a:solidFill>
              </a:rPr>
              <a:t> or DPDK to bypass the operating system's kernel and deliver market data packets directly to the application, reducing processing latency.</a:t>
            </a:r>
          </a:p>
          <a:p>
            <a:pPr marL="12700" marR="5080"/>
            <a:r>
              <a:rPr lang="en-US" sz="1200" kern="0" spc="-80" dirty="0">
                <a:solidFill>
                  <a:schemeClr val="accent2"/>
                </a:solidFill>
              </a:rPr>
              <a:t>Hardware Acceleration: </a:t>
            </a:r>
            <a:r>
              <a:rPr lang="en-US" sz="1200" kern="0" spc="-80" dirty="0">
                <a:solidFill>
                  <a:schemeClr val="accent6"/>
                </a:solidFill>
              </a:rPr>
              <a:t>Implementing critical parts of the trading and processing logic directly onto specialized hardware like Field-Programmable Gate Arrays (FPGAs) to achieve nanosecond-level execution speeds. </a:t>
            </a:r>
          </a:p>
          <a:p>
            <a:pPr marL="12700" marR="5080"/>
            <a:r>
              <a:rPr lang="en-US" sz="1050" kern="0" spc="-80" dirty="0">
                <a:solidFill>
                  <a:schemeClr val="accent2"/>
                </a:solidFill>
              </a:rPr>
              <a:t>For Further Exploration </a:t>
            </a:r>
          </a:p>
          <a:p>
            <a:pPr marL="12700" marR="5080"/>
            <a:r>
              <a:rPr lang="en-US" sz="1050" dirty="0">
                <a:hlinkClick r:id="rId7"/>
              </a:rPr>
              <a:t>Automated Trading Systems: Architecture, Protocols, Types of Latency</a:t>
            </a:r>
            <a:endParaRPr lang="en-IN" sz="1050" dirty="0"/>
          </a:p>
          <a:p>
            <a:pPr marL="12700" marR="5080"/>
            <a:r>
              <a:rPr lang="en-US" sz="1050" dirty="0">
                <a:hlinkClick r:id="rId8"/>
              </a:rPr>
              <a:t>Algorithmic Trading System Architecture - Stuart Gordon Reid</a:t>
            </a:r>
            <a:endParaRPr lang="en-IN" sz="1050" kern="0" spc="-80" dirty="0">
              <a:solidFill>
                <a:schemeClr val="accent2"/>
              </a:solidFill>
            </a:endParaRPr>
          </a:p>
          <a:p>
            <a:pPr marL="12700" marR="5080"/>
            <a:r>
              <a:rPr lang="en-US" sz="1050" dirty="0">
                <a:hlinkClick r:id="rId9"/>
              </a:rPr>
              <a:t>Design and Architecture of a Real World Trading Platform.. (2/3) - Vamsi Talks Tech</a:t>
            </a:r>
            <a:endParaRPr lang="en-US" sz="1050" dirty="0"/>
          </a:p>
          <a:p>
            <a:pPr marL="12700" marR="5080"/>
            <a:r>
              <a:rPr lang="en-IN" sz="1050" dirty="0">
                <a:hlinkClick r:id="rId10"/>
              </a:rPr>
              <a:t>The Algorithmic Trading Platform | by Prerak Sanghvi | Proof Reading | Medium</a:t>
            </a:r>
            <a:endParaRPr lang="en-IN" sz="1050" dirty="0"/>
          </a:p>
          <a:p>
            <a:pPr marL="12700" marR="5080"/>
            <a:r>
              <a:rPr lang="en-IN" sz="1050" dirty="0">
                <a:hlinkClick r:id="rId11"/>
              </a:rPr>
              <a:t>Algorithmic-Trading</a:t>
            </a:r>
            <a:endParaRPr lang="en-IN" sz="1050" dirty="0"/>
          </a:p>
          <a:p>
            <a:pPr marL="12700" marR="5080"/>
            <a:r>
              <a:rPr lang="en-IN" sz="1050" dirty="0" err="1">
                <a:hlinkClick r:id="rId12"/>
              </a:rPr>
              <a:t>StockSharp</a:t>
            </a:r>
            <a:endParaRPr lang="en-IN" sz="1050" dirty="0"/>
          </a:p>
          <a:p>
            <a:pPr marL="12700" marR="5080"/>
            <a:r>
              <a:rPr lang="en-IN" sz="1050" dirty="0" err="1">
                <a:hlinkClick r:id="rId13"/>
              </a:rPr>
              <a:t>Marketcetera</a:t>
            </a:r>
            <a:endParaRPr lang="en-IN" sz="1050" dirty="0"/>
          </a:p>
          <a:p>
            <a:pPr marL="12700" marR="5080"/>
            <a:r>
              <a:rPr lang="en-IN" sz="1050" dirty="0">
                <a:hlinkClick r:id="rId14"/>
              </a:rPr>
              <a:t>Modulus</a:t>
            </a:r>
            <a:endParaRPr lang="en-IN" sz="1050" dirty="0"/>
          </a:p>
          <a:p>
            <a:pPr marL="12700" marR="5080"/>
            <a:endParaRPr lang="en-US" sz="1100" kern="0" spc="-80" dirty="0">
              <a:solidFill>
                <a:schemeClr val="accent2"/>
              </a:solidFill>
            </a:endParaRPr>
          </a:p>
        </p:txBody>
      </p:sp>
    </p:spTree>
    <p:extLst>
      <p:ext uri="{BB962C8B-B14F-4D97-AF65-F5344CB8AC3E}">
        <p14:creationId xmlns:p14="http://schemas.microsoft.com/office/powerpoint/2010/main" val="89642958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1745E-9B84-4703-3CB7-C2067F0CEC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555738-4006-8F0D-B0E4-288345FC9C2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890BFD0-8D70-9482-3355-6CBE1922017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5B9ED5-025F-46D5-8BA1-6FA7F211431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29885D1-40A7-5C16-F8EA-B7F8F2B39A83}"/>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Gaming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EE40688-1762-1728-5ECF-AD55A20FBA48}"/>
              </a:ext>
            </a:extLst>
          </p:cNvPr>
          <p:cNvSpPr txBox="1">
            <a:spLocks/>
          </p:cNvSpPr>
          <p:nvPr/>
        </p:nvSpPr>
        <p:spPr>
          <a:xfrm>
            <a:off x="76200" y="5018782"/>
            <a:ext cx="8624937" cy="12618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Core Game Systems:</a:t>
            </a:r>
            <a:endParaRPr lang="en-US" sz="1200" b="0" kern="0" spc="-80" dirty="0">
              <a:solidFill>
                <a:schemeClr val="accent2"/>
              </a:solidFill>
              <a:latin typeface="+mn-lt"/>
              <a:ea typeface="+mn-ea"/>
            </a:endParaRPr>
          </a:p>
          <a:p>
            <a:r>
              <a:rPr lang="en-US" sz="1200" b="1" kern="0" spc="-80" dirty="0">
                <a:solidFill>
                  <a:schemeClr val="accent2"/>
                </a:solidFill>
                <a:latin typeface="Lucida Sans"/>
                <a:ea typeface="+mj-ea"/>
                <a:hlinkClick r:id="rId7">
                  <a:extLst>
                    <a:ext uri="{A12FA001-AC4F-418D-AE19-62706E023703}">
                      <ahyp:hlinkClr xmlns:ahyp="http://schemas.microsoft.com/office/drawing/2018/hyperlinkcolor" val="tx"/>
                    </a:ext>
                  </a:extLst>
                </a:hlinkClick>
              </a:rPr>
              <a:t>Networking</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communication between game clients and servers.</a:t>
            </a:r>
          </a:p>
          <a:p>
            <a:r>
              <a:rPr lang="en-US" sz="1200" b="1" kern="0" spc="-80" dirty="0">
                <a:solidFill>
                  <a:schemeClr val="accent2"/>
                </a:solidFill>
                <a:latin typeface="Lucida Sans"/>
                <a:ea typeface="+mj-ea"/>
                <a:hlinkClick r:id="rId8">
                  <a:extLst>
                    <a:ext uri="{A12FA001-AC4F-418D-AE19-62706E023703}">
                      <ahyp:hlinkClr xmlns:ahyp="http://schemas.microsoft.com/office/drawing/2018/hyperlinkcolor" val="tx"/>
                    </a:ext>
                  </a:extLst>
                </a:hlinkClick>
              </a:rPr>
              <a:t>Graphics/GUI</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Handling the visual elements and user interface of the game.</a:t>
            </a:r>
          </a:p>
          <a:p>
            <a:r>
              <a:rPr lang="en-US" sz="1200" b="1" kern="0" spc="-80" dirty="0">
                <a:solidFill>
                  <a:schemeClr val="accent2"/>
                </a:solidFill>
                <a:latin typeface="Lucida Sans"/>
                <a:ea typeface="+mj-ea"/>
                <a:hlinkClick r:id="rId9">
                  <a:extLst>
                    <a:ext uri="{A12FA001-AC4F-418D-AE19-62706E023703}">
                      <ahyp:hlinkClr xmlns:ahyp="http://schemas.microsoft.com/office/drawing/2018/hyperlinkcolor" val="tx"/>
                    </a:ext>
                  </a:extLst>
                </a:hlinkClick>
              </a:rPr>
              <a:t>Physics</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Simulating real-world physics within the game world.</a:t>
            </a:r>
          </a:p>
          <a:p>
            <a:r>
              <a:rPr lang="en-US" sz="1200" kern="0" spc="-80" dirty="0">
                <a:solidFill>
                  <a:schemeClr val="accent2"/>
                </a:solidFill>
                <a:hlinkClick r:id="rId10">
                  <a:extLst>
                    <a:ext uri="{A12FA001-AC4F-418D-AE19-62706E023703}">
                      <ahyp:hlinkClr xmlns:ahyp="http://schemas.microsoft.com/office/drawing/2018/hyperlinkcolor" val="tx"/>
                    </a:ext>
                  </a:extLst>
                </a:hlinkClick>
              </a:rPr>
              <a:t>Artificial Intelligence</a:t>
            </a:r>
            <a:r>
              <a:rPr lang="en-US" sz="1200" kern="0" spc="-80" dirty="0">
                <a:solidFill>
                  <a:schemeClr val="accent2"/>
                </a:solidFill>
              </a:rPr>
              <a:t> (AI):</a:t>
            </a:r>
            <a:r>
              <a:rPr lang="en-US" sz="1200" kern="0" spc="-80" dirty="0">
                <a:solidFill>
                  <a:schemeClr val="accent6"/>
                </a:solidFill>
              </a:rPr>
              <a:t> For non-player characters, game balance, and personalized experiences.</a:t>
            </a:r>
          </a:p>
          <a:p>
            <a:endParaRPr lang="en-US" sz="1200" b="1" kern="0" spc="-80" dirty="0">
              <a:solidFill>
                <a:schemeClr val="accent6"/>
              </a:solidFill>
              <a:latin typeface="Lucida Sans"/>
              <a:ea typeface="+mj-ea"/>
            </a:endParaRPr>
          </a:p>
          <a:p>
            <a:pPr marL="12700" marR="5080"/>
            <a:endParaRPr lang="en-US" sz="1000" kern="0" spc="-80" dirty="0">
              <a:solidFill>
                <a:schemeClr val="accent2"/>
              </a:solidFill>
            </a:endParaRPr>
          </a:p>
        </p:txBody>
      </p:sp>
      <p:pic>
        <p:nvPicPr>
          <p:cNvPr id="1026" name="Picture 2" descr="2">
            <a:extLst>
              <a:ext uri="{FF2B5EF4-FFF2-40B4-BE49-F238E27FC236}">
                <a16:creationId xmlns:a16="http://schemas.microsoft.com/office/drawing/2014/main" id="{27FB6316-9FEB-CCC5-09D1-6A686A5522C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1295400"/>
            <a:ext cx="9144000" cy="3723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80108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937C-1D4C-8041-570B-A7FFB401FB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B7D366-D32B-A18C-066E-64DDAED0B48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9AAABC-AE18-061B-B73B-6CF28FA2A8A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0A4679-B53D-7FFE-EE6B-414DC5C931D6}"/>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01A75E0-E61A-EEE4-215F-F5497A7A483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Gaming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E2C2E7E-1EFA-5702-C9C7-596C6A32403F}"/>
              </a:ext>
            </a:extLst>
          </p:cNvPr>
          <p:cNvSpPr txBox="1">
            <a:spLocks/>
          </p:cNvSpPr>
          <p:nvPr/>
        </p:nvSpPr>
        <p:spPr>
          <a:xfrm>
            <a:off x="137369" y="1242536"/>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Backend &amp; Cloud Services:</a:t>
            </a:r>
            <a:endParaRPr lang="en-US" sz="1200" b="0" kern="0" spc="-80" dirty="0">
              <a:solidFill>
                <a:schemeClr val="accent2"/>
              </a:solidFill>
              <a:latin typeface="+mn-lt"/>
              <a:ea typeface="+mn-ea"/>
            </a:endParaRPr>
          </a:p>
          <a:p>
            <a:r>
              <a:rPr lang="en-US" sz="1200" kern="0" spc="-80" dirty="0">
                <a:solidFill>
                  <a:schemeClr val="accent2"/>
                </a:solidFill>
              </a:rPr>
              <a:t>(Serverless) APIs</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game logic and backend operations, offering dynamic scaling and cost-efficiency </a:t>
            </a:r>
          </a:p>
          <a:p>
            <a:r>
              <a:rPr lang="en-US" sz="1200" b="1" kern="0" spc="-80" dirty="0">
                <a:solidFill>
                  <a:schemeClr val="accent2"/>
                </a:solidFill>
                <a:latin typeface="Lucida Sans"/>
                <a:ea typeface="+mj-ea"/>
              </a:rPr>
              <a:t>Data Storage &amp; Analytics: </a:t>
            </a:r>
            <a:r>
              <a:rPr lang="en-US" sz="1200" b="1" kern="0" spc="-80" dirty="0">
                <a:solidFill>
                  <a:schemeClr val="accent6"/>
                </a:solidFill>
                <a:latin typeface="Lucida Sans"/>
                <a:ea typeface="+mj-ea"/>
              </a:rPr>
              <a:t>Services for collecting, storing, and analyzing player and game metrics to improve performance and engagement (e.g., Amazon Redshift).</a:t>
            </a:r>
          </a:p>
          <a:p>
            <a:r>
              <a:rPr lang="en-US" sz="1200" b="1" kern="0" spc="-80" dirty="0">
                <a:solidFill>
                  <a:schemeClr val="accent2"/>
                </a:solidFill>
                <a:latin typeface="Lucida Sans"/>
                <a:ea typeface="+mj-ea"/>
                <a:hlinkClick r:id="rId7">
                  <a:extLst>
                    <a:ext uri="{A12FA001-AC4F-418D-AE19-62706E023703}">
                      <ahyp:hlinkClr xmlns:ahyp="http://schemas.microsoft.com/office/drawing/2018/hyperlinkcolor" val="tx"/>
                    </a:ext>
                  </a:extLst>
                </a:hlinkClick>
              </a:rPr>
              <a:t>Content Delivery Network (CDN)</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fast and efficient distribution of game clients, assets, and content to players globally (e.g., Amazon CloudFront).</a:t>
            </a:r>
          </a:p>
          <a:p>
            <a:r>
              <a:rPr lang="en-US" sz="1200" b="1" kern="0" spc="-80" dirty="0">
                <a:solidFill>
                  <a:schemeClr val="accent2"/>
                </a:solidFill>
                <a:latin typeface="Lucida Sans"/>
                <a:ea typeface="+mj-ea"/>
                <a:hlinkClick r:id="rId8">
                  <a:extLst>
                    <a:ext uri="{A12FA001-AC4F-418D-AE19-62706E023703}">
                      <ahyp:hlinkClr xmlns:ahyp="http://schemas.microsoft.com/office/drawing/2018/hyperlinkcolor" val="tx"/>
                    </a:ext>
                  </a:extLst>
                </a:hlinkClick>
              </a:rPr>
              <a:t>Player Authentication</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Securely managing player identities and access.</a:t>
            </a:r>
          </a:p>
          <a:p>
            <a:r>
              <a:rPr lang="en-US" sz="1200" b="1" kern="0" spc="-80" dirty="0">
                <a:solidFill>
                  <a:schemeClr val="accent2"/>
                </a:solidFill>
                <a:latin typeface="Lucida Sans"/>
                <a:ea typeface="+mj-ea"/>
                <a:hlinkClick r:id="rId9">
                  <a:extLst>
                    <a:ext uri="{A12FA001-AC4F-418D-AE19-62706E023703}">
                      <ahyp:hlinkClr xmlns:ahyp="http://schemas.microsoft.com/office/drawing/2018/hyperlinkcolor" val="tx"/>
                    </a:ext>
                  </a:extLst>
                </a:hlinkClick>
              </a:rPr>
              <a:t>Social Platforms</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Facilitating community management and social interactions within the game ecosystem.</a:t>
            </a: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r>
              <a:rPr lang="en-US" sz="1400" kern="0" spc="-80" dirty="0">
                <a:solidFill>
                  <a:schemeClr val="accent2"/>
                </a:solidFill>
              </a:rPr>
              <a:t>For Further Exploration </a:t>
            </a:r>
          </a:p>
          <a:p>
            <a:r>
              <a:rPr lang="en-US" sz="1400" dirty="0">
                <a:hlinkClick r:id="rId10"/>
              </a:rPr>
              <a:t>Functional reference architecture for online gaming</a:t>
            </a:r>
            <a:endParaRPr lang="en-US" sz="1400" dirty="0"/>
          </a:p>
          <a:p>
            <a:r>
              <a:rPr lang="en-US" sz="1400" dirty="0">
                <a:hlinkClick r:id="rId11"/>
              </a:rPr>
              <a:t>Alibaba Cloud Gaming Architecture for Infrastructure Whitepaper - Alibaba Cloud Community</a:t>
            </a:r>
            <a:endParaRPr lang="en-US" sz="1400" dirty="0"/>
          </a:p>
          <a:p>
            <a:r>
              <a:rPr lang="en-US" sz="1400" dirty="0">
                <a:hlinkClick r:id="rId12"/>
              </a:rPr>
              <a:t>Serverless-based game backend architecture - Games Industry Lens</a:t>
            </a:r>
            <a:endParaRPr lang="en-US" sz="1400" dirty="0"/>
          </a:p>
          <a:p>
            <a:r>
              <a:rPr lang="en-US" sz="1400" dirty="0">
                <a:hlinkClick r:id="rId13"/>
              </a:rPr>
              <a:t>Container-based game backend architecture - Games Industry Lens</a:t>
            </a:r>
            <a:endParaRPr lang="en-US" sz="1400" b="1" kern="0" spc="-80" dirty="0">
              <a:solidFill>
                <a:schemeClr val="accent6"/>
              </a:solidFill>
              <a:latin typeface="Lucida Sans"/>
              <a:ea typeface="+mj-ea"/>
            </a:endParaRPr>
          </a:p>
          <a:p>
            <a:pPr marL="12700" marR="5080"/>
            <a:r>
              <a:rPr lang="en-IN" sz="1400" dirty="0">
                <a:hlinkClick r:id="rId14"/>
              </a:rPr>
              <a:t>Game Programming &amp; Development.md</a:t>
            </a:r>
            <a:endParaRPr lang="en-US" sz="1400" dirty="0">
              <a:hlinkClick r:id="rId15"/>
            </a:endParaRPr>
          </a:p>
        </p:txBody>
      </p:sp>
    </p:spTree>
    <p:extLst>
      <p:ext uri="{BB962C8B-B14F-4D97-AF65-F5344CB8AC3E}">
        <p14:creationId xmlns:p14="http://schemas.microsoft.com/office/powerpoint/2010/main" val="1724974994"/>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6B5C-87F4-C07B-1967-710CD8C808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F72EA2-6811-D3A5-7FB2-23475C88C91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B53FBD-1F17-33FA-FDC4-FD6E151C7A8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795471D-FBB1-BA9B-6401-7E062B00E2F2}"/>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85CA21-0EA5-032B-016D-733734072EA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pic>
        <p:nvPicPr>
          <p:cNvPr id="2052" name="Picture 4">
            <a:extLst>
              <a:ext uri="{FF2B5EF4-FFF2-40B4-BE49-F238E27FC236}">
                <a16:creationId xmlns:a16="http://schemas.microsoft.com/office/drawing/2014/main" id="{AF7ED81A-7424-4B72-7317-5374D06CE3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317625"/>
            <a:ext cx="9144000" cy="4512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026423"/>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4F76-E78E-1F1D-4648-7F241F836A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71F917-7140-C674-D4E3-97FDBF00F15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FB1B61-56DD-E46D-0C65-315144DB36C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1FEFB27-D807-DF98-7C0C-413A10E05D2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C4D3E1C-EC5A-346E-9DEF-7475886F72C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23D932B-3643-A215-EF22-7CAD0F352976}"/>
              </a:ext>
            </a:extLst>
          </p:cNvPr>
          <p:cNvSpPr txBox="1">
            <a:spLocks/>
          </p:cNvSpPr>
          <p:nvPr/>
        </p:nvSpPr>
        <p:spPr>
          <a:xfrm>
            <a:off x="137369" y="124253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80" dirty="0">
                <a:solidFill>
                  <a:schemeClr val="accent2"/>
                </a:solidFill>
              </a:rPr>
              <a:t>Key Components and Layers</a:t>
            </a:r>
          </a:p>
          <a:p>
            <a:r>
              <a:rPr lang="en-US" sz="1500" kern="0" spc="-80" dirty="0">
                <a:solidFill>
                  <a:schemeClr val="accent6"/>
                </a:solidFill>
              </a:rPr>
              <a:t>While specific structures vary, IoT reference architectures generally encompass these functional layers: </a:t>
            </a:r>
          </a:p>
          <a:p>
            <a:r>
              <a:rPr lang="en-US" sz="1500" kern="0" spc="-80" dirty="0">
                <a:solidFill>
                  <a:schemeClr val="accent2"/>
                </a:solidFill>
              </a:rPr>
              <a:t>Perception Layer (Device Layer): </a:t>
            </a:r>
            <a:r>
              <a:rPr lang="en-US" sz="1500" kern="0" spc="-80" dirty="0">
                <a:solidFill>
                  <a:schemeClr val="accent6"/>
                </a:solidFill>
              </a:rPr>
              <a:t>This layer consists of the physical devices, sensors, and actuators that interact with the physical world and collect data.</a:t>
            </a:r>
          </a:p>
          <a:p>
            <a:r>
              <a:rPr lang="en-US" sz="1500" kern="0" spc="-80" dirty="0">
                <a:solidFill>
                  <a:schemeClr val="accent2"/>
                </a:solidFill>
              </a:rPr>
              <a:t>Network Layer: </a:t>
            </a:r>
            <a:r>
              <a:rPr lang="en-US" sz="1500" kern="0" spc="-80" dirty="0">
                <a:solidFill>
                  <a:schemeClr val="accent6"/>
                </a:solidFill>
              </a:rPr>
              <a:t>This layer handles the communication and connectivity between devices and other system components, using various protocols and networking infrastructure.</a:t>
            </a:r>
          </a:p>
          <a:p>
            <a:r>
              <a:rPr lang="en-US" sz="1500" kern="0" spc="-80" dirty="0">
                <a:solidFill>
                  <a:schemeClr val="accent2"/>
                </a:solidFill>
              </a:rPr>
              <a:t>Data Processing Layer (Edge/Cloud Layer):</a:t>
            </a:r>
            <a:r>
              <a:rPr lang="en-US" sz="1500" kern="0" spc="-80" dirty="0">
                <a:solidFill>
                  <a:schemeClr val="accent6"/>
                </a:solidFill>
              </a:rPr>
              <a:t> Here, data from devices is aggregated, filtered, transformed, and analyzed, often using both edge computing and cloud-based platforms.</a:t>
            </a:r>
          </a:p>
          <a:p>
            <a:r>
              <a:rPr lang="en-US" sz="1500" kern="0" spc="-80" dirty="0">
                <a:solidFill>
                  <a:schemeClr val="accent2"/>
                </a:solidFill>
              </a:rPr>
              <a:t>Application Layer: </a:t>
            </a:r>
            <a:r>
              <a:rPr lang="en-US" sz="1500" kern="0" spc="-80" dirty="0">
                <a:solidFill>
                  <a:schemeClr val="accent6"/>
                </a:solidFill>
              </a:rPr>
              <a:t>This layer provides the software applications and services that use the processed IoT data to fulfill specific user needs or business use cases.</a:t>
            </a:r>
          </a:p>
          <a:p>
            <a:r>
              <a:rPr lang="en-US" sz="1500" kern="0" spc="-80" dirty="0">
                <a:solidFill>
                  <a:schemeClr val="accent2"/>
                </a:solidFill>
              </a:rPr>
              <a:t>Examples of Reference Architectures</a:t>
            </a:r>
          </a:p>
          <a:p>
            <a:r>
              <a:rPr lang="en-US" sz="1600" dirty="0">
                <a:hlinkClick r:id="rId7"/>
              </a:rPr>
              <a:t>IOT-A: Internet of Things Architecture</a:t>
            </a:r>
            <a:r>
              <a:rPr lang="en-US" sz="1500" kern="0" spc="-80" dirty="0">
                <a:solidFill>
                  <a:schemeClr val="accent2"/>
                </a:solidFill>
              </a:rPr>
              <a:t>: </a:t>
            </a:r>
            <a:r>
              <a:rPr lang="en-US" sz="1500" kern="0" spc="-80" dirty="0">
                <a:solidFill>
                  <a:schemeClr val="accent6"/>
                </a:solidFill>
              </a:rPr>
              <a:t>An older, foundational framework developed through an EU lighthouse project to be adaptable across various domains. </a:t>
            </a:r>
          </a:p>
          <a:p>
            <a:r>
              <a:rPr lang="en-IN" sz="1600" dirty="0">
                <a:hlinkClick r:id="rId8"/>
              </a:rPr>
              <a:t>IEEE SA - IEEE 2413-2019 </a:t>
            </a:r>
            <a:r>
              <a:rPr lang="en-US" sz="1500" kern="0" spc="-80" dirty="0">
                <a:solidFill>
                  <a:schemeClr val="accent2"/>
                </a:solidFill>
              </a:rPr>
              <a:t>: </a:t>
            </a:r>
            <a:r>
              <a:rPr lang="en-US" sz="1500" kern="0" spc="-80" dirty="0">
                <a:solidFill>
                  <a:schemeClr val="accent6"/>
                </a:solidFill>
              </a:rPr>
              <a:t>An ongoing standardization project from the IEEE, aiming to define a common framework for the Internet of Things. </a:t>
            </a:r>
          </a:p>
          <a:p>
            <a:r>
              <a:rPr lang="en-US" sz="1600" dirty="0">
                <a:hlinkClick r:id="rId9"/>
              </a:rPr>
              <a:t>The Industrial Internet Reference Architecture</a:t>
            </a:r>
            <a:r>
              <a:rPr lang="en-US" sz="1500" kern="0" spc="-80" dirty="0">
                <a:solidFill>
                  <a:schemeClr val="accent2"/>
                </a:solidFill>
              </a:rPr>
              <a:t>:</a:t>
            </a:r>
            <a:r>
              <a:rPr lang="en-US" sz="1500" kern="0" spc="-80" dirty="0">
                <a:solidFill>
                  <a:schemeClr val="accent6"/>
                </a:solidFill>
              </a:rPr>
              <a:t> A model specifically developed by the Industrial Internet Consortium for industrial IoT applications. </a:t>
            </a:r>
          </a:p>
          <a:p>
            <a:r>
              <a:rPr lang="en-US" sz="1600" dirty="0">
                <a:hlinkClick r:id="rId10"/>
              </a:rPr>
              <a:t>ISO/IEC 30141:2024</a:t>
            </a:r>
            <a:r>
              <a:rPr lang="en-US" sz="1600" dirty="0"/>
              <a:t> </a:t>
            </a:r>
            <a:r>
              <a:rPr lang="en-US" sz="1500" kern="0" spc="-80" dirty="0">
                <a:solidFill>
                  <a:schemeClr val="accent2"/>
                </a:solidFill>
              </a:rPr>
              <a:t>: </a:t>
            </a:r>
            <a:r>
              <a:rPr lang="en-US" sz="1500" kern="0" spc="-80" dirty="0">
                <a:solidFill>
                  <a:schemeClr val="accent6"/>
                </a:solidFill>
              </a:rPr>
              <a:t>A reference architecture developed to enhance cross-domain security and trustworthiness in IoT environments, such as the Secure IoT framework by Springer. </a:t>
            </a:r>
          </a:p>
        </p:txBody>
      </p:sp>
    </p:spTree>
    <p:extLst>
      <p:ext uri="{BB962C8B-B14F-4D97-AF65-F5344CB8AC3E}">
        <p14:creationId xmlns:p14="http://schemas.microsoft.com/office/powerpoint/2010/main" val="179542991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6E0D-EE95-89CE-359E-0BC7EAFCE9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21AE231-B9BA-25FE-5DB0-B33193A01AE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7D8661-F9CC-7D7C-1D63-B75A520D6D0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5CA711E-C8E6-4E5E-C810-F2F7ED31297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0FDF90D-8D98-8833-F0A1-FD4354AC5ED4}"/>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9DDDBED-F47B-ADD4-E853-7C42F15CA7EA}"/>
              </a:ext>
            </a:extLst>
          </p:cNvPr>
          <p:cNvSpPr txBox="1">
            <a:spLocks/>
          </p:cNvSpPr>
          <p:nvPr/>
        </p:nvSpPr>
        <p:spPr>
          <a:xfrm>
            <a:off x="137369" y="1242536"/>
            <a:ext cx="8624937" cy="34470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For Further Exploration </a:t>
            </a:r>
          </a:p>
          <a:p>
            <a:r>
              <a:rPr lang="en-US" sz="1400" dirty="0">
                <a:hlinkClick r:id="rId7"/>
              </a:rPr>
              <a:t>Architecture of Internet of Things (IoT) </a:t>
            </a:r>
            <a:r>
              <a:rPr lang="en-US" sz="1400" dirty="0">
                <a:hlinkClick r:id="rId8"/>
              </a:rPr>
              <a:t>–</a:t>
            </a:r>
            <a:r>
              <a:rPr lang="en-US" sz="1400" dirty="0">
                <a:hlinkClick r:id="rId7"/>
              </a:rPr>
              <a:t> </a:t>
            </a:r>
            <a:r>
              <a:rPr lang="en-US" sz="1400" dirty="0" err="1">
                <a:hlinkClick r:id="rId7"/>
              </a:rPr>
              <a:t>GeeksforGeeks</a:t>
            </a:r>
            <a:endParaRPr lang="en-US" sz="1400" dirty="0"/>
          </a:p>
          <a:p>
            <a:r>
              <a:rPr lang="en-IN" sz="1400" dirty="0">
                <a:hlinkClick r:id="rId9"/>
              </a:rPr>
              <a:t>IoT: System Reference Architecture</a:t>
            </a:r>
            <a:endParaRPr lang="en-IN" sz="1400" dirty="0"/>
          </a:p>
          <a:p>
            <a:r>
              <a:rPr lang="en-IN" sz="1400" dirty="0">
                <a:hlinkClick r:id="rId10"/>
              </a:rPr>
              <a:t>Smart IoT Apps</a:t>
            </a:r>
            <a:endParaRPr lang="en-IN" sz="1400" dirty="0"/>
          </a:p>
          <a:p>
            <a:r>
              <a:rPr lang="da-DK" sz="1400" dirty="0">
                <a:hlinkClick r:id="rId11"/>
              </a:rPr>
              <a:t>Embedded Systems &amp; RTOS for IoT</a:t>
            </a:r>
            <a:endParaRPr lang="da-DK" sz="1400" dirty="0"/>
          </a:p>
          <a:p>
            <a:r>
              <a:rPr lang="en-US" sz="1400" dirty="0">
                <a:hlinkClick r:id="rId12"/>
              </a:rPr>
              <a:t>Embedded Hardware, Firmware, Software and UI</a:t>
            </a:r>
            <a:endParaRPr lang="en-US" sz="1400" dirty="0"/>
          </a:p>
          <a:p>
            <a:r>
              <a:rPr lang="en-IN" sz="1400" dirty="0">
                <a:hlinkClick r:id="rId13"/>
              </a:rPr>
              <a:t>Resource Constrained Programming</a:t>
            </a:r>
            <a:endParaRPr lang="da-DK" sz="1400" dirty="0"/>
          </a:p>
          <a:p>
            <a:r>
              <a:rPr lang="en-IN" sz="1400" dirty="0">
                <a:hlinkClick r:id="rId14"/>
              </a:rPr>
              <a:t>Connected Services in IoT</a:t>
            </a:r>
            <a:endParaRPr lang="da-DK" sz="1400" dirty="0"/>
          </a:p>
          <a:p>
            <a:r>
              <a:rPr lang="en-IN" sz="1400" dirty="0">
                <a:hlinkClick r:id="rId15"/>
              </a:rPr>
              <a:t>WSNs And WANETs</a:t>
            </a:r>
            <a:endParaRPr lang="en-IN" sz="1400" dirty="0"/>
          </a:p>
          <a:p>
            <a:r>
              <a:rPr lang="en-IN" sz="1400" dirty="0">
                <a:hlinkClick r:id="rId16"/>
              </a:rPr>
              <a:t>BSP</a:t>
            </a:r>
            <a:endParaRPr lang="en-IN" sz="1400" dirty="0"/>
          </a:p>
          <a:p>
            <a:r>
              <a:rPr lang="en-US" sz="1400" dirty="0">
                <a:hlinkClick r:id="rId17"/>
              </a:rPr>
              <a:t>IoT and Edge Computing for Architects </a:t>
            </a:r>
            <a:endParaRPr lang="en-US" sz="1400" dirty="0"/>
          </a:p>
          <a:p>
            <a:r>
              <a:rPr lang="en-US" sz="1400" dirty="0">
                <a:hlinkClick r:id="rId18"/>
              </a:rPr>
              <a:t>Architectural Patterns and Techniques for Developing IoT Solutions</a:t>
            </a:r>
            <a:endParaRPr lang="en-US" sz="1400" dirty="0"/>
          </a:p>
          <a:p>
            <a:r>
              <a:rPr lang="en-US" sz="1400" dirty="0">
                <a:hlinkClick r:id="rId19"/>
              </a:rPr>
              <a:t>Industrial-IoT-for-Architects-and-Engineers</a:t>
            </a:r>
            <a:endParaRPr lang="en-US" sz="1400" dirty="0"/>
          </a:p>
          <a:p>
            <a:r>
              <a:rPr lang="en-US" sz="1400" dirty="0">
                <a:hlinkClick r:id="rId20"/>
              </a:rPr>
              <a:t>Edge-Computing-Patterns-for-Solution-Architects</a:t>
            </a:r>
            <a:endParaRPr lang="en-US" sz="1400" dirty="0"/>
          </a:p>
          <a:p>
            <a:r>
              <a:rPr lang="en-US" sz="1400" dirty="0">
                <a:hlinkClick r:id="rId21"/>
              </a:rPr>
              <a:t>IoT-Edge-Computing-with-MicroK8s</a:t>
            </a:r>
            <a:endParaRPr lang="en-US" sz="1400" dirty="0"/>
          </a:p>
          <a:p>
            <a:r>
              <a:rPr lang="en-US" sz="1400" dirty="0">
                <a:hlinkClick r:id="rId22"/>
              </a:rPr>
              <a:t>Advanced Embedded Architectures and SoCs | </a:t>
            </a:r>
            <a:r>
              <a:rPr lang="en-US" sz="1400" dirty="0" err="1">
                <a:hlinkClick r:id="rId22"/>
              </a:rPr>
              <a:t>Packt</a:t>
            </a:r>
            <a:r>
              <a:rPr lang="en-US" sz="1400" dirty="0">
                <a:hlinkClick r:id="rId22"/>
              </a:rPr>
              <a:t> Subscription</a:t>
            </a:r>
            <a:endParaRPr lang="en-US" sz="1400" dirty="0"/>
          </a:p>
        </p:txBody>
      </p:sp>
    </p:spTree>
    <p:extLst>
      <p:ext uri="{BB962C8B-B14F-4D97-AF65-F5344CB8AC3E}">
        <p14:creationId xmlns:p14="http://schemas.microsoft.com/office/powerpoint/2010/main" val="717269845"/>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9D86B-8364-758D-9459-46B59F4364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B92369-B33D-8D9B-B754-4D7FAC5FF71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20B9DB-4D11-4ED8-DCE2-1B1B8DF72A2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3442E2-3B55-37DF-1BCC-DE46893ED15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3C6952A-4771-1A7F-5E61-BB2E406F0F60}"/>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pPr marL="12700" marR="5080"/>
            <a:r>
              <a:rPr lang="en-US" sz="2400" kern="0" spc="-80" dirty="0">
                <a:solidFill>
                  <a:schemeClr val="accent2"/>
                </a:solidFill>
              </a:rPr>
              <a:t>  </a:t>
            </a:r>
          </a:p>
        </p:txBody>
      </p:sp>
      <p:pic>
        <p:nvPicPr>
          <p:cNvPr id="2050" name="Picture 2" descr="Detailed digital twin reference architecture">
            <a:extLst>
              <a:ext uri="{FF2B5EF4-FFF2-40B4-BE49-F238E27FC236}">
                <a16:creationId xmlns:a16="http://schemas.microsoft.com/office/drawing/2014/main" id="{AD02DDAE-159B-2CBC-478A-449D33398E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47775"/>
            <a:ext cx="9144000" cy="469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212253"/>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FB132-7AB7-6052-411C-0DCD4708B6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49C9195-D064-704A-0010-94012091CBB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157619-81E8-3634-605A-AC8097F7A84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468F862-E62F-3328-5409-BEF90497F6AB}"/>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85E8551-3D0E-997A-4683-3081C62A8F76}"/>
              </a:ext>
            </a:extLst>
          </p:cNvPr>
          <p:cNvSpPr txBox="1">
            <a:spLocks/>
          </p:cNvSpPr>
          <p:nvPr/>
        </p:nvSpPr>
        <p:spPr>
          <a:xfrm>
            <a:off x="228600" y="873204"/>
            <a:ext cx="8624937" cy="53937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r>
              <a:rPr lang="en-US" sz="1150" kern="0" spc="-80" dirty="0">
                <a:solidFill>
                  <a:schemeClr val="accent2"/>
                </a:solidFill>
              </a:rPr>
              <a:t>Core Components</a:t>
            </a:r>
          </a:p>
          <a:p>
            <a:r>
              <a:rPr lang="en-US" sz="1150" kern="0" spc="-80" dirty="0">
                <a:solidFill>
                  <a:schemeClr val="accent2"/>
                </a:solidFill>
              </a:rPr>
              <a:t>Physical Entity Layer: </a:t>
            </a:r>
          </a:p>
          <a:p>
            <a:r>
              <a:rPr lang="en-US" sz="1150" kern="0" spc="-80" dirty="0">
                <a:solidFill>
                  <a:schemeClr val="accent6"/>
                </a:solidFill>
              </a:rPr>
              <a:t>The actual real-world asset, system, or process being mirrored. </a:t>
            </a:r>
          </a:p>
          <a:p>
            <a:r>
              <a:rPr lang="en-US" sz="1150" kern="0" spc="-80" dirty="0">
                <a:solidFill>
                  <a:schemeClr val="accent2"/>
                </a:solidFill>
              </a:rPr>
              <a:t>Virtual Entity Layer: </a:t>
            </a:r>
          </a:p>
          <a:p>
            <a:r>
              <a:rPr lang="en-US" sz="1150" kern="0" spc="-80" dirty="0">
                <a:solidFill>
                  <a:schemeClr val="accent6"/>
                </a:solidFill>
              </a:rPr>
              <a:t>The digital representation of the physical entity, including models, data structures, and simulations. </a:t>
            </a:r>
          </a:p>
          <a:p>
            <a:r>
              <a:rPr lang="en-US" sz="1150" kern="0" spc="-80" dirty="0">
                <a:solidFill>
                  <a:schemeClr val="accent2"/>
                </a:solidFill>
              </a:rPr>
              <a:t>Data Layer: </a:t>
            </a:r>
          </a:p>
          <a:p>
            <a:r>
              <a:rPr lang="en-US" sz="1150" kern="0" spc="-80" dirty="0">
                <a:solidFill>
                  <a:schemeClr val="accent6"/>
                </a:solidFill>
              </a:rPr>
              <a:t>This includes the raw data from sensors, business systems, and other sources that are fed into the digital twin. It also includes the Data Repository for storage and retrieval. </a:t>
            </a:r>
          </a:p>
          <a:p>
            <a:r>
              <a:rPr lang="en-US" sz="1150" kern="0" spc="-80" dirty="0">
                <a:solidFill>
                  <a:schemeClr val="accent2"/>
                </a:solidFill>
              </a:rPr>
              <a:t>Connectivity/Transmission Layer: </a:t>
            </a:r>
          </a:p>
          <a:p>
            <a:r>
              <a:rPr lang="en-US" sz="1150" kern="0" spc="-80" dirty="0">
                <a:solidFill>
                  <a:schemeClr val="accent6"/>
                </a:solidFill>
              </a:rPr>
              <a:t>This layer connects the physical and virtual worlds, often utilizing IoT systems to collect and synchronize data in a bidirectional loop. </a:t>
            </a:r>
          </a:p>
          <a:p>
            <a:r>
              <a:rPr lang="en-US" sz="1150" kern="0" spc="-80" dirty="0">
                <a:solidFill>
                  <a:schemeClr val="accent2"/>
                </a:solidFill>
              </a:rPr>
              <a:t>Analytical Environment: </a:t>
            </a:r>
          </a:p>
          <a:p>
            <a:r>
              <a:rPr lang="en-US" sz="1150" kern="0" spc="-80" dirty="0">
                <a:solidFill>
                  <a:schemeClr val="accent6"/>
                </a:solidFill>
              </a:rPr>
              <a:t>This is the "brain" where data is processed, analyzed, and where models are run to provide insights and predictions. </a:t>
            </a:r>
          </a:p>
          <a:p>
            <a:r>
              <a:rPr lang="en-US" sz="1150" kern="0" spc="-80" dirty="0">
                <a:solidFill>
                  <a:schemeClr val="accent2"/>
                </a:solidFill>
              </a:rPr>
              <a:t>Application/Service Layer: </a:t>
            </a:r>
          </a:p>
          <a:p>
            <a:r>
              <a:rPr lang="en-US" sz="1150" kern="0" spc="-80" dirty="0">
                <a:solidFill>
                  <a:schemeClr val="accent6"/>
                </a:solidFill>
              </a:rPr>
              <a:t>This layer provides interfaces and applications that allow users to interact with the digital twin, extract insights, and potentially trigger actions back in the real world.</a:t>
            </a:r>
          </a:p>
          <a:p>
            <a:r>
              <a:rPr lang="en-US" sz="1150" kern="0" spc="-80" dirty="0">
                <a:solidFill>
                  <a:schemeClr val="accent2"/>
                </a:solidFill>
              </a:rPr>
              <a:t>Key Aspects</a:t>
            </a:r>
          </a:p>
          <a:p>
            <a:r>
              <a:rPr lang="en-US" sz="1150" kern="0" spc="-80" dirty="0">
                <a:solidFill>
                  <a:schemeClr val="accent2"/>
                </a:solidFill>
              </a:rPr>
              <a:t>Real-time Synchronization: </a:t>
            </a:r>
          </a:p>
          <a:p>
            <a:r>
              <a:rPr lang="en-US" sz="1150" kern="0" spc="-80" dirty="0">
                <a:solidFill>
                  <a:schemeClr val="accent6"/>
                </a:solidFill>
              </a:rPr>
              <a:t>A crucial aspect is the continuous synchronization of data between the physical and virtual environments, forming a dynamic, real-time feedback loop. </a:t>
            </a:r>
          </a:p>
          <a:p>
            <a:r>
              <a:rPr lang="en-US" sz="1150" kern="0" spc="-80" dirty="0">
                <a:solidFill>
                  <a:schemeClr val="accent2"/>
                </a:solidFill>
              </a:rPr>
              <a:t>Data Interoperability: </a:t>
            </a:r>
          </a:p>
          <a:p>
            <a:r>
              <a:rPr lang="en-US" sz="1150" kern="0" spc="-80" dirty="0">
                <a:solidFill>
                  <a:schemeClr val="accent6"/>
                </a:solidFill>
              </a:rPr>
              <a:t>Digital twins often require integrating external business and operational data, necessitating systems that can handle data from various sources and synchronize them effectively. </a:t>
            </a:r>
          </a:p>
          <a:p>
            <a:r>
              <a:rPr lang="en-US" sz="1150" kern="0" spc="-80" dirty="0">
                <a:solidFill>
                  <a:schemeClr val="accent2"/>
                </a:solidFill>
              </a:rPr>
              <a:t>Security and Governance: </a:t>
            </a:r>
          </a:p>
          <a:p>
            <a:r>
              <a:rPr lang="en-US" sz="1150" kern="0" spc="-80" dirty="0">
                <a:solidFill>
                  <a:schemeClr val="accent6"/>
                </a:solidFill>
              </a:rPr>
              <a:t>Foundational concepts like security, trust, and governance are essential for the entire digital twin framework to function reliably. </a:t>
            </a:r>
          </a:p>
          <a:p>
            <a:r>
              <a:rPr lang="en-US" sz="1150" kern="0" spc="-80" dirty="0">
                <a:solidFill>
                  <a:schemeClr val="accent2"/>
                </a:solidFill>
              </a:rPr>
              <a:t>Unique ID: </a:t>
            </a:r>
          </a:p>
          <a:p>
            <a:r>
              <a:rPr lang="en-US" sz="1150" kern="0" spc="-80" dirty="0">
                <a:solidFill>
                  <a:schemeClr val="accent6"/>
                </a:solidFill>
              </a:rPr>
              <a:t>A unique identifier is necessary for the physical and virtual entities to ensure accurate representation and management. </a:t>
            </a:r>
          </a:p>
          <a:p>
            <a:r>
              <a:rPr lang="en-US" sz="1600" kern="0" spc="-80" dirty="0">
                <a:solidFill>
                  <a:schemeClr val="accent6"/>
                </a:solidFill>
              </a:rPr>
              <a:t> </a:t>
            </a:r>
          </a:p>
        </p:txBody>
      </p:sp>
    </p:spTree>
    <p:extLst>
      <p:ext uri="{BB962C8B-B14F-4D97-AF65-F5344CB8AC3E}">
        <p14:creationId xmlns:p14="http://schemas.microsoft.com/office/powerpoint/2010/main" val="2125448981"/>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04F9-6D5D-191A-A49B-3FFCBFA5DD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162B6A-53F4-99AB-D7F1-8A3CB4867BB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2130CD-4BCC-ADD3-60CD-54AF82987F6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38D11E7-44E1-C8BF-D8B6-F402700E163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180FAE-70E7-8EDB-F92C-C45C10EA4B52}"/>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pPr marL="12700" marR="5080"/>
            <a:endParaRPr lang="en-US" sz="2400" kern="0" spc="-80" dirty="0">
              <a:solidFill>
                <a:schemeClr val="accent2"/>
              </a:solidFill>
            </a:endParaRPr>
          </a:p>
        </p:txBody>
      </p:sp>
      <p:sp>
        <p:nvSpPr>
          <p:cNvPr id="2" name="object 2">
            <a:extLst>
              <a:ext uri="{FF2B5EF4-FFF2-40B4-BE49-F238E27FC236}">
                <a16:creationId xmlns:a16="http://schemas.microsoft.com/office/drawing/2014/main" id="{11200980-49DE-499D-7F54-F8D990581975}"/>
              </a:ext>
            </a:extLst>
          </p:cNvPr>
          <p:cNvSpPr txBox="1">
            <a:spLocks/>
          </p:cNvSpPr>
          <p:nvPr/>
        </p:nvSpPr>
        <p:spPr>
          <a:xfrm>
            <a:off x="137369" y="1242536"/>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For Further Exploration </a:t>
            </a:r>
          </a:p>
          <a:p>
            <a:r>
              <a:rPr lang="en-IN" sz="1400" dirty="0">
                <a:hlinkClick r:id="rId7"/>
              </a:rPr>
              <a:t>What is Azure Digital Twins? - Azure Digital Twins | Microsoft Learn</a:t>
            </a:r>
            <a:endParaRPr lang="en-IN" sz="1400" dirty="0"/>
          </a:p>
          <a:p>
            <a:r>
              <a:rPr lang="en-US" sz="1400" dirty="0">
                <a:hlinkClick r:id="rId8"/>
              </a:rPr>
              <a:t>What are digital twins? - IBM Developer</a:t>
            </a:r>
            <a:endParaRPr lang="en-US" sz="1400" dirty="0"/>
          </a:p>
          <a:p>
            <a:r>
              <a:rPr lang="en-US" sz="1400" dirty="0" err="1">
                <a:hlinkClick r:id="rId9"/>
              </a:rPr>
              <a:t>TwinArch</a:t>
            </a:r>
            <a:r>
              <a:rPr lang="en-US" sz="1400" dirty="0">
                <a:hlinkClick r:id="rId9"/>
              </a:rPr>
              <a:t>: A Digital Twin Reference Architecture</a:t>
            </a:r>
            <a:endParaRPr lang="en-US" sz="1400" dirty="0"/>
          </a:p>
          <a:p>
            <a:r>
              <a:rPr lang="en-US" sz="1400" dirty="0">
                <a:hlinkClick r:id="rId10"/>
              </a:rPr>
              <a:t>Platform Stack Architectural Framework: An Introductory Guide</a:t>
            </a:r>
            <a:endParaRPr lang="en-US" sz="1400" dirty="0"/>
          </a:p>
          <a:p>
            <a:r>
              <a:rPr lang="en-IN" sz="1400" dirty="0">
                <a:hlinkClick r:id="rId11"/>
              </a:rPr>
              <a:t>Digital Twin Reference Architecture</a:t>
            </a:r>
            <a:endParaRPr lang="en-IN" sz="1400" dirty="0"/>
          </a:p>
          <a:p>
            <a:r>
              <a:rPr lang="en-IN" sz="1400" dirty="0" err="1">
                <a:hlinkClick r:id="rId12"/>
              </a:rPr>
              <a:t>iTwin</a:t>
            </a:r>
            <a:r>
              <a:rPr lang="en-IN" sz="1400" dirty="0">
                <a:hlinkClick r:id="rId12"/>
              </a:rPr>
              <a:t> Platform | Bentley Systems | Infrastructure Software</a:t>
            </a:r>
            <a:endParaRPr lang="en-IN" sz="1400" dirty="0"/>
          </a:p>
          <a:p>
            <a:r>
              <a:rPr lang="en-US" sz="1400" dirty="0">
                <a:hlinkClick r:id="rId13"/>
              </a:rPr>
              <a:t>Building-Industrial-Digital-Twin: Building Industrial Digital Twin</a:t>
            </a:r>
            <a:endParaRPr lang="en-US" sz="1400" dirty="0"/>
          </a:p>
          <a:p>
            <a:r>
              <a:rPr lang="en-US" sz="1400" dirty="0">
                <a:hlinkClick r:id="rId14"/>
              </a:rPr>
              <a:t>Hands-on-Azure-Digital-Twins</a:t>
            </a:r>
            <a:endParaRPr lang="en-US" sz="1400" dirty="0"/>
          </a:p>
          <a:p>
            <a:r>
              <a:rPr lang="en-IN" sz="1400" dirty="0">
                <a:hlinkClick r:id="rId15"/>
              </a:rPr>
              <a:t>Digital Twins </a:t>
            </a:r>
            <a:r>
              <a:rPr lang="en-IN" sz="1400">
                <a:hlinkClick r:id="rId15"/>
              </a:rPr>
              <a:t>in Action</a:t>
            </a:r>
            <a:endParaRPr lang="en-IN" sz="1400" dirty="0"/>
          </a:p>
        </p:txBody>
      </p:sp>
    </p:spTree>
    <p:extLst>
      <p:ext uri="{BB962C8B-B14F-4D97-AF65-F5344CB8AC3E}">
        <p14:creationId xmlns:p14="http://schemas.microsoft.com/office/powerpoint/2010/main" val="274427747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C193-38E1-3B17-DBD7-8BEEAE7FB1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3CDE57-9FE2-015E-3C58-2DBF74079F4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C55A59-422E-100A-4FB4-BCB68812511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717EB02-39E6-BD40-AF83-A02CBFB1BCB1}"/>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3D0C42-0D7A-722F-4CC9-3A1B338AC84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pic>
        <p:nvPicPr>
          <p:cNvPr id="1026" name="Picture 2" descr="The Metaverse architecture performs the interactions among virtual area, human area, and physical area">
            <a:extLst>
              <a:ext uri="{FF2B5EF4-FFF2-40B4-BE49-F238E27FC236}">
                <a16:creationId xmlns:a16="http://schemas.microsoft.com/office/drawing/2014/main" id="{D75B4403-A7C4-8E1A-AFCB-01A28A56D3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291668"/>
            <a:ext cx="8991599" cy="4462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6057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6FDF-60FE-1E28-C510-82DF520774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27C965-2895-6ECE-17EF-AF4F6700AED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1910F9-D3C6-78AA-374A-D250CDA7C03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3CC5D0D-8B63-BEDD-74C4-13BACB982898}"/>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74C7CE-2DC6-749D-8C08-0363348C513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430DC05-D7AF-C3E1-DC22-D51AA871B381}"/>
              </a:ext>
            </a:extLst>
          </p:cNvPr>
          <p:cNvSpPr txBox="1">
            <a:spLocks/>
          </p:cNvSpPr>
          <p:nvPr/>
        </p:nvSpPr>
        <p:spPr>
          <a:xfrm>
            <a:off x="137369" y="1242536"/>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Key Concepts &amp; Components</a:t>
            </a:r>
          </a:p>
          <a:p>
            <a:r>
              <a:rPr lang="en-US" sz="1400" kern="0" spc="-80" dirty="0">
                <a:solidFill>
                  <a:schemeClr val="accent2"/>
                </a:solidFill>
              </a:rPr>
              <a:t>Integration of Physical and Digital:</a:t>
            </a:r>
            <a:r>
              <a:rPr lang="en-US" sz="1400" kern="0" spc="-80" dirty="0">
                <a:solidFill>
                  <a:schemeClr val="accent6"/>
                </a:solidFill>
              </a:rPr>
              <a:t> Metaverse architectures facilitate the seamless integration of real-world elements with virtual ones, allowing for shared experiences, communication, and transactions in digital environments. </a:t>
            </a:r>
          </a:p>
          <a:p>
            <a:r>
              <a:rPr lang="en-US" sz="1400" kern="0" spc="-80" dirty="0">
                <a:solidFill>
                  <a:schemeClr val="accent2"/>
                </a:solidFill>
              </a:rPr>
              <a:t>Enabling Technologies: </a:t>
            </a:r>
          </a:p>
          <a:p>
            <a:r>
              <a:rPr lang="en-US" sz="1400" kern="0" spc="-80" dirty="0">
                <a:solidFill>
                  <a:schemeClr val="accent2"/>
                </a:solidFill>
              </a:rPr>
              <a:t>Core technologies that underpin a metaverse reference architecture include:</a:t>
            </a:r>
          </a:p>
          <a:p>
            <a:r>
              <a:rPr lang="en-US" sz="1400" kern="0" spc="-80" dirty="0">
                <a:solidFill>
                  <a:schemeClr val="accent2"/>
                </a:solidFill>
              </a:rPr>
              <a:t>Artificial Intelligence (AI): </a:t>
            </a:r>
            <a:r>
              <a:rPr lang="en-US" sz="1400" kern="0" spc="-80" dirty="0">
                <a:solidFill>
                  <a:schemeClr val="accent6"/>
                </a:solidFill>
              </a:rPr>
              <a:t>For intelligent systems, data analysis, and complex interactions. </a:t>
            </a:r>
          </a:p>
          <a:p>
            <a:r>
              <a:rPr lang="en-US" sz="1400" kern="0" spc="-80" dirty="0">
                <a:solidFill>
                  <a:schemeClr val="accent2"/>
                </a:solidFill>
              </a:rPr>
              <a:t>Blockchain:</a:t>
            </a:r>
            <a:r>
              <a:rPr lang="en-US" sz="1400" kern="0" spc="-80" dirty="0">
                <a:solidFill>
                  <a:schemeClr val="accent6"/>
                </a:solidFill>
              </a:rPr>
              <a:t> For secure digital identity, asset management, and decentralized systems. </a:t>
            </a:r>
          </a:p>
          <a:p>
            <a:r>
              <a:rPr lang="en-US" sz="1400" kern="0" spc="-80" dirty="0">
                <a:solidFill>
                  <a:schemeClr val="accent2"/>
                </a:solidFill>
              </a:rPr>
              <a:t>Cloud Computing &amp; Edge Computing:</a:t>
            </a:r>
            <a:r>
              <a:rPr lang="en-US" sz="1400" kern="0" spc="-80" dirty="0">
                <a:solidFill>
                  <a:schemeClr val="accent6"/>
                </a:solidFill>
              </a:rPr>
              <a:t> For scalable, distributed infrastructure to host metaverse environments. </a:t>
            </a:r>
          </a:p>
          <a:p>
            <a:r>
              <a:rPr lang="en-US" sz="1400" kern="0" spc="-80" dirty="0">
                <a:solidFill>
                  <a:schemeClr val="accent2"/>
                </a:solidFill>
              </a:rPr>
              <a:t>Internet of Things (IoT):</a:t>
            </a:r>
            <a:r>
              <a:rPr lang="en-US" sz="1400" kern="0" spc="-80" dirty="0">
                <a:solidFill>
                  <a:schemeClr val="accent6"/>
                </a:solidFill>
              </a:rPr>
              <a:t> To connect and manage physical devices and their digital twins. </a:t>
            </a:r>
          </a:p>
          <a:p>
            <a:r>
              <a:rPr lang="en-US" sz="1400" kern="0" spc="-80" dirty="0">
                <a:solidFill>
                  <a:schemeClr val="accent2"/>
                </a:solidFill>
              </a:rPr>
              <a:t>Extended Reality (XR): </a:t>
            </a:r>
            <a:r>
              <a:rPr lang="en-US" sz="1400" kern="0" spc="-80" dirty="0">
                <a:solidFill>
                  <a:schemeClr val="accent6"/>
                </a:solidFill>
              </a:rPr>
              <a:t>Augmented Reality (AR), Virtual Reality (VR), and Mixed Reality (MR) are crucial for creating immersive and interactive user experiences. </a:t>
            </a:r>
          </a:p>
          <a:p>
            <a:r>
              <a:rPr lang="en-US" sz="1400" kern="0" spc="-80" dirty="0">
                <a:solidFill>
                  <a:schemeClr val="accent2"/>
                </a:solidFill>
              </a:rPr>
              <a:t>Interoperability: </a:t>
            </a:r>
            <a:r>
              <a:rPr lang="en-US" sz="1400" kern="0" spc="-80" dirty="0">
                <a:solidFill>
                  <a:schemeClr val="accent6"/>
                </a:solidFill>
              </a:rPr>
              <a:t>Reference architectures aim to promote interoperability, enabling different metaverse platforms and services to connect and work together. </a:t>
            </a:r>
          </a:p>
          <a:p>
            <a:r>
              <a:rPr lang="en-US" sz="1400" kern="0" spc="-80" dirty="0">
                <a:solidFill>
                  <a:schemeClr val="accent2"/>
                </a:solidFill>
              </a:rPr>
              <a:t>Types of Architectures </a:t>
            </a:r>
          </a:p>
          <a:p>
            <a:r>
              <a:rPr lang="en-US" sz="1400" kern="0" spc="-80" dirty="0">
                <a:solidFill>
                  <a:schemeClr val="accent2"/>
                </a:solidFill>
              </a:rPr>
              <a:t>Technology-Based Architecture:</a:t>
            </a:r>
            <a:r>
              <a:rPr lang="en-US" sz="1400" kern="0" spc="-80" dirty="0">
                <a:solidFill>
                  <a:schemeClr val="accent6"/>
                </a:solidFill>
              </a:rPr>
              <a:t> Focuses on the convergence of key enabling technologies such as AI, blockchain, digital twins, and advanced network technologies.</a:t>
            </a:r>
          </a:p>
          <a:p>
            <a:r>
              <a:rPr lang="en-US" sz="1400" kern="0" spc="-80" dirty="0">
                <a:solidFill>
                  <a:schemeClr val="accent2"/>
                </a:solidFill>
              </a:rPr>
              <a:t>Domain-Based Architecture:</a:t>
            </a:r>
            <a:r>
              <a:rPr lang="en-US" sz="1400" kern="0" spc="-80" dirty="0">
                <a:solidFill>
                  <a:schemeClr val="accent6"/>
                </a:solidFill>
              </a:rPr>
              <a:t> Designed for specific industries or sectors, such as healthcare, education, or manufacturing, to address their unique functional requirements.</a:t>
            </a:r>
          </a:p>
          <a:p>
            <a:r>
              <a:rPr lang="en-US" sz="1400" kern="0" spc="-80" dirty="0">
                <a:solidFill>
                  <a:schemeClr val="accent2"/>
                </a:solidFill>
              </a:rPr>
              <a:t>Layered-Based Architecture: </a:t>
            </a:r>
            <a:r>
              <a:rPr lang="en-US" sz="1400" kern="0" spc="-80" dirty="0">
                <a:solidFill>
                  <a:schemeClr val="accent6"/>
                </a:solidFill>
              </a:rPr>
              <a:t>Employs a multi-layered structure to define and organize the essential components of a metaverse system, providing a universally applicable framework.</a:t>
            </a:r>
          </a:p>
        </p:txBody>
      </p:sp>
    </p:spTree>
    <p:extLst>
      <p:ext uri="{BB962C8B-B14F-4D97-AF65-F5344CB8AC3E}">
        <p14:creationId xmlns:p14="http://schemas.microsoft.com/office/powerpoint/2010/main" val="1945623841"/>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4953-847A-B801-D06E-A5A98506E9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617D84-0047-8574-4376-63AC10CB9B8F}"/>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5B865D-85F6-083A-16B1-A4C6503658C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2B6F9E7-03EF-A237-E5D7-42A24F0933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0160693-FCAD-7260-2DD8-E253E9A8582B}"/>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402C532-2E99-4D89-38C5-F71323D6C689}"/>
              </a:ext>
            </a:extLst>
          </p:cNvPr>
          <p:cNvSpPr txBox="1">
            <a:spLocks/>
          </p:cNvSpPr>
          <p:nvPr/>
        </p:nvSpPr>
        <p:spPr>
          <a:xfrm>
            <a:off x="137369" y="1242536"/>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Purpose and Applications</a:t>
            </a:r>
          </a:p>
          <a:p>
            <a:r>
              <a:rPr lang="en-US" sz="1400" kern="0" spc="-80" dirty="0">
                <a:solidFill>
                  <a:schemeClr val="accent2"/>
                </a:solidFill>
              </a:rPr>
              <a:t>Systematic Development: </a:t>
            </a:r>
            <a:r>
              <a:rPr lang="en-US" sz="1400" kern="0" spc="-80" dirty="0">
                <a:solidFill>
                  <a:schemeClr val="accent6"/>
                </a:solidFill>
              </a:rPr>
              <a:t>Provides a framework for the systematic creation and operation of metaverse services and applications. </a:t>
            </a:r>
          </a:p>
          <a:p>
            <a:r>
              <a:rPr lang="en-US" sz="1400" kern="0" spc="-80" dirty="0">
                <a:solidFill>
                  <a:schemeClr val="accent2"/>
                </a:solidFill>
              </a:rPr>
              <a:t>Digital Transformation: </a:t>
            </a:r>
            <a:r>
              <a:rPr lang="en-US" sz="1400" kern="0" spc="-80" dirty="0">
                <a:solidFill>
                  <a:schemeClr val="accent6"/>
                </a:solidFill>
              </a:rPr>
              <a:t>Supports the digital transformation of enterprises by enabling digital environments for collaboration and experience sharing. </a:t>
            </a:r>
          </a:p>
          <a:p>
            <a:r>
              <a:rPr lang="en-US" sz="1400" kern="0" spc="-80" dirty="0">
                <a:solidFill>
                  <a:schemeClr val="accent2"/>
                </a:solidFill>
              </a:rPr>
              <a:t>Industrial Applications: </a:t>
            </a:r>
            <a:r>
              <a:rPr lang="en-US" sz="1400" kern="0" spc="-80" dirty="0">
                <a:solidFill>
                  <a:schemeClr val="accent6"/>
                </a:solidFill>
              </a:rPr>
              <a:t>Specifically designed to assist various industrial verticals by digitalizing processes and creating integrated digital environments. </a:t>
            </a:r>
          </a:p>
          <a:p>
            <a:r>
              <a:rPr lang="en-US" sz="1400" kern="0" spc="-80" dirty="0">
                <a:solidFill>
                  <a:schemeClr val="accent2"/>
                </a:solidFill>
              </a:rPr>
              <a:t>Enhanced Digital Interaction: </a:t>
            </a:r>
            <a:r>
              <a:rPr lang="en-US" sz="1400" kern="0" spc="-80" dirty="0">
                <a:solidFill>
                  <a:schemeClr val="accent6"/>
                </a:solidFill>
              </a:rPr>
              <a:t>Creates new, more immersive ways for people to interact, socialize, and conduct commerce in a persistently connected digital world</a:t>
            </a: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r>
              <a:rPr lang="en-US" sz="1400" kern="0" spc="-80" dirty="0">
                <a:solidFill>
                  <a:schemeClr val="accent2"/>
                </a:solidFill>
              </a:rPr>
              <a:t>For Further Exploration </a:t>
            </a:r>
          </a:p>
          <a:p>
            <a:r>
              <a:rPr lang="en-US" sz="1400" dirty="0">
                <a:hlinkClick r:id="rId7"/>
              </a:rPr>
              <a:t>Metaverse Architectures: A Comprehensive Systematic Review of Definitions and Frameworks</a:t>
            </a:r>
            <a:endParaRPr lang="en-US" sz="1400" dirty="0"/>
          </a:p>
          <a:p>
            <a:r>
              <a:rPr lang="en-IN" sz="1400" dirty="0">
                <a:hlinkClick r:id="rId8"/>
              </a:rPr>
              <a:t>Metaverse: A Vision &amp; Architectural Elements</a:t>
            </a:r>
            <a:endParaRPr lang="en-IN" sz="1400" dirty="0"/>
          </a:p>
          <a:p>
            <a:r>
              <a:rPr lang="en-US" sz="1400" dirty="0">
                <a:hlinkClick r:id="rId9"/>
              </a:rPr>
              <a:t>Metaverse Masterclass- Learn Everything about the Metaverse! | Udemy</a:t>
            </a:r>
            <a:endParaRPr lang="en-IN" sz="1400" dirty="0"/>
          </a:p>
          <a:p>
            <a:r>
              <a:rPr lang="en-US" sz="1400" dirty="0">
                <a:hlinkClick r:id="rId10"/>
              </a:rPr>
              <a:t>AR-VR-Using-WEBXR-API: Source Code for 'AR and VR Using the </a:t>
            </a:r>
            <a:r>
              <a:rPr lang="en-US" sz="1400" dirty="0" err="1">
                <a:hlinkClick r:id="rId10"/>
              </a:rPr>
              <a:t>WebXR</a:t>
            </a:r>
            <a:r>
              <a:rPr lang="en-US" sz="1400" dirty="0">
                <a:hlinkClick r:id="rId10"/>
              </a:rPr>
              <a:t> API' by Rakesh Baruah</a:t>
            </a:r>
            <a:endParaRPr lang="en-US" sz="1400" dirty="0"/>
          </a:p>
          <a:p>
            <a:r>
              <a:rPr lang="en-US" sz="1400" dirty="0">
                <a:hlinkClick r:id="rId11"/>
              </a:rPr>
              <a:t>Learning Virtual Reality</a:t>
            </a:r>
            <a:endParaRPr lang="en-US" sz="1400" dirty="0"/>
          </a:p>
          <a:p>
            <a:r>
              <a:rPr lang="en-US" sz="1400" dirty="0">
                <a:hlinkClick r:id="rId12"/>
              </a:rPr>
              <a:t>Practical Augmented Reality</a:t>
            </a:r>
            <a:endParaRPr lang="en-US" sz="1400" dirty="0"/>
          </a:p>
          <a:p>
            <a:r>
              <a:rPr lang="en-IN" sz="1400" dirty="0">
                <a:hlinkClick r:id="rId13"/>
              </a:rPr>
              <a:t>Creating Augmented and Virtual Realities</a:t>
            </a:r>
            <a:endParaRPr lang="en-IN" sz="1400" dirty="0"/>
          </a:p>
          <a:p>
            <a:r>
              <a:rPr lang="en-IN" sz="1400" dirty="0">
                <a:hlinkClick r:id="rId14"/>
              </a:rPr>
              <a:t>UX for </a:t>
            </a:r>
            <a:r>
              <a:rPr lang="en-IN" sz="1400" dirty="0" err="1">
                <a:hlinkClick r:id="rId14"/>
              </a:rPr>
              <a:t>XR</a:t>
            </a:r>
            <a:r>
              <a:rPr lang="en-IN" sz="1400" dirty="0" err="1">
                <a:hlinkClick r:id="rId15"/>
              </a:rPr>
              <a:t>Handbook</a:t>
            </a:r>
            <a:r>
              <a:rPr lang="en-IN" sz="1400" dirty="0">
                <a:hlinkClick r:id="rId15"/>
              </a:rPr>
              <a:t> of Augmented and Virtual Reality</a:t>
            </a:r>
            <a:endParaRPr lang="en-IN" sz="1400" dirty="0"/>
          </a:p>
          <a:p>
            <a:r>
              <a:rPr lang="en-IN" sz="1400" kern="0" spc="-80" dirty="0">
                <a:solidFill>
                  <a:schemeClr val="accent6"/>
                </a:solidFill>
              </a:rPr>
              <a:t>N.B. – AR/VR resources above can be used in Gaming. Digital Twins (&amp; CAD/CAM) as well.</a:t>
            </a:r>
            <a:endParaRPr lang="en-US" sz="1400" kern="0" spc="-80" dirty="0">
              <a:solidFill>
                <a:schemeClr val="accent6"/>
              </a:solidFill>
            </a:endParaRPr>
          </a:p>
        </p:txBody>
      </p:sp>
    </p:spTree>
    <p:extLst>
      <p:ext uri="{BB962C8B-B14F-4D97-AF65-F5344CB8AC3E}">
        <p14:creationId xmlns:p14="http://schemas.microsoft.com/office/powerpoint/2010/main" val="1708028902"/>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5021-814F-E493-F9A7-FA74F75043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2FDD62-FF8B-130B-28EE-4EB32771E91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6454945-DD9F-57F1-A504-035267C8D77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043DD1-710D-82DF-DFAC-9BF69C8B4149}"/>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16380B8-FFBC-1370-0061-5486EF7C6017}"/>
              </a:ext>
            </a:extLst>
          </p:cNvPr>
          <p:cNvSpPr txBox="1">
            <a:spLocks/>
          </p:cNvSpPr>
          <p:nvPr/>
        </p:nvSpPr>
        <p:spPr>
          <a:xfrm>
            <a:off x="76200" y="87320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2400" kern="0" spc="-80" dirty="0">
                <a:solidFill>
                  <a:schemeClr val="accent2"/>
                </a:solidFill>
              </a:rPr>
              <a:t>  </a:t>
            </a:r>
          </a:p>
        </p:txBody>
      </p:sp>
      <p:pic>
        <p:nvPicPr>
          <p:cNvPr id="8" name="Picture 7" descr="A diagram of a platform architecture&#10;&#10;AI-generated content may be incorrect.">
            <a:extLst>
              <a:ext uri="{FF2B5EF4-FFF2-40B4-BE49-F238E27FC236}">
                <a16:creationId xmlns:a16="http://schemas.microsoft.com/office/drawing/2014/main" id="{176ADC95-BE5A-59D8-16EE-25DF3B2586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622336"/>
            <a:ext cx="8839200" cy="4321264"/>
          </a:xfrm>
          <a:prstGeom prst="rect">
            <a:avLst/>
          </a:prstGeom>
        </p:spPr>
      </p:pic>
    </p:spTree>
    <p:extLst>
      <p:ext uri="{BB962C8B-B14F-4D97-AF65-F5344CB8AC3E}">
        <p14:creationId xmlns:p14="http://schemas.microsoft.com/office/powerpoint/2010/main" val="422671982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D11B-66F1-A443-DAA8-A2EC6C87D0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A97FD7-891D-6DB6-1318-B483BF269B3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AF9AC6-A5CB-7666-013B-F4EEB326BE1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F882D0-0C18-3793-C1C9-BF8BE9C121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3164459-84A0-0282-7CE9-A1D0F3E5FB79}"/>
              </a:ext>
            </a:extLst>
          </p:cNvPr>
          <p:cNvSpPr txBox="1">
            <a:spLocks/>
          </p:cNvSpPr>
          <p:nvPr/>
        </p:nvSpPr>
        <p:spPr>
          <a:xfrm>
            <a:off x="76200" y="873204"/>
            <a:ext cx="8624937" cy="49936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250" kern="0" spc="-80" dirty="0">
                <a:solidFill>
                  <a:schemeClr val="accent2"/>
                </a:solidFill>
              </a:rPr>
              <a:t>  🧩 1. Conceptual Overview</a:t>
            </a:r>
          </a:p>
          <a:p>
            <a:pPr marL="12700" marR="5080"/>
            <a:r>
              <a:rPr lang="en-US" sz="1250" kern="0" spc="-80" dirty="0">
                <a:solidFill>
                  <a:schemeClr val="accent2"/>
                </a:solidFill>
              </a:rPr>
              <a:t>Intelligent Automation (IA) combines:</a:t>
            </a:r>
          </a:p>
          <a:p>
            <a:pPr marL="12700" marR="5080"/>
            <a:r>
              <a:rPr lang="en-US" sz="1250" kern="0" spc="-80" dirty="0">
                <a:solidFill>
                  <a:schemeClr val="accent2"/>
                </a:solidFill>
              </a:rPr>
              <a:t>Robotic Process Automation (RPA)</a:t>
            </a:r>
            <a:r>
              <a:rPr lang="en-US" sz="1250" kern="0" spc="-80" dirty="0">
                <a:solidFill>
                  <a:schemeClr val="accent6"/>
                </a:solidFill>
              </a:rPr>
              <a:t> — automating repetitive, rule-based tasks</a:t>
            </a:r>
          </a:p>
          <a:p>
            <a:pPr marL="12700" marR="5080"/>
            <a:r>
              <a:rPr lang="en-US" sz="1250" kern="0" spc="-80" dirty="0">
                <a:solidFill>
                  <a:schemeClr val="accent2"/>
                </a:solidFill>
              </a:rPr>
              <a:t>Artificial Intelligence (AI) </a:t>
            </a:r>
            <a:r>
              <a:rPr lang="en-US" sz="1250" kern="0" spc="-80" dirty="0">
                <a:solidFill>
                  <a:schemeClr val="accent6"/>
                </a:solidFill>
              </a:rPr>
              <a:t>— cognitive automation (vision, NLP, ML)</a:t>
            </a:r>
          </a:p>
          <a:p>
            <a:pPr marL="12700" marR="5080"/>
            <a:r>
              <a:rPr lang="en-US" sz="1250" kern="0" spc="-80" dirty="0">
                <a:solidFill>
                  <a:schemeClr val="accent2"/>
                </a:solidFill>
              </a:rPr>
              <a:t>Process Orchestration</a:t>
            </a:r>
            <a:r>
              <a:rPr lang="en-US" sz="1250" kern="0" spc="-80" dirty="0">
                <a:solidFill>
                  <a:schemeClr val="accent6"/>
                </a:solidFill>
              </a:rPr>
              <a:t> — managing end-to-end workflows and exceptions</a:t>
            </a:r>
          </a:p>
          <a:p>
            <a:pPr marL="12700" marR="5080"/>
            <a:r>
              <a:rPr lang="en-US" sz="1250" kern="0" spc="-80" dirty="0">
                <a:solidFill>
                  <a:schemeClr val="accent2"/>
                </a:solidFill>
              </a:rPr>
              <a:t>Human-in-the-Loop (HITL)</a:t>
            </a:r>
            <a:r>
              <a:rPr lang="en-US" sz="1250" kern="0" spc="-80" dirty="0">
                <a:solidFill>
                  <a:schemeClr val="accent6"/>
                </a:solidFill>
              </a:rPr>
              <a:t> — decision points requiring human judgment</a:t>
            </a:r>
          </a:p>
          <a:p>
            <a:pPr marL="12700" marR="5080"/>
            <a:r>
              <a:rPr lang="en-US" sz="1250" kern="0" spc="-80" dirty="0">
                <a:solidFill>
                  <a:schemeClr val="accent2"/>
                </a:solidFill>
              </a:rPr>
              <a:t>📘 Goal: </a:t>
            </a:r>
            <a:r>
              <a:rPr lang="en-US" sz="1250" kern="0" spc="-80" dirty="0">
                <a:solidFill>
                  <a:schemeClr val="accent6"/>
                </a:solidFill>
              </a:rPr>
              <a:t>Enable self-learning, self-optimizing business processes through automation, intelligence, and orchestration.</a:t>
            </a:r>
          </a:p>
          <a:p>
            <a:pPr marL="12700" marR="5080"/>
            <a:r>
              <a:rPr lang="en-US" sz="1250" kern="0" spc="-80" dirty="0">
                <a:solidFill>
                  <a:schemeClr val="accent2"/>
                </a:solidFill>
              </a:rPr>
              <a:t>🧱 2. Reference Architecture Layers</a:t>
            </a:r>
          </a:p>
          <a:p>
            <a:pPr marL="12700" marR="5080"/>
            <a:r>
              <a:rPr lang="en-US" sz="1250" kern="0" spc="-80" dirty="0">
                <a:solidFill>
                  <a:schemeClr val="accent2"/>
                </a:solidFill>
              </a:rPr>
              <a:t>A. Presentation &amp; Interaction Layer</a:t>
            </a:r>
          </a:p>
          <a:p>
            <a:pPr marL="12700" marR="5080"/>
            <a:r>
              <a:rPr lang="en-US" sz="1250" kern="0" spc="-80" dirty="0">
                <a:solidFill>
                  <a:schemeClr val="accent2"/>
                </a:solidFill>
              </a:rPr>
              <a:t>Interfaces for human and system interaction:</a:t>
            </a:r>
          </a:p>
          <a:p>
            <a:pPr marL="12700" marR="5080"/>
            <a:r>
              <a:rPr lang="en-US" sz="1250" kern="0" spc="-80" dirty="0">
                <a:solidFill>
                  <a:schemeClr val="accent2"/>
                </a:solidFill>
              </a:rPr>
              <a:t>Channels:</a:t>
            </a:r>
            <a:r>
              <a:rPr lang="en-US" sz="1250" kern="0" spc="-80" dirty="0">
                <a:solidFill>
                  <a:schemeClr val="accent6"/>
                </a:solidFill>
              </a:rPr>
              <a:t> Web portals, chatbots, mobile apps, voice assistants</a:t>
            </a:r>
          </a:p>
          <a:p>
            <a:pPr marL="12700" marR="5080"/>
            <a:r>
              <a:rPr lang="en-US" sz="1250" kern="0" spc="-80" dirty="0">
                <a:solidFill>
                  <a:schemeClr val="accent2"/>
                </a:solidFill>
              </a:rPr>
              <a:t>Human-in-the-loop consoles:</a:t>
            </a:r>
            <a:r>
              <a:rPr lang="en-US" sz="1250" kern="0" spc="-80" dirty="0">
                <a:solidFill>
                  <a:schemeClr val="accent6"/>
                </a:solidFill>
              </a:rPr>
              <a:t> Approval dashboards, exception management tools</a:t>
            </a:r>
          </a:p>
          <a:p>
            <a:pPr marL="12700" marR="5080"/>
            <a:r>
              <a:rPr lang="en-US" sz="1250" kern="0" spc="-80" dirty="0">
                <a:solidFill>
                  <a:schemeClr val="accent2"/>
                </a:solidFill>
              </a:rPr>
              <a:t>Process Monitoring UIs:</a:t>
            </a:r>
            <a:r>
              <a:rPr lang="en-US" sz="1250" kern="0" spc="-80" dirty="0">
                <a:solidFill>
                  <a:schemeClr val="accent6"/>
                </a:solidFill>
              </a:rPr>
              <a:t> Business KPI dashboards</a:t>
            </a:r>
          </a:p>
          <a:p>
            <a:pPr marL="12700" marR="5080"/>
            <a:r>
              <a:rPr lang="en-US" sz="1250" kern="0" spc="-80" dirty="0">
                <a:solidFill>
                  <a:schemeClr val="accent2"/>
                </a:solidFill>
              </a:rPr>
              <a:t>➡️ Tech examples:</a:t>
            </a:r>
            <a:r>
              <a:rPr lang="en-US" sz="1250" kern="0" spc="-80" dirty="0">
                <a:solidFill>
                  <a:schemeClr val="accent6"/>
                </a:solidFill>
              </a:rPr>
              <a:t> PowerApps, Appian, UiPath Apps, Microsoft Teams, ServiceNow</a:t>
            </a:r>
          </a:p>
          <a:p>
            <a:pPr marL="12700" marR="5080"/>
            <a:r>
              <a:rPr lang="en-US" sz="1250" kern="0" spc="-80" dirty="0">
                <a:solidFill>
                  <a:schemeClr val="accent2"/>
                </a:solidFill>
              </a:rPr>
              <a:t>B. Process Orchestration Layer</a:t>
            </a:r>
          </a:p>
          <a:p>
            <a:pPr marL="12700" marR="5080"/>
            <a:r>
              <a:rPr lang="en-US" sz="1250" kern="0" spc="-80" dirty="0">
                <a:solidFill>
                  <a:schemeClr val="accent2"/>
                </a:solidFill>
              </a:rPr>
              <a:t>Coordinates multi-bot and multi-system processes:</a:t>
            </a:r>
          </a:p>
          <a:p>
            <a:pPr marL="12700" marR="5080"/>
            <a:r>
              <a:rPr lang="en-US" sz="1250" kern="0" spc="-80" dirty="0">
                <a:solidFill>
                  <a:schemeClr val="accent2"/>
                </a:solidFill>
              </a:rPr>
              <a:t>Workflow Orchestrator:</a:t>
            </a:r>
            <a:r>
              <a:rPr lang="en-US" sz="1250" kern="0" spc="-80" dirty="0">
                <a:solidFill>
                  <a:schemeClr val="accent6"/>
                </a:solidFill>
              </a:rPr>
              <a:t> BPMN-driven orchestration (Camunda, Pega, Appian)</a:t>
            </a:r>
          </a:p>
          <a:p>
            <a:pPr marL="12700" marR="5080"/>
            <a:r>
              <a:rPr lang="en-US" sz="1250" kern="0" spc="-80" dirty="0">
                <a:solidFill>
                  <a:schemeClr val="accent2"/>
                </a:solidFill>
              </a:rPr>
              <a:t>Case Management:</a:t>
            </a:r>
            <a:r>
              <a:rPr lang="en-US" sz="1250" kern="0" spc="-80" dirty="0">
                <a:solidFill>
                  <a:schemeClr val="accent6"/>
                </a:solidFill>
              </a:rPr>
              <a:t> For exception handling</a:t>
            </a:r>
          </a:p>
          <a:p>
            <a:pPr marL="12700" marR="5080"/>
            <a:r>
              <a:rPr lang="en-US" sz="1250" kern="0" spc="-80" dirty="0">
                <a:solidFill>
                  <a:schemeClr val="accent2"/>
                </a:solidFill>
              </a:rPr>
              <a:t>Process Scheduler: </a:t>
            </a:r>
            <a:r>
              <a:rPr lang="en-US" sz="1250" kern="0" spc="-80" dirty="0">
                <a:solidFill>
                  <a:schemeClr val="accent6"/>
                </a:solidFill>
              </a:rPr>
              <a:t>Trigger automation jobs</a:t>
            </a:r>
          </a:p>
          <a:p>
            <a:pPr marL="12700" marR="5080"/>
            <a:r>
              <a:rPr lang="en-US" sz="1250" kern="0" spc="-80" dirty="0">
                <a:solidFill>
                  <a:schemeClr val="accent2"/>
                </a:solidFill>
              </a:rPr>
              <a:t>Integration Bus: </a:t>
            </a:r>
            <a:r>
              <a:rPr lang="en-US" sz="1250" kern="0" spc="-80" dirty="0">
                <a:solidFill>
                  <a:schemeClr val="accent6"/>
                </a:solidFill>
              </a:rPr>
              <a:t>API gateway or ESB for connecting systems</a:t>
            </a:r>
          </a:p>
          <a:p>
            <a:pPr marL="12700" marR="5080"/>
            <a:r>
              <a:rPr lang="en-US" sz="1250" kern="0" spc="-80" dirty="0">
                <a:solidFill>
                  <a:schemeClr val="accent2"/>
                </a:solidFill>
              </a:rPr>
              <a:t>➡️ Tech examples:</a:t>
            </a:r>
            <a:r>
              <a:rPr lang="en-US" sz="1250" kern="0" spc="-80" dirty="0">
                <a:solidFill>
                  <a:schemeClr val="accent6"/>
                </a:solidFill>
              </a:rPr>
              <a:t> Azure Logic Apps, MuleSoft, Apache Airflow, UiPath Orchestrator</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65918739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228F2-1873-6627-044A-14D473F558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0E26CC8-90CF-D2F4-2E3A-E48D44AFA12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AD4D84-1BCC-4F74-CB51-8AC8C5F219E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5570E1-8060-EF03-68FE-BD78DDCF1454}"/>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E2D38BE-D74F-EE92-E3A2-FA3D710B9757}"/>
              </a:ext>
            </a:extLst>
          </p:cNvPr>
          <p:cNvSpPr txBox="1">
            <a:spLocks/>
          </p:cNvSpPr>
          <p:nvPr/>
        </p:nvSpPr>
        <p:spPr>
          <a:xfrm>
            <a:off x="76200" y="87320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C. Automation Layer (Execution)</a:t>
            </a:r>
          </a:p>
          <a:p>
            <a:pPr marL="12700" marR="5080"/>
            <a:r>
              <a:rPr lang="en-US" sz="1400" kern="0" spc="-80" dirty="0">
                <a:solidFill>
                  <a:schemeClr val="accent2"/>
                </a:solidFill>
              </a:rPr>
              <a:t>Implements rule-based automation:</a:t>
            </a:r>
          </a:p>
          <a:p>
            <a:pPr marL="12700" marR="5080"/>
            <a:r>
              <a:rPr lang="en-US" sz="1400" kern="0" spc="-80" dirty="0">
                <a:solidFill>
                  <a:schemeClr val="accent2"/>
                </a:solidFill>
              </a:rPr>
              <a:t>RPA Bots:</a:t>
            </a:r>
            <a:r>
              <a:rPr lang="en-US" sz="1400" kern="0" spc="-80" dirty="0">
                <a:solidFill>
                  <a:schemeClr val="accent6"/>
                </a:solidFill>
              </a:rPr>
              <a:t> Task automation for structured data</a:t>
            </a:r>
          </a:p>
          <a:p>
            <a:pPr marL="12700" marR="5080"/>
            <a:r>
              <a:rPr lang="en-US" sz="1400" kern="0" spc="-80" dirty="0">
                <a:solidFill>
                  <a:schemeClr val="accent2"/>
                </a:solidFill>
              </a:rPr>
              <a:t>Attended / Unattended Bots: </a:t>
            </a:r>
            <a:r>
              <a:rPr lang="en-US" sz="1400" kern="0" spc="-80" dirty="0">
                <a:solidFill>
                  <a:schemeClr val="accent6"/>
                </a:solidFill>
              </a:rPr>
              <a:t>User-triggered or fully automated</a:t>
            </a:r>
          </a:p>
          <a:p>
            <a:pPr marL="12700" marR="5080"/>
            <a:r>
              <a:rPr lang="en-US" sz="1400" kern="0" spc="-80" dirty="0">
                <a:solidFill>
                  <a:schemeClr val="accent2"/>
                </a:solidFill>
              </a:rPr>
              <a:t>Bot Management: </a:t>
            </a:r>
            <a:r>
              <a:rPr lang="en-US" sz="1400" kern="0" spc="-80" dirty="0">
                <a:solidFill>
                  <a:schemeClr val="accent6"/>
                </a:solidFill>
              </a:rPr>
              <a:t>Provisioning, credential handling, lifecycle management</a:t>
            </a:r>
          </a:p>
          <a:p>
            <a:pPr marL="12700" marR="5080"/>
            <a:r>
              <a:rPr lang="en-US" sz="1400" kern="0" spc="-80" dirty="0">
                <a:solidFill>
                  <a:schemeClr val="accent2"/>
                </a:solidFill>
              </a:rPr>
              <a:t>➡️ Tech examples:</a:t>
            </a:r>
            <a:r>
              <a:rPr lang="en-US" sz="1400" kern="0" spc="-80" dirty="0">
                <a:solidFill>
                  <a:schemeClr val="accent6"/>
                </a:solidFill>
              </a:rPr>
              <a:t> UiPath, Blue Prism, Automation Anywhere, Power Automate</a:t>
            </a:r>
          </a:p>
          <a:p>
            <a:pPr marL="12700" marR="5080"/>
            <a:r>
              <a:rPr lang="en-US" sz="1400" kern="0" spc="-80" dirty="0">
                <a:solidFill>
                  <a:schemeClr val="accent2"/>
                </a:solidFill>
              </a:rPr>
              <a:t>D. Cognitive Intelligence Layer</a:t>
            </a:r>
          </a:p>
          <a:p>
            <a:pPr marL="12700" marR="5080"/>
            <a:r>
              <a:rPr lang="en-US" sz="1400" kern="0" spc="-80" dirty="0">
                <a:solidFill>
                  <a:schemeClr val="accent2"/>
                </a:solidFill>
              </a:rPr>
              <a:t>Infuses AI and ML into automation:</a:t>
            </a:r>
          </a:p>
          <a:p>
            <a:pPr marL="12700" marR="5080"/>
            <a:r>
              <a:rPr lang="en-US" sz="1400" kern="0" spc="-80" dirty="0">
                <a:solidFill>
                  <a:schemeClr val="accent2"/>
                </a:solidFill>
              </a:rPr>
              <a:t>Computer Vision: </a:t>
            </a:r>
            <a:r>
              <a:rPr lang="en-US" sz="1400" kern="0" spc="-80" dirty="0">
                <a:solidFill>
                  <a:schemeClr val="accent6"/>
                </a:solidFill>
              </a:rPr>
              <a:t>Screen understanding, document classification</a:t>
            </a:r>
          </a:p>
          <a:p>
            <a:pPr marL="12700" marR="5080"/>
            <a:r>
              <a:rPr lang="en-US" sz="1400" kern="0" spc="-80" dirty="0">
                <a:solidFill>
                  <a:schemeClr val="accent2"/>
                </a:solidFill>
              </a:rPr>
              <a:t>NLP &amp; NLU: </a:t>
            </a:r>
            <a:r>
              <a:rPr lang="en-US" sz="1400" kern="0" spc="-80" dirty="0">
                <a:solidFill>
                  <a:schemeClr val="accent6"/>
                </a:solidFill>
              </a:rPr>
              <a:t>Text understanding, chatbots, sentiment analysis</a:t>
            </a:r>
          </a:p>
          <a:p>
            <a:pPr marL="12700" marR="5080"/>
            <a:r>
              <a:rPr lang="en-US" sz="1400" kern="0" spc="-80" dirty="0">
                <a:solidFill>
                  <a:schemeClr val="accent2"/>
                </a:solidFill>
              </a:rPr>
              <a:t>Predictive Analytics: </a:t>
            </a:r>
            <a:r>
              <a:rPr lang="en-US" sz="1400" kern="0" spc="-80" dirty="0">
                <a:solidFill>
                  <a:schemeClr val="accent6"/>
                </a:solidFill>
              </a:rPr>
              <a:t>Demand forecasting, anomaly detection</a:t>
            </a:r>
          </a:p>
          <a:p>
            <a:pPr marL="12700" marR="5080"/>
            <a:r>
              <a:rPr lang="en-US" sz="1400" kern="0" spc="-80" dirty="0">
                <a:solidFill>
                  <a:schemeClr val="accent2"/>
                </a:solidFill>
              </a:rPr>
              <a:t>Machine Learning Models: </a:t>
            </a:r>
            <a:r>
              <a:rPr lang="en-US" sz="1400" kern="0" spc="-80" dirty="0">
                <a:solidFill>
                  <a:schemeClr val="accent6"/>
                </a:solidFill>
              </a:rPr>
              <a:t>Continuous learning and adaptation</a:t>
            </a:r>
          </a:p>
          <a:p>
            <a:pPr marL="12700" marR="5080"/>
            <a:r>
              <a:rPr lang="en-US" sz="1400" kern="0" spc="-80" dirty="0">
                <a:solidFill>
                  <a:schemeClr val="accent2"/>
                </a:solidFill>
              </a:rPr>
              <a:t>➡️ Tech examples: </a:t>
            </a:r>
            <a:r>
              <a:rPr lang="en-US" sz="1400" kern="0" spc="-80" dirty="0">
                <a:solidFill>
                  <a:schemeClr val="accent6"/>
                </a:solidFill>
              </a:rPr>
              <a:t>Azure Cognitive Services, OpenAI GPT models, TensorFlow, AWS AI Services</a:t>
            </a:r>
          </a:p>
          <a:p>
            <a:pPr marL="12700" marR="5080"/>
            <a:r>
              <a:rPr lang="en-US" sz="1400" kern="0" spc="-80" dirty="0">
                <a:solidFill>
                  <a:schemeClr val="accent2"/>
                </a:solidFill>
              </a:rPr>
              <a:t>E. Data &amp; Insights Layer</a:t>
            </a:r>
          </a:p>
          <a:p>
            <a:pPr marL="12700" marR="5080"/>
            <a:r>
              <a:rPr lang="en-US" sz="1400" kern="0" spc="-80" dirty="0">
                <a:solidFill>
                  <a:schemeClr val="accent2"/>
                </a:solidFill>
              </a:rPr>
              <a:t>Provides data foundation for decisions:</a:t>
            </a:r>
          </a:p>
          <a:p>
            <a:pPr marL="12700" marR="5080"/>
            <a:r>
              <a:rPr lang="en-US" sz="1400" kern="0" spc="-80" dirty="0">
                <a:solidFill>
                  <a:schemeClr val="accent2"/>
                </a:solidFill>
              </a:rPr>
              <a:t>Data Ingestion: </a:t>
            </a:r>
            <a:r>
              <a:rPr lang="en-US" sz="1400" kern="0" spc="-80" dirty="0">
                <a:solidFill>
                  <a:schemeClr val="accent6"/>
                </a:solidFill>
              </a:rPr>
              <a:t>APIs, data streams, RPA-based extraction</a:t>
            </a:r>
          </a:p>
          <a:p>
            <a:pPr marL="12700" marR="5080"/>
            <a:r>
              <a:rPr lang="en-US" sz="1400" kern="0" spc="-80" dirty="0">
                <a:solidFill>
                  <a:schemeClr val="accent2"/>
                </a:solidFill>
              </a:rPr>
              <a:t>Data Storage: </a:t>
            </a:r>
            <a:r>
              <a:rPr lang="en-US" sz="1400" kern="0" spc="-80" dirty="0">
                <a:solidFill>
                  <a:schemeClr val="accent6"/>
                </a:solidFill>
              </a:rPr>
              <a:t>Data lake, data warehouse</a:t>
            </a:r>
          </a:p>
          <a:p>
            <a:pPr marL="12700" marR="5080"/>
            <a:r>
              <a:rPr lang="en-US" sz="1400" kern="0" spc="-80" dirty="0">
                <a:solidFill>
                  <a:schemeClr val="accent2"/>
                </a:solidFill>
              </a:rPr>
              <a:t>Analytics &amp; BI:</a:t>
            </a:r>
            <a:r>
              <a:rPr lang="en-US" sz="1400" kern="0" spc="-80" dirty="0">
                <a:solidFill>
                  <a:schemeClr val="accent6"/>
                </a:solidFill>
              </a:rPr>
              <a:t> Reports, KPIs, dashboards</a:t>
            </a:r>
          </a:p>
          <a:p>
            <a:pPr marL="12700" marR="5080"/>
            <a:r>
              <a:rPr lang="en-US" sz="1400" kern="0" spc="-80" dirty="0">
                <a:solidFill>
                  <a:schemeClr val="accent2"/>
                </a:solidFill>
              </a:rPr>
              <a:t>Feedback Loops: </a:t>
            </a:r>
            <a:r>
              <a:rPr lang="en-US" sz="1400" kern="0" spc="-80" dirty="0">
                <a:solidFill>
                  <a:schemeClr val="accent6"/>
                </a:solidFill>
              </a:rPr>
              <a:t>For ML model retraining and performance tuning</a:t>
            </a:r>
          </a:p>
          <a:p>
            <a:pPr marL="12700" marR="5080"/>
            <a:r>
              <a:rPr lang="en-US" sz="1400" kern="0" spc="-80" dirty="0">
                <a:solidFill>
                  <a:schemeClr val="accent2"/>
                </a:solidFill>
              </a:rPr>
              <a:t>➡️ Tech examples: </a:t>
            </a:r>
            <a:r>
              <a:rPr lang="en-US" sz="1400" kern="0" spc="-80" dirty="0">
                <a:solidFill>
                  <a:schemeClr val="accent6"/>
                </a:solidFill>
              </a:rPr>
              <a:t>Azure Synapse, Snowflake, Power BI, Databricks, </a:t>
            </a:r>
            <a:r>
              <a:rPr lang="en-US" sz="1400" kern="0" spc="-80" dirty="0" err="1">
                <a:solidFill>
                  <a:schemeClr val="accent6"/>
                </a:solidFill>
              </a:rPr>
              <a:t>ElasticSearch</a:t>
            </a:r>
            <a:endParaRPr lang="en-US" sz="1400" kern="0" spc="-80" dirty="0">
              <a:solidFill>
                <a:schemeClr val="accent6"/>
              </a:solidFill>
            </a:endParaRPr>
          </a:p>
        </p:txBody>
      </p:sp>
    </p:spTree>
    <p:extLst>
      <p:ext uri="{BB962C8B-B14F-4D97-AF65-F5344CB8AC3E}">
        <p14:creationId xmlns:p14="http://schemas.microsoft.com/office/powerpoint/2010/main" val="173215015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2BA4-02B1-3229-1469-B319E73DC09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6917EF-A181-9257-C208-E7B094271E2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A65829-4A24-23DB-1667-C9F2B16F7F3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55AC78-6DBB-1DC4-D5C7-2ECD0E51D548}"/>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2EE5A36-BDEC-3C4E-E5D1-513E0B35CF17}"/>
              </a:ext>
            </a:extLst>
          </p:cNvPr>
          <p:cNvSpPr txBox="1">
            <a:spLocks/>
          </p:cNvSpPr>
          <p:nvPr/>
        </p:nvSpPr>
        <p:spPr>
          <a:xfrm>
            <a:off x="76200" y="873204"/>
            <a:ext cx="8624937"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500" kern="0" spc="-80" dirty="0">
                <a:solidFill>
                  <a:schemeClr val="accent2"/>
                </a:solidFill>
              </a:rPr>
              <a:t>F. Governance, Security &amp; Compliance Layer</a:t>
            </a:r>
          </a:p>
          <a:p>
            <a:pPr marL="12700" marR="5080"/>
            <a:r>
              <a:rPr lang="en-US" sz="1500" kern="0" spc="-80" dirty="0">
                <a:solidFill>
                  <a:schemeClr val="accent2"/>
                </a:solidFill>
              </a:rPr>
              <a:t>Cross-cutting layer ensuring safe, compliant operations:</a:t>
            </a:r>
          </a:p>
          <a:p>
            <a:pPr marL="12700" marR="5080"/>
            <a:r>
              <a:rPr lang="en-US" sz="1500" kern="0" spc="-80" dirty="0">
                <a:solidFill>
                  <a:schemeClr val="accent2"/>
                </a:solidFill>
              </a:rPr>
              <a:t>Bot Governance: </a:t>
            </a:r>
            <a:r>
              <a:rPr lang="en-US" sz="1500" kern="0" spc="-80" dirty="0">
                <a:solidFill>
                  <a:schemeClr val="accent6"/>
                </a:solidFill>
              </a:rPr>
              <a:t>Version control, audit trails, access management</a:t>
            </a:r>
          </a:p>
          <a:p>
            <a:pPr marL="12700" marR="5080"/>
            <a:r>
              <a:rPr lang="en-US" sz="1500" kern="0" spc="-80" dirty="0">
                <a:solidFill>
                  <a:schemeClr val="accent2"/>
                </a:solidFill>
              </a:rPr>
              <a:t>Security: </a:t>
            </a:r>
            <a:r>
              <a:rPr lang="en-US" sz="1500" kern="0" spc="-80" dirty="0">
                <a:solidFill>
                  <a:schemeClr val="accent6"/>
                </a:solidFill>
              </a:rPr>
              <a:t>Role-based access, secrets management</a:t>
            </a:r>
          </a:p>
          <a:p>
            <a:pPr marL="12700" marR="5080"/>
            <a:r>
              <a:rPr lang="en-US" sz="1500" kern="0" spc="-80" dirty="0">
                <a:solidFill>
                  <a:schemeClr val="accent2"/>
                </a:solidFill>
              </a:rPr>
              <a:t>Compliance: </a:t>
            </a:r>
            <a:r>
              <a:rPr lang="en-US" sz="1500" kern="0" spc="-80" dirty="0">
                <a:solidFill>
                  <a:schemeClr val="accent6"/>
                </a:solidFill>
              </a:rPr>
              <a:t>GDPR, SOX, HIPAA, internal policies</a:t>
            </a:r>
          </a:p>
          <a:p>
            <a:pPr marL="12700" marR="5080"/>
            <a:r>
              <a:rPr lang="en-US" sz="1500" kern="0" spc="-80" dirty="0">
                <a:solidFill>
                  <a:schemeClr val="accent2"/>
                </a:solidFill>
              </a:rPr>
              <a:t>Monitoring &amp; Logging: </a:t>
            </a:r>
            <a:r>
              <a:rPr lang="en-US" sz="1500" kern="0" spc="-80" dirty="0">
                <a:solidFill>
                  <a:schemeClr val="accent6"/>
                </a:solidFill>
              </a:rPr>
              <a:t>End-to-end observability for process health</a:t>
            </a:r>
          </a:p>
          <a:p>
            <a:pPr marL="12700" marR="5080"/>
            <a:r>
              <a:rPr lang="en-US" sz="1500" kern="0" spc="-80" dirty="0">
                <a:solidFill>
                  <a:schemeClr val="accent2"/>
                </a:solidFill>
              </a:rPr>
              <a:t>➡️ Tech examples: </a:t>
            </a:r>
            <a:r>
              <a:rPr lang="en-US" sz="1500" kern="0" spc="-80" dirty="0">
                <a:solidFill>
                  <a:schemeClr val="accent6"/>
                </a:solidFill>
              </a:rPr>
              <a:t>Azure Key Vault, Splunk, ELK, ServiceNow GRC, CyberArk</a:t>
            </a:r>
          </a:p>
          <a:p>
            <a:pPr marL="12700" marR="5080"/>
            <a:r>
              <a:rPr lang="en-US" sz="1500" kern="0" spc="-80" dirty="0">
                <a:solidFill>
                  <a:schemeClr val="accent2"/>
                </a:solidFill>
              </a:rPr>
              <a:t>G. Infrastructure &amp; Platform Layer</a:t>
            </a:r>
          </a:p>
          <a:p>
            <a:pPr marL="12700" marR="5080"/>
            <a:r>
              <a:rPr lang="en-US" sz="1500" kern="0" spc="-80" dirty="0">
                <a:solidFill>
                  <a:schemeClr val="accent2"/>
                </a:solidFill>
              </a:rPr>
              <a:t>Scalable, cloud-native foundation:</a:t>
            </a:r>
          </a:p>
          <a:p>
            <a:pPr marL="12700" marR="5080"/>
            <a:r>
              <a:rPr lang="en-US" sz="1500" kern="0" spc="-80" dirty="0">
                <a:solidFill>
                  <a:schemeClr val="accent2"/>
                </a:solidFill>
              </a:rPr>
              <a:t>Deployment Models: </a:t>
            </a:r>
            <a:r>
              <a:rPr lang="en-US" sz="1500" kern="0" spc="-80" dirty="0">
                <a:solidFill>
                  <a:schemeClr val="accent6"/>
                </a:solidFill>
              </a:rPr>
              <a:t>On-premises / Cloud / Hybrid / Edge</a:t>
            </a:r>
          </a:p>
          <a:p>
            <a:pPr marL="12700" marR="5080"/>
            <a:r>
              <a:rPr lang="en-US" sz="1500" kern="0" spc="-80" dirty="0">
                <a:solidFill>
                  <a:schemeClr val="accent2"/>
                </a:solidFill>
              </a:rPr>
              <a:t>Container Orchestration: </a:t>
            </a:r>
            <a:r>
              <a:rPr lang="en-US" sz="1500" kern="0" spc="-80" dirty="0">
                <a:solidFill>
                  <a:schemeClr val="accent6"/>
                </a:solidFill>
              </a:rPr>
              <a:t>Kubernetes-based (AKS, EKS, GKE)</a:t>
            </a:r>
          </a:p>
          <a:p>
            <a:pPr marL="12700" marR="5080"/>
            <a:r>
              <a:rPr lang="en-US" sz="1500" kern="0" spc="-80" dirty="0">
                <a:solidFill>
                  <a:schemeClr val="accent2"/>
                </a:solidFill>
              </a:rPr>
              <a:t>CI/CD for Bots: </a:t>
            </a:r>
            <a:r>
              <a:rPr lang="en-US" sz="1500" kern="0" spc="-80" dirty="0">
                <a:solidFill>
                  <a:schemeClr val="accent6"/>
                </a:solidFill>
              </a:rPr>
              <a:t>Automated build and deployment pipelines</a:t>
            </a:r>
          </a:p>
          <a:p>
            <a:pPr marL="12700" marR="5080"/>
            <a:r>
              <a:rPr lang="en-US" sz="1500" kern="0" spc="-80" dirty="0">
                <a:solidFill>
                  <a:schemeClr val="accent2"/>
                </a:solidFill>
              </a:rPr>
              <a:t>Autoscaling: </a:t>
            </a:r>
            <a:r>
              <a:rPr lang="en-US" sz="1500" kern="0" spc="-80" dirty="0">
                <a:solidFill>
                  <a:schemeClr val="accent6"/>
                </a:solidFill>
              </a:rPr>
              <a:t>KEDA, Event-driven scaling</a:t>
            </a:r>
          </a:p>
          <a:p>
            <a:pPr marL="12700" marR="5080"/>
            <a:r>
              <a:rPr lang="en-US" sz="1500" kern="0" spc="-80" dirty="0">
                <a:solidFill>
                  <a:schemeClr val="accent2"/>
                </a:solidFill>
              </a:rPr>
              <a:t>Disaster Recovery &amp; HA: </a:t>
            </a:r>
            <a:r>
              <a:rPr lang="en-US" sz="1500" kern="0" spc="-80" dirty="0">
                <a:solidFill>
                  <a:schemeClr val="accent6"/>
                </a:solidFill>
              </a:rPr>
              <a:t>Geo-redundancy and failover</a:t>
            </a:r>
          </a:p>
          <a:p>
            <a:pPr marL="12700" marR="5080"/>
            <a:r>
              <a:rPr lang="en-US" sz="1500" kern="0" spc="-80" dirty="0">
                <a:solidFill>
                  <a:schemeClr val="accent2"/>
                </a:solidFill>
              </a:rPr>
              <a:t>➡️ Tech examples: </a:t>
            </a:r>
            <a:r>
              <a:rPr lang="en-US" sz="1500" kern="0" spc="-80" dirty="0">
                <a:solidFill>
                  <a:schemeClr val="accent6"/>
                </a:solidFill>
              </a:rPr>
              <a:t>Azure Kubernetes Service (AKS), Docker, GitHub Actions, Terraform</a:t>
            </a:r>
          </a:p>
          <a:p>
            <a:pPr marL="12700" marR="5080"/>
            <a:r>
              <a:rPr lang="en-US" sz="1500" kern="0" spc="-80" dirty="0">
                <a:solidFill>
                  <a:schemeClr val="accent2"/>
                </a:solidFill>
              </a:rPr>
              <a:t>⚙️ 3. Integration Architecture</a:t>
            </a:r>
          </a:p>
          <a:p>
            <a:pPr marL="12700" marR="5080"/>
            <a:r>
              <a:rPr lang="en-US" sz="1500" kern="0" spc="-80" dirty="0">
                <a:solidFill>
                  <a:schemeClr val="accent2"/>
                </a:solidFill>
              </a:rPr>
              <a:t>APIs / Webhooks: </a:t>
            </a:r>
            <a:r>
              <a:rPr lang="en-US" sz="1500" kern="0" spc="-80" dirty="0">
                <a:solidFill>
                  <a:schemeClr val="accent6"/>
                </a:solidFill>
              </a:rPr>
              <a:t>To connect with ERP, CRM, HRMS, etc.</a:t>
            </a:r>
          </a:p>
          <a:p>
            <a:pPr marL="12700" marR="5080"/>
            <a:r>
              <a:rPr lang="en-US" sz="1500" kern="0" spc="-80" dirty="0">
                <a:solidFill>
                  <a:schemeClr val="accent2"/>
                </a:solidFill>
              </a:rPr>
              <a:t>Event Bus / Message Queue: </a:t>
            </a:r>
            <a:r>
              <a:rPr lang="en-US" sz="1500" kern="0" spc="-80" dirty="0">
                <a:solidFill>
                  <a:schemeClr val="accent6"/>
                </a:solidFill>
              </a:rPr>
              <a:t>Kafka, Azure Service Bus, RabbitMQ</a:t>
            </a:r>
          </a:p>
          <a:p>
            <a:pPr marL="12700" marR="5080"/>
            <a:r>
              <a:rPr lang="en-US" sz="1500" kern="0" spc="-80" dirty="0">
                <a:solidFill>
                  <a:schemeClr val="accent2"/>
                </a:solidFill>
              </a:rPr>
              <a:t>Data Integration Layer:</a:t>
            </a:r>
            <a:r>
              <a:rPr lang="en-US" sz="1500" kern="0" spc="-80" dirty="0">
                <a:solidFill>
                  <a:schemeClr val="accent6"/>
                </a:solidFill>
              </a:rPr>
              <a:t> ETL/ELT pipelines for analytics</a:t>
            </a:r>
          </a:p>
        </p:txBody>
      </p:sp>
    </p:spTree>
    <p:extLst>
      <p:ext uri="{BB962C8B-B14F-4D97-AF65-F5344CB8AC3E}">
        <p14:creationId xmlns:p14="http://schemas.microsoft.com/office/powerpoint/2010/main" val="237563588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CAD70-AF0D-4A84-3E0F-D844BE3896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2CCCDF4-7BB9-79B4-0920-9A32E31428F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4094DDD-E36F-C1E1-4782-857602E446BF}"/>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87F4189-D10F-A83E-D637-BC5582DF4F0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A2BBFB7-B6C8-C1FF-1401-214A4C8453F0}"/>
              </a:ext>
            </a:extLst>
          </p:cNvPr>
          <p:cNvSpPr txBox="1">
            <a:spLocks/>
          </p:cNvSpPr>
          <p:nvPr/>
        </p:nvSpPr>
        <p:spPr>
          <a:xfrm>
            <a:off x="76200" y="873204"/>
            <a:ext cx="8624937" cy="11695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 4. Advanced Capabilities</a:t>
            </a:r>
          </a:p>
          <a:p>
            <a:pPr marL="12700" marR="5080"/>
            <a:endParaRPr lang="en-US" sz="1400" kern="0" spc="-80" dirty="0">
              <a:solidFill>
                <a:schemeClr val="accent2"/>
              </a:solidFill>
            </a:endParaRPr>
          </a:p>
        </p:txBody>
      </p:sp>
      <p:pic>
        <p:nvPicPr>
          <p:cNvPr id="9" name="Picture 8" descr="A screenshot of a computer screen&#10;&#10;AI-generated content may be incorrect.">
            <a:extLst>
              <a:ext uri="{FF2B5EF4-FFF2-40B4-BE49-F238E27FC236}">
                <a16:creationId xmlns:a16="http://schemas.microsoft.com/office/drawing/2014/main" id="{BA21D5CB-E1A1-077C-15B6-B1742D2A52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812865"/>
            <a:ext cx="8991600" cy="4130735"/>
          </a:xfrm>
          <a:prstGeom prst="rect">
            <a:avLst/>
          </a:prstGeom>
        </p:spPr>
      </p:pic>
    </p:spTree>
    <p:extLst>
      <p:ext uri="{BB962C8B-B14F-4D97-AF65-F5344CB8AC3E}">
        <p14:creationId xmlns:p14="http://schemas.microsoft.com/office/powerpoint/2010/main" val="420516238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F0293-8982-4EE4-7A04-42198960D1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A815CE-A6D9-F1C3-3792-C69ABB8C663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9EA1A1-FE3B-7286-F7C7-52090EF4174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E629AA-BA13-A14C-C0FB-19A8DAB7E93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15A5BD-69E8-3106-3238-1769A912AADE}"/>
              </a:ext>
            </a:extLst>
          </p:cNvPr>
          <p:cNvSpPr txBox="1">
            <a:spLocks/>
          </p:cNvSpPr>
          <p:nvPr/>
        </p:nvSpPr>
        <p:spPr>
          <a:xfrm>
            <a:off x="76200" y="873204"/>
            <a:ext cx="8624937" cy="39087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 5. Maturity Stages of IA Architecture</a:t>
            </a:r>
          </a:p>
          <a:p>
            <a:pPr marL="12700" marR="5080"/>
            <a:r>
              <a:rPr lang="en-US" sz="1400" kern="0" spc="-80" dirty="0">
                <a:solidFill>
                  <a:schemeClr val="accent2"/>
                </a:solidFill>
              </a:rPr>
              <a:t>Stage	                                       Description	                             Focus</a:t>
            </a:r>
          </a:p>
          <a:p>
            <a:pPr marL="12700" marR="5080"/>
            <a:r>
              <a:rPr lang="en-US" sz="1400" kern="0" spc="-80" dirty="0">
                <a:solidFill>
                  <a:schemeClr val="accent6"/>
                </a:solidFill>
              </a:rPr>
              <a:t>1️⃣ Basic Automation                      Scripted bots	                             Task automation</a:t>
            </a:r>
          </a:p>
          <a:p>
            <a:pPr marL="12700" marR="5080"/>
            <a:r>
              <a:rPr lang="en-US" sz="1400" kern="0" spc="-80" dirty="0">
                <a:solidFill>
                  <a:schemeClr val="accent6"/>
                </a:solidFill>
              </a:rPr>
              <a:t>2️⃣ Process Automation	Workflow orchestration	          End-to-end automation</a:t>
            </a:r>
          </a:p>
          <a:p>
            <a:pPr marL="12700" marR="5080"/>
            <a:r>
              <a:rPr lang="en-US" sz="1400" kern="0" spc="-80" dirty="0">
                <a:solidFill>
                  <a:schemeClr val="accent6"/>
                </a:solidFill>
              </a:rPr>
              <a:t>3️⃣ Cognitive Automation	AI + RPA	                                                 Intelligent decisioning</a:t>
            </a:r>
          </a:p>
          <a:p>
            <a:pPr marL="12700" marR="5080"/>
            <a:r>
              <a:rPr lang="en-US" sz="1400" kern="0" spc="-80" dirty="0">
                <a:solidFill>
                  <a:schemeClr val="accent6"/>
                </a:solidFill>
              </a:rPr>
              <a:t>4️⃣ Autonomous Enterprise	Adaptive, self-learning automation        AI-driven orchestration</a:t>
            </a:r>
          </a:p>
          <a:p>
            <a:pPr marL="12700" marR="5080"/>
            <a:endParaRPr lang="en-US" sz="1400" kern="0" spc="-80" dirty="0">
              <a:solidFill>
                <a:schemeClr val="accent6"/>
              </a:solidFill>
            </a:endParaRPr>
          </a:p>
          <a:p>
            <a:pPr marL="12700" marR="5080"/>
            <a:r>
              <a:rPr lang="en-US" sz="1400" kern="0" spc="-80" dirty="0">
                <a:solidFill>
                  <a:schemeClr val="accent2"/>
                </a:solidFill>
              </a:rPr>
              <a:t>🧩 6. Example Technology Stack (Azure-centric)</a:t>
            </a:r>
          </a:p>
          <a:p>
            <a:pPr marL="12700" marR="5080"/>
            <a:r>
              <a:rPr lang="en-US" sz="1400" kern="0" spc="-80" dirty="0">
                <a:solidFill>
                  <a:schemeClr val="accent2"/>
                </a:solidFill>
              </a:rPr>
              <a:t>Layer Example                                 Technologies</a:t>
            </a:r>
          </a:p>
          <a:p>
            <a:pPr marL="12700" marR="5080"/>
            <a:r>
              <a:rPr lang="en-US" sz="1400" kern="0" spc="-80" dirty="0">
                <a:solidFill>
                  <a:schemeClr val="accent6"/>
                </a:solidFill>
              </a:rPr>
              <a:t>UI / HITL	                                       PowerApps, Power Virtual Agents</a:t>
            </a:r>
          </a:p>
          <a:p>
            <a:pPr marL="12700" marR="5080"/>
            <a:r>
              <a:rPr lang="en-US" sz="1400" kern="0" spc="-80" dirty="0">
                <a:solidFill>
                  <a:schemeClr val="accent6"/>
                </a:solidFill>
              </a:rPr>
              <a:t>Orchestration	                    Azure Logic Apps, Power Automate</a:t>
            </a:r>
          </a:p>
          <a:p>
            <a:pPr marL="12700" marR="5080"/>
            <a:r>
              <a:rPr lang="en-US" sz="1400" kern="0" spc="-80" dirty="0">
                <a:solidFill>
                  <a:schemeClr val="accent6"/>
                </a:solidFill>
              </a:rPr>
              <a:t>RPA	                                       UiPath, Power Automate Desktop</a:t>
            </a:r>
          </a:p>
          <a:p>
            <a:pPr marL="12700" marR="5080"/>
            <a:r>
              <a:rPr lang="en-US" sz="1400" kern="0" spc="-80" dirty="0">
                <a:solidFill>
                  <a:schemeClr val="accent6"/>
                </a:solidFill>
              </a:rPr>
              <a:t>Cognitive AI	                    Azure OpenAI, Cognitive Services </a:t>
            </a:r>
          </a:p>
          <a:p>
            <a:pPr marL="12700" marR="5080"/>
            <a:r>
              <a:rPr lang="en-US" sz="2400" kern="0" spc="-80" dirty="0">
                <a:solidFill>
                  <a:schemeClr val="accent2"/>
                </a:solidFill>
              </a:rPr>
              <a:t>  </a:t>
            </a:r>
          </a:p>
        </p:txBody>
      </p:sp>
    </p:spTree>
    <p:extLst>
      <p:ext uri="{BB962C8B-B14F-4D97-AF65-F5344CB8AC3E}">
        <p14:creationId xmlns:p14="http://schemas.microsoft.com/office/powerpoint/2010/main" val="388805672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297C-2163-831E-7DB3-944B191C4E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9C6CA8-6D2D-8E0C-C489-AE30A4C4BA9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92D1AA-C31D-D472-24D2-B644E28A22C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C8CA34-5230-8112-61AC-6A304C3AD96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18DF39F-B57E-C1F6-97BC-73FB0B8C2635}"/>
              </a:ext>
            </a:extLst>
          </p:cNvPr>
          <p:cNvSpPr txBox="1">
            <a:spLocks/>
          </p:cNvSpPr>
          <p:nvPr/>
        </p:nvSpPr>
        <p:spPr>
          <a:xfrm>
            <a:off x="76200" y="873204"/>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800" kern="0" spc="-80" dirty="0">
                <a:solidFill>
                  <a:schemeClr val="accent2"/>
                </a:solidFill>
              </a:rPr>
              <a:t>For Further Exploration – </a:t>
            </a:r>
          </a:p>
          <a:p>
            <a:pPr marL="12700" marR="5080"/>
            <a:r>
              <a:rPr lang="en-US" sz="1800" dirty="0">
                <a:hlinkClick r:id="rId7"/>
              </a:rPr>
              <a:t>What is Intelligent Automation (IA)? A Guide</a:t>
            </a:r>
            <a:endParaRPr lang="en-US" sz="1800" dirty="0"/>
          </a:p>
          <a:p>
            <a:pPr marL="12700" marR="5080"/>
            <a:r>
              <a:rPr lang="en-US" sz="1800" dirty="0">
                <a:hlinkClick r:id="rId8"/>
              </a:rPr>
              <a:t>What is Intelligent Automation? | IBM</a:t>
            </a:r>
            <a:endParaRPr lang="en-US" sz="1800" dirty="0"/>
          </a:p>
          <a:p>
            <a:pPr marL="12700" marR="5080"/>
            <a:r>
              <a:rPr lang="en-IN" sz="1800" dirty="0">
                <a:hlinkClick r:id="rId9"/>
              </a:rPr>
              <a:t>An Introduction to Intelligent Automation | UiPath</a:t>
            </a:r>
            <a:endParaRPr lang="en-IN" sz="1800" dirty="0"/>
          </a:p>
          <a:p>
            <a:pPr marL="12700" marR="5080"/>
            <a:r>
              <a:rPr lang="en-US" sz="1800" dirty="0">
                <a:hlinkClick r:id="rId10"/>
              </a:rPr>
              <a:t>Building an Intelligent Automation Reference Architecture | ISG</a:t>
            </a:r>
            <a:endParaRPr lang="en-US" sz="1800" dirty="0"/>
          </a:p>
          <a:p>
            <a:pPr marL="12700" marR="5080"/>
            <a:r>
              <a:rPr lang="fr-FR" sz="1800" dirty="0">
                <a:hlinkClick r:id="rId11"/>
              </a:rPr>
              <a:t>Intelligent Automation: A Complete Guide | </a:t>
            </a:r>
            <a:r>
              <a:rPr lang="fr-FR" sz="1800" dirty="0" err="1">
                <a:hlinkClick r:id="rId11"/>
              </a:rPr>
              <a:t>Konverge</a:t>
            </a:r>
            <a:endParaRPr lang="en-IN" sz="1800" dirty="0">
              <a:hlinkClick r:id="rId12"/>
            </a:endParaRPr>
          </a:p>
          <a:p>
            <a:pPr marL="12700" marR="5080"/>
            <a:r>
              <a:rPr lang="en-US" sz="1800" dirty="0">
                <a:hlinkClick r:id="rId13"/>
              </a:rPr>
              <a:t>6 reference architecture designs for automation projects</a:t>
            </a:r>
            <a:endParaRPr lang="en-IN" sz="1800" dirty="0"/>
          </a:p>
          <a:p>
            <a:pPr marL="12700" marR="5080"/>
            <a:r>
              <a:rPr lang="en-US" sz="1800" dirty="0">
                <a:hlinkClick r:id="rId14"/>
              </a:rPr>
              <a:t>Power Automate reference architectures and solution ideas</a:t>
            </a:r>
            <a:endParaRPr lang="en-US" sz="1800" dirty="0"/>
          </a:p>
          <a:p>
            <a:pPr marL="12700" marR="5080"/>
            <a:r>
              <a:rPr lang="en-IN" sz="1800" dirty="0">
                <a:hlinkClick r:id="rId12"/>
              </a:rPr>
              <a:t>Intelligent Automation Book</a:t>
            </a:r>
            <a:endParaRPr lang="en-IN" sz="1800" dirty="0"/>
          </a:p>
          <a:p>
            <a:pPr marL="12700" marR="5080"/>
            <a:r>
              <a:rPr lang="en-IN" sz="1800" dirty="0">
                <a:hlinkClick r:id="rId15"/>
              </a:rPr>
              <a:t>Intelligent Automation with IBM Cloud Pak for Business Automation</a:t>
            </a:r>
            <a:endParaRPr lang="en-IN" sz="18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2478493101"/>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502D-62FC-1FEA-CB38-52C5A3E1A9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D3CAC6-8D49-A789-190F-6E3E70DFB71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BCE8AD-6BCE-D767-F48A-FED147E0853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54D32A-965F-1838-6ECF-0061F596C9D7}"/>
              </a:ext>
            </a:extLst>
          </p:cNvPr>
          <p:cNvGraphicFramePr/>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FCBEE8A-7736-A2BC-F781-2301C76FCA1A}"/>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Supply Chain Reference Architecture</a:t>
            </a:r>
          </a:p>
          <a:p>
            <a:pPr marL="12700" marR="5080"/>
            <a:r>
              <a:rPr lang="en-US" sz="2400" kern="0" spc="-80" dirty="0">
                <a:solidFill>
                  <a:schemeClr val="accent2"/>
                </a:solidFill>
              </a:rPr>
              <a:t>  </a:t>
            </a:r>
          </a:p>
        </p:txBody>
      </p:sp>
      <p:pic>
        <p:nvPicPr>
          <p:cNvPr id="3074" name="Picture 2" descr="Reference architecture diagram showing how AWS services are used to depict a track and trace use case for a generic retailer.">
            <a:extLst>
              <a:ext uri="{FF2B5EF4-FFF2-40B4-BE49-F238E27FC236}">
                <a16:creationId xmlns:a16="http://schemas.microsoft.com/office/drawing/2014/main" id="{1AEFCCAD-5E6E-2011-96F0-FD490810C6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9200"/>
            <a:ext cx="9144000" cy="372412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2EE66EF4-C9BB-BD9D-B96F-A5413B79E4C6}"/>
              </a:ext>
            </a:extLst>
          </p:cNvPr>
          <p:cNvSpPr txBox="1">
            <a:spLocks/>
          </p:cNvSpPr>
          <p:nvPr/>
        </p:nvSpPr>
        <p:spPr>
          <a:xfrm>
            <a:off x="137369" y="4943326"/>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US" sz="1000" dirty="0">
                <a:hlinkClick r:id="rId8"/>
              </a:rPr>
              <a:t>Enriching the supply chain business application | IBM Cloud Docs</a:t>
            </a:r>
            <a:endParaRPr lang="en-US" sz="1000" dirty="0"/>
          </a:p>
          <a:p>
            <a:pPr marL="12700" marR="5080"/>
            <a:r>
              <a:rPr lang="en-US" sz="1000" dirty="0">
                <a:hlinkClick r:id="rId9"/>
              </a:rPr>
              <a:t>Overview of Microsoft for Manufacturing reference architectures</a:t>
            </a:r>
            <a:endParaRPr lang="en-US" sz="1000" dirty="0"/>
          </a:p>
          <a:p>
            <a:pPr marL="12700" marR="5080"/>
            <a:r>
              <a:rPr lang="en-US" sz="1000" dirty="0">
                <a:hlinkClick r:id="rId10"/>
              </a:rPr>
              <a:t>Manufacturing Digital Supply Chain Reference Architecture | Databricks</a:t>
            </a:r>
            <a:endParaRPr lang="en-US" sz="1000" dirty="0"/>
          </a:p>
          <a:p>
            <a:pPr marL="12700" marR="5080"/>
            <a:r>
              <a:rPr lang="en-US" sz="1000" dirty="0">
                <a:hlinkClick r:id="rId11"/>
              </a:rPr>
              <a:t>What is the SCOR model? Supply chain management explained </a:t>
            </a:r>
            <a:endParaRPr lang="en-US" sz="1000" dirty="0"/>
          </a:p>
          <a:p>
            <a:pPr marL="12700" marR="5080"/>
            <a:r>
              <a:rPr lang="en-IN" sz="1000" dirty="0" err="1">
                <a:hlinkClick r:id="rId12"/>
              </a:rPr>
              <a:t>BlockChain</a:t>
            </a:r>
            <a:r>
              <a:rPr lang="en-IN" sz="1000" dirty="0">
                <a:hlinkClick r:id="rId12"/>
              </a:rPr>
              <a:t> Based Supply Chain Reference Architecture</a:t>
            </a:r>
            <a:endParaRPr lang="en-US" sz="1000" kern="0" spc="-80" dirty="0">
              <a:solidFill>
                <a:schemeClr val="accent2"/>
              </a:solidFill>
            </a:endParaRPr>
          </a:p>
        </p:txBody>
      </p:sp>
    </p:spTree>
    <p:extLst>
      <p:ext uri="{BB962C8B-B14F-4D97-AF65-F5344CB8AC3E}">
        <p14:creationId xmlns:p14="http://schemas.microsoft.com/office/powerpoint/2010/main" val="1116790689"/>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BFC2-8C76-11E4-1B9A-AFA21DA2CF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6B62F8-7FFE-B7CE-F1A3-25D4BD72D53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64D517-7934-6744-8446-15868DF30EFF}"/>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13CE39-7935-3222-3843-DE415C9A0F8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5718AFB-D982-2388-9230-9B9A3318A98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2400" kern="0" spc="-80" dirty="0">
                <a:solidFill>
                  <a:schemeClr val="accent2"/>
                </a:solidFill>
              </a:rPr>
              <a:t>  </a:t>
            </a:r>
          </a:p>
        </p:txBody>
      </p:sp>
      <p:pic>
        <p:nvPicPr>
          <p:cNvPr id="1026" name="Picture 2" descr="Components of CAD/CAM systems for designing the models and collections,">
            <a:extLst>
              <a:ext uri="{FF2B5EF4-FFF2-40B4-BE49-F238E27FC236}">
                <a16:creationId xmlns:a16="http://schemas.microsoft.com/office/drawing/2014/main" id="{D33B0602-C009-7E48-1299-AF87F0BEB2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295400"/>
            <a:ext cx="90678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391333"/>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BD23-0FE2-0842-B33B-9291F581B2C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2E0D46-AE6B-4B03-F424-FB2D4C7F10A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0AF6B03-43B9-BAB7-A63C-0D5328AF280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0C902C-4885-0A2C-B1DC-14CA7B8789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280CAEB-09A6-A8FD-534E-EF46F2AB1FC6}"/>
              </a:ext>
            </a:extLst>
          </p:cNvPr>
          <p:cNvSpPr txBox="1">
            <a:spLocks/>
          </p:cNvSpPr>
          <p:nvPr/>
        </p:nvSpPr>
        <p:spPr>
          <a:xfrm>
            <a:off x="228600" y="987445"/>
            <a:ext cx="8624937" cy="49936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CAD/CAM Reference Architecture</a:t>
            </a:r>
          </a:p>
          <a:p>
            <a:pPr marL="12700" marR="5080"/>
            <a:r>
              <a:rPr lang="en-US" sz="1450" kern="0" spc="-80" dirty="0">
                <a:solidFill>
                  <a:schemeClr val="accent6"/>
                </a:solidFill>
              </a:rPr>
              <a:t>The architecture is built on five core layers: </a:t>
            </a:r>
          </a:p>
          <a:p>
            <a:pPr marL="12700" marR="5080"/>
            <a:r>
              <a:rPr lang="en-US" sz="1450" kern="0" spc="-80" dirty="0">
                <a:solidFill>
                  <a:schemeClr val="accent2"/>
                </a:solidFill>
              </a:rPr>
              <a:t>1) User Interface (UI): </a:t>
            </a:r>
            <a:r>
              <a:rPr lang="en-US" sz="1450" kern="0" spc="-80" dirty="0">
                <a:solidFill>
                  <a:schemeClr val="accent6"/>
                </a:solidFill>
              </a:rPr>
              <a:t>Manages user interactions for creating, modifying, and visualizing designs.</a:t>
            </a:r>
          </a:p>
          <a:p>
            <a:pPr marL="12700" marR="5080"/>
            <a:r>
              <a:rPr lang="en-US" sz="1450" kern="0" spc="-80" dirty="0">
                <a:solidFill>
                  <a:schemeClr val="accent2"/>
                </a:solidFill>
              </a:rPr>
              <a:t>User Interface (UI) Layer:</a:t>
            </a:r>
            <a:r>
              <a:rPr lang="en-US" sz="1450" kern="0" spc="-80" dirty="0">
                <a:solidFill>
                  <a:schemeClr val="accent6"/>
                </a:solidFill>
              </a:rPr>
              <a:t> The UI provides the tools for designers and engineers to interact with the system. It is the most visible part of the architecture and has evolved significantly with technology. </a:t>
            </a:r>
            <a:r>
              <a:rPr lang="en-US" sz="1450" kern="0" spc="-80" dirty="0">
                <a:solidFill>
                  <a:schemeClr val="accent2"/>
                </a:solidFill>
              </a:rPr>
              <a:t>Graphical User Interface (GUI):</a:t>
            </a:r>
            <a:r>
              <a:rPr lang="en-US" sz="1450" kern="0" spc="-80" dirty="0">
                <a:solidFill>
                  <a:schemeClr val="accent6"/>
                </a:solidFill>
              </a:rPr>
              <a:t> A visual interface with icons, ribbons, menus, and drag-and-drop features, used by most modern CAD/CAM software.</a:t>
            </a:r>
          </a:p>
          <a:p>
            <a:pPr marL="12700" marR="5080"/>
            <a:r>
              <a:rPr lang="en-US" sz="1450" kern="0" spc="-80" dirty="0">
                <a:solidFill>
                  <a:schemeClr val="accent2"/>
                </a:solidFill>
              </a:rPr>
              <a:t>Command-Line Interface (CLI):</a:t>
            </a:r>
            <a:r>
              <a:rPr lang="en-US" sz="1450" kern="0" spc="-80" dirty="0">
                <a:solidFill>
                  <a:schemeClr val="accent6"/>
                </a:solidFill>
              </a:rPr>
              <a:t> A text-based interface that is faster for expert users but less intuitive for beginners.</a:t>
            </a:r>
          </a:p>
          <a:p>
            <a:pPr marL="12700" marR="5080"/>
            <a:r>
              <a:rPr lang="en-US" sz="1450" kern="0" spc="-80" dirty="0">
                <a:solidFill>
                  <a:schemeClr val="accent2"/>
                </a:solidFill>
              </a:rPr>
              <a:t>Immersive Interfaces:</a:t>
            </a:r>
            <a:r>
              <a:rPr lang="en-US" sz="1450" kern="0" spc="-80" dirty="0">
                <a:solidFill>
                  <a:schemeClr val="accent6"/>
                </a:solidFill>
              </a:rPr>
              <a:t> Newer technologies include touch and gesture-based systems for tablets and virtual reality (VR) or augmented reality (AR) interfaces for design review. </a:t>
            </a:r>
          </a:p>
          <a:p>
            <a:pPr marL="12700" marR="5080"/>
            <a:r>
              <a:rPr lang="en-US" sz="1450" kern="0" spc="-80" dirty="0">
                <a:solidFill>
                  <a:schemeClr val="accent2"/>
                </a:solidFill>
              </a:rPr>
              <a:t>2) Application Logic: </a:t>
            </a:r>
            <a:r>
              <a:rPr lang="en-US" sz="1450" kern="0" spc="-80" dirty="0">
                <a:solidFill>
                  <a:schemeClr val="accent6"/>
                </a:solidFill>
              </a:rPr>
              <a:t>The software's core engine that performs design and manufacturing functions. </a:t>
            </a:r>
          </a:p>
          <a:p>
            <a:pPr marL="12700" marR="5080"/>
            <a:r>
              <a:rPr lang="en-US" sz="1450" kern="0" spc="-80" dirty="0">
                <a:solidFill>
                  <a:schemeClr val="accent2"/>
                </a:solidFill>
              </a:rPr>
              <a:t>Application Logic Layer : </a:t>
            </a:r>
            <a:r>
              <a:rPr lang="en-US" sz="1450" kern="0" spc="-80" dirty="0">
                <a:solidFill>
                  <a:schemeClr val="accent6"/>
                </a:solidFill>
              </a:rPr>
              <a:t>This is the core engine of the system where the mathematical and computational heavy lifting occurs. </a:t>
            </a:r>
          </a:p>
          <a:p>
            <a:pPr marL="12700" marR="5080"/>
            <a:r>
              <a:rPr lang="en-US" sz="1450" kern="0" spc="-80" dirty="0">
                <a:solidFill>
                  <a:schemeClr val="accent2"/>
                </a:solidFill>
              </a:rPr>
              <a:t>Geometric Modeling Kernel: </a:t>
            </a:r>
            <a:r>
              <a:rPr lang="en-US" sz="1450" kern="0" spc="-80" dirty="0">
                <a:solidFill>
                  <a:schemeClr val="accent6"/>
                </a:solidFill>
              </a:rPr>
              <a:t>A foundational mathematical engine that defines and manipulates shapes, including curves, surfaces (NURBS), and solid bodies. Popular kernels include Parasolid, ACIS, and the open-source Open CASCADE.</a:t>
            </a:r>
          </a:p>
          <a:p>
            <a:pPr marL="12700" marR="5080"/>
            <a:r>
              <a:rPr lang="en-US" sz="1450" kern="0" spc="-80" dirty="0">
                <a:solidFill>
                  <a:schemeClr val="accent2"/>
                </a:solidFill>
              </a:rPr>
              <a:t>Parametric Constraint Solver: </a:t>
            </a:r>
            <a:r>
              <a:rPr lang="en-US" sz="1450" kern="0" spc="-80" dirty="0">
                <a:solidFill>
                  <a:schemeClr val="accent6"/>
                </a:solidFill>
              </a:rPr>
              <a:t>Manages geometric relationships and design intent. This allows a designer to change one dimension and have the rest of the model update automatically.</a:t>
            </a:r>
          </a:p>
          <a:p>
            <a:pPr marL="12700" marR="5080"/>
            <a:r>
              <a:rPr lang="en-US" sz="1450" kern="0" spc="-80" dirty="0">
                <a:solidFill>
                  <a:schemeClr val="accent2"/>
                </a:solidFill>
              </a:rPr>
              <a:t>Simulation and Analysis (CAE): </a:t>
            </a:r>
            <a:r>
              <a:rPr lang="en-US" sz="1450" kern="0" spc="-80" dirty="0">
                <a:solidFill>
                  <a:schemeClr val="accent6"/>
                </a:solidFill>
              </a:rPr>
              <a:t>Integrated modules perform engineering analyses on the CAD model, such as Finite Element Analysis (FEA), Computational Fluid Dynamics (CFD), and kinematic motion studies.</a:t>
            </a:r>
          </a:p>
        </p:txBody>
      </p:sp>
    </p:spTree>
    <p:extLst>
      <p:ext uri="{BB962C8B-B14F-4D97-AF65-F5344CB8AC3E}">
        <p14:creationId xmlns:p14="http://schemas.microsoft.com/office/powerpoint/2010/main" val="1271652802"/>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A9ED-30FB-F28E-DC84-068D2DDB18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8FFDD8B-F81B-9D65-5638-C6D51D5C569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9F63B8-78DE-A32E-463F-9B53837947F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373F902-F2C0-DD6A-D846-58572B18C26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ABFB1B-DAF0-0AA3-F27D-2AB8641975C0}"/>
              </a:ext>
            </a:extLst>
          </p:cNvPr>
          <p:cNvSpPr txBox="1">
            <a:spLocks/>
          </p:cNvSpPr>
          <p:nvPr/>
        </p:nvSpPr>
        <p:spPr>
          <a:xfrm>
            <a:off x="228600" y="873204"/>
            <a:ext cx="8624937" cy="48782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600" kern="0" spc="-80" dirty="0">
                <a:solidFill>
                  <a:schemeClr val="accent2"/>
                </a:solidFill>
              </a:rPr>
              <a:t>Toolpath Generation: </a:t>
            </a:r>
            <a:r>
              <a:rPr lang="en-US" sz="1600" kern="0" spc="-80" dirty="0">
                <a:solidFill>
                  <a:schemeClr val="accent6"/>
                </a:solidFill>
              </a:rPr>
              <a:t>The CAM-specific component that calculates the cutting paths, speeds, and feed rates for manufacturing operations.</a:t>
            </a:r>
          </a:p>
          <a:p>
            <a:pPr marL="12700" marR="5080"/>
            <a:r>
              <a:rPr lang="en-US" sz="1450" kern="0" spc="-80" dirty="0">
                <a:solidFill>
                  <a:schemeClr val="accent2"/>
                </a:solidFill>
              </a:rPr>
              <a:t>Post-processing: </a:t>
            </a:r>
            <a:r>
              <a:rPr lang="en-US" sz="1450" kern="0" spc="-80" dirty="0">
                <a:solidFill>
                  <a:schemeClr val="accent6"/>
                </a:solidFill>
              </a:rPr>
              <a:t>Converts generic toolpath data into a specific machine-readable language, most commonly G-code, for a particular CNC machine.</a:t>
            </a:r>
          </a:p>
          <a:p>
            <a:pPr marL="12700" marR="5080"/>
            <a:r>
              <a:rPr lang="en-US" sz="1450" kern="0" spc="-80" dirty="0">
                <a:solidFill>
                  <a:schemeClr val="accent2"/>
                </a:solidFill>
              </a:rPr>
              <a:t>3) Data Management: </a:t>
            </a:r>
            <a:r>
              <a:rPr lang="en-US" sz="1450" kern="0" spc="-80" dirty="0">
                <a:solidFill>
                  <a:schemeClr val="accent6"/>
                </a:solidFill>
              </a:rPr>
              <a:t>Governs the storage, retrieval, and revision of product data.</a:t>
            </a:r>
          </a:p>
          <a:p>
            <a:pPr marL="12700" marR="5080"/>
            <a:r>
              <a:rPr lang="en-US" sz="1450" kern="0" spc="-80" dirty="0">
                <a:solidFill>
                  <a:schemeClr val="accent2"/>
                </a:solidFill>
              </a:rPr>
              <a:t>Data Management </a:t>
            </a:r>
            <a:r>
              <a:rPr lang="en-US" sz="1450" kern="0" spc="-80" dirty="0" err="1">
                <a:solidFill>
                  <a:schemeClr val="accent2"/>
                </a:solidFill>
              </a:rPr>
              <a:t>Layer:</a:t>
            </a:r>
            <a:r>
              <a:rPr lang="en-US" sz="1450" kern="0" spc="-80" dirty="0" err="1">
                <a:solidFill>
                  <a:schemeClr val="accent6"/>
                </a:solidFill>
              </a:rPr>
              <a:t>This</a:t>
            </a:r>
            <a:r>
              <a:rPr lang="en-US" sz="1450" kern="0" spc="-80" dirty="0">
                <a:solidFill>
                  <a:schemeClr val="accent6"/>
                </a:solidFill>
              </a:rPr>
              <a:t> layer is crucial for managing the immense amount of data associated with complex product designs. </a:t>
            </a:r>
          </a:p>
          <a:p>
            <a:pPr marL="12700" marR="5080"/>
            <a:r>
              <a:rPr lang="en-US" sz="1450" kern="0" spc="-80" dirty="0">
                <a:solidFill>
                  <a:schemeClr val="accent2"/>
                </a:solidFill>
              </a:rPr>
              <a:t>Product Data Management (PDM):</a:t>
            </a:r>
            <a:r>
              <a:rPr lang="en-US" sz="1450" kern="0" spc="-80" dirty="0">
                <a:solidFill>
                  <a:schemeClr val="accent6"/>
                </a:solidFill>
              </a:rPr>
              <a:t> Manages product data, including file revisions, version control, approval workflows, and metadata for a single product.</a:t>
            </a:r>
          </a:p>
          <a:p>
            <a:pPr marL="12700" marR="5080"/>
            <a:r>
              <a:rPr lang="en-US" sz="1450" kern="0" spc="-80" dirty="0">
                <a:solidFill>
                  <a:schemeClr val="accent2"/>
                </a:solidFill>
              </a:rPr>
              <a:t>Product Lifecycle Management (PLM): </a:t>
            </a:r>
            <a:r>
              <a:rPr lang="en-US" sz="1450" kern="0" spc="-80" dirty="0">
                <a:solidFill>
                  <a:schemeClr val="accent6"/>
                </a:solidFill>
              </a:rPr>
              <a:t>An extension of PDM that manages the entire product lifecycle, from design to manufacturing, supply chain, and end-of-life.</a:t>
            </a:r>
          </a:p>
          <a:p>
            <a:pPr marL="12700" marR="5080"/>
            <a:r>
              <a:rPr lang="en-US" sz="1450" kern="0" spc="-80" dirty="0">
                <a:solidFill>
                  <a:schemeClr val="accent2"/>
                </a:solidFill>
              </a:rPr>
              <a:t>Cloud-Based Storage:</a:t>
            </a:r>
            <a:r>
              <a:rPr lang="en-US" sz="1450" kern="0" spc="-80" dirty="0">
                <a:solidFill>
                  <a:schemeClr val="accent6"/>
                </a:solidFill>
              </a:rPr>
              <a:t> Allows for real-time collaboration and access from anywhere, with integrated version control. This is a defining feature of modern systems like </a:t>
            </a:r>
            <a:r>
              <a:rPr lang="en-US" sz="1450" kern="0" spc="-80" dirty="0" err="1">
                <a:solidFill>
                  <a:schemeClr val="accent6"/>
                </a:solidFill>
              </a:rPr>
              <a:t>Onshape</a:t>
            </a:r>
            <a:r>
              <a:rPr lang="en-US" sz="1450" kern="0" spc="-80" dirty="0">
                <a:solidFill>
                  <a:schemeClr val="accent6"/>
                </a:solidFill>
              </a:rPr>
              <a:t> and Fusion 360.</a:t>
            </a:r>
          </a:p>
          <a:p>
            <a:pPr marL="12700" marR="5080"/>
            <a:r>
              <a:rPr lang="en-US" sz="1450" kern="0" spc="-80" dirty="0">
                <a:solidFill>
                  <a:schemeClr val="accent2"/>
                </a:solidFill>
              </a:rPr>
              <a:t>4) Integration Layer: </a:t>
            </a:r>
            <a:r>
              <a:rPr lang="en-US" sz="1450" kern="0" spc="-80" dirty="0">
                <a:solidFill>
                  <a:schemeClr val="accent6"/>
                </a:solidFill>
              </a:rPr>
              <a:t>Facilitates communication with other systems and hardware.</a:t>
            </a:r>
          </a:p>
          <a:p>
            <a:pPr marL="12700" marR="5080"/>
            <a:r>
              <a:rPr lang="en-US" sz="1450" kern="0" spc="-80" dirty="0">
                <a:solidFill>
                  <a:schemeClr val="accent2"/>
                </a:solidFill>
              </a:rPr>
              <a:t>Integration </a:t>
            </a:r>
            <a:r>
              <a:rPr lang="en-US" sz="1450" kern="0" spc="-80" dirty="0" err="1">
                <a:solidFill>
                  <a:schemeClr val="accent2"/>
                </a:solidFill>
              </a:rPr>
              <a:t>Laye:</a:t>
            </a:r>
            <a:r>
              <a:rPr lang="en-US" sz="1450" kern="0" spc="-80" dirty="0" err="1">
                <a:solidFill>
                  <a:schemeClr val="accent6"/>
                </a:solidFill>
              </a:rPr>
              <a:t>The</a:t>
            </a:r>
            <a:r>
              <a:rPr lang="en-US" sz="1450" kern="0" spc="-80" dirty="0">
                <a:solidFill>
                  <a:schemeClr val="accent6"/>
                </a:solidFill>
              </a:rPr>
              <a:t> integration layer facilitates communication between the core CAD/CAM application and other internal or external systems. </a:t>
            </a:r>
          </a:p>
          <a:p>
            <a:pPr marL="12700" marR="5080"/>
            <a:r>
              <a:rPr lang="en-US" sz="1450" kern="0" spc="-80" dirty="0">
                <a:solidFill>
                  <a:schemeClr val="accent2"/>
                </a:solidFill>
              </a:rPr>
              <a:t>Interoperability Standards:</a:t>
            </a:r>
            <a:r>
              <a:rPr lang="en-US" sz="1450" kern="0" spc="-80" dirty="0">
                <a:solidFill>
                  <a:schemeClr val="accent6"/>
                </a:solidFill>
              </a:rPr>
              <a:t> Handles data transfer between different software using neutral file formats like STEP (Standard for the Exchange of Product model data) and STL (for 3D printing).</a:t>
            </a:r>
          </a:p>
          <a:p>
            <a:pPr marL="12700" marR="5080"/>
            <a:r>
              <a:rPr lang="en-US" sz="1450" kern="0" spc="-80" dirty="0">
                <a:solidFill>
                  <a:schemeClr val="accent2"/>
                </a:solidFill>
              </a:rPr>
              <a:t>Application Programming Interfaces (APIs):</a:t>
            </a:r>
            <a:r>
              <a:rPr lang="en-US" sz="1450" kern="0" spc="-80" dirty="0">
                <a:solidFill>
                  <a:schemeClr val="accent6"/>
                </a:solidFill>
              </a:rPr>
              <a:t> Allow for customization, scripting, and integration with Enterprise Resource Planning (ERP) or Manufacturing Execution Systems (MES).</a:t>
            </a:r>
          </a:p>
        </p:txBody>
      </p:sp>
    </p:spTree>
    <p:extLst>
      <p:ext uri="{BB962C8B-B14F-4D97-AF65-F5344CB8AC3E}">
        <p14:creationId xmlns:p14="http://schemas.microsoft.com/office/powerpoint/2010/main" val="339430974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E935-2632-6FC9-FC9C-D06FB175E2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3A5B47-709C-6D44-6E92-B0B837C01BF5}"/>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B230C9-8995-80B2-C189-26D6CB1DB61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D79FCC-D005-E3EE-4AAD-2449F0A0D12A}"/>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9633FA2-BF05-8F82-DD6A-282C9801B8B6}"/>
              </a:ext>
            </a:extLst>
          </p:cNvPr>
          <p:cNvSpPr txBox="1">
            <a:spLocks/>
          </p:cNvSpPr>
          <p:nvPr/>
        </p:nvSpPr>
        <p:spPr>
          <a:xfrm>
            <a:off x="228600" y="873204"/>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400" kern="0" spc="-80" dirty="0">
                <a:solidFill>
                  <a:schemeClr val="accent2"/>
                </a:solidFill>
              </a:rPr>
              <a:t>Hardware Drivers: </a:t>
            </a:r>
            <a:r>
              <a:rPr lang="en-US" sz="1400" kern="0" spc="-80" dirty="0">
                <a:solidFill>
                  <a:schemeClr val="accent6"/>
                </a:solidFill>
              </a:rPr>
              <a:t>Translates software commands into signals for output devices, such as graphics cards and printers.</a:t>
            </a:r>
          </a:p>
          <a:p>
            <a:pPr marL="12700" marR="5080"/>
            <a:r>
              <a:rPr lang="en-US" sz="1400" kern="0" spc="-80" dirty="0">
                <a:solidFill>
                  <a:schemeClr val="accent6"/>
                </a:solidFill>
              </a:rPr>
              <a:t>5. </a:t>
            </a:r>
            <a:r>
              <a:rPr lang="en-US" sz="1400" kern="0" spc="-80" dirty="0">
                <a:solidFill>
                  <a:schemeClr val="accent2"/>
                </a:solidFill>
              </a:rPr>
              <a:t>Physical Manufacturing: </a:t>
            </a:r>
            <a:r>
              <a:rPr lang="en-US" sz="1400" kern="0" spc="-80" dirty="0">
                <a:solidFill>
                  <a:schemeClr val="accent6"/>
                </a:solidFill>
              </a:rPr>
              <a:t>The hardware that produces the final product.</a:t>
            </a:r>
          </a:p>
          <a:p>
            <a:pPr marL="12700" marR="5080"/>
            <a:r>
              <a:rPr lang="en-US" sz="1400" kern="0" spc="-80" dirty="0">
                <a:solidFill>
                  <a:schemeClr val="accent2"/>
                </a:solidFill>
              </a:rPr>
              <a:t>Physical Manufacturing Layer:</a:t>
            </a:r>
            <a:r>
              <a:rPr lang="en-US" sz="1400" kern="0" spc="-80" dirty="0">
                <a:solidFill>
                  <a:schemeClr val="accent6"/>
                </a:solidFill>
              </a:rPr>
              <a:t> This layer consists of the hardware that turns the digital design into a physical object. </a:t>
            </a:r>
          </a:p>
          <a:p>
            <a:pPr marL="12700" marR="5080"/>
            <a:r>
              <a:rPr lang="en-US" sz="1400" kern="0" spc="-80" dirty="0">
                <a:solidFill>
                  <a:schemeClr val="accent2"/>
                </a:solidFill>
              </a:rPr>
              <a:t>Computer Numerical Control (CNC) Machines:</a:t>
            </a:r>
            <a:r>
              <a:rPr lang="en-US" sz="1400" kern="0" spc="-80" dirty="0">
                <a:solidFill>
                  <a:schemeClr val="accent6"/>
                </a:solidFill>
              </a:rPr>
              <a:t> The most common CAM output, controlled by G-code from the post-processor to perform subtractive manufacturing (e.g., milling, turning).</a:t>
            </a:r>
          </a:p>
          <a:p>
            <a:pPr marL="12700" marR="5080"/>
            <a:r>
              <a:rPr lang="en-US" sz="1400" kern="0" spc="-80" dirty="0">
                <a:solidFill>
                  <a:schemeClr val="accent2"/>
                </a:solidFill>
              </a:rPr>
              <a:t>Additive Manufacturing (3D Printing) Machines: </a:t>
            </a:r>
            <a:r>
              <a:rPr lang="en-US" sz="1400" kern="0" spc="-80" dirty="0">
                <a:solidFill>
                  <a:schemeClr val="accent6"/>
                </a:solidFill>
              </a:rPr>
              <a:t>Use CAD data to perform additive processes like Fused Deposition Modeling (FDM), Selective Laser Sintering (SLS), and Stereolithography (SLA).</a:t>
            </a:r>
          </a:p>
          <a:p>
            <a:pPr marL="12700" marR="5080"/>
            <a:r>
              <a:rPr lang="en-US" sz="1400" kern="0" spc="-80" dirty="0">
                <a:solidFill>
                  <a:schemeClr val="accent2"/>
                </a:solidFill>
              </a:rPr>
              <a:t>Robotics: </a:t>
            </a:r>
            <a:r>
              <a:rPr lang="en-US" sz="1400" kern="0" spc="-80" dirty="0">
                <a:solidFill>
                  <a:schemeClr val="accent6"/>
                </a:solidFill>
              </a:rPr>
              <a:t>Industrial robots used for tasks like welding, assembly, and material handling, which are programmed using CAM software.</a:t>
            </a:r>
          </a:p>
          <a:p>
            <a:pPr marL="12700" marR="5080"/>
            <a:r>
              <a:rPr lang="en-US" sz="1400" kern="0" spc="-80" dirty="0">
                <a:solidFill>
                  <a:schemeClr val="accent2"/>
                </a:solidFill>
              </a:rPr>
              <a:t>Metrology Equipment: </a:t>
            </a:r>
            <a:r>
              <a:rPr lang="en-US" sz="1400" kern="0" spc="-80" dirty="0">
                <a:solidFill>
                  <a:schemeClr val="accent6"/>
                </a:solidFill>
              </a:rPr>
              <a:t>Automated inspection systems like Coordinate Measuring Machines (CMMs) and 3D scanners used for quality assurance. </a:t>
            </a:r>
          </a:p>
          <a:p>
            <a:pPr marL="12700" marR="5080"/>
            <a:endParaRPr lang="en-US" sz="1400" kern="0" spc="-80" dirty="0">
              <a:solidFill>
                <a:schemeClr val="accent2"/>
              </a:solidFill>
            </a:endParaRPr>
          </a:p>
          <a:p>
            <a:pPr marL="12700" marR="5080"/>
            <a:r>
              <a:rPr lang="en-US" sz="1400" kern="0" spc="-80" dirty="0">
                <a:solidFill>
                  <a:schemeClr val="accent2"/>
                </a:solidFill>
              </a:rPr>
              <a:t>Key Components and Layers</a:t>
            </a:r>
          </a:p>
          <a:p>
            <a:pPr marL="12700" marR="5080"/>
            <a:r>
              <a:rPr lang="en-US" sz="1400" kern="0" spc="-80" dirty="0">
                <a:solidFill>
                  <a:schemeClr val="accent6"/>
                </a:solidFill>
              </a:rPr>
              <a:t>A typical CAD/CAM reference architecture includes several interconnected layers: </a:t>
            </a:r>
          </a:p>
          <a:p>
            <a:pPr marL="12700" marR="5080"/>
            <a:r>
              <a:rPr lang="en-US" sz="1400" kern="0" spc="-80" dirty="0">
                <a:solidFill>
                  <a:schemeClr val="accent2"/>
                </a:solidFill>
              </a:rPr>
              <a:t>User Interface Layer:</a:t>
            </a:r>
            <a:r>
              <a:rPr lang="en-US" sz="1400" kern="0" spc="-80" dirty="0">
                <a:solidFill>
                  <a:schemeClr val="accent6"/>
                </a:solidFill>
              </a:rPr>
              <a:t> Handles user interaction for design input and output. Application Logic Layer: Contains the core functionalities for design, analysis, and manufacturing process planning. </a:t>
            </a:r>
          </a:p>
          <a:p>
            <a:pPr marL="12700" marR="5080"/>
            <a:r>
              <a:rPr lang="en-US" sz="1400" kern="0" spc="-80" dirty="0">
                <a:solidFill>
                  <a:schemeClr val="accent2"/>
                </a:solidFill>
              </a:rPr>
              <a:t>Data Management Layer: </a:t>
            </a:r>
            <a:r>
              <a:rPr lang="en-US" sz="1400" kern="0" spc="-80" dirty="0">
                <a:solidFill>
                  <a:schemeClr val="accent6"/>
                </a:solidFill>
              </a:rPr>
              <a:t>Manages the product data, including geometric entities, their relationships, and manufacturing information, often through a central database.</a:t>
            </a:r>
          </a:p>
          <a:p>
            <a:pPr marL="12700" marR="5080"/>
            <a:r>
              <a:rPr lang="en-US" sz="1400" kern="0" spc="-80" dirty="0">
                <a:solidFill>
                  <a:schemeClr val="accent2"/>
                </a:solidFill>
              </a:rPr>
              <a:t>System Integration Layer:</a:t>
            </a:r>
            <a:r>
              <a:rPr lang="en-US" sz="1400" kern="0" spc="-80" dirty="0">
                <a:solidFill>
                  <a:schemeClr val="accent6"/>
                </a:solidFill>
              </a:rPr>
              <a:t> Facilitates the exchange of information between different CAD/CAM software modules and external systems like Material Requirements Planning (MRP). </a:t>
            </a:r>
          </a:p>
        </p:txBody>
      </p:sp>
    </p:spTree>
    <p:extLst>
      <p:ext uri="{BB962C8B-B14F-4D97-AF65-F5344CB8AC3E}">
        <p14:creationId xmlns:p14="http://schemas.microsoft.com/office/powerpoint/2010/main" val="201988880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9C23-33B4-524B-2C83-96E172F174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9D12BC8-7845-D5AC-EBA9-0566DBC804F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F10E82B-AA5B-AC80-EBFD-B2AFC750DD9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DC58B9-C721-B1FA-4AF2-A4036FE18C9A}"/>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3E129F-B3AE-448B-9B84-3364E8E0A030}"/>
              </a:ext>
            </a:extLst>
          </p:cNvPr>
          <p:cNvSpPr txBox="1">
            <a:spLocks/>
          </p:cNvSpPr>
          <p:nvPr/>
        </p:nvSpPr>
        <p:spPr>
          <a:xfrm>
            <a:off x="228600" y="873204"/>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500" kern="0" spc="-80" dirty="0">
                <a:solidFill>
                  <a:schemeClr val="accent2"/>
                </a:solidFill>
              </a:rPr>
              <a:t>Key Concepts</a:t>
            </a:r>
          </a:p>
          <a:p>
            <a:pPr marL="12700" marR="5080"/>
            <a:r>
              <a:rPr lang="en-US" sz="1500" kern="0" spc="-80" dirty="0">
                <a:solidFill>
                  <a:schemeClr val="accent2"/>
                </a:solidFill>
              </a:rPr>
              <a:t>Integrated Data Model: </a:t>
            </a:r>
            <a:r>
              <a:rPr lang="en-US" sz="1500" kern="0" spc="-80" dirty="0">
                <a:solidFill>
                  <a:schemeClr val="accent6"/>
                </a:solidFill>
              </a:rPr>
              <a:t>A fundamental concept is the creation of a comprehensive product definition model that stores all product information, ensuring consistency and accuracy. </a:t>
            </a:r>
          </a:p>
          <a:p>
            <a:pPr marL="12700" marR="5080"/>
            <a:r>
              <a:rPr lang="en-US" sz="1500" kern="0" spc="-80" dirty="0">
                <a:solidFill>
                  <a:schemeClr val="accent2"/>
                </a:solidFill>
              </a:rPr>
              <a:t>Feature-Based Design: </a:t>
            </a:r>
            <a:r>
              <a:rPr lang="en-US" sz="1500" kern="0" spc="-80" dirty="0">
                <a:solidFill>
                  <a:schemeClr val="accent6"/>
                </a:solidFill>
              </a:rPr>
              <a:t>Products are broken down into basic "features" (e.g., holes, pockets), which serve as the fundamental units for both design and manufacturing. </a:t>
            </a:r>
          </a:p>
          <a:p>
            <a:pPr marL="12700" marR="5080"/>
            <a:r>
              <a:rPr lang="en-US" sz="1500" kern="0" spc="-80" dirty="0">
                <a:solidFill>
                  <a:schemeClr val="accent2"/>
                </a:solidFill>
              </a:rPr>
              <a:t>STEP Standard (ISO 10303): </a:t>
            </a:r>
            <a:r>
              <a:rPr lang="en-US" sz="1500" kern="0" spc="-80" dirty="0">
                <a:solidFill>
                  <a:schemeClr val="accent6"/>
                </a:solidFill>
              </a:rPr>
              <a:t>A crucial component of modern architectures, the STEP standard provides a universal format for data exchange, allowing different CAD/CAM software to interoperate seamlessly. </a:t>
            </a:r>
            <a:r>
              <a:rPr lang="en-US" sz="1500" kern="0" spc="-80" dirty="0">
                <a:solidFill>
                  <a:schemeClr val="accent2"/>
                </a:solidFill>
              </a:rPr>
              <a:t>Collaborative Environment:</a:t>
            </a:r>
            <a:r>
              <a:rPr lang="en-US" sz="1500" kern="0" spc="-80" dirty="0">
                <a:solidFill>
                  <a:schemeClr val="accent6"/>
                </a:solidFill>
              </a:rPr>
              <a:t> Architectures support collaborative development by using network and database infrastructure to allow engineers to work together on a shared product definition model. </a:t>
            </a:r>
          </a:p>
          <a:p>
            <a:pPr marL="12700" marR="5080"/>
            <a:r>
              <a:rPr lang="en-US" sz="1500" kern="0" spc="-80" dirty="0">
                <a:solidFill>
                  <a:schemeClr val="accent2"/>
                </a:solidFill>
              </a:rPr>
              <a:t>How it Works</a:t>
            </a:r>
          </a:p>
          <a:p>
            <a:pPr marL="12700" marR="5080"/>
            <a:r>
              <a:rPr lang="en-US" sz="1500" kern="0" spc="-80" dirty="0">
                <a:solidFill>
                  <a:schemeClr val="accent2"/>
                </a:solidFill>
              </a:rPr>
              <a:t>Design: </a:t>
            </a:r>
            <a:r>
              <a:rPr lang="en-US" sz="1500" kern="0" spc="-80" dirty="0">
                <a:solidFill>
                  <a:schemeClr val="accent6"/>
                </a:solidFill>
              </a:rPr>
              <a:t>Engineers use CAD software to create a feature-based product definition model, storing its components and relationships in a central database. </a:t>
            </a:r>
          </a:p>
          <a:p>
            <a:pPr marL="12700" marR="5080"/>
            <a:r>
              <a:rPr lang="en-US" sz="1500" kern="0" spc="-80" dirty="0">
                <a:solidFill>
                  <a:schemeClr val="accent2"/>
                </a:solidFill>
              </a:rPr>
              <a:t>Data Exchange:</a:t>
            </a:r>
            <a:r>
              <a:rPr lang="en-US" sz="1500" kern="0" spc="-80" dirty="0">
                <a:solidFill>
                  <a:schemeClr val="accent6"/>
                </a:solidFill>
              </a:rPr>
              <a:t> The system's integration layer converts data into a STEP-compliant format, ensuring that the data is understood by different applications. </a:t>
            </a:r>
          </a:p>
          <a:p>
            <a:pPr marL="12700" marR="5080"/>
            <a:r>
              <a:rPr lang="en-US" sz="1500" kern="0" spc="-80" dirty="0">
                <a:solidFill>
                  <a:schemeClr val="accent2"/>
                </a:solidFill>
              </a:rPr>
              <a:t>Manufacturing: </a:t>
            </a:r>
            <a:r>
              <a:rPr lang="en-US" sz="1500" kern="0" spc="-80" dirty="0">
                <a:solidFill>
                  <a:schemeClr val="accent6"/>
                </a:solidFill>
              </a:rPr>
              <a:t>This data is then used by CAM modules for process planning, generating toolpaths, and creating NC code for manufacturing. Feedback and Iteration: The process is iterative, with data flowing seamlessly between design and manufacturing to allow for quick changes, cost reduction, and improved quality. </a:t>
            </a:r>
          </a:p>
        </p:txBody>
      </p:sp>
    </p:spTree>
    <p:extLst>
      <p:ext uri="{BB962C8B-B14F-4D97-AF65-F5344CB8AC3E}">
        <p14:creationId xmlns:p14="http://schemas.microsoft.com/office/powerpoint/2010/main" val="1497054443"/>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3B1C9-F25A-7727-8D50-532258E38B4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502C82-C3E3-D788-9A29-12F6EB57FB7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944449-30FA-B216-9475-CFAD72C8F26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11D180A-5965-E519-5033-E22F240598D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E03AB9-94F6-2CE1-149B-497E371671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9D8B6AD-0A8F-7A85-2273-23DA0945591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A37F8EF-A8F5-2671-390F-1F40BBDF9F5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4614512-6F8A-5B9E-30FE-9FF2FCDF018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2CE5958E-2B9D-877F-258B-ACF6BB6E4CBF}"/>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7EF73C9-7222-A1DF-2BF2-A03EB4ED5A12}"/>
              </a:ext>
            </a:extLst>
          </p:cNvPr>
          <p:cNvSpPr txBox="1">
            <a:spLocks/>
          </p:cNvSpPr>
          <p:nvPr/>
        </p:nvSpPr>
        <p:spPr>
          <a:xfrm>
            <a:off x="321393" y="735199"/>
            <a:ext cx="8624937" cy="6047809"/>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IN" sz="1600" dirty="0">
                <a:hlinkClick r:id="rId7"/>
              </a:rPr>
              <a:t>10 Essential Scrum Tools</a:t>
            </a:r>
            <a:endParaRPr lang="en-IN" sz="1600" dirty="0"/>
          </a:p>
          <a:p>
            <a:r>
              <a:rPr lang="en-IN" sz="1550" dirty="0">
                <a:hlinkClick r:id="rId8"/>
              </a:rPr>
              <a:t>Agile Terminology Handbook | LinkedIn</a:t>
            </a:r>
            <a:endParaRPr lang="en-IN" sz="1550" dirty="0"/>
          </a:p>
          <a:p>
            <a:r>
              <a:rPr lang="en-US" sz="1550" dirty="0">
                <a:hlinkClick r:id="rId9"/>
              </a:rPr>
              <a:t>Definition of Ready vs. Definition of Done: Understanding the Differences</a:t>
            </a:r>
            <a:endParaRPr lang="en-IN" sz="1550" dirty="0"/>
          </a:p>
          <a:p>
            <a:r>
              <a:rPr lang="en-US" sz="1550" dirty="0">
                <a:hlinkClick r:id="rId10"/>
              </a:rPr>
              <a:t>Agile-Project-Management: Agile Project Management</a:t>
            </a:r>
            <a:endParaRPr lang="en-US" sz="1550" dirty="0"/>
          </a:p>
          <a:p>
            <a:r>
              <a:rPr lang="en-US" sz="1550" dirty="0" err="1">
                <a:hlinkClick r:id="rId11"/>
              </a:rPr>
              <a:t>SAFe</a:t>
            </a:r>
            <a:r>
              <a:rPr lang="en-US" sz="1550" dirty="0">
                <a:hlinkClick r:id="rId11"/>
              </a:rPr>
              <a:t>-Coaches-Handbook: </a:t>
            </a:r>
            <a:r>
              <a:rPr lang="en-US" sz="1550" dirty="0" err="1">
                <a:hlinkClick r:id="rId11"/>
              </a:rPr>
              <a:t>SAFe</a:t>
            </a:r>
            <a:r>
              <a:rPr lang="en-US" sz="1550" dirty="0">
                <a:hlinkClick r:id="rId11"/>
              </a:rPr>
              <a:t>® Coaches Handbook</a:t>
            </a:r>
            <a:endParaRPr lang="en-US" sz="1550" dirty="0"/>
          </a:p>
          <a:p>
            <a:r>
              <a:rPr lang="en-US" sz="1600" dirty="0">
                <a:hlinkClick r:id="rId12"/>
              </a:rPr>
              <a:t>Learn Jira with real-world examples (+Confluence bonus) | Udemy</a:t>
            </a:r>
            <a:endParaRPr lang="en-US" sz="1600" dirty="0"/>
          </a:p>
          <a:p>
            <a:r>
              <a:rPr lang="en-US" sz="1600" dirty="0">
                <a:hlinkClick r:id="rId13"/>
              </a:rPr>
              <a:t>Jira &amp; Confluence Masterclass 2025 for Projects &amp; Teams | Udemy</a:t>
            </a:r>
            <a:endParaRPr lang="en-US" sz="1600" dirty="0"/>
          </a:p>
          <a:p>
            <a:r>
              <a:rPr lang="en-US" sz="1600" dirty="0">
                <a:hlinkClick r:id="rId14"/>
              </a:rPr>
              <a:t>Project Planning with Advanced Roadmaps for Jira | Udemy</a:t>
            </a:r>
            <a:endParaRPr lang="en-US" sz="1550" dirty="0"/>
          </a:p>
          <a:p>
            <a:r>
              <a:rPr lang="en-US" sz="1550" dirty="0">
                <a:hlinkClick r:id="rId15"/>
              </a:rPr>
              <a:t>Automate-Everyday-Tasks-in-Jira: Automate Everyday Tasks in Jira</a:t>
            </a:r>
            <a:endParaRPr lang="en-US" sz="1550" dirty="0"/>
          </a:p>
          <a:p>
            <a:r>
              <a:rPr lang="en-US" sz="1550" dirty="0">
                <a:hlinkClick r:id="rId16"/>
              </a:rPr>
              <a:t>Hands-On Agile Software Development with JIRA | Programming | eBook</a:t>
            </a:r>
            <a:endParaRPr lang="en-US" sz="1550" dirty="0"/>
          </a:p>
          <a:p>
            <a:r>
              <a:rPr lang="en-US" sz="1550" dirty="0">
                <a:hlinkClick r:id="rId17"/>
              </a:rPr>
              <a:t>Jira Work Management for Business Teams | Business &amp; Other | eBook</a:t>
            </a:r>
            <a:endParaRPr lang="en-US" sz="1550" dirty="0"/>
          </a:p>
          <a:p>
            <a:r>
              <a:rPr lang="en-US" sz="1550" dirty="0">
                <a:hlinkClick r:id="rId18"/>
              </a:rPr>
              <a:t>The Movement That Is Transforming How New Products Are Built And Launched</a:t>
            </a:r>
            <a:endParaRPr lang="en-US" sz="1550" dirty="0"/>
          </a:p>
          <a:p>
            <a:r>
              <a:rPr lang="en-US" sz="1550" dirty="0">
                <a:hlinkClick r:id="rId19"/>
              </a:rPr>
              <a:t>The Lean Startup by Eric Ries Book Summary</a:t>
            </a:r>
            <a:endParaRPr lang="en-US" sz="1550" dirty="0"/>
          </a:p>
          <a:p>
            <a:r>
              <a:rPr lang="en-US" sz="1550" dirty="0">
                <a:hlinkClick r:id="rId20"/>
              </a:rPr>
              <a:t>Book review: “Inspired: How To Create Tech Products Customers Love” | by MAA1 | Medium</a:t>
            </a:r>
            <a:endParaRPr lang="en-US" sz="1550" dirty="0"/>
          </a:p>
          <a:p>
            <a:r>
              <a:rPr lang="en-US" sz="1550" dirty="0">
                <a:hlinkClick r:id="rId21"/>
              </a:rPr>
              <a:t>Book Summary - Thinking In Systems: A Primer</a:t>
            </a:r>
            <a:endParaRPr lang="en-US" sz="1550" dirty="0"/>
          </a:p>
          <a:p>
            <a:r>
              <a:rPr lang="en-IN" sz="1550" dirty="0">
                <a:hlinkClick r:id="rId22"/>
              </a:rPr>
              <a:t>10 Proven Team-Building Strategies</a:t>
            </a:r>
            <a:endParaRPr lang="en-IN" sz="1550" dirty="0"/>
          </a:p>
          <a:p>
            <a:r>
              <a:rPr lang="en-US" sz="1550" dirty="0">
                <a:hlinkClick r:id="rId23"/>
              </a:rPr>
              <a:t>4 Key Communication Styles for Better Teamwork [2024] • Asana</a:t>
            </a:r>
            <a:endParaRPr lang="en-US" sz="1550" dirty="0"/>
          </a:p>
          <a:p>
            <a:r>
              <a:rPr lang="en-IN" sz="1550" dirty="0">
                <a:hlinkClick r:id="rId24"/>
              </a:rPr>
              <a:t>Conflict Management: Definition, Strategies, and Styles | Coursera</a:t>
            </a:r>
            <a:endParaRPr lang="en-IN" sz="1550" dirty="0"/>
          </a:p>
          <a:p>
            <a:r>
              <a:rPr lang="fr-FR" sz="1550" dirty="0">
                <a:hlinkClick r:id="rId25"/>
              </a:rPr>
              <a:t>7 Change Management Techniques &amp; Best Practices</a:t>
            </a:r>
            <a:endParaRPr lang="en-IN" sz="1550" dirty="0"/>
          </a:p>
          <a:p>
            <a:r>
              <a:rPr lang="en-US" sz="1550" dirty="0">
                <a:hlinkClick r:id="rId26"/>
              </a:rPr>
              <a:t>Ultimate Guide to Cross-Functional Collaboration</a:t>
            </a:r>
            <a:endParaRPr lang="en-US" sz="1550" dirty="0"/>
          </a:p>
          <a:p>
            <a:r>
              <a:rPr lang="en-IN" sz="1550" dirty="0">
                <a:hlinkClick r:id="rId27"/>
              </a:rPr>
              <a:t>6 Project Management Budgeting Methods | Indeed.com</a:t>
            </a:r>
            <a:endParaRPr lang="en-IN" sz="1550" dirty="0"/>
          </a:p>
          <a:p>
            <a:r>
              <a:rPr lang="en-US" sz="1550" dirty="0">
                <a:hlinkClick r:id="rId28"/>
              </a:rPr>
              <a:t>STAR Method Tips: Interview Questions &amp; Answer Examples</a:t>
            </a:r>
            <a:endParaRPr lang="en-US" sz="1550" dirty="0"/>
          </a:p>
          <a:p>
            <a:endParaRPr lang="en-IN" sz="1600" dirty="0"/>
          </a:p>
          <a:p>
            <a:endParaRPr lang="en-US" sz="1150" dirty="0">
              <a:hlinkClick r:id="rId29"/>
            </a:endParaRPr>
          </a:p>
          <a:p>
            <a:endParaRPr lang="en-US" sz="1200" dirty="0"/>
          </a:p>
          <a:p>
            <a:endParaRPr lang="en-US" sz="1150" dirty="0"/>
          </a:p>
        </p:txBody>
      </p:sp>
    </p:spTree>
    <p:extLst>
      <p:ext uri="{BB962C8B-B14F-4D97-AF65-F5344CB8AC3E}">
        <p14:creationId xmlns:p14="http://schemas.microsoft.com/office/powerpoint/2010/main" val="4215810877"/>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321393" y="735199"/>
            <a:ext cx="8624937" cy="5324535"/>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IN" sz="1350" dirty="0">
                <a:hlinkClick r:id="rId7"/>
              </a:rPr>
              <a:t>Architectural Katas: Practicing Architecture</a:t>
            </a:r>
            <a:r>
              <a:rPr lang="en-US" sz="1350" dirty="0"/>
              <a:t> </a:t>
            </a:r>
          </a:p>
          <a:p>
            <a:r>
              <a:rPr lang="en-US" sz="1350" dirty="0">
                <a:hlinkClick r:id="rId8"/>
              </a:rPr>
              <a:t>The Architecture Kata Log · GitHub</a:t>
            </a:r>
            <a:endParaRPr lang="en-US" sz="1350" dirty="0"/>
          </a:p>
          <a:p>
            <a:r>
              <a:rPr lang="en-US" sz="1350" dirty="0">
                <a:hlinkClick r:id="rId9"/>
              </a:rPr>
              <a:t>Clean, simple, flexible, evolvable, and agile Architecture Cheat Sheet Update (V1.5) – planetgeek.ch</a:t>
            </a:r>
            <a:endParaRPr lang="en-US" sz="1350" dirty="0"/>
          </a:p>
          <a:p>
            <a:r>
              <a:rPr lang="en-US" sz="1350" dirty="0">
                <a:hlinkClick r:id="rId10"/>
              </a:rPr>
              <a:t>Awesome-design-patterns: A curated list of software and architecture related design patterns.</a:t>
            </a:r>
            <a:endParaRPr lang="en-US" sz="1350" dirty="0"/>
          </a:p>
          <a:p>
            <a:r>
              <a:rPr lang="en-IN" sz="1350" dirty="0">
                <a:hlinkClick r:id="rId11"/>
              </a:rPr>
              <a:t>Cross-industry playbooks | Microsoft Learn</a:t>
            </a:r>
            <a:endParaRPr lang="en-IN" sz="1350" dirty="0"/>
          </a:p>
          <a:p>
            <a:r>
              <a:rPr lang="en-US" sz="1400" dirty="0">
                <a:hlinkClick r:id="rId12"/>
              </a:rPr>
              <a:t>Code-with-Engineering-Playbook:</a:t>
            </a:r>
            <a:endParaRPr lang="en-US" sz="1400" dirty="0"/>
          </a:p>
          <a:p>
            <a:r>
              <a:rPr lang="en-US" sz="1350" dirty="0">
                <a:hlinkClick r:id="rId13"/>
              </a:rPr>
              <a:t>Software Design and Architecture Roadmap</a:t>
            </a:r>
            <a:endParaRPr lang="en-IN" sz="1350" dirty="0">
              <a:hlinkClick r:id="rId7"/>
            </a:endParaRPr>
          </a:p>
          <a:p>
            <a:r>
              <a:rPr lang="en-IN" sz="1350" dirty="0">
                <a:hlinkClick r:id="rId14"/>
              </a:rPr>
              <a:t>Archive - </a:t>
            </a:r>
            <a:r>
              <a:rPr lang="en-IN" sz="1350" dirty="0" err="1">
                <a:hlinkClick r:id="rId14"/>
              </a:rPr>
              <a:t>ByteByteGo</a:t>
            </a:r>
            <a:r>
              <a:rPr lang="en-IN" sz="1350" dirty="0">
                <a:hlinkClick r:id="rId14"/>
              </a:rPr>
              <a:t> Newsletter</a:t>
            </a:r>
            <a:r>
              <a:rPr lang="en-US" sz="1350" dirty="0"/>
              <a:t>  </a:t>
            </a:r>
          </a:p>
          <a:p>
            <a:r>
              <a:rPr lang="en-IN" sz="1350" dirty="0">
                <a:hlinkClick r:id="rId15"/>
              </a:rPr>
              <a:t>Solution-Architect-roadmap</a:t>
            </a:r>
            <a:r>
              <a:rPr lang="en-US" sz="1350" dirty="0"/>
              <a:t> </a:t>
            </a:r>
          </a:p>
          <a:p>
            <a:r>
              <a:rPr lang="en-IN" sz="1350" dirty="0">
                <a:hlinkClick r:id="rId16"/>
              </a:rPr>
              <a:t>Software Architect Roadmap</a:t>
            </a:r>
            <a:endParaRPr lang="en-IN" sz="1350" dirty="0"/>
          </a:p>
          <a:p>
            <a:r>
              <a:rPr lang="en-IN" sz="1350" dirty="0">
                <a:hlinkClick r:id="rId17"/>
              </a:rPr>
              <a:t>Solution-Architect-Road-Map</a:t>
            </a:r>
            <a:endParaRPr lang="en-IN" sz="1350" dirty="0"/>
          </a:p>
          <a:p>
            <a:r>
              <a:rPr lang="en-US" sz="1350" dirty="0">
                <a:hlinkClick r:id="rId18"/>
              </a:rPr>
              <a:t>Become an Awesome Software Architect (1 book series) Kindle Edition</a:t>
            </a:r>
            <a:r>
              <a:rPr lang="en-US" sz="1350" dirty="0"/>
              <a:t> </a:t>
            </a:r>
          </a:p>
          <a:p>
            <a:r>
              <a:rPr lang="en-US" sz="1350" dirty="0">
                <a:hlinkClick r:id="rId19"/>
              </a:rPr>
              <a:t>Practical Guide to Software Architecture</a:t>
            </a:r>
            <a:endParaRPr lang="en-US" sz="1350" dirty="0"/>
          </a:p>
          <a:p>
            <a:r>
              <a:rPr lang="en-US" sz="1350" dirty="0">
                <a:hlinkClick r:id="rId20"/>
              </a:rPr>
              <a:t>Awesome-it-architect</a:t>
            </a:r>
            <a:endParaRPr lang="en-US" sz="1350" dirty="0"/>
          </a:p>
          <a:p>
            <a:r>
              <a:rPr lang="en-IN" sz="1350" dirty="0">
                <a:hlinkClick r:id="rId21"/>
              </a:rPr>
              <a:t>Solution-Architecture</a:t>
            </a:r>
            <a:endParaRPr lang="en-US" sz="1350" dirty="0"/>
          </a:p>
          <a:p>
            <a:pPr marL="12700" marR="5080"/>
            <a:r>
              <a:rPr lang="en-IN" sz="1350" dirty="0">
                <a:hlinkClick r:id="rId22"/>
              </a:rPr>
              <a:t>Solution-Architecture-Patterns</a:t>
            </a:r>
            <a:endParaRPr lang="en-IN" sz="1350" dirty="0"/>
          </a:p>
          <a:p>
            <a:pPr marL="12700" marR="5080"/>
            <a:r>
              <a:rPr lang="en-US" sz="1350" dirty="0">
                <a:hlinkClick r:id="rId23"/>
              </a:rPr>
              <a:t>Software-Architecture-Resources</a:t>
            </a:r>
            <a:endParaRPr lang="en-US" sz="1350" dirty="0"/>
          </a:p>
          <a:p>
            <a:pPr marL="12700" marR="5080"/>
            <a:r>
              <a:rPr lang="en-US" sz="1350" dirty="0">
                <a:hlinkClick r:id="rId24"/>
              </a:rPr>
              <a:t>Awesome-Architecture</a:t>
            </a:r>
            <a:endParaRPr lang="en-US" sz="1350" dirty="0"/>
          </a:p>
          <a:p>
            <a:r>
              <a:rPr lang="en-US" sz="1350" dirty="0">
                <a:hlinkClick r:id="rId25"/>
              </a:rPr>
              <a:t>Master Software Architecture: A Pragmatic Guide - Software Architecture Book</a:t>
            </a:r>
            <a:endParaRPr lang="en-US" sz="1350" dirty="0"/>
          </a:p>
          <a:p>
            <a:r>
              <a:rPr lang="en-US" sz="1350" dirty="0">
                <a:hlinkClick r:id="rId26"/>
              </a:rPr>
              <a:t>Solutions Architect's Handbook | Cloud &amp; Networking | Print</a:t>
            </a:r>
            <a:endParaRPr lang="en-US" sz="1350" dirty="0"/>
          </a:p>
          <a:p>
            <a:r>
              <a:rPr lang="en-US" sz="1350" dirty="0">
                <a:hlinkClick r:id="rId27"/>
              </a:rPr>
              <a:t>Software Architecture Patterns for Serverless Systems | Programming | Print</a:t>
            </a:r>
            <a:endParaRPr lang="en-US" sz="1350" dirty="0"/>
          </a:p>
          <a:p>
            <a:r>
              <a:rPr lang="en-IN" sz="1350" dirty="0">
                <a:hlinkClick r:id="rId28"/>
              </a:rPr>
              <a:t>Architectural Patterns | Programming | Print</a:t>
            </a:r>
            <a:endParaRPr lang="en-IN" sz="1350" dirty="0"/>
          </a:p>
          <a:p>
            <a:r>
              <a:rPr lang="en-US" sz="1350" dirty="0">
                <a:hlinkClick r:id="rId29"/>
              </a:rPr>
              <a:t>Addison-Wesley Signature Series (Vernon) (7 book series) Kindle edition</a:t>
            </a:r>
            <a:endParaRPr lang="en-US" sz="1350" dirty="0"/>
          </a:p>
          <a:p>
            <a:endParaRPr lang="en-US" sz="1150" dirty="0">
              <a:hlinkClick r:id="rId30"/>
            </a:endParaRPr>
          </a:p>
          <a:p>
            <a:endParaRPr lang="en-US" sz="1200" dirty="0"/>
          </a:p>
          <a:p>
            <a:endParaRPr lang="en-US" sz="1150" dirty="0"/>
          </a:p>
        </p:txBody>
      </p:sp>
    </p:spTree>
    <p:extLst>
      <p:ext uri="{BB962C8B-B14F-4D97-AF65-F5344CB8AC3E}">
        <p14:creationId xmlns:p14="http://schemas.microsoft.com/office/powerpoint/2010/main" val="680182129"/>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145230" y="762000"/>
            <a:ext cx="8624937" cy="5452262"/>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US" sz="1250" dirty="0">
                <a:hlinkClick r:id="rId7"/>
              </a:rPr>
              <a:t>The Process of Software Architecting</a:t>
            </a:r>
            <a:endParaRPr lang="en-US" sz="1250" dirty="0"/>
          </a:p>
          <a:p>
            <a:r>
              <a:rPr lang="en-IN" sz="1250" dirty="0">
                <a:hlinkClick r:id="rId8"/>
              </a:rPr>
              <a:t>Software Systems Architecture</a:t>
            </a:r>
            <a:r>
              <a:rPr lang="en-US" sz="1250" dirty="0"/>
              <a:t>  </a:t>
            </a:r>
          </a:p>
          <a:p>
            <a:r>
              <a:rPr lang="en-US" sz="1250" dirty="0">
                <a:hlinkClick r:id="rId9"/>
              </a:rPr>
              <a:t>Software Architecture: Principles and Practices</a:t>
            </a:r>
            <a:endParaRPr lang="en-US" sz="1250" dirty="0"/>
          </a:p>
          <a:p>
            <a:r>
              <a:rPr lang="en-US" sz="1250" dirty="0">
                <a:hlinkClick r:id="rId10"/>
              </a:rPr>
              <a:t>Beyond Software Architecture: Creating and Sustaining Winning Solutions[Book]</a:t>
            </a:r>
            <a:endParaRPr lang="en-US" sz="1250" dirty="0"/>
          </a:p>
          <a:p>
            <a:r>
              <a:rPr lang="en-US" sz="1250" dirty="0">
                <a:hlinkClick r:id="rId11"/>
              </a:rPr>
              <a:t>Book notes: Software Architecture: The Hard Parts</a:t>
            </a:r>
            <a:endParaRPr lang="en-US" sz="1250" dirty="0"/>
          </a:p>
          <a:p>
            <a:r>
              <a:rPr lang="en-US" sz="1250" dirty="0">
                <a:hlinkClick r:id="rId12"/>
              </a:rPr>
              <a:t>George Fairbanks - Book: Just Enough Software Architecture</a:t>
            </a:r>
            <a:endParaRPr lang="en-US" sz="1250" dirty="0"/>
          </a:p>
          <a:p>
            <a:r>
              <a:rPr lang="en-US" sz="1250" dirty="0">
                <a:hlinkClick r:id="rId13"/>
              </a:rPr>
              <a:t>What I learned from the book Software Architecture: The Hard Parts | by Dr Milan Milanović | Medium</a:t>
            </a:r>
            <a:endParaRPr lang="en-US" sz="1250" dirty="0"/>
          </a:p>
          <a:p>
            <a:r>
              <a:rPr lang="en-IN" sz="1250" dirty="0">
                <a:hlinkClick r:id="rId14"/>
              </a:rPr>
              <a:t>Srihari Sridharan – Medium</a:t>
            </a:r>
            <a:endParaRPr lang="en-US" sz="1250" dirty="0"/>
          </a:p>
          <a:p>
            <a:r>
              <a:rPr lang="en-US" sz="1250" dirty="0">
                <a:hlinkClick r:id="rId15"/>
              </a:rPr>
              <a:t>Summary of The Software Architect Elevator</a:t>
            </a:r>
            <a:endParaRPr lang="en-US" sz="1250" dirty="0"/>
          </a:p>
          <a:p>
            <a:r>
              <a:rPr lang="en-US" sz="1250" dirty="0">
                <a:hlinkClick r:id="rId16"/>
              </a:rPr>
              <a:t>YOUR KINDLE NOTES FOR: The Software Architect Elevator: Redefining the Architect's Role in the Digital Enterprise</a:t>
            </a:r>
            <a:r>
              <a:rPr lang="en-US" sz="1250" dirty="0"/>
              <a:t> </a:t>
            </a:r>
          </a:p>
          <a:p>
            <a:r>
              <a:rPr lang="en-US" sz="1250" dirty="0">
                <a:hlinkClick r:id="rId17"/>
              </a:rPr>
              <a:t>Key learnings from the book “The Software Architect Elevator” by Gregor </a:t>
            </a:r>
            <a:r>
              <a:rPr lang="en-US" sz="1250" dirty="0" err="1">
                <a:hlinkClick r:id="rId17"/>
              </a:rPr>
              <a:t>Hohpe</a:t>
            </a:r>
            <a:r>
              <a:rPr lang="en-US" sz="1250" dirty="0">
                <a:hlinkClick r:id="rId17"/>
              </a:rPr>
              <a:t> | by </a:t>
            </a:r>
            <a:r>
              <a:rPr lang="en-US" sz="1250" dirty="0" err="1">
                <a:hlinkClick r:id="rId17"/>
              </a:rPr>
              <a:t>Codebrain</a:t>
            </a:r>
            <a:r>
              <a:rPr lang="en-US" sz="1250" dirty="0">
                <a:hlinkClick r:id="rId17"/>
              </a:rPr>
              <a:t> | Medium</a:t>
            </a:r>
            <a:endParaRPr lang="en-US" sz="1250" dirty="0"/>
          </a:p>
          <a:p>
            <a:r>
              <a:rPr lang="en-US" sz="1250" dirty="0">
                <a:hlinkClick r:id="rId18"/>
              </a:rPr>
              <a:t>Architecture Modernization - Book Notes | LinkedIn</a:t>
            </a:r>
            <a:endParaRPr lang="en-US" sz="1250" dirty="0"/>
          </a:p>
          <a:p>
            <a:r>
              <a:rPr lang="en-US" sz="1250" dirty="0">
                <a:hlinkClick r:id="rId19"/>
              </a:rPr>
              <a:t>Book: Software Architecture and Decision-Making | by Srinath Perera | Medium</a:t>
            </a:r>
            <a:endParaRPr lang="en-US" sz="1250" dirty="0"/>
          </a:p>
          <a:p>
            <a:r>
              <a:rPr lang="en-US" sz="1250" dirty="0">
                <a:hlinkClick r:id="rId20"/>
              </a:rPr>
              <a:t>Facilitating Software Architecture: Andrew Harmel-Law in conversation </a:t>
            </a:r>
            <a:r>
              <a:rPr lang="en-US" sz="1250" dirty="0">
                <a:hlinkClick r:id="rId21"/>
              </a:rPr>
              <a:t>–</a:t>
            </a:r>
            <a:r>
              <a:rPr lang="en-US" sz="1250" dirty="0">
                <a:hlinkClick r:id="rId20"/>
              </a:rPr>
              <a:t> </a:t>
            </a:r>
            <a:r>
              <a:rPr lang="en-US" sz="1250" dirty="0" err="1">
                <a:hlinkClick r:id="rId20"/>
              </a:rPr>
              <a:t>LeadDev</a:t>
            </a:r>
            <a:endParaRPr lang="en-US" sz="1250" dirty="0"/>
          </a:p>
          <a:p>
            <a:r>
              <a:rPr lang="en-US" sz="1250" dirty="0">
                <a:hlinkClick r:id="rId22"/>
              </a:rPr>
              <a:t>New "Designing Distributed Systems" O'Reilly e-book</a:t>
            </a:r>
            <a:endParaRPr lang="en-US" sz="1250" dirty="0"/>
          </a:p>
          <a:p>
            <a:pPr marL="12700" marR="5080"/>
            <a:r>
              <a:rPr lang="en-US" sz="1250" dirty="0">
                <a:hlinkClick r:id="rId23"/>
              </a:rPr>
              <a:t>Path to Production Mapping - Ham Vocke</a:t>
            </a:r>
            <a:r>
              <a:rPr lang="en-US" sz="1250" dirty="0"/>
              <a:t> </a:t>
            </a:r>
          </a:p>
          <a:p>
            <a:r>
              <a:rPr lang="en-IN" sz="1250" dirty="0">
                <a:hlinkClick r:id="rId24"/>
              </a:rPr>
              <a:t>Various Patterns | LinkedIn</a:t>
            </a:r>
            <a:r>
              <a:rPr lang="en-US" sz="1250" dirty="0"/>
              <a:t> </a:t>
            </a:r>
          </a:p>
          <a:p>
            <a:r>
              <a:rPr lang="en-IN" sz="1250" dirty="0">
                <a:hlinkClick r:id="rId25"/>
              </a:rPr>
              <a:t>Patterns of Legacy Displacement</a:t>
            </a:r>
            <a:r>
              <a:rPr lang="en-US" sz="1250" dirty="0"/>
              <a:t> </a:t>
            </a:r>
          </a:p>
          <a:p>
            <a:r>
              <a:rPr lang="en-IN" sz="1250" dirty="0">
                <a:hlinkClick r:id="rId26"/>
              </a:rPr>
              <a:t>Collaborative Software Design</a:t>
            </a:r>
            <a:endParaRPr lang="en-IN" sz="1250" dirty="0"/>
          </a:p>
          <a:p>
            <a:r>
              <a:rPr lang="en-US" sz="1250" dirty="0" err="1">
                <a:hlinkClick r:id="rId27"/>
              </a:rPr>
              <a:t>Refactorings</a:t>
            </a:r>
            <a:r>
              <a:rPr lang="en-US" sz="1250" dirty="0">
                <a:hlinkClick r:id="rId27"/>
              </a:rPr>
              <a:t> in Large Software Projects</a:t>
            </a:r>
            <a:endParaRPr lang="en-US" sz="1250" dirty="0"/>
          </a:p>
          <a:p>
            <a:r>
              <a:rPr lang="en-IN" sz="1250" dirty="0">
                <a:hlinkClick r:id="rId28"/>
              </a:rPr>
              <a:t>Engineering Manager</a:t>
            </a:r>
            <a:endParaRPr lang="en-US" sz="1250" dirty="0"/>
          </a:p>
          <a:p>
            <a:r>
              <a:rPr lang="en-IN" sz="1250" dirty="0">
                <a:hlinkClick r:id="rId29"/>
              </a:rPr>
              <a:t>Product Manager</a:t>
            </a:r>
            <a:endParaRPr lang="en-IN" sz="1250" dirty="0"/>
          </a:p>
          <a:p>
            <a:r>
              <a:rPr lang="en-US" sz="1250" dirty="0">
                <a:hlinkClick r:id="rId30"/>
              </a:rPr>
              <a:t>How to Create a Value Stream Map: Step by Step with Examples</a:t>
            </a:r>
            <a:endParaRPr lang="en-IN" sz="1250" dirty="0"/>
          </a:p>
          <a:p>
            <a:r>
              <a:rPr lang="en-US" sz="1250" dirty="0">
                <a:hlinkClick r:id="rId31"/>
              </a:rPr>
              <a:t>DevRel Roadmap: What is DevRel Engineering?</a:t>
            </a:r>
            <a:endParaRPr lang="en-US" sz="1250" dirty="0"/>
          </a:p>
          <a:p>
            <a:r>
              <a:rPr lang="en-US" sz="1250" dirty="0">
                <a:hlinkClick r:id="rId32"/>
              </a:rPr>
              <a:t>GitHub - ashishps1/awesome-behavioral-interviews: Tips and resources to prepare for Behavioral interviews.</a:t>
            </a:r>
            <a:endParaRPr lang="en-US" sz="1250" dirty="0"/>
          </a:p>
          <a:p>
            <a:r>
              <a:rPr lang="en-US" sz="1250" dirty="0">
                <a:hlinkClick r:id="rId33"/>
              </a:rPr>
              <a:t>List of engineering blogs from well-known companies. | by Sujatha </a:t>
            </a:r>
            <a:r>
              <a:rPr lang="en-US" sz="1250" dirty="0" err="1">
                <a:hlinkClick r:id="rId33"/>
              </a:rPr>
              <a:t>Mudadla</a:t>
            </a:r>
            <a:r>
              <a:rPr lang="en-US" sz="1250" dirty="0">
                <a:hlinkClick r:id="rId33"/>
              </a:rPr>
              <a:t> | Medium</a:t>
            </a:r>
            <a:endParaRPr lang="en-US" sz="1250" dirty="0"/>
          </a:p>
          <a:p>
            <a:endParaRPr lang="en-US" sz="980" dirty="0"/>
          </a:p>
          <a:p>
            <a:r>
              <a:rPr lang="en-US" sz="950" dirty="0"/>
              <a:t> </a:t>
            </a:r>
          </a:p>
          <a:p>
            <a:endParaRPr lang="en-IN" sz="1000" dirty="0"/>
          </a:p>
        </p:txBody>
      </p:sp>
    </p:spTree>
    <p:extLst>
      <p:ext uri="{BB962C8B-B14F-4D97-AF65-F5344CB8AC3E}">
        <p14:creationId xmlns:p14="http://schemas.microsoft.com/office/powerpoint/2010/main" val="262747613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152400" y="772954"/>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6"/>
                </a:solidFill>
              </a:rPr>
              <a:t>Quantum Computing</a:t>
            </a:r>
          </a:p>
          <a:p>
            <a:pPr marL="12700" marR="5080"/>
            <a:r>
              <a:rPr lang="en-US" sz="2400" kern="0" spc="-80" dirty="0">
                <a:solidFill>
                  <a:schemeClr val="accent6"/>
                </a:solidFill>
              </a:rPr>
              <a:t>HPC(High Performance Computing) for Scientific &amp; Engineering Applications</a:t>
            </a:r>
          </a:p>
          <a:p>
            <a:pPr marL="12700" marR="5080"/>
            <a:r>
              <a:rPr lang="en-US" sz="2400" kern="0" spc="-80" dirty="0">
                <a:solidFill>
                  <a:schemeClr val="accent6"/>
                </a:solidFill>
              </a:rPr>
              <a:t>5G Networks</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2981948906"/>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404038530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25387</TotalTime>
  <Words>30998</Words>
  <Application>Microsoft Macintosh PowerPoint</Application>
  <PresentationFormat>Custom</PresentationFormat>
  <Paragraphs>4796</Paragraphs>
  <Slides>302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302</vt:i4>
      </vt:variant>
    </vt:vector>
  </HeadingPairs>
  <TitlesOfParts>
    <vt:vector size="308" baseType="lpstr">
      <vt:lpstr>-apple-system</vt:lpstr>
      <vt:lpstr>Arial</vt:lpstr>
      <vt:lpstr>Calibri</vt:lpstr>
      <vt:lpstr>Georgia</vt:lpstr>
      <vt:lpstr>Lucida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Microsoft Office User</cp:lastModifiedBy>
  <cp:revision>3617</cp:revision>
  <dcterms:created xsi:type="dcterms:W3CDTF">2020-11-03T17:16:52Z</dcterms:created>
  <dcterms:modified xsi:type="dcterms:W3CDTF">2026-03-24T04:39:56Z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