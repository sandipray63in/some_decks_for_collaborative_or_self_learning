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4.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5.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6.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7.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8.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9.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10.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1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13.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1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5.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18.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19.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0.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1.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2.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4.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5.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6.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7.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8.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9.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30.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31.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32.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33.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34.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35.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36.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37.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38.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39.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40.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41.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42.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43.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44.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45.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46.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47.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48.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49.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50.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51.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52.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53.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54.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55.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56.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57.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58.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59.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60.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61.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62.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63.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64.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65.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66.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notesSlides/notesSlide67.xml" ContentType="application/vnd.openxmlformats-officedocument.presentationml.notesSlide+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53"/>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76" r:id="rId34"/>
    <p:sldId id="777" r:id="rId35"/>
    <p:sldId id="778" r:id="rId36"/>
    <p:sldId id="779" r:id="rId37"/>
    <p:sldId id="780" r:id="rId38"/>
    <p:sldId id="781" r:id="rId39"/>
    <p:sldId id="782" r:id="rId40"/>
    <p:sldId id="784" r:id="rId41"/>
    <p:sldId id="783" r:id="rId42"/>
    <p:sldId id="785" r:id="rId43"/>
    <p:sldId id="738" r:id="rId44"/>
    <p:sldId id="566" r:id="rId45"/>
    <p:sldId id="390" r:id="rId46"/>
    <p:sldId id="391" r:id="rId47"/>
    <p:sldId id="731" r:id="rId48"/>
    <p:sldId id="732" r:id="rId49"/>
    <p:sldId id="401" r:id="rId50"/>
    <p:sldId id="526" r:id="rId51"/>
    <p:sldId id="411" r:id="rId52"/>
    <p:sldId id="434" r:id="rId53"/>
    <p:sldId id="380" r:id="rId54"/>
    <p:sldId id="381" r:id="rId55"/>
    <p:sldId id="382" r:id="rId56"/>
    <p:sldId id="437" r:id="rId57"/>
    <p:sldId id="388" r:id="rId58"/>
    <p:sldId id="387" r:id="rId59"/>
    <p:sldId id="386" r:id="rId60"/>
    <p:sldId id="389" r:id="rId61"/>
    <p:sldId id="383" r:id="rId62"/>
    <p:sldId id="384" r:id="rId63"/>
    <p:sldId id="385" r:id="rId64"/>
    <p:sldId id="491" r:id="rId65"/>
    <p:sldId id="500" r:id="rId66"/>
    <p:sldId id="402" r:id="rId67"/>
    <p:sldId id="730" r:id="rId68"/>
    <p:sldId id="741" r:id="rId69"/>
    <p:sldId id="392" r:id="rId70"/>
    <p:sldId id="394" r:id="rId71"/>
    <p:sldId id="395" r:id="rId72"/>
    <p:sldId id="393" r:id="rId73"/>
    <p:sldId id="396" r:id="rId74"/>
    <p:sldId id="398" r:id="rId75"/>
    <p:sldId id="399" r:id="rId76"/>
    <p:sldId id="397" r:id="rId77"/>
    <p:sldId id="412" r:id="rId78"/>
    <p:sldId id="523" r:id="rId79"/>
    <p:sldId id="445" r:id="rId80"/>
    <p:sldId id="446" r:id="rId81"/>
    <p:sldId id="315" r:id="rId82"/>
    <p:sldId id="447" r:id="rId83"/>
    <p:sldId id="448" r:id="rId84"/>
    <p:sldId id="449" r:id="rId85"/>
    <p:sldId id="450" r:id="rId86"/>
    <p:sldId id="413" r:id="rId87"/>
    <p:sldId id="316" r:id="rId88"/>
    <p:sldId id="451" r:id="rId89"/>
    <p:sldId id="452" r:id="rId90"/>
    <p:sldId id="453" r:id="rId91"/>
    <p:sldId id="454" r:id="rId92"/>
    <p:sldId id="455" r:id="rId93"/>
    <p:sldId id="318" r:id="rId94"/>
    <p:sldId id="317" r:id="rId95"/>
    <p:sldId id="456" r:id="rId96"/>
    <p:sldId id="319" r:id="rId97"/>
    <p:sldId id="525" r:id="rId98"/>
    <p:sldId id="736" r:id="rId99"/>
    <p:sldId id="773" r:id="rId100"/>
    <p:sldId id="774" r:id="rId101"/>
    <p:sldId id="775" r:id="rId102"/>
    <p:sldId id="325" r:id="rId103"/>
    <p:sldId id="322" r:id="rId104"/>
    <p:sldId id="334" r:id="rId105"/>
    <p:sldId id="323" r:id="rId106"/>
    <p:sldId id="324" r:id="rId107"/>
    <p:sldId id="326" r:id="rId108"/>
    <p:sldId id="327" r:id="rId109"/>
    <p:sldId id="328" r:id="rId110"/>
    <p:sldId id="329" r:id="rId111"/>
    <p:sldId id="586" r:id="rId112"/>
    <p:sldId id="331" r:id="rId113"/>
    <p:sldId id="332" r:id="rId114"/>
    <p:sldId id="728" r:id="rId115"/>
    <p:sldId id="404" r:id="rId116"/>
    <p:sldId id="335" r:id="rId117"/>
    <p:sldId id="527" r:id="rId118"/>
    <p:sldId id="457" r:id="rId119"/>
    <p:sldId id="458" r:id="rId120"/>
    <p:sldId id="459" r:id="rId121"/>
    <p:sldId id="336" r:id="rId122"/>
    <p:sldId id="340" r:id="rId123"/>
    <p:sldId id="341" r:id="rId124"/>
    <p:sldId id="343" r:id="rId125"/>
    <p:sldId id="344" r:id="rId126"/>
    <p:sldId id="345" r:id="rId127"/>
    <p:sldId id="346" r:id="rId128"/>
    <p:sldId id="570" r:id="rId129"/>
    <p:sldId id="347" r:id="rId130"/>
    <p:sldId id="348" r:id="rId131"/>
    <p:sldId id="739" r:id="rId132"/>
    <p:sldId id="740" r:id="rId133"/>
    <p:sldId id="349" r:id="rId134"/>
    <p:sldId id="351" r:id="rId135"/>
    <p:sldId id="350" r:id="rId136"/>
    <p:sldId id="352" r:id="rId137"/>
    <p:sldId id="353" r:id="rId138"/>
    <p:sldId id="354" r:id="rId139"/>
    <p:sldId id="568" r:id="rId140"/>
    <p:sldId id="355" r:id="rId141"/>
    <p:sldId id="356" r:id="rId142"/>
    <p:sldId id="357" r:id="rId143"/>
    <p:sldId id="358" r:id="rId144"/>
    <p:sldId id="750" r:id="rId145"/>
    <p:sldId id="757" r:id="rId146"/>
    <p:sldId id="760" r:id="rId147"/>
    <p:sldId id="759" r:id="rId148"/>
    <p:sldId id="761" r:id="rId149"/>
    <p:sldId id="758" r:id="rId150"/>
    <p:sldId id="729" r:id="rId151"/>
    <p:sldId id="359" r:id="rId152"/>
    <p:sldId id="360" r:id="rId153"/>
    <p:sldId id="415" r:id="rId154"/>
    <p:sldId id="363" r:id="rId155"/>
    <p:sldId id="364" r:id="rId156"/>
    <p:sldId id="522" r:id="rId157"/>
    <p:sldId id="572" r:id="rId158"/>
    <p:sldId id="365" r:id="rId159"/>
    <p:sldId id="366" r:id="rId160"/>
    <p:sldId id="577" r:id="rId161"/>
    <p:sldId id="578" r:id="rId162"/>
    <p:sldId id="580" r:id="rId163"/>
    <p:sldId id="581" r:id="rId164"/>
    <p:sldId id="369" r:id="rId165"/>
    <p:sldId id="435" r:id="rId166"/>
    <p:sldId id="576" r:id="rId167"/>
    <p:sldId id="742" r:id="rId168"/>
    <p:sldId id="743" r:id="rId169"/>
    <p:sldId id="744" r:id="rId170"/>
    <p:sldId id="745" r:id="rId171"/>
    <p:sldId id="746" r:id="rId172"/>
    <p:sldId id="747" r:id="rId173"/>
    <p:sldId id="748" r:id="rId174"/>
    <p:sldId id="569" r:id="rId175"/>
    <p:sldId id="370" r:id="rId176"/>
    <p:sldId id="583" r:id="rId177"/>
    <p:sldId id="371" r:id="rId178"/>
    <p:sldId id="441" r:id="rId179"/>
    <p:sldId id="439" r:id="rId180"/>
    <p:sldId id="440" r:id="rId181"/>
    <p:sldId id="442" r:id="rId182"/>
    <p:sldId id="443" r:id="rId183"/>
    <p:sldId id="484" r:id="rId184"/>
    <p:sldId id="438" r:id="rId185"/>
    <p:sldId id="372" r:id="rId186"/>
    <p:sldId id="373" r:id="rId187"/>
    <p:sldId id="377" r:id="rId188"/>
    <p:sldId id="378" r:id="rId189"/>
    <p:sldId id="379" r:id="rId190"/>
    <p:sldId id="768" r:id="rId191"/>
    <p:sldId id="769" r:id="rId192"/>
    <p:sldId id="770" r:id="rId193"/>
    <p:sldId id="771" r:id="rId194"/>
    <p:sldId id="772" r:id="rId195"/>
    <p:sldId id="762" r:id="rId196"/>
    <p:sldId id="763" r:id="rId197"/>
    <p:sldId id="764" r:id="rId198"/>
    <p:sldId id="765" r:id="rId199"/>
    <p:sldId id="766" r:id="rId200"/>
    <p:sldId id="767" r:id="rId201"/>
    <p:sldId id="498" r:id="rId202"/>
    <p:sldId id="499" r:id="rId203"/>
    <p:sldId id="587" r:id="rId204"/>
    <p:sldId id="786" r:id="rId205"/>
    <p:sldId id="724" r:id="rId206"/>
    <p:sldId id="787" r:id="rId207"/>
    <p:sldId id="788" r:id="rId208"/>
    <p:sldId id="789" r:id="rId209"/>
    <p:sldId id="790" r:id="rId210"/>
    <p:sldId id="791" r:id="rId211"/>
    <p:sldId id="792" r:id="rId212"/>
    <p:sldId id="793" r:id="rId213"/>
    <p:sldId id="794" r:id="rId214"/>
    <p:sldId id="795" r:id="rId215"/>
    <p:sldId id="734" r:id="rId216"/>
    <p:sldId id="796" r:id="rId217"/>
    <p:sldId id="797" r:id="rId218"/>
    <p:sldId id="798" r:id="rId219"/>
    <p:sldId id="799" r:id="rId220"/>
    <p:sldId id="579" r:id="rId221"/>
    <p:sldId id="588" r:id="rId222"/>
    <p:sldId id="825" r:id="rId223"/>
    <p:sldId id="826" r:id="rId224"/>
    <p:sldId id="827" r:id="rId225"/>
    <p:sldId id="725" r:id="rId226"/>
    <p:sldId id="726" r:id="rId227"/>
    <p:sldId id="818" r:id="rId228"/>
    <p:sldId id="817" r:id="rId229"/>
    <p:sldId id="727" r:id="rId230"/>
    <p:sldId id="819" r:id="rId231"/>
    <p:sldId id="820" r:id="rId232"/>
    <p:sldId id="828" r:id="rId233"/>
    <p:sldId id="841" r:id="rId234"/>
    <p:sldId id="842" r:id="rId235"/>
    <p:sldId id="843" r:id="rId236"/>
    <p:sldId id="584" r:id="rId237"/>
    <p:sldId id="844" r:id="rId238"/>
    <p:sldId id="845" r:id="rId239"/>
    <p:sldId id="511" r:id="rId240"/>
    <p:sldId id="722" r:id="rId241"/>
    <p:sldId id="521" r:id="rId242"/>
    <p:sldId id="846" r:id="rId243"/>
    <p:sldId id="847" r:id="rId244"/>
    <p:sldId id="829" r:id="rId245"/>
    <p:sldId id="830" r:id="rId246"/>
    <p:sldId id="831" r:id="rId247"/>
    <p:sldId id="840" r:id="rId248"/>
    <p:sldId id="590" r:id="rId249"/>
    <p:sldId id="723" r:id="rId250"/>
    <p:sldId id="589" r:id="rId251"/>
    <p:sldId id="884" r:id="rId252"/>
    <p:sldId id="885" r:id="rId253"/>
    <p:sldId id="886" r:id="rId254"/>
    <p:sldId id="887" r:id="rId255"/>
    <p:sldId id="888" r:id="rId256"/>
    <p:sldId id="889" r:id="rId257"/>
    <p:sldId id="890" r:id="rId258"/>
    <p:sldId id="891" r:id="rId259"/>
    <p:sldId id="892" r:id="rId260"/>
    <p:sldId id="893" r:id="rId261"/>
    <p:sldId id="894" r:id="rId262"/>
    <p:sldId id="895" r:id="rId263"/>
    <p:sldId id="896" r:id="rId264"/>
    <p:sldId id="897" r:id="rId265"/>
    <p:sldId id="898" r:id="rId266"/>
    <p:sldId id="899" r:id="rId267"/>
    <p:sldId id="900" r:id="rId268"/>
    <p:sldId id="901" r:id="rId269"/>
    <p:sldId id="902" r:id="rId270"/>
    <p:sldId id="903" r:id="rId271"/>
    <p:sldId id="904" r:id="rId272"/>
    <p:sldId id="905" r:id="rId273"/>
    <p:sldId id="906" r:id="rId274"/>
    <p:sldId id="907" r:id="rId275"/>
    <p:sldId id="908" r:id="rId276"/>
    <p:sldId id="909" r:id="rId277"/>
    <p:sldId id="910" r:id="rId278"/>
    <p:sldId id="809" r:id="rId279"/>
    <p:sldId id="810" r:id="rId280"/>
    <p:sldId id="812" r:id="rId281"/>
    <p:sldId id="813" r:id="rId282"/>
    <p:sldId id="814" r:id="rId283"/>
    <p:sldId id="911" r:id="rId284"/>
    <p:sldId id="912" r:id="rId285"/>
    <p:sldId id="913" r:id="rId286"/>
    <p:sldId id="914" r:id="rId287"/>
    <p:sldId id="915" r:id="rId288"/>
    <p:sldId id="816" r:id="rId289"/>
    <p:sldId id="735" r:id="rId290"/>
    <p:sldId id="516" r:id="rId291"/>
    <p:sldId id="517" r:id="rId292"/>
    <p:sldId id="519" r:id="rId293"/>
    <p:sldId id="921" r:id="rId294"/>
    <p:sldId id="922" r:id="rId295"/>
    <p:sldId id="923" r:id="rId296"/>
    <p:sldId id="924" r:id="rId297"/>
    <p:sldId id="925" r:id="rId298"/>
    <p:sldId id="926" r:id="rId299"/>
    <p:sldId id="927" r:id="rId300"/>
    <p:sldId id="928" r:id="rId301"/>
    <p:sldId id="929" r:id="rId302"/>
    <p:sldId id="930" r:id="rId303"/>
    <p:sldId id="931" r:id="rId304"/>
    <p:sldId id="932" r:id="rId305"/>
    <p:sldId id="933" r:id="rId306"/>
    <p:sldId id="959" r:id="rId307"/>
    <p:sldId id="960" r:id="rId308"/>
    <p:sldId id="961" r:id="rId309"/>
    <p:sldId id="962" r:id="rId310"/>
    <p:sldId id="963" r:id="rId311"/>
    <p:sldId id="964" r:id="rId312"/>
    <p:sldId id="965" r:id="rId313"/>
    <p:sldId id="940" r:id="rId314"/>
    <p:sldId id="934" r:id="rId315"/>
    <p:sldId id="935" r:id="rId316"/>
    <p:sldId id="936" r:id="rId317"/>
    <p:sldId id="937" r:id="rId318"/>
    <p:sldId id="938" r:id="rId319"/>
    <p:sldId id="939" r:id="rId320"/>
    <p:sldId id="941" r:id="rId321"/>
    <p:sldId id="942" r:id="rId322"/>
    <p:sldId id="943" r:id="rId323"/>
    <p:sldId id="944" r:id="rId324"/>
    <p:sldId id="945" r:id="rId325"/>
    <p:sldId id="946" r:id="rId326"/>
    <p:sldId id="947" r:id="rId327"/>
    <p:sldId id="948" r:id="rId328"/>
    <p:sldId id="949" r:id="rId329"/>
    <p:sldId id="966" r:id="rId330"/>
    <p:sldId id="967" r:id="rId331"/>
    <p:sldId id="968" r:id="rId332"/>
    <p:sldId id="969" r:id="rId333"/>
    <p:sldId id="970" r:id="rId334"/>
    <p:sldId id="971" r:id="rId335"/>
    <p:sldId id="972" r:id="rId336"/>
    <p:sldId id="973" r:id="rId337"/>
    <p:sldId id="974" r:id="rId338"/>
    <p:sldId id="975" r:id="rId339"/>
    <p:sldId id="950" r:id="rId340"/>
    <p:sldId id="951" r:id="rId341"/>
    <p:sldId id="952" r:id="rId342"/>
    <p:sldId id="953" r:id="rId343"/>
    <p:sldId id="954" r:id="rId344"/>
    <p:sldId id="958" r:id="rId345"/>
    <p:sldId id="955" r:id="rId346"/>
    <p:sldId id="956" r:id="rId347"/>
    <p:sldId id="957" r:id="rId348"/>
    <p:sldId id="513" r:id="rId349"/>
    <p:sldId id="515" r:id="rId350"/>
    <p:sldId id="514" r:id="rId351"/>
    <p:sldId id="294" r:id="rId35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theme" Target="theme/theme1.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microsoft.com/office/2016/11/relationships/changesInfo" Target="changesInfos/changesInfo1.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230" Type="http://schemas.openxmlformats.org/officeDocument/2006/relationships/slide" Target="slides/slide226.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72" Type="http://schemas.openxmlformats.org/officeDocument/2006/relationships/slide" Target="slides/slide268.xml"/><Relationship Id="rId293" Type="http://schemas.openxmlformats.org/officeDocument/2006/relationships/slide" Target="slides/slide289.xml"/><Relationship Id="rId307" Type="http://schemas.openxmlformats.org/officeDocument/2006/relationships/slide" Target="slides/slide303.xml"/><Relationship Id="rId328" Type="http://schemas.openxmlformats.org/officeDocument/2006/relationships/slide" Target="slides/slide324.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283" Type="http://schemas.openxmlformats.org/officeDocument/2006/relationships/slide" Target="slides/slide279.xml"/><Relationship Id="rId318" Type="http://schemas.openxmlformats.org/officeDocument/2006/relationships/slide" Target="slides/slide314.xml"/><Relationship Id="rId339" Type="http://schemas.openxmlformats.org/officeDocument/2006/relationships/slide" Target="slides/slide335.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slide" Target="slides/slide336.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notesMaster" Target="notesMasters/notesMaster1.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commentAuthors" Target="commentAuthors.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presProps" Target="presProp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viewProps" Target="viewProps.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tableStyles" Target="tableStyles.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173" Type="http://schemas.openxmlformats.org/officeDocument/2006/relationships/slide" Target="slides/slide169.xml"/><Relationship Id="rId229" Type="http://schemas.openxmlformats.org/officeDocument/2006/relationships/slide" Target="slides/slide225.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251" Type="http://schemas.openxmlformats.org/officeDocument/2006/relationships/slide" Target="slides/slide24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a:t>
          </a:r>
        </a:p>
      </dsp:txBody>
      <dsp:txXfrm>
        <a:off x="21162" y="21162"/>
        <a:ext cx="8338983"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a:t>
          </a:r>
        </a:p>
      </dsp:txBody>
      <dsp:txXfrm>
        <a:off x="21162" y="21162"/>
        <a:ext cx="8338983"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8873075"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a:t>
          </a:r>
        </a:p>
      </dsp:txBody>
      <dsp:txXfrm>
        <a:off x="21162" y="21162"/>
        <a:ext cx="7149976"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11/13/2025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85317-3A06-0767-8BE3-41AC2592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2FD48-A569-8EB8-F706-F0E23D744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6939B-0B3D-2061-8661-5B744FB5C1B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4628A9-F8EB-C6A8-3EF8-3D912B1148A0}"/>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634514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4389C-C3C0-2052-6915-46004254F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33639-C526-83AF-39CC-D924AE3E8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20C8A-3791-4897-3D4B-ED304133D1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AACCC3-757D-E8E2-7808-FE40D68D6856}"/>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147387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3B9FE-7D2A-B464-B656-2B2DFD527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43487-53FF-161E-B0EC-3F2C800CA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BFA26-CBA1-A704-4365-CD3BA882EE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596EE1-3F41-CF51-ED30-0021ED8702F7}"/>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4223665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D4E40-93DD-A6FD-CECA-A815307AC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B22D0-D453-2638-FCEA-0EFA9CB53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9B48-A237-85C2-C9DA-D98FF79E79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7CBB5-0C2C-B57D-9676-781DF02234C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003005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9283A-3AB9-A6FF-7648-32A68FB4F7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F004F-54D6-7176-EC0B-059CD96AE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1A856-09DF-15AC-F33A-CB95983F8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465F3-2C4A-AFE5-A698-5517F0FBBA1D}"/>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267801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B88CE-7E73-979D-4533-25E27DB9B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1CF6E-421B-FD12-7DD5-FF3CC3742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357FA-C508-F599-7C05-B484C48129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5814A13-B861-0169-4D3E-492CF8BA0025}"/>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612625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446E-6A83-B493-E379-F509021A2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C9F5E-6F5E-5260-2F5D-D79E22A61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378EF-8E18-58D9-8AB4-D82852DC4B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0BC741-529E-23DF-27C8-4C56ACB0A9EF}"/>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030944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64832-D2F6-50EC-CF39-1B52B7470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D0469-8D68-BC34-A1D9-64A32C813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7023CB-AD55-5E06-3B59-7714BD40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783457-288F-4ADB-D1E1-3F34EAA22B75}"/>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3770695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B84B9-0690-C9EE-0015-34E6F47F2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37D51-2921-FD4C-65A3-C8BF951B4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C8EB3-E348-64A8-8222-CD021B729A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B53E3E-E02A-6807-8B63-DB77E94E33EC}"/>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178555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1C78E-96AA-E877-74FD-B6C98DC07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29E71-031A-72CD-F136-58317BCAC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957B5-3114-0356-2370-C5A4E82104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B92A1D-E281-0C47-687E-4608EF731C4F}"/>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875883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33381496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237</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3D7F-160D-11C2-813A-EFDD263FE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BC0E5-422E-D2C7-C3C9-061C33801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578BB-9122-1B06-5FB9-E25F5B328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012661-F123-81FB-DF5A-D3166C0603B5}"/>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2615290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F36D-B1D9-7F57-4DB5-415521D0E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A3D17-1129-0603-E31A-640F82C4B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17A36-69BA-EDD9-384B-603DA8AD03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E997F1-6377-4D03-27A8-E6D8917E996A}"/>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415316299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A5EE-9F7E-9128-6530-5E483186E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2B610-8A2B-AE37-863B-AF1CEE16F8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CA6E14-1658-8C8B-7DC6-70BB21FC8C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E5FB3B-CEAF-BB1D-48A0-DA20D5BF1C54}"/>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41041516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A0305-EEF3-812D-8304-0E371303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99FD1-0B73-69A2-04A4-841541180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B2568-F31B-4A7C-DD33-4AAED8B0201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767FC3-B090-EC0C-D304-204EC554C1BB}"/>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1582867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3C69-2264-0A42-26D2-AE59DE27FB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A75F-5E4E-B1B7-4901-14245F0B8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E6C3B-12FB-1287-4208-37A1A2DF04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017CA7-7D0A-B553-D566-278F08D6A507}"/>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365301890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A6CCF-BAE2-7A36-CD68-7CA381049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80680-D76B-8421-D4E9-10E90C607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41B42-3C39-2D1A-4066-505724A0E7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BF1732-E4DE-2F93-2393-C2EB6286CDAE}"/>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24806591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335C6-91B2-612D-C311-D5A511797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106F6-7DDE-CD71-176D-AA9C5EC37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D053F-694F-2977-EF74-4CBD364E47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224580-6699-1410-D906-D227F56D7DBE}"/>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22868142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835F-E399-7CB0-C06E-2F5DE9A9E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1A0F6-6927-9A83-A8EF-FD713831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21105-9599-4430-8691-10BD08FD0A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75F639-BEC7-FB58-9C9E-7E548707AE6E}"/>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27726284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B6A1-2B9F-3A7D-193E-9AC0E6B73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F3CE0-C63B-8D2B-F212-B3D40ECB2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6134E-891A-09BB-55FF-0CE3EC44CF3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51A557-EF00-A008-9391-AA530110DA57}"/>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95506367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26D54-835B-5979-F8B8-72BE298AD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2650D-6167-50A8-8969-F1BDC07E0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913B4-6DB1-F34E-53D2-DF4193E8C0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4A9335-9DBE-D39F-D691-58358FB7A406}"/>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23808576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AD43B-75F1-777F-33E8-D9F70B2E5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8BAEF-352D-845D-AFBE-43F97250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C6EDD-4B1D-76B6-1F88-EE6A44A106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37C992-F8FF-AB4B-E4FF-0E5A6B7E6927}"/>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21586694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6CB84-8179-E253-13C9-F9A353C92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B0452-8E42-5ED4-16B5-F7884FF7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7384D-3F84-76F0-0ADC-86AC902D34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63E97A-4765-6D68-040A-65DBB5EDEC7E}"/>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38170363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B9425-701B-773E-FFD3-6C40040CE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EAA6B-5962-968B-9E94-D0025F54A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F745-36CA-8C92-936A-9FEF762147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BC11F8-0A74-AA19-F5FF-EBD62959DC23}"/>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1447858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347</a:t>
            </a:fld>
            <a:endParaRPr lang="en-US" dirty="0"/>
          </a:p>
        </p:txBody>
      </p:sp>
    </p:spTree>
    <p:extLst>
      <p:ext uri="{BB962C8B-B14F-4D97-AF65-F5344CB8AC3E}">
        <p14:creationId xmlns:p14="http://schemas.microsoft.com/office/powerpoint/2010/main" val="8141455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1684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11/13/2025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40.xml"/><Relationship Id="rId21" Type="http://schemas.openxmlformats.org/officeDocument/2006/relationships/hyperlink" Target="https://eawheel.com/" TargetMode="External"/><Relationship Id="rId7" Type="http://schemas.microsoft.com/office/2007/relationships/diagramDrawing" Target="../diagrams/drawing4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1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4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4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4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41.xml"/><Relationship Id="rId7" Type="http://schemas.openxmlformats.org/officeDocument/2006/relationships/image" Target="../media/image5.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www.linkedin.com/feed/update/urn:li:activity:7216040846343766016/"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42.xml"/><Relationship Id="rId7" Type="http://schemas.openxmlformats.org/officeDocument/2006/relationships/image" Target="../media/image6.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image" Target="../media/image7.png"/><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image" Target="../media/image8.png"/><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zipkin.io/pages/architecture.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4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4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46.xml"/><Relationship Id="rId7" Type="http://schemas.openxmlformats.org/officeDocument/2006/relationships/image" Target="../media/image10.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4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4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4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1.png"/></Relationships>
</file>

<file path=ppt/slides/_rels/slide4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48.xml"/><Relationship Id="rId7" Type="http://schemas.openxmlformats.org/officeDocument/2006/relationships/image" Target="../media/image12.gif"/><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4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48.xml"/><Relationship Id="rId9" Type="http://schemas.openxmlformats.org/officeDocument/2006/relationships/hyperlink" Target="https://learn.microsoft.com/en-us/dotnet/framework/wcf/extending/choosing-a-message-exchange-pattern"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4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14.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5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 Id="rId9" Type="http://schemas.openxmlformats.org/officeDocument/2006/relationships/hyperlink" Target="https://github.com/strongself/The-Book-of-VIPER"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55.xml"/><Relationship Id="rId7" Type="http://schemas.openxmlformats.org/officeDocument/2006/relationships/hyperlink" Target="https://awesome-architecture.com/onion-architecture/"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56.xml"/><Relationship Id="rId7" Type="http://schemas.openxmlformats.org/officeDocument/2006/relationships/image" Target="../media/image17.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56.xml"/><Relationship Id="rId9" Type="http://schemas.openxmlformats.org/officeDocument/2006/relationships/hyperlink" Target="https://awesome-architecture.com/clean-architecture/"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5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 Id="rId9" Type="http://schemas.openxmlformats.org/officeDocument/2006/relationships/image" Target="../media/image18.jpeg"/></Relationships>
</file>

<file path=ppt/slides/_rels/slide5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5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58.xml"/><Relationship Id="rId9" Type="http://schemas.openxmlformats.org/officeDocument/2006/relationships/hyperlink" Target="https://awesome-architecture.com/domain-driven-design/domain-driven-desig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59.xml"/><Relationship Id="rId7" Type="http://schemas.openxmlformats.org/officeDocument/2006/relationships/image" Target="../media/image19.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awesome-architecture.com/cqrs/"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60.xml"/><Relationship Id="rId7" Type="http://schemas.openxmlformats.org/officeDocument/2006/relationships/image" Target="../media/image20.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 Id="rId9" Type="http://schemas.openxmlformats.org/officeDocument/2006/relationships/hyperlink" Target="https://awesome-architecture.com/event-sourcing/"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61.xml"/><Relationship Id="rId7" Type="http://schemas.openxmlformats.org/officeDocument/2006/relationships/hyperlink" Target="https://martinfowler.com/eaaCatalog/"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61.xml"/><Relationship Id="rId9" Type="http://schemas.openxmlformats.org/officeDocument/2006/relationships/hyperlink" Target="http://www.corej2eepatterns.com/"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6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image" Target="../media/image21.png"/><Relationship Id="rId4" Type="http://schemas.openxmlformats.org/officeDocument/2006/relationships/diagramQuickStyle" Target="../diagrams/quickStyle62.xml"/><Relationship Id="rId9" Type="http://schemas.openxmlformats.org/officeDocument/2006/relationships/hyperlink" Target="https://www.goodreads.com/book/show/28241543-microservices-vs-service-oriented-architecture"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6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6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63.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6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63.xml"/><Relationship Id="rId4" Type="http://schemas.openxmlformats.org/officeDocument/2006/relationships/hyperlink" Target="https://openapi.tools/" TargetMode="External"/><Relationship Id="rId9" Type="http://schemas.openxmlformats.org/officeDocument/2006/relationships/diagramData" Target="../diagrams/data63.xml"/></Relationships>
</file>

<file path=ppt/slides/_rels/slide67.xml.rels><?xml version="1.0" encoding="UTF-8" standalone="yes"?>
<Relationships xmlns="http://schemas.openxmlformats.org/package/2006/relationships"><Relationship Id="rId8" Type="http://schemas.openxmlformats.org/officeDocument/2006/relationships/diagramQuickStyle" Target="../diagrams/quickStyle6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64.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diagramData" Target="../diagrams/data6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6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6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7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image" Target="../media/image27.gif"/><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6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67.xml"/><Relationship Id="rId9" Type="http://schemas.openxmlformats.org/officeDocument/2006/relationships/hyperlink" Target="https://www.linkedin.com/posts/raul-junco_how-many-ways-to-implement-idempotency-do-activity-7284922024202829824-1QSu/"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hyperlink" Target="https://www.cncf.io/blog/2022/11/09/multi-tenancy-in-kubernetes-implementation-and-optimization/" TargetMode="External"/></Relationships>
</file>

<file path=ppt/slides/_rels/slide7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68.xml"/><Relationship Id="rId7" Type="http://schemas.openxmlformats.org/officeDocument/2006/relationships/image" Target="../media/image30.gif"/><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priyalwalpita.medium.com/monolith-to-microservices-migration-patters-a9e32d5adc9a" TargetMode="External"/></Relationships>
</file>

<file path=ppt/slides/_rels/slide7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69.xml"/><Relationship Id="rId7" Type="http://schemas.openxmlformats.org/officeDocument/2006/relationships/image" Target="../media/image31.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learn.microsoft.com/en-us/azure/azure-functions/durable/durable-functions-cloud-backup?tabs=csharp" TargetMode="External"/><Relationship Id="rId3" Type="http://schemas.openxmlformats.org/officeDocument/2006/relationships/diagramLayout" Target="../diagrams/layout70.xml"/><Relationship Id="rId21" Type="http://schemas.openxmlformats.org/officeDocument/2006/relationships/hyperlink" Target="https://link.springer.com/book/10.1007/978-1-4842-7226-8" TargetMode="Externa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getambassador.io/blog/microservices-discovery-api-gateway-vs-service-mesh" TargetMode="External"/><Relationship Id="rId2" Type="http://schemas.openxmlformats.org/officeDocument/2006/relationships/diagramData" Target="../diagrams/data70.xml"/><Relationship Id="rId16" Type="http://schemas.openxmlformats.org/officeDocument/2006/relationships/hyperlink" Target="https://www.techtarget.com/searchitoperations/definition/service-mesh" TargetMode="External"/><Relationship Id="rId20" Type="http://schemas.openxmlformats.org/officeDocument/2006/relationships/hyperlink" Target="https://www.linkedin.com/posts/juan-manuel-cubillos-avellaneda_design-patterns-used-across-different-software-activity-7144012408208986112-sBPR/" TargetMode="Externa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7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www.oreilly.com/library/view/design-patterns-for/9781492090700/" TargetMode="External"/><Relationship Id="rId4" Type="http://schemas.openxmlformats.org/officeDocument/2006/relationships/diagramQuickStyle" Target="../diagrams/quickStyle7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 Id="rId22" Type="http://schemas.openxmlformats.org/officeDocument/2006/relationships/hyperlink" Target="https://www.linkedin.com/feed/update/urn:li:activity:7223921187465150465/" TargetMode="Externa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7" Type="http://schemas.openxmlformats.org/officeDocument/2006/relationships/image" Target="../media/image32.jpe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33.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7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73.xml"/><Relationship Id="rId9" Type="http://schemas.openxmlformats.org/officeDocument/2006/relationships/hyperlink" Target="https://www.educative.io/courses/grokking-the-system-design-interview/how-the-domain-name-system-works" TargetMode="Externa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7" Type="http://schemas.openxmlformats.org/officeDocument/2006/relationships/image" Target="../media/image34.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75.xm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8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diagramLayout" Target="../diagrams/layout77.xml"/><Relationship Id="rId7" Type="http://schemas.openxmlformats.org/officeDocument/2006/relationships/image" Target="../media/image3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10" Type="http://schemas.openxmlformats.org/officeDocument/2006/relationships/image" Target="../media/image38.png"/><Relationship Id="rId4" Type="http://schemas.openxmlformats.org/officeDocument/2006/relationships/diagramQuickStyle" Target="../diagrams/quickStyle77.xml"/><Relationship Id="rId9" Type="http://schemas.openxmlformats.org/officeDocument/2006/relationships/image" Target="../media/image37.png"/></Relationships>
</file>

<file path=ppt/slides/_rels/slide8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Layout" Target="../diagrams/layout7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8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7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7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79.xml"/><Relationship Id="rId9" Type="http://schemas.openxmlformats.org/officeDocument/2006/relationships/hyperlink" Target="https://www.imperva.com/learn/availability/sticky-session-persistence-and-cookies/" TargetMode="External"/></Relationships>
</file>

<file path=ppt/slides/_rels/slide8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Layout" Target="../diagrams/layout80.xml"/><Relationship Id="rId7" Type="http://schemas.openxmlformats.org/officeDocument/2006/relationships/image" Target="../media/image40.png"/><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7" Type="http://schemas.openxmlformats.org/officeDocument/2006/relationships/image" Target="../media/image42.pn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82.xml"/><Relationship Id="rId7" Type="http://schemas.openxmlformats.org/officeDocument/2006/relationships/image" Target="../media/image43.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83.xml"/><Relationship Id="rId7" Type="http://schemas.openxmlformats.org/officeDocument/2006/relationships/image" Target="../media/image45.png"/><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4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85.xml"/><Relationship Id="rId7" Type="http://schemas.microsoft.com/office/2007/relationships/diagramDrawing" Target="../diagrams/drawing8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8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85.xml"/><Relationship Id="rId10" Type="http://schemas.openxmlformats.org/officeDocument/2006/relationships/hyperlink" Target="https://en.wikipedia.org/wiki/PACELC_theorem" TargetMode="External"/><Relationship Id="rId4" Type="http://schemas.openxmlformats.org/officeDocument/2006/relationships/diagramLayout" Target="../diagrams/layout85.xml"/><Relationship Id="rId9" Type="http://schemas.openxmlformats.org/officeDocument/2006/relationships/hyperlink" Target="https://systemdesignbasic.wordpress.com/2020/06/20/15-acid-vs-base-database-transactions/"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8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86.xml"/><Relationship Id="rId9" Type="http://schemas.openxmlformats.org/officeDocument/2006/relationships/hyperlink" Target="https://microservices.io/patterns/data/saga.html"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87.xml"/><Relationship Id="rId7" Type="http://schemas.openxmlformats.org/officeDocument/2006/relationships/image" Target="../media/image47.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9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8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8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8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8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8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9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9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9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9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9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1.xm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48.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93.xml"/><Relationship Id="rId7" Type="http://schemas.openxmlformats.org/officeDocument/2006/relationships/image" Target="../media/image49.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9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93.xml"/><Relationship Id="rId9" Type="http://schemas.openxmlformats.org/officeDocument/2006/relationships/hyperlink" Target="https://medium.com/@iagomodesto/rest-api-development-gentle-checklist-of-non-functional-requirements-for-success-df2170956190"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10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9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 Id="rId9" Type="http://schemas.openxmlformats.org/officeDocument/2006/relationships/hyperlink" Target="https://stackoverflow.com/questions/1078523/how-do-i-download-a-large-file-via-http-in-net" TargetMode="Externa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99.xml"/><Relationship Id="rId7" Type="http://schemas.openxmlformats.org/officeDocument/2006/relationships/hyperlink" Target="https://www.geeksforgeeks.org/sql-performance-tuning/"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10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10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101.xml"/><Relationship Id="rId7" Type="http://schemas.openxmlformats.org/officeDocument/2006/relationships/hyperlink" Target="https://aws.amazon.com/elasticache/redis-vs-memcached/"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 Id="rId9" Type="http://schemas.openxmlformats.org/officeDocument/2006/relationships/hyperlink" Target="https://stackoverflow.com/questions/36203532/why-redis-cluster-only-have-16384-slots" TargetMode="External"/></Relationships>
</file>

<file path=ppt/slides/_rels/slide10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10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10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102.xml"/><Relationship Id="rId9" Type="http://schemas.openxmlformats.org/officeDocument/2006/relationships/hyperlink" Target="https://medium.com/@mmoshikoo/cache-strategies-996e91c80303" TargetMode="Externa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105.xml"/><Relationship Id="rId7" Type="http://schemas.openxmlformats.org/officeDocument/2006/relationships/hyperlink" Target="http://en.wikipedia.org/wiki/Client-server" TargetMode="Externa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10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106.xml"/><Relationship Id="rId9" Type="http://schemas.openxmlformats.org/officeDocument/2006/relationships/hyperlink" Target="https://www.linkedin.com/posts/alexxubyte_systemdesign-coding-interviewtips-activity-7211031615462895616-678T/" TargetMode="Externa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image" Target="../media/image50.png"/><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10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10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108.xml"/><Relationship Id="rId9" Type="http://schemas.openxmlformats.org/officeDocument/2006/relationships/hyperlink" Target="https://www.martinfowler.com/articles/data-fetch-spa.html" TargetMode="Externa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51.png"/><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1.xml"/><Relationship Id="rId7" Type="http://schemas.openxmlformats.org/officeDocument/2006/relationships/image" Target="../media/image52.png"/><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53.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1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 Id="rId9" Type="http://schemas.openxmlformats.org/officeDocument/2006/relationships/hyperlink" Target="https://microservices.io/articles/scalecube.html" TargetMode="Externa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7" Type="http://schemas.openxmlformats.org/officeDocument/2006/relationships/image" Target="../media/image54.png"/><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15.xml"/><Relationship Id="rId7" Type="http://schemas.openxmlformats.org/officeDocument/2006/relationships/image" Target="../media/image55.png"/><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56.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57.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image" Target="../media/image58.png"/><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2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19.xml"/><Relationship Id="rId7" Type="http://schemas.openxmlformats.org/officeDocument/2006/relationships/image" Target="../media/image59.png"/><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19.xml"/><Relationship Id="rId9" Type="http://schemas.openxmlformats.org/officeDocument/2006/relationships/hyperlink" Target="https://www.toptal.com/big-data/consistent-hashing" TargetMode="External"/></Relationships>
</file>

<file path=ppt/slides/_rels/slide12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20.xml"/><Relationship Id="rId7" Type="http://schemas.microsoft.com/office/2007/relationships/diagramDrawing" Target="../diagrams/drawing12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1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2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2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2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2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2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2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2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2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2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2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2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22.xml"/><Relationship Id="rId9" Type="http://schemas.openxmlformats.org/officeDocument/2006/relationships/hyperlink" Target="https://www.sedai.io/blog/system-availability-calculation-definition-and-measurement" TargetMode="External"/></Relationships>
</file>

<file path=ppt/slides/_rels/slide12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2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2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60.jpe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3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30.xml"/><Relationship Id="rId7" Type="http://schemas.openxmlformats.org/officeDocument/2006/relationships/hyperlink" Target="http://akka.io/?ref=hackernoon.com"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 Id="rId9" Type="http://schemas.openxmlformats.org/officeDocument/2006/relationships/hyperlink" Target="https://petabridge.com/blog/top-akkadotnet-design-patterns/" TargetMode="External"/></Relationships>
</file>

<file path=ppt/slides/_rels/slide13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3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3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31.xml"/><Relationship Id="rId9" Type="http://schemas.openxmlformats.org/officeDocument/2006/relationships/hyperlink" Target="https://www.guildhawk.com/blog/localization-checklist-top-tips-and-tools" TargetMode="Externa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3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33.xml"/><Relationship Id="rId9" Type="http://schemas.openxmlformats.org/officeDocument/2006/relationships/hyperlink" Target="https://devblogs.microsoft.com/dotnet/building-resilient-cloud-services-with-dotnet-8/" TargetMode="External"/></Relationships>
</file>

<file path=ppt/slides/_rels/slide13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34.xml"/><Relationship Id="rId7" Type="http://schemas.openxmlformats.org/officeDocument/2006/relationships/image" Target="../media/image61.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3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38.xm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39.xml"/><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0.xm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1.xml"/><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4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4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 Id="rId9" Type="http://schemas.openxmlformats.org/officeDocument/2006/relationships/hyperlink" Target="https://www.f5.com/glossary/network-availability" TargetMode="Externa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44.xml"/><Relationship Id="rId7" Type="http://schemas.openxmlformats.org/officeDocument/2006/relationships/image" Target="../media/image62.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45.xml"/><Relationship Id="rId7" Type="http://schemas.openxmlformats.org/officeDocument/2006/relationships/hyperlink" Target="https://www.blackduck.com/blog/secure-sdlc.html" TargetMode="Externa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 Id="rId9" Type="http://schemas.openxmlformats.org/officeDocument/2006/relationships/image" Target="../media/image63.png"/></Relationships>
</file>

<file path=ppt/slides/_rels/slide15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4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10" Type="http://schemas.openxmlformats.org/officeDocument/2006/relationships/image" Target="../media/image64.png"/><Relationship Id="rId4" Type="http://schemas.openxmlformats.org/officeDocument/2006/relationships/diagramQuickStyle" Target="../diagrams/quickStyle146.xml"/><Relationship Id="rId9" Type="http://schemas.openxmlformats.org/officeDocument/2006/relationships/hyperlink" Target="https://www.linkedin.com/pulse/zero-trust-security-cautious-move-balaji-ramarajan/" TargetMode="Externa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65.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5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49.xml"/><Relationship Id="rId7" Type="http://schemas.openxmlformats.org/officeDocument/2006/relationships/image" Target="../media/image66.pn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4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49.xml"/><Relationship Id="rId9" Type="http://schemas.openxmlformats.org/officeDocument/2006/relationships/hyperlink" Target="https://aws.amazon.com/compare/the-difference-between-ssl-and-tls/" TargetMode="Externa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7" Type="http://schemas.openxmlformats.org/officeDocument/2006/relationships/image" Target="../media/image67.png"/><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7" Type="http://schemas.openxmlformats.org/officeDocument/2006/relationships/image" Target="../media/image68.png"/><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69.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7" Type="http://schemas.openxmlformats.org/officeDocument/2006/relationships/image" Target="../media/image69.png"/><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54.xml"/><Relationship Id="rId7" Type="http://schemas.openxmlformats.org/officeDocument/2006/relationships/image" Target="../media/image70.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71.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62.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57.xml"/><Relationship Id="rId7" Type="http://schemas.openxmlformats.org/officeDocument/2006/relationships/image" Target="../media/image72.png"/><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57.xml"/><Relationship Id="rId9" Type="http://schemas.openxmlformats.org/officeDocument/2006/relationships/hyperlink" Target="https://newsletter.techworld-with-milan.com/p/how-does-single-sign-on-sso-work" TargetMode="External"/></Relationships>
</file>

<file path=ppt/slides/_rels/slide163.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58.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 Id="rId9" Type="http://schemas.openxmlformats.org/officeDocument/2006/relationships/hyperlink" Target="https://community.auth0.com/t/account-linking-and-sso/128446" TargetMode="Externa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2.xml"/><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64.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64.xml"/><Relationship Id="rId10" Type="http://schemas.openxmlformats.org/officeDocument/2006/relationships/hyperlink" Target="https://github.com/openfga/dotnet-sdk" TargetMode="External"/><Relationship Id="rId4" Type="http://schemas.openxmlformats.org/officeDocument/2006/relationships/diagramQuickStyle" Target="../diagrams/quickStyle164.xml"/><Relationship Id="rId9" Type="http://schemas.openxmlformats.org/officeDocument/2006/relationships/hyperlink" Target="https://github.com/open-policy-agent/opa-csharp" TargetMode="External"/></Relationships>
</file>

<file path=ppt/slides/_rels/slide170.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65.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 Id="rId9" Type="http://schemas.openxmlformats.org/officeDocument/2006/relationships/hyperlink" Target="https://github.com/aserto-dev/aserto-dotnet" TargetMode="External"/></Relationships>
</file>

<file path=ppt/slides/_rels/slide171.xml.rels><?xml version="1.0" encoding="UTF-8" standalone="yes"?>
<Relationships xmlns="http://schemas.openxmlformats.org/package/2006/relationships"><Relationship Id="rId8" Type="http://schemas.openxmlformats.org/officeDocument/2006/relationships/hyperlink" Target="https://github.com/PacktPublishing/Kubernetes-Service-Mesh-with-Istio" TargetMode="External"/><Relationship Id="rId13" Type="http://schemas.openxmlformats.org/officeDocument/2006/relationships/hyperlink" Target="https://cloud.google.com/learn/what-is-istio?hl=en" TargetMode="External"/><Relationship Id="rId18" Type="http://schemas.openxmlformats.org/officeDocument/2006/relationships/hyperlink" Target="https://github.com/PacktPublishing/Bootstrap-Service-Mesh-Implementations-with-Istio" TargetMode="External"/><Relationship Id="rId3" Type="http://schemas.openxmlformats.org/officeDocument/2006/relationships/diagramLayout" Target="../diagrams/layout166.xml"/><Relationship Id="rId7" Type="http://schemas.openxmlformats.org/officeDocument/2006/relationships/hyperlink" Target="https://medium.com/microservices-learning/how-to-implement-security-for-microservices-89b140d3e555" TargetMode="External"/><Relationship Id="rId12" Type="http://schemas.openxmlformats.org/officeDocument/2006/relationships/hyperlink" Target="https://www.linkedin.com/feed/update/urn:li:activity:7224311940091666432/" TargetMode="External"/><Relationship Id="rId17" Type="http://schemas.openxmlformats.org/officeDocument/2006/relationships/hyperlink" Target="https://github.com/PacktPublishing/Mastering-Service-Mesh-Architecture" TargetMode="External"/><Relationship Id="rId2" Type="http://schemas.openxmlformats.org/officeDocument/2006/relationships/diagramData" Target="../diagrams/data166.xml"/><Relationship Id="rId16" Type="http://schemas.openxmlformats.org/officeDocument/2006/relationships/hyperlink" Target="https://github.com/PacktPublishing/Mastering-Service-Mesh" TargetMode="External"/><Relationship Id="rId1" Type="http://schemas.openxmlformats.org/officeDocument/2006/relationships/slideLayout" Target="../slideLayouts/slideLayout2.xml"/><Relationship Id="rId6" Type="http://schemas.microsoft.com/office/2007/relationships/diagramDrawing" Target="../diagrams/drawing166.xml"/><Relationship Id="rId11" Type="http://schemas.openxmlformats.org/officeDocument/2006/relationships/hyperlink" Target="https://service-mesh-patterns.github.io/service-mesh-patterns/" TargetMode="External"/><Relationship Id="rId5" Type="http://schemas.openxmlformats.org/officeDocument/2006/relationships/diagramColors" Target="../diagrams/colors166.xml"/><Relationship Id="rId15" Type="http://schemas.openxmlformats.org/officeDocument/2006/relationships/hyperlink" Target="https://istio.io/latest/docs/" TargetMode="External"/><Relationship Id="rId10" Type="http://schemas.openxmlformats.org/officeDocument/2006/relationships/hyperlink" Target="https://layer5.io/learn/service-mesh-books/the-enterprise-path-to-service-mesh-architectures-2nd-edition" TargetMode="External"/><Relationship Id="rId4" Type="http://schemas.openxmlformats.org/officeDocument/2006/relationships/diagramQuickStyle" Target="../diagrams/quickStyle166.xml"/><Relationship Id="rId9" Type="http://schemas.openxmlformats.org/officeDocument/2006/relationships/hyperlink" Target="https://github.com/marketplace/actions/service-mesh-interface-conformance-with-meshery" TargetMode="External"/><Relationship Id="rId14" Type="http://schemas.openxmlformats.org/officeDocument/2006/relationships/hyperlink" Target="https://www.syncfusion.com/succinctly-free-ebooks/istio-succinctly" TargetMode="External"/></Relationships>
</file>

<file path=ppt/slides/_rels/slide17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6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6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1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6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6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6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7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6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6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1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6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6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6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7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69.xml"/><Relationship Id="rId7" Type="http://schemas.openxmlformats.org/officeDocument/2006/relationships/image" Target="../media/image73.png"/><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8" Type="http://schemas.openxmlformats.org/officeDocument/2006/relationships/image" Target="../media/image74.jpeg"/><Relationship Id="rId3" Type="http://schemas.openxmlformats.org/officeDocument/2006/relationships/diagramLayout" Target="../diagrams/layout17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diagramLayout" Target="../diagrams/layout17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7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diagramLayout" Target="../diagrams/layout17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7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8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75.xml"/><Relationship Id="rId7" Type="http://schemas.openxmlformats.org/officeDocument/2006/relationships/image" Target="../media/image79.png"/><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7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7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76.xml"/><Relationship Id="rId9" Type="http://schemas.openxmlformats.org/officeDocument/2006/relationships/hyperlink" Target="https://owasp.org/www-community/attacks/" TargetMode="External"/></Relationships>
</file>

<file path=ppt/slides/_rels/slide18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7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77.xml"/><Relationship Id="rId9" Type="http://schemas.openxmlformats.org/officeDocument/2006/relationships/hyperlink" Target="https://aws.amazon.com/compliance/" TargetMode="External"/></Relationships>
</file>

<file path=ppt/slides/_rels/slide18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78.xml"/><Relationship Id="rId7" Type="http://schemas.openxmlformats.org/officeDocument/2006/relationships/hyperlink" Target="https://launchdarkly.com/" TargetMode="External"/><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 Id="rId9" Type="http://schemas.openxmlformats.org/officeDocument/2006/relationships/hyperlink" Target="https://www.harness.io/blog/test-driven-or-feature-flag-driven-development-whats-best-for-your-team" TargetMode="Externa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179.xm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8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diagramLayout" Target="../diagrams/layout180.xml"/><Relationship Id="rId7" Type="http://schemas.openxmlformats.org/officeDocument/2006/relationships/image" Target="../media/image80.jpeg"/><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18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10" Type="http://schemas.openxmlformats.org/officeDocument/2006/relationships/image" Target="../media/image82.png"/><Relationship Id="rId4" Type="http://schemas.openxmlformats.org/officeDocument/2006/relationships/diagramQuickStyle" Target="../diagrams/quickStyle181.xml"/><Relationship Id="rId9" Type="http://schemas.openxmlformats.org/officeDocument/2006/relationships/hyperlink" Target="https://www.druva.com/documents/pf/ebooks/druva-ebook-ultimate-guide-to-achieving-rpo-rto.pdf" TargetMode="Externa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184.xml"/><Relationship Id="rId7" Type="http://schemas.openxmlformats.org/officeDocument/2006/relationships/hyperlink" Target="https://github.com/jmfontaine/awesome-finops" TargetMode="Externa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18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184.xml"/><Relationship Id="rId9" Type="http://schemas.openxmlformats.org/officeDocument/2006/relationships/hyperlink" Target="https://www.oreilly.com/library/view/cloud-finops/9781492054610/" TargetMode="Externa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185.xm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5" Type="http://schemas.openxmlformats.org/officeDocument/2006/relationships/diagramColors" Target="../diagrams/colors185.xml"/><Relationship Id="rId4" Type="http://schemas.openxmlformats.org/officeDocument/2006/relationships/diagramQuickStyle" Target="../diagrams/quickStyle185.xml"/></Relationships>
</file>

<file path=ppt/slides/_rels/slide19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18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187.xml"/><Relationship Id="rId2" Type="http://schemas.openxmlformats.org/officeDocument/2006/relationships/diagramData" Target="../diagrams/data187.xml"/><Relationship Id="rId1" Type="http://schemas.openxmlformats.org/officeDocument/2006/relationships/slideLayout" Target="../slideLayouts/slideLayout2.xml"/><Relationship Id="rId6" Type="http://schemas.microsoft.com/office/2007/relationships/diagramDrawing" Target="../diagrams/drawing187.xml"/><Relationship Id="rId5" Type="http://schemas.openxmlformats.org/officeDocument/2006/relationships/diagramColors" Target="../diagrams/colors187.xml"/><Relationship Id="rId4" Type="http://schemas.openxmlformats.org/officeDocument/2006/relationships/diagramQuickStyle" Target="../diagrams/quickStyle187.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188.xml"/><Relationship Id="rId2" Type="http://schemas.openxmlformats.org/officeDocument/2006/relationships/diagramData" Target="../diagrams/data188.xml"/><Relationship Id="rId1" Type="http://schemas.openxmlformats.org/officeDocument/2006/relationships/slideLayout" Target="../slideLayouts/slideLayout2.xml"/><Relationship Id="rId6" Type="http://schemas.microsoft.com/office/2007/relationships/diagramDrawing" Target="../diagrams/drawing188.xml"/><Relationship Id="rId5" Type="http://schemas.openxmlformats.org/officeDocument/2006/relationships/diagramColors" Target="../diagrams/colors188.xml"/><Relationship Id="rId4" Type="http://schemas.openxmlformats.org/officeDocument/2006/relationships/diagramQuickStyle" Target="../diagrams/quickStyle188.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189.xml"/><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90.xm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9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19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19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19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19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198.xml.rels><?xml version="1.0" encoding="UTF-8" standalone="yes"?>
<Relationships xmlns="http://schemas.openxmlformats.org/package/2006/relationships"><Relationship Id="rId3" Type="http://schemas.openxmlformats.org/officeDocument/2006/relationships/diagramLayout" Target="../diagrams/layout193.xml"/><Relationship Id="rId7" Type="http://schemas.openxmlformats.org/officeDocument/2006/relationships/image" Target="../media/image83.png"/><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9.xml.rels><?xml version="1.0" encoding="UTF-8" standalone="yes"?>
<Relationships xmlns="http://schemas.openxmlformats.org/package/2006/relationships"><Relationship Id="rId8" Type="http://schemas.openxmlformats.org/officeDocument/2006/relationships/hyperlink" Target="https://www.systemdesignacademy.com/blog/time-series-databases" TargetMode="External"/><Relationship Id="rId3" Type="http://schemas.openxmlformats.org/officeDocument/2006/relationships/diagramLayout" Target="../diagrams/layout194.xml"/><Relationship Id="rId7" Type="http://schemas.openxmlformats.org/officeDocument/2006/relationships/hyperlink" Target="https://www.linkedin.com/posts/milanmilanovic_technology-softwareengineering-data-activity-7322873557573689344-tXpg/"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11" Type="http://schemas.openxmlformats.org/officeDocument/2006/relationships/hyperlink" Target="https://aws.amazon.com/qldb/" TargetMode="External"/><Relationship Id="rId5" Type="http://schemas.openxmlformats.org/officeDocument/2006/relationships/diagramColors" Target="../diagrams/colors194.xml"/><Relationship Id="rId10" Type="http://schemas.openxmlformats.org/officeDocument/2006/relationships/hyperlink" Target="https://blog.x.com/engineering/en_us/topics/infrastructure/2019/metricsdb" TargetMode="External"/><Relationship Id="rId4" Type="http://schemas.openxmlformats.org/officeDocument/2006/relationships/diagramQuickStyle" Target="../diagrams/quickStyle194.xml"/><Relationship Id="rId9" Type="http://schemas.openxmlformats.org/officeDocument/2006/relationships/hyperlink" Target="https://aws.amazon.com/timestream/" TargetMode="External"/></Relationships>
</file>

<file path=ppt/slides/_rels/slide200.xml.rels><?xml version="1.0" encoding="UTF-8" standalone="yes"?>
<Relationships xmlns="http://schemas.openxmlformats.org/package/2006/relationships"><Relationship Id="rId3" Type="http://schemas.openxmlformats.org/officeDocument/2006/relationships/diagramLayout" Target="../diagrams/layout195.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201.xml.rels><?xml version="1.0" encoding="UTF-8" standalone="yes"?>
<Relationships xmlns="http://schemas.openxmlformats.org/package/2006/relationships"><Relationship Id="rId3" Type="http://schemas.openxmlformats.org/officeDocument/2006/relationships/diagramLayout" Target="../diagrams/layout196.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5" Type="http://schemas.openxmlformats.org/officeDocument/2006/relationships/diagramColors" Target="../diagrams/colors196.xml"/><Relationship Id="rId4" Type="http://schemas.openxmlformats.org/officeDocument/2006/relationships/diagramQuickStyle" Target="../diagrams/quickStyle196.xml"/></Relationships>
</file>

<file path=ppt/slides/_rels/slide202.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197.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4" Type="http://schemas.openxmlformats.org/officeDocument/2006/relationships/diagramQuickStyle" Target="../diagrams/quickStyle197.xml"/></Relationships>
</file>

<file path=ppt/slides/_rels/slide203.xml.rels><?xml version="1.0" encoding="UTF-8" standalone="yes"?>
<Relationships xmlns="http://schemas.openxmlformats.org/package/2006/relationships"><Relationship Id="rId3" Type="http://schemas.openxmlformats.org/officeDocument/2006/relationships/diagramLayout" Target="../diagrams/layout198.xm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s>
</file>

<file path=ppt/slides/_rels/slide204.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199.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199.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199.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199.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199.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205.xml.rels><?xml version="1.0" encoding="UTF-8" standalone="yes"?>
<Relationships xmlns="http://schemas.openxmlformats.org/package/2006/relationships"><Relationship Id="rId3" Type="http://schemas.openxmlformats.org/officeDocument/2006/relationships/diagramLayout" Target="../diagrams/layout200.xml"/><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6.xml.rels><?xml version="1.0" encoding="UTF-8" standalone="yes"?>
<Relationships xmlns="http://schemas.openxmlformats.org/package/2006/relationships"><Relationship Id="rId3" Type="http://schemas.openxmlformats.org/officeDocument/2006/relationships/diagramLayout" Target="../diagrams/layout201.xm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4" Type="http://schemas.openxmlformats.org/officeDocument/2006/relationships/diagramQuickStyle" Target="../diagrams/quickStyle201.xm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9.xml.rels><?xml version="1.0" encoding="UTF-8" standalone="yes"?>
<Relationships xmlns="http://schemas.openxmlformats.org/package/2006/relationships"><Relationship Id="rId3" Type="http://schemas.openxmlformats.org/officeDocument/2006/relationships/diagramLayout" Target="../diagrams/layout204.xm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5" Type="http://schemas.openxmlformats.org/officeDocument/2006/relationships/diagramColors" Target="../diagrams/colors204.xml"/><Relationship Id="rId4" Type="http://schemas.openxmlformats.org/officeDocument/2006/relationships/diagramQuickStyle" Target="../diagrams/quickStyle204.xml"/></Relationships>
</file>

<file path=ppt/slides/_rels/slide210.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05.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11.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06.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12.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207.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207.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207.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207.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207.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213.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208.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208.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208.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208.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208.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6.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211.xml"/><Relationship Id="rId7" Type="http://schemas.openxmlformats.org/officeDocument/2006/relationships/hyperlink" Target="https://www.youtube.com/watch?v=D2XiARYlzcs"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17.xml.rels><?xml version="1.0" encoding="UTF-8" standalone="yes"?>
<Relationships xmlns="http://schemas.openxmlformats.org/package/2006/relationships"><Relationship Id="rId3" Type="http://schemas.openxmlformats.org/officeDocument/2006/relationships/diagramLayout" Target="../diagrams/layout212.xm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5" Type="http://schemas.openxmlformats.org/officeDocument/2006/relationships/diagramColors" Target="../diagrams/colors212.xml"/><Relationship Id="rId4" Type="http://schemas.openxmlformats.org/officeDocument/2006/relationships/diagramQuickStyle" Target="../diagrams/quickStyle212.xml"/></Relationships>
</file>

<file path=ppt/slides/_rels/slide218.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13.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13.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13.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13.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13.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19.xml.rels><?xml version="1.0" encoding="UTF-8" standalone="yes"?>
<Relationships xmlns="http://schemas.openxmlformats.org/package/2006/relationships"><Relationship Id="rId3" Type="http://schemas.openxmlformats.org/officeDocument/2006/relationships/diagramLayout" Target="../diagrams/layout214.xm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5" Type="http://schemas.openxmlformats.org/officeDocument/2006/relationships/diagramColors" Target="../diagrams/colors214.xml"/><Relationship Id="rId4" Type="http://schemas.openxmlformats.org/officeDocument/2006/relationships/diagramQuickStyle" Target="../diagrams/quickStyle214.xml"/></Relationships>
</file>

<file path=ppt/slides/_rels/slide220.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15.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22.xml.rels><?xml version="1.0" encoding="UTF-8" standalone="yes"?>
<Relationships xmlns="http://schemas.openxmlformats.org/package/2006/relationships"><Relationship Id="rId3" Type="http://schemas.openxmlformats.org/officeDocument/2006/relationships/diagramLayout" Target="../diagrams/layout217.xm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24.xml.rels><?xml version="1.0" encoding="UTF-8" standalone="yes"?>
<Relationships xmlns="http://schemas.openxmlformats.org/package/2006/relationships"><Relationship Id="rId3" Type="http://schemas.openxmlformats.org/officeDocument/2006/relationships/diagramLayout" Target="../diagrams/layout219.xml"/><Relationship Id="rId2" Type="http://schemas.openxmlformats.org/officeDocument/2006/relationships/diagramData" Target="../diagrams/data219.xml"/><Relationship Id="rId1" Type="http://schemas.openxmlformats.org/officeDocument/2006/relationships/slideLayout" Target="../slideLayouts/slideLayout2.xml"/><Relationship Id="rId6" Type="http://schemas.microsoft.com/office/2007/relationships/diagramDrawing" Target="../diagrams/drawing219.xml"/><Relationship Id="rId5" Type="http://schemas.openxmlformats.org/officeDocument/2006/relationships/diagramColors" Target="../diagrams/colors219.xml"/><Relationship Id="rId4" Type="http://schemas.openxmlformats.org/officeDocument/2006/relationships/diagramQuickStyle" Target="../diagrams/quickStyle219.xml"/></Relationships>
</file>

<file path=ppt/slides/_rels/slide225.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20.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20.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20.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20.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20.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26.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21.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21.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21.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21.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21.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9.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224.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224.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224.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224.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224.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230.xml.rels><?xml version="1.0" encoding="UTF-8" standalone="yes"?>
<Relationships xmlns="http://schemas.openxmlformats.org/package/2006/relationships"><Relationship Id="rId3" Type="http://schemas.openxmlformats.org/officeDocument/2006/relationships/diagramLayout" Target="../diagrams/layout225.xm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31.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26.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26.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26.xml"/><Relationship Id="rId9" Type="http://schemas.openxmlformats.org/officeDocument/2006/relationships/hyperlink" Target="https://github.com/giangstrider/pinecone" TargetMode="External"/></Relationships>
</file>

<file path=ppt/slides/_rels/slide232.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27.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27.xm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27.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27.xml"/><Relationship Id="rId9" Type="http://schemas.openxmlformats.org/officeDocument/2006/relationships/hyperlink" Target="https://github.com/giangstrider/pinecone" TargetMode="External"/></Relationships>
</file>

<file path=ppt/slides/_rels/slide233.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228.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228.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228.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228.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228.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234.xml.rels><?xml version="1.0" encoding="UTF-8" standalone="yes"?>
<Relationships xmlns="http://schemas.openxmlformats.org/package/2006/relationships"><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data-contracts.com/" TargetMode="External"/><Relationship Id="rId3" Type="http://schemas.openxmlformats.org/officeDocument/2006/relationships/diagramLayout" Target="../diagrams/layout229.xml"/><Relationship Id="rId21" Type="http://schemas.openxmlformats.org/officeDocument/2006/relationships/hyperlink" Target="https://www.reddit.com/r/dataengineering/comments/1cbx8bb/preferred_file_format_and_why_csv_json_parquet/?rdt=50716"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www.oreilly.com/library/view/data-contracts/9781098157623/" TargetMode="External"/><Relationship Id="rId33" Type="http://schemas.openxmlformats.org/officeDocument/2006/relationships/hyperlink" Target="https://github.com/manuzhang/awesome-streaming?tab=readme-ov-file#readings" TargetMode="External"/><Relationship Id="rId2" Type="http://schemas.openxmlformats.org/officeDocument/2006/relationships/diagramData" Target="../diagrams/data229.xml"/><Relationship Id="rId16" Type="http://schemas.openxmlformats.org/officeDocument/2006/relationships/hyperlink" Target="https://github.com/LearningJournal" TargetMode="External"/><Relationship Id="rId20" Type="http://schemas.openxmlformats.org/officeDocument/2006/relationships/hyperlink" Target="https://www.databass.dev/" TargetMode="External"/><Relationship Id="rId29" Type="http://schemas.openxmlformats.org/officeDocument/2006/relationships/hyperlink" Target="https://www.linkedin.com/in/isharanimicrosoftleader/details/featured/" TargetMode="External"/><Relationship Id="rId1" Type="http://schemas.openxmlformats.org/officeDocument/2006/relationships/slideLayout" Target="../slideLayouts/slideLayout2.xml"/><Relationship Id="rId6" Type="http://schemas.microsoft.com/office/2007/relationships/diagramDrawing" Target="../diagrams/drawing229.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packtpub.com/en-us/product/data-governance-handbook-9781803240725?srsltid=AfmBOoqjE4AMnioV9XWaPqRk0h-5TvAzyQ5Y2WjKzdHyc-txojYO6FLN" TargetMode="External"/><Relationship Id="rId32" Type="http://schemas.openxmlformats.org/officeDocument/2006/relationships/hyperlink" Target="https://github.com/risingwavelabs/awesome-stream-processing" TargetMode="External"/><Relationship Id="rId5" Type="http://schemas.openxmlformats.org/officeDocument/2006/relationships/diagramColors" Target="../diagrams/colors229.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oreilly.com/library/view/data-quality-fundamentals/9781098112035/" TargetMode="External"/><Relationship Id="rId28" Type="http://schemas.openxmlformats.org/officeDocument/2006/relationships/hyperlink" Target="https://imply.io/blog/choosing-a-database-for-real-time-analytics-druid-and-pinot/"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st.github.com/debasishg/8172796" TargetMode="External"/><Relationship Id="rId4" Type="http://schemas.openxmlformats.org/officeDocument/2006/relationships/diagramQuickStyle" Target="../diagrams/quickStyle229.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en.wikipedia.org/wiki/FAIR_data" TargetMode="External"/><Relationship Id="rId27" Type="http://schemas.openxmlformats.org/officeDocument/2006/relationships/hyperlink" Target="https://www.onehouse.ai/blog/apache-hudi-vs-delta-lake-vs-apache-iceberg-lakehouse-feature-comparison" TargetMode="External"/><Relationship Id="rId30" Type="http://schemas.openxmlformats.org/officeDocument/2006/relationships/hyperlink" Target="https://www.kdnuggets.com/2023/02/learn-data-engineering-github-repositories.html" TargetMode="External"/><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s>
</file>

<file path=ppt/slides/_rels/slide235.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230.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230.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230.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230.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230.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236.xml.rels><?xml version="1.0" encoding="UTF-8" standalone="yes"?>
<Relationships xmlns="http://schemas.openxmlformats.org/package/2006/relationships"><Relationship Id="rId8" Type="http://schemas.openxmlformats.org/officeDocument/2006/relationships/image" Target="../media/image84.png"/><Relationship Id="rId13" Type="http://schemas.openxmlformats.org/officeDocument/2006/relationships/hyperlink" Target="https://stackoverflow.com/questions/65708964/windows-workflow-foundation-for-net-core" TargetMode="External"/><Relationship Id="rId18" Type="http://schemas.openxmlformats.org/officeDocument/2006/relationships/hyperlink" Target="https://stackoverflow.com/questions/6984978/using-workflow-foundation-in-mvc3-to-handle-page-flow-as-in-a-wizard" TargetMode="External"/><Relationship Id="rId3" Type="http://schemas.openxmlformats.org/officeDocument/2006/relationships/diagramData" Target="../diagrams/data231.xml"/><Relationship Id="rId21" Type="http://schemas.openxmlformats.org/officeDocument/2006/relationships/hyperlink" Target="https://medium.com/@chucksanders22/netflix-conductor-v-s-temporal-uber-cadence-v-s-zeebe-vs-airflow-320df0365948" TargetMode="External"/><Relationship Id="rId7" Type="http://schemas.microsoft.com/office/2007/relationships/diagramDrawing" Target="../diagrams/drawing231.xml"/><Relationship Id="rId12" Type="http://schemas.openxmlformats.org/officeDocument/2006/relationships/hyperlink" Target="https://www.berndruecker.io/books/" TargetMode="External"/><Relationship Id="rId17" Type="http://schemas.openxmlformats.org/officeDocument/2006/relationships/hyperlink" Target="https://www.milanjovanovic.tech/blog/orchestration-vs-choreography" TargetMode="External"/><Relationship Id="rId2" Type="http://schemas.openxmlformats.org/officeDocument/2006/relationships/notesSlide" Target="../notesSlides/notesSlide18.xml"/><Relationship Id="rId16" Type="http://schemas.openxmlformats.org/officeDocument/2006/relationships/hyperlink" Target="https://github.com/elsa-workflows/elsa-core" TargetMode="External"/><Relationship Id="rId20" Type="http://schemas.openxmlformats.org/officeDocument/2006/relationships/hyperlink" Target="https://www.fivetran.com/blog/airflow-scheduling-vs-orchestrating" TargetMode="External"/><Relationship Id="rId1" Type="http://schemas.openxmlformats.org/officeDocument/2006/relationships/slideLayout" Target="../slideLayouts/slideLayout2.xml"/><Relationship Id="rId6" Type="http://schemas.openxmlformats.org/officeDocument/2006/relationships/diagramColors" Target="../diagrams/colors231.xml"/><Relationship Id="rId11" Type="http://schemas.openxmlformats.org/officeDocument/2006/relationships/hyperlink" Target="https://ceur-ws.org/Vol-2825/paper3.pdf" TargetMode="External"/><Relationship Id="rId5" Type="http://schemas.openxmlformats.org/officeDocument/2006/relationships/diagramQuickStyle" Target="../diagrams/quickStyle231.xml"/><Relationship Id="rId15" Type="http://schemas.openxmlformats.org/officeDocument/2006/relationships/hyperlink" Target="https://workflowengine.io/" TargetMode="External"/><Relationship Id="rId10" Type="http://schemas.openxmlformats.org/officeDocument/2006/relationships/hyperlink" Target="https://github.com/meirwah/awesome-workflow-engines" TargetMode="External"/><Relationship Id="rId19" Type="http://schemas.openxmlformats.org/officeDocument/2006/relationships/hyperlink" Target="https://www.amazon.in/Orchestration-Graphs-Modeling-Scalable-Education-ebook/dp/B017J935RO" TargetMode="External"/><Relationship Id="rId4" Type="http://schemas.openxmlformats.org/officeDocument/2006/relationships/diagramLayout" Target="../diagrams/layout231.xml"/><Relationship Id="rId9" Type="http://schemas.openxmlformats.org/officeDocument/2006/relationships/hyperlink" Target="http://www.workflowpatterns.com/" TargetMode="External"/><Relationship Id="rId14" Type="http://schemas.openxmlformats.org/officeDocument/2006/relationships/hyperlink" Target="https://github.com/orosandrei/Rehosted-Workflow-Designer" TargetMode="External"/></Relationships>
</file>

<file path=ppt/slides/_rels/slide237.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diagramColors" Target="../diagrams/colors232.xml"/><Relationship Id="rId5" Type="http://schemas.openxmlformats.org/officeDocument/2006/relationships/diagramQuickStyle" Target="../diagrams/quickStyle232.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232.xml"/><Relationship Id="rId9" Type="http://schemas.openxmlformats.org/officeDocument/2006/relationships/hyperlink" Target="https://conductor-oss.org/" TargetMode="External"/></Relationships>
</file>

<file path=ppt/slides/_rels/slide238.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233.xml"/><Relationship Id="rId7" Type="http://schemas.openxmlformats.org/officeDocument/2006/relationships/image" Target="../media/image85.png"/><Relationship Id="rId2" Type="http://schemas.openxmlformats.org/officeDocument/2006/relationships/diagramData" Target="../diagrams/data233.xml"/><Relationship Id="rId1" Type="http://schemas.openxmlformats.org/officeDocument/2006/relationships/slideLayout" Target="../slideLayouts/slideLayout2.xml"/><Relationship Id="rId6" Type="http://schemas.microsoft.com/office/2007/relationships/diagramDrawing" Target="../diagrams/drawing233.xml"/><Relationship Id="rId5" Type="http://schemas.openxmlformats.org/officeDocument/2006/relationships/diagramColors" Target="../diagrams/colors233.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233.xml"/><Relationship Id="rId9" Type="http://schemas.openxmlformats.org/officeDocument/2006/relationships/hyperlink" Target="https://microsoft.github.io/RulesEngine/" TargetMode="External"/></Relationships>
</file>

<file path=ppt/slides/_rels/slide239.xml.rels><?xml version="1.0" encoding="UTF-8" standalone="yes"?>
<Relationships xmlns="http://schemas.openxmlformats.org/package/2006/relationships"><Relationship Id="rId8" Type="http://schemas.openxmlformats.org/officeDocument/2006/relationships/hyperlink" Target="http://www.workflowpatterns.com/" TargetMode="External"/><Relationship Id="rId13" Type="http://schemas.openxmlformats.org/officeDocument/2006/relationships/hyperlink" Target="https://github.com/orosandrei/Rehosted-Workflow-Designer" TargetMode="External"/><Relationship Id="rId18" Type="http://schemas.openxmlformats.org/officeDocument/2006/relationships/hyperlink" Target="https://www.amazon.in/Orchestration-Graphs-Modeling-Scalable-Education-ebook/dp/B017J935RO" TargetMode="External"/><Relationship Id="rId3" Type="http://schemas.openxmlformats.org/officeDocument/2006/relationships/diagramData" Target="../diagrams/data234.xml"/><Relationship Id="rId7" Type="http://schemas.microsoft.com/office/2007/relationships/diagramDrawing" Target="../diagrams/drawing234.xml"/><Relationship Id="rId12" Type="http://schemas.openxmlformats.org/officeDocument/2006/relationships/hyperlink" Target="https://stackoverflow.com/questions/65708964/windows-workflow-foundation-for-net-core" TargetMode="External"/><Relationship Id="rId17" Type="http://schemas.openxmlformats.org/officeDocument/2006/relationships/hyperlink" Target="https://stackoverflow.com/questions/6984978/using-workflow-foundation-in-mvc3-to-handle-page-flow-as-in-a-wizard" TargetMode="External"/><Relationship Id="rId2" Type="http://schemas.openxmlformats.org/officeDocument/2006/relationships/notesSlide" Target="../notesSlides/notesSlide20.xml"/><Relationship Id="rId16" Type="http://schemas.openxmlformats.org/officeDocument/2006/relationships/hyperlink" Target="https://www.milanjovanovic.tech/blog/orchestration-vs-choreography" TargetMode="External"/><Relationship Id="rId20" Type="http://schemas.openxmlformats.org/officeDocument/2006/relationships/hyperlink" Target="https://medium.com/@chucksanders22/netflix-conductor-v-s-temporal-uber-cadence-v-s-zeebe-vs-airflow-320df0365948" TargetMode="External"/><Relationship Id="rId1" Type="http://schemas.openxmlformats.org/officeDocument/2006/relationships/slideLayout" Target="../slideLayouts/slideLayout2.xml"/><Relationship Id="rId6" Type="http://schemas.openxmlformats.org/officeDocument/2006/relationships/diagramColors" Target="../diagrams/colors234.xml"/><Relationship Id="rId11" Type="http://schemas.openxmlformats.org/officeDocument/2006/relationships/hyperlink" Target="https://www.berndruecker.io/books/" TargetMode="External"/><Relationship Id="rId5" Type="http://schemas.openxmlformats.org/officeDocument/2006/relationships/diagramQuickStyle" Target="../diagrams/quickStyle234.xml"/><Relationship Id="rId15" Type="http://schemas.openxmlformats.org/officeDocument/2006/relationships/hyperlink" Target="https://github.com/elsa-workflows/elsa-core" TargetMode="External"/><Relationship Id="rId10" Type="http://schemas.openxmlformats.org/officeDocument/2006/relationships/hyperlink" Target="https://ceur-ws.org/Vol-2825/paper3.pdf" TargetMode="External"/><Relationship Id="rId19" Type="http://schemas.openxmlformats.org/officeDocument/2006/relationships/hyperlink" Target="https://www.fivetran.com/blog/airflow-scheduling-vs-orchestrating" TargetMode="External"/><Relationship Id="rId4" Type="http://schemas.openxmlformats.org/officeDocument/2006/relationships/diagramLayout" Target="../diagrams/layout234.xml"/><Relationship Id="rId9" Type="http://schemas.openxmlformats.org/officeDocument/2006/relationships/hyperlink" Target="https://github.com/meirwah/awesome-workflow-engines" TargetMode="External"/><Relationship Id="rId14" Type="http://schemas.openxmlformats.org/officeDocument/2006/relationships/hyperlink" Target="https://workflowengine.io/" TargetMode="External"/></Relationships>
</file>

<file path=ppt/slides/_rels/slide240.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235.xml"/><Relationship Id="rId7" Type="http://schemas.microsoft.com/office/2007/relationships/diagramDrawing" Target="../diagrams/drawing235.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35.xml"/><Relationship Id="rId5" Type="http://schemas.openxmlformats.org/officeDocument/2006/relationships/diagramQuickStyle" Target="../diagrams/quickStyle235.xml"/><Relationship Id="rId4" Type="http://schemas.openxmlformats.org/officeDocument/2006/relationships/diagramLayout" Target="../diagrams/layout235.xml"/></Relationships>
</file>

<file path=ppt/slides/_rels/slide24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4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44.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239.xml"/><Relationship Id="rId7" Type="http://schemas.microsoft.com/office/2007/relationships/diagramDrawing" Target="../diagrams/drawing239.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39.xml"/><Relationship Id="rId11" Type="http://schemas.openxmlformats.org/officeDocument/2006/relationships/hyperlink" Target="https://mindmajix.com/rpa-architecture" TargetMode="External"/><Relationship Id="rId5" Type="http://schemas.openxmlformats.org/officeDocument/2006/relationships/diagramQuickStyle" Target="../diagrams/quickStyle239.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239.xml"/><Relationship Id="rId9" Type="http://schemas.openxmlformats.org/officeDocument/2006/relationships/hyperlink" Target="https://www.ibm.com/docs/en/rpa/23.0.x?topic=architecture" TargetMode="External"/></Relationships>
</file>

<file path=ppt/slides/_rels/slide245.xml.rels><?xml version="1.0" encoding="UTF-8" standalone="yes"?>
<Relationships xmlns="http://schemas.openxmlformats.org/package/2006/relationships"><Relationship Id="rId3" Type="http://schemas.openxmlformats.org/officeDocument/2006/relationships/diagramLayout" Target="../diagrams/layout240.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240.xml"/><Relationship Id="rId1" Type="http://schemas.openxmlformats.org/officeDocument/2006/relationships/slideLayout" Target="../slideLayouts/slideLayout2.xml"/><Relationship Id="rId6" Type="http://schemas.microsoft.com/office/2007/relationships/diagramDrawing" Target="../diagrams/drawing240.xml"/><Relationship Id="rId5" Type="http://schemas.openxmlformats.org/officeDocument/2006/relationships/diagramColors" Target="../diagrams/colors240.xml"/><Relationship Id="rId4" Type="http://schemas.openxmlformats.org/officeDocument/2006/relationships/diagramQuickStyle" Target="../diagrams/quickStyle240.xml"/></Relationships>
</file>

<file path=ppt/slides/_rels/slide246.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241.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241.xml"/><Relationship Id="rId1" Type="http://schemas.openxmlformats.org/officeDocument/2006/relationships/slideLayout" Target="../slideLayouts/slideLayout2.xml"/><Relationship Id="rId6" Type="http://schemas.microsoft.com/office/2007/relationships/diagramDrawing" Target="../diagrams/drawing241.xml"/><Relationship Id="rId11" Type="http://schemas.openxmlformats.org/officeDocument/2006/relationships/hyperlink" Target="https://learnk8s.io/etcd-kubernetes" TargetMode="External"/><Relationship Id="rId5" Type="http://schemas.openxmlformats.org/officeDocument/2006/relationships/diagramColors" Target="../diagrams/colors241.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241.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247.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5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54.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5.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252.xml"/><Relationship Id="rId5" Type="http://schemas.openxmlformats.org/officeDocument/2006/relationships/diagramQuickStyle" Target="../diagrams/quickStyle252.xml"/><Relationship Id="rId4" Type="http://schemas.openxmlformats.org/officeDocument/2006/relationships/diagramLayout" Target="../diagrams/layout252.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4.xml"/><Relationship Id="rId7" Type="http://schemas.microsoft.com/office/2007/relationships/diagramDrawing" Target="../diagrams/drawing25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254.xml"/><Relationship Id="rId5" Type="http://schemas.openxmlformats.org/officeDocument/2006/relationships/diagramQuickStyle" Target="../diagrams/quickStyle254.xml"/><Relationship Id="rId4" Type="http://schemas.openxmlformats.org/officeDocument/2006/relationships/diagramLayout" Target="../diagrams/layout254.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62.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63.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64.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5.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7.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262.xml"/><Relationship Id="rId7" Type="http://schemas.microsoft.com/office/2007/relationships/diagramDrawing" Target="../diagrams/drawing262.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46.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262.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262.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262.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268.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72.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6.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5.xml.rels><?xml version="1.0" encoding="UTF-8" standalone="yes"?>
<Relationships xmlns="http://schemas.openxmlformats.org/package/2006/relationships"><Relationship Id="rId8" Type="http://schemas.openxmlformats.org/officeDocument/2006/relationships/hyperlink" Target="https://www.geeksforgeeks.org/types-of-blockchain/" TargetMode="External"/><Relationship Id="rId13" Type="http://schemas.openxmlformats.org/officeDocument/2006/relationships/hyperlink" Target="https://github.com/kallerosenbaum/grokkingbitcoin" TargetMode="External"/><Relationship Id="rId3" Type="http://schemas.openxmlformats.org/officeDocument/2006/relationships/diagramData" Target="../diagrams/data280.xml"/><Relationship Id="rId7" Type="http://schemas.microsoft.com/office/2007/relationships/diagramDrawing" Target="../diagrams/drawing280.xml"/><Relationship Id="rId12" Type="http://schemas.openxmlformats.org/officeDocument/2006/relationships/hyperlink" Target="https://roadmap.sh/blockchain"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280.xml"/><Relationship Id="rId11" Type="http://schemas.openxmlformats.org/officeDocument/2006/relationships/hyperlink" Target="https://blog.cfte.education/types-of-digital-assets-explained/" TargetMode="External"/><Relationship Id="rId5" Type="http://schemas.openxmlformats.org/officeDocument/2006/relationships/diagramQuickStyle" Target="../diagrams/quickStyle280.xml"/><Relationship Id="rId15" Type="http://schemas.openxmlformats.org/officeDocument/2006/relationships/hyperlink" Target="https://github.com/PacktPublishing/Mastering-Blockchain-Fourth-Edition" TargetMode="External"/><Relationship Id="rId10" Type="http://schemas.openxmlformats.org/officeDocument/2006/relationships/hyperlink" Target="https://cybersecurity.springeropen.com/articles/10.1186/s42400-023-00163-y" TargetMode="External"/><Relationship Id="rId4" Type="http://schemas.openxmlformats.org/officeDocument/2006/relationships/diagramLayout" Target="../diagrams/layout280.xml"/><Relationship Id="rId9" Type="http://schemas.openxmlformats.org/officeDocument/2006/relationships/hyperlink" Target="https://www.scalingparrots.com/en/blockchain-consensus-algorithm/" TargetMode="External"/><Relationship Id="rId14" Type="http://schemas.openxmlformats.org/officeDocument/2006/relationships/hyperlink" Target="https://www.amazon.in/Blockchain-Applications-Hands-Arshdeep-Bahga/dp/0996025588" TargetMode="External"/></Relationships>
</file>

<file path=ppt/slides/_rels/slide286.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7.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282.xml"/><Relationship Id="rId7" Type="http://schemas.openxmlformats.org/officeDocument/2006/relationships/image" Target="../media/image97.png"/><Relationship Id="rId2" Type="http://schemas.openxmlformats.org/officeDocument/2006/relationships/diagramData" Target="../diagrams/data282.xml"/><Relationship Id="rId1" Type="http://schemas.openxmlformats.org/officeDocument/2006/relationships/slideLayout" Target="../slideLayouts/slideLayout2.xml"/><Relationship Id="rId6" Type="http://schemas.microsoft.com/office/2007/relationships/diagramDrawing" Target="../diagrams/drawing282.xml"/><Relationship Id="rId5" Type="http://schemas.openxmlformats.org/officeDocument/2006/relationships/diagramColors" Target="../diagrams/colors282.xml"/><Relationship Id="rId4" Type="http://schemas.openxmlformats.org/officeDocument/2006/relationships/diagramQuickStyle" Target="../diagrams/quickStyle282.xml"/></Relationships>
</file>

<file path=ppt/slides/_rels/slide28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283.xml"/><Relationship Id="rId7" Type="http://schemas.microsoft.com/office/2007/relationships/diagramDrawing" Target="../diagrams/drawing283.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283.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283.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283.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289.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diagramLayout" Target="../diagrams/layout284.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284.xml"/><Relationship Id="rId1" Type="http://schemas.openxmlformats.org/officeDocument/2006/relationships/slideLayout" Target="../slideLayouts/slideLayout2.xml"/><Relationship Id="rId6" Type="http://schemas.microsoft.com/office/2007/relationships/diagramDrawing" Target="../diagrams/drawing284.xml"/><Relationship Id="rId5" Type="http://schemas.openxmlformats.org/officeDocument/2006/relationships/diagramColors" Target="../diagrams/colors284.xml"/><Relationship Id="rId4" Type="http://schemas.openxmlformats.org/officeDocument/2006/relationships/diagramQuickStyle" Target="../diagrams/quickStyle284.xml"/></Relationships>
</file>

<file path=ppt/slides/_rels/slide290.xml.rels><?xml version="1.0" encoding="UTF-8" standalone="yes"?>
<Relationships xmlns="http://schemas.openxmlformats.org/package/2006/relationships"><Relationship Id="rId3" Type="http://schemas.openxmlformats.org/officeDocument/2006/relationships/diagramLayout" Target="../diagrams/layout285.xml"/><Relationship Id="rId2" Type="http://schemas.openxmlformats.org/officeDocument/2006/relationships/diagramData" Target="../diagrams/data285.xml"/><Relationship Id="rId1" Type="http://schemas.openxmlformats.org/officeDocument/2006/relationships/slideLayout" Target="../slideLayouts/slideLayout2.xml"/><Relationship Id="rId6" Type="http://schemas.microsoft.com/office/2007/relationships/diagramDrawing" Target="../diagrams/drawing285.xml"/><Relationship Id="rId5" Type="http://schemas.openxmlformats.org/officeDocument/2006/relationships/diagramColors" Target="../diagrams/colors285.xml"/><Relationship Id="rId4" Type="http://schemas.openxmlformats.org/officeDocument/2006/relationships/diagramQuickStyle" Target="../diagrams/quickStyle285.xml"/></Relationships>
</file>

<file path=ppt/slides/_rels/slide291.xml.rels><?xml version="1.0" encoding="UTF-8" standalone="yes"?>
<Relationships xmlns="http://schemas.openxmlformats.org/package/2006/relationships"><Relationship Id="rId3" Type="http://schemas.openxmlformats.org/officeDocument/2006/relationships/diagramLayout" Target="../diagrams/layout286.xml"/><Relationship Id="rId2" Type="http://schemas.openxmlformats.org/officeDocument/2006/relationships/diagramData" Target="../diagrams/data286.xml"/><Relationship Id="rId1" Type="http://schemas.openxmlformats.org/officeDocument/2006/relationships/slideLayout" Target="../slideLayouts/slideLayout2.xml"/><Relationship Id="rId6" Type="http://schemas.microsoft.com/office/2007/relationships/diagramDrawing" Target="../diagrams/drawing286.xml"/><Relationship Id="rId5" Type="http://schemas.openxmlformats.org/officeDocument/2006/relationships/diagramColors" Target="../diagrams/colors286.xml"/><Relationship Id="rId4" Type="http://schemas.openxmlformats.org/officeDocument/2006/relationships/diagramQuickStyle" Target="../diagrams/quickStyle286.xml"/></Relationships>
</file>

<file path=ppt/slides/_rels/slide292.xml.rels><?xml version="1.0" encoding="UTF-8" standalone="yes"?>
<Relationships xmlns="http://schemas.openxmlformats.org/package/2006/relationships"><Relationship Id="rId3" Type="http://schemas.openxmlformats.org/officeDocument/2006/relationships/diagramLayout" Target="../diagrams/layout287.xml"/><Relationship Id="rId2" Type="http://schemas.openxmlformats.org/officeDocument/2006/relationships/diagramData" Target="../diagrams/data287.xml"/><Relationship Id="rId1" Type="http://schemas.openxmlformats.org/officeDocument/2006/relationships/slideLayout" Target="../slideLayouts/slideLayout2.xml"/><Relationship Id="rId6" Type="http://schemas.microsoft.com/office/2007/relationships/diagramDrawing" Target="../diagrams/drawing287.xml"/><Relationship Id="rId5" Type="http://schemas.openxmlformats.org/officeDocument/2006/relationships/diagramColors" Target="../diagrams/colors287.xml"/><Relationship Id="rId4" Type="http://schemas.openxmlformats.org/officeDocument/2006/relationships/diagramQuickStyle" Target="../diagrams/quickStyle287.xml"/></Relationships>
</file>

<file path=ppt/slides/_rels/slide293.xml.rels><?xml version="1.0" encoding="UTF-8" standalone="yes"?>
<Relationships xmlns="http://schemas.openxmlformats.org/package/2006/relationships"><Relationship Id="rId3" Type="http://schemas.openxmlformats.org/officeDocument/2006/relationships/diagramLayout" Target="../diagrams/layout288.xml"/><Relationship Id="rId2" Type="http://schemas.openxmlformats.org/officeDocument/2006/relationships/diagramData" Target="../diagrams/data288.xml"/><Relationship Id="rId1" Type="http://schemas.openxmlformats.org/officeDocument/2006/relationships/slideLayout" Target="../slideLayouts/slideLayout2.xml"/><Relationship Id="rId6" Type="http://schemas.microsoft.com/office/2007/relationships/diagramDrawing" Target="../diagrams/drawing288.xml"/><Relationship Id="rId5" Type="http://schemas.openxmlformats.org/officeDocument/2006/relationships/diagramColors" Target="../diagrams/colors288.xml"/><Relationship Id="rId4" Type="http://schemas.openxmlformats.org/officeDocument/2006/relationships/diagramQuickStyle" Target="../diagrams/quickStyle288.xml"/></Relationships>
</file>

<file path=ppt/slides/_rels/slide294.xml.rels><?xml version="1.0" encoding="UTF-8" standalone="yes"?>
<Relationships xmlns="http://schemas.openxmlformats.org/package/2006/relationships"><Relationship Id="rId3" Type="http://schemas.openxmlformats.org/officeDocument/2006/relationships/diagramLayout" Target="../diagrams/layout289.xml"/><Relationship Id="rId2" Type="http://schemas.openxmlformats.org/officeDocument/2006/relationships/diagramData" Target="../diagrams/data289.xml"/><Relationship Id="rId1" Type="http://schemas.openxmlformats.org/officeDocument/2006/relationships/slideLayout" Target="../slideLayouts/slideLayout2.xml"/><Relationship Id="rId6" Type="http://schemas.microsoft.com/office/2007/relationships/diagramDrawing" Target="../diagrams/drawing289.xml"/><Relationship Id="rId5" Type="http://schemas.openxmlformats.org/officeDocument/2006/relationships/diagramColors" Target="../diagrams/colors289.xml"/><Relationship Id="rId4" Type="http://schemas.openxmlformats.org/officeDocument/2006/relationships/diagramQuickStyle" Target="../diagrams/quickStyle289.xml"/></Relationships>
</file>

<file path=ppt/slides/_rels/slide295.xml.rels><?xml version="1.0" encoding="UTF-8" standalone="yes"?>
<Relationships xmlns="http://schemas.openxmlformats.org/package/2006/relationships"><Relationship Id="rId3" Type="http://schemas.openxmlformats.org/officeDocument/2006/relationships/diagramLayout" Target="../diagrams/layout290.xml"/><Relationship Id="rId2" Type="http://schemas.openxmlformats.org/officeDocument/2006/relationships/diagramData" Target="../diagrams/data290.xml"/><Relationship Id="rId1" Type="http://schemas.openxmlformats.org/officeDocument/2006/relationships/slideLayout" Target="../slideLayouts/slideLayout2.xml"/><Relationship Id="rId6" Type="http://schemas.microsoft.com/office/2007/relationships/diagramDrawing" Target="../diagrams/drawing290.xml"/><Relationship Id="rId5" Type="http://schemas.openxmlformats.org/officeDocument/2006/relationships/diagramColors" Target="../diagrams/colors290.xml"/><Relationship Id="rId4" Type="http://schemas.openxmlformats.org/officeDocument/2006/relationships/diagramQuickStyle" Target="../diagrams/quickStyle290.xml"/></Relationships>
</file>

<file path=ppt/slides/_rels/slide296.xml.rels><?xml version="1.0" encoding="UTF-8" standalone="yes"?>
<Relationships xmlns="http://schemas.openxmlformats.org/package/2006/relationships"><Relationship Id="rId3" Type="http://schemas.openxmlformats.org/officeDocument/2006/relationships/diagramLayout" Target="../diagrams/layout291.xml"/><Relationship Id="rId2" Type="http://schemas.openxmlformats.org/officeDocument/2006/relationships/diagramData" Target="../diagrams/data291.xml"/><Relationship Id="rId1" Type="http://schemas.openxmlformats.org/officeDocument/2006/relationships/slideLayout" Target="../slideLayouts/slideLayout2.xml"/><Relationship Id="rId6" Type="http://schemas.microsoft.com/office/2007/relationships/diagramDrawing" Target="../diagrams/drawing291.xml"/><Relationship Id="rId5" Type="http://schemas.openxmlformats.org/officeDocument/2006/relationships/diagramColors" Target="../diagrams/colors291.xml"/><Relationship Id="rId4" Type="http://schemas.openxmlformats.org/officeDocument/2006/relationships/diagramQuickStyle" Target="../diagrams/quickStyle291.xml"/></Relationships>
</file>

<file path=ppt/slides/_rels/slide297.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diagramLayout" Target="../diagrams/layout292.xml"/><Relationship Id="rId7" Type="http://schemas.openxmlformats.org/officeDocument/2006/relationships/image" Target="../media/image100.png"/><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s>
</file>

<file path=ppt/slides/_rels/slide298.xml.rels><?xml version="1.0" encoding="UTF-8" standalone="yes"?>
<Relationships xmlns="http://schemas.openxmlformats.org/package/2006/relationships"><Relationship Id="rId3" Type="http://schemas.openxmlformats.org/officeDocument/2006/relationships/diagramLayout" Target="../diagrams/layout293.xml"/><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299.xml.rels><?xml version="1.0" encoding="UTF-8" standalone="yes"?>
<Relationships xmlns="http://schemas.openxmlformats.org/package/2006/relationships"><Relationship Id="rId3" Type="http://schemas.openxmlformats.org/officeDocument/2006/relationships/diagramLayout" Target="../diagrams/layout294.xml"/><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s>
</file>

<file path=ppt/slides/_rels/slide300.xml.rels><?xml version="1.0" encoding="UTF-8" standalone="yes"?>
<Relationships xmlns="http://schemas.openxmlformats.org/package/2006/relationships"><Relationship Id="rId3" Type="http://schemas.openxmlformats.org/officeDocument/2006/relationships/diagramLayout" Target="../diagrams/layout295.xml"/><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301.xml.rels><?xml version="1.0" encoding="UTF-8" standalone="yes"?>
<Relationships xmlns="http://schemas.openxmlformats.org/package/2006/relationships"><Relationship Id="rId3" Type="http://schemas.openxmlformats.org/officeDocument/2006/relationships/diagramLayout" Target="../diagrams/layout296.xml"/><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02.xml.rels><?xml version="1.0" encoding="UTF-8" standalone="yes"?>
<Relationships xmlns="http://schemas.openxmlformats.org/package/2006/relationships"><Relationship Id="rId8" Type="http://schemas.openxmlformats.org/officeDocument/2006/relationships/hyperlink" Target="https://www.grss-ieee.org/resources/tutorials/remote-sensing-tutorial-in-spanish-french-portuguese-and-english/" TargetMode="External"/><Relationship Id="rId3" Type="http://schemas.openxmlformats.org/officeDocument/2006/relationships/diagramLayout" Target="../diagrams/layout297.xml"/><Relationship Id="rId7" Type="http://schemas.openxmlformats.org/officeDocument/2006/relationships/hyperlink" Target="https://www.earthdata.nasa.gov/learn/earth-observation-data-basics/remote-sensing" TargetMode="External"/><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11" Type="http://schemas.openxmlformats.org/officeDocument/2006/relationships/hyperlink" Target="https://www.mdpi.com/journal/mathematics/special_issues/R44HM324ER" TargetMode="External"/><Relationship Id="rId5" Type="http://schemas.openxmlformats.org/officeDocument/2006/relationships/diagramColors" Target="../diagrams/colors297.xml"/><Relationship Id="rId10" Type="http://schemas.openxmlformats.org/officeDocument/2006/relationships/hyperlink" Target="https://www.amazon.in/gp/aw/d/B0BKZN64PW/ref=tmm_kin_swatch_0?ie=UTF8&amp;dib_tag=se&amp;dib=eyJ2IjoiMSJ9.p8SEt2r6z6QdKcksOclkt4aSHEfhZM46sqcfrUS9gx5oJNXgY5UZlp5o8JhAUxIa1BYr11mLcfYpCPKm0zWEJR9RFqhk0V8STgJz8S23xbb0d8kAv-JC_qIArTqMiabprBFTUFedxVA_jxpQLtAOntvnWvNNsyaIsqBezx5LWqePdg9lqWzimAVPtGFUJjeLJDr1TeO9V-cY0Y17_KV10g.QKhIKjqv6VloRdyiUJpYgU-zTLgBnVp1LGwd-x8inAU&amp;qid=1728631374&amp;sr=8-3" TargetMode="External"/><Relationship Id="rId4" Type="http://schemas.openxmlformats.org/officeDocument/2006/relationships/diagramQuickStyle" Target="../diagrams/quickStyle297.xml"/><Relationship Id="rId9" Type="http://schemas.openxmlformats.org/officeDocument/2006/relationships/hyperlink" Target="https://ebooks.inflibnet.ac.in/geop10/" TargetMode="External"/></Relationships>
</file>

<file path=ppt/slides/_rels/slide303.xml.rels><?xml version="1.0" encoding="UTF-8" standalone="yes"?>
<Relationships xmlns="http://schemas.openxmlformats.org/package/2006/relationships"><Relationship Id="rId3" Type="http://schemas.openxmlformats.org/officeDocument/2006/relationships/diagramLayout" Target="../diagrams/layout298.xml"/><Relationship Id="rId2" Type="http://schemas.openxmlformats.org/officeDocument/2006/relationships/diagramData" Target="../diagrams/data298.xml"/><Relationship Id="rId1" Type="http://schemas.openxmlformats.org/officeDocument/2006/relationships/slideLayout" Target="../slideLayouts/slideLayout2.xml"/><Relationship Id="rId6" Type="http://schemas.microsoft.com/office/2007/relationships/diagramDrawing" Target="../diagrams/drawing298.xml"/><Relationship Id="rId5" Type="http://schemas.openxmlformats.org/officeDocument/2006/relationships/diagramColors" Target="../diagrams/colors298.xml"/><Relationship Id="rId4" Type="http://schemas.openxmlformats.org/officeDocument/2006/relationships/diagramQuickStyle" Target="../diagrams/quickStyle298.xml"/></Relationships>
</file>

<file path=ppt/slides/_rels/slide304.xml.rels><?xml version="1.0" encoding="UTF-8" standalone="yes"?>
<Relationships xmlns="http://schemas.openxmlformats.org/package/2006/relationships"><Relationship Id="rId3" Type="http://schemas.openxmlformats.org/officeDocument/2006/relationships/diagramLayout" Target="../diagrams/layout299.xml"/><Relationship Id="rId2" Type="http://schemas.openxmlformats.org/officeDocument/2006/relationships/diagramData" Target="../diagrams/data299.xml"/><Relationship Id="rId1" Type="http://schemas.openxmlformats.org/officeDocument/2006/relationships/slideLayout" Target="../slideLayouts/slideLayout2.xml"/><Relationship Id="rId6" Type="http://schemas.microsoft.com/office/2007/relationships/diagramDrawing" Target="../diagrams/drawing299.xml"/><Relationship Id="rId5" Type="http://schemas.openxmlformats.org/officeDocument/2006/relationships/diagramColors" Target="../diagrams/colors299.xml"/><Relationship Id="rId4" Type="http://schemas.openxmlformats.org/officeDocument/2006/relationships/diagramQuickStyle" Target="../diagrams/quickStyle299.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300.xml"/><Relationship Id="rId2" Type="http://schemas.openxmlformats.org/officeDocument/2006/relationships/diagramData" Target="../diagrams/data300.xml"/><Relationship Id="rId1" Type="http://schemas.openxmlformats.org/officeDocument/2006/relationships/slideLayout" Target="../slideLayouts/slideLayout2.xml"/><Relationship Id="rId6" Type="http://schemas.microsoft.com/office/2007/relationships/diagramDrawing" Target="../diagrams/drawing300.xml"/><Relationship Id="rId5" Type="http://schemas.openxmlformats.org/officeDocument/2006/relationships/diagramColors" Target="../diagrams/colors300.xml"/><Relationship Id="rId4" Type="http://schemas.openxmlformats.org/officeDocument/2006/relationships/diagramQuickStyle" Target="../diagrams/quickStyle300.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301.xml"/><Relationship Id="rId2" Type="http://schemas.openxmlformats.org/officeDocument/2006/relationships/diagramData" Target="../diagrams/data301.xml"/><Relationship Id="rId1" Type="http://schemas.openxmlformats.org/officeDocument/2006/relationships/slideLayout" Target="../slideLayouts/slideLayout2.xml"/><Relationship Id="rId6" Type="http://schemas.microsoft.com/office/2007/relationships/diagramDrawing" Target="../diagrams/drawing301.xml"/><Relationship Id="rId5" Type="http://schemas.openxmlformats.org/officeDocument/2006/relationships/diagramColors" Target="../diagrams/colors301.xml"/><Relationship Id="rId4" Type="http://schemas.openxmlformats.org/officeDocument/2006/relationships/diagramQuickStyle" Target="../diagrams/quickStyle301.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302.xml"/><Relationship Id="rId2" Type="http://schemas.openxmlformats.org/officeDocument/2006/relationships/diagramData" Target="../diagrams/data302.xml"/><Relationship Id="rId1" Type="http://schemas.openxmlformats.org/officeDocument/2006/relationships/slideLayout" Target="../slideLayouts/slideLayout2.xml"/><Relationship Id="rId6" Type="http://schemas.microsoft.com/office/2007/relationships/diagramDrawing" Target="../diagrams/drawing302.xml"/><Relationship Id="rId5" Type="http://schemas.openxmlformats.org/officeDocument/2006/relationships/diagramColors" Target="../diagrams/colors302.xml"/><Relationship Id="rId4" Type="http://schemas.openxmlformats.org/officeDocument/2006/relationships/diagramQuickStyle" Target="../diagrams/quickStyle302.xml"/></Relationships>
</file>

<file path=ppt/slides/_rels/slide30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diagramLayout" Target="../diagrams/layout303.xml"/><Relationship Id="rId7" Type="http://schemas.openxmlformats.org/officeDocument/2006/relationships/image" Target="../media/image102.png"/><Relationship Id="rId2" Type="http://schemas.openxmlformats.org/officeDocument/2006/relationships/diagramData" Target="../diagrams/data303.xml"/><Relationship Id="rId1" Type="http://schemas.openxmlformats.org/officeDocument/2006/relationships/slideLayout" Target="../slideLayouts/slideLayout2.xml"/><Relationship Id="rId6" Type="http://schemas.microsoft.com/office/2007/relationships/diagramDrawing" Target="../diagrams/drawing303.xml"/><Relationship Id="rId5" Type="http://schemas.openxmlformats.org/officeDocument/2006/relationships/diagramColors" Target="../diagrams/colors303.xml"/><Relationship Id="rId4" Type="http://schemas.openxmlformats.org/officeDocument/2006/relationships/diagramQuickStyle" Target="../diagrams/quickStyle303.xml"/></Relationships>
</file>

<file path=ppt/slides/_rels/slide309.xml.rels><?xml version="1.0" encoding="UTF-8" standalone="yes"?>
<Relationships xmlns="http://schemas.openxmlformats.org/package/2006/relationships"><Relationship Id="rId8" Type="http://schemas.openxmlformats.org/officeDocument/2006/relationships/hyperlink" Target="https://www.ipb.uni-bonn.de/photo12-2021/index.html" TargetMode="External"/><Relationship Id="rId3" Type="http://schemas.openxmlformats.org/officeDocument/2006/relationships/diagramLayout" Target="../diagrams/layout304.xml"/><Relationship Id="rId7" Type="http://schemas.openxmlformats.org/officeDocument/2006/relationships/hyperlink" Target="https://orsac.odisha.gov.in/pdf/Data-Capture-Using-Photogrammetry.pdf" TargetMode="External"/><Relationship Id="rId2" Type="http://schemas.openxmlformats.org/officeDocument/2006/relationships/diagramData" Target="../diagrams/data304.xml"/><Relationship Id="rId1" Type="http://schemas.openxmlformats.org/officeDocument/2006/relationships/slideLayout" Target="../slideLayouts/slideLayout2.xml"/><Relationship Id="rId6" Type="http://schemas.microsoft.com/office/2007/relationships/diagramDrawing" Target="../diagrams/drawing304.xml"/><Relationship Id="rId5" Type="http://schemas.openxmlformats.org/officeDocument/2006/relationships/diagramColors" Target="../diagrams/colors304.xml"/><Relationship Id="rId10" Type="http://schemas.openxmlformats.org/officeDocument/2006/relationships/hyperlink" Target="https://ethz.ch/content/dam/ethz/special-interest/baug/igp/photogrammetry-remote-sensing-dam/documents/pdf/math-of-photogrammetry.pdf" TargetMode="External"/><Relationship Id="rId4" Type="http://schemas.openxmlformats.org/officeDocument/2006/relationships/diagramQuickStyle" Target="../diagrams/quickStyle304.xml"/><Relationship Id="rId9" Type="http://schemas.openxmlformats.org/officeDocument/2006/relationships/hyperlink" Target="https://www.lpl.arizona.edu/hamilton/sites/lpl.arizona.edu.hamilton/files/courses/ptys551/Principles_of_Photogrammetry.pdf" TargetMode="Externa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305.xml"/><Relationship Id="rId2" Type="http://schemas.openxmlformats.org/officeDocument/2006/relationships/diagramData" Target="../diagrams/data305.xml"/><Relationship Id="rId1" Type="http://schemas.openxmlformats.org/officeDocument/2006/relationships/slideLayout" Target="../slideLayouts/slideLayout2.xml"/><Relationship Id="rId6" Type="http://schemas.microsoft.com/office/2007/relationships/diagramDrawing" Target="../diagrams/drawing305.xml"/><Relationship Id="rId5" Type="http://schemas.openxmlformats.org/officeDocument/2006/relationships/diagramColors" Target="../diagrams/colors305.xml"/><Relationship Id="rId4" Type="http://schemas.openxmlformats.org/officeDocument/2006/relationships/diagramQuickStyle" Target="../diagrams/quickStyle305.xml"/></Relationships>
</file>

<file path=ppt/slides/_rels/slide311.xml.rels><?xml version="1.0" encoding="UTF-8" standalone="yes"?>
<Relationships xmlns="http://schemas.openxmlformats.org/package/2006/relationships"><Relationship Id="rId3" Type="http://schemas.openxmlformats.org/officeDocument/2006/relationships/diagramLayout" Target="../diagrams/layout306.xml"/><Relationship Id="rId2" Type="http://schemas.openxmlformats.org/officeDocument/2006/relationships/diagramData" Target="../diagrams/data306.xml"/><Relationship Id="rId1" Type="http://schemas.openxmlformats.org/officeDocument/2006/relationships/slideLayout" Target="../slideLayouts/slideLayout2.xml"/><Relationship Id="rId6" Type="http://schemas.microsoft.com/office/2007/relationships/diagramDrawing" Target="../diagrams/drawing306.xml"/><Relationship Id="rId5" Type="http://schemas.openxmlformats.org/officeDocument/2006/relationships/diagramColors" Target="../diagrams/colors306.xml"/><Relationship Id="rId4" Type="http://schemas.openxmlformats.org/officeDocument/2006/relationships/diagramQuickStyle" Target="../diagrams/quickStyle306.xml"/></Relationships>
</file>

<file path=ppt/slides/_rels/slide312.xml.rels><?xml version="1.0" encoding="UTF-8" standalone="yes"?>
<Relationships xmlns="http://schemas.openxmlformats.org/package/2006/relationships"><Relationship Id="rId3" Type="http://schemas.openxmlformats.org/officeDocument/2006/relationships/diagramLayout" Target="../diagrams/layout307.xml"/><Relationship Id="rId2" Type="http://schemas.openxmlformats.org/officeDocument/2006/relationships/diagramData" Target="../diagrams/data307.xml"/><Relationship Id="rId1" Type="http://schemas.openxmlformats.org/officeDocument/2006/relationships/slideLayout" Target="../slideLayouts/slideLayout2.xml"/><Relationship Id="rId6" Type="http://schemas.microsoft.com/office/2007/relationships/diagramDrawing" Target="../diagrams/drawing307.xml"/><Relationship Id="rId5" Type="http://schemas.openxmlformats.org/officeDocument/2006/relationships/diagramColors" Target="../diagrams/colors307.xml"/><Relationship Id="rId4" Type="http://schemas.openxmlformats.org/officeDocument/2006/relationships/diagramQuickStyle" Target="../diagrams/quickStyle307.xm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308.xml"/><Relationship Id="rId2" Type="http://schemas.openxmlformats.org/officeDocument/2006/relationships/diagramData" Target="../diagrams/data308.xml"/><Relationship Id="rId1" Type="http://schemas.openxmlformats.org/officeDocument/2006/relationships/slideLayout" Target="../slideLayouts/slideLayout2.xml"/><Relationship Id="rId6" Type="http://schemas.microsoft.com/office/2007/relationships/diagramDrawing" Target="../diagrams/drawing308.xml"/><Relationship Id="rId5" Type="http://schemas.openxmlformats.org/officeDocument/2006/relationships/diagramColors" Target="../diagrams/colors308.xml"/><Relationship Id="rId4" Type="http://schemas.openxmlformats.org/officeDocument/2006/relationships/diagramQuickStyle" Target="../diagrams/quickStyle308.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309.xml"/><Relationship Id="rId2" Type="http://schemas.openxmlformats.org/officeDocument/2006/relationships/diagramData" Target="../diagrams/data309.xml"/><Relationship Id="rId1" Type="http://schemas.openxmlformats.org/officeDocument/2006/relationships/slideLayout" Target="../slideLayouts/slideLayout2.xml"/><Relationship Id="rId6" Type="http://schemas.microsoft.com/office/2007/relationships/diagramDrawing" Target="../diagrams/drawing309.xml"/><Relationship Id="rId5" Type="http://schemas.openxmlformats.org/officeDocument/2006/relationships/diagramColors" Target="../diagrams/colors309.xml"/><Relationship Id="rId4" Type="http://schemas.openxmlformats.org/officeDocument/2006/relationships/diagramQuickStyle" Target="../diagrams/quickStyle309.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310.xml"/><Relationship Id="rId2" Type="http://schemas.openxmlformats.org/officeDocument/2006/relationships/diagramData" Target="../diagrams/data310.xml"/><Relationship Id="rId1" Type="http://schemas.openxmlformats.org/officeDocument/2006/relationships/slideLayout" Target="../slideLayouts/slideLayout2.xml"/><Relationship Id="rId6" Type="http://schemas.microsoft.com/office/2007/relationships/diagramDrawing" Target="../diagrams/drawing310.xml"/><Relationship Id="rId5" Type="http://schemas.openxmlformats.org/officeDocument/2006/relationships/diagramColors" Target="../diagrams/colors310.xml"/><Relationship Id="rId4" Type="http://schemas.openxmlformats.org/officeDocument/2006/relationships/diagramQuickStyle" Target="../diagrams/quickStyle310.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311.xml"/><Relationship Id="rId2" Type="http://schemas.openxmlformats.org/officeDocument/2006/relationships/diagramData" Target="../diagrams/data311.xml"/><Relationship Id="rId1" Type="http://schemas.openxmlformats.org/officeDocument/2006/relationships/slideLayout" Target="../slideLayouts/slideLayout2.xml"/><Relationship Id="rId6" Type="http://schemas.microsoft.com/office/2007/relationships/diagramDrawing" Target="../diagrams/drawing311.xml"/><Relationship Id="rId5" Type="http://schemas.openxmlformats.org/officeDocument/2006/relationships/diagramColors" Target="../diagrams/colors311.xml"/><Relationship Id="rId4" Type="http://schemas.openxmlformats.org/officeDocument/2006/relationships/diagramQuickStyle" Target="../diagrams/quickStyle311.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312.xml"/><Relationship Id="rId2" Type="http://schemas.openxmlformats.org/officeDocument/2006/relationships/diagramData" Target="../diagrams/data312.xml"/><Relationship Id="rId1" Type="http://schemas.openxmlformats.org/officeDocument/2006/relationships/slideLayout" Target="../slideLayouts/slideLayout2.xml"/><Relationship Id="rId6" Type="http://schemas.microsoft.com/office/2007/relationships/diagramDrawing" Target="../diagrams/drawing312.xml"/><Relationship Id="rId5" Type="http://schemas.openxmlformats.org/officeDocument/2006/relationships/diagramColors" Target="../diagrams/colors312.xml"/><Relationship Id="rId4" Type="http://schemas.openxmlformats.org/officeDocument/2006/relationships/diagramQuickStyle" Target="../diagrams/quickStyle312.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313.xml"/><Relationship Id="rId2" Type="http://schemas.openxmlformats.org/officeDocument/2006/relationships/diagramData" Target="../diagrams/data313.xml"/><Relationship Id="rId1" Type="http://schemas.openxmlformats.org/officeDocument/2006/relationships/slideLayout" Target="../slideLayouts/slideLayout2.xml"/><Relationship Id="rId6" Type="http://schemas.microsoft.com/office/2007/relationships/diagramDrawing" Target="../diagrams/drawing313.xml"/><Relationship Id="rId5" Type="http://schemas.openxmlformats.org/officeDocument/2006/relationships/diagramColors" Target="../diagrams/colors313.xml"/><Relationship Id="rId4" Type="http://schemas.openxmlformats.org/officeDocument/2006/relationships/diagramQuickStyle" Target="../diagrams/quickStyle313.xml"/></Relationships>
</file>

<file path=ppt/slides/_rels/slide319.xml.rels><?xml version="1.0" encoding="UTF-8" standalone="yes"?>
<Relationships xmlns="http://schemas.openxmlformats.org/package/2006/relationships"><Relationship Id="rId8" Type="http://schemas.openxmlformats.org/officeDocument/2006/relationships/hyperlink" Target="https://www.amazon.in/Introduction-Geographical-Information-Systems-ebook/dp/B00IZ07WQW/ref=tmm_kin_swatch_0" TargetMode="External"/><Relationship Id="rId13" Type="http://schemas.openxmlformats.org/officeDocument/2006/relationships/hyperlink" Target="https://postgis.net/documentation/training/" TargetMode="External"/><Relationship Id="rId18" Type="http://schemas.openxmlformats.org/officeDocument/2006/relationships/hyperlink" Target="http://s2geometry.io/" TargetMode="External"/><Relationship Id="rId3" Type="http://schemas.openxmlformats.org/officeDocument/2006/relationships/diagramLayout" Target="../diagrams/layout314.xml"/><Relationship Id="rId21" Type="http://schemas.openxmlformats.org/officeDocument/2006/relationships/hyperlink" Target="https://www.elastic.co/guide/en/elasticsearch/reference/current/geo-shape.html" TargetMode="External"/><Relationship Id="rId7" Type="http://schemas.openxmlformats.org/officeDocument/2006/relationships/hyperlink" Target="https://www.amazon.in/Geospatial-Data-Science-Essentials-Practical-ebook/dp/B0DJ2HBWJY" TargetMode="External"/><Relationship Id="rId12" Type="http://schemas.openxmlformats.org/officeDocument/2006/relationships/hyperlink" Target="https://en.wikipedia.org/wiki/Spatial_database" TargetMode="External"/><Relationship Id="rId17" Type="http://schemas.openxmlformats.org/officeDocument/2006/relationships/hyperlink" Target="https://opensearch.org/docs/latest/aggregations/bucket/geohash-grid/" TargetMode="External"/><Relationship Id="rId25" Type="http://schemas.openxmlformats.org/officeDocument/2006/relationships/hyperlink" Target="https://news.ycombinator.com/item?id=17567122" TargetMode="External"/><Relationship Id="rId2" Type="http://schemas.openxmlformats.org/officeDocument/2006/relationships/diagramData" Target="../diagrams/data314.xml"/><Relationship Id="rId16" Type="http://schemas.openxmlformats.org/officeDocument/2006/relationships/hyperlink" Target="https://towardsdatascience.com/system-design-quadtrees-geohash-5b896b975262?gi=e08f006249ca" TargetMode="External"/><Relationship Id="rId20" Type="http://schemas.openxmlformats.org/officeDocument/2006/relationships/hyperlink" Target="https://cwiki.apache.org/confluence/display/LUCENE/SpatialSearch" TargetMode="External"/><Relationship Id="rId1" Type="http://schemas.openxmlformats.org/officeDocument/2006/relationships/slideLayout" Target="../slideLayouts/slideLayout2.xml"/><Relationship Id="rId6" Type="http://schemas.microsoft.com/office/2007/relationships/diagramDrawing" Target="../diagrams/drawing314.xml"/><Relationship Id="rId11" Type="http://schemas.openxmlformats.org/officeDocument/2006/relationships/hyperlink" Target="https://understanding-gis-univredlands.hub.arcgis.com/" TargetMode="External"/><Relationship Id="rId24" Type="http://schemas.openxmlformats.org/officeDocument/2006/relationships/hyperlink" Target="http://bit-player.org/extras/hilbert/hilbert-mapping.html" TargetMode="External"/><Relationship Id="rId5" Type="http://schemas.openxmlformats.org/officeDocument/2006/relationships/diagramColors" Target="../diagrams/colors314.xml"/><Relationship Id="rId15" Type="http://schemas.openxmlformats.org/officeDocument/2006/relationships/hyperlink" Target="https://www.geeksforgeeks.org/understanding-efficient-spatial-indexing/" TargetMode="External"/><Relationship Id="rId23" Type="http://schemas.openxmlformats.org/officeDocument/2006/relationships/hyperlink" Target="https://en.wikipedia.org/wiki/Address_geocoding" TargetMode="External"/><Relationship Id="rId10" Type="http://schemas.openxmlformats.org/officeDocument/2006/relationships/hyperlink" Target="https://docs.qgis.org/3.40/en/docs/training_manual/index.html" TargetMode="External"/><Relationship Id="rId19" Type="http://schemas.openxmlformats.org/officeDocument/2006/relationships/hyperlink" Target="https://igorgatis.github.io/ws2/" TargetMode="External"/><Relationship Id="rId4" Type="http://schemas.openxmlformats.org/officeDocument/2006/relationships/diagramQuickStyle" Target="../diagrams/quickStyle314.xml"/><Relationship Id="rId9" Type="http://schemas.openxmlformats.org/officeDocument/2006/relationships/hyperlink" Target="https://www.amazon.in/Geographic-Information-Systems-Science-Longley-ebook/dp/B000S1LZ9Q" TargetMode="External"/><Relationship Id="rId14" Type="http://schemas.openxmlformats.org/officeDocument/2006/relationships/hyperlink" Target="https://postgis.net/documentation/" TargetMode="External"/><Relationship Id="rId22" Type="http://schemas.openxmlformats.org/officeDocument/2006/relationships/hyperlink" Target="https://medium.com/groupon-eng/scaling-millions-of-geospatial-queries-per-minute-using-redis-7c05bcf6b4db" TargetMode="Externa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315.xml"/><Relationship Id="rId2" Type="http://schemas.openxmlformats.org/officeDocument/2006/relationships/diagramData" Target="../diagrams/data315.xml"/><Relationship Id="rId1" Type="http://schemas.openxmlformats.org/officeDocument/2006/relationships/slideLayout" Target="../slideLayouts/slideLayout2.xml"/><Relationship Id="rId6" Type="http://schemas.microsoft.com/office/2007/relationships/diagramDrawing" Target="../diagrams/drawing315.xml"/><Relationship Id="rId5" Type="http://schemas.openxmlformats.org/officeDocument/2006/relationships/diagramColors" Target="../diagrams/colors315.xml"/><Relationship Id="rId4" Type="http://schemas.openxmlformats.org/officeDocument/2006/relationships/diagramQuickStyle" Target="../diagrams/quickStyle315.xml"/></Relationships>
</file>

<file path=ppt/slides/_rels/slide321.xml.rels><?xml version="1.0" encoding="UTF-8" standalone="yes"?>
<Relationships xmlns="http://schemas.openxmlformats.org/package/2006/relationships"><Relationship Id="rId3" Type="http://schemas.openxmlformats.org/officeDocument/2006/relationships/diagramLayout" Target="../diagrams/layout316.xml"/><Relationship Id="rId2" Type="http://schemas.openxmlformats.org/officeDocument/2006/relationships/diagramData" Target="../diagrams/data316.xml"/><Relationship Id="rId1" Type="http://schemas.openxmlformats.org/officeDocument/2006/relationships/slideLayout" Target="../slideLayouts/slideLayout2.xml"/><Relationship Id="rId6" Type="http://schemas.microsoft.com/office/2007/relationships/diagramDrawing" Target="../diagrams/drawing316.xml"/><Relationship Id="rId5" Type="http://schemas.openxmlformats.org/officeDocument/2006/relationships/diagramColors" Target="../diagrams/colors316.xml"/><Relationship Id="rId4" Type="http://schemas.openxmlformats.org/officeDocument/2006/relationships/diagramQuickStyle" Target="../diagrams/quickStyle316.xml"/></Relationships>
</file>

<file path=ppt/slides/_rels/slide322.xml.rels><?xml version="1.0" encoding="UTF-8" standalone="yes"?>
<Relationships xmlns="http://schemas.openxmlformats.org/package/2006/relationships"><Relationship Id="rId3" Type="http://schemas.openxmlformats.org/officeDocument/2006/relationships/diagramLayout" Target="../diagrams/layout317.xml"/><Relationship Id="rId2" Type="http://schemas.openxmlformats.org/officeDocument/2006/relationships/diagramData" Target="../diagrams/data317.xml"/><Relationship Id="rId1" Type="http://schemas.openxmlformats.org/officeDocument/2006/relationships/slideLayout" Target="../slideLayouts/slideLayout2.xml"/><Relationship Id="rId6" Type="http://schemas.microsoft.com/office/2007/relationships/diagramDrawing" Target="../diagrams/drawing317.xml"/><Relationship Id="rId5" Type="http://schemas.openxmlformats.org/officeDocument/2006/relationships/diagramColors" Target="../diagrams/colors317.xml"/><Relationship Id="rId4" Type="http://schemas.openxmlformats.org/officeDocument/2006/relationships/diagramQuickStyle" Target="../diagrams/quickStyle317.xm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318.xml"/><Relationship Id="rId2" Type="http://schemas.openxmlformats.org/officeDocument/2006/relationships/diagramData" Target="../diagrams/data318.xml"/><Relationship Id="rId1" Type="http://schemas.openxmlformats.org/officeDocument/2006/relationships/slideLayout" Target="../slideLayouts/slideLayout2.xml"/><Relationship Id="rId6" Type="http://schemas.microsoft.com/office/2007/relationships/diagramDrawing" Target="../diagrams/drawing318.xml"/><Relationship Id="rId5" Type="http://schemas.openxmlformats.org/officeDocument/2006/relationships/diagramColors" Target="../diagrams/colors318.xml"/><Relationship Id="rId4" Type="http://schemas.openxmlformats.org/officeDocument/2006/relationships/diagramQuickStyle" Target="../diagrams/quickStyle318.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319.xml"/><Relationship Id="rId2" Type="http://schemas.openxmlformats.org/officeDocument/2006/relationships/diagramData" Target="../diagrams/data319.xml"/><Relationship Id="rId1" Type="http://schemas.openxmlformats.org/officeDocument/2006/relationships/slideLayout" Target="../slideLayouts/slideLayout2.xml"/><Relationship Id="rId6" Type="http://schemas.microsoft.com/office/2007/relationships/diagramDrawing" Target="../diagrams/drawing319.xml"/><Relationship Id="rId5" Type="http://schemas.openxmlformats.org/officeDocument/2006/relationships/diagramColors" Target="../diagrams/colors319.xml"/><Relationship Id="rId4" Type="http://schemas.openxmlformats.org/officeDocument/2006/relationships/diagramQuickStyle" Target="../diagrams/quickStyle319.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320.xml"/><Relationship Id="rId2" Type="http://schemas.openxmlformats.org/officeDocument/2006/relationships/diagramData" Target="../diagrams/data320.xml"/><Relationship Id="rId1" Type="http://schemas.openxmlformats.org/officeDocument/2006/relationships/slideLayout" Target="../slideLayouts/slideLayout2.xml"/><Relationship Id="rId6" Type="http://schemas.microsoft.com/office/2007/relationships/diagramDrawing" Target="../diagrams/drawing320.xml"/><Relationship Id="rId5" Type="http://schemas.openxmlformats.org/officeDocument/2006/relationships/diagramColors" Target="../diagrams/colors320.xml"/><Relationship Id="rId4" Type="http://schemas.openxmlformats.org/officeDocument/2006/relationships/diagramQuickStyle" Target="../diagrams/quickStyle320.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321.xml"/><Relationship Id="rId2" Type="http://schemas.openxmlformats.org/officeDocument/2006/relationships/diagramData" Target="../diagrams/data321.xml"/><Relationship Id="rId1" Type="http://schemas.openxmlformats.org/officeDocument/2006/relationships/slideLayout" Target="../slideLayouts/slideLayout2.xml"/><Relationship Id="rId6" Type="http://schemas.microsoft.com/office/2007/relationships/diagramDrawing" Target="../diagrams/drawing321.xml"/><Relationship Id="rId5" Type="http://schemas.openxmlformats.org/officeDocument/2006/relationships/diagramColors" Target="../diagrams/colors321.xml"/><Relationship Id="rId4" Type="http://schemas.openxmlformats.org/officeDocument/2006/relationships/diagramQuickStyle" Target="../diagrams/quickStyle321.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322.xml"/><Relationship Id="rId2" Type="http://schemas.openxmlformats.org/officeDocument/2006/relationships/diagramData" Target="../diagrams/data322.xml"/><Relationship Id="rId1" Type="http://schemas.openxmlformats.org/officeDocument/2006/relationships/slideLayout" Target="../slideLayouts/slideLayout2.xml"/><Relationship Id="rId6" Type="http://schemas.microsoft.com/office/2007/relationships/diagramDrawing" Target="../diagrams/drawing322.xml"/><Relationship Id="rId5" Type="http://schemas.openxmlformats.org/officeDocument/2006/relationships/diagramColors" Target="../diagrams/colors322.xml"/><Relationship Id="rId4" Type="http://schemas.openxmlformats.org/officeDocument/2006/relationships/diagramQuickStyle" Target="../diagrams/quickStyle322.xml"/></Relationships>
</file>

<file path=ppt/slides/_rels/slide328.xml.rels><?xml version="1.0" encoding="UTF-8" standalone="yes"?>
<Relationships xmlns="http://schemas.openxmlformats.org/package/2006/relationships"><Relationship Id="rId3" Type="http://schemas.openxmlformats.org/officeDocument/2006/relationships/diagramLayout" Target="../diagrams/layout323.xml"/><Relationship Id="rId2" Type="http://schemas.openxmlformats.org/officeDocument/2006/relationships/diagramData" Target="../diagrams/data323.xml"/><Relationship Id="rId1" Type="http://schemas.openxmlformats.org/officeDocument/2006/relationships/slideLayout" Target="../slideLayouts/slideLayout2.xml"/><Relationship Id="rId6" Type="http://schemas.microsoft.com/office/2007/relationships/diagramDrawing" Target="../diagrams/drawing323.xml"/><Relationship Id="rId5" Type="http://schemas.openxmlformats.org/officeDocument/2006/relationships/diagramColors" Target="../diagrams/colors323.xml"/><Relationship Id="rId4" Type="http://schemas.openxmlformats.org/officeDocument/2006/relationships/diagramQuickStyle" Target="../diagrams/quickStyle323.xml"/></Relationships>
</file>

<file path=ppt/slides/_rels/slide329.xml.rels><?xml version="1.0" encoding="UTF-8" standalone="yes"?>
<Relationships xmlns="http://schemas.openxmlformats.org/package/2006/relationships"><Relationship Id="rId3" Type="http://schemas.openxmlformats.org/officeDocument/2006/relationships/diagramLayout" Target="../diagrams/layout324.xml"/><Relationship Id="rId2" Type="http://schemas.openxmlformats.org/officeDocument/2006/relationships/diagramData" Target="../diagrams/data324.xml"/><Relationship Id="rId1" Type="http://schemas.openxmlformats.org/officeDocument/2006/relationships/slideLayout" Target="../slideLayouts/slideLayout2.xml"/><Relationship Id="rId6" Type="http://schemas.microsoft.com/office/2007/relationships/diagramDrawing" Target="../diagrams/drawing324.xml"/><Relationship Id="rId5" Type="http://schemas.openxmlformats.org/officeDocument/2006/relationships/diagramColors" Target="../diagrams/colors324.xml"/><Relationship Id="rId4" Type="http://schemas.openxmlformats.org/officeDocument/2006/relationships/diagramQuickStyle" Target="../diagrams/quickStyle324.xml"/></Relationships>
</file>

<file path=ppt/slides/_rels/slide330.xml.rels><?xml version="1.0" encoding="UTF-8" standalone="yes"?>
<Relationships xmlns="http://schemas.openxmlformats.org/package/2006/relationships"><Relationship Id="rId3" Type="http://schemas.openxmlformats.org/officeDocument/2006/relationships/diagramLayout" Target="../diagrams/layout325.xml"/><Relationship Id="rId2" Type="http://schemas.openxmlformats.org/officeDocument/2006/relationships/diagramData" Target="../diagrams/data325.xml"/><Relationship Id="rId1" Type="http://schemas.openxmlformats.org/officeDocument/2006/relationships/slideLayout" Target="../slideLayouts/slideLayout2.xml"/><Relationship Id="rId6" Type="http://schemas.microsoft.com/office/2007/relationships/diagramDrawing" Target="../diagrams/drawing325.xml"/><Relationship Id="rId5" Type="http://schemas.openxmlformats.org/officeDocument/2006/relationships/diagramColors" Target="../diagrams/colors325.xml"/><Relationship Id="rId4" Type="http://schemas.openxmlformats.org/officeDocument/2006/relationships/diagramQuickStyle" Target="../diagrams/quickStyle325.xml"/></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326.xml"/><Relationship Id="rId2" Type="http://schemas.openxmlformats.org/officeDocument/2006/relationships/diagramData" Target="../diagrams/data326.xml"/><Relationship Id="rId1" Type="http://schemas.openxmlformats.org/officeDocument/2006/relationships/slideLayout" Target="../slideLayouts/slideLayout2.xml"/><Relationship Id="rId6" Type="http://schemas.microsoft.com/office/2007/relationships/diagramDrawing" Target="../diagrams/drawing326.xml"/><Relationship Id="rId5" Type="http://schemas.openxmlformats.org/officeDocument/2006/relationships/diagramColors" Target="../diagrams/colors326.xml"/><Relationship Id="rId4" Type="http://schemas.openxmlformats.org/officeDocument/2006/relationships/diagramQuickStyle" Target="../diagrams/quickStyle326.xml"/></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327.xml"/><Relationship Id="rId2" Type="http://schemas.openxmlformats.org/officeDocument/2006/relationships/diagramData" Target="../diagrams/data327.xml"/><Relationship Id="rId1" Type="http://schemas.openxmlformats.org/officeDocument/2006/relationships/slideLayout" Target="../slideLayouts/slideLayout2.xml"/><Relationship Id="rId6" Type="http://schemas.microsoft.com/office/2007/relationships/diagramDrawing" Target="../diagrams/drawing327.xml"/><Relationship Id="rId5" Type="http://schemas.openxmlformats.org/officeDocument/2006/relationships/diagramColors" Target="../diagrams/colors327.xml"/><Relationship Id="rId4" Type="http://schemas.openxmlformats.org/officeDocument/2006/relationships/diagramQuickStyle" Target="../diagrams/quickStyle327.xml"/></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328.xml"/><Relationship Id="rId2" Type="http://schemas.openxmlformats.org/officeDocument/2006/relationships/diagramData" Target="../diagrams/data328.xml"/><Relationship Id="rId1" Type="http://schemas.openxmlformats.org/officeDocument/2006/relationships/slideLayout" Target="../slideLayouts/slideLayout2.xml"/><Relationship Id="rId6" Type="http://schemas.microsoft.com/office/2007/relationships/diagramDrawing" Target="../diagrams/drawing328.xml"/><Relationship Id="rId5" Type="http://schemas.openxmlformats.org/officeDocument/2006/relationships/diagramColors" Target="../diagrams/colors328.xml"/><Relationship Id="rId4" Type="http://schemas.openxmlformats.org/officeDocument/2006/relationships/diagramQuickStyle" Target="../diagrams/quickStyle328.xml"/></Relationships>
</file>

<file path=ppt/slides/_rels/slide334.xml.rels><?xml version="1.0" encoding="UTF-8" standalone="yes"?>
<Relationships xmlns="http://schemas.openxmlformats.org/package/2006/relationships"><Relationship Id="rId3" Type="http://schemas.openxmlformats.org/officeDocument/2006/relationships/diagramLayout" Target="../diagrams/layout329.xml"/><Relationship Id="rId2" Type="http://schemas.openxmlformats.org/officeDocument/2006/relationships/diagramData" Target="../diagrams/data329.xml"/><Relationship Id="rId1" Type="http://schemas.openxmlformats.org/officeDocument/2006/relationships/slideLayout" Target="../slideLayouts/slideLayout2.xml"/><Relationship Id="rId6" Type="http://schemas.microsoft.com/office/2007/relationships/diagramDrawing" Target="../diagrams/drawing329.xml"/><Relationship Id="rId5" Type="http://schemas.openxmlformats.org/officeDocument/2006/relationships/diagramColors" Target="../diagrams/colors329.xml"/><Relationship Id="rId4" Type="http://schemas.openxmlformats.org/officeDocument/2006/relationships/diagramQuickStyle" Target="../diagrams/quickStyle329.xml"/></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330.xml"/><Relationship Id="rId2" Type="http://schemas.openxmlformats.org/officeDocument/2006/relationships/diagramData" Target="../diagrams/data330.xml"/><Relationship Id="rId1" Type="http://schemas.openxmlformats.org/officeDocument/2006/relationships/slideLayout" Target="../slideLayouts/slideLayout2.xml"/><Relationship Id="rId6" Type="http://schemas.microsoft.com/office/2007/relationships/diagramDrawing" Target="../diagrams/drawing330.xml"/><Relationship Id="rId5" Type="http://schemas.openxmlformats.org/officeDocument/2006/relationships/diagramColors" Target="../diagrams/colors330.xml"/><Relationship Id="rId4" Type="http://schemas.openxmlformats.org/officeDocument/2006/relationships/diagramQuickStyle" Target="../diagrams/quickStyle330.xml"/></Relationships>
</file>

<file path=ppt/slides/_rels/slide336.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en.wikipedia.org/wiki/Map_projection" TargetMode="External"/><Relationship Id="rId18" Type="http://schemas.openxmlformats.org/officeDocument/2006/relationships/hyperlink" Target="https://github.com/webgeodatavore/awesome-openlayers" TargetMode="External"/><Relationship Id="rId3" Type="http://schemas.openxmlformats.org/officeDocument/2006/relationships/diagramLayout" Target="../diagrams/layout331.xml"/><Relationship Id="rId21" Type="http://schemas.openxmlformats.org/officeDocument/2006/relationships/hyperlink" Target="https://openlayers.org/en/latest/examples/localized-openstreetmap.html" TargetMode="External"/><Relationship Id="rId7" Type="http://schemas.openxmlformats.org/officeDocument/2006/relationships/hyperlink" Target="https://www.esri.com/en-us/esri-press/browse/cartography-the-definitive-guide-to-making-maps" TargetMode="External"/><Relationship Id="rId12" Type="http://schemas.openxmlformats.org/officeDocument/2006/relationships/hyperlink" Target="https://press.uchicago.edu/books/hoc/HOC_V6/HOC_VOLUME6_A.pdf" TargetMode="External"/><Relationship Id="rId17" Type="http://schemas.openxmlformats.org/officeDocument/2006/relationships/hyperlink" Target="https://www.techtarget.com/whatis/definition/geofencing" TargetMode="External"/><Relationship Id="rId2" Type="http://schemas.openxmlformats.org/officeDocument/2006/relationships/diagramData" Target="../diagrams/data331.xml"/><Relationship Id="rId16" Type="http://schemas.openxmlformats.org/officeDocument/2006/relationships/hyperlink" Target="https://developers.google.com/maps/documentation/javascript/vector-map" TargetMode="External"/><Relationship Id="rId20" Type="http://schemas.openxmlformats.org/officeDocument/2006/relationships/hyperlink" Target="https://opensource.com/article/17/8/openstreetmap" TargetMode="External"/><Relationship Id="rId1" Type="http://schemas.openxmlformats.org/officeDocument/2006/relationships/slideLayout" Target="../slideLayouts/slideLayout2.xml"/><Relationship Id="rId6" Type="http://schemas.microsoft.com/office/2007/relationships/diagramDrawing" Target="../diagrams/drawing331.xml"/><Relationship Id="rId11" Type="http://schemas.openxmlformats.org/officeDocument/2006/relationships/hyperlink" Target="https://onlinecourses.swayam2.ac.in/cec26_hs57/preview" TargetMode="External"/><Relationship Id="rId5" Type="http://schemas.openxmlformats.org/officeDocument/2006/relationships/diagramColors" Target="../diagrams/colors331.xml"/><Relationship Id="rId15" Type="http://schemas.openxmlformats.org/officeDocument/2006/relationships/hyperlink" Target="https://medium.com/google-design/google-maps-cb0326d165f5" TargetMode="External"/><Relationship Id="rId10" Type="http://schemas.openxmlformats.org/officeDocument/2006/relationships/hyperlink" Target="https://ia801500.us.archive.org/8/items/in.ernet.dli.2015.119985/2015.119985.Fundamentals-Of-Cartography_text.pdf" TargetMode="External"/><Relationship Id="rId19" Type="http://schemas.openxmlformats.org/officeDocument/2006/relationships/hyperlink" Target="https://wiki.openstreetmap.org/" TargetMode="External"/><Relationship Id="rId4" Type="http://schemas.openxmlformats.org/officeDocument/2006/relationships/diagramQuickStyle" Target="../diagrams/quickStyle331.xml"/><Relationship Id="rId9" Type="http://schemas.openxmlformats.org/officeDocument/2006/relationships/hyperlink" Target="https://www.kngac.ac.in/elearning-portal/ec/admin/contents/2_18KGAG1_2020120403172623.pdf" TargetMode="External"/><Relationship Id="rId14" Type="http://schemas.openxmlformats.org/officeDocument/2006/relationships/hyperlink" Target="https://valhalla.github.io/valhalla/mjolnir/why_tiles/" TargetMode="External"/><Relationship Id="rId22" Type="http://schemas.openxmlformats.org/officeDocument/2006/relationships/hyperlink" Target="https://arxiv.org/abs/2312.07901" TargetMode="External"/></Relationships>
</file>

<file path=ppt/slides/_rels/slide337.xml.rels><?xml version="1.0" encoding="UTF-8" standalone="yes"?>
<Relationships xmlns="http://schemas.openxmlformats.org/package/2006/relationships"><Relationship Id="rId3" Type="http://schemas.openxmlformats.org/officeDocument/2006/relationships/diagramLayout" Target="../diagrams/layout332.xml"/><Relationship Id="rId2" Type="http://schemas.openxmlformats.org/officeDocument/2006/relationships/diagramData" Target="../diagrams/data332.xml"/><Relationship Id="rId1" Type="http://schemas.openxmlformats.org/officeDocument/2006/relationships/slideLayout" Target="../slideLayouts/slideLayout2.xml"/><Relationship Id="rId6" Type="http://schemas.microsoft.com/office/2007/relationships/diagramDrawing" Target="../diagrams/drawing332.xml"/><Relationship Id="rId5" Type="http://schemas.openxmlformats.org/officeDocument/2006/relationships/diagramColors" Target="../diagrams/colors332.xml"/><Relationship Id="rId4" Type="http://schemas.openxmlformats.org/officeDocument/2006/relationships/diagramQuickStyle" Target="../diagrams/quickStyle332.xml"/></Relationships>
</file>

<file path=ppt/slides/_rels/slide338.xml.rels><?xml version="1.0" encoding="UTF-8" standalone="yes"?>
<Relationships xmlns="http://schemas.openxmlformats.org/package/2006/relationships"><Relationship Id="rId3" Type="http://schemas.openxmlformats.org/officeDocument/2006/relationships/diagramLayout" Target="../diagrams/layout333.xml"/><Relationship Id="rId2" Type="http://schemas.openxmlformats.org/officeDocument/2006/relationships/diagramData" Target="../diagrams/data333.xml"/><Relationship Id="rId1" Type="http://schemas.openxmlformats.org/officeDocument/2006/relationships/slideLayout" Target="../slideLayouts/slideLayout2.xml"/><Relationship Id="rId6" Type="http://schemas.microsoft.com/office/2007/relationships/diagramDrawing" Target="../diagrams/drawing333.xml"/><Relationship Id="rId5" Type="http://schemas.openxmlformats.org/officeDocument/2006/relationships/diagramColors" Target="../diagrams/colors333.xml"/><Relationship Id="rId4" Type="http://schemas.openxmlformats.org/officeDocument/2006/relationships/diagramQuickStyle" Target="../diagrams/quickStyle333.xml"/></Relationships>
</file>

<file path=ppt/slides/_rels/slide339.xml.rels><?xml version="1.0" encoding="UTF-8" standalone="yes"?>
<Relationships xmlns="http://schemas.openxmlformats.org/package/2006/relationships"><Relationship Id="rId3" Type="http://schemas.openxmlformats.org/officeDocument/2006/relationships/diagramLayout" Target="../diagrams/layout334.xml"/><Relationship Id="rId2" Type="http://schemas.openxmlformats.org/officeDocument/2006/relationships/diagramData" Target="../diagrams/data334.xml"/><Relationship Id="rId1" Type="http://schemas.openxmlformats.org/officeDocument/2006/relationships/slideLayout" Target="../slideLayouts/slideLayout2.xml"/><Relationship Id="rId6" Type="http://schemas.microsoft.com/office/2007/relationships/diagramDrawing" Target="../diagrams/drawing334.xml"/><Relationship Id="rId5" Type="http://schemas.openxmlformats.org/officeDocument/2006/relationships/diagramColors" Target="../diagrams/colors334.xml"/><Relationship Id="rId4" Type="http://schemas.openxmlformats.org/officeDocument/2006/relationships/diagramQuickStyle" Target="../diagrams/quickStyle334.xml"/></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335.xml"/><Relationship Id="rId2" Type="http://schemas.openxmlformats.org/officeDocument/2006/relationships/diagramData" Target="../diagrams/data335.xml"/><Relationship Id="rId1" Type="http://schemas.openxmlformats.org/officeDocument/2006/relationships/slideLayout" Target="../slideLayouts/slideLayout2.xml"/><Relationship Id="rId6" Type="http://schemas.microsoft.com/office/2007/relationships/diagramDrawing" Target="../diagrams/drawing335.xml"/><Relationship Id="rId5" Type="http://schemas.openxmlformats.org/officeDocument/2006/relationships/diagramColors" Target="../diagrams/colors335.xml"/><Relationship Id="rId4" Type="http://schemas.openxmlformats.org/officeDocument/2006/relationships/diagramQuickStyle" Target="../diagrams/quickStyle335.xml"/></Relationships>
</file>

<file path=ppt/slides/_rels/slide341.xml.rels><?xml version="1.0" encoding="UTF-8" standalone="yes"?>
<Relationships xmlns="http://schemas.openxmlformats.org/package/2006/relationships"><Relationship Id="rId8" Type="http://schemas.openxmlformats.org/officeDocument/2006/relationships/hyperlink" Target="https://www.sciencedirect.com/science/article/abs/pii/S0198971506000184" TargetMode="External"/><Relationship Id="rId3" Type="http://schemas.openxmlformats.org/officeDocument/2006/relationships/diagramLayout" Target="../diagrams/layout336.xml"/><Relationship Id="rId7" Type="http://schemas.openxmlformats.org/officeDocument/2006/relationships/hyperlink" Target="https://www.amazon.in/Location-Based-Services-Geo-Information-Engineering-Mastering/dp/0470857374/ref=sr_1_1?crid=7XBMVSUNPOHY&amp;dib=eyJ2IjoiMSJ9.6kKcQfpmPnbVTxQYAaCBkLSks1ApmazQu0laajSakBQ1vLlASZewRQ_CM5ASqIwXSI_GqNC6KQyeamWovaz4tBqtWYkeGTcZZ6ocdM2MnVY.tavHS9UXfq3fGDtgSmgFTM8HxpN7-fPJILNWec-iOZc&amp;dib_tag=se&amp;keywords=Location-Based+Services+and+Geo-Information+Engineering&amp;qid=1762869569&amp;sprefix=location-based+services+and+geo-information+engineering+%2Caps%2C557&amp;sr=8-1" TargetMode="External"/><Relationship Id="rId2" Type="http://schemas.openxmlformats.org/officeDocument/2006/relationships/diagramData" Target="../diagrams/data336.xml"/><Relationship Id="rId1" Type="http://schemas.openxmlformats.org/officeDocument/2006/relationships/slideLayout" Target="../slideLayouts/slideLayout2.xml"/><Relationship Id="rId6" Type="http://schemas.microsoft.com/office/2007/relationships/diagramDrawing" Target="../diagrams/drawing336.xml"/><Relationship Id="rId11" Type="http://schemas.openxmlformats.org/officeDocument/2006/relationships/hyperlink" Target="https://www.sciencedirect.com/science/article/pii/S1389128622001918" TargetMode="External"/><Relationship Id="rId5" Type="http://schemas.openxmlformats.org/officeDocument/2006/relationships/diagramColors" Target="../diagrams/colors336.xml"/><Relationship Id="rId10" Type="http://schemas.openxmlformats.org/officeDocument/2006/relationships/hyperlink" Target="https://arxiv.org/abs/2004.03738" TargetMode="External"/><Relationship Id="rId4" Type="http://schemas.openxmlformats.org/officeDocument/2006/relationships/diagramQuickStyle" Target="../diagrams/quickStyle336.xml"/><Relationship Id="rId9" Type="http://schemas.openxmlformats.org/officeDocument/2006/relationships/hyperlink" Target="https://www.researchgate.net/publication/327256471_Location_based_services_ongoing_evolution_and_research_agenda" TargetMode="External"/></Relationships>
</file>

<file path=ppt/slides/_rels/slide342.xml.rels><?xml version="1.0" encoding="UTF-8" standalone="yes"?>
<Relationships xmlns="http://schemas.openxmlformats.org/package/2006/relationships"><Relationship Id="rId3" Type="http://schemas.openxmlformats.org/officeDocument/2006/relationships/diagramLayout" Target="../diagrams/layout337.xml"/><Relationship Id="rId2" Type="http://schemas.openxmlformats.org/officeDocument/2006/relationships/diagramData" Target="../diagrams/data337.xml"/><Relationship Id="rId1" Type="http://schemas.openxmlformats.org/officeDocument/2006/relationships/slideLayout" Target="../slideLayouts/slideLayout2.xml"/><Relationship Id="rId6" Type="http://schemas.microsoft.com/office/2007/relationships/diagramDrawing" Target="../diagrams/drawing337.xml"/><Relationship Id="rId5" Type="http://schemas.openxmlformats.org/officeDocument/2006/relationships/diagramColors" Target="../diagrams/colors337.xml"/><Relationship Id="rId4" Type="http://schemas.openxmlformats.org/officeDocument/2006/relationships/diagramQuickStyle" Target="../diagrams/quickStyle337.xml"/></Relationships>
</file>

<file path=ppt/slides/_rels/slide343.xml.rels><?xml version="1.0" encoding="UTF-8" standalone="yes"?>
<Relationships xmlns="http://schemas.openxmlformats.org/package/2006/relationships"><Relationship Id="rId3" Type="http://schemas.openxmlformats.org/officeDocument/2006/relationships/diagramLayout" Target="../diagrams/layout338.xml"/><Relationship Id="rId2" Type="http://schemas.openxmlformats.org/officeDocument/2006/relationships/diagramData" Target="../diagrams/data338.xml"/><Relationship Id="rId1" Type="http://schemas.openxmlformats.org/officeDocument/2006/relationships/slideLayout" Target="../slideLayouts/slideLayout2.xml"/><Relationship Id="rId6" Type="http://schemas.microsoft.com/office/2007/relationships/diagramDrawing" Target="../diagrams/drawing338.xml"/><Relationship Id="rId5" Type="http://schemas.openxmlformats.org/officeDocument/2006/relationships/diagramColors" Target="../diagrams/colors338.xml"/><Relationship Id="rId4" Type="http://schemas.openxmlformats.org/officeDocument/2006/relationships/diagramQuickStyle" Target="../diagrams/quickStyle338.xml"/></Relationships>
</file>

<file path=ppt/slides/_rels/slide344.xml.rels><?xml version="1.0" encoding="UTF-8" standalone="yes"?>
<Relationships xmlns="http://schemas.openxmlformats.org/package/2006/relationships"><Relationship Id="rId3" Type="http://schemas.openxmlformats.org/officeDocument/2006/relationships/diagramLayout" Target="../diagrams/layout339.xml"/><Relationship Id="rId2" Type="http://schemas.openxmlformats.org/officeDocument/2006/relationships/diagramData" Target="../diagrams/data339.xml"/><Relationship Id="rId1" Type="http://schemas.openxmlformats.org/officeDocument/2006/relationships/slideLayout" Target="../slideLayouts/slideLayout2.xml"/><Relationship Id="rId6" Type="http://schemas.microsoft.com/office/2007/relationships/diagramDrawing" Target="../diagrams/drawing339.xml"/><Relationship Id="rId5" Type="http://schemas.openxmlformats.org/officeDocument/2006/relationships/diagramColors" Target="../diagrams/colors339.xml"/><Relationship Id="rId4" Type="http://schemas.openxmlformats.org/officeDocument/2006/relationships/diagramQuickStyle" Target="../diagrams/quickStyle339.xml"/></Relationships>
</file>

<file path=ppt/slides/_rels/slide345.xml.rels><?xml version="1.0" encoding="UTF-8" standalone="yes"?>
<Relationships xmlns="http://schemas.openxmlformats.org/package/2006/relationships"><Relationship Id="rId3" Type="http://schemas.openxmlformats.org/officeDocument/2006/relationships/diagramLayout" Target="../diagrams/layout340.xml"/><Relationship Id="rId7" Type="http://schemas.openxmlformats.org/officeDocument/2006/relationships/image" Target="../media/image104.png"/><Relationship Id="rId2" Type="http://schemas.openxmlformats.org/officeDocument/2006/relationships/diagramData" Target="../diagrams/data340.xml"/><Relationship Id="rId1" Type="http://schemas.openxmlformats.org/officeDocument/2006/relationships/slideLayout" Target="../slideLayouts/slideLayout2.xml"/><Relationship Id="rId6" Type="http://schemas.microsoft.com/office/2007/relationships/diagramDrawing" Target="../diagrams/drawing340.xml"/><Relationship Id="rId5" Type="http://schemas.openxmlformats.org/officeDocument/2006/relationships/diagramColors" Target="../diagrams/colors340.xml"/><Relationship Id="rId4" Type="http://schemas.openxmlformats.org/officeDocument/2006/relationships/diagramQuickStyle" Target="../diagrams/quickStyle340.xml"/></Relationships>
</file>

<file path=ppt/slides/_rels/slide346.xml.rels><?xml version="1.0" encoding="UTF-8" standalone="yes"?>
<Relationships xmlns="http://schemas.openxmlformats.org/package/2006/relationships"><Relationship Id="rId3" Type="http://schemas.openxmlformats.org/officeDocument/2006/relationships/diagramLayout" Target="../diagrams/layout341.xml"/><Relationship Id="rId7" Type="http://schemas.openxmlformats.org/officeDocument/2006/relationships/image" Target="../media/image105.png"/><Relationship Id="rId2" Type="http://schemas.openxmlformats.org/officeDocument/2006/relationships/diagramData" Target="../diagrams/data341.xml"/><Relationship Id="rId1" Type="http://schemas.openxmlformats.org/officeDocument/2006/relationships/slideLayout" Target="../slideLayouts/slideLayout2.xml"/><Relationship Id="rId6" Type="http://schemas.microsoft.com/office/2007/relationships/diagramDrawing" Target="../diagrams/drawing341.xml"/><Relationship Id="rId5" Type="http://schemas.openxmlformats.org/officeDocument/2006/relationships/diagramColors" Target="../diagrams/colors341.xml"/><Relationship Id="rId4" Type="http://schemas.openxmlformats.org/officeDocument/2006/relationships/diagramQuickStyle" Target="../diagrams/quickStyle341.xml"/></Relationships>
</file>

<file path=ppt/slides/_rels/slide347.xml.rels><?xml version="1.0" encoding="UTF-8" standalone="yes"?>
<Relationships xmlns="http://schemas.openxmlformats.org/package/2006/relationships"><Relationship Id="rId8" Type="http://schemas.openxmlformats.org/officeDocument/2006/relationships/hyperlink" Target="https://link.springer.com/book/10.1007/978-3-540-77974-2" TargetMode="External"/><Relationship Id="rId13" Type="http://schemas.openxmlformats.org/officeDocument/2006/relationships/hyperlink" Target="https://github.com/Kasheftin/RoutePlanner" TargetMode="External"/><Relationship Id="rId3" Type="http://schemas.openxmlformats.org/officeDocument/2006/relationships/diagramData" Target="../diagrams/data342.xml"/><Relationship Id="rId7" Type="http://schemas.microsoft.com/office/2007/relationships/diagramDrawing" Target="../diagrams/drawing342.xml"/><Relationship Id="rId12" Type="http://schemas.openxmlformats.org/officeDocument/2006/relationships/hyperlink" Target="https://www.opentripplanner.org/" TargetMode="External"/><Relationship Id="rId2" Type="http://schemas.openxmlformats.org/officeDocument/2006/relationships/notesSlide" Target="../notesSlides/notesSlide67.xml"/><Relationship Id="rId16" Type="http://schemas.openxmlformats.org/officeDocument/2006/relationships/hyperlink" Target="https://www.linkedin.com/posts/gkcs_systemdesign-locationbasedapplications-activity-7207803072083877888-J4os/" TargetMode="External"/><Relationship Id="rId1" Type="http://schemas.openxmlformats.org/officeDocument/2006/relationships/slideLayout" Target="../slideLayouts/slideLayout2.xml"/><Relationship Id="rId6" Type="http://schemas.openxmlformats.org/officeDocument/2006/relationships/diagramColors" Target="../diagrams/colors342.xml"/><Relationship Id="rId11" Type="http://schemas.openxmlformats.org/officeDocument/2006/relationships/hyperlink" Target="https://www.linkedin.com/posts/bonagirisandeep_inside-ubers-system-design-from-rider-request-activity-7379354238176583680-xN-v/" TargetMode="External"/><Relationship Id="rId5" Type="http://schemas.openxmlformats.org/officeDocument/2006/relationships/diagramQuickStyle" Target="../diagrams/quickStyle342.xml"/><Relationship Id="rId15" Type="http://schemas.openxmlformats.org/officeDocument/2006/relationships/hyperlink" Target="https://github.com/opengeos" TargetMode="External"/><Relationship Id="rId10" Type="http://schemas.openxmlformats.org/officeDocument/2006/relationships/hyperlink" Target="https://nostarch.com/math-security" TargetMode="External"/><Relationship Id="rId4" Type="http://schemas.openxmlformats.org/officeDocument/2006/relationships/diagramLayout" Target="../diagrams/layout342.xml"/><Relationship Id="rId9" Type="http://schemas.openxmlformats.org/officeDocument/2006/relationships/hyperlink" Target="https://deeplearning.lipingyang.org/computational-geometry-in-python/" TargetMode="External"/><Relationship Id="rId14" Type="http://schemas.openxmlformats.org/officeDocument/2006/relationships/hyperlink" Target="https://courses.spatialthoughts.com/end-to-end-gee.html" TargetMode="Externa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Mesh,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extLst>
              <p:ext uri="{D42A27DB-BD31-4B8C-83A1-F6EECF244321}">
                <p14:modId xmlns:p14="http://schemas.microsoft.com/office/powerpoint/2010/main" val="263912142"/>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F32BA-4918-37C3-392F-CBE3C77E2805}"/>
              </a:ext>
            </a:extLst>
          </p:cNvPr>
          <p:cNvSpPr txBox="1">
            <a:spLocks/>
          </p:cNvSpPr>
          <p:nvPr/>
        </p:nvSpPr>
        <p:spPr>
          <a:xfrm>
            <a:off x="313400" y="694301"/>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What is TOGAF?</a:t>
            </a:r>
          </a:p>
          <a:p>
            <a:pPr marL="12700" marR="5080"/>
            <a:r>
              <a:rPr lang="en-US" sz="1300" kern="0" spc="-80" dirty="0">
                <a:solidFill>
                  <a:schemeClr val="accent6"/>
                </a:solidFill>
              </a:rPr>
              <a:t>TOGAF (The Open Group Architecture Framework) is a framework for designing, planning, implementing, and governing enterprise architecture. The heart of TOGAF is the ADM (Architecture Development Method) — a step-by-step, iterative process for developing and evolving enterprise architecture.</a:t>
            </a:r>
          </a:p>
          <a:p>
            <a:pPr marL="12700" marR="5080"/>
            <a:r>
              <a:rPr lang="en-US" sz="1300" kern="0" spc="-80" dirty="0">
                <a:solidFill>
                  <a:schemeClr val="accent2"/>
                </a:solidFill>
              </a:rPr>
              <a:t>ADM (Architecture Development Method) – Overview</a:t>
            </a:r>
          </a:p>
          <a:p>
            <a:pPr marL="12700" marR="5080"/>
            <a:r>
              <a:rPr lang="en-US" sz="1300" kern="0" spc="-80" dirty="0">
                <a:solidFill>
                  <a:schemeClr val="accent6"/>
                </a:solidFill>
              </a:rPr>
              <a:t>The ADM is a cycle that you repeat continuously. Each iteration can update one layer or the entire architecture.</a:t>
            </a:r>
          </a:p>
          <a:p>
            <a:pPr marL="12700" marR="5080"/>
            <a:r>
              <a:rPr lang="en-US" sz="1300" kern="0" spc="-80" dirty="0">
                <a:solidFill>
                  <a:schemeClr val="accent6"/>
                </a:solidFill>
              </a:rPr>
              <a:t>      Preliminary</a:t>
            </a:r>
          </a:p>
          <a:p>
            <a:pPr marL="12700" marR="5080"/>
            <a:r>
              <a:rPr lang="en-US" sz="1300" kern="0" spc="-80" dirty="0">
                <a:solidFill>
                  <a:schemeClr val="accent6"/>
                </a:solidFill>
              </a:rPr>
              <a:t>           ↓</a:t>
            </a:r>
          </a:p>
          <a:p>
            <a:pPr marL="12700" marR="5080"/>
            <a:r>
              <a:rPr lang="en-US" sz="1300" kern="0" spc="-80" dirty="0">
                <a:solidFill>
                  <a:schemeClr val="accent6"/>
                </a:solidFill>
              </a:rPr>
              <a:t>       A. Architecture Vision</a:t>
            </a:r>
          </a:p>
          <a:p>
            <a:pPr marL="12700" marR="5080"/>
            <a:r>
              <a:rPr lang="en-US" sz="1300" kern="0" spc="-80" dirty="0">
                <a:solidFill>
                  <a:schemeClr val="accent6"/>
                </a:solidFill>
              </a:rPr>
              <a:t>           ↓</a:t>
            </a:r>
          </a:p>
          <a:p>
            <a:pPr marL="12700" marR="5080"/>
            <a:r>
              <a:rPr lang="en-US" sz="1300" kern="0" spc="-80" dirty="0">
                <a:solidFill>
                  <a:schemeClr val="accent6"/>
                </a:solidFill>
              </a:rPr>
              <a:t>       B. Business Architecture</a:t>
            </a:r>
          </a:p>
          <a:p>
            <a:pPr marL="12700" marR="5080"/>
            <a:r>
              <a:rPr lang="en-US" sz="1300" kern="0" spc="-80" dirty="0">
                <a:solidFill>
                  <a:schemeClr val="accent6"/>
                </a:solidFill>
              </a:rPr>
              <a:t>           ↓</a:t>
            </a:r>
          </a:p>
          <a:p>
            <a:pPr marL="12700" marR="5080"/>
            <a:r>
              <a:rPr lang="en-US" sz="1300" kern="0" spc="-80" dirty="0">
                <a:solidFill>
                  <a:schemeClr val="accent6"/>
                </a:solidFill>
              </a:rPr>
              <a:t>       C. Information Systems Architecture</a:t>
            </a:r>
          </a:p>
          <a:p>
            <a:pPr marL="12700" marR="5080"/>
            <a:r>
              <a:rPr lang="en-US" sz="1300" kern="0" spc="-80" dirty="0">
                <a:solidFill>
                  <a:schemeClr val="accent6"/>
                </a:solidFill>
              </a:rPr>
              <a:t>             (Data + Application)</a:t>
            </a:r>
          </a:p>
          <a:p>
            <a:pPr marL="12700" marR="5080"/>
            <a:r>
              <a:rPr lang="en-US" sz="1300" kern="0" spc="-80" dirty="0">
                <a:solidFill>
                  <a:schemeClr val="accent6"/>
                </a:solidFill>
              </a:rPr>
              <a:t>           ↓</a:t>
            </a:r>
          </a:p>
          <a:p>
            <a:pPr marL="12700" marR="5080"/>
            <a:r>
              <a:rPr lang="en-US" sz="1300" kern="0" spc="-80" dirty="0">
                <a:solidFill>
                  <a:schemeClr val="accent6"/>
                </a:solidFill>
              </a:rPr>
              <a:t>       D. Technology Architecture</a:t>
            </a:r>
          </a:p>
          <a:p>
            <a:pPr marL="12700" marR="5080"/>
            <a:r>
              <a:rPr lang="en-US" sz="1300" kern="0" spc="-80" dirty="0">
                <a:solidFill>
                  <a:schemeClr val="accent6"/>
                </a:solidFill>
              </a:rPr>
              <a:t>           ↓</a:t>
            </a:r>
          </a:p>
          <a:p>
            <a:pPr marL="12700" marR="5080"/>
            <a:r>
              <a:rPr lang="en-US" sz="1300" kern="0" spc="-80" dirty="0">
                <a:solidFill>
                  <a:schemeClr val="accent6"/>
                </a:solidFill>
              </a:rPr>
              <a:t>       E. Opportunities &amp; Solutions</a:t>
            </a:r>
          </a:p>
          <a:p>
            <a:pPr marL="12700" marR="5080"/>
            <a:r>
              <a:rPr lang="en-US" sz="1300" kern="0" spc="-80" dirty="0">
                <a:solidFill>
                  <a:schemeClr val="accent6"/>
                </a:solidFill>
              </a:rPr>
              <a:t>           ↓</a:t>
            </a:r>
          </a:p>
          <a:p>
            <a:pPr marL="12700" marR="5080"/>
            <a:r>
              <a:rPr lang="en-US" sz="1300" kern="0" spc="-80" dirty="0">
                <a:solidFill>
                  <a:schemeClr val="accent6"/>
                </a:solidFill>
              </a:rPr>
              <a:t>       F. Migration Planning</a:t>
            </a:r>
          </a:p>
          <a:p>
            <a:pPr marL="12700" marR="5080"/>
            <a:r>
              <a:rPr lang="en-US" sz="1300" kern="0" spc="-80" dirty="0">
                <a:solidFill>
                  <a:schemeClr val="accent6"/>
                </a:solidFill>
              </a:rPr>
              <a:t>           ↓</a:t>
            </a:r>
          </a:p>
          <a:p>
            <a:pPr marL="12700" marR="5080"/>
            <a:r>
              <a:rPr lang="en-US" sz="1300" kern="0" spc="-80" dirty="0">
                <a:solidFill>
                  <a:schemeClr val="accent6"/>
                </a:solidFill>
              </a:rPr>
              <a:t>       G. Implementation Governance</a:t>
            </a:r>
          </a:p>
          <a:p>
            <a:pPr marL="12700" marR="5080"/>
            <a:r>
              <a:rPr lang="en-US" sz="1300" kern="0" spc="-80" dirty="0">
                <a:solidFill>
                  <a:schemeClr val="accent6"/>
                </a:solidFill>
              </a:rPr>
              <a:t>           ↓</a:t>
            </a:r>
          </a:p>
          <a:p>
            <a:pPr marL="12700" marR="5080"/>
            <a:r>
              <a:rPr lang="en-US" sz="1300" kern="0" spc="-80" dirty="0">
                <a:solidFill>
                  <a:schemeClr val="accent6"/>
                </a:solidFill>
              </a:rPr>
              <a:t>       H. Architecture Change Management</a:t>
            </a:r>
          </a:p>
          <a:p>
            <a:pPr marL="12700" marR="5080"/>
            <a:r>
              <a:rPr lang="en-US" sz="1300" kern="0" spc="-80" dirty="0">
                <a:solidFill>
                  <a:schemeClr val="accent6"/>
                </a:solidFill>
              </a:rPr>
              <a:t>           ↺ (back to A/B/C etc.)</a:t>
            </a:r>
          </a:p>
          <a:p>
            <a:pPr marL="12700" marR="5080"/>
            <a:r>
              <a:rPr lang="en-US" sz="1300" kern="0" spc="-80" dirty="0">
                <a:solidFill>
                  <a:schemeClr val="accent6"/>
                </a:solidFill>
              </a:rPr>
              <a:t>Additionally, the Requirements Management phase runs through all phases.</a:t>
            </a:r>
          </a:p>
        </p:txBody>
      </p:sp>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ED3F-829C-F391-7F77-C16F45D724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ED76A3-428B-C420-81AB-0E79B797412A}"/>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A5E1E-ABAF-7EB8-79FB-E2971323985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7CC427-8FD6-0236-00FE-8F223B470D3E}"/>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F7B61A-B356-BA96-F22B-4D6601ADD5D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Preliminary Phase – Prepare &amp; Set the Stage</a:t>
            </a:r>
          </a:p>
          <a:p>
            <a:pPr marL="12700" marR="5080"/>
            <a:r>
              <a:rPr lang="en-US" sz="1400" kern="0" spc="-80" dirty="0">
                <a:solidFill>
                  <a:schemeClr val="accent2"/>
                </a:solidFill>
              </a:rPr>
              <a:t>Purpose</a:t>
            </a:r>
          </a:p>
          <a:p>
            <a:pPr marL="12700" marR="5080"/>
            <a:r>
              <a:rPr lang="en-US" sz="1400" kern="0" spc="-80" dirty="0">
                <a:solidFill>
                  <a:schemeClr val="accent2"/>
                </a:solidFill>
              </a:rPr>
              <a:t>Define:</a:t>
            </a:r>
          </a:p>
          <a:p>
            <a:pPr marL="12700" marR="5080"/>
            <a:r>
              <a:rPr lang="en-US" sz="1400" kern="0" spc="-80" dirty="0">
                <a:solidFill>
                  <a:schemeClr val="accent6"/>
                </a:solidFill>
              </a:rPr>
              <a:t>Why we are doing architecture</a:t>
            </a:r>
          </a:p>
          <a:p>
            <a:pPr marL="12700" marR="5080"/>
            <a:r>
              <a:rPr lang="en-US" sz="1400" kern="0" spc="-80" dirty="0">
                <a:solidFill>
                  <a:schemeClr val="accent6"/>
                </a:solidFill>
              </a:rPr>
              <a:t>Scope of transformation</a:t>
            </a:r>
          </a:p>
          <a:p>
            <a:pPr marL="12700" marR="5080"/>
            <a:r>
              <a:rPr lang="en-US" sz="1400" kern="0" spc="-80" dirty="0">
                <a:solidFill>
                  <a:schemeClr val="accent6"/>
                </a:solidFill>
              </a:rPr>
              <a:t>Architecture principles</a:t>
            </a:r>
          </a:p>
          <a:p>
            <a:pPr marL="12700" marR="5080"/>
            <a:r>
              <a:rPr lang="en-US" sz="1400" kern="0" spc="-80" dirty="0">
                <a:solidFill>
                  <a:schemeClr val="accent6"/>
                </a:solidFill>
              </a:rPr>
              <a:t>Governance model</a:t>
            </a:r>
          </a:p>
          <a:p>
            <a:pPr marL="12700" marR="5080"/>
            <a:r>
              <a:rPr lang="en-US" sz="1400" kern="0" spc="-80" dirty="0">
                <a:solidFill>
                  <a:schemeClr val="accent6"/>
                </a:solidFill>
              </a:rPr>
              <a:t>Tools and repository</a:t>
            </a:r>
          </a:p>
          <a:p>
            <a:pPr marL="12700" marR="5080"/>
            <a:r>
              <a:rPr lang="en-US" sz="1400" kern="0" spc="-80" dirty="0">
                <a:solidFill>
                  <a:schemeClr val="accent2"/>
                </a:solidFill>
              </a:rPr>
              <a:t>Key Outputs</a:t>
            </a:r>
          </a:p>
          <a:p>
            <a:pPr marL="12700" marR="5080"/>
            <a:r>
              <a:rPr lang="en-US" sz="1400" kern="0" spc="-80" dirty="0">
                <a:solidFill>
                  <a:schemeClr val="accent6"/>
                </a:solidFill>
              </a:rPr>
              <a:t>Organizational context</a:t>
            </a:r>
          </a:p>
          <a:p>
            <a:pPr marL="12700" marR="5080"/>
            <a:r>
              <a:rPr lang="en-US" sz="1400" kern="0" spc="-80" dirty="0">
                <a:solidFill>
                  <a:schemeClr val="accent6"/>
                </a:solidFill>
              </a:rPr>
              <a:t>Architecture principles (e.g., reuse before buy before build)</a:t>
            </a:r>
          </a:p>
          <a:p>
            <a:pPr marL="12700" marR="5080"/>
            <a:r>
              <a:rPr lang="en-US" sz="1400" kern="0" spc="-80" dirty="0">
                <a:solidFill>
                  <a:schemeClr val="accent6"/>
                </a:solidFill>
              </a:rPr>
              <a:t>Architecture governance framework</a:t>
            </a:r>
          </a:p>
          <a:p>
            <a:pPr marL="12700" marR="5080"/>
            <a:r>
              <a:rPr lang="en-US" sz="1400" kern="0" spc="-80" dirty="0">
                <a:solidFill>
                  <a:schemeClr val="accent6"/>
                </a:solidFill>
              </a:rPr>
              <a:t>EA repository structure</a:t>
            </a:r>
          </a:p>
          <a:p>
            <a:pPr marL="12700" marR="5080"/>
            <a:r>
              <a:rPr lang="en-US" sz="1400" kern="0" spc="-80" dirty="0">
                <a:solidFill>
                  <a:schemeClr val="accent2"/>
                </a:solidFill>
              </a:rPr>
              <a:t>Phase A: Architecture Vision</a:t>
            </a:r>
          </a:p>
          <a:p>
            <a:pPr marL="12700" marR="5080"/>
            <a:r>
              <a:rPr lang="en-US" sz="1400" kern="0" spc="-80" dirty="0">
                <a:solidFill>
                  <a:schemeClr val="accent2"/>
                </a:solidFill>
              </a:rPr>
              <a:t>Purpose</a:t>
            </a:r>
          </a:p>
          <a:p>
            <a:pPr marL="12700" marR="5080"/>
            <a:r>
              <a:rPr lang="en-US" sz="1400" kern="0" spc="-80" dirty="0">
                <a:solidFill>
                  <a:schemeClr val="accent6"/>
                </a:solidFill>
              </a:rPr>
              <a:t>Create a high-level vision to:</a:t>
            </a:r>
          </a:p>
          <a:p>
            <a:pPr marL="12700" marR="5080"/>
            <a:r>
              <a:rPr lang="en-US" sz="1400" kern="0" spc="-80" dirty="0">
                <a:solidFill>
                  <a:schemeClr val="accent6"/>
                </a:solidFill>
              </a:rPr>
              <a:t>Align stakeholders</a:t>
            </a:r>
          </a:p>
          <a:p>
            <a:pPr marL="12700" marR="5080"/>
            <a:r>
              <a:rPr lang="en-US" sz="1400" kern="0" spc="-80" dirty="0">
                <a:solidFill>
                  <a:schemeClr val="accent6"/>
                </a:solidFill>
              </a:rPr>
              <a:t>Secure funding and approval</a:t>
            </a:r>
          </a:p>
          <a:p>
            <a:pPr marL="12700" marR="5080"/>
            <a:r>
              <a:rPr lang="en-US" sz="1400" kern="0" spc="-80" dirty="0">
                <a:solidFill>
                  <a:schemeClr val="accent6"/>
                </a:solidFill>
              </a:rPr>
              <a:t>Set initial scope and boundaries</a:t>
            </a:r>
          </a:p>
          <a:p>
            <a:pPr marL="12700" marR="5080"/>
            <a:r>
              <a:rPr lang="en-US" sz="1400" kern="0" spc="-80" dirty="0">
                <a:solidFill>
                  <a:schemeClr val="accent2"/>
                </a:solidFill>
              </a:rPr>
              <a:t>Activities</a:t>
            </a:r>
          </a:p>
          <a:p>
            <a:pPr marL="12700" marR="5080"/>
            <a:r>
              <a:rPr lang="en-US" sz="1400" kern="0" spc="-80" dirty="0">
                <a:solidFill>
                  <a:schemeClr val="accent6"/>
                </a:solidFill>
              </a:rPr>
              <a:t>Identify stakeholders</a:t>
            </a:r>
          </a:p>
          <a:p>
            <a:pPr marL="12700" marR="5080"/>
            <a:r>
              <a:rPr lang="en-US" sz="1400" kern="0" spc="-80" dirty="0">
                <a:solidFill>
                  <a:schemeClr val="accent6"/>
                </a:solidFill>
              </a:rPr>
              <a:t>Define business context and drivers</a:t>
            </a:r>
          </a:p>
          <a:p>
            <a:pPr marL="12700" marR="5080"/>
            <a:r>
              <a:rPr lang="en-US" sz="1400" kern="0" spc="-80" dirty="0">
                <a:solidFill>
                  <a:schemeClr val="accent6"/>
                </a:solidFill>
              </a:rPr>
              <a:t>Form a high-level Target Architecture (not detailed yet)</a:t>
            </a:r>
          </a:p>
          <a:p>
            <a:pPr marL="12700" marR="5080"/>
            <a:r>
              <a:rPr lang="en-US" sz="1400" kern="0" spc="-80" dirty="0">
                <a:solidFill>
                  <a:schemeClr val="accent6"/>
                </a:solidFill>
              </a:rPr>
              <a:t>Develop the Business Case</a:t>
            </a:r>
          </a:p>
          <a:p>
            <a:pPr marL="12700" marR="5080"/>
            <a:r>
              <a:rPr lang="en-US" sz="1400" kern="0" spc="-80" dirty="0">
                <a:solidFill>
                  <a:schemeClr val="accent6"/>
                </a:solidFill>
              </a:rPr>
              <a:t>Create Architecture Vision Document</a:t>
            </a:r>
          </a:p>
        </p:txBody>
      </p:sp>
    </p:spTree>
    <p:extLst>
      <p:ext uri="{BB962C8B-B14F-4D97-AF65-F5344CB8AC3E}">
        <p14:creationId xmlns:p14="http://schemas.microsoft.com/office/powerpoint/2010/main" val="4160458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C2B83-2B36-7498-E434-AC3553F194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0F0D54-90D8-07DC-C648-ED22A939A2B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33B5EB-BDB4-7F16-C6DF-3B700B29BFFD}"/>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C98B5D-88FE-3886-8A66-8C628BFFFC3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6A249D-1984-351F-B288-0AF55AC8DE83}"/>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Outputs</a:t>
            </a:r>
          </a:p>
          <a:p>
            <a:pPr marL="12700" marR="5080"/>
            <a:r>
              <a:rPr lang="en-US" sz="1400" kern="0" spc="-80" dirty="0">
                <a:solidFill>
                  <a:schemeClr val="accent6"/>
                </a:solidFill>
              </a:rPr>
              <a:t>Statement of Architecture Work</a:t>
            </a:r>
          </a:p>
          <a:p>
            <a:pPr marL="12700" marR="5080"/>
            <a:r>
              <a:rPr lang="en-US" sz="1400" kern="0" spc="-80" dirty="0">
                <a:solidFill>
                  <a:schemeClr val="accent6"/>
                </a:solidFill>
              </a:rPr>
              <a:t>Architecture Vision (with high-level diagrams)</a:t>
            </a:r>
          </a:p>
          <a:p>
            <a:pPr marL="12700" marR="5080"/>
            <a:r>
              <a:rPr lang="en-US" sz="1400" kern="0" spc="-80" dirty="0">
                <a:solidFill>
                  <a:schemeClr val="accent6"/>
                </a:solidFill>
              </a:rPr>
              <a:t>Stakeholder maps and communication plan</a:t>
            </a:r>
          </a:p>
          <a:p>
            <a:pPr marL="12700" marR="5080"/>
            <a:r>
              <a:rPr lang="en-US" sz="1400" kern="0" spc="-80" dirty="0">
                <a:solidFill>
                  <a:schemeClr val="accent2"/>
                </a:solidFill>
              </a:rPr>
              <a:t>Phase B: Business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Target Business Architecture:</a:t>
            </a:r>
          </a:p>
          <a:p>
            <a:pPr marL="12700" marR="5080"/>
            <a:r>
              <a:rPr lang="en-US" sz="1400" kern="0" spc="-80" dirty="0">
                <a:solidFill>
                  <a:schemeClr val="accent6"/>
                </a:solidFill>
              </a:rPr>
              <a:t>Business capabilities</a:t>
            </a:r>
          </a:p>
          <a:p>
            <a:pPr marL="12700" marR="5080"/>
            <a:r>
              <a:rPr lang="en-US" sz="1400" kern="0" spc="-80" dirty="0">
                <a:solidFill>
                  <a:schemeClr val="accent2"/>
                </a:solidFill>
              </a:rPr>
              <a:t>Processes</a:t>
            </a:r>
          </a:p>
          <a:p>
            <a:pPr marL="12700" marR="5080"/>
            <a:r>
              <a:rPr lang="en-US" sz="1400" kern="0" spc="-80" dirty="0">
                <a:solidFill>
                  <a:schemeClr val="accent6"/>
                </a:solidFill>
              </a:rPr>
              <a:t>Organization structure</a:t>
            </a:r>
          </a:p>
          <a:p>
            <a:pPr marL="12700" marR="5080"/>
            <a:r>
              <a:rPr lang="en-US" sz="1400" kern="0" spc="-80" dirty="0">
                <a:solidFill>
                  <a:schemeClr val="accent6"/>
                </a:solidFill>
              </a:rPr>
              <a:t>Value streams</a:t>
            </a:r>
          </a:p>
          <a:p>
            <a:pPr marL="12700" marR="5080"/>
            <a:r>
              <a:rPr lang="en-US" sz="1400" kern="0" spc="-80" dirty="0">
                <a:solidFill>
                  <a:schemeClr val="accent6"/>
                </a:solidFill>
              </a:rPr>
              <a:t>Business rules</a:t>
            </a:r>
          </a:p>
          <a:p>
            <a:pPr marL="12700" marR="5080"/>
            <a:r>
              <a:rPr lang="en-US" sz="1400" kern="0" spc="-80" dirty="0">
                <a:solidFill>
                  <a:schemeClr val="accent2"/>
                </a:solidFill>
              </a:rPr>
              <a:t>Inputs</a:t>
            </a:r>
          </a:p>
          <a:p>
            <a:pPr marL="12700" marR="5080"/>
            <a:r>
              <a:rPr lang="en-US" sz="1400" kern="0" spc="-80" dirty="0">
                <a:solidFill>
                  <a:schemeClr val="accent6"/>
                </a:solidFill>
              </a:rPr>
              <a:t>Architecture Vision</a:t>
            </a:r>
          </a:p>
          <a:p>
            <a:pPr marL="12700" marR="5080"/>
            <a:r>
              <a:rPr lang="en-US" sz="1400" kern="0" spc="-80" dirty="0">
                <a:solidFill>
                  <a:schemeClr val="accent6"/>
                </a:solidFill>
              </a:rPr>
              <a:t>Business strategies</a:t>
            </a:r>
          </a:p>
          <a:p>
            <a:pPr marL="12700" marR="5080"/>
            <a:r>
              <a:rPr lang="en-US" sz="1400" kern="0" spc="-80" dirty="0">
                <a:solidFill>
                  <a:schemeClr val="accent2"/>
                </a:solidFill>
              </a:rPr>
              <a:t>Activitie</a:t>
            </a:r>
            <a:r>
              <a:rPr lang="en-US" sz="1400" kern="0" spc="-80" dirty="0">
                <a:solidFill>
                  <a:schemeClr val="accent6"/>
                </a:solidFill>
              </a:rPr>
              <a:t>s</a:t>
            </a:r>
          </a:p>
          <a:p>
            <a:pPr marL="12700" marR="5080"/>
            <a:r>
              <a:rPr lang="en-US" sz="1400" kern="0" spc="-80" dirty="0">
                <a:solidFill>
                  <a:schemeClr val="accent6"/>
                </a:solidFill>
              </a:rPr>
              <a:t>Baseline Business Architecture (current state As-Is)</a:t>
            </a:r>
          </a:p>
          <a:p>
            <a:pPr marL="12700" marR="5080"/>
            <a:r>
              <a:rPr lang="en-US" sz="1400" kern="0" spc="-80" dirty="0">
                <a:solidFill>
                  <a:schemeClr val="accent6"/>
                </a:solidFill>
              </a:rPr>
              <a:t>Target Business Architecture (future state To-Be)</a:t>
            </a:r>
          </a:p>
          <a:p>
            <a:pPr marL="12700" marR="5080"/>
            <a:r>
              <a:rPr lang="en-US" sz="1400" kern="0" spc="-80" dirty="0">
                <a:solidFill>
                  <a:schemeClr val="accent6"/>
                </a:solidFill>
              </a:rPr>
              <a:t>Identify gaps (Gap Analysis)</a:t>
            </a:r>
          </a:p>
          <a:p>
            <a:pPr marL="12700" marR="5080"/>
            <a:r>
              <a:rPr lang="en-US" sz="1400" kern="0" spc="-80" dirty="0">
                <a:solidFill>
                  <a:schemeClr val="accent2"/>
                </a:solidFill>
              </a:rPr>
              <a:t>Outputs</a:t>
            </a:r>
          </a:p>
          <a:p>
            <a:pPr marL="12700" marR="5080"/>
            <a:r>
              <a:rPr lang="en-US" sz="1400" kern="0" spc="-80" dirty="0">
                <a:solidFill>
                  <a:schemeClr val="accent6"/>
                </a:solidFill>
              </a:rPr>
              <a:t>Business Capability Model</a:t>
            </a:r>
          </a:p>
          <a:p>
            <a:pPr marL="12700" marR="5080"/>
            <a:r>
              <a:rPr lang="en-US" sz="1400" kern="0" spc="-80" dirty="0">
                <a:solidFill>
                  <a:schemeClr val="accent6"/>
                </a:solidFill>
              </a:rPr>
              <a:t>Value Stream Maps</a:t>
            </a:r>
          </a:p>
          <a:p>
            <a:pPr marL="12700" marR="5080"/>
            <a:r>
              <a:rPr lang="en-US" sz="1400" kern="0" spc="-80" dirty="0">
                <a:solidFill>
                  <a:schemeClr val="accent6"/>
                </a:solidFill>
              </a:rPr>
              <a:t>Business Process Models</a:t>
            </a:r>
          </a:p>
          <a:p>
            <a:pPr marL="12700" marR="5080"/>
            <a:r>
              <a:rPr lang="en-US" sz="1400" kern="0" spc="-80" dirty="0">
                <a:solidFill>
                  <a:schemeClr val="accent6"/>
                </a:solidFill>
              </a:rPr>
              <a:t>Business Domain/Data impact analysis</a:t>
            </a:r>
          </a:p>
        </p:txBody>
      </p:sp>
    </p:spTree>
    <p:extLst>
      <p:ext uri="{BB962C8B-B14F-4D97-AF65-F5344CB8AC3E}">
        <p14:creationId xmlns:p14="http://schemas.microsoft.com/office/powerpoint/2010/main" val="120098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1A53-41EC-407B-7026-A1CE2F889D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0B61D2-9DE3-F30E-EB8E-9486342785A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F5B268-983F-7955-B87F-2400A162729E}"/>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25ED5-151F-9158-186E-BBE79BEDCAB8}"/>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924F79-7405-F655-7F74-F66AB57D012F}"/>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Phase C: Information Systems Architectures</a:t>
            </a:r>
          </a:p>
          <a:p>
            <a:pPr marL="12700" marR="5080"/>
            <a:r>
              <a:rPr lang="en-US" sz="1400" kern="0" spc="-80" dirty="0">
                <a:solidFill>
                  <a:schemeClr val="accent2"/>
                </a:solidFill>
              </a:rPr>
              <a:t>Divided into:</a:t>
            </a:r>
          </a:p>
          <a:p>
            <a:pPr marL="12700" marR="5080"/>
            <a:r>
              <a:rPr lang="en-US" sz="1400" kern="0" spc="-80" dirty="0">
                <a:solidFill>
                  <a:schemeClr val="accent6"/>
                </a:solidFill>
              </a:rPr>
              <a:t>Data Architecture</a:t>
            </a:r>
          </a:p>
          <a:p>
            <a:pPr marL="12700" marR="5080"/>
            <a:r>
              <a:rPr lang="en-US" sz="1400" kern="0" spc="-80" dirty="0">
                <a:solidFill>
                  <a:schemeClr val="accent6"/>
                </a:solidFill>
              </a:rPr>
              <a:t>Application Architecture</a:t>
            </a:r>
          </a:p>
          <a:p>
            <a:pPr marL="12700" marR="5080"/>
            <a:r>
              <a:rPr lang="en-US" sz="1400" kern="0" spc="-80" dirty="0">
                <a:solidFill>
                  <a:schemeClr val="accent2"/>
                </a:solidFill>
              </a:rPr>
              <a:t>C1. Data Architecture</a:t>
            </a:r>
          </a:p>
          <a:p>
            <a:pPr marL="12700" marR="5080"/>
            <a:r>
              <a:rPr lang="en-US" sz="1400" kern="0" spc="-80" dirty="0">
                <a:solidFill>
                  <a:schemeClr val="accent2"/>
                </a:solidFill>
              </a:rPr>
              <a:t>Define:</a:t>
            </a:r>
          </a:p>
          <a:p>
            <a:pPr marL="12700" marR="5080"/>
            <a:r>
              <a:rPr lang="en-US" sz="1400" kern="0" spc="-80" dirty="0">
                <a:solidFill>
                  <a:schemeClr val="accent6"/>
                </a:solidFill>
              </a:rPr>
              <a:t>Data entities &amp; relationships</a:t>
            </a:r>
          </a:p>
          <a:p>
            <a:pPr marL="12700" marR="5080"/>
            <a:r>
              <a:rPr lang="en-US" sz="1400" kern="0" spc="-80" dirty="0">
                <a:solidFill>
                  <a:schemeClr val="accent6"/>
                </a:solidFill>
              </a:rPr>
              <a:t>Data ownership</a:t>
            </a:r>
          </a:p>
          <a:p>
            <a:pPr marL="12700" marR="5080"/>
            <a:r>
              <a:rPr lang="en-US" sz="1400" kern="0" spc="-80" dirty="0">
                <a:solidFill>
                  <a:schemeClr val="accent6"/>
                </a:solidFill>
              </a:rPr>
              <a:t>Data flows &amp; lifecycle</a:t>
            </a:r>
          </a:p>
          <a:p>
            <a:pPr marL="12700" marR="5080"/>
            <a:r>
              <a:rPr lang="en-US" sz="1400" kern="0" spc="-80" dirty="0">
                <a:solidFill>
                  <a:schemeClr val="accent6"/>
                </a:solidFill>
              </a:rPr>
              <a:t>Master data boundaries</a:t>
            </a:r>
          </a:p>
          <a:p>
            <a:pPr marL="12700" marR="5080"/>
            <a:r>
              <a:rPr lang="en-US" sz="1400" kern="0" spc="-80" dirty="0">
                <a:solidFill>
                  <a:schemeClr val="accent2"/>
                </a:solidFill>
              </a:rPr>
              <a:t>C2. Application Architecture</a:t>
            </a:r>
          </a:p>
          <a:p>
            <a:pPr marL="12700" marR="5080"/>
            <a:r>
              <a:rPr lang="en-US" sz="1400" kern="0" spc="-80" dirty="0">
                <a:solidFill>
                  <a:schemeClr val="accent2"/>
                </a:solidFill>
              </a:rPr>
              <a:t>Define:</a:t>
            </a:r>
          </a:p>
          <a:p>
            <a:pPr marL="12700" marR="5080"/>
            <a:r>
              <a:rPr lang="en-US" sz="1400" kern="0" spc="-80" dirty="0">
                <a:solidFill>
                  <a:schemeClr val="accent6"/>
                </a:solidFill>
              </a:rPr>
              <a:t>Application components &amp; services</a:t>
            </a:r>
          </a:p>
          <a:p>
            <a:pPr marL="12700" marR="5080"/>
            <a:r>
              <a:rPr lang="en-US" sz="1400" kern="0" spc="-80" dirty="0">
                <a:solidFill>
                  <a:schemeClr val="accent6"/>
                </a:solidFill>
              </a:rPr>
              <a:t>Integration patterns (e.g., API, ESB, events)</a:t>
            </a:r>
          </a:p>
          <a:p>
            <a:pPr marL="12700" marR="5080"/>
            <a:r>
              <a:rPr lang="en-US" sz="1400" kern="0" spc="-80" dirty="0">
                <a:solidFill>
                  <a:schemeClr val="accent6"/>
                </a:solidFill>
              </a:rPr>
              <a:t>Application-to-capability mapping</a:t>
            </a:r>
          </a:p>
          <a:p>
            <a:pPr marL="12700" marR="5080"/>
            <a:r>
              <a:rPr lang="en-US" sz="1400" kern="0" spc="-80" dirty="0">
                <a:solidFill>
                  <a:schemeClr val="accent2"/>
                </a:solidFill>
              </a:rPr>
              <a:t>Outputs (combined)</a:t>
            </a:r>
          </a:p>
          <a:p>
            <a:pPr marL="12700" marR="5080"/>
            <a:r>
              <a:rPr lang="en-US" sz="1400" kern="0" spc="-80" dirty="0">
                <a:solidFill>
                  <a:schemeClr val="accent6"/>
                </a:solidFill>
              </a:rPr>
              <a:t>Logical Data Model</a:t>
            </a:r>
          </a:p>
          <a:p>
            <a:pPr marL="12700" marR="5080"/>
            <a:r>
              <a:rPr lang="en-US" sz="1400" kern="0" spc="-80" dirty="0">
                <a:solidFill>
                  <a:schemeClr val="accent6"/>
                </a:solidFill>
              </a:rPr>
              <a:t>Application Interaction Diagram</a:t>
            </a:r>
          </a:p>
          <a:p>
            <a:pPr marL="12700" marR="5080"/>
            <a:r>
              <a:rPr lang="en-US" sz="1400" kern="0" spc="-80" dirty="0">
                <a:solidFill>
                  <a:schemeClr val="accent6"/>
                </a:solidFill>
              </a:rPr>
              <a:t>Data/Application Gap Analysis</a:t>
            </a:r>
          </a:p>
          <a:p>
            <a:pPr marL="12700" marR="5080"/>
            <a:r>
              <a:rPr lang="en-US" sz="1400" kern="0" spc="-80" dirty="0">
                <a:solidFill>
                  <a:schemeClr val="accent2"/>
                </a:solidFill>
              </a:rPr>
              <a:t>Phase D: Technology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technical platform needed to realize the applications &amp; data.</a:t>
            </a:r>
          </a:p>
          <a:p>
            <a:pPr marL="12700" marR="5080"/>
            <a:r>
              <a:rPr lang="en-US" sz="1400" kern="0" spc="-80" dirty="0">
                <a:solidFill>
                  <a:schemeClr val="accent2"/>
                </a:solidFill>
              </a:rPr>
              <a:t>This includes:</a:t>
            </a:r>
          </a:p>
          <a:p>
            <a:pPr marL="12700" marR="5080"/>
            <a:r>
              <a:rPr lang="en-US" sz="1400" kern="0" spc="-80" dirty="0">
                <a:solidFill>
                  <a:schemeClr val="accent6"/>
                </a:solidFill>
              </a:rPr>
              <a:t>Infrastructure</a:t>
            </a:r>
          </a:p>
          <a:p>
            <a:pPr marL="12700" marR="5080"/>
            <a:r>
              <a:rPr lang="en-US" sz="1400" kern="0" spc="-80" dirty="0">
                <a:solidFill>
                  <a:schemeClr val="accent6"/>
                </a:solidFill>
              </a:rPr>
              <a:t>Networking</a:t>
            </a:r>
          </a:p>
        </p:txBody>
      </p:sp>
    </p:spTree>
    <p:extLst>
      <p:ext uri="{BB962C8B-B14F-4D97-AF65-F5344CB8AC3E}">
        <p14:creationId xmlns:p14="http://schemas.microsoft.com/office/powerpoint/2010/main" val="95856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17C5A-0656-BD3B-7985-FCFDF35C32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6698F6-8B3A-6151-52ED-55FAF8765AC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8D9366-453A-BAC7-70AD-1174A4D814E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5C0CF1-83A1-87F4-51B7-2979AA4B1C4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757D3A-B153-FE45-2110-434631DD6557}"/>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Security</a:t>
            </a:r>
          </a:p>
          <a:p>
            <a:pPr marL="12700" marR="5080"/>
            <a:r>
              <a:rPr lang="en-US" sz="1400" kern="0" spc="-80" dirty="0">
                <a:solidFill>
                  <a:schemeClr val="accent6"/>
                </a:solidFill>
              </a:rPr>
              <a:t>Cloud Platforms (IaaS/PaaS)</a:t>
            </a:r>
          </a:p>
          <a:p>
            <a:pPr marL="12700" marR="5080"/>
            <a:r>
              <a:rPr lang="en-US" sz="1400" kern="0" spc="-80" dirty="0">
                <a:solidFill>
                  <a:schemeClr val="accent6"/>
                </a:solidFill>
              </a:rPr>
              <a:t>DevOps / CI/CD environments</a:t>
            </a:r>
          </a:p>
          <a:p>
            <a:pPr marL="12700" marR="5080"/>
            <a:r>
              <a:rPr lang="en-US" sz="1400" kern="0" spc="-80" dirty="0">
                <a:solidFill>
                  <a:schemeClr val="accent6"/>
                </a:solidFill>
              </a:rPr>
              <a:t>Runtime environments (EKS/AKS, App Service, VMs, Containers, etc.)</a:t>
            </a:r>
          </a:p>
          <a:p>
            <a:pPr marL="12700" marR="5080"/>
            <a:r>
              <a:rPr lang="en-US" sz="1400" kern="0" spc="-80" dirty="0">
                <a:solidFill>
                  <a:schemeClr val="accent2"/>
                </a:solidFill>
              </a:rPr>
              <a:t>Outputs</a:t>
            </a:r>
          </a:p>
          <a:p>
            <a:pPr marL="12700" marR="5080"/>
            <a:r>
              <a:rPr lang="en-US" sz="1400" kern="0" spc="-80" dirty="0">
                <a:solidFill>
                  <a:schemeClr val="accent6"/>
                </a:solidFill>
              </a:rPr>
              <a:t>Platform Reference Architecture</a:t>
            </a:r>
          </a:p>
          <a:p>
            <a:pPr marL="12700" marR="5080"/>
            <a:r>
              <a:rPr lang="en-US" sz="1400" kern="0" spc="-80" dirty="0">
                <a:solidFill>
                  <a:schemeClr val="accent6"/>
                </a:solidFill>
              </a:rPr>
              <a:t>Infrastructure designs (logical &gt; physical)</a:t>
            </a:r>
          </a:p>
          <a:p>
            <a:pPr marL="12700" marR="5080"/>
            <a:r>
              <a:rPr lang="en-US" sz="1400" kern="0" spc="-80" dirty="0">
                <a:solidFill>
                  <a:schemeClr val="accent6"/>
                </a:solidFill>
              </a:rPr>
              <a:t>Tech standards and policies</a:t>
            </a:r>
          </a:p>
          <a:p>
            <a:pPr marL="12700" marR="5080"/>
            <a:r>
              <a:rPr lang="en-US" sz="1400" kern="0" spc="-80" dirty="0">
                <a:solidFill>
                  <a:schemeClr val="accent2"/>
                </a:solidFill>
              </a:rPr>
              <a:t>Phase E: Opportunities &amp; Solutions</a:t>
            </a:r>
          </a:p>
          <a:p>
            <a:pPr marL="12700" marR="5080"/>
            <a:r>
              <a:rPr lang="en-US" sz="1400" kern="0" spc="-80" dirty="0">
                <a:solidFill>
                  <a:schemeClr val="accent2"/>
                </a:solidFill>
              </a:rPr>
              <a:t>Purpose</a:t>
            </a:r>
          </a:p>
          <a:p>
            <a:pPr marL="12700" marR="5080"/>
            <a:r>
              <a:rPr lang="en-US" sz="1400" kern="0" spc="-80" dirty="0">
                <a:solidFill>
                  <a:schemeClr val="accent6"/>
                </a:solidFill>
              </a:rPr>
              <a:t>Convert architectures into solution direction.</a:t>
            </a:r>
          </a:p>
          <a:p>
            <a:pPr marL="12700" marR="5080"/>
            <a:r>
              <a:rPr lang="en-US" sz="1400" kern="0" spc="-80" dirty="0">
                <a:solidFill>
                  <a:schemeClr val="accent2"/>
                </a:solidFill>
              </a:rPr>
              <a:t>Identify:</a:t>
            </a:r>
          </a:p>
          <a:p>
            <a:pPr marL="12700" marR="5080"/>
            <a:r>
              <a:rPr lang="en-US" sz="1400" kern="0" spc="-80" dirty="0">
                <a:solidFill>
                  <a:schemeClr val="accent6"/>
                </a:solidFill>
              </a:rPr>
              <a:t>Projects</a:t>
            </a:r>
          </a:p>
          <a:p>
            <a:pPr marL="12700" marR="5080"/>
            <a:r>
              <a:rPr lang="en-US" sz="1400" kern="0" spc="-80" dirty="0">
                <a:solidFill>
                  <a:schemeClr val="accent6"/>
                </a:solidFill>
              </a:rPr>
              <a:t>Work packages</a:t>
            </a:r>
          </a:p>
          <a:p>
            <a:pPr marL="12700" marR="5080"/>
            <a:r>
              <a:rPr lang="en-US" sz="1400" kern="0" spc="-80" dirty="0">
                <a:solidFill>
                  <a:schemeClr val="accent6"/>
                </a:solidFill>
              </a:rPr>
              <a:t>Reusable building blocks</a:t>
            </a:r>
          </a:p>
          <a:p>
            <a:pPr marL="12700" marR="5080"/>
            <a:r>
              <a:rPr lang="en-US" sz="1400" kern="0" spc="-80" dirty="0">
                <a:solidFill>
                  <a:schemeClr val="accent6"/>
                </a:solidFill>
              </a:rPr>
              <a:t>Technology enablers</a:t>
            </a:r>
          </a:p>
          <a:p>
            <a:pPr marL="12700" marR="5080"/>
            <a:r>
              <a:rPr lang="en-US" sz="1400" kern="0" spc="-80" dirty="0">
                <a:solidFill>
                  <a:schemeClr val="accent2"/>
                </a:solidFill>
              </a:rPr>
              <a:t>Outputs</a:t>
            </a:r>
          </a:p>
          <a:p>
            <a:pPr marL="12700" marR="5080"/>
            <a:r>
              <a:rPr lang="en-US" sz="1400" kern="0" spc="-80" dirty="0">
                <a:solidFill>
                  <a:schemeClr val="accent6"/>
                </a:solidFill>
              </a:rPr>
              <a:t>Solution Architecture Roadmap</a:t>
            </a:r>
          </a:p>
          <a:p>
            <a:pPr marL="12700" marR="5080"/>
            <a:r>
              <a:rPr lang="en-US" sz="1400" kern="0" spc="-80" dirty="0">
                <a:solidFill>
                  <a:schemeClr val="accent6"/>
                </a:solidFill>
              </a:rPr>
              <a:t>Work Package Definitions</a:t>
            </a:r>
          </a:p>
          <a:p>
            <a:pPr marL="12700" marR="5080"/>
            <a:r>
              <a:rPr lang="en-US" sz="1400" kern="0" spc="-80" dirty="0">
                <a:solidFill>
                  <a:schemeClr val="accent2"/>
                </a:solidFill>
              </a:rPr>
              <a:t>Phase F: Migration Planning</a:t>
            </a:r>
          </a:p>
          <a:p>
            <a:pPr marL="12700" marR="5080"/>
            <a:r>
              <a:rPr lang="en-US" sz="1400" kern="0" spc="-80" dirty="0">
                <a:solidFill>
                  <a:schemeClr val="accent2"/>
                </a:solidFill>
              </a:rPr>
              <a:t>Purpose</a:t>
            </a:r>
          </a:p>
          <a:p>
            <a:pPr marL="12700" marR="5080"/>
            <a:r>
              <a:rPr lang="en-US" sz="1400" kern="0" spc="-80" dirty="0">
                <a:solidFill>
                  <a:schemeClr val="accent6"/>
                </a:solidFill>
              </a:rPr>
              <a:t>Create a phased implementation roadmap based on:</a:t>
            </a:r>
          </a:p>
          <a:p>
            <a:pPr marL="12700" marR="5080"/>
            <a:r>
              <a:rPr lang="en-US" sz="1400" kern="0" spc="-80" dirty="0">
                <a:solidFill>
                  <a:schemeClr val="accent6"/>
                </a:solidFill>
              </a:rPr>
              <a:t>Business priorities</a:t>
            </a:r>
          </a:p>
          <a:p>
            <a:pPr marL="12700" marR="5080"/>
            <a:r>
              <a:rPr lang="en-US" sz="1400" kern="0" spc="-80" dirty="0">
                <a:solidFill>
                  <a:schemeClr val="accent6"/>
                </a:solidFill>
              </a:rPr>
              <a:t>Dependencies</a:t>
            </a:r>
          </a:p>
        </p:txBody>
      </p:sp>
    </p:spTree>
    <p:extLst>
      <p:ext uri="{BB962C8B-B14F-4D97-AF65-F5344CB8AC3E}">
        <p14:creationId xmlns:p14="http://schemas.microsoft.com/office/powerpoint/2010/main" val="8692333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7FE2-832C-3FF3-8070-FC8800039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9750F-E405-3DA6-9FAF-2C3EF6A5EA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4140B-5F02-840F-C927-83A89112436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3A19FC-27A9-C301-61EF-1665E8DAD5BA}"/>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DEC4-7C91-66A7-5D9A-C0DC83D9DD8E}"/>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Budget</a:t>
            </a:r>
          </a:p>
          <a:p>
            <a:pPr marL="12700" marR="5080"/>
            <a:r>
              <a:rPr lang="en-US" sz="1400" kern="0" spc="-80" dirty="0">
                <a:solidFill>
                  <a:schemeClr val="accent6"/>
                </a:solidFill>
              </a:rPr>
              <a:t>Risk</a:t>
            </a:r>
          </a:p>
          <a:p>
            <a:pPr marL="12700" marR="5080"/>
            <a:r>
              <a:rPr lang="en-US" sz="1400" kern="0" spc="-80" dirty="0">
                <a:solidFill>
                  <a:schemeClr val="accent2"/>
                </a:solidFill>
              </a:rPr>
              <a:t>Outputs</a:t>
            </a:r>
          </a:p>
          <a:p>
            <a:pPr marL="12700" marR="5080"/>
            <a:r>
              <a:rPr lang="en-US" sz="1400" kern="0" spc="-80" dirty="0">
                <a:solidFill>
                  <a:schemeClr val="accent6"/>
                </a:solidFill>
              </a:rPr>
              <a:t>Prioritized Migration Roadmap (e.g., Phase 1, Phase 2…)</a:t>
            </a:r>
          </a:p>
          <a:p>
            <a:pPr marL="12700" marR="5080"/>
            <a:r>
              <a:rPr lang="en-US" sz="1400" kern="0" spc="-80" dirty="0">
                <a:solidFill>
                  <a:schemeClr val="accent6"/>
                </a:solidFill>
              </a:rPr>
              <a:t>Implementation Plan aligned with PMO governance</a:t>
            </a:r>
          </a:p>
          <a:p>
            <a:pPr marL="12700" marR="5080"/>
            <a:r>
              <a:rPr lang="en-US" sz="1400" kern="0" spc="-80" dirty="0">
                <a:solidFill>
                  <a:schemeClr val="accent2"/>
                </a:solidFill>
              </a:rPr>
              <a:t>Phase G: Implementation Governance</a:t>
            </a:r>
          </a:p>
          <a:p>
            <a:pPr marL="12700" marR="5080"/>
            <a:r>
              <a:rPr lang="en-US" sz="1400" kern="0" spc="-80" dirty="0">
                <a:solidFill>
                  <a:schemeClr val="accent2"/>
                </a:solidFill>
              </a:rPr>
              <a:t>Purpose</a:t>
            </a:r>
          </a:p>
          <a:p>
            <a:pPr marL="12700" marR="5080"/>
            <a:r>
              <a:rPr lang="en-US" sz="1400" kern="0" spc="-80" dirty="0">
                <a:solidFill>
                  <a:schemeClr val="accent6"/>
                </a:solidFill>
              </a:rPr>
              <a:t>Ensure that implementation follows the architecture.</a:t>
            </a:r>
          </a:p>
          <a:p>
            <a:pPr marL="12700" marR="5080"/>
            <a:r>
              <a:rPr lang="en-US" sz="1400" kern="0" spc="-80" dirty="0">
                <a:solidFill>
                  <a:schemeClr val="accent2"/>
                </a:solidFill>
              </a:rPr>
              <a:t>Activities</a:t>
            </a:r>
          </a:p>
          <a:p>
            <a:pPr marL="12700" marR="5080"/>
            <a:r>
              <a:rPr lang="en-US" sz="1400" kern="0" spc="-80" dirty="0">
                <a:solidFill>
                  <a:schemeClr val="accent6"/>
                </a:solidFill>
              </a:rPr>
              <a:t>Architecture review boards</a:t>
            </a:r>
          </a:p>
          <a:p>
            <a:pPr marL="12700" marR="5080"/>
            <a:r>
              <a:rPr lang="en-US" sz="1400" kern="0" spc="-80" dirty="0">
                <a:solidFill>
                  <a:schemeClr val="accent6"/>
                </a:solidFill>
              </a:rPr>
              <a:t>Design approvals</a:t>
            </a:r>
          </a:p>
          <a:p>
            <a:pPr marL="12700" marR="5080"/>
            <a:r>
              <a:rPr lang="en-US" sz="1400" kern="0" spc="-80" dirty="0">
                <a:solidFill>
                  <a:schemeClr val="accent6"/>
                </a:solidFill>
              </a:rPr>
              <a:t>Solution alignment checks</a:t>
            </a:r>
          </a:p>
          <a:p>
            <a:pPr marL="12700" marR="5080"/>
            <a:r>
              <a:rPr lang="en-US" sz="1400" kern="0" spc="-80" dirty="0">
                <a:solidFill>
                  <a:schemeClr val="accent2"/>
                </a:solidFill>
              </a:rPr>
              <a:t>Outputs</a:t>
            </a:r>
          </a:p>
          <a:p>
            <a:pPr marL="12700" marR="5080"/>
            <a:r>
              <a:rPr lang="en-US" sz="1400" kern="0" spc="-80" dirty="0">
                <a:solidFill>
                  <a:schemeClr val="accent6"/>
                </a:solidFill>
              </a:rPr>
              <a:t>Compliance assessment reports</a:t>
            </a:r>
          </a:p>
          <a:p>
            <a:pPr marL="12700" marR="5080"/>
            <a:r>
              <a:rPr lang="en-US" sz="1400" kern="0" spc="-80" dirty="0">
                <a:solidFill>
                  <a:schemeClr val="accent6"/>
                </a:solidFill>
              </a:rPr>
              <a:t>Waivers / justification logs (when deviation required)</a:t>
            </a:r>
          </a:p>
          <a:p>
            <a:pPr marL="12700" marR="5080"/>
            <a:r>
              <a:rPr lang="en-US" sz="1400" kern="0" spc="-80" dirty="0">
                <a:solidFill>
                  <a:schemeClr val="accent2"/>
                </a:solidFill>
              </a:rPr>
              <a:t>Phase H: Architecture Change Management</a:t>
            </a:r>
          </a:p>
          <a:p>
            <a:pPr marL="12700" marR="5080"/>
            <a:r>
              <a:rPr lang="en-US" sz="1400" kern="0" spc="-80" dirty="0">
                <a:solidFill>
                  <a:schemeClr val="accent2"/>
                </a:solidFill>
              </a:rPr>
              <a:t>Purpose</a:t>
            </a:r>
          </a:p>
          <a:p>
            <a:pPr marL="12700" marR="5080"/>
            <a:r>
              <a:rPr lang="en-US" sz="1400" kern="0" spc="-80" dirty="0">
                <a:solidFill>
                  <a:schemeClr val="accent6"/>
                </a:solidFill>
              </a:rPr>
              <a:t>Keep architecture live and relevant.</a:t>
            </a:r>
          </a:p>
          <a:p>
            <a:pPr marL="12700" marR="5080"/>
            <a:r>
              <a:rPr lang="en-US" sz="1400" kern="0" spc="-80" dirty="0">
                <a:solidFill>
                  <a:schemeClr val="accent2"/>
                </a:solidFill>
              </a:rPr>
              <a:t>Actions</a:t>
            </a:r>
          </a:p>
          <a:p>
            <a:pPr marL="12700" marR="5080"/>
            <a:r>
              <a:rPr lang="en-US" sz="1400" kern="0" spc="-80" dirty="0">
                <a:solidFill>
                  <a:schemeClr val="accent6"/>
                </a:solidFill>
              </a:rPr>
              <a:t>Monitor changes in business, technology, regulations</a:t>
            </a:r>
          </a:p>
          <a:p>
            <a:pPr marL="12700" marR="5080"/>
            <a:r>
              <a:rPr lang="en-US" sz="1400" kern="0" spc="-80" dirty="0">
                <a:solidFill>
                  <a:schemeClr val="accent6"/>
                </a:solidFill>
              </a:rPr>
              <a:t>Decide whether to update architecture or start new ADM cycle</a:t>
            </a:r>
          </a:p>
          <a:p>
            <a:pPr marL="12700" marR="5080"/>
            <a:r>
              <a:rPr lang="en-US" sz="1400" kern="0" spc="-80" dirty="0">
                <a:solidFill>
                  <a:schemeClr val="accent2"/>
                </a:solidFill>
              </a:rPr>
              <a:t>Outputs</a:t>
            </a:r>
          </a:p>
          <a:p>
            <a:pPr marL="12700" marR="5080"/>
            <a:r>
              <a:rPr lang="en-US" sz="1400" kern="0" spc="-80" dirty="0">
                <a:solidFill>
                  <a:schemeClr val="accent6"/>
                </a:solidFill>
              </a:rPr>
              <a:t>Updated architecture repository</a:t>
            </a:r>
          </a:p>
          <a:p>
            <a:pPr marL="12700" marR="5080"/>
            <a:r>
              <a:rPr lang="en-US" sz="1400" kern="0" spc="-80" dirty="0">
                <a:solidFill>
                  <a:schemeClr val="accent6"/>
                </a:solidFill>
              </a:rPr>
              <a:t>Architecture Change Requests</a:t>
            </a:r>
          </a:p>
          <a:p>
            <a:pPr marL="12700" marR="5080"/>
            <a:r>
              <a:rPr lang="en-US" sz="1400" kern="0" spc="-80" dirty="0">
                <a:solidFill>
                  <a:schemeClr val="accent6"/>
                </a:solidFill>
              </a:rPr>
              <a:t>Requirements Management</a:t>
            </a:r>
          </a:p>
        </p:txBody>
      </p:sp>
    </p:spTree>
    <p:extLst>
      <p:ext uri="{BB962C8B-B14F-4D97-AF65-F5344CB8AC3E}">
        <p14:creationId xmlns:p14="http://schemas.microsoft.com/office/powerpoint/2010/main" val="21639230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57A3-CFD7-9B1E-EB56-4D4C55AF9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D5B953-441C-2B87-6308-422B3DE8891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54E5AA-72A3-6197-4331-2A1D5AA5BF0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0A28AD-B492-02D4-FDA6-F7BE49A28A5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3A7A22-DEF4-68F0-A7CA-6EEEBBEA07D6}"/>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Operates across all phases:</a:t>
            </a:r>
          </a:p>
          <a:p>
            <a:pPr marL="12700" marR="5080"/>
            <a:r>
              <a:rPr lang="en-US" sz="1400" kern="0" spc="-80" dirty="0">
                <a:solidFill>
                  <a:schemeClr val="accent6"/>
                </a:solidFill>
              </a:rPr>
              <a:t>Collects, stores, traces, updates requirements</a:t>
            </a:r>
          </a:p>
          <a:p>
            <a:pPr marL="12700" marR="5080"/>
            <a:r>
              <a:rPr lang="en-US" sz="1400" kern="0" spc="-80" dirty="0">
                <a:solidFill>
                  <a:schemeClr val="accent6"/>
                </a:solidFill>
              </a:rPr>
              <a:t>Ensures traceability from strategy → architecture → implementation</a:t>
            </a:r>
          </a:p>
          <a:p>
            <a:pPr marL="12700" marR="5080"/>
            <a:r>
              <a:rPr lang="en-US" sz="1400" kern="0" spc="-80" dirty="0">
                <a:solidFill>
                  <a:schemeClr val="accent2"/>
                </a:solidFill>
              </a:rPr>
              <a:t>Artifacts (Documents) Produced Across ADM</a:t>
            </a:r>
          </a:p>
          <a:p>
            <a:pPr marL="12700" marR="5080"/>
            <a:r>
              <a:rPr lang="en-US" sz="1400" kern="0" spc="-80" dirty="0">
                <a:solidFill>
                  <a:schemeClr val="accent2"/>
                </a:solidFill>
              </a:rPr>
              <a:t>Phase	                    Key Deliverables</a:t>
            </a:r>
          </a:p>
          <a:p>
            <a:pPr marL="12700" marR="5080"/>
            <a:r>
              <a:rPr lang="en-US" sz="1400" kern="0" spc="-80" dirty="0">
                <a:solidFill>
                  <a:schemeClr val="accent6"/>
                </a:solidFill>
              </a:rPr>
              <a:t>Preliminary	Architecture Principles, Governance Model</a:t>
            </a:r>
          </a:p>
          <a:p>
            <a:pPr marL="12700" marR="5080"/>
            <a:r>
              <a:rPr lang="en-US" sz="1400" kern="0" spc="-80" dirty="0">
                <a:solidFill>
                  <a:schemeClr val="accent6"/>
                </a:solidFill>
              </a:rPr>
              <a:t>A: Vision	                    Architecture Vision, Statement of Work, Business Case</a:t>
            </a:r>
          </a:p>
          <a:p>
            <a:pPr marL="12700" marR="5080"/>
            <a:r>
              <a:rPr lang="en-US" sz="1400" kern="0" spc="-80" dirty="0">
                <a:solidFill>
                  <a:schemeClr val="accent6"/>
                </a:solidFill>
              </a:rPr>
              <a:t>B: Business	Capability Map, Value Streams, Business Process Models</a:t>
            </a:r>
          </a:p>
          <a:p>
            <a:pPr marL="12700" marR="5080"/>
            <a:r>
              <a:rPr lang="en-US" sz="1400" kern="0" spc="-80" dirty="0">
                <a:solidFill>
                  <a:schemeClr val="accent6"/>
                </a:solidFill>
              </a:rPr>
              <a:t>C: Data/App	Logical Data Model, Application Interaction Diagrams</a:t>
            </a:r>
          </a:p>
          <a:p>
            <a:pPr marL="12700" marR="5080"/>
            <a:r>
              <a:rPr lang="en-US" sz="1400" kern="0" spc="-80" dirty="0">
                <a:solidFill>
                  <a:schemeClr val="accent6"/>
                </a:solidFill>
              </a:rPr>
              <a:t>D: Technology	Platform Reference Architecture, Tech Standards</a:t>
            </a:r>
          </a:p>
          <a:p>
            <a:pPr marL="12700" marR="5080"/>
            <a:r>
              <a:rPr lang="en-US" sz="1400" kern="0" spc="-80" dirty="0">
                <a:solidFill>
                  <a:schemeClr val="accent6"/>
                </a:solidFill>
              </a:rPr>
              <a:t>E: Opportunities	Solution Building Blocks, Roadmap</a:t>
            </a:r>
          </a:p>
          <a:p>
            <a:pPr marL="12700" marR="5080"/>
            <a:r>
              <a:rPr lang="en-US" sz="1400" kern="0" spc="-80" dirty="0">
                <a:solidFill>
                  <a:schemeClr val="accent6"/>
                </a:solidFill>
              </a:rPr>
              <a:t>F: Migration	Migration Plan, Dependency Map</a:t>
            </a:r>
          </a:p>
          <a:p>
            <a:pPr marL="12700" marR="5080"/>
            <a:r>
              <a:rPr lang="en-US" sz="1400" kern="0" spc="-80" dirty="0">
                <a:solidFill>
                  <a:schemeClr val="accent6"/>
                </a:solidFill>
              </a:rPr>
              <a:t>G: Governance	Architecture Compliance Report</a:t>
            </a:r>
          </a:p>
          <a:p>
            <a:pPr marL="12700" marR="5080"/>
            <a:r>
              <a:rPr lang="en-US" sz="1400" kern="0" spc="-80" dirty="0">
                <a:solidFill>
                  <a:schemeClr val="accent2"/>
                </a:solidFill>
              </a:rPr>
              <a:t>H: Change	Change Request Log</a:t>
            </a:r>
          </a:p>
          <a:p>
            <a:pPr marL="12700" marR="5080"/>
            <a:r>
              <a:rPr lang="en-US" sz="1400" kern="0" spc="-80" dirty="0">
                <a:solidFill>
                  <a:schemeClr val="accent2"/>
                </a:solidFill>
              </a:rPr>
              <a:t>How Iteration Works</a:t>
            </a:r>
          </a:p>
          <a:p>
            <a:pPr marL="12700" marR="5080"/>
            <a:r>
              <a:rPr lang="en-US" sz="1400" kern="0" spc="-80" dirty="0">
                <a:solidFill>
                  <a:schemeClr val="accent6"/>
                </a:solidFill>
              </a:rPr>
              <a:t>TOGAF does not expect you to finish everything then move on.</a:t>
            </a:r>
          </a:p>
          <a:p>
            <a:pPr marL="12700" marR="5080"/>
            <a:r>
              <a:rPr lang="en-US" sz="1400" kern="0" spc="-80" dirty="0">
                <a:solidFill>
                  <a:schemeClr val="accent2"/>
                </a:solidFill>
              </a:rPr>
              <a:t>Each phase:</a:t>
            </a:r>
          </a:p>
          <a:p>
            <a:pPr marL="12700" marR="5080"/>
            <a:r>
              <a:rPr lang="en-US" sz="1400" kern="0" spc="-80" dirty="0">
                <a:solidFill>
                  <a:schemeClr val="accent6"/>
                </a:solidFill>
              </a:rPr>
              <a:t>Can be revisited</a:t>
            </a:r>
          </a:p>
          <a:p>
            <a:pPr marL="12700" marR="5080"/>
            <a:r>
              <a:rPr lang="en-US" sz="1400" kern="0" spc="-80" dirty="0">
                <a:solidFill>
                  <a:schemeClr val="accent6"/>
                </a:solidFill>
              </a:rPr>
              <a:t>Can be done in domain-specific cycles (e.g., only Application Architecture)</a:t>
            </a:r>
          </a:p>
          <a:p>
            <a:pPr marL="12700" marR="5080"/>
            <a:r>
              <a:rPr lang="en-US" sz="1400" kern="0" spc="-80" dirty="0">
                <a:solidFill>
                  <a:schemeClr val="accent6"/>
                </a:solidFill>
              </a:rPr>
              <a:t>Can be scaled (lightweight for small projects, detailed for large)</a:t>
            </a:r>
          </a:p>
          <a:p>
            <a:pPr marL="12700" marR="5080"/>
            <a:r>
              <a:rPr lang="en-US" sz="1400" kern="0" spc="-80" dirty="0">
                <a:solidFill>
                  <a:schemeClr val="accent2"/>
                </a:solidFill>
              </a:rPr>
              <a:t>In Simple Terms</a:t>
            </a:r>
          </a:p>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Vision	                                 Why are we doing this? What is the high-level target?</a:t>
            </a:r>
          </a:p>
          <a:p>
            <a:pPr marL="12700" marR="5080"/>
            <a:r>
              <a:rPr lang="en-US" sz="1400" kern="0" spc="-80" dirty="0">
                <a:solidFill>
                  <a:schemeClr val="accent6"/>
                </a:solidFill>
              </a:rPr>
              <a:t>Business Architecture	              What the business needs to do.</a:t>
            </a:r>
          </a:p>
          <a:p>
            <a:pPr marL="12700" marR="5080"/>
            <a:r>
              <a:rPr lang="en-US" sz="1400" kern="0" spc="-80" dirty="0">
                <a:solidFill>
                  <a:schemeClr val="accent6"/>
                </a:solidFill>
              </a:rPr>
              <a:t>Data + Application	              What systems and data are needed.</a:t>
            </a:r>
          </a:p>
        </p:txBody>
      </p:sp>
    </p:spTree>
    <p:extLst>
      <p:ext uri="{BB962C8B-B14F-4D97-AF65-F5344CB8AC3E}">
        <p14:creationId xmlns:p14="http://schemas.microsoft.com/office/powerpoint/2010/main" val="1124899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1A4D3-0FF9-C676-A26E-0AAC6A4F4B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78700-3F1C-AD83-0BA9-5183C9A090B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CCC8D9-2D9B-CDC6-E714-C91873A3E758}"/>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DF428-C2DF-C9A9-D175-AA7F03779607}"/>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7A65E3B-847B-B17F-1975-94B7F6682DED}"/>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Technology	             Which platforms and tech we will use.</a:t>
            </a:r>
          </a:p>
          <a:p>
            <a:pPr marL="12700" marR="5080"/>
            <a:r>
              <a:rPr lang="en-US" sz="1400" kern="0" spc="-80" dirty="0">
                <a:solidFill>
                  <a:schemeClr val="accent6"/>
                </a:solidFill>
              </a:rPr>
              <a:t>Opportunities &amp; Solutions       How to translate architecture to executable solutions.</a:t>
            </a:r>
          </a:p>
          <a:p>
            <a:pPr marL="12700" marR="5080"/>
            <a:r>
              <a:rPr lang="en-US" sz="1400" kern="0" spc="-80" dirty="0">
                <a:solidFill>
                  <a:schemeClr val="accent6"/>
                </a:solidFill>
              </a:rPr>
              <a:t>Migration Planning	             When and in what order.</a:t>
            </a:r>
          </a:p>
          <a:p>
            <a:pPr marL="12700" marR="5080"/>
            <a:r>
              <a:rPr lang="en-US" sz="1400" kern="0" spc="-80" dirty="0">
                <a:solidFill>
                  <a:schemeClr val="accent6"/>
                </a:solidFill>
              </a:rPr>
              <a:t>Governance	             Ensure execution follows design.</a:t>
            </a:r>
          </a:p>
          <a:p>
            <a:pPr marL="12700" marR="5080"/>
            <a:r>
              <a:rPr lang="en-US" sz="1400" kern="0" spc="-80" dirty="0">
                <a:solidFill>
                  <a:schemeClr val="accent6"/>
                </a:solidFill>
              </a:rPr>
              <a:t>Change Management	             Keep architecture relevant over time. </a:t>
            </a:r>
          </a:p>
          <a:p>
            <a:pPr marL="12700" marR="5080"/>
            <a:endParaRPr lang="en-US" sz="1400" kern="0" spc="-80" dirty="0">
              <a:solidFill>
                <a:schemeClr val="accent6"/>
              </a:solidFill>
            </a:endParaRPr>
          </a:p>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Phase A – Architecture Vision</a:t>
            </a:r>
          </a:p>
          <a:p>
            <a:pPr marL="12700" marR="5080"/>
            <a:r>
              <a:rPr lang="en-US" sz="1400" kern="0" spc="-80" dirty="0">
                <a:solidFill>
                  <a:schemeClr val="accent2"/>
                </a:solidFill>
              </a:rPr>
              <a:t>Objective: </a:t>
            </a:r>
            <a:r>
              <a:rPr lang="en-US" sz="1400" kern="0" spc="-80" dirty="0">
                <a:solidFill>
                  <a:schemeClr val="accent6"/>
                </a:solidFill>
              </a:rPr>
              <a:t>Define high-level target architecture, stakeholders, and business case.</a:t>
            </a:r>
          </a:p>
          <a:p>
            <a:pPr marL="12700" marR="5080"/>
            <a:r>
              <a:rPr lang="en-US" sz="1400" kern="0" spc="-80" dirty="0">
                <a:solidFill>
                  <a:schemeClr val="accent2"/>
                </a:solidFill>
              </a:rPr>
              <a:t>Key Artifacts:</a:t>
            </a:r>
          </a:p>
          <a:p>
            <a:pPr marL="12700" marR="5080"/>
            <a:r>
              <a:rPr lang="en-US" sz="1400" kern="0" spc="-80" dirty="0">
                <a:solidFill>
                  <a:schemeClr val="accent2"/>
                </a:solidFill>
              </a:rPr>
              <a:t>Architecture Vision Deck (PPTX) – includes:</a:t>
            </a:r>
          </a:p>
          <a:p>
            <a:pPr marL="12700" marR="5080"/>
            <a:r>
              <a:rPr lang="en-US" sz="1400" kern="0" spc="-80" dirty="0">
                <a:solidFill>
                  <a:schemeClr val="accent2"/>
                </a:solidFill>
              </a:rPr>
              <a:t>Business drivers: </a:t>
            </a:r>
            <a:r>
              <a:rPr lang="en-US" sz="1400" kern="0" spc="-80" dirty="0">
                <a:solidFill>
                  <a:schemeClr val="accent6"/>
                </a:solidFill>
              </a:rPr>
              <a:t>legacy monolith, slow product launches, regulatory pressure, digital channels</a:t>
            </a:r>
          </a:p>
          <a:p>
            <a:pPr marL="12700" marR="5080"/>
            <a:r>
              <a:rPr lang="en-US" sz="1400" kern="0" spc="-80" dirty="0">
                <a:solidFill>
                  <a:schemeClr val="accent2"/>
                </a:solidFill>
              </a:rPr>
              <a:t>Stakeholder map: </a:t>
            </a:r>
            <a:r>
              <a:rPr lang="en-US" sz="1400" kern="0" spc="-80" dirty="0">
                <a:solidFill>
                  <a:schemeClr val="accent6"/>
                </a:solidFill>
              </a:rPr>
              <a:t>CIO, CTO, Business Heads, Risk &amp; Compliance, PMO</a:t>
            </a:r>
          </a:p>
          <a:p>
            <a:pPr marL="12700" marR="5080"/>
            <a:r>
              <a:rPr lang="en-US" sz="1400" kern="0" spc="-80" dirty="0">
                <a:solidFill>
                  <a:schemeClr val="accent6"/>
                </a:solidFill>
              </a:rPr>
              <a:t>High-level Target Architecture Diagram (Cloud + Microservices + API layer)</a:t>
            </a:r>
          </a:p>
          <a:p>
            <a:pPr marL="12700" marR="5080"/>
            <a:r>
              <a:rPr lang="en-US" sz="1400" kern="0" spc="-80" dirty="0">
                <a:solidFill>
                  <a:schemeClr val="accent6"/>
                </a:solidFill>
              </a:rPr>
              <a:t>Business case &amp; KPIs (time-to-market, cost reduction, reliability)</a:t>
            </a:r>
          </a:p>
          <a:p>
            <a:pPr marL="12700" marR="5080"/>
            <a:r>
              <a:rPr lang="en-US" sz="1400" kern="0" spc="-80" dirty="0">
                <a:solidFill>
                  <a:schemeClr val="accent2"/>
                </a:solidFill>
              </a:rPr>
              <a:t>Phase B – Business Architecture</a:t>
            </a:r>
          </a:p>
          <a:p>
            <a:pPr marL="12700" marR="5080"/>
            <a:r>
              <a:rPr lang="en-US" sz="1400" kern="0" spc="-80" dirty="0">
                <a:solidFill>
                  <a:schemeClr val="accent2"/>
                </a:solidFill>
              </a:rPr>
              <a:t>Objective:</a:t>
            </a:r>
            <a:r>
              <a:rPr lang="en-US" sz="1400" kern="0" spc="-80" dirty="0">
                <a:solidFill>
                  <a:schemeClr val="accent6"/>
                </a:solidFill>
              </a:rPr>
              <a:t> Map current and target business capabilities.</a:t>
            </a:r>
          </a:p>
          <a:p>
            <a:pPr marL="12700" marR="5080"/>
            <a:r>
              <a:rPr lang="en-US" sz="1400" kern="0" spc="-80" dirty="0">
                <a:solidFill>
                  <a:schemeClr val="accent2"/>
                </a:solidFill>
              </a:rPr>
              <a:t>Artifacts:</a:t>
            </a:r>
          </a:p>
          <a:p>
            <a:pPr marL="12700" marR="5080"/>
            <a:r>
              <a:rPr lang="en-US" sz="1400" kern="0" spc="-80" dirty="0">
                <a:solidFill>
                  <a:schemeClr val="accent6"/>
                </a:solidFill>
              </a:rPr>
              <a:t>Business Capability Map (PPTX)</a:t>
            </a:r>
          </a:p>
          <a:p>
            <a:pPr marL="12700" marR="5080"/>
            <a:r>
              <a:rPr lang="en-US" sz="1400" kern="0" spc="-80" dirty="0">
                <a:solidFill>
                  <a:schemeClr val="accent2"/>
                </a:solidFill>
              </a:rPr>
              <a:t>Key domains: </a:t>
            </a:r>
            <a:r>
              <a:rPr lang="en-US" sz="1400" kern="0" spc="-80" dirty="0">
                <a:solidFill>
                  <a:schemeClr val="accent6"/>
                </a:solidFill>
              </a:rPr>
              <a:t>Retail Banking, Corporate Banking, Treasury, Risk, Compliance, Payments</a:t>
            </a:r>
          </a:p>
          <a:p>
            <a:pPr marL="12700" marR="5080"/>
            <a:r>
              <a:rPr lang="en-US" sz="1400" kern="0" spc="-80" dirty="0">
                <a:solidFill>
                  <a:schemeClr val="accent6"/>
                </a:solidFill>
              </a:rPr>
              <a:t>Highlight which capabilities are enhanced, migrated, or modernized</a:t>
            </a:r>
          </a:p>
          <a:p>
            <a:pPr marL="12700" marR="5080"/>
            <a:r>
              <a:rPr lang="en-US" sz="1400" kern="0" spc="-80" dirty="0">
                <a:solidFill>
                  <a:schemeClr val="accent6"/>
                </a:solidFill>
              </a:rPr>
              <a:t>Value Streams &amp; Process Models</a:t>
            </a:r>
          </a:p>
          <a:p>
            <a:pPr marL="12700" marR="5080"/>
            <a:r>
              <a:rPr lang="en-US" sz="1400" kern="0" spc="-80" dirty="0">
                <a:solidFill>
                  <a:schemeClr val="accent2"/>
                </a:solidFill>
              </a:rPr>
              <a:t>Example:</a:t>
            </a:r>
            <a:r>
              <a:rPr lang="en-US" sz="1400" kern="0" spc="-80" dirty="0">
                <a:solidFill>
                  <a:schemeClr val="accent6"/>
                </a:solidFill>
              </a:rPr>
              <a:t> Account Opening, Loan Origination, Transaction Processing</a:t>
            </a:r>
          </a:p>
        </p:txBody>
      </p:sp>
    </p:spTree>
    <p:extLst>
      <p:ext uri="{BB962C8B-B14F-4D97-AF65-F5344CB8AC3E}">
        <p14:creationId xmlns:p14="http://schemas.microsoft.com/office/powerpoint/2010/main" val="2302376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4909-193A-AD99-6C9C-2AA93C28E7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580F4E-D5CA-17F0-79BE-3B253A1D20F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10B3DE-3B1F-CA1C-AFA0-BFEDB6F518B7}"/>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1F8976-8558-99B3-473D-CD021F8477F1}"/>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05E220-3269-A58F-EACF-C43006146921}"/>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Business Gap Analysis</a:t>
            </a:r>
          </a:p>
          <a:p>
            <a:pPr marL="12700" marR="5080"/>
            <a:r>
              <a:rPr lang="en-US" sz="1400" kern="0" spc="-80" dirty="0">
                <a:solidFill>
                  <a:schemeClr val="accent6"/>
                </a:solidFill>
              </a:rPr>
              <a:t>Manual processes → automated microservices</a:t>
            </a:r>
          </a:p>
          <a:p>
            <a:pPr marL="12700" marR="5080"/>
            <a:r>
              <a:rPr lang="en-US" sz="1400" kern="0" spc="-80" dirty="0">
                <a:solidFill>
                  <a:schemeClr val="accent6"/>
                </a:solidFill>
              </a:rPr>
              <a:t>Siloed product lines → integrated product platform</a:t>
            </a:r>
          </a:p>
          <a:p>
            <a:pPr marL="12700" marR="5080"/>
            <a:r>
              <a:rPr lang="en-US" sz="1400" kern="0" spc="-80" dirty="0">
                <a:solidFill>
                  <a:schemeClr val="accent2"/>
                </a:solidFill>
              </a:rPr>
              <a:t>Phase C – Information Systems Architecture</a:t>
            </a:r>
          </a:p>
          <a:p>
            <a:pPr marL="12700" marR="5080"/>
            <a:r>
              <a:rPr lang="en-US" sz="1400" kern="0" spc="-80" dirty="0">
                <a:solidFill>
                  <a:schemeClr val="accent6"/>
                </a:solidFill>
              </a:rPr>
              <a:t>Data Architecture</a:t>
            </a:r>
          </a:p>
          <a:p>
            <a:pPr marL="12700" marR="5080"/>
            <a:r>
              <a:rPr lang="en-US" sz="1400" kern="0" spc="-80" dirty="0">
                <a:solidFill>
                  <a:schemeClr val="accent6"/>
                </a:solidFill>
              </a:rPr>
              <a:t>Canonical data model for Customer, Account, Transaction, Loan, Product, KYC</a:t>
            </a:r>
          </a:p>
          <a:p>
            <a:pPr marL="12700" marR="5080"/>
            <a:r>
              <a:rPr lang="en-US" sz="1400" kern="0" spc="-80" dirty="0">
                <a:solidFill>
                  <a:schemeClr val="accent6"/>
                </a:solidFill>
              </a:rPr>
              <a:t>Master Data Management boundaries</a:t>
            </a:r>
          </a:p>
          <a:p>
            <a:pPr marL="12700" marR="5080"/>
            <a:r>
              <a:rPr lang="en-US" sz="1400" kern="0" spc="-80" dirty="0">
                <a:solidFill>
                  <a:schemeClr val="accent6"/>
                </a:solidFill>
              </a:rPr>
              <a:t>Data flow diagrams showing source systems → microservices → reporting</a:t>
            </a:r>
          </a:p>
          <a:p>
            <a:pPr marL="12700" marR="5080"/>
            <a:r>
              <a:rPr lang="en-US" sz="1400" kern="0" spc="-80" dirty="0">
                <a:solidFill>
                  <a:schemeClr val="accent6"/>
                </a:solidFill>
              </a:rPr>
              <a:t>Application Architecture</a:t>
            </a:r>
          </a:p>
          <a:p>
            <a:pPr marL="12700" marR="5080"/>
            <a:r>
              <a:rPr lang="en-US" sz="1400" kern="0" spc="-80" dirty="0">
                <a:solidFill>
                  <a:schemeClr val="accent6"/>
                </a:solidFill>
              </a:rPr>
              <a:t>Domain-driven microservices mapped to business capabilities</a:t>
            </a:r>
          </a:p>
          <a:p>
            <a:pPr marL="12700" marR="5080"/>
            <a:r>
              <a:rPr lang="en-US" sz="1400" kern="0" spc="-80" dirty="0">
                <a:solidFill>
                  <a:schemeClr val="accent6"/>
                </a:solidFill>
              </a:rPr>
              <a:t>API Gateway for internal/external integration</a:t>
            </a:r>
          </a:p>
          <a:p>
            <a:pPr marL="12700" marR="5080"/>
            <a:r>
              <a:rPr lang="en-US" sz="1400" kern="0" spc="-80" dirty="0">
                <a:solidFill>
                  <a:schemeClr val="accent6"/>
                </a:solidFill>
              </a:rPr>
              <a:t>Event-driven architecture (Kafka, RabbitMQ)</a:t>
            </a:r>
          </a:p>
          <a:p>
            <a:pPr marL="12700" marR="5080"/>
            <a:r>
              <a:rPr lang="en-US" sz="1400" kern="0" spc="-80" dirty="0">
                <a:solidFill>
                  <a:schemeClr val="accent6"/>
                </a:solidFill>
              </a:rPr>
              <a:t>Integration with legacy core for phased migration</a:t>
            </a:r>
          </a:p>
          <a:p>
            <a:pPr marL="12700" marR="5080"/>
            <a:r>
              <a:rPr lang="en-US" sz="1400" kern="0" spc="-80" dirty="0">
                <a:solidFill>
                  <a:schemeClr val="accent2"/>
                </a:solidFill>
              </a:rPr>
              <a:t>Artifacts:</a:t>
            </a:r>
          </a:p>
          <a:p>
            <a:pPr marL="12700" marR="5080"/>
            <a:r>
              <a:rPr lang="en-US" sz="1400" kern="0" spc="-80" dirty="0">
                <a:solidFill>
                  <a:schemeClr val="accent6"/>
                </a:solidFill>
              </a:rPr>
              <a:t>Logical Data Model Diagram (PPTX)</a:t>
            </a:r>
          </a:p>
          <a:p>
            <a:pPr marL="12700" marR="5080"/>
            <a:r>
              <a:rPr lang="en-US" sz="1400" kern="0" spc="-80" dirty="0">
                <a:solidFill>
                  <a:schemeClr val="accent6"/>
                </a:solidFill>
              </a:rPr>
              <a:t>Application Interaction Diagram (PPTX)</a:t>
            </a:r>
          </a:p>
          <a:p>
            <a:pPr marL="12700" marR="5080"/>
            <a:r>
              <a:rPr lang="en-US" sz="1400" kern="0" spc="-80" dirty="0">
                <a:solidFill>
                  <a:schemeClr val="accent6"/>
                </a:solidFill>
              </a:rPr>
              <a:t>Gap Analysis Table (XLSX)</a:t>
            </a:r>
          </a:p>
          <a:p>
            <a:pPr marL="12700" marR="5080"/>
            <a:r>
              <a:rPr lang="en-US" sz="1400" kern="0" spc="-80" dirty="0">
                <a:solidFill>
                  <a:schemeClr val="accent2"/>
                </a:solidFill>
              </a:rPr>
              <a:t>Phase D – Technology Architecture</a:t>
            </a:r>
          </a:p>
          <a:p>
            <a:pPr marL="12700" marR="5080"/>
            <a:r>
              <a:rPr lang="en-US" sz="1400" kern="0" spc="-80" dirty="0">
                <a:solidFill>
                  <a:schemeClr val="accent2"/>
                </a:solidFill>
              </a:rPr>
              <a:t>Objective: </a:t>
            </a:r>
            <a:r>
              <a:rPr lang="en-US" sz="1400" kern="0" spc="-80" dirty="0">
                <a:solidFill>
                  <a:schemeClr val="accent6"/>
                </a:solidFill>
              </a:rPr>
              <a:t>Define platform to support microservices and hybrid cloud.</a:t>
            </a:r>
          </a:p>
          <a:p>
            <a:pPr marL="12700" marR="5080"/>
            <a:r>
              <a:rPr lang="en-US" sz="1400" kern="0" spc="-80" dirty="0">
                <a:solidFill>
                  <a:schemeClr val="accent2"/>
                </a:solidFill>
              </a:rPr>
              <a:t>Components:</a:t>
            </a:r>
          </a:p>
          <a:p>
            <a:pPr marL="12700" marR="5080"/>
            <a:r>
              <a:rPr lang="en-US" sz="1400" kern="0" spc="-80" dirty="0">
                <a:solidFill>
                  <a:schemeClr val="accent2"/>
                </a:solidFill>
              </a:rPr>
              <a:t>Hybrid cloud: </a:t>
            </a:r>
            <a:r>
              <a:rPr lang="en-US" sz="1400" kern="0" spc="-80" dirty="0">
                <a:solidFill>
                  <a:schemeClr val="accent6"/>
                </a:solidFill>
              </a:rPr>
              <a:t>On-prem DC + Azure/AWS for microservices</a:t>
            </a:r>
          </a:p>
          <a:p>
            <a:pPr marL="12700" marR="5080"/>
            <a:r>
              <a:rPr lang="en-US" sz="1400" kern="0" spc="-80" dirty="0">
                <a:solidFill>
                  <a:schemeClr val="accent6"/>
                </a:solidFill>
              </a:rPr>
              <a:t>Kubernetes (AKS/EKS) clusters for microservices</a:t>
            </a:r>
          </a:p>
          <a:p>
            <a:pPr marL="12700" marR="5080"/>
            <a:r>
              <a:rPr lang="en-US" sz="1400" kern="0" spc="-80" dirty="0">
                <a:solidFill>
                  <a:schemeClr val="accent6"/>
                </a:solidFill>
              </a:rPr>
              <a:t>CI/CD pipeline with Jenkins/GitHub Actions</a:t>
            </a:r>
          </a:p>
        </p:txBody>
      </p:sp>
    </p:spTree>
    <p:extLst>
      <p:ext uri="{BB962C8B-B14F-4D97-AF65-F5344CB8AC3E}">
        <p14:creationId xmlns:p14="http://schemas.microsoft.com/office/powerpoint/2010/main" val="366086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A551D-FF61-F773-78BC-8EC845EB6D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855D4-15EA-7BB0-DBD9-954DE7C39C4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893102-E187-2E88-84D4-4D909FD0C4E0}"/>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9CFC1-5F54-CF28-D722-00E8E583663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81E425D-4C78-2DF4-E8A0-EC851F87CB0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6"/>
                </a:solidFill>
              </a:rPr>
              <a:t>Security, IAM, monitoring, disaster recovery</a:t>
            </a:r>
          </a:p>
          <a:p>
            <a:pPr marL="12700" marR="5080"/>
            <a:r>
              <a:rPr lang="en-US" sz="1400" kern="0" spc="-80" dirty="0">
                <a:solidFill>
                  <a:schemeClr val="accent2"/>
                </a:solidFill>
              </a:rPr>
              <a:t>Artifacts:</a:t>
            </a:r>
          </a:p>
          <a:p>
            <a:pPr marL="12700" marR="5080"/>
            <a:r>
              <a:rPr lang="en-US" sz="1400" kern="0" spc="-80" dirty="0">
                <a:solidFill>
                  <a:schemeClr val="accent6"/>
                </a:solidFill>
              </a:rPr>
              <a:t>Technology Reference Architecture Diagram (PPTX)</a:t>
            </a:r>
          </a:p>
          <a:p>
            <a:pPr marL="12700" marR="5080"/>
            <a:r>
              <a:rPr lang="en-US" sz="1400" kern="0" spc="-80" dirty="0">
                <a:solidFill>
                  <a:schemeClr val="accent6"/>
                </a:solidFill>
              </a:rPr>
              <a:t>Infrastructure Components Heatmap</a:t>
            </a:r>
          </a:p>
          <a:p>
            <a:pPr marL="12700" marR="5080"/>
            <a:r>
              <a:rPr lang="en-US" sz="1400" kern="0" spc="-80" dirty="0">
                <a:solidFill>
                  <a:schemeClr val="accent2"/>
                </a:solidFill>
              </a:rPr>
              <a:t>Phase E – Opportunities &amp; Solutions</a:t>
            </a:r>
          </a:p>
          <a:p>
            <a:pPr marL="12700" marR="5080"/>
            <a:r>
              <a:rPr lang="en-US" sz="1400" kern="0" spc="-80" dirty="0">
                <a:solidFill>
                  <a:schemeClr val="accent2"/>
                </a:solidFill>
              </a:rPr>
              <a:t>Objective: </a:t>
            </a:r>
            <a:r>
              <a:rPr lang="en-US" sz="1400" kern="0" spc="-80" dirty="0">
                <a:solidFill>
                  <a:schemeClr val="accent6"/>
                </a:solidFill>
              </a:rPr>
              <a:t>Map architectures to executable projects.</a:t>
            </a:r>
          </a:p>
          <a:p>
            <a:pPr marL="12700" marR="5080"/>
            <a:r>
              <a:rPr lang="en-US" sz="1400" kern="0" spc="-80" dirty="0">
                <a:solidFill>
                  <a:schemeClr val="accent2"/>
                </a:solidFill>
              </a:rPr>
              <a:t>Artifacts:</a:t>
            </a:r>
          </a:p>
          <a:p>
            <a:pPr marL="12700" marR="5080"/>
            <a:r>
              <a:rPr lang="en-US" sz="1400" kern="0" spc="-80" dirty="0">
                <a:solidFill>
                  <a:schemeClr val="accent6"/>
                </a:solidFill>
              </a:rPr>
              <a:t>Solution building blocks</a:t>
            </a:r>
          </a:p>
          <a:p>
            <a:pPr marL="12700" marR="5080"/>
            <a:r>
              <a:rPr lang="en-US" sz="1400" kern="0" spc="-80" dirty="0">
                <a:solidFill>
                  <a:schemeClr val="accent2"/>
                </a:solidFill>
              </a:rPr>
              <a:t>Work packages:</a:t>
            </a:r>
          </a:p>
          <a:p>
            <a:pPr marL="12700" marR="5080"/>
            <a:r>
              <a:rPr lang="en-US" sz="1400" kern="0" spc="-80" dirty="0">
                <a:solidFill>
                  <a:schemeClr val="accent6"/>
                </a:solidFill>
              </a:rPr>
              <a:t>Domain microservices development (Customer, Account, Transaction, Loan)</a:t>
            </a:r>
          </a:p>
          <a:p>
            <a:pPr marL="12700" marR="5080"/>
            <a:r>
              <a:rPr lang="en-US" sz="1400" kern="0" spc="-80" dirty="0">
                <a:solidFill>
                  <a:schemeClr val="accent6"/>
                </a:solidFill>
              </a:rPr>
              <a:t>API Gateway implementation</a:t>
            </a:r>
          </a:p>
          <a:p>
            <a:pPr marL="12700" marR="5080"/>
            <a:r>
              <a:rPr lang="en-US" sz="1400" kern="0" spc="-80" dirty="0">
                <a:solidFill>
                  <a:schemeClr val="accent6"/>
                </a:solidFill>
              </a:rPr>
              <a:t>Hybrid cloud platform provisioning</a:t>
            </a:r>
          </a:p>
          <a:p>
            <a:pPr marL="12700" marR="5080"/>
            <a:r>
              <a:rPr lang="en-US" sz="1400" kern="0" spc="-80" dirty="0">
                <a:solidFill>
                  <a:schemeClr val="accent6"/>
                </a:solidFill>
              </a:rPr>
              <a:t>Data migration &amp; MDM rollout</a:t>
            </a:r>
          </a:p>
          <a:p>
            <a:pPr marL="12700" marR="5080"/>
            <a:r>
              <a:rPr lang="en-US" sz="1400" kern="0" spc="-80" dirty="0">
                <a:solidFill>
                  <a:schemeClr val="accent6"/>
                </a:solidFill>
              </a:rPr>
              <a:t>Roadmap for each domain</a:t>
            </a:r>
          </a:p>
          <a:p>
            <a:pPr marL="12700" marR="5080"/>
            <a:r>
              <a:rPr lang="en-US" sz="1400" kern="0" spc="-80" dirty="0">
                <a:solidFill>
                  <a:schemeClr val="accent2"/>
                </a:solidFill>
              </a:rPr>
              <a:t>Phase F – Migration Planning</a:t>
            </a:r>
          </a:p>
          <a:p>
            <a:pPr marL="12700" marR="5080"/>
            <a:r>
              <a:rPr lang="en-US" sz="1400" kern="0" spc="-80" dirty="0">
                <a:solidFill>
                  <a:schemeClr val="accent2"/>
                </a:solidFill>
              </a:rPr>
              <a:t>Objective: </a:t>
            </a:r>
            <a:r>
              <a:rPr lang="en-US" sz="1400" kern="0" spc="-80" dirty="0">
                <a:solidFill>
                  <a:schemeClr val="accent6"/>
                </a:solidFill>
              </a:rPr>
              <a:t>Define phased implementation.</a:t>
            </a:r>
          </a:p>
          <a:p>
            <a:pPr marL="12700" marR="5080"/>
            <a:r>
              <a:rPr lang="en-US" sz="1400" kern="0" spc="-80" dirty="0">
                <a:solidFill>
                  <a:schemeClr val="accent2"/>
                </a:solidFill>
              </a:rPr>
              <a:t>Artifacts:</a:t>
            </a:r>
          </a:p>
          <a:p>
            <a:pPr marL="12700" marR="5080"/>
            <a:r>
              <a:rPr lang="en-US" sz="1400" kern="0" spc="-80" dirty="0">
                <a:solidFill>
                  <a:schemeClr val="accent6"/>
                </a:solidFill>
              </a:rPr>
              <a:t>Migration roadmap (XLSX)</a:t>
            </a:r>
          </a:p>
          <a:p>
            <a:pPr marL="12700" marR="5080"/>
            <a:r>
              <a:rPr lang="en-US" sz="1400" kern="0" spc="-80" dirty="0">
                <a:solidFill>
                  <a:schemeClr val="accent6"/>
                </a:solidFill>
              </a:rPr>
              <a:t>Phase 1: Customer &amp; Account services</a:t>
            </a:r>
          </a:p>
          <a:p>
            <a:pPr marL="12700" marR="5080"/>
            <a:r>
              <a:rPr lang="en-US" sz="1400" kern="0" spc="-80" dirty="0">
                <a:solidFill>
                  <a:schemeClr val="accent6"/>
                </a:solidFill>
              </a:rPr>
              <a:t>Phase 2: Loan &amp; Transaction services</a:t>
            </a:r>
          </a:p>
          <a:p>
            <a:pPr marL="12700" marR="5080"/>
            <a:r>
              <a:rPr lang="en-US" sz="1400" kern="0" spc="-80" dirty="0">
                <a:solidFill>
                  <a:schemeClr val="accent6"/>
                </a:solidFill>
              </a:rPr>
              <a:t>Phase 3: Payments &amp; Treasury services</a:t>
            </a:r>
          </a:p>
          <a:p>
            <a:pPr marL="12700" marR="5080"/>
            <a:r>
              <a:rPr lang="en-US" sz="1400" kern="0" spc="-80" dirty="0">
                <a:solidFill>
                  <a:schemeClr val="accent6"/>
                </a:solidFill>
              </a:rPr>
              <a:t>Dependencies, cost estimates, resource planning</a:t>
            </a:r>
          </a:p>
          <a:p>
            <a:pPr marL="12700" marR="5080"/>
            <a:r>
              <a:rPr lang="en-US" sz="1400" kern="0" spc="-80" dirty="0">
                <a:solidFill>
                  <a:schemeClr val="accent2"/>
                </a:solidFill>
              </a:rPr>
              <a:t>Phase G – Implementation Governance</a:t>
            </a:r>
          </a:p>
          <a:p>
            <a:pPr marL="12700" marR="5080"/>
            <a:r>
              <a:rPr lang="en-US" sz="1400" kern="0" spc="-80" dirty="0">
                <a:solidFill>
                  <a:schemeClr val="accent2"/>
                </a:solidFill>
              </a:rPr>
              <a:t>Objective:</a:t>
            </a:r>
            <a:r>
              <a:rPr lang="en-US" sz="1400" kern="0" spc="-80" dirty="0">
                <a:solidFill>
                  <a:schemeClr val="accent6"/>
                </a:solidFill>
              </a:rPr>
              <a:t> Ensure compliance with architecture.</a:t>
            </a:r>
          </a:p>
        </p:txBody>
      </p:sp>
    </p:spTree>
    <p:extLst>
      <p:ext uri="{BB962C8B-B14F-4D97-AF65-F5344CB8AC3E}">
        <p14:creationId xmlns:p14="http://schemas.microsoft.com/office/powerpoint/2010/main" val="1217197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D42DC-059E-BAAF-8046-9DCFA8825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014FBDD-4277-4701-06CE-D364E3279D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EE82C-9245-4158-8657-A9DAEF0BDCC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C817F4-0E67-A66B-95E4-9B91E60811E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210A32-090C-1402-EAEF-BD7FA4AD4945}"/>
              </a:ext>
            </a:extLst>
          </p:cNvPr>
          <p:cNvSpPr txBox="1">
            <a:spLocks/>
          </p:cNvSpPr>
          <p:nvPr/>
        </p:nvSpPr>
        <p:spPr>
          <a:xfrm>
            <a:off x="313400" y="694301"/>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Artifacts:</a:t>
            </a:r>
          </a:p>
          <a:p>
            <a:pPr marL="12700" marR="5080"/>
            <a:r>
              <a:rPr lang="en-US" sz="1400" kern="0" spc="-80" dirty="0">
                <a:solidFill>
                  <a:schemeClr val="accent6"/>
                </a:solidFill>
              </a:rPr>
              <a:t>Architecture compliance checklist</a:t>
            </a:r>
          </a:p>
          <a:p>
            <a:pPr marL="12700" marR="5080"/>
            <a:r>
              <a:rPr lang="en-US" sz="1400" kern="0" spc="-80" dirty="0">
                <a:solidFill>
                  <a:schemeClr val="accent6"/>
                </a:solidFill>
              </a:rPr>
              <a:t>Review board schedule</a:t>
            </a:r>
          </a:p>
          <a:p>
            <a:pPr marL="12700" marR="5080"/>
            <a:r>
              <a:rPr lang="en-US" sz="1400" kern="0" spc="-80" dirty="0">
                <a:solidFill>
                  <a:schemeClr val="accent6"/>
                </a:solidFill>
              </a:rPr>
              <a:t>Deviation approval templates</a:t>
            </a:r>
          </a:p>
          <a:p>
            <a:pPr marL="12700" marR="5080"/>
            <a:r>
              <a:rPr lang="en-US" sz="1400" kern="0" spc="-80" dirty="0">
                <a:solidFill>
                  <a:schemeClr val="accent2"/>
                </a:solidFill>
              </a:rPr>
              <a:t>Phase H – Architecture Change Management</a:t>
            </a:r>
          </a:p>
          <a:p>
            <a:pPr marL="12700" marR="5080"/>
            <a:r>
              <a:rPr lang="en-US" sz="1400" kern="0" spc="-80" dirty="0">
                <a:solidFill>
                  <a:schemeClr val="accent2"/>
                </a:solidFill>
              </a:rPr>
              <a:t>Objective: </a:t>
            </a:r>
            <a:r>
              <a:rPr lang="en-US" sz="1400" kern="0" spc="-80" dirty="0">
                <a:solidFill>
                  <a:schemeClr val="accent6"/>
                </a:solidFill>
              </a:rPr>
              <a:t>Ensure EA evolves with business.</a:t>
            </a:r>
          </a:p>
          <a:p>
            <a:pPr marL="12700" marR="5080"/>
            <a:r>
              <a:rPr lang="en-US" sz="1400" kern="0" spc="-80" dirty="0">
                <a:solidFill>
                  <a:schemeClr val="accent2"/>
                </a:solidFill>
              </a:rPr>
              <a:t>Artifacts:</a:t>
            </a:r>
          </a:p>
          <a:p>
            <a:pPr marL="12700" marR="5080"/>
            <a:r>
              <a:rPr lang="en-US" sz="1400" kern="0" spc="-80" dirty="0">
                <a:solidFill>
                  <a:schemeClr val="accent6"/>
                </a:solidFill>
              </a:rPr>
              <a:t>Change management log template (DOCX)</a:t>
            </a:r>
          </a:p>
          <a:p>
            <a:pPr marL="12700" marR="5080"/>
            <a:r>
              <a:rPr lang="en-US" sz="1400" kern="0" spc="-80" dirty="0">
                <a:solidFill>
                  <a:schemeClr val="accent6"/>
                </a:solidFill>
              </a:rPr>
              <a:t>Architecture update guidelines</a:t>
            </a:r>
          </a:p>
          <a:p>
            <a:pPr marL="12700" marR="5080"/>
            <a:r>
              <a:rPr lang="en-US" sz="1400" kern="0" spc="-80" dirty="0">
                <a:solidFill>
                  <a:schemeClr val="accent6"/>
                </a:solidFill>
              </a:rPr>
              <a:t>Periodic assessment metrics</a:t>
            </a:r>
          </a:p>
          <a:p>
            <a:pPr marL="12700" marR="5080"/>
            <a:r>
              <a:rPr lang="en-US" sz="1400" kern="0" spc="-80" dirty="0">
                <a:solidFill>
                  <a:schemeClr val="accent6"/>
                </a:solidFill>
              </a:rPr>
              <a:t>Requirements Management</a:t>
            </a:r>
          </a:p>
          <a:p>
            <a:pPr marL="12700" marR="5080"/>
            <a:r>
              <a:rPr lang="en-US" sz="1400" kern="0" spc="-80" dirty="0">
                <a:solidFill>
                  <a:schemeClr val="accent6"/>
                </a:solidFill>
              </a:rPr>
              <a:t>Central repository linking business drivers → capabilities → data → applications → technology → solutions</a:t>
            </a:r>
          </a:p>
          <a:p>
            <a:pPr marL="12700" marR="5080"/>
            <a:r>
              <a:rPr lang="en-US" sz="1400" kern="0" spc="-80" dirty="0">
                <a:solidFill>
                  <a:schemeClr val="accent6"/>
                </a:solidFill>
              </a:rPr>
              <a:t>Traceability ensured for audit &amp; regulatory compliance.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96166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extLst>
              <p:ext uri="{D42A27DB-BD31-4B8C-83A1-F6EECF244321}">
                <p14:modId xmlns:p14="http://schemas.microsoft.com/office/powerpoint/2010/main" val="3408768351"/>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745034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7795079"/>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What is a Service Mesh? | Definition from TechTarget</a:t>
            </a:r>
            <a:endParaRPr lang="en-US" sz="1700" dirty="0"/>
          </a:p>
          <a:p>
            <a:pPr marL="12700" marR="5080"/>
            <a:r>
              <a:rPr lang="en-US" sz="1700" dirty="0">
                <a:hlinkClick r:id="rId17"/>
              </a:rPr>
              <a:t>Microservice Service Discovery: Service Mesh vs API Gateway Explained</a:t>
            </a:r>
            <a:r>
              <a:rPr lang="en-US" sz="1700" kern="0" spc="-80" dirty="0">
                <a:solidFill>
                  <a:schemeClr val="accent2"/>
                </a:solidFill>
              </a:rPr>
              <a:t> </a:t>
            </a:r>
          </a:p>
          <a:p>
            <a:pPr marL="12700" marR="5080"/>
            <a:r>
              <a:rPr lang="en-US" sz="1700" dirty="0">
                <a:hlinkClick r:id="rId18"/>
              </a:rPr>
              <a:t>Fan-out/fan-in scenarios in Durable Functions - Azure | Microsoft Learn</a:t>
            </a:r>
            <a:r>
              <a:rPr lang="en-US" sz="1700" kern="0" spc="-80" dirty="0">
                <a:solidFill>
                  <a:schemeClr val="accent2"/>
                </a:solidFill>
              </a:rPr>
              <a:t> </a:t>
            </a:r>
          </a:p>
          <a:p>
            <a:pPr marL="12700" marR="5080"/>
            <a:r>
              <a:rPr lang="en-US" sz="1700" dirty="0">
                <a:hlinkClick r:id="rId19"/>
              </a:rPr>
              <a:t>Design Patterns for Cloud Native Applications[Book]</a:t>
            </a:r>
            <a:endParaRPr lang="en-US" sz="1700" dirty="0"/>
          </a:p>
          <a:p>
            <a:pPr marL="12700" marR="5080"/>
            <a:r>
              <a:rPr lang="en-IN" sz="1700" dirty="0">
                <a:hlinkClick r:id="rId20"/>
              </a:rPr>
              <a:t>Design Patterns used Across Various Software Layers | LinkedIn</a:t>
            </a:r>
            <a:endParaRPr lang="en-IN" sz="1700" dirty="0"/>
          </a:p>
          <a:p>
            <a:pPr marL="12700" marR="5080"/>
            <a:r>
              <a:rPr lang="en-US" sz="1700" dirty="0">
                <a:hlinkClick r:id="rId21"/>
              </a:rPr>
              <a:t>Cloud Native Architecture and Design: A Handbook for Modern Day Architecture and Design with Enterprise-Grade Examples | SpringerLink</a:t>
            </a:r>
            <a:endParaRPr lang="en-US" sz="1700" dirty="0"/>
          </a:p>
          <a:p>
            <a:pPr marL="12700" marR="5080"/>
            <a:r>
              <a:rPr lang="en-IN" sz="1700" dirty="0">
                <a:hlinkClick r:id="rId22"/>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dirty="0">
                <a:solidFill>
                  <a:schemeClr val="accent6"/>
                </a:solidFill>
              </a:rPr>
              <a:t>   </a:t>
            </a:r>
            <a:r>
              <a:rPr lang="en-US" sz="1200" dirty="0">
                <a:hlinkClick r:id="rId13"/>
              </a:rPr>
              <a:t>Best 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8015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a:t>
            </a:r>
          </a:p>
          <a:p>
            <a:pPr marL="12700" marR="5080"/>
            <a:r>
              <a:rPr lang="en-US" sz="2400" kern="0" spc="-80" dirty="0">
                <a:solidFill>
                  <a:schemeClr val="accent2"/>
                </a:solidFill>
              </a:rPr>
              <a:t>      Inter-Service Communication in Microservices </a:t>
            </a:r>
          </a:p>
          <a:p>
            <a:pPr marL="12700" marR="5080"/>
            <a:r>
              <a:rPr lang="en-US" sz="2400" kern="0" spc="-80" dirty="0">
                <a:solidFill>
                  <a:schemeClr val="accent2"/>
                </a:solidFill>
              </a:rPr>
              <a:t>      Using Service Mesh(e.g. Istio) – </a:t>
            </a:r>
          </a:p>
          <a:p>
            <a:pPr marL="12700" marR="5080"/>
            <a:r>
              <a:rPr lang="en-US" sz="2000" kern="0" spc="-80" dirty="0">
                <a:solidFill>
                  <a:schemeClr val="accent6"/>
                </a:solidFill>
              </a:rPr>
              <a:t>           RBAC based Inter-Service Communication</a:t>
            </a:r>
          </a:p>
          <a:p>
            <a:pPr marL="12700" marR="5080"/>
            <a:endParaRPr lang="en-US" sz="2000" kern="0" spc="-80" dirty="0">
              <a:solidFill>
                <a:schemeClr val="accent6"/>
              </a:solidFill>
            </a:endParaRPr>
          </a:p>
          <a:p>
            <a:pPr marL="12700" marR="5080"/>
            <a:r>
              <a:rPr lang="en-US" sz="1700" dirty="0">
                <a:hlinkClick r:id="rId7"/>
              </a:rPr>
              <a:t>How to implement security for microservices</a:t>
            </a:r>
            <a:endParaRPr lang="en-US" sz="1700" dirty="0"/>
          </a:p>
          <a:p>
            <a:pPr marL="12700" marR="5080"/>
            <a:r>
              <a:rPr lang="en-IN" sz="1700" dirty="0">
                <a:hlinkClick r:id="rId8"/>
              </a:rPr>
              <a:t>Kubernetes-Service-Mesh-with-Istio</a:t>
            </a:r>
            <a:endParaRPr lang="en-IN" sz="1700" dirty="0"/>
          </a:p>
          <a:p>
            <a:pPr marL="12700" marR="5080"/>
            <a:r>
              <a:rPr lang="en-US" sz="1700" dirty="0">
                <a:hlinkClick r:id="rId9"/>
              </a:rPr>
              <a:t>Service Mesh Interface Conformance with </a:t>
            </a:r>
            <a:r>
              <a:rPr lang="en-US" sz="1700" dirty="0" err="1">
                <a:hlinkClick r:id="rId9"/>
              </a:rPr>
              <a:t>Meshery</a:t>
            </a:r>
            <a:r>
              <a:rPr lang="en-US" sz="1700" dirty="0">
                <a:hlinkClick r:id="rId9"/>
              </a:rPr>
              <a:t> · Actions · GitHub Marketplace · GitHub</a:t>
            </a:r>
            <a:endParaRPr lang="en-US" sz="1700" dirty="0"/>
          </a:p>
          <a:p>
            <a:pPr marL="12700" marR="5080"/>
            <a:r>
              <a:rPr lang="en-US" sz="1700" dirty="0">
                <a:hlinkClick r:id="rId10"/>
              </a:rPr>
              <a:t>The Enterprise Path to Service Mesh Architectures (2nd Edition)</a:t>
            </a:r>
            <a:endParaRPr lang="en-US" sz="1700" dirty="0"/>
          </a:p>
          <a:p>
            <a:pPr marL="12700" marR="5080"/>
            <a:r>
              <a:rPr lang="en-IN" sz="1700" dirty="0">
                <a:hlinkClick r:id="rId11"/>
              </a:rPr>
              <a:t>Service Mesh Patterns | Service Mesh Patterns</a:t>
            </a:r>
            <a:endParaRPr lang="en-IN" sz="1700" dirty="0"/>
          </a:p>
          <a:p>
            <a:pPr marL="12700" marR="5080"/>
            <a:r>
              <a:rPr lang="en-IN" sz="1700" dirty="0">
                <a:hlinkClick r:id="rId12"/>
              </a:rPr>
              <a:t>Service Mesh in Microservices | Feed | LinkedIn</a:t>
            </a:r>
            <a:endParaRPr lang="en-IN" sz="1700" dirty="0"/>
          </a:p>
          <a:p>
            <a:pPr marL="12700" marR="5080"/>
            <a:r>
              <a:rPr lang="en-US" sz="1700" dirty="0">
                <a:hlinkClick r:id="rId13"/>
              </a:rPr>
              <a:t>What Is Istio? | Google Cloud</a:t>
            </a:r>
            <a:endParaRPr lang="en-US" sz="1700" dirty="0"/>
          </a:p>
          <a:p>
            <a:pPr marL="12700" marR="5080"/>
            <a:r>
              <a:rPr lang="en-IN" sz="1700" dirty="0">
                <a:hlinkClick r:id="rId14"/>
              </a:rPr>
              <a:t>Istio Succinctly</a:t>
            </a:r>
            <a:endParaRPr lang="en-IN" sz="1700" dirty="0"/>
          </a:p>
          <a:p>
            <a:pPr marL="12700" marR="5080"/>
            <a:r>
              <a:rPr lang="en-IN" sz="1700" dirty="0">
                <a:hlinkClick r:id="rId15"/>
              </a:rPr>
              <a:t>Istio</a:t>
            </a:r>
            <a:endParaRPr lang="en-IN" sz="1700" dirty="0"/>
          </a:p>
          <a:p>
            <a:pPr marL="12700" marR="5080"/>
            <a:r>
              <a:rPr lang="en-US" sz="1700" dirty="0">
                <a:hlinkClick r:id="rId16"/>
              </a:rPr>
              <a:t>Mastering-Service-Mesh: Mastering Service Mesh, published by </a:t>
            </a:r>
            <a:r>
              <a:rPr lang="en-US" sz="1700" dirty="0" err="1">
                <a:hlinkClick r:id="rId16"/>
              </a:rPr>
              <a:t>Packt</a:t>
            </a:r>
            <a:r>
              <a:rPr lang="en-US" sz="1700" dirty="0">
                <a:hlinkClick r:id="rId16"/>
              </a:rPr>
              <a:t> </a:t>
            </a:r>
            <a:endParaRPr lang="en-US" sz="1700" dirty="0"/>
          </a:p>
          <a:p>
            <a:pPr marL="12700" marR="5080"/>
            <a:r>
              <a:rPr lang="en-IN" sz="1700" dirty="0">
                <a:hlinkClick r:id="rId17"/>
              </a:rPr>
              <a:t>Mastering-Service-Mesh-Architecture</a:t>
            </a:r>
            <a:endParaRPr lang="en-IN" sz="1700" dirty="0"/>
          </a:p>
          <a:p>
            <a:pPr marL="12700" marR="5080"/>
            <a:r>
              <a:rPr lang="en-US" sz="1700" dirty="0">
                <a:hlinkClick r:id="rId18"/>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402319855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7323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Time Series Databases - everything you need to know</a:t>
            </a:r>
            <a:endParaRPr lang="en-US" sz="1050" dirty="0"/>
          </a:p>
          <a:p>
            <a:pPr marL="12700" marR="5080"/>
            <a:r>
              <a:rPr lang="en-US" sz="1000" kern="0" spc="-80" dirty="0">
                <a:solidFill>
                  <a:schemeClr val="accent2"/>
                </a:solidFill>
              </a:rPr>
              <a:t> </a:t>
            </a:r>
            <a:r>
              <a:rPr lang="en-US" sz="1000" dirty="0">
                <a:hlinkClick r:id="rId9"/>
              </a:rPr>
              <a:t>Time Series Database - Amazon Timestream – AWS</a:t>
            </a:r>
            <a:endParaRPr lang="en-US" sz="1000" dirty="0"/>
          </a:p>
          <a:p>
            <a:pPr marL="12700" marR="5080"/>
            <a:r>
              <a:rPr lang="en-US" sz="1000" dirty="0"/>
              <a:t> </a:t>
            </a:r>
            <a:r>
              <a:rPr lang="en-IN" sz="1000" dirty="0" err="1">
                <a:hlinkClick r:id="rId10"/>
              </a:rPr>
              <a:t>MetricsDB</a:t>
            </a:r>
            <a:r>
              <a:rPr lang="en-IN" sz="1000" dirty="0">
                <a:hlinkClick r:id="rId10"/>
              </a:rPr>
              <a:t>: </a:t>
            </a:r>
            <a:r>
              <a:rPr lang="en-IN" sz="1000" dirty="0" err="1">
                <a:hlinkClick r:id="rId10"/>
              </a:rPr>
              <a:t>TimeSeries</a:t>
            </a:r>
            <a:r>
              <a:rPr lang="en-IN" sz="1000" dirty="0">
                <a:hlinkClick r:id="rId10"/>
              </a:rPr>
              <a:t> Database for storing metrics at Twitter</a:t>
            </a:r>
            <a:endParaRPr lang="en-IN" sz="1000" dirty="0"/>
          </a:p>
          <a:p>
            <a:pPr marL="12700" marR="5080"/>
            <a:r>
              <a:rPr lang="en-IN" sz="1000" dirty="0"/>
              <a:t> </a:t>
            </a:r>
            <a:r>
              <a:rPr lang="en-IN" sz="1000" dirty="0">
                <a:hlinkClick r:id="rId11"/>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5707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00" dirty="0">
                <a:hlinkClick r:id="rId7"/>
              </a:rPr>
              <a:t>Databricks - Master Azure Databricks for Data Engineers | Udemy</a:t>
            </a:r>
            <a:endParaRPr lang="en-IN" sz="1300" dirty="0"/>
          </a:p>
          <a:p>
            <a:pPr marL="12700" marR="5080"/>
            <a:r>
              <a:rPr lang="en-US" sz="1300" dirty="0">
                <a:hlinkClick r:id="rId8"/>
              </a:rPr>
              <a:t>Databricks Certified Data Engineer Associate - Preparation | Udemy</a:t>
            </a:r>
            <a:endParaRPr lang="en-IN" sz="1300" dirty="0"/>
          </a:p>
          <a:p>
            <a:pPr marL="12700" marR="5080"/>
            <a:r>
              <a:rPr lang="en-US" sz="1300" dirty="0">
                <a:hlinkClick r:id="rId9"/>
              </a:rPr>
              <a:t>Azure-Databricks-Cookbook</a:t>
            </a:r>
            <a:endParaRPr lang="en-US" sz="1300" dirty="0"/>
          </a:p>
          <a:p>
            <a:pPr marL="12700" marR="5080"/>
            <a:r>
              <a:rPr lang="en-IN" sz="1300" dirty="0">
                <a:hlinkClick r:id="rId10"/>
              </a:rPr>
              <a:t>Azure-Databricks-Cookbook-Second-</a:t>
            </a:r>
            <a:r>
              <a:rPr lang="en-IN" sz="1300" dirty="0" err="1">
                <a:hlinkClick r:id="rId10"/>
              </a:rPr>
              <a:t>EdOld</a:t>
            </a:r>
            <a:endParaRPr lang="en-IN" sz="1300" dirty="0"/>
          </a:p>
          <a:p>
            <a:pPr marL="12700" marR="5080"/>
            <a:r>
              <a:rPr lang="en-US" sz="1300" dirty="0">
                <a:hlinkClick r:id="rId11"/>
              </a:rPr>
              <a:t>Distributed Data Systems with Azure Databricks | Data | eBook</a:t>
            </a:r>
            <a:endParaRPr lang="en-US" sz="1300" dirty="0"/>
          </a:p>
          <a:p>
            <a:pPr marL="12700" marR="5080"/>
            <a:r>
              <a:rPr lang="en-US" sz="1300" dirty="0">
                <a:hlinkClick r:id="rId12"/>
              </a:rPr>
              <a:t>Delta Lake: The Definitive Guide by O’Reilly | Databricks</a:t>
            </a:r>
            <a:endParaRPr lang="en-US" sz="1300" dirty="0"/>
          </a:p>
          <a:p>
            <a:pPr marL="12700" marR="5080"/>
            <a:r>
              <a:rPr lang="en-US" sz="1300" dirty="0">
                <a:hlinkClick r:id="rId13"/>
              </a:rPr>
              <a:t>Master Microsoft Fabric: A Complete End-to-End Project- CICD | Udemy</a:t>
            </a:r>
            <a:endParaRPr lang="en-IN" sz="1300" dirty="0"/>
          </a:p>
          <a:p>
            <a:pPr marL="12700" marR="5080"/>
            <a:r>
              <a:rPr lang="en-US" sz="1300" dirty="0">
                <a:hlinkClick r:id="rId14"/>
              </a:rPr>
              <a:t>Azure Data Factory | Data Engineering on Azure and Fabric | Udemy</a:t>
            </a:r>
            <a:endParaRPr lang="en-US" sz="1300" dirty="0"/>
          </a:p>
          <a:p>
            <a:pPr marL="12700" marR="5080"/>
            <a:r>
              <a:rPr lang="en-US" sz="1300" dirty="0">
                <a:hlinkClick r:id="rId15"/>
              </a:rPr>
              <a:t>[2025] Mastering Azure Data Factory :From Basics to Advanced | Udemy</a:t>
            </a:r>
            <a:endParaRPr lang="en-IN" sz="1300" kern="0" spc="-80" dirty="0">
              <a:solidFill>
                <a:schemeClr val="accent6"/>
              </a:solidFill>
            </a:endParaRPr>
          </a:p>
          <a:p>
            <a:pPr marL="12700" marR="5080"/>
            <a:r>
              <a:rPr lang="en-IN" sz="1300" dirty="0" err="1">
                <a:hlinkClick r:id="rId16"/>
              </a:rPr>
              <a:t>LearningJournal</a:t>
            </a:r>
            <a:r>
              <a:rPr lang="en-IN" sz="1300" dirty="0">
                <a:hlinkClick r:id="rId16"/>
              </a:rPr>
              <a:t> (Prashant Kumar Pandey)</a:t>
            </a:r>
            <a:endParaRPr lang="en-IN" sz="1300" dirty="0"/>
          </a:p>
          <a:p>
            <a:pPr marL="12700" marR="5080"/>
            <a:r>
              <a:rPr lang="en-IN" sz="1300" dirty="0">
                <a:hlinkClick r:id="rId17"/>
              </a:rPr>
              <a:t>Ramesh </a:t>
            </a:r>
            <a:r>
              <a:rPr lang="en-IN" sz="1300" dirty="0" err="1">
                <a:hlinkClick r:id="rId17"/>
              </a:rPr>
              <a:t>Retnasamy</a:t>
            </a:r>
            <a:r>
              <a:rPr lang="en-IN" sz="1300" dirty="0">
                <a:hlinkClick r:id="rId17"/>
              </a:rPr>
              <a:t> . 200,000+ Learners | Best Selling Data &amp; AI Engineering Instructor | Udemy</a:t>
            </a:r>
            <a:endParaRPr lang="en-US" sz="1300" kern="0" spc="-80" dirty="0">
              <a:solidFill>
                <a:schemeClr val="accent2"/>
              </a:solidFill>
            </a:endParaRPr>
          </a:p>
          <a:p>
            <a:pPr marL="12700" marR="5080"/>
            <a:r>
              <a:rPr lang="en-IN" sz="1300" dirty="0">
                <a:hlinkClick r:id="rId18"/>
              </a:rPr>
              <a:t>Batch integration with Azure Data Factory for Azure Digital Twins - Azure Example Scenarios</a:t>
            </a:r>
            <a:endParaRPr lang="en-IN" sz="1300" dirty="0"/>
          </a:p>
          <a:p>
            <a:pPr marL="12700" marR="5080"/>
            <a:r>
              <a:rPr lang="en-US" sz="1300" dirty="0">
                <a:hlinkClick r:id="rId19"/>
              </a:rPr>
              <a:t>Big Book of Data Warehousing and BI | Databricks</a:t>
            </a:r>
            <a:endParaRPr lang="en-US" sz="1300" kern="0" spc="-80" dirty="0">
              <a:solidFill>
                <a:schemeClr val="accent2"/>
              </a:solidFill>
            </a:endParaRPr>
          </a:p>
          <a:p>
            <a:pPr marL="12700" marR="5080"/>
            <a:r>
              <a:rPr lang="en-IN" sz="1300" dirty="0">
                <a:hlinkClick r:id="rId20"/>
              </a:rPr>
              <a:t>Database Internals</a:t>
            </a:r>
            <a:endParaRPr lang="en-IN" sz="1300" dirty="0"/>
          </a:p>
          <a:p>
            <a:pPr marL="12700" marR="5080"/>
            <a:r>
              <a:rPr lang="en-US" sz="1300" dirty="0">
                <a:hlinkClick r:id="rId21"/>
              </a:rPr>
              <a:t>Preferred file format and why? (CSV, JSON, Parquet, ORC, AVRO) : r/</a:t>
            </a:r>
            <a:r>
              <a:rPr lang="en-US" sz="1300" dirty="0" err="1">
                <a:hlinkClick r:id="rId21"/>
              </a:rPr>
              <a:t>dataengineering</a:t>
            </a:r>
            <a:endParaRPr lang="en-US" sz="1300" dirty="0"/>
          </a:p>
          <a:p>
            <a:pPr marL="12700" marR="5080"/>
            <a:r>
              <a:rPr lang="en-IN" sz="1300" dirty="0">
                <a:hlinkClick r:id="rId22"/>
              </a:rPr>
              <a:t>FAIR data </a:t>
            </a:r>
            <a:r>
              <a:rPr lang="en-IN" sz="1300" dirty="0">
                <a:hlinkClick r:id="rId23"/>
              </a:rPr>
              <a:t>–</a:t>
            </a:r>
            <a:r>
              <a:rPr lang="en-IN" sz="1300" dirty="0">
                <a:hlinkClick r:id="rId22"/>
              </a:rPr>
              <a:t> Wikipedia</a:t>
            </a:r>
            <a:r>
              <a:rPr lang="en-IN" sz="1300" dirty="0"/>
              <a:t> </a:t>
            </a:r>
            <a:r>
              <a:rPr lang="en-IN" sz="1300" kern="0" spc="-80" dirty="0">
                <a:solidFill>
                  <a:schemeClr val="accent6"/>
                </a:solidFill>
              </a:rPr>
              <a:t>(another you can add here is [Data] Lineage)</a:t>
            </a:r>
          </a:p>
          <a:p>
            <a:pPr marL="12700" marR="5080"/>
            <a:r>
              <a:rPr lang="en-IN" sz="1300" dirty="0">
                <a:hlinkClick r:id="rId23"/>
              </a:rPr>
              <a:t>Data Quality Fundamentals[Book]</a:t>
            </a:r>
            <a:endParaRPr lang="en-IN" sz="1300" dirty="0"/>
          </a:p>
          <a:p>
            <a:pPr marL="12700" marR="5080"/>
            <a:r>
              <a:rPr lang="en-IN" sz="1300" dirty="0">
                <a:hlinkClick r:id="rId24"/>
              </a:rPr>
              <a:t>Data Governance Handbook | Data | Print</a:t>
            </a:r>
            <a:endParaRPr lang="en-IN" sz="1300" dirty="0"/>
          </a:p>
          <a:p>
            <a:pPr marL="12700" marR="5080"/>
            <a:r>
              <a:rPr lang="en-IN" sz="1300" dirty="0">
                <a:hlinkClick r:id="rId25"/>
              </a:rPr>
              <a:t>Data Contracts[Book]</a:t>
            </a:r>
            <a:endParaRPr lang="en-IN" sz="1300" dirty="0"/>
          </a:p>
          <a:p>
            <a:pPr marL="12700" marR="5080"/>
            <a:r>
              <a:rPr lang="en-IN" sz="1300" dirty="0">
                <a:hlinkClick r:id="rId26"/>
              </a:rPr>
              <a:t>The data contracts book</a:t>
            </a:r>
            <a:endParaRPr lang="en-IN" sz="1300" dirty="0"/>
          </a:p>
          <a:p>
            <a:pPr marL="12700" marR="5080"/>
            <a:r>
              <a:rPr lang="en-IN" sz="1300" dirty="0">
                <a:hlinkClick r:id="rId27"/>
              </a:rPr>
              <a:t>Apache Hudi vs Delta Lake vs Apache Iceberg - Data Lakehouse Feature Comparison</a:t>
            </a:r>
            <a:endParaRPr lang="en-IN" sz="1300" dirty="0"/>
          </a:p>
          <a:p>
            <a:pPr marL="12700" marR="5080"/>
            <a:r>
              <a:rPr lang="en-US" sz="1300" dirty="0">
                <a:hlinkClick r:id="rId28"/>
              </a:rPr>
              <a:t>Druid vs Pinot: Choosing the best database for Real-Time Analytics </a:t>
            </a:r>
            <a:r>
              <a:rPr lang="en-US" sz="1300" dirty="0">
                <a:hlinkClick r:id="rId29"/>
              </a:rPr>
              <a:t>–</a:t>
            </a:r>
            <a:r>
              <a:rPr lang="en-US" sz="1300" dirty="0">
                <a:hlinkClick r:id="rId28"/>
              </a:rPr>
              <a:t> Imply</a:t>
            </a:r>
            <a:endParaRPr lang="en-US" sz="1300" dirty="0"/>
          </a:p>
          <a:p>
            <a:pPr marL="12700" marR="5080"/>
            <a:r>
              <a:rPr lang="en-US" sz="1300" dirty="0">
                <a:hlinkClick r:id="rId29"/>
              </a:rPr>
              <a:t>Featured | Isha Rani | LinkedIn</a:t>
            </a:r>
            <a:endParaRPr lang="en-US" sz="1300" dirty="0"/>
          </a:p>
          <a:p>
            <a:pPr marL="12700" marR="5080"/>
            <a:r>
              <a:rPr lang="en-US" sz="1300" dirty="0">
                <a:hlinkClick r:id="rId30"/>
              </a:rPr>
              <a:t>Learn Data Engineering From These GitHub Repositories </a:t>
            </a:r>
            <a:r>
              <a:rPr lang="en-US" sz="1300" dirty="0">
                <a:hlinkClick r:id="rId31"/>
              </a:rPr>
              <a:t>–</a:t>
            </a:r>
            <a:r>
              <a:rPr lang="en-US" sz="1300" dirty="0">
                <a:hlinkClick r:id="rId30"/>
              </a:rPr>
              <a:t> </a:t>
            </a:r>
            <a:r>
              <a:rPr lang="en-US" sz="1300" dirty="0" err="1">
                <a:hlinkClick r:id="rId30"/>
              </a:rPr>
              <a:t>K</a:t>
            </a:r>
            <a:r>
              <a:rPr lang="en-US" sz="1300" dirty="0" err="1">
                <a:hlinkClick r:id="rId31"/>
              </a:rPr>
              <a:t>d</a:t>
            </a:r>
            <a:r>
              <a:rPr lang="en-US" sz="1300" dirty="0" err="1">
                <a:hlinkClick r:id="rId30"/>
              </a:rPr>
              <a:t>nuggets</a:t>
            </a:r>
            <a:endParaRPr lang="en-US" sz="1300" dirty="0"/>
          </a:p>
          <a:p>
            <a:pPr marL="12700" marR="5080"/>
            <a:r>
              <a:rPr lang="en-US" sz="1300" dirty="0">
                <a:hlinkClick r:id="rId32"/>
              </a:rPr>
              <a:t>Awesome-Stream-Processing</a:t>
            </a:r>
            <a:endParaRPr lang="en-US" sz="1300" dirty="0"/>
          </a:p>
          <a:p>
            <a:pPr marL="12700" marR="5080"/>
            <a:r>
              <a:rPr lang="en-US" sz="1300" dirty="0">
                <a:hlinkClick r:id="rId33"/>
              </a:rPr>
              <a:t>Awesome-Streaming</a:t>
            </a:r>
            <a:endParaRPr lang="en-US" sz="1300" dirty="0"/>
          </a:p>
          <a:p>
            <a:pPr marL="12700" marR="5080"/>
            <a:endParaRPr lang="en-IN" sz="1200" kern="0" spc="-80" dirty="0">
              <a:solidFill>
                <a:schemeClr val="accent6"/>
              </a:solidFill>
            </a:endParaRPr>
          </a:p>
          <a:p>
            <a:pPr marL="12700" marR="5080"/>
            <a:r>
              <a:rPr lang="en-IN" sz="1200" dirty="0">
                <a:hlinkClick r:id="rId23"/>
              </a:rPr>
              <a:t>  </a:t>
            </a:r>
            <a:endParaRPr lang="en-US" sz="120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91967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1993105"/>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1B4CEA18-FADB-D7B1-02C5-AE064C5B5FAF}"/>
              </a:ext>
            </a:extLst>
          </p:cNvPr>
          <p:cNvSpPr txBox="1">
            <a:spLocks/>
          </p:cNvSpPr>
          <p:nvPr/>
        </p:nvSpPr>
        <p:spPr>
          <a:xfrm>
            <a:off x="-37641" y="3704272"/>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9"/>
              </a:rPr>
              <a:t>Workflow Patterns Home Page</a:t>
            </a:r>
            <a:endParaRPr lang="en-IN" sz="1100" dirty="0"/>
          </a:p>
          <a:p>
            <a:pPr marL="12700" marR="5080"/>
            <a:r>
              <a:rPr lang="en-US" sz="1100" dirty="0">
                <a:hlinkClick r:id="rId10"/>
              </a:rPr>
              <a:t>Awesome-Workflow-Engines:</a:t>
            </a:r>
            <a:endParaRPr lang="en-US" sz="1100" dirty="0"/>
          </a:p>
          <a:p>
            <a:pPr marL="12700" marR="5080"/>
            <a:r>
              <a:rPr lang="en-US" sz="1100" kern="0" spc="-80" dirty="0">
                <a:solidFill>
                  <a:schemeClr val="accent2"/>
                </a:solidFill>
              </a:rPr>
              <a:t> </a:t>
            </a:r>
            <a:r>
              <a:rPr lang="en-IN" sz="1100" dirty="0">
                <a:hlinkClick r:id="rId11"/>
              </a:rPr>
              <a:t>GeneratingRestAPIsWithProcessAndDataModel.pdf</a:t>
            </a:r>
            <a:endParaRPr lang="en-IN" sz="1100" dirty="0"/>
          </a:p>
          <a:p>
            <a:pPr marL="12700" marR="5080"/>
            <a:r>
              <a:rPr lang="en-US" sz="1100" kern="0" spc="-80" dirty="0">
                <a:solidFill>
                  <a:schemeClr val="accent2"/>
                </a:solidFill>
              </a:rPr>
              <a:t> </a:t>
            </a:r>
            <a:r>
              <a:rPr lang="en-IN" sz="1100" dirty="0">
                <a:hlinkClick r:id="rId12"/>
              </a:rPr>
              <a:t>Bernd </a:t>
            </a:r>
            <a:r>
              <a:rPr lang="en-IN" sz="1100" dirty="0" err="1">
                <a:hlinkClick r:id="rId12"/>
              </a:rPr>
              <a:t>Ruecker</a:t>
            </a:r>
            <a:r>
              <a:rPr lang="en-IN" sz="1100" dirty="0">
                <a:hlinkClick r:id="rId12"/>
              </a:rPr>
              <a:t> Books</a:t>
            </a:r>
            <a:endParaRPr lang="en-IN" sz="1100" dirty="0"/>
          </a:p>
          <a:p>
            <a:pPr marL="12700" marR="5080"/>
            <a:r>
              <a:rPr lang="en-US" sz="1100" kern="0" spc="-80" dirty="0">
                <a:solidFill>
                  <a:schemeClr val="accent2"/>
                </a:solidFill>
              </a:rPr>
              <a:t> </a:t>
            </a:r>
            <a:r>
              <a:rPr lang="en-US" sz="1100" dirty="0">
                <a:hlinkClick r:id="rId13"/>
              </a:rPr>
              <a:t>Windows Workflow Foundation for </a:t>
            </a:r>
            <a:r>
              <a:rPr lang="en-US" sz="1100" dirty="0" err="1">
                <a:hlinkClick r:id="rId13"/>
              </a:rPr>
              <a:t>.net</a:t>
            </a:r>
            <a:r>
              <a:rPr lang="en-US" sz="1100" dirty="0">
                <a:hlinkClick r:id="rId13"/>
              </a:rPr>
              <a:t> Core - Stack Overflow</a:t>
            </a:r>
            <a:endParaRPr lang="en-US" sz="1100" dirty="0"/>
          </a:p>
          <a:p>
            <a:pPr marL="12700" marR="5080"/>
            <a:r>
              <a:rPr lang="en-US" sz="1100" kern="0" spc="-80" dirty="0">
                <a:solidFill>
                  <a:schemeClr val="accent2"/>
                </a:solidFill>
              </a:rPr>
              <a:t> </a:t>
            </a:r>
            <a:r>
              <a:rPr lang="en-US" sz="1100" dirty="0">
                <a:hlinkClick r:id="rId14"/>
              </a:rPr>
              <a:t>Rehosted-Workflow-</a:t>
            </a:r>
            <a:r>
              <a:rPr lang="en-US" sz="1100" dirty="0" err="1">
                <a:hlinkClick r:id="rId14"/>
              </a:rPr>
              <a:t>Designe</a:t>
            </a:r>
            <a:endParaRPr lang="en-US" sz="1100" dirty="0"/>
          </a:p>
          <a:p>
            <a:pPr marL="12700" marR="5080"/>
            <a:r>
              <a:rPr lang="en-US" sz="1100" dirty="0"/>
              <a:t> </a:t>
            </a:r>
            <a:r>
              <a:rPr lang="en-US" sz="1100" dirty="0">
                <a:hlinkClick r:id="rId15"/>
              </a:rPr>
              <a:t>.NET &amp; .NET Core Workflow Engine, Workflow Server</a:t>
            </a:r>
            <a:r>
              <a:rPr lang="en-US" sz="1100" kern="0" spc="-80" dirty="0">
                <a:solidFill>
                  <a:schemeClr val="accent2"/>
                </a:solidFill>
              </a:rPr>
              <a:t> &amp; </a:t>
            </a:r>
            <a:r>
              <a:rPr lang="en-US" sz="1100" dirty="0">
                <a:hlinkClick r:id="rId16"/>
              </a:rPr>
              <a:t>Elsa-workflows</a:t>
            </a:r>
            <a:endParaRPr lang="en-US" sz="1100" dirty="0"/>
          </a:p>
          <a:p>
            <a:pPr marL="12700" marR="5080"/>
            <a:r>
              <a:rPr lang="en-US" sz="1100" kern="0" spc="-80" dirty="0">
                <a:solidFill>
                  <a:schemeClr val="accent2"/>
                </a:solidFill>
              </a:rPr>
              <a:t> </a:t>
            </a:r>
            <a:r>
              <a:rPr lang="en-IN" sz="1100" dirty="0">
                <a:hlinkClick r:id="rId17"/>
              </a:rPr>
              <a:t>Orchestration vs Choreography</a:t>
            </a:r>
            <a:endParaRPr lang="en-IN" sz="1100" dirty="0"/>
          </a:p>
          <a:p>
            <a:pPr marL="12700" marR="5080"/>
            <a:r>
              <a:rPr lang="en-IN" sz="1100" dirty="0"/>
              <a:t> </a:t>
            </a:r>
            <a:r>
              <a:rPr lang="en-US" sz="1100" dirty="0">
                <a:hlinkClick r:id="rId18"/>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9"/>
              </a:rPr>
              <a:t>Orchestration Graphs</a:t>
            </a:r>
            <a:endParaRPr lang="en-IN" sz="1100" dirty="0"/>
          </a:p>
          <a:p>
            <a:pPr marL="12700" marR="5080"/>
            <a:r>
              <a:rPr lang="en-US" sz="1100" kern="0" spc="-80" dirty="0">
                <a:solidFill>
                  <a:schemeClr val="accent2"/>
                </a:solidFill>
              </a:rPr>
              <a:t> </a:t>
            </a:r>
            <a:r>
              <a:rPr lang="en-US" sz="1100" dirty="0">
                <a:hlinkClick r:id="rId20"/>
              </a:rPr>
              <a:t>Orchestrating ELT in Airflow: Scheduling vs. Orchestrating</a:t>
            </a:r>
            <a:endParaRPr lang="en-US" sz="1100" dirty="0"/>
          </a:p>
          <a:p>
            <a:pPr marL="12700" marR="5080"/>
            <a:r>
              <a:rPr lang="en-US" sz="1100" dirty="0">
                <a:hlinkClick r:id="rId21"/>
              </a:rPr>
              <a:t> Workflow Engines Comparisons - </a:t>
            </a:r>
            <a:r>
              <a:rPr lang="en-US" sz="1100" dirty="0" err="1">
                <a:hlinkClick r:id="rId21"/>
              </a:rPr>
              <a:t>Whats</a:t>
            </a:r>
            <a:r>
              <a:rPr lang="en-US" sz="1100" dirty="0">
                <a:hlinkClick r:id="rId21"/>
              </a:rPr>
              <a:t> the best workflow Orchestration</a:t>
            </a:r>
            <a:endParaRPr lang="en-US" sz="1100" kern="0" spc="-80" dirty="0">
              <a:solidFill>
                <a:schemeClr val="accent2"/>
              </a:solidFill>
            </a:endParaRP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260013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extLst>
              <p:ext uri="{D42A27DB-BD31-4B8C-83A1-F6EECF244321}">
                <p14:modId xmlns:p14="http://schemas.microsoft.com/office/powerpoint/2010/main" val="101113294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840838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78E88-DCF1-BB93-DE9E-9B79348970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EAD98-9D94-A0E4-6F41-77F87FFFB0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0326FE-3087-E916-ED09-62675098FB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A8DE1F-8F3F-342F-E11A-3CF0BBC5B0DF}"/>
              </a:ext>
            </a:extLst>
          </p:cNvPr>
          <p:cNvGraphicFramePr/>
          <p:nvPr>
            <p:extLst>
              <p:ext uri="{D42A27DB-BD31-4B8C-83A1-F6EECF244321}">
                <p14:modId xmlns:p14="http://schemas.microsoft.com/office/powerpoint/2010/main" val="42533094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90F62-6429-027D-5BF1-1CBAEDC61E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50307-2056-94A9-CC5A-E6FE3D473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F883F0-3495-15E4-4843-B2EE14970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4D569D7-AD08-D736-4539-AC4FFCE1BA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03AC2F-F37C-4F53-E805-970B28E99FA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5F432B21-17BF-3810-3E50-61623633C21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D1349D3B-6780-5717-EFE4-C4B235700D27}"/>
              </a:ext>
            </a:extLst>
          </p:cNvPr>
          <p:cNvSpPr txBox="1">
            <a:spLocks/>
          </p:cNvSpPr>
          <p:nvPr/>
        </p:nvSpPr>
        <p:spPr>
          <a:xfrm>
            <a:off x="83368" y="755809"/>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8"/>
              </a:rPr>
              <a:t>Workflow Patterns Home Page</a:t>
            </a:r>
            <a:endParaRPr lang="en-IN" sz="1100" dirty="0"/>
          </a:p>
          <a:p>
            <a:pPr marL="12700" marR="5080"/>
            <a:r>
              <a:rPr lang="en-US" sz="1100" dirty="0">
                <a:hlinkClick r:id="rId9"/>
              </a:rPr>
              <a:t>Awesome-Workflow-Engines:</a:t>
            </a:r>
            <a:endParaRPr lang="en-US" sz="1100" dirty="0"/>
          </a:p>
          <a:p>
            <a:pPr marL="12700" marR="5080"/>
            <a:r>
              <a:rPr lang="en-US" sz="1100" kern="0" spc="-80" dirty="0">
                <a:solidFill>
                  <a:schemeClr val="accent2"/>
                </a:solidFill>
              </a:rPr>
              <a:t> </a:t>
            </a:r>
            <a:r>
              <a:rPr lang="en-IN" sz="1100" dirty="0">
                <a:hlinkClick r:id="rId10"/>
              </a:rPr>
              <a:t>GeneratingRestAPIsWithProcessAndDataModel.pdf</a:t>
            </a:r>
            <a:endParaRPr lang="en-IN" sz="1100" dirty="0"/>
          </a:p>
          <a:p>
            <a:pPr marL="12700" marR="5080"/>
            <a:r>
              <a:rPr lang="en-US" sz="1100" kern="0" spc="-80" dirty="0">
                <a:solidFill>
                  <a:schemeClr val="accent2"/>
                </a:solidFill>
              </a:rPr>
              <a:t> </a:t>
            </a:r>
            <a:r>
              <a:rPr lang="en-IN" sz="1100" dirty="0">
                <a:hlinkClick r:id="rId11"/>
              </a:rPr>
              <a:t>Bernd Ruecker Books</a:t>
            </a:r>
            <a:endParaRPr lang="en-IN" sz="1100" dirty="0"/>
          </a:p>
          <a:p>
            <a:pPr marL="12700" marR="5080"/>
            <a:r>
              <a:rPr lang="en-US" sz="1100" kern="0" spc="-80" dirty="0">
                <a:solidFill>
                  <a:schemeClr val="accent2"/>
                </a:solidFill>
              </a:rPr>
              <a:t> </a:t>
            </a:r>
            <a:r>
              <a:rPr lang="en-US" sz="1100" dirty="0">
                <a:hlinkClick r:id="rId12"/>
              </a:rPr>
              <a:t>Windows Workflow Foundation for </a:t>
            </a:r>
            <a:r>
              <a:rPr lang="en-US" sz="1100" dirty="0" err="1">
                <a:hlinkClick r:id="rId12"/>
              </a:rPr>
              <a:t>.net</a:t>
            </a:r>
            <a:r>
              <a:rPr lang="en-US" sz="1100" dirty="0">
                <a:hlinkClick r:id="rId12"/>
              </a:rPr>
              <a:t> Core - Stack Overflow</a:t>
            </a:r>
            <a:endParaRPr lang="en-US" sz="1100" dirty="0"/>
          </a:p>
          <a:p>
            <a:pPr marL="12700" marR="5080"/>
            <a:r>
              <a:rPr lang="en-US" sz="1100" kern="0" spc="-80" dirty="0">
                <a:solidFill>
                  <a:schemeClr val="accent2"/>
                </a:solidFill>
              </a:rPr>
              <a:t> </a:t>
            </a:r>
            <a:r>
              <a:rPr lang="en-US" sz="1100" dirty="0">
                <a:hlinkClick r:id="rId13"/>
              </a:rPr>
              <a:t>Rehosted-Workflow-</a:t>
            </a:r>
            <a:r>
              <a:rPr lang="en-US" sz="1100" dirty="0" err="1">
                <a:hlinkClick r:id="rId13"/>
              </a:rPr>
              <a:t>Designe</a:t>
            </a:r>
            <a:endParaRPr lang="en-US" sz="1100" dirty="0"/>
          </a:p>
          <a:p>
            <a:pPr marL="12700" marR="5080"/>
            <a:r>
              <a:rPr lang="en-US" sz="1100" dirty="0"/>
              <a:t> </a:t>
            </a:r>
            <a:r>
              <a:rPr lang="en-US" sz="1100" dirty="0">
                <a:hlinkClick r:id="rId14"/>
              </a:rPr>
              <a:t>.NET &amp; .NET Core Workflow Engine, Workflow Server</a:t>
            </a:r>
            <a:r>
              <a:rPr lang="en-US" sz="1100" kern="0" spc="-80" dirty="0">
                <a:solidFill>
                  <a:schemeClr val="accent2"/>
                </a:solidFill>
              </a:rPr>
              <a:t> &amp; </a:t>
            </a:r>
            <a:r>
              <a:rPr lang="en-US" sz="1100" dirty="0">
                <a:hlinkClick r:id="rId15"/>
              </a:rPr>
              <a:t>Elsa-workflows</a:t>
            </a:r>
            <a:endParaRPr lang="en-US" sz="1100" dirty="0"/>
          </a:p>
          <a:p>
            <a:pPr marL="12700" marR="5080"/>
            <a:r>
              <a:rPr lang="en-US" sz="1100" kern="0" spc="-80" dirty="0">
                <a:solidFill>
                  <a:schemeClr val="accent2"/>
                </a:solidFill>
              </a:rPr>
              <a:t> </a:t>
            </a:r>
            <a:r>
              <a:rPr lang="en-IN" sz="1100" dirty="0">
                <a:hlinkClick r:id="rId16"/>
              </a:rPr>
              <a:t>Orchestration vs Choreography</a:t>
            </a:r>
            <a:endParaRPr lang="en-IN" sz="1100" dirty="0"/>
          </a:p>
          <a:p>
            <a:pPr marL="12700" marR="5080"/>
            <a:r>
              <a:rPr lang="en-IN" sz="1100" dirty="0"/>
              <a:t> </a:t>
            </a:r>
            <a:r>
              <a:rPr lang="en-US" sz="1100" dirty="0">
                <a:hlinkClick r:id="rId17"/>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8"/>
              </a:rPr>
              <a:t>Orchestration Graphs</a:t>
            </a:r>
            <a:endParaRPr lang="en-IN" sz="1100" dirty="0"/>
          </a:p>
          <a:p>
            <a:pPr marL="12700" marR="5080"/>
            <a:r>
              <a:rPr lang="en-US" sz="1100" kern="0" spc="-80" dirty="0">
                <a:solidFill>
                  <a:schemeClr val="accent2"/>
                </a:solidFill>
              </a:rPr>
              <a:t> </a:t>
            </a:r>
            <a:r>
              <a:rPr lang="en-US" sz="1100" dirty="0">
                <a:hlinkClick r:id="rId19"/>
              </a:rPr>
              <a:t>Orchestrating ELT in Airflow: Scheduling vs. Orchestrating</a:t>
            </a:r>
            <a:endParaRPr lang="en-US" sz="1100" dirty="0"/>
          </a:p>
          <a:p>
            <a:pPr marL="12700" marR="5080"/>
            <a:r>
              <a:rPr lang="en-US" sz="1100" dirty="0">
                <a:hlinkClick r:id="rId20"/>
              </a:rPr>
              <a:t> Workflow Engines Comparisons - </a:t>
            </a:r>
            <a:r>
              <a:rPr lang="en-US" sz="1100" dirty="0" err="1">
                <a:hlinkClick r:id="rId20"/>
              </a:rPr>
              <a:t>Whats</a:t>
            </a:r>
            <a:r>
              <a:rPr lang="en-US" sz="1100" dirty="0">
                <a:hlinkClick r:id="rId20"/>
              </a:rPr>
              <a:t> the best workflow Orchestration</a:t>
            </a:r>
            <a:endParaRPr lang="en-US" sz="1100" kern="0" spc="-80" dirty="0">
              <a:solidFill>
                <a:schemeClr val="accent2"/>
              </a:solidFill>
            </a:endParaRPr>
          </a:p>
        </p:txBody>
      </p:sp>
    </p:spTree>
    <p:extLst>
      <p:ext uri="{BB962C8B-B14F-4D97-AF65-F5344CB8AC3E}">
        <p14:creationId xmlns:p14="http://schemas.microsoft.com/office/powerpoint/2010/main" val="380382900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EF22-1236-A305-7431-45AB0F5A9D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299413-C406-9009-74FE-ED1E6F020D18}"/>
              </a:ext>
            </a:extLst>
          </p:cNvPr>
          <p:cNvSpPr/>
          <p:nvPr/>
        </p:nvSpPr>
        <p:spPr>
          <a:xfrm>
            <a:off x="1717040"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57840D-DBA7-D6EB-2225-67AC8585362B}"/>
              </a:ext>
            </a:extLst>
          </p:cNvPr>
          <p:cNvSpPr/>
          <p:nvPr/>
        </p:nvSpPr>
        <p:spPr>
          <a:xfrm>
            <a:off x="1726565" y="89434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2FDBDB-99B7-C4DD-AD1E-61F4201A2B1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5ACF8A-7868-A908-49B6-8593F013FC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89012F-C790-3705-059E-74CDB5435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27220F-1B38-A2DC-22E9-BC34F70283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9B03B9-21CB-C3F4-A0A3-6135106A8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2EAB8-4FC6-B048-DE97-B6E791CE5D4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A680E60-C06E-00BE-A458-8405FC62A491}"/>
              </a:ext>
            </a:extLst>
          </p:cNvPr>
          <p:cNvSpPr txBox="1">
            <a:spLocks/>
          </p:cNvSpPr>
          <p:nvPr/>
        </p:nvSpPr>
        <p:spPr>
          <a:xfrm>
            <a:off x="76201"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1. What is Blockchain?</a:t>
            </a:r>
          </a:p>
          <a:p>
            <a:r>
              <a:rPr lang="en-US" sz="1600" kern="0" spc="-80" dirty="0">
                <a:solidFill>
                  <a:schemeClr val="accent6"/>
                </a:solidFill>
              </a:rPr>
              <a:t>A blockchain is a distributed, decentralized digital ledger that records transactions in a secure, transparent, and immutable way.</a:t>
            </a:r>
          </a:p>
          <a:p>
            <a:r>
              <a:rPr lang="en-US" sz="1600" kern="0" spc="-80" dirty="0">
                <a:solidFill>
                  <a:schemeClr val="accent2"/>
                </a:solidFill>
              </a:rPr>
              <a:t>Key characteristics:</a:t>
            </a:r>
          </a:p>
          <a:p>
            <a:r>
              <a:rPr lang="en-US" sz="1600" kern="0" spc="-80" dirty="0">
                <a:solidFill>
                  <a:schemeClr val="accent2"/>
                </a:solidFill>
              </a:rPr>
              <a:t>Decentralization:</a:t>
            </a:r>
            <a:r>
              <a:rPr lang="en-US" sz="1600" kern="0" spc="-80" dirty="0">
                <a:solidFill>
                  <a:schemeClr val="accent6"/>
                </a:solidFill>
              </a:rPr>
              <a:t> No single authority controls it. Every participant (node) maintains a copy of the ledger.</a:t>
            </a:r>
          </a:p>
          <a:p>
            <a:r>
              <a:rPr lang="en-US" sz="1600" kern="0" spc="-80" dirty="0">
                <a:solidFill>
                  <a:schemeClr val="accent2"/>
                </a:solidFill>
              </a:rPr>
              <a:t>Immutability: </a:t>
            </a:r>
            <a:r>
              <a:rPr lang="en-US" sz="1600" kern="0" spc="-80" dirty="0">
                <a:solidFill>
                  <a:schemeClr val="accent6"/>
                </a:solidFill>
              </a:rPr>
              <a:t>Once data is written into a block and added to the chain, it cannot be altered without network consensus.</a:t>
            </a:r>
          </a:p>
          <a:p>
            <a:r>
              <a:rPr lang="en-US" sz="1600" kern="0" spc="-80" dirty="0">
                <a:solidFill>
                  <a:schemeClr val="accent2"/>
                </a:solidFill>
              </a:rPr>
              <a:t>Transparency: </a:t>
            </a:r>
            <a:r>
              <a:rPr lang="en-US" sz="1600" kern="0" spc="-80" dirty="0">
                <a:solidFill>
                  <a:schemeClr val="accent6"/>
                </a:solidFill>
              </a:rPr>
              <a:t>Transactions are visible to all participants (in public blockchains).</a:t>
            </a:r>
          </a:p>
          <a:p>
            <a:r>
              <a:rPr lang="en-US" sz="1600" kern="0" spc="-80" dirty="0">
                <a:solidFill>
                  <a:schemeClr val="accent2"/>
                </a:solidFill>
              </a:rPr>
              <a:t>Security:</a:t>
            </a:r>
            <a:r>
              <a:rPr lang="en-US" sz="1600" kern="0" spc="-80" dirty="0">
                <a:solidFill>
                  <a:schemeClr val="accent6"/>
                </a:solidFill>
              </a:rPr>
              <a:t> Cryptography ensures authenticity, integrity, and non-repudiation.</a:t>
            </a:r>
          </a:p>
          <a:p>
            <a:r>
              <a:rPr lang="en-US" sz="1600" kern="0" spc="-80" dirty="0">
                <a:solidFill>
                  <a:schemeClr val="accent2"/>
                </a:solidFill>
              </a:rPr>
              <a:t>Analogy:</a:t>
            </a:r>
            <a:r>
              <a:rPr lang="en-US" sz="1600" kern="0" spc="-80" dirty="0">
                <a:solidFill>
                  <a:schemeClr val="accent6"/>
                </a:solidFill>
              </a:rPr>
              <a:t> Think of it as a Google Sheet shared among thousands of people worldwide. Everyone sees the same data, and no one can secretly change it.</a:t>
            </a:r>
          </a:p>
          <a:p>
            <a:endParaRPr lang="en-US" sz="1600" kern="0" spc="-80" dirty="0">
              <a:solidFill>
                <a:schemeClr val="accent6"/>
              </a:solidFill>
            </a:endParaRPr>
          </a:p>
          <a:p>
            <a:r>
              <a:rPr lang="en-US" sz="1600" kern="0" spc="-80" dirty="0">
                <a:solidFill>
                  <a:schemeClr val="accent2"/>
                </a:solidFill>
              </a:rPr>
              <a:t>2. Core Components of Blockchain</a:t>
            </a:r>
          </a:p>
          <a:p>
            <a:r>
              <a:rPr lang="en-US" sz="1600" kern="0" spc="-80" dirty="0">
                <a:solidFill>
                  <a:schemeClr val="accent2"/>
                </a:solidFill>
              </a:rPr>
              <a:t>2.1 Block</a:t>
            </a:r>
          </a:p>
          <a:p>
            <a:r>
              <a:rPr lang="en-US" sz="1600" kern="0" spc="-80" dirty="0">
                <a:solidFill>
                  <a:schemeClr val="accent6"/>
                </a:solidFill>
              </a:rPr>
              <a:t>A block is a unit of storage containing:</a:t>
            </a:r>
          </a:p>
          <a:p>
            <a:r>
              <a:rPr lang="en-US" sz="1600" kern="0" spc="-80" dirty="0">
                <a:solidFill>
                  <a:schemeClr val="accent2"/>
                </a:solidFill>
              </a:rPr>
              <a:t>Data/Transactions: </a:t>
            </a:r>
            <a:r>
              <a:rPr lang="en-US" sz="1600" kern="0" spc="-80" dirty="0">
                <a:solidFill>
                  <a:schemeClr val="accent6"/>
                </a:solidFill>
              </a:rPr>
              <a:t>Details of financial or non-financial transactions.</a:t>
            </a:r>
          </a:p>
          <a:p>
            <a:r>
              <a:rPr lang="en-US" sz="1600" kern="0" spc="-80" dirty="0">
                <a:solidFill>
                  <a:schemeClr val="accent2"/>
                </a:solidFill>
              </a:rPr>
              <a:t>Previous Hash:</a:t>
            </a:r>
            <a:r>
              <a:rPr lang="en-US" sz="1600" kern="0" spc="-80" dirty="0">
                <a:solidFill>
                  <a:schemeClr val="accent6"/>
                </a:solidFill>
              </a:rPr>
              <a:t> A cryptographic hash of the previous block (links blocks together).</a:t>
            </a:r>
          </a:p>
          <a:p>
            <a:r>
              <a:rPr lang="en-US" sz="1600" kern="0" spc="-80" dirty="0">
                <a:solidFill>
                  <a:schemeClr val="accent2"/>
                </a:solidFill>
              </a:rPr>
              <a:t>Current Hash: </a:t>
            </a:r>
            <a:r>
              <a:rPr lang="en-US" sz="1600" kern="0" spc="-80" dirty="0">
                <a:solidFill>
                  <a:schemeClr val="accent6"/>
                </a:solidFill>
              </a:rPr>
              <a:t>Unique identifier generated by hashing the block content.</a:t>
            </a:r>
          </a:p>
          <a:p>
            <a:r>
              <a:rPr lang="en-US" sz="1600" kern="0" spc="-80" dirty="0">
                <a:solidFill>
                  <a:schemeClr val="accent2"/>
                </a:solidFill>
              </a:rPr>
              <a:t>Timestamp:</a:t>
            </a:r>
            <a:r>
              <a:rPr lang="en-US" sz="1600" kern="0" spc="-80" dirty="0">
                <a:solidFill>
                  <a:schemeClr val="accent6"/>
                </a:solidFill>
              </a:rPr>
              <a:t> When the block was created.</a:t>
            </a:r>
          </a:p>
        </p:txBody>
      </p:sp>
    </p:spTree>
    <p:extLst>
      <p:ext uri="{BB962C8B-B14F-4D97-AF65-F5344CB8AC3E}">
        <p14:creationId xmlns:p14="http://schemas.microsoft.com/office/powerpoint/2010/main" val="382308234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096B6-4F05-6694-F801-A14224A367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4C57E-7E8B-2FAB-3915-3CE7610D89B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9DAADD-F399-121F-565B-9DBC6DBE89AF}"/>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2B7345-CBAF-8438-7B19-57BF654D9193}"/>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B0806F-828F-CBA4-ACBB-E801B04921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BB7D8-AF46-7022-772B-C1207F0EDB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B0B2FD-140A-1264-878A-E65A904296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0D92E6-46DB-D3A7-ECD1-970877FB62B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0BF5E0-AC6A-4A99-349B-F670C08B0B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5F16481-AAF7-157B-C12C-CC12F5025CDB}"/>
              </a:ext>
            </a:extLst>
          </p:cNvPr>
          <p:cNvSpPr txBox="1">
            <a:spLocks/>
          </p:cNvSpPr>
          <p:nvPr/>
        </p:nvSpPr>
        <p:spPr>
          <a:xfrm>
            <a:off x="138063" y="126783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Nonce: </a:t>
            </a:r>
            <a:r>
              <a:rPr lang="en-US" sz="1600" kern="0" spc="-80" dirty="0">
                <a:solidFill>
                  <a:schemeClr val="accent6"/>
                </a:solidFill>
              </a:rPr>
              <a:t>A number used for mining (proof of work).</a:t>
            </a:r>
          </a:p>
          <a:p>
            <a:endParaRPr lang="en-US" sz="1600" kern="0" spc="-80" dirty="0">
              <a:solidFill>
                <a:schemeClr val="accent6"/>
              </a:solidFill>
            </a:endParaRPr>
          </a:p>
          <a:p>
            <a:r>
              <a:rPr lang="en-US" sz="1600" kern="0" spc="-80" dirty="0">
                <a:solidFill>
                  <a:schemeClr val="accent2"/>
                </a:solidFill>
              </a:rPr>
              <a:t>2.2 Chain</a:t>
            </a:r>
          </a:p>
          <a:p>
            <a:r>
              <a:rPr lang="en-US" sz="1600" kern="0" spc="-80" dirty="0">
                <a:solidFill>
                  <a:schemeClr val="accent6"/>
                </a:solidFill>
              </a:rPr>
              <a:t>Blocks are linked in chronological order to form a chain. Tampering with one block breaks the chain, ensuring integrity.</a:t>
            </a:r>
          </a:p>
          <a:p>
            <a:endParaRPr lang="en-US" sz="1600" kern="0" spc="-80" dirty="0">
              <a:solidFill>
                <a:schemeClr val="accent6"/>
              </a:solidFill>
            </a:endParaRPr>
          </a:p>
          <a:p>
            <a:r>
              <a:rPr lang="en-US" sz="1600" kern="0" spc="-80" dirty="0">
                <a:solidFill>
                  <a:schemeClr val="accent2"/>
                </a:solidFill>
              </a:rPr>
              <a:t>2.3 Node</a:t>
            </a:r>
          </a:p>
          <a:p>
            <a:r>
              <a:rPr lang="en-US" sz="1600" kern="0" spc="-80" dirty="0">
                <a:solidFill>
                  <a:schemeClr val="accent6"/>
                </a:solidFill>
              </a:rPr>
              <a:t>A node is any computer connected to the blockchain network. Types of nodes:</a:t>
            </a:r>
          </a:p>
          <a:p>
            <a:r>
              <a:rPr lang="en-US" sz="1600" kern="0" spc="-80" dirty="0">
                <a:solidFill>
                  <a:schemeClr val="accent2"/>
                </a:solidFill>
              </a:rPr>
              <a:t>Full Node: </a:t>
            </a:r>
            <a:r>
              <a:rPr lang="en-US" sz="1600" kern="0" spc="-80" dirty="0">
                <a:solidFill>
                  <a:schemeClr val="accent6"/>
                </a:solidFill>
              </a:rPr>
              <a:t>Stores the entire blockchain.</a:t>
            </a:r>
          </a:p>
          <a:p>
            <a:r>
              <a:rPr lang="en-US" sz="1600" kern="0" spc="-80" dirty="0">
                <a:solidFill>
                  <a:schemeClr val="accent2"/>
                </a:solidFill>
              </a:rPr>
              <a:t>Lightweight Node (SPV):</a:t>
            </a:r>
            <a:r>
              <a:rPr lang="en-US" sz="1600" kern="0" spc="-80" dirty="0">
                <a:solidFill>
                  <a:schemeClr val="accent6"/>
                </a:solidFill>
              </a:rPr>
              <a:t> Stores only block headers.</a:t>
            </a:r>
          </a:p>
          <a:p>
            <a:r>
              <a:rPr lang="en-US" sz="1600" kern="0" spc="-80" dirty="0">
                <a:solidFill>
                  <a:schemeClr val="accent2"/>
                </a:solidFill>
              </a:rPr>
              <a:t>Validator Node:</a:t>
            </a:r>
            <a:r>
              <a:rPr lang="en-US" sz="1600" kern="0" spc="-80" dirty="0">
                <a:solidFill>
                  <a:schemeClr val="accent6"/>
                </a:solidFill>
              </a:rPr>
              <a:t> Verifies transactions and creates blocks.</a:t>
            </a:r>
          </a:p>
          <a:p>
            <a:endParaRPr lang="en-US" sz="1600" kern="0" spc="-80" dirty="0">
              <a:solidFill>
                <a:schemeClr val="accent6"/>
              </a:solidFill>
            </a:endParaRPr>
          </a:p>
          <a:p>
            <a:r>
              <a:rPr lang="en-US" sz="1600" kern="0" spc="-80" dirty="0">
                <a:solidFill>
                  <a:schemeClr val="accent2"/>
                </a:solidFill>
              </a:rPr>
              <a:t>2.4 Ledger</a:t>
            </a:r>
          </a:p>
          <a:p>
            <a:r>
              <a:rPr lang="en-US" sz="1600" kern="0" spc="-80" dirty="0">
                <a:solidFill>
                  <a:schemeClr val="accent6"/>
                </a:solidFill>
              </a:rPr>
              <a:t>The ledger is the complete record of all transactions. It can be:</a:t>
            </a:r>
          </a:p>
          <a:p>
            <a:r>
              <a:rPr lang="en-US" sz="1600" kern="0" spc="-80" dirty="0">
                <a:solidFill>
                  <a:schemeClr val="accent2"/>
                </a:solidFill>
              </a:rPr>
              <a:t>Public Ledger:</a:t>
            </a:r>
            <a:r>
              <a:rPr lang="en-US" sz="1600" kern="0" spc="-80" dirty="0">
                <a:solidFill>
                  <a:schemeClr val="accent6"/>
                </a:solidFill>
              </a:rPr>
              <a:t> Accessible to anyone (e.g., Bitcoin, Ethereum).</a:t>
            </a:r>
          </a:p>
          <a:p>
            <a:r>
              <a:rPr lang="en-US" sz="1600" kern="0" spc="-80" dirty="0">
                <a:solidFill>
                  <a:schemeClr val="accent2"/>
                </a:solidFill>
              </a:rPr>
              <a:t>Private Ledger: </a:t>
            </a:r>
            <a:r>
              <a:rPr lang="en-US" sz="1600" kern="0" spc="-80" dirty="0">
                <a:solidFill>
                  <a:schemeClr val="accent6"/>
                </a:solidFill>
              </a:rPr>
              <a:t>Restricted access (used in enterprises).</a:t>
            </a:r>
          </a:p>
          <a:p>
            <a:r>
              <a:rPr lang="en-US" sz="1600" kern="0" spc="-80" dirty="0">
                <a:solidFill>
                  <a:schemeClr val="accent2"/>
                </a:solidFill>
              </a:rPr>
              <a:t>Consortium Ledger: </a:t>
            </a:r>
            <a:r>
              <a:rPr lang="en-US" sz="1600" kern="0" spc="-80" dirty="0">
                <a:solidFill>
                  <a:schemeClr val="accent6"/>
                </a:solidFill>
              </a:rPr>
              <a:t>Shared among a group of organizations.</a:t>
            </a:r>
          </a:p>
          <a:p>
            <a:endParaRPr lang="en-US" sz="1600" kern="0" spc="-80" dirty="0">
              <a:solidFill>
                <a:schemeClr val="accent6"/>
              </a:solidFill>
            </a:endParaRPr>
          </a:p>
        </p:txBody>
      </p:sp>
    </p:spTree>
    <p:extLst>
      <p:ext uri="{BB962C8B-B14F-4D97-AF65-F5344CB8AC3E}">
        <p14:creationId xmlns:p14="http://schemas.microsoft.com/office/powerpoint/2010/main" val="1641684471"/>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F019-B93B-98F1-6E3F-DD7E83E141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28C214-DFC1-92F9-D6B5-6AD8F260AF6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ADCCC-3865-B9E7-EB39-DED15B530AC0}"/>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398EBF-6486-2DA5-CDA3-92D2F4E12CA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E0FBA-2F7F-94F9-6DDE-BAD43E290E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30BE48-F553-F466-5535-5D77F26677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5ECA7B-86F8-5DEA-EFAA-A9E0513A12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1A82AF-7F60-F614-BDA1-201BBC9D5F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9F88BC-16BD-8ED3-28B6-D8FD2A9E177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84B513A-EA89-8259-3069-9E13FD9F043E}"/>
              </a:ext>
            </a:extLst>
          </p:cNvPr>
          <p:cNvSpPr txBox="1">
            <a:spLocks/>
          </p:cNvSpPr>
          <p:nvPr/>
        </p:nvSpPr>
        <p:spPr>
          <a:xfrm>
            <a:off x="138063" y="1267831"/>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3. Blockchain Architecture</a:t>
            </a:r>
          </a:p>
          <a:p>
            <a:r>
              <a:rPr lang="en-US" sz="1600" kern="0" spc="-80" dirty="0">
                <a:solidFill>
                  <a:schemeClr val="accent2"/>
                </a:solidFill>
              </a:rPr>
              <a:t>3.1 Layers</a:t>
            </a:r>
          </a:p>
          <a:p>
            <a:r>
              <a:rPr lang="en-US" sz="1600" kern="0" spc="-80" dirty="0">
                <a:solidFill>
                  <a:schemeClr val="accent2"/>
                </a:solidFill>
              </a:rPr>
              <a:t>Application Layer: </a:t>
            </a:r>
            <a:r>
              <a:rPr lang="en-US" sz="1600" kern="0" spc="-80" dirty="0">
                <a:solidFill>
                  <a:schemeClr val="accent6"/>
                </a:solidFill>
              </a:rPr>
              <a:t>Interfaces and apps for users (wallets, DeFi apps, </a:t>
            </a:r>
            <a:r>
              <a:rPr lang="en-US" sz="1600" kern="0" spc="-80" dirty="0" err="1">
                <a:solidFill>
                  <a:schemeClr val="accent6"/>
                </a:solidFill>
              </a:rPr>
              <a:t>dApps</a:t>
            </a:r>
            <a:r>
              <a:rPr lang="en-US" sz="1600" kern="0" spc="-80" dirty="0">
                <a:solidFill>
                  <a:schemeClr val="accent6"/>
                </a:solidFill>
              </a:rPr>
              <a:t>).</a:t>
            </a:r>
          </a:p>
          <a:p>
            <a:r>
              <a:rPr lang="en-US" sz="1600" kern="0" spc="-80" dirty="0">
                <a:solidFill>
                  <a:schemeClr val="accent2"/>
                </a:solidFill>
              </a:rPr>
              <a:t>Contract Layer: </a:t>
            </a:r>
            <a:r>
              <a:rPr lang="en-US" sz="1600" kern="0" spc="-80" dirty="0">
                <a:solidFill>
                  <a:schemeClr val="accent6"/>
                </a:solidFill>
              </a:rPr>
              <a:t>Smart contracts (Ethereum) automate agreements.</a:t>
            </a:r>
          </a:p>
          <a:p>
            <a:r>
              <a:rPr lang="en-US" sz="1600" kern="0" spc="-80" dirty="0">
                <a:solidFill>
                  <a:schemeClr val="accent2"/>
                </a:solidFill>
              </a:rPr>
              <a:t>Consensus Layer: </a:t>
            </a:r>
            <a:r>
              <a:rPr lang="en-US" sz="1600" kern="0" spc="-80" dirty="0">
                <a:solidFill>
                  <a:schemeClr val="accent6"/>
                </a:solidFill>
              </a:rPr>
              <a:t>Ensures all nodes agree on the ledger state.</a:t>
            </a:r>
          </a:p>
          <a:p>
            <a:r>
              <a:rPr lang="en-US" sz="1600" kern="0" spc="-80" dirty="0">
                <a:solidFill>
                  <a:schemeClr val="accent2"/>
                </a:solidFill>
              </a:rPr>
              <a:t>Network Layer: </a:t>
            </a:r>
            <a:r>
              <a:rPr lang="en-US" sz="1600" kern="0" spc="-80" dirty="0">
                <a:solidFill>
                  <a:schemeClr val="accent6"/>
                </a:solidFill>
              </a:rPr>
              <a:t>Peer-to-peer network for communication.</a:t>
            </a:r>
          </a:p>
          <a:p>
            <a:r>
              <a:rPr lang="en-US" sz="1600" kern="0" spc="-80" dirty="0">
                <a:solidFill>
                  <a:schemeClr val="accent2"/>
                </a:solidFill>
              </a:rPr>
              <a:t>Data Layer: </a:t>
            </a:r>
            <a:r>
              <a:rPr lang="en-US" sz="1600" kern="0" spc="-80" dirty="0">
                <a:solidFill>
                  <a:schemeClr val="accent6"/>
                </a:solidFill>
              </a:rPr>
              <a:t>Stores the chain of blocks.</a:t>
            </a:r>
          </a:p>
          <a:p>
            <a:endParaRPr lang="en-US" sz="1600" kern="0" spc="-80" dirty="0">
              <a:solidFill>
                <a:schemeClr val="accent6"/>
              </a:solidFill>
            </a:endParaRPr>
          </a:p>
          <a:p>
            <a:r>
              <a:rPr lang="en-US" sz="1600" kern="0" spc="-80" dirty="0">
                <a:solidFill>
                  <a:schemeClr val="accent2"/>
                </a:solidFill>
              </a:rPr>
              <a:t>3.2 Types of Blockchain</a:t>
            </a:r>
          </a:p>
          <a:p>
            <a:r>
              <a:rPr lang="en-US" sz="1600" kern="0" spc="-80" dirty="0">
                <a:solidFill>
                  <a:schemeClr val="accent2"/>
                </a:solidFill>
              </a:rPr>
              <a:t>Public Blockchain: </a:t>
            </a:r>
            <a:r>
              <a:rPr lang="en-US" sz="1600" kern="0" spc="-80" dirty="0">
                <a:solidFill>
                  <a:schemeClr val="accent6"/>
                </a:solidFill>
              </a:rPr>
              <a:t>Open to anyone (Bitcoin, Ethereum).</a:t>
            </a:r>
          </a:p>
          <a:p>
            <a:r>
              <a:rPr lang="en-US" sz="1600" kern="0" spc="-80" dirty="0">
                <a:solidFill>
                  <a:schemeClr val="accent2"/>
                </a:solidFill>
              </a:rPr>
              <a:t>Private Blockchain: </a:t>
            </a:r>
            <a:r>
              <a:rPr lang="en-US" sz="1600" kern="0" spc="-80" dirty="0">
                <a:solidFill>
                  <a:schemeClr val="accent6"/>
                </a:solidFill>
              </a:rPr>
              <a:t>Restricted to certain participants (Hyperledger Fabric).</a:t>
            </a:r>
          </a:p>
          <a:p>
            <a:r>
              <a:rPr lang="en-US" sz="1600" kern="0" spc="-80" dirty="0">
                <a:solidFill>
                  <a:schemeClr val="accent2"/>
                </a:solidFill>
              </a:rPr>
              <a:t>Consortium Blockchain: </a:t>
            </a:r>
            <a:r>
              <a:rPr lang="en-US" sz="1600" kern="0" spc="-80" dirty="0">
                <a:solidFill>
                  <a:schemeClr val="accent6"/>
                </a:solidFill>
              </a:rPr>
              <a:t>Governed by a group (e.g., banks consortium).</a:t>
            </a:r>
          </a:p>
          <a:p>
            <a:r>
              <a:rPr lang="en-US" sz="1600" kern="0" spc="-80" dirty="0">
                <a:solidFill>
                  <a:schemeClr val="accent2"/>
                </a:solidFill>
              </a:rPr>
              <a:t>Hybrid Blockchain: </a:t>
            </a:r>
            <a:r>
              <a:rPr lang="en-US" sz="1600" kern="0" spc="-80" dirty="0">
                <a:solidFill>
                  <a:schemeClr val="accent6"/>
                </a:solidFill>
              </a:rPr>
              <a:t>Mix of public and private features.</a:t>
            </a:r>
          </a:p>
          <a:p>
            <a:endParaRPr lang="en-US" sz="1600" kern="0" spc="-80" dirty="0">
              <a:solidFill>
                <a:schemeClr val="accent6"/>
              </a:solidFill>
            </a:endParaRPr>
          </a:p>
          <a:p>
            <a:r>
              <a:rPr lang="en-US" sz="1600" kern="0" spc="-80" dirty="0">
                <a:solidFill>
                  <a:schemeClr val="accent2"/>
                </a:solidFill>
              </a:rPr>
              <a:t>4. Consensus Mechanisms</a:t>
            </a:r>
          </a:p>
          <a:p>
            <a:r>
              <a:rPr lang="en-US" sz="1600" kern="0" spc="-80" dirty="0">
                <a:solidFill>
                  <a:schemeClr val="accent6"/>
                </a:solidFill>
              </a:rPr>
              <a:t>Consensus ensures all nodes agree on the blockchain state. </a:t>
            </a:r>
          </a:p>
          <a:p>
            <a:r>
              <a:rPr lang="en-US" sz="1600" kern="0" spc="-80" dirty="0">
                <a:solidFill>
                  <a:schemeClr val="accent2"/>
                </a:solidFill>
              </a:rPr>
              <a:t>Main mechanisms:</a:t>
            </a:r>
          </a:p>
        </p:txBody>
      </p:sp>
    </p:spTree>
    <p:extLst>
      <p:ext uri="{BB962C8B-B14F-4D97-AF65-F5344CB8AC3E}">
        <p14:creationId xmlns:p14="http://schemas.microsoft.com/office/powerpoint/2010/main" val="278064639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63A7E-D9A7-7EC4-FDA1-34161B3867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DB31F3-2F62-76A4-816F-165035EFD9B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F86EB-15EA-62BB-269A-979BC4D3E12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F514D0-EB3E-6A72-0903-CA4508C085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413130-B92B-ED1A-3FC0-E276437640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80B1791-4C35-32F9-A5C9-9048EF86CF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A9B35B-6738-A205-7D9D-CD480E6016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5BBED1-DAEA-8EB2-4D2C-609E9256A4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45A4BB-F75B-9048-658D-07F6791CF1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43BA6E4-BF93-5B9C-F4F1-3B192ADB2375}"/>
              </a:ext>
            </a:extLst>
          </p:cNvPr>
          <p:cNvSpPr txBox="1">
            <a:spLocks/>
          </p:cNvSpPr>
          <p:nvPr/>
        </p:nvSpPr>
        <p:spPr>
          <a:xfrm>
            <a:off x="138063" y="1267831"/>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4.1 Proof of Work (PoW)</a:t>
            </a:r>
          </a:p>
          <a:p>
            <a:r>
              <a:rPr lang="en-US" sz="1600" kern="0" spc="-80" dirty="0">
                <a:solidFill>
                  <a:schemeClr val="accent6"/>
                </a:solidFill>
              </a:rPr>
              <a:t>Used by Bitcoin.</a:t>
            </a:r>
          </a:p>
          <a:p>
            <a:r>
              <a:rPr lang="en-US" sz="1600" kern="0" spc="-80" dirty="0">
                <a:solidFill>
                  <a:schemeClr val="accent6"/>
                </a:solidFill>
              </a:rPr>
              <a:t>Miners solve cryptographic puzzles.</a:t>
            </a:r>
          </a:p>
          <a:p>
            <a:r>
              <a:rPr lang="en-US" sz="1600" kern="0" spc="-80" dirty="0">
                <a:solidFill>
                  <a:schemeClr val="accent6"/>
                </a:solidFill>
              </a:rPr>
              <a:t>Energy-intensive but highly secure.</a:t>
            </a:r>
          </a:p>
          <a:p>
            <a:endParaRPr lang="en-US" sz="1600" kern="0" spc="-80" dirty="0">
              <a:solidFill>
                <a:schemeClr val="accent6"/>
              </a:solidFill>
            </a:endParaRPr>
          </a:p>
          <a:p>
            <a:r>
              <a:rPr lang="en-US" sz="1600" kern="0" spc="-80" dirty="0">
                <a:solidFill>
                  <a:schemeClr val="accent2"/>
                </a:solidFill>
              </a:rPr>
              <a:t>4.2 Proof of Stake (</a:t>
            </a:r>
            <a:r>
              <a:rPr lang="en-US" sz="1600" kern="0" spc="-80" dirty="0" err="1">
                <a:solidFill>
                  <a:schemeClr val="accent2"/>
                </a:solidFill>
              </a:rPr>
              <a:t>PoS</a:t>
            </a:r>
            <a:r>
              <a:rPr lang="en-US" sz="1600" kern="0" spc="-80" dirty="0">
                <a:solidFill>
                  <a:schemeClr val="accent2"/>
                </a:solidFill>
              </a:rPr>
              <a:t>)</a:t>
            </a:r>
          </a:p>
          <a:p>
            <a:r>
              <a:rPr lang="en-US" sz="1600" kern="0" spc="-80" dirty="0">
                <a:solidFill>
                  <a:schemeClr val="accent6"/>
                </a:solidFill>
              </a:rPr>
              <a:t>Validators stake cryptocurrency to validate blocks.</a:t>
            </a:r>
          </a:p>
          <a:p>
            <a:r>
              <a:rPr lang="en-US" sz="1600" kern="0" spc="-80" dirty="0">
                <a:solidFill>
                  <a:schemeClr val="accent6"/>
                </a:solidFill>
              </a:rPr>
              <a:t>Energy-efficient, rewards proportional to stake.</a:t>
            </a:r>
          </a:p>
          <a:p>
            <a:endParaRPr lang="en-US" sz="1600" kern="0" spc="-80" dirty="0">
              <a:solidFill>
                <a:schemeClr val="accent6"/>
              </a:solidFill>
            </a:endParaRPr>
          </a:p>
          <a:p>
            <a:r>
              <a:rPr lang="en-US" sz="1600" kern="0" spc="-80" dirty="0">
                <a:solidFill>
                  <a:schemeClr val="accent2"/>
                </a:solidFill>
              </a:rPr>
              <a:t>4.3 Delegated Proof of Stake (</a:t>
            </a:r>
            <a:r>
              <a:rPr lang="en-US" sz="1600" kern="0" spc="-80" dirty="0" err="1">
                <a:solidFill>
                  <a:schemeClr val="accent2"/>
                </a:solidFill>
              </a:rPr>
              <a:t>DPoS</a:t>
            </a:r>
            <a:r>
              <a:rPr lang="en-US" sz="1600" kern="0" spc="-80" dirty="0">
                <a:solidFill>
                  <a:schemeClr val="accent2"/>
                </a:solidFill>
              </a:rPr>
              <a:t>)</a:t>
            </a:r>
          </a:p>
          <a:p>
            <a:r>
              <a:rPr lang="en-US" sz="1600" kern="0" spc="-80" dirty="0">
                <a:solidFill>
                  <a:schemeClr val="accent6"/>
                </a:solidFill>
              </a:rPr>
              <a:t>Stakeholders elect delegates to validate transactions.</a:t>
            </a:r>
          </a:p>
          <a:p>
            <a:r>
              <a:rPr lang="en-US" sz="1600" kern="0" spc="-80" dirty="0">
                <a:solidFill>
                  <a:schemeClr val="accent6"/>
                </a:solidFill>
              </a:rPr>
              <a:t>Faster and scalable.</a:t>
            </a:r>
          </a:p>
          <a:p>
            <a:endParaRPr lang="en-US" sz="1600" kern="0" spc="-80" dirty="0">
              <a:solidFill>
                <a:schemeClr val="accent6"/>
              </a:solidFill>
            </a:endParaRPr>
          </a:p>
          <a:p>
            <a:r>
              <a:rPr lang="en-US" sz="1600" kern="0" spc="-80" dirty="0">
                <a:solidFill>
                  <a:schemeClr val="accent2"/>
                </a:solidFill>
              </a:rPr>
              <a:t>4.4 Practical Byzantine Fault Tolerance (PBFT)</a:t>
            </a:r>
          </a:p>
          <a:p>
            <a:r>
              <a:rPr lang="en-US" sz="1600" kern="0" spc="-80" dirty="0">
                <a:solidFill>
                  <a:schemeClr val="accent6"/>
                </a:solidFill>
              </a:rPr>
              <a:t>Used in private blockchains.</a:t>
            </a:r>
          </a:p>
          <a:p>
            <a:r>
              <a:rPr lang="en-US" sz="1600" kern="0" spc="-80" dirty="0">
                <a:solidFill>
                  <a:schemeClr val="accent6"/>
                </a:solidFill>
              </a:rPr>
              <a:t>Tolerates faulty or malicious nodes.</a:t>
            </a:r>
          </a:p>
          <a:p>
            <a:endParaRPr lang="en-US" sz="1600" kern="0" spc="-80" dirty="0">
              <a:solidFill>
                <a:schemeClr val="accent6"/>
              </a:solidFill>
            </a:endParaRPr>
          </a:p>
          <a:p>
            <a:r>
              <a:rPr lang="en-US" sz="1600" kern="0" spc="-80" dirty="0">
                <a:solidFill>
                  <a:schemeClr val="accent2"/>
                </a:solidFill>
              </a:rPr>
              <a:t>4.5 Other Mechanisms</a:t>
            </a:r>
          </a:p>
          <a:p>
            <a:r>
              <a:rPr lang="en-US" sz="1600" kern="0" spc="-80" dirty="0">
                <a:solidFill>
                  <a:schemeClr val="accent6"/>
                </a:solidFill>
              </a:rPr>
              <a:t>Proof of Authority (</a:t>
            </a:r>
            <a:r>
              <a:rPr lang="en-US" sz="1600" kern="0" spc="-80" dirty="0" err="1">
                <a:solidFill>
                  <a:schemeClr val="accent6"/>
                </a:solidFill>
              </a:rPr>
              <a:t>PoA</a:t>
            </a:r>
            <a:r>
              <a:rPr lang="en-US" sz="1600" kern="0" spc="-80" dirty="0">
                <a:solidFill>
                  <a:schemeClr val="accent6"/>
                </a:solidFill>
              </a:rPr>
              <a:t>), Proof of Elapsed Time (</a:t>
            </a:r>
            <a:r>
              <a:rPr lang="en-US" sz="1600" kern="0" spc="-80" dirty="0" err="1">
                <a:solidFill>
                  <a:schemeClr val="accent6"/>
                </a:solidFill>
              </a:rPr>
              <a:t>PoET</a:t>
            </a:r>
            <a:r>
              <a:rPr lang="en-US" sz="1600" kern="0" spc="-80" dirty="0">
                <a:solidFill>
                  <a:schemeClr val="accent6"/>
                </a:solidFill>
              </a:rPr>
              <a:t>), Hybrid models.</a:t>
            </a:r>
          </a:p>
          <a:p>
            <a:endParaRPr lang="en-US" sz="1600" kern="0" spc="-80" dirty="0">
              <a:solidFill>
                <a:schemeClr val="accent6"/>
              </a:solidFill>
            </a:endParaRPr>
          </a:p>
        </p:txBody>
      </p:sp>
    </p:spTree>
    <p:extLst>
      <p:ext uri="{BB962C8B-B14F-4D97-AF65-F5344CB8AC3E}">
        <p14:creationId xmlns:p14="http://schemas.microsoft.com/office/powerpoint/2010/main" val="25934852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0658-9076-B96B-E2B8-F6CD1F31A6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5E586A-D37A-69B9-8733-1BBCD0D05C9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AB60B0-FBA7-71B8-7A0B-C75211BED35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E57B26-D6E9-A005-0BD4-D7389A093CD0}"/>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CE6D72-82CA-89B6-230C-C8DD2324AE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3E3001-20CD-34F7-2767-5B79963672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47445B-2B58-DEAB-B8CE-6C8C29E52C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856D7E-6C0A-DA95-76AF-9103FE59E04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28A27EA-EDDC-95FA-77EC-CDBF12625E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A153625-3CE1-BDB9-0D7A-0F553697F36F}"/>
              </a:ext>
            </a:extLst>
          </p:cNvPr>
          <p:cNvSpPr txBox="1">
            <a:spLocks/>
          </p:cNvSpPr>
          <p:nvPr/>
        </p:nvSpPr>
        <p:spPr>
          <a:xfrm>
            <a:off x="76201" y="1158716"/>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80" kern="0" spc="-80" dirty="0">
                <a:solidFill>
                  <a:schemeClr val="accent2"/>
                </a:solidFill>
              </a:rPr>
              <a:t>5. Smart Contracts</a:t>
            </a:r>
          </a:p>
          <a:p>
            <a:r>
              <a:rPr lang="en-US" sz="1580" kern="0" spc="-80" dirty="0">
                <a:solidFill>
                  <a:schemeClr val="accent2"/>
                </a:solidFill>
              </a:rPr>
              <a:t>Definition: </a:t>
            </a:r>
            <a:r>
              <a:rPr lang="en-US" sz="1580" kern="0" spc="-80" dirty="0">
                <a:solidFill>
                  <a:schemeClr val="accent6"/>
                </a:solidFill>
              </a:rPr>
              <a:t>Self-executing contracts with rules coded in software.</a:t>
            </a:r>
          </a:p>
          <a:p>
            <a:r>
              <a:rPr lang="en-US" sz="1580" kern="0" spc="-80" dirty="0">
                <a:solidFill>
                  <a:schemeClr val="accent2"/>
                </a:solidFill>
              </a:rPr>
              <a:t>Features:</a:t>
            </a:r>
          </a:p>
          <a:p>
            <a:r>
              <a:rPr lang="en-US" sz="1580" kern="0" spc="-80" dirty="0">
                <a:solidFill>
                  <a:schemeClr val="accent6"/>
                </a:solidFill>
              </a:rPr>
              <a:t>Autonomous execution</a:t>
            </a:r>
          </a:p>
          <a:p>
            <a:r>
              <a:rPr lang="en-US" sz="1580" kern="0" spc="-80" dirty="0">
                <a:solidFill>
                  <a:schemeClr val="accent6"/>
                </a:solidFill>
              </a:rPr>
              <a:t>Immutable once deployed</a:t>
            </a:r>
          </a:p>
          <a:p>
            <a:r>
              <a:rPr lang="en-US" sz="1580" kern="0" spc="-80" dirty="0">
                <a:solidFill>
                  <a:schemeClr val="accent6"/>
                </a:solidFill>
              </a:rPr>
              <a:t>Transparent to participants</a:t>
            </a:r>
          </a:p>
          <a:p>
            <a:r>
              <a:rPr lang="en-US" sz="1580" kern="0" spc="-80" dirty="0">
                <a:solidFill>
                  <a:schemeClr val="accent2"/>
                </a:solidFill>
              </a:rPr>
              <a:t>Use Cases: </a:t>
            </a:r>
            <a:r>
              <a:rPr lang="en-US" sz="1580" kern="0" spc="-80" dirty="0">
                <a:solidFill>
                  <a:schemeClr val="accent6"/>
                </a:solidFill>
              </a:rPr>
              <a:t>Token issuance, decentralized finance (DeFi), supply chain automation.</a:t>
            </a:r>
          </a:p>
          <a:p>
            <a:endParaRPr lang="en-US" sz="1580" kern="0" spc="-80" dirty="0">
              <a:solidFill>
                <a:schemeClr val="accent6"/>
              </a:solidFill>
            </a:endParaRPr>
          </a:p>
          <a:p>
            <a:r>
              <a:rPr lang="en-US" sz="1580" kern="0" spc="-80" dirty="0">
                <a:solidFill>
                  <a:schemeClr val="accent2"/>
                </a:solidFill>
              </a:rPr>
              <a:t>6. Tokens and Cryptocurrency</a:t>
            </a:r>
          </a:p>
          <a:p>
            <a:r>
              <a:rPr lang="en-US" sz="1580" kern="0" spc="-80" dirty="0">
                <a:solidFill>
                  <a:schemeClr val="accent2"/>
                </a:solidFill>
              </a:rPr>
              <a:t>Cryptocurrency:</a:t>
            </a:r>
            <a:r>
              <a:rPr lang="en-US" sz="1580" kern="0" spc="-80" dirty="0">
                <a:solidFill>
                  <a:schemeClr val="accent6"/>
                </a:solidFill>
              </a:rPr>
              <a:t> Digital currency built on blockchain (Bitcoin, Ether).</a:t>
            </a:r>
          </a:p>
          <a:p>
            <a:r>
              <a:rPr lang="en-US" sz="1580" kern="0" spc="-80" dirty="0">
                <a:solidFill>
                  <a:schemeClr val="accent2"/>
                </a:solidFill>
              </a:rPr>
              <a:t>Tokens:</a:t>
            </a:r>
            <a:r>
              <a:rPr lang="en-US" sz="1580" kern="0" spc="-80" dirty="0">
                <a:solidFill>
                  <a:schemeClr val="accent6"/>
                </a:solidFill>
              </a:rPr>
              <a:t> Represent assets, rights, or utility within an ecosystem.</a:t>
            </a:r>
          </a:p>
          <a:p>
            <a:r>
              <a:rPr lang="en-US" sz="1580" kern="0" spc="-80" dirty="0">
                <a:solidFill>
                  <a:schemeClr val="accent2"/>
                </a:solidFill>
              </a:rPr>
              <a:t>Utility Token: </a:t>
            </a:r>
            <a:r>
              <a:rPr lang="en-US" sz="1580" kern="0" spc="-80" dirty="0">
                <a:solidFill>
                  <a:schemeClr val="accent6"/>
                </a:solidFill>
              </a:rPr>
              <a:t>Grants access to a service.</a:t>
            </a:r>
          </a:p>
          <a:p>
            <a:r>
              <a:rPr lang="en-US" sz="1580" kern="0" spc="-80" dirty="0">
                <a:solidFill>
                  <a:schemeClr val="accent2"/>
                </a:solidFill>
              </a:rPr>
              <a:t>Security Token: </a:t>
            </a:r>
            <a:r>
              <a:rPr lang="en-US" sz="1580" kern="0" spc="-80" dirty="0">
                <a:solidFill>
                  <a:schemeClr val="accent6"/>
                </a:solidFill>
              </a:rPr>
              <a:t>Represents ownership in assets.</a:t>
            </a:r>
          </a:p>
          <a:p>
            <a:r>
              <a:rPr lang="en-US" sz="1580" kern="0" spc="-80" dirty="0">
                <a:solidFill>
                  <a:schemeClr val="accent2"/>
                </a:solidFill>
              </a:rPr>
              <a:t>NFTs (Non-Fungible Tokens): </a:t>
            </a:r>
            <a:r>
              <a:rPr lang="en-US" sz="1580" kern="0" spc="-80" dirty="0">
                <a:solidFill>
                  <a:schemeClr val="accent6"/>
                </a:solidFill>
              </a:rPr>
              <a:t>Unique digital assets.</a:t>
            </a:r>
          </a:p>
          <a:p>
            <a:endParaRPr lang="en-US" sz="1580" kern="0" spc="-80" dirty="0">
              <a:solidFill>
                <a:schemeClr val="accent6"/>
              </a:solidFill>
            </a:endParaRPr>
          </a:p>
          <a:p>
            <a:r>
              <a:rPr lang="en-US" sz="1580" kern="0" spc="-80" dirty="0">
                <a:solidFill>
                  <a:schemeClr val="accent2"/>
                </a:solidFill>
              </a:rPr>
              <a:t>7. Security in Blockchain</a:t>
            </a:r>
          </a:p>
          <a:p>
            <a:r>
              <a:rPr lang="en-US" sz="1580" kern="0" spc="-80" dirty="0">
                <a:solidFill>
                  <a:schemeClr val="accent2"/>
                </a:solidFill>
              </a:rPr>
              <a:t>Cryptography:</a:t>
            </a:r>
            <a:r>
              <a:rPr lang="en-US" sz="1580" kern="0" spc="-80" dirty="0">
                <a:solidFill>
                  <a:schemeClr val="accent6"/>
                </a:solidFill>
              </a:rPr>
              <a:t> Hashing (SHA-256, Keccak-256) and digital signatures (ECDSA).</a:t>
            </a:r>
          </a:p>
          <a:p>
            <a:r>
              <a:rPr lang="en-US" sz="1580" kern="0" spc="-80" dirty="0">
                <a:solidFill>
                  <a:schemeClr val="accent2"/>
                </a:solidFill>
              </a:rPr>
              <a:t>Immutability: </a:t>
            </a:r>
            <a:r>
              <a:rPr lang="en-US" sz="1580" kern="0" spc="-80" dirty="0">
                <a:solidFill>
                  <a:schemeClr val="accent6"/>
                </a:solidFill>
              </a:rPr>
              <a:t>Changing a block requires altering all subsequent blocks.</a:t>
            </a:r>
          </a:p>
          <a:p>
            <a:r>
              <a:rPr lang="en-US" sz="1580" kern="0" spc="-80" dirty="0">
                <a:solidFill>
                  <a:schemeClr val="accent2"/>
                </a:solidFill>
              </a:rPr>
              <a:t>51% Attack:</a:t>
            </a:r>
            <a:r>
              <a:rPr lang="en-US" sz="1580" kern="0" spc="-80" dirty="0">
                <a:solidFill>
                  <a:schemeClr val="accent6"/>
                </a:solidFill>
              </a:rPr>
              <a:t> If a malicious actor controls 51% of network computing power, they can manipulate the chain.</a:t>
            </a:r>
          </a:p>
        </p:txBody>
      </p:sp>
    </p:spTree>
    <p:extLst>
      <p:ext uri="{BB962C8B-B14F-4D97-AF65-F5344CB8AC3E}">
        <p14:creationId xmlns:p14="http://schemas.microsoft.com/office/powerpoint/2010/main" val="34306992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4131-A239-8307-C16D-E11FB25BAB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62E9AA-07BF-BB80-206B-C33E002D39A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349BA0-AF99-3165-CB82-4872A09E649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0F071-E7D5-830B-0243-076A2531C7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5D0EE0-1727-4BC2-3622-E1CF253F16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9EA261-F199-A76A-2110-1A6FF89F0C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3BF1A4-8D7B-01CD-47CD-80FB06D3075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83C809-D328-65E3-21E7-9215D73E9E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EE5EAC-CCA2-6121-7266-A7A2545A732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0F9C3C95-399A-14E9-A3CF-20208884E05D}"/>
              </a:ext>
            </a:extLst>
          </p:cNvPr>
          <p:cNvSpPr txBox="1">
            <a:spLocks/>
          </p:cNvSpPr>
          <p:nvPr/>
        </p:nvSpPr>
        <p:spPr>
          <a:xfrm>
            <a:off x="57151" y="1206341"/>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70" kern="0" spc="-80" dirty="0">
                <a:solidFill>
                  <a:schemeClr val="accent2"/>
                </a:solidFill>
              </a:rPr>
              <a:t>8. Blockchain Use Cases</a:t>
            </a:r>
          </a:p>
          <a:p>
            <a:r>
              <a:rPr lang="en-US" sz="1570" kern="0" spc="-80" dirty="0">
                <a:solidFill>
                  <a:schemeClr val="accent2"/>
                </a:solidFill>
              </a:rPr>
              <a:t>8.1 Finance</a:t>
            </a:r>
          </a:p>
          <a:p>
            <a:r>
              <a:rPr lang="en-US" sz="1570" kern="0" spc="-80" dirty="0">
                <a:solidFill>
                  <a:schemeClr val="accent6"/>
                </a:solidFill>
              </a:rPr>
              <a:t>Cryptocurrency payments</a:t>
            </a:r>
          </a:p>
          <a:p>
            <a:r>
              <a:rPr lang="en-US" sz="1570" kern="0" spc="-80" dirty="0">
                <a:solidFill>
                  <a:schemeClr val="accent6"/>
                </a:solidFill>
              </a:rPr>
              <a:t>Cross-border transfers</a:t>
            </a:r>
          </a:p>
          <a:p>
            <a:r>
              <a:rPr lang="en-US" sz="1570" kern="0" spc="-80" dirty="0">
                <a:solidFill>
                  <a:schemeClr val="accent6"/>
                </a:solidFill>
              </a:rPr>
              <a:t>Decentralized exchanges (DEXs)</a:t>
            </a:r>
          </a:p>
          <a:p>
            <a:r>
              <a:rPr lang="en-US" sz="1570" kern="0" spc="-80" dirty="0">
                <a:solidFill>
                  <a:schemeClr val="accent2"/>
                </a:solidFill>
              </a:rPr>
              <a:t>8.2 Supply Chain</a:t>
            </a:r>
          </a:p>
          <a:p>
            <a:r>
              <a:rPr lang="en-US" sz="1570" kern="0" spc="-80" dirty="0">
                <a:solidFill>
                  <a:schemeClr val="accent6"/>
                </a:solidFill>
              </a:rPr>
              <a:t>Track product origin</a:t>
            </a:r>
          </a:p>
          <a:p>
            <a:r>
              <a:rPr lang="en-US" sz="1570" kern="0" spc="-80" dirty="0">
                <a:solidFill>
                  <a:schemeClr val="accent6"/>
                </a:solidFill>
              </a:rPr>
              <a:t>Ensure authenticity</a:t>
            </a:r>
          </a:p>
          <a:p>
            <a:r>
              <a:rPr lang="en-US" sz="1570" kern="0" spc="-80" dirty="0">
                <a:solidFill>
                  <a:schemeClr val="accent6"/>
                </a:solidFill>
              </a:rPr>
              <a:t>Reduce fraud</a:t>
            </a:r>
          </a:p>
          <a:p>
            <a:r>
              <a:rPr lang="en-US" sz="1570" kern="0" spc="-80" dirty="0">
                <a:solidFill>
                  <a:schemeClr val="accent2"/>
                </a:solidFill>
              </a:rPr>
              <a:t>8.3 Healthcare</a:t>
            </a:r>
          </a:p>
          <a:p>
            <a:r>
              <a:rPr lang="en-US" sz="1570" kern="0" spc="-80" dirty="0">
                <a:solidFill>
                  <a:schemeClr val="accent6"/>
                </a:solidFill>
              </a:rPr>
              <a:t>Secure patient records</a:t>
            </a:r>
          </a:p>
          <a:p>
            <a:r>
              <a:rPr lang="en-US" sz="1570" kern="0" spc="-80" dirty="0">
                <a:solidFill>
                  <a:schemeClr val="accent6"/>
                </a:solidFill>
              </a:rPr>
              <a:t>Medical data sharing</a:t>
            </a:r>
          </a:p>
          <a:p>
            <a:r>
              <a:rPr lang="en-US" sz="1570" kern="0" spc="-80" dirty="0">
                <a:solidFill>
                  <a:schemeClr val="accent6"/>
                </a:solidFill>
              </a:rPr>
              <a:t>Drug traceability</a:t>
            </a:r>
          </a:p>
          <a:p>
            <a:r>
              <a:rPr lang="en-US" sz="1570" kern="0" spc="-80" dirty="0">
                <a:solidFill>
                  <a:schemeClr val="accent2"/>
                </a:solidFill>
              </a:rPr>
              <a:t>8.4 Governance</a:t>
            </a:r>
          </a:p>
          <a:p>
            <a:r>
              <a:rPr lang="en-US" sz="1570" kern="0" spc="-80" dirty="0">
                <a:solidFill>
                  <a:schemeClr val="accent6"/>
                </a:solidFill>
              </a:rPr>
              <a:t>Digital voting systems</a:t>
            </a:r>
          </a:p>
          <a:p>
            <a:r>
              <a:rPr lang="en-US" sz="1570" kern="0" spc="-80" dirty="0">
                <a:solidFill>
                  <a:schemeClr val="accent6"/>
                </a:solidFill>
              </a:rPr>
              <a:t>Transparent government records</a:t>
            </a:r>
          </a:p>
          <a:p>
            <a:r>
              <a:rPr lang="en-US" sz="1570" kern="0" spc="-80" dirty="0">
                <a:solidFill>
                  <a:schemeClr val="accent2"/>
                </a:solidFill>
              </a:rPr>
              <a:t>8.5 Other Emerging Uses</a:t>
            </a:r>
          </a:p>
          <a:p>
            <a:r>
              <a:rPr lang="en-US" sz="1570" kern="0" spc="-80" dirty="0">
                <a:solidFill>
                  <a:schemeClr val="accent6"/>
                </a:solidFill>
              </a:rPr>
              <a:t>Identity management</a:t>
            </a:r>
          </a:p>
          <a:p>
            <a:r>
              <a:rPr lang="en-US" sz="1570" kern="0" spc="-80" dirty="0">
                <a:solidFill>
                  <a:schemeClr val="accent6"/>
                </a:solidFill>
              </a:rPr>
              <a:t>Real estate</a:t>
            </a:r>
          </a:p>
          <a:p>
            <a:r>
              <a:rPr lang="en-US" sz="1570" kern="0" spc="-80" dirty="0">
                <a:solidFill>
                  <a:schemeClr val="accent6"/>
                </a:solidFill>
              </a:rPr>
              <a:t>Intellectual property protection</a:t>
            </a:r>
          </a:p>
        </p:txBody>
      </p:sp>
    </p:spTree>
    <p:extLst>
      <p:ext uri="{BB962C8B-B14F-4D97-AF65-F5344CB8AC3E}">
        <p14:creationId xmlns:p14="http://schemas.microsoft.com/office/powerpoint/2010/main" val="24761018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86DFC-D251-8E1E-C858-D59323F6AF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1A923A-364D-476C-419B-1DE132D75397}"/>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539AD-9D35-EFA5-E2B4-D277DC0292D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8F8BDE9-EF79-E39D-6793-6CC7AE33403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4D81F69-6DC7-F744-8A46-A9396E2A92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CCFCAC-3382-4F37-2CBA-D6B99EF103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91BAA5-E1E0-EC68-1FE8-40BBD47254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6DA54D-BAAD-B348-0748-9BD9C90365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D88F41-1EED-65D3-C61E-1D45192EA60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7FDD269-CB87-1862-F8DB-E690FC0C1B00}"/>
              </a:ext>
            </a:extLst>
          </p:cNvPr>
          <p:cNvSpPr txBox="1">
            <a:spLocks/>
          </p:cNvSpPr>
          <p:nvPr/>
        </p:nvSpPr>
        <p:spPr>
          <a:xfrm>
            <a:off x="57151" y="1206341"/>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9. Challenges of Blockchain</a:t>
            </a:r>
          </a:p>
          <a:p>
            <a:r>
              <a:rPr lang="en-US" sz="1600" kern="0" spc="-80" dirty="0">
                <a:solidFill>
                  <a:schemeClr val="accent2"/>
                </a:solidFill>
              </a:rPr>
              <a:t>Scalability:</a:t>
            </a:r>
            <a:r>
              <a:rPr lang="en-US" sz="1600" kern="0" spc="-80" dirty="0">
                <a:solidFill>
                  <a:schemeClr val="accent6"/>
                </a:solidFill>
              </a:rPr>
              <a:t> Handling millions of transactions per second.</a:t>
            </a:r>
          </a:p>
          <a:p>
            <a:r>
              <a:rPr lang="en-US" sz="1600" kern="0" spc="-80" dirty="0">
                <a:solidFill>
                  <a:schemeClr val="accent2"/>
                </a:solidFill>
              </a:rPr>
              <a:t>Energy Consumption: </a:t>
            </a:r>
            <a:r>
              <a:rPr lang="en-US" sz="1600" kern="0" spc="-80" dirty="0">
                <a:solidFill>
                  <a:schemeClr val="accent6"/>
                </a:solidFill>
              </a:rPr>
              <a:t>Especially in PoW networks.</a:t>
            </a:r>
          </a:p>
          <a:p>
            <a:r>
              <a:rPr lang="en-US" sz="1600" kern="0" spc="-80" dirty="0">
                <a:solidFill>
                  <a:schemeClr val="accent2"/>
                </a:solidFill>
              </a:rPr>
              <a:t>Regulatory Issues:</a:t>
            </a:r>
            <a:r>
              <a:rPr lang="en-US" sz="1600" kern="0" spc="-80" dirty="0">
                <a:solidFill>
                  <a:schemeClr val="accent6"/>
                </a:solidFill>
              </a:rPr>
              <a:t> Laws are evolving.</a:t>
            </a:r>
          </a:p>
          <a:p>
            <a:r>
              <a:rPr lang="en-US" sz="1600" kern="0" spc="-80" dirty="0">
                <a:solidFill>
                  <a:schemeClr val="accent2"/>
                </a:solidFill>
              </a:rPr>
              <a:t>Interoperability: </a:t>
            </a:r>
            <a:r>
              <a:rPr lang="en-US" sz="1600" kern="0" spc="-80" dirty="0">
                <a:solidFill>
                  <a:schemeClr val="accent6"/>
                </a:solidFill>
              </a:rPr>
              <a:t>Connecting different blockchains.</a:t>
            </a:r>
          </a:p>
          <a:p>
            <a:r>
              <a:rPr lang="en-US" sz="1600" kern="0" spc="-80" dirty="0">
                <a:solidFill>
                  <a:schemeClr val="accent2"/>
                </a:solidFill>
              </a:rPr>
              <a:t>Privacy: </a:t>
            </a:r>
            <a:r>
              <a:rPr lang="en-US" sz="1600" kern="0" spc="-80" dirty="0">
                <a:solidFill>
                  <a:schemeClr val="accent6"/>
                </a:solidFill>
              </a:rPr>
              <a:t>Public blockchains expose transaction history.</a:t>
            </a:r>
          </a:p>
          <a:p>
            <a:endParaRPr lang="en-US" sz="1600" kern="0" spc="-80" dirty="0">
              <a:solidFill>
                <a:schemeClr val="accent6"/>
              </a:solidFill>
            </a:endParaRPr>
          </a:p>
          <a:p>
            <a:r>
              <a:rPr lang="en-US" sz="1600" kern="0" spc="-80" dirty="0">
                <a:solidFill>
                  <a:schemeClr val="accent2"/>
                </a:solidFill>
              </a:rPr>
              <a:t>10. Advanced Concepts</a:t>
            </a:r>
          </a:p>
          <a:p>
            <a:r>
              <a:rPr lang="en-US" sz="1600" kern="0" spc="-80" dirty="0">
                <a:solidFill>
                  <a:schemeClr val="accent2"/>
                </a:solidFill>
              </a:rPr>
              <a:t>Layer 2 Solutions: </a:t>
            </a:r>
            <a:r>
              <a:rPr lang="en-US" sz="1600" kern="0" spc="-80" dirty="0">
                <a:solidFill>
                  <a:schemeClr val="accent6"/>
                </a:solidFill>
              </a:rPr>
              <a:t>Lightning Network, rollups to improve scalability.</a:t>
            </a:r>
          </a:p>
          <a:p>
            <a:r>
              <a:rPr lang="en-US" sz="1600" kern="0" spc="-80" dirty="0">
                <a:solidFill>
                  <a:schemeClr val="accent2"/>
                </a:solidFill>
              </a:rPr>
              <a:t>Sharding: </a:t>
            </a:r>
            <a:r>
              <a:rPr lang="en-US" sz="1600" kern="0" spc="-80" dirty="0">
                <a:solidFill>
                  <a:schemeClr val="accent6"/>
                </a:solidFill>
              </a:rPr>
              <a:t>Splitting the blockchain into parts to process parallel transactions.</a:t>
            </a:r>
          </a:p>
          <a:p>
            <a:r>
              <a:rPr lang="en-US" sz="1600" kern="0" spc="-80" dirty="0">
                <a:solidFill>
                  <a:schemeClr val="accent2"/>
                </a:solidFill>
              </a:rPr>
              <a:t>Decentralized Autonomous Organizations (DAO): </a:t>
            </a:r>
            <a:r>
              <a:rPr lang="en-US" sz="1600" kern="0" spc="-80" dirty="0">
                <a:solidFill>
                  <a:schemeClr val="accent6"/>
                </a:solidFill>
              </a:rPr>
              <a:t>Blockchain-based governance.</a:t>
            </a:r>
          </a:p>
          <a:p>
            <a:r>
              <a:rPr lang="en-US" sz="1600" kern="0" spc="-80" dirty="0">
                <a:solidFill>
                  <a:schemeClr val="accent2"/>
                </a:solidFill>
              </a:rPr>
              <a:t>Cross-chain protocols: </a:t>
            </a:r>
            <a:r>
              <a:rPr lang="en-US" sz="1600" kern="0" spc="-80" dirty="0">
                <a:solidFill>
                  <a:schemeClr val="accent6"/>
                </a:solidFill>
              </a:rPr>
              <a:t>Enable communication between different blockchains.</a:t>
            </a:r>
          </a:p>
        </p:txBody>
      </p:sp>
    </p:spTree>
    <p:extLst>
      <p:ext uri="{BB962C8B-B14F-4D97-AF65-F5344CB8AC3E}">
        <p14:creationId xmlns:p14="http://schemas.microsoft.com/office/powerpoint/2010/main" val="57060327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pic>
        <p:nvPicPr>
          <p:cNvPr id="14" name="Picture 13">
            <a:extLst>
              <a:ext uri="{FF2B5EF4-FFF2-40B4-BE49-F238E27FC236}">
                <a16:creationId xmlns:a16="http://schemas.microsoft.com/office/drawing/2014/main" id="{0692C621-4F73-1DDD-C556-D963E8AAAC91}"/>
              </a:ext>
            </a:extLst>
          </p:cNvPr>
          <p:cNvPicPr>
            <a:picLocks noChangeAspect="1"/>
          </p:cNvPicPr>
          <p:nvPr/>
        </p:nvPicPr>
        <p:blipFill>
          <a:blip r:embed="rId8"/>
          <a:stretch>
            <a:fillRect/>
          </a:stretch>
        </p:blipFill>
        <p:spPr>
          <a:xfrm>
            <a:off x="9525" y="1863446"/>
            <a:ext cx="9144000" cy="4080153"/>
          </a:xfrm>
          <a:prstGeom prst="rect">
            <a:avLst/>
          </a:prstGeom>
        </p:spPr>
      </p:pic>
    </p:spTree>
    <p:extLst>
      <p:ext uri="{BB962C8B-B14F-4D97-AF65-F5344CB8AC3E}">
        <p14:creationId xmlns:p14="http://schemas.microsoft.com/office/powerpoint/2010/main" val="286406727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4" name="Picture 13">
            <a:extLst>
              <a:ext uri="{FF2B5EF4-FFF2-40B4-BE49-F238E27FC236}">
                <a16:creationId xmlns:a16="http://schemas.microsoft.com/office/drawing/2014/main" id="{5B1DF5E6-BB50-4804-B4AB-24B94ECFDB49}"/>
              </a:ext>
            </a:extLst>
          </p:cNvPr>
          <p:cNvPicPr>
            <a:picLocks noChangeAspect="1"/>
          </p:cNvPicPr>
          <p:nvPr/>
        </p:nvPicPr>
        <p:blipFill>
          <a:blip r:embed="rId8"/>
          <a:stretch>
            <a:fillRect/>
          </a:stretch>
        </p:blipFill>
        <p:spPr>
          <a:xfrm>
            <a:off x="12853" y="1828205"/>
            <a:ext cx="9144000" cy="2796309"/>
          </a:xfrm>
          <a:prstGeom prst="rect">
            <a:avLst/>
          </a:prstGeom>
        </p:spPr>
      </p:pic>
      <p:sp>
        <p:nvSpPr>
          <p:cNvPr id="16" name="object 2">
            <a:extLst>
              <a:ext uri="{FF2B5EF4-FFF2-40B4-BE49-F238E27FC236}">
                <a16:creationId xmlns:a16="http://schemas.microsoft.com/office/drawing/2014/main" id="{CB44439A-E3A6-D15F-75EB-9609686C72A9}"/>
              </a:ext>
            </a:extLst>
          </p:cNvPr>
          <p:cNvSpPr txBox="1">
            <a:spLocks/>
          </p:cNvSpPr>
          <p:nvPr/>
        </p:nvSpPr>
        <p:spPr>
          <a:xfrm>
            <a:off x="12853" y="4649857"/>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How blockchain enables orchestration and choreography</a:t>
            </a:r>
          </a:p>
          <a:p>
            <a:r>
              <a:rPr lang="en-US" sz="1500" kern="0" spc="-80" dirty="0">
                <a:solidFill>
                  <a:schemeClr val="accent6"/>
                </a:solidFill>
              </a:rPr>
              <a:t>Blockchain leverages smart contracts to automate and secure multi-party workflows, whether centrally orchestrated or peer-to-peer.</a:t>
            </a:r>
          </a:p>
          <a:p>
            <a:r>
              <a:rPr lang="en-US" sz="1500" kern="0" spc="-80" dirty="0">
                <a:solidFill>
                  <a:schemeClr val="accent2"/>
                </a:solidFill>
              </a:rPr>
              <a:t>Workflow automation: </a:t>
            </a:r>
            <a:r>
              <a:rPr lang="en-US" sz="1500" kern="0" spc="-80" dirty="0">
                <a:solidFill>
                  <a:schemeClr val="accent6"/>
                </a:solidFill>
              </a:rPr>
              <a:t>Smart contracts automate predefined actions when certain conditions are met, such as releasing payment upon delivery of goods or executing an insurance claim when specific criteria are verified.</a:t>
            </a:r>
          </a:p>
        </p:txBody>
      </p:sp>
      <p:sp>
        <p:nvSpPr>
          <p:cNvPr id="17" name="object 2">
            <a:extLst>
              <a:ext uri="{FF2B5EF4-FFF2-40B4-BE49-F238E27FC236}">
                <a16:creationId xmlns:a16="http://schemas.microsoft.com/office/drawing/2014/main" id="{5B4AE68D-C0BE-1F72-EB2F-3EFE1B23898C}"/>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spTree>
    <p:extLst>
      <p:ext uri="{BB962C8B-B14F-4D97-AF65-F5344CB8AC3E}">
        <p14:creationId xmlns:p14="http://schemas.microsoft.com/office/powerpoint/2010/main" val="208386031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76201" y="1188209"/>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Trust and transparency:</a:t>
            </a:r>
            <a:r>
              <a:rPr lang="en-US" sz="150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500" kern="0" spc="-80" dirty="0">
                <a:solidFill>
                  <a:schemeClr val="accent2"/>
                </a:solidFill>
              </a:rPr>
              <a:t>Automated compliance:</a:t>
            </a:r>
            <a:r>
              <a:rPr lang="en-US" sz="1500" kern="0" spc="-80" dirty="0">
                <a:solidFill>
                  <a:schemeClr val="accent6"/>
                </a:solidFill>
              </a:rPr>
              <a:t> Rules can be coded directly into smart contracts, guaranteeing that all participants adhere to the agreed-upon business logic. This automatic enforcement ensures compliance without manual intervention.</a:t>
            </a:r>
          </a:p>
          <a:p>
            <a:r>
              <a:rPr lang="en-US" sz="1500" kern="0" spc="-80" dirty="0">
                <a:solidFill>
                  <a:schemeClr val="accent2"/>
                </a:solidFill>
              </a:rPr>
              <a:t>Confidentiality:</a:t>
            </a:r>
            <a:r>
              <a:rPr lang="en-US" sz="150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500" kern="0" spc="-80" dirty="0">
                <a:solidFill>
                  <a:schemeClr val="accent2"/>
                </a:solidFill>
              </a:rPr>
              <a:t>Reduced intermediation:</a:t>
            </a:r>
            <a:r>
              <a:rPr lang="en-US" sz="1500" kern="0" spc="-80" dirty="0">
                <a:solidFill>
                  <a:schemeClr val="accent6"/>
                </a:solidFill>
              </a:rPr>
              <a:t> By automating and verifying interactions, blockchain reduces the reliance on costly and time-consuming third-party intermediaries. </a:t>
            </a:r>
          </a:p>
          <a:p>
            <a:r>
              <a:rPr lang="en-US" sz="1600" kern="0" spc="-80" dirty="0">
                <a:solidFill>
                  <a:schemeClr val="accent2"/>
                </a:solidFill>
              </a:rPr>
              <a:t>Use cases in practice</a:t>
            </a:r>
          </a:p>
          <a:p>
            <a:r>
              <a:rPr lang="en-US" sz="1600" kern="0" spc="-80" dirty="0">
                <a:solidFill>
                  <a:schemeClr val="accent6"/>
                </a:solidFill>
              </a:rPr>
              <a:t>Blockchain-enabled orchestration and choreography are already being applied across various industries to manage complex, multi-party processes.</a:t>
            </a:r>
          </a:p>
          <a:p>
            <a:r>
              <a:rPr lang="en-US" sz="1600" kern="0" spc="-80" dirty="0">
                <a:solidFill>
                  <a:schemeClr val="accent2"/>
                </a:solidFill>
              </a:rPr>
              <a:t>Supply chain management:</a:t>
            </a:r>
            <a:r>
              <a:rPr lang="en-US" sz="160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endParaRPr lang="en-US" sz="1500" kern="0" spc="-80" dirty="0">
              <a:solidFill>
                <a:schemeClr val="accent6"/>
              </a:solidFill>
            </a:endParaRPr>
          </a:p>
        </p:txBody>
      </p:sp>
    </p:spTree>
    <p:extLst>
      <p:ext uri="{BB962C8B-B14F-4D97-AF65-F5344CB8AC3E}">
        <p14:creationId xmlns:p14="http://schemas.microsoft.com/office/powerpoint/2010/main" val="362988281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7782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Construction industry: </a:t>
            </a:r>
            <a:r>
              <a:rPr lang="en-US" sz="150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a:p>
            <a:r>
              <a:rPr lang="en-US" sz="1600" kern="0" spc="-80" dirty="0">
                <a:solidFill>
                  <a:schemeClr val="accent2"/>
                </a:solidFill>
              </a:rPr>
              <a:t>Decentralized finance (DeFi):</a:t>
            </a:r>
            <a:r>
              <a:rPr lang="en-US" sz="160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600" kern="0" spc="-80" dirty="0" err="1">
                <a:solidFill>
                  <a:schemeClr val="accent2"/>
                </a:solidFill>
              </a:rPr>
              <a:t>DevSecOps</a:t>
            </a:r>
            <a:r>
              <a:rPr lang="en-US" sz="1600" kern="0" spc="-80" dirty="0">
                <a:solidFill>
                  <a:schemeClr val="accent2"/>
                </a:solidFill>
              </a:rPr>
              <a:t>: </a:t>
            </a:r>
            <a:r>
              <a:rPr lang="en-US" sz="160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600" kern="0" spc="-80" dirty="0">
                <a:solidFill>
                  <a:schemeClr val="accent2"/>
                </a:solidFill>
              </a:rPr>
              <a:t>Digital twins:</a:t>
            </a:r>
            <a:r>
              <a:rPr lang="en-US" sz="160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a:p>
            <a:endParaRPr lang="en-US" sz="1500" kern="0" spc="-80" dirty="0">
              <a:solidFill>
                <a:schemeClr val="accent6"/>
              </a:solidFill>
            </a:endParaRPr>
          </a:p>
          <a:p>
            <a:endParaRPr lang="en-US" sz="1950" kern="0" spc="-80" dirty="0">
              <a:solidFill>
                <a:schemeClr val="accent6"/>
              </a:solidFill>
            </a:endParaRPr>
          </a:p>
        </p:txBody>
      </p:sp>
    </p:spTree>
    <p:extLst>
      <p:ext uri="{BB962C8B-B14F-4D97-AF65-F5344CB8AC3E}">
        <p14:creationId xmlns:p14="http://schemas.microsoft.com/office/powerpoint/2010/main" val="221636382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1. Layer 2 Solutions (Off-chain Scaling)</a:t>
            </a:r>
          </a:p>
          <a:p>
            <a:r>
              <a:rPr lang="en-US" sz="1500" kern="0" spc="-80" dirty="0">
                <a:solidFill>
                  <a:schemeClr val="accent6"/>
                </a:solidFill>
              </a:rPr>
              <a:t>Layer 2 solutions are protocols built on top of a blockchain to increase scalability and reduce transaction costs while leveraging the security of the underlying blockchain.</a:t>
            </a:r>
          </a:p>
          <a:p>
            <a:r>
              <a:rPr lang="en-US" sz="1500" kern="0" spc="-80" dirty="0">
                <a:solidFill>
                  <a:schemeClr val="accent2"/>
                </a:solidFill>
              </a:rPr>
              <a:t>1.1 Lightning Network (Bitcoin)</a:t>
            </a:r>
          </a:p>
          <a:p>
            <a:r>
              <a:rPr lang="en-US" sz="1500" kern="0" spc="-80" dirty="0">
                <a:solidFill>
                  <a:schemeClr val="accent6"/>
                </a:solidFill>
              </a:rPr>
              <a:t>Off-chain network for instant micropayments.</a:t>
            </a:r>
          </a:p>
          <a:p>
            <a:r>
              <a:rPr lang="en-US" sz="1500" kern="0" spc="-80" dirty="0">
                <a:solidFill>
                  <a:schemeClr val="accent6"/>
                </a:solidFill>
              </a:rPr>
              <a:t>Users open payment channels and transact off-chain.</a:t>
            </a:r>
          </a:p>
          <a:p>
            <a:r>
              <a:rPr lang="en-US" sz="1500" kern="0" spc="-80" dirty="0">
                <a:solidFill>
                  <a:schemeClr val="accent6"/>
                </a:solidFill>
              </a:rPr>
              <a:t>Only the final net settlement goes on-chain, reducing congestion.</a:t>
            </a:r>
          </a:p>
          <a:p>
            <a:r>
              <a:rPr lang="en-US" sz="1500" kern="0" spc="-80" dirty="0">
                <a:solidFill>
                  <a:schemeClr val="accent2"/>
                </a:solidFill>
              </a:rPr>
              <a:t>1.2 Rollups (Ethereum)</a:t>
            </a:r>
          </a:p>
          <a:p>
            <a:r>
              <a:rPr lang="en-US" sz="1500" kern="0" spc="-80" dirty="0">
                <a:solidFill>
                  <a:schemeClr val="accent6"/>
                </a:solidFill>
              </a:rPr>
              <a:t>Transactions are executed off-chain, but data is posted on-chain.</a:t>
            </a:r>
          </a:p>
          <a:p>
            <a:r>
              <a:rPr lang="en-US" sz="1500" kern="0" spc="-80" dirty="0">
                <a:solidFill>
                  <a:schemeClr val="accent2"/>
                </a:solidFill>
              </a:rPr>
              <a:t>Types:</a:t>
            </a:r>
          </a:p>
          <a:p>
            <a:r>
              <a:rPr lang="en-US" sz="1500" kern="0" spc="-80" dirty="0">
                <a:solidFill>
                  <a:schemeClr val="accent2"/>
                </a:solidFill>
              </a:rPr>
              <a:t>Optimistic Rollups: </a:t>
            </a:r>
            <a:r>
              <a:rPr lang="en-US" sz="1500" kern="0" spc="-80" dirty="0">
                <a:solidFill>
                  <a:schemeClr val="accent6"/>
                </a:solidFill>
              </a:rPr>
              <a:t>Assume transactions are valid; challenges can be raised.</a:t>
            </a:r>
          </a:p>
          <a:p>
            <a:r>
              <a:rPr lang="en-US" sz="1500" kern="0" spc="-80" dirty="0">
                <a:solidFill>
                  <a:schemeClr val="accent2"/>
                </a:solidFill>
              </a:rPr>
              <a:t>ZK Rollups (Zero-Knowledge): </a:t>
            </a:r>
            <a:r>
              <a:rPr lang="en-US" sz="1500" kern="0" spc="-80" dirty="0">
                <a:solidFill>
                  <a:schemeClr val="accent6"/>
                </a:solidFill>
              </a:rPr>
              <a:t>Use cryptographic proofs to verify correctness.</a:t>
            </a:r>
          </a:p>
          <a:p>
            <a:r>
              <a:rPr lang="en-US" sz="1500" kern="0" spc="-80" dirty="0">
                <a:solidFill>
                  <a:schemeClr val="accent2"/>
                </a:solidFill>
              </a:rPr>
              <a:t>1.3 Plasma</a:t>
            </a:r>
          </a:p>
          <a:p>
            <a:r>
              <a:rPr lang="en-US" sz="1500" kern="0" spc="-80" dirty="0">
                <a:solidFill>
                  <a:schemeClr val="accent6"/>
                </a:solidFill>
              </a:rPr>
              <a:t>Framework for child chains connected to Ethereum.</a:t>
            </a:r>
          </a:p>
          <a:p>
            <a:r>
              <a:rPr lang="en-US" sz="1500" kern="0" spc="-80" dirty="0">
                <a:solidFill>
                  <a:schemeClr val="accent6"/>
                </a:solidFill>
              </a:rPr>
              <a:t>Offloads computation to child chains while relying on Ethereum for security.</a:t>
            </a:r>
          </a:p>
          <a:p>
            <a:r>
              <a:rPr lang="en-US" sz="1500" kern="0" spc="-80" dirty="0">
                <a:solidFill>
                  <a:schemeClr val="accent2"/>
                </a:solidFill>
              </a:rPr>
              <a:t>1.4 State Channels</a:t>
            </a:r>
          </a:p>
          <a:p>
            <a:r>
              <a:rPr lang="en-US" sz="1500" kern="0" spc="-80" dirty="0">
                <a:solidFill>
                  <a:schemeClr val="accent6"/>
                </a:solidFill>
              </a:rPr>
              <a:t>Participants exchange multiple transactions off-chain.</a:t>
            </a:r>
          </a:p>
          <a:p>
            <a:r>
              <a:rPr lang="en-US" sz="1500" kern="0" spc="-80" dirty="0">
                <a:solidFill>
                  <a:schemeClr val="accent6"/>
                </a:solidFill>
              </a:rPr>
              <a:t>Only the final state is committed to the blockchain.</a:t>
            </a:r>
          </a:p>
          <a:p>
            <a:r>
              <a:rPr lang="en-US" sz="1500" kern="0" spc="-80" dirty="0">
                <a:solidFill>
                  <a:schemeClr val="accent6"/>
                </a:solidFill>
              </a:rPr>
              <a:t>Reduces gas costs and increases throughput.</a:t>
            </a:r>
          </a:p>
        </p:txBody>
      </p:sp>
    </p:spTree>
    <p:extLst>
      <p:ext uri="{BB962C8B-B14F-4D97-AF65-F5344CB8AC3E}">
        <p14:creationId xmlns:p14="http://schemas.microsoft.com/office/powerpoint/2010/main" val="307946658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2F1-7700-7616-E161-4A1A3707D8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BADB49-D0D3-BD9B-3FF6-C7F97F74641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E5732-B8C0-7054-74D9-5B92CF75F0D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82460A-D534-124A-EB01-F2087561EB2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E59CE4-5472-D6F4-BD16-97B96F502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FED535-FC85-E11F-4D67-920BC96BF6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F40C59-9364-3D6B-7760-BF98C0C38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9DC30-FAED-E373-DB0C-AC9D0A0A98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3CC7DC-1F5C-3B19-202B-53D71E62C89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DBDE937-6BC4-B82A-FAAC-F80BDEBAD5F5}"/>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2. Sharding</a:t>
            </a:r>
          </a:p>
          <a:p>
            <a:r>
              <a:rPr lang="en-US" sz="1500" kern="0" spc="-80" dirty="0">
                <a:solidFill>
                  <a:schemeClr val="accent6"/>
                </a:solidFill>
              </a:rPr>
              <a:t>Sharding splits the blockchain into smaller partitions called shards to improve scalability.</a:t>
            </a:r>
          </a:p>
          <a:p>
            <a:r>
              <a:rPr lang="en-US" sz="1500" kern="0" spc="-80" dirty="0">
                <a:solidFill>
                  <a:schemeClr val="accent6"/>
                </a:solidFill>
              </a:rPr>
              <a:t>Each shard processes its own subset of transactions in parallel.</a:t>
            </a:r>
          </a:p>
          <a:p>
            <a:r>
              <a:rPr lang="en-US" sz="1500" kern="0" spc="-80" dirty="0">
                <a:solidFill>
                  <a:schemeClr val="accent6"/>
                </a:solidFill>
              </a:rPr>
              <a:t>Ethereum 2.0 is moving toward sharded chains.</a:t>
            </a:r>
          </a:p>
          <a:p>
            <a:r>
              <a:rPr lang="en-US" sz="1500" kern="0" spc="-80" dirty="0">
                <a:solidFill>
                  <a:schemeClr val="accent2"/>
                </a:solidFill>
              </a:rPr>
              <a:t>Sharding Types:</a:t>
            </a:r>
          </a:p>
          <a:p>
            <a:r>
              <a:rPr lang="en-US" sz="1500" kern="0" spc="-80" dirty="0">
                <a:solidFill>
                  <a:schemeClr val="accent2"/>
                </a:solidFill>
              </a:rPr>
              <a:t>Network Sharding: </a:t>
            </a:r>
            <a:r>
              <a:rPr lang="en-US" sz="1500" kern="0" spc="-80" dirty="0">
                <a:solidFill>
                  <a:schemeClr val="accent6"/>
                </a:solidFill>
              </a:rPr>
              <a:t>Splits network nodes into shards.</a:t>
            </a:r>
          </a:p>
          <a:p>
            <a:r>
              <a:rPr lang="en-US" sz="1500" kern="0" spc="-80" dirty="0">
                <a:solidFill>
                  <a:schemeClr val="accent2"/>
                </a:solidFill>
              </a:rPr>
              <a:t>Transaction Sharding: </a:t>
            </a:r>
            <a:r>
              <a:rPr lang="en-US" sz="1500" kern="0" spc="-80" dirty="0">
                <a:solidFill>
                  <a:schemeClr val="accent6"/>
                </a:solidFill>
              </a:rPr>
              <a:t>Transactions are processed in separate shards.</a:t>
            </a:r>
          </a:p>
          <a:p>
            <a:r>
              <a:rPr lang="en-US" sz="1500" kern="0" spc="-80" dirty="0">
                <a:solidFill>
                  <a:schemeClr val="accent2"/>
                </a:solidFill>
              </a:rPr>
              <a:t>State Sharding: </a:t>
            </a:r>
            <a:r>
              <a:rPr lang="en-US" sz="1500" kern="0" spc="-80" dirty="0">
                <a:solidFill>
                  <a:schemeClr val="accent6"/>
                </a:solidFill>
              </a:rPr>
              <a:t>Each shard maintains part of the blockchain state.</a:t>
            </a:r>
          </a:p>
          <a:p>
            <a:r>
              <a:rPr lang="en-US" sz="1500" kern="0" spc="-80" dirty="0">
                <a:solidFill>
                  <a:schemeClr val="accent2"/>
                </a:solidFill>
              </a:rPr>
              <a:t>3. Interoperability and Cross-chain Protocols</a:t>
            </a:r>
          </a:p>
          <a:p>
            <a:r>
              <a:rPr lang="en-US" sz="1500" kern="0" spc="-80" dirty="0">
                <a:solidFill>
                  <a:schemeClr val="accent6"/>
                </a:solidFill>
              </a:rPr>
              <a:t>Blockchains are often isolated, so interoperability is essential for exchanging assets and data.</a:t>
            </a:r>
          </a:p>
          <a:p>
            <a:r>
              <a:rPr lang="en-US" sz="1500" kern="0" spc="-80" dirty="0">
                <a:solidFill>
                  <a:schemeClr val="accent2"/>
                </a:solidFill>
              </a:rPr>
              <a:t>3.1 Atomic Swaps</a:t>
            </a:r>
          </a:p>
          <a:p>
            <a:r>
              <a:rPr lang="en-US" sz="1500" kern="0" spc="-80" dirty="0">
                <a:solidFill>
                  <a:schemeClr val="accent6"/>
                </a:solidFill>
              </a:rPr>
              <a:t>Peer-to-peer exchange of cryptocurrencies without intermediaries.</a:t>
            </a:r>
          </a:p>
          <a:p>
            <a:r>
              <a:rPr lang="en-US" sz="1500" kern="0" spc="-80" dirty="0">
                <a:solidFill>
                  <a:schemeClr val="accent6"/>
                </a:solidFill>
              </a:rPr>
              <a:t>Uses hashed </a:t>
            </a:r>
            <a:r>
              <a:rPr lang="en-US" sz="1500" kern="0" spc="-80" dirty="0" err="1">
                <a:solidFill>
                  <a:schemeClr val="accent6"/>
                </a:solidFill>
              </a:rPr>
              <a:t>timelock</a:t>
            </a:r>
            <a:r>
              <a:rPr lang="en-US" sz="1500" kern="0" spc="-80" dirty="0">
                <a:solidFill>
                  <a:schemeClr val="accent6"/>
                </a:solidFill>
              </a:rPr>
              <a:t> contracts (HTLC) to ensure atomicity.</a:t>
            </a:r>
          </a:p>
          <a:p>
            <a:r>
              <a:rPr lang="en-US" sz="1500" kern="0" spc="-80" dirty="0">
                <a:solidFill>
                  <a:schemeClr val="accent2"/>
                </a:solidFill>
              </a:rPr>
              <a:t>3.2 Cross-chain Bridges</a:t>
            </a:r>
          </a:p>
          <a:p>
            <a:r>
              <a:rPr lang="en-US" sz="1500" kern="0" spc="-80" dirty="0">
                <a:solidFill>
                  <a:schemeClr val="accent6"/>
                </a:solidFill>
              </a:rPr>
              <a:t>Allow transfer of assets between blockchains.</a:t>
            </a:r>
          </a:p>
          <a:p>
            <a:r>
              <a:rPr lang="en-US" sz="1500" kern="0" spc="-80" dirty="0">
                <a:solidFill>
                  <a:schemeClr val="accent6"/>
                </a:solidFill>
              </a:rPr>
              <a:t>Example: WBTC (Wrapped Bitcoin) on Ethereum.</a:t>
            </a:r>
          </a:p>
          <a:p>
            <a:r>
              <a:rPr lang="en-US" sz="1500" kern="0" spc="-80" dirty="0">
                <a:solidFill>
                  <a:schemeClr val="accent2"/>
                </a:solidFill>
              </a:rPr>
              <a:t>3.3 </a:t>
            </a:r>
            <a:r>
              <a:rPr lang="en-US" sz="1500" kern="0" spc="-80" dirty="0" err="1">
                <a:solidFill>
                  <a:schemeClr val="accent2"/>
                </a:solidFill>
              </a:rPr>
              <a:t>Interledger</a:t>
            </a:r>
            <a:r>
              <a:rPr lang="en-US" sz="1500" kern="0" spc="-80" dirty="0">
                <a:solidFill>
                  <a:schemeClr val="accent2"/>
                </a:solidFill>
              </a:rPr>
              <a:t> Protocol (ILP)</a:t>
            </a:r>
          </a:p>
          <a:p>
            <a:r>
              <a:rPr lang="en-US" sz="1500" kern="0" spc="-80" dirty="0">
                <a:solidFill>
                  <a:schemeClr val="accent6"/>
                </a:solidFill>
              </a:rPr>
              <a:t>Connects different ledgers for cross-border payments.</a:t>
            </a:r>
          </a:p>
          <a:p>
            <a:r>
              <a:rPr lang="en-US" sz="1500" kern="0" spc="-80" dirty="0">
                <a:solidFill>
                  <a:schemeClr val="accent6"/>
                </a:solidFill>
              </a:rPr>
              <a:t>Supports both crypto and traditional financial networks.</a:t>
            </a:r>
          </a:p>
        </p:txBody>
      </p:sp>
    </p:spTree>
    <p:extLst>
      <p:ext uri="{BB962C8B-B14F-4D97-AF65-F5344CB8AC3E}">
        <p14:creationId xmlns:p14="http://schemas.microsoft.com/office/powerpoint/2010/main" val="22983638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D4CC2-9F84-C5DC-78AC-72C16F6802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D7AEC1-A21D-F82F-B441-896B4C5504D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45D1C-EE8F-8162-7E3B-22975F04A8A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305BC4-96A1-46D7-B724-48454A440D8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B32C2C-D8C9-FCAF-2C73-1BD172433F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D4E3384-75A0-4BEF-10BC-4E26B81A7A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8ECA7E-E0BE-C8EF-E34D-B56A37E041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63AAA3-EB6A-940A-11B7-7F251661B1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7A3E12-B8D9-3E8C-9827-12CB8634236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FF5DF3B-97FC-CD9A-B643-2A69209C32F4}"/>
              </a:ext>
            </a:extLst>
          </p:cNvPr>
          <p:cNvSpPr txBox="1">
            <a:spLocks/>
          </p:cNvSpPr>
          <p:nvPr/>
        </p:nvSpPr>
        <p:spPr>
          <a:xfrm>
            <a:off x="145230" y="1236883"/>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4. Decentralized Governance</a:t>
            </a:r>
          </a:p>
          <a:p>
            <a:r>
              <a:rPr lang="en-US" sz="1500" kern="0" spc="-80" dirty="0">
                <a:solidFill>
                  <a:schemeClr val="accent2"/>
                </a:solidFill>
              </a:rPr>
              <a:t>4.1 DAOs (Decentralized Autonomous Organizations)</a:t>
            </a:r>
          </a:p>
          <a:p>
            <a:r>
              <a:rPr lang="en-US" sz="1500" kern="0" spc="-80" dirty="0">
                <a:solidFill>
                  <a:schemeClr val="accent6"/>
                </a:solidFill>
              </a:rPr>
              <a:t>Organizations governed by smart contracts and token holders.</a:t>
            </a:r>
          </a:p>
          <a:p>
            <a:r>
              <a:rPr lang="en-US" sz="1500" kern="0" spc="-80" dirty="0">
                <a:solidFill>
                  <a:schemeClr val="accent6"/>
                </a:solidFill>
              </a:rPr>
              <a:t>Decisions like fund allocation or protocol upgrades are voted on-chain.</a:t>
            </a:r>
          </a:p>
          <a:p>
            <a:r>
              <a:rPr lang="en-US" sz="1500" kern="0" spc="-80" dirty="0">
                <a:solidFill>
                  <a:schemeClr val="accent2"/>
                </a:solidFill>
              </a:rPr>
              <a:t>Example: </a:t>
            </a:r>
            <a:r>
              <a:rPr lang="en-US" sz="1500" kern="0" spc="-80" dirty="0" err="1">
                <a:solidFill>
                  <a:schemeClr val="accent6"/>
                </a:solidFill>
              </a:rPr>
              <a:t>MakerDAO</a:t>
            </a:r>
            <a:r>
              <a:rPr lang="en-US" sz="1500" kern="0" spc="-80" dirty="0">
                <a:solidFill>
                  <a:schemeClr val="accent6"/>
                </a:solidFill>
              </a:rPr>
              <a:t>, Uniswap governance.</a:t>
            </a:r>
          </a:p>
          <a:p>
            <a:r>
              <a:rPr lang="en-US" sz="1500" kern="0" spc="-80" dirty="0">
                <a:solidFill>
                  <a:schemeClr val="accent2"/>
                </a:solidFill>
              </a:rPr>
              <a:t>4.2 On-chain vs Off-chain Governance</a:t>
            </a:r>
          </a:p>
          <a:p>
            <a:r>
              <a:rPr lang="en-US" sz="1500" kern="0" spc="-80" dirty="0">
                <a:solidFill>
                  <a:schemeClr val="accent2"/>
                </a:solidFill>
              </a:rPr>
              <a:t>On-chain: </a:t>
            </a:r>
            <a:r>
              <a:rPr lang="en-US" sz="1500" kern="0" spc="-80" dirty="0">
                <a:solidFill>
                  <a:schemeClr val="accent6"/>
                </a:solidFill>
              </a:rPr>
              <a:t>Voting and execution happens on the blockchain.</a:t>
            </a:r>
          </a:p>
          <a:p>
            <a:r>
              <a:rPr lang="en-US" sz="1500" kern="0" spc="-80" dirty="0">
                <a:solidFill>
                  <a:schemeClr val="accent2"/>
                </a:solidFill>
              </a:rPr>
              <a:t>Off-chain: </a:t>
            </a:r>
            <a:r>
              <a:rPr lang="en-US" sz="1500" kern="0" spc="-80" dirty="0">
                <a:solidFill>
                  <a:schemeClr val="accent6"/>
                </a:solidFill>
              </a:rPr>
              <a:t>Voting off-chain; blockchain only enforces final decision.</a:t>
            </a:r>
          </a:p>
          <a:p>
            <a:endParaRPr lang="en-US" sz="1500" kern="0" spc="-80" dirty="0">
              <a:solidFill>
                <a:schemeClr val="accent6"/>
              </a:solidFill>
            </a:endParaRPr>
          </a:p>
          <a:p>
            <a:r>
              <a:rPr lang="en-US" sz="1500" kern="0" spc="-80" dirty="0">
                <a:solidFill>
                  <a:schemeClr val="accent2"/>
                </a:solidFill>
              </a:rPr>
              <a:t>5. Privacy and Confidentiality</a:t>
            </a:r>
          </a:p>
          <a:p>
            <a:r>
              <a:rPr lang="en-US" sz="1500" kern="0" spc="-80" dirty="0">
                <a:solidFill>
                  <a:schemeClr val="accent6"/>
                </a:solidFill>
              </a:rPr>
              <a:t>Public blockchains are transparent, which is not ideal for sensitive data. Advanced blockchain projects implement privacy layers:</a:t>
            </a:r>
          </a:p>
          <a:p>
            <a:r>
              <a:rPr lang="en-US" sz="1500" kern="0" spc="-80" dirty="0">
                <a:solidFill>
                  <a:schemeClr val="accent2"/>
                </a:solidFill>
              </a:rPr>
              <a:t>5.1 Zero-Knowledge Proofs (ZKP)</a:t>
            </a:r>
          </a:p>
          <a:p>
            <a:r>
              <a:rPr lang="en-US" sz="1500" kern="0" spc="-80" dirty="0">
                <a:solidFill>
                  <a:schemeClr val="accent6"/>
                </a:solidFill>
              </a:rPr>
              <a:t>Cryptographic method to prove knowledge of data without revealing it.</a:t>
            </a:r>
          </a:p>
          <a:p>
            <a:r>
              <a:rPr lang="en-US" sz="1500" kern="0" spc="-80" dirty="0">
                <a:solidFill>
                  <a:schemeClr val="accent2"/>
                </a:solidFill>
              </a:rPr>
              <a:t>Example: </a:t>
            </a:r>
            <a:r>
              <a:rPr lang="en-US" sz="1500" kern="0" spc="-80" dirty="0" err="1">
                <a:solidFill>
                  <a:schemeClr val="accent6"/>
                </a:solidFill>
              </a:rPr>
              <a:t>Zcash</a:t>
            </a:r>
            <a:r>
              <a:rPr lang="en-US" sz="1500" kern="0" spc="-80" dirty="0">
                <a:solidFill>
                  <a:schemeClr val="accent6"/>
                </a:solidFill>
              </a:rPr>
              <a:t> uses </a:t>
            </a:r>
            <a:r>
              <a:rPr lang="en-US" sz="1500" kern="0" spc="-80" dirty="0" err="1">
                <a:solidFill>
                  <a:schemeClr val="accent6"/>
                </a:solidFill>
              </a:rPr>
              <a:t>zk</a:t>
            </a:r>
            <a:r>
              <a:rPr lang="en-US" sz="1500" kern="0" spc="-80" dirty="0">
                <a:solidFill>
                  <a:schemeClr val="accent6"/>
                </a:solidFill>
              </a:rPr>
              <a:t>-SNARKs for private transactions.</a:t>
            </a:r>
          </a:p>
          <a:p>
            <a:r>
              <a:rPr lang="en-US" sz="1500" kern="0" spc="-80" dirty="0">
                <a:solidFill>
                  <a:schemeClr val="accent2"/>
                </a:solidFill>
              </a:rPr>
              <a:t>5.2 Confidential Transactions</a:t>
            </a:r>
          </a:p>
          <a:p>
            <a:r>
              <a:rPr lang="en-US" sz="1500" kern="0" spc="-80" dirty="0">
                <a:solidFill>
                  <a:schemeClr val="accent6"/>
                </a:solidFill>
              </a:rPr>
              <a:t>Hide transaction amounts but allow verification.</a:t>
            </a:r>
          </a:p>
          <a:p>
            <a:r>
              <a:rPr lang="en-US" sz="1500" kern="0" spc="-80" dirty="0">
                <a:solidFill>
                  <a:schemeClr val="accent6"/>
                </a:solidFill>
              </a:rPr>
              <a:t>Often used in enterprise blockchain networks.</a:t>
            </a:r>
          </a:p>
        </p:txBody>
      </p:sp>
    </p:spTree>
    <p:extLst>
      <p:ext uri="{BB962C8B-B14F-4D97-AF65-F5344CB8AC3E}">
        <p14:creationId xmlns:p14="http://schemas.microsoft.com/office/powerpoint/2010/main" val="100545942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DDD4-FA46-7397-9F1C-E2C3CD8A96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B3C087-C8DE-1407-B822-B305F8CAFC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6BA817-CB2B-FB09-EF22-6B76CE2730E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707156-BD5B-C4A4-F162-E0838DC1AAD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5DFBA-8416-649A-BA87-74ADB2FFDD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0A5B5-6B9B-2FE3-A5AC-E901814E4A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D99CF3-A6C7-C7AF-C40D-BB44B7DFD5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8E7AEC-C6EA-AAAE-011C-C527AC8131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0ED6B9-E1FF-E661-2EF9-894C9D64D35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2A82664D-CDAE-8A3F-0394-088B36142286}"/>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5.3 Mixers and Privacy Coins</a:t>
            </a:r>
          </a:p>
          <a:p>
            <a:r>
              <a:rPr lang="en-US" sz="1500" kern="0" spc="-80" dirty="0">
                <a:solidFill>
                  <a:schemeClr val="accent6"/>
                </a:solidFill>
              </a:rPr>
              <a:t>Mix transactions to obscure sender/receiver information.</a:t>
            </a:r>
          </a:p>
          <a:p>
            <a:r>
              <a:rPr lang="en-US" sz="1500" kern="0" spc="-80" dirty="0">
                <a:solidFill>
                  <a:schemeClr val="accent2"/>
                </a:solidFill>
              </a:rPr>
              <a:t>Example:</a:t>
            </a:r>
            <a:r>
              <a:rPr lang="en-US" sz="1500" kern="0" spc="-80" dirty="0">
                <a:solidFill>
                  <a:schemeClr val="accent6"/>
                </a:solidFill>
              </a:rPr>
              <a:t> Monero, Tornado Cash.</a:t>
            </a:r>
          </a:p>
          <a:p>
            <a:endParaRPr lang="en-US" sz="1500" kern="0" spc="-80" dirty="0">
              <a:solidFill>
                <a:schemeClr val="accent6"/>
              </a:solidFill>
            </a:endParaRPr>
          </a:p>
          <a:p>
            <a:r>
              <a:rPr lang="en-US" sz="1500" kern="0" spc="-80" dirty="0">
                <a:solidFill>
                  <a:schemeClr val="accent2"/>
                </a:solidFill>
              </a:rPr>
              <a:t>6. Consensus Enhancements</a:t>
            </a:r>
          </a:p>
          <a:p>
            <a:r>
              <a:rPr lang="en-US" sz="1500" kern="0" spc="-80" dirty="0">
                <a:solidFill>
                  <a:schemeClr val="accent6"/>
                </a:solidFill>
              </a:rPr>
              <a:t>Advanced consensus mechanisms improve scalability, energy efficiency, and fault tolerance.</a:t>
            </a:r>
          </a:p>
          <a:p>
            <a:r>
              <a:rPr lang="en-US" sz="1500" kern="0" spc="-80" dirty="0">
                <a:solidFill>
                  <a:schemeClr val="accent2"/>
                </a:solidFill>
              </a:rPr>
              <a:t>6.1 Proof of Authority (</a:t>
            </a:r>
            <a:r>
              <a:rPr lang="en-US" sz="1500" kern="0" spc="-80" dirty="0" err="1">
                <a:solidFill>
                  <a:schemeClr val="accent2"/>
                </a:solidFill>
              </a:rPr>
              <a:t>PoA</a:t>
            </a:r>
            <a:r>
              <a:rPr lang="en-US" sz="1500" kern="0" spc="-80" dirty="0">
                <a:solidFill>
                  <a:schemeClr val="accent2"/>
                </a:solidFill>
              </a:rPr>
              <a:t>)</a:t>
            </a:r>
          </a:p>
          <a:p>
            <a:r>
              <a:rPr lang="en-US" sz="1500" kern="0" spc="-80" dirty="0">
                <a:solidFill>
                  <a:schemeClr val="accent6"/>
                </a:solidFill>
              </a:rPr>
              <a:t>Validators are pre-approved authorities.</a:t>
            </a:r>
          </a:p>
          <a:p>
            <a:r>
              <a:rPr lang="en-US" sz="1500" kern="0" spc="-80" dirty="0">
                <a:solidFill>
                  <a:schemeClr val="accent6"/>
                </a:solidFill>
              </a:rPr>
              <a:t>Suitable for private blockchains with faster finality.</a:t>
            </a:r>
          </a:p>
          <a:p>
            <a:r>
              <a:rPr lang="en-US" sz="1500" kern="0" spc="-80" dirty="0">
                <a:solidFill>
                  <a:schemeClr val="accent2"/>
                </a:solidFill>
              </a:rPr>
              <a:t>6.2 Hybrid Consensus</a:t>
            </a:r>
          </a:p>
          <a:p>
            <a:r>
              <a:rPr lang="en-US" sz="1500" kern="0" spc="-80" dirty="0">
                <a:solidFill>
                  <a:schemeClr val="accent6"/>
                </a:solidFill>
              </a:rPr>
              <a:t>Combines PoW + </a:t>
            </a:r>
            <a:r>
              <a:rPr lang="en-US" sz="1500" kern="0" spc="-80" dirty="0" err="1">
                <a:solidFill>
                  <a:schemeClr val="accent6"/>
                </a:solidFill>
              </a:rPr>
              <a:t>PoS</a:t>
            </a:r>
            <a:r>
              <a:rPr lang="en-US" sz="1500" kern="0" spc="-80" dirty="0">
                <a:solidFill>
                  <a:schemeClr val="accent6"/>
                </a:solidFill>
              </a:rPr>
              <a:t> or other mechanisms.</a:t>
            </a:r>
          </a:p>
          <a:p>
            <a:r>
              <a:rPr lang="en-US" sz="1500" kern="0" spc="-80" dirty="0">
                <a:solidFill>
                  <a:schemeClr val="accent2"/>
                </a:solidFill>
              </a:rPr>
              <a:t>Example: </a:t>
            </a:r>
            <a:r>
              <a:rPr lang="en-US" sz="1500" kern="0" spc="-80" dirty="0" err="1">
                <a:solidFill>
                  <a:schemeClr val="accent6"/>
                </a:solidFill>
              </a:rPr>
              <a:t>Decred</a:t>
            </a:r>
            <a:r>
              <a:rPr lang="en-US" sz="1500" kern="0" spc="-80" dirty="0">
                <a:solidFill>
                  <a:schemeClr val="accent6"/>
                </a:solidFill>
              </a:rPr>
              <a:t> uses PoW + </a:t>
            </a:r>
            <a:r>
              <a:rPr lang="en-US" sz="1500" kern="0" spc="-80" dirty="0" err="1">
                <a:solidFill>
                  <a:schemeClr val="accent6"/>
                </a:solidFill>
              </a:rPr>
              <a:t>PoS</a:t>
            </a:r>
            <a:r>
              <a:rPr lang="en-US" sz="1500" kern="0" spc="-80" dirty="0">
                <a:solidFill>
                  <a:schemeClr val="accent6"/>
                </a:solidFill>
              </a:rPr>
              <a:t> for governance and security.</a:t>
            </a:r>
          </a:p>
          <a:p>
            <a:r>
              <a:rPr lang="en-US" sz="1500" kern="0" spc="-80" dirty="0">
                <a:solidFill>
                  <a:schemeClr val="accent2"/>
                </a:solidFill>
              </a:rPr>
              <a:t>6.3 DAG (Directed Acyclic Graph)</a:t>
            </a:r>
          </a:p>
          <a:p>
            <a:r>
              <a:rPr lang="en-US" sz="1500" kern="0" spc="-80" dirty="0">
                <a:solidFill>
                  <a:schemeClr val="accent6"/>
                </a:solidFill>
              </a:rPr>
              <a:t>Instead of a chain, transactions form a graph structure.</a:t>
            </a:r>
          </a:p>
          <a:p>
            <a:r>
              <a:rPr lang="en-US" sz="1500" kern="0" spc="-80" dirty="0">
                <a:solidFill>
                  <a:schemeClr val="accent6"/>
                </a:solidFill>
              </a:rPr>
              <a:t>Enables parallel validation (IOTA, Hedera </a:t>
            </a:r>
            <a:r>
              <a:rPr lang="en-US" sz="1500" kern="0" spc="-80" dirty="0" err="1">
                <a:solidFill>
                  <a:schemeClr val="accent6"/>
                </a:solidFill>
              </a:rPr>
              <a:t>Hashgraph</a:t>
            </a:r>
            <a:r>
              <a:rPr lang="en-US" sz="1500" kern="0" spc="-80" dirty="0">
                <a:solidFill>
                  <a:schemeClr val="accent6"/>
                </a:solidFill>
              </a:rPr>
              <a:t>).</a:t>
            </a:r>
          </a:p>
          <a:p>
            <a:endParaRPr lang="en-US" sz="1500" kern="0" spc="-80" dirty="0">
              <a:solidFill>
                <a:schemeClr val="accent6"/>
              </a:solidFill>
            </a:endParaRPr>
          </a:p>
          <a:p>
            <a:r>
              <a:rPr lang="en-US" sz="1500" kern="0" spc="-80" dirty="0">
                <a:solidFill>
                  <a:schemeClr val="accent2"/>
                </a:solidFill>
              </a:rPr>
              <a:t>7. Tokenization of Assets</a:t>
            </a:r>
          </a:p>
          <a:p>
            <a:r>
              <a:rPr lang="en-US" sz="1500" kern="0" spc="-80" dirty="0">
                <a:solidFill>
                  <a:schemeClr val="accent6"/>
                </a:solidFill>
              </a:rPr>
              <a:t>Physical and digital assets can be represented as blockchain tokens.</a:t>
            </a:r>
          </a:p>
          <a:p>
            <a:r>
              <a:rPr lang="en-US" sz="1500" kern="0" spc="-80" dirty="0">
                <a:solidFill>
                  <a:schemeClr val="accent2"/>
                </a:solidFill>
              </a:rPr>
              <a:t>Example: </a:t>
            </a:r>
            <a:r>
              <a:rPr lang="en-US" sz="1500" kern="0" spc="-80" dirty="0">
                <a:solidFill>
                  <a:schemeClr val="accent6"/>
                </a:solidFill>
              </a:rPr>
              <a:t>Real estate, art, and commodities.</a:t>
            </a:r>
          </a:p>
        </p:txBody>
      </p:sp>
    </p:spTree>
    <p:extLst>
      <p:ext uri="{BB962C8B-B14F-4D97-AF65-F5344CB8AC3E}">
        <p14:creationId xmlns:p14="http://schemas.microsoft.com/office/powerpoint/2010/main" val="250007330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9FFB7-56AE-8250-7A82-674020F385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B3AC78-C6EC-6C27-47F2-01B640EE32E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5FBDDD-E753-319C-5936-AB5A1656B72C}"/>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5F2045-022A-8871-CDE9-7F947FBBADC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53441F-3E2D-ECFE-D11D-C3B382E27B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A62EE3-F5D9-FF9F-1F02-F0663A3D0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6B43A-7D20-C4B9-D480-443016980D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0EC29B-4DAF-5354-8C63-6463F2FE2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FC3D07-3287-871A-54C2-4D57F2352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97421B1-69D8-ECAD-6E96-272FCA07E8A7}"/>
              </a:ext>
            </a:extLst>
          </p:cNvPr>
          <p:cNvSpPr txBox="1">
            <a:spLocks/>
          </p:cNvSpPr>
          <p:nvPr/>
        </p:nvSpPr>
        <p:spPr>
          <a:xfrm>
            <a:off x="145230" y="1236883"/>
            <a:ext cx="8624937" cy="7455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7.1 Security Tokens</a:t>
            </a:r>
          </a:p>
          <a:p>
            <a:r>
              <a:rPr lang="en-US" sz="1500" kern="0" spc="-80" dirty="0">
                <a:solidFill>
                  <a:schemeClr val="accent6"/>
                </a:solidFill>
              </a:rPr>
              <a:t>Represent ownership in an asset.</a:t>
            </a:r>
          </a:p>
          <a:p>
            <a:r>
              <a:rPr lang="en-US" sz="1500" kern="0" spc="-80" dirty="0">
                <a:solidFill>
                  <a:schemeClr val="accent6"/>
                </a:solidFill>
              </a:rPr>
              <a:t>Regulated and compliant with securities laws.</a:t>
            </a:r>
          </a:p>
          <a:p>
            <a:r>
              <a:rPr lang="en-US" sz="1500" kern="0" spc="-80" dirty="0">
                <a:solidFill>
                  <a:schemeClr val="accent2"/>
                </a:solidFill>
              </a:rPr>
              <a:t>7.2 Non-Fungible Tokens (NFTs)</a:t>
            </a:r>
          </a:p>
          <a:p>
            <a:r>
              <a:rPr lang="en-US" sz="1500" kern="0" spc="-80" dirty="0">
                <a:solidFill>
                  <a:schemeClr val="accent6"/>
                </a:solidFill>
              </a:rPr>
              <a:t>Unique tokens representing digital collectibles or intellectual property.</a:t>
            </a:r>
          </a:p>
          <a:p>
            <a:r>
              <a:rPr lang="en-US" sz="1500" kern="0" spc="-80" dirty="0">
                <a:solidFill>
                  <a:schemeClr val="accent2"/>
                </a:solidFill>
              </a:rPr>
              <a:t>7.3 Programmable Money</a:t>
            </a:r>
          </a:p>
          <a:p>
            <a:r>
              <a:rPr lang="en-US" sz="1500" kern="0" spc="-80" dirty="0">
                <a:solidFill>
                  <a:schemeClr val="accent6"/>
                </a:solidFill>
              </a:rPr>
              <a:t>Smart contracts allow conditional payment flows (DeFi, staking rewards).</a:t>
            </a:r>
          </a:p>
          <a:p>
            <a:endParaRPr lang="en-US" sz="1500" kern="0" spc="-80" dirty="0">
              <a:solidFill>
                <a:schemeClr val="accent6"/>
              </a:solidFill>
            </a:endParaRPr>
          </a:p>
          <a:p>
            <a:r>
              <a:rPr lang="en-US" sz="1500" kern="0" spc="-80" dirty="0">
                <a:solidFill>
                  <a:schemeClr val="accent2"/>
                </a:solidFill>
              </a:rPr>
              <a:t>8. Oracles</a:t>
            </a:r>
          </a:p>
          <a:p>
            <a:r>
              <a:rPr lang="en-US" sz="1500" kern="0" spc="-80" dirty="0">
                <a:solidFill>
                  <a:schemeClr val="accent6"/>
                </a:solidFill>
              </a:rPr>
              <a:t>Bridge off-chain data to on-chain smart contracts.</a:t>
            </a:r>
          </a:p>
          <a:p>
            <a:r>
              <a:rPr lang="en-US" sz="1500" kern="0" spc="-80" dirty="0">
                <a:solidFill>
                  <a:schemeClr val="accent2"/>
                </a:solidFill>
              </a:rPr>
              <a:t>Example: </a:t>
            </a:r>
            <a:r>
              <a:rPr lang="en-US" sz="1500" kern="0" spc="-80" dirty="0" err="1">
                <a:solidFill>
                  <a:schemeClr val="accent6"/>
                </a:solidFill>
              </a:rPr>
              <a:t>Chainlink</a:t>
            </a:r>
            <a:r>
              <a:rPr lang="en-US" sz="1500" kern="0" spc="-80" dirty="0">
                <a:solidFill>
                  <a:schemeClr val="accent6"/>
                </a:solidFill>
              </a:rPr>
              <a:t> provides verified external data feeds.</a:t>
            </a:r>
          </a:p>
          <a:p>
            <a:r>
              <a:rPr lang="en-US" sz="1500" kern="0" spc="-80" dirty="0">
                <a:solidFill>
                  <a:schemeClr val="accent2"/>
                </a:solidFill>
              </a:rPr>
              <a:t>Types:</a:t>
            </a:r>
          </a:p>
          <a:p>
            <a:r>
              <a:rPr lang="en-US" sz="1500" kern="0" spc="-80" dirty="0">
                <a:solidFill>
                  <a:schemeClr val="accent2"/>
                </a:solidFill>
              </a:rPr>
              <a:t>Inbound Oracles: </a:t>
            </a:r>
            <a:r>
              <a:rPr lang="en-US" sz="1500" kern="0" spc="-80" dirty="0">
                <a:solidFill>
                  <a:schemeClr val="accent6"/>
                </a:solidFill>
              </a:rPr>
              <a:t>Bring external data (stock price, weather).</a:t>
            </a:r>
          </a:p>
          <a:p>
            <a:r>
              <a:rPr lang="en-US" sz="1500" kern="0" spc="-80" dirty="0">
                <a:solidFill>
                  <a:schemeClr val="accent2"/>
                </a:solidFill>
              </a:rPr>
              <a:t>Outbound Oracles: </a:t>
            </a:r>
            <a:r>
              <a:rPr lang="en-US" sz="1500" kern="0" spc="-80" dirty="0">
                <a:solidFill>
                  <a:schemeClr val="accent6"/>
                </a:solidFill>
              </a:rPr>
              <a:t>Send blockchain data to external systems.</a:t>
            </a:r>
          </a:p>
          <a:p>
            <a:endParaRPr lang="en-US" sz="1500" kern="0" spc="-80" dirty="0">
              <a:solidFill>
                <a:schemeClr val="accent6"/>
              </a:solidFill>
            </a:endParaRPr>
          </a:p>
          <a:p>
            <a:r>
              <a:rPr lang="en-US" sz="1500" kern="0" spc="-80" dirty="0">
                <a:solidFill>
                  <a:schemeClr val="accent2"/>
                </a:solidFill>
              </a:rPr>
              <a:t>9. Advanced Blockchain Architectures</a:t>
            </a:r>
          </a:p>
          <a:p>
            <a:r>
              <a:rPr lang="en-US" sz="1500" kern="0" spc="-80" dirty="0">
                <a:solidFill>
                  <a:schemeClr val="accent2"/>
                </a:solidFill>
              </a:rPr>
              <a:t>9.1 Multi-chain Ecosystems</a:t>
            </a:r>
          </a:p>
          <a:p>
            <a:r>
              <a:rPr lang="en-US" sz="1500" kern="0" spc="-80" dirty="0">
                <a:solidFill>
                  <a:schemeClr val="accent2"/>
                </a:solidFill>
              </a:rPr>
              <a:t>Example: </a:t>
            </a:r>
            <a:r>
              <a:rPr lang="en-US" sz="1500" kern="0" spc="-80" dirty="0" err="1">
                <a:solidFill>
                  <a:schemeClr val="accent6"/>
                </a:solidFill>
              </a:rPr>
              <a:t>Polkadot</a:t>
            </a:r>
            <a:r>
              <a:rPr lang="en-US" sz="1500" kern="0" spc="-80" dirty="0">
                <a:solidFill>
                  <a:schemeClr val="accent6"/>
                </a:solidFill>
              </a:rPr>
              <a:t> (relay chain + </a:t>
            </a:r>
            <a:r>
              <a:rPr lang="en-US" sz="1500" kern="0" spc="-80" dirty="0" err="1">
                <a:solidFill>
                  <a:schemeClr val="accent6"/>
                </a:solidFill>
              </a:rPr>
              <a:t>parachains</a:t>
            </a:r>
            <a:r>
              <a:rPr lang="en-US" sz="1500" kern="0" spc="-80" dirty="0">
                <a:solidFill>
                  <a:schemeClr val="accent6"/>
                </a:solidFill>
              </a:rPr>
              <a:t>) and Cosmos (hub + zones).</a:t>
            </a:r>
          </a:p>
          <a:p>
            <a:r>
              <a:rPr lang="en-US" sz="1500" kern="0" spc="-80" dirty="0">
                <a:solidFill>
                  <a:schemeClr val="accent6"/>
                </a:solidFill>
              </a:rPr>
              <a:t>Enable scalable, interoperable ecosystems.</a:t>
            </a:r>
          </a:p>
          <a:p>
            <a:r>
              <a:rPr lang="en-US" sz="1500" kern="0" spc="-80" dirty="0">
                <a:solidFill>
                  <a:schemeClr val="accent6"/>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6"/>
                </a:solidFill>
              </a:rPr>
              <a:t>9.3 Hybrid Blockchains</a:t>
            </a:r>
          </a:p>
          <a:p>
            <a:r>
              <a:rPr lang="en-US" sz="1500" kern="0" spc="-80" dirty="0">
                <a:solidFill>
                  <a:schemeClr val="accent6"/>
                </a:solidFill>
              </a:rPr>
              <a:t>Combine public transparency and private control.</a:t>
            </a:r>
          </a:p>
          <a:p>
            <a:r>
              <a:rPr lang="en-US" sz="1500" kern="0" spc="-80" dirty="0">
                <a:solidFill>
                  <a:schemeClr val="accent6"/>
                </a:solidFill>
              </a:rPr>
              <a:t>Example: Enterprises using private chains but settling assets on public chains.</a:t>
            </a:r>
          </a:p>
          <a:p>
            <a:r>
              <a:rPr lang="en-US" sz="1500" kern="0" spc="-80" dirty="0">
                <a:solidFill>
                  <a:schemeClr val="accent6"/>
                </a:solidFill>
              </a:rPr>
              <a:t>10. Emerging Trends</a:t>
            </a:r>
          </a:p>
          <a:p>
            <a:r>
              <a:rPr lang="en-US" sz="1500" kern="0" spc="-80" dirty="0">
                <a:solidFill>
                  <a:schemeClr val="accent6"/>
                </a:solidFill>
              </a:rPr>
              <a:t>Self-sovereign identity (SSI): Users control their identity data on blockchain.</a:t>
            </a:r>
          </a:p>
          <a:p>
            <a:r>
              <a:rPr lang="en-US" sz="1500" kern="0" spc="-80" dirty="0">
                <a:solidFill>
                  <a:schemeClr val="accent6"/>
                </a:solidFill>
              </a:rPr>
              <a:t>Decentralized Finance (DeFi) 2.0: Advanced lending, liquidity pools, and insurance protocols.</a:t>
            </a:r>
          </a:p>
          <a:p>
            <a:r>
              <a:rPr lang="en-US" sz="1500" kern="0" spc="-80" dirty="0">
                <a:solidFill>
                  <a:schemeClr val="accent6"/>
                </a:solidFill>
              </a:rPr>
              <a:t>Blockchain for AI &amp; IoT: Secure, decentralized data sharing.</a:t>
            </a:r>
          </a:p>
          <a:p>
            <a:r>
              <a:rPr lang="en-US" sz="1500" kern="0" spc="-80" dirty="0">
                <a:solidFill>
                  <a:schemeClr val="accent6"/>
                </a:solidFill>
              </a:rPr>
              <a:t>Tokenized governance &amp; social impact: Blockchain-based voting, carbon credits, and ESG tracking.</a:t>
            </a:r>
          </a:p>
        </p:txBody>
      </p:sp>
    </p:spTree>
    <p:extLst>
      <p:ext uri="{BB962C8B-B14F-4D97-AF65-F5344CB8AC3E}">
        <p14:creationId xmlns:p14="http://schemas.microsoft.com/office/powerpoint/2010/main" val="21576364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50F7-6638-3291-04BB-5403BA032C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412694-05DD-195B-7DBB-D6B4352A27A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4F700F-BBDD-B207-744C-8B3EC147385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10BD3B-21A5-3A2A-A68B-182F87B024D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37E61A-F7A6-7DA8-8296-C48E5083B7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F81FD6-3B11-B657-E30B-1D2EC8F241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6DFF4-699A-B406-F539-B0485D2C85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4F2009-0D3C-85C8-E28F-4D909686620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B30D5A-ABCB-C8E4-4EBF-2FFABA094C1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880DCDE-2486-812C-5D10-D93FDE0BE204}"/>
              </a:ext>
            </a:extLst>
          </p:cNvPr>
          <p:cNvSpPr txBox="1">
            <a:spLocks/>
          </p:cNvSpPr>
          <p:nvPr/>
        </p:nvSpPr>
        <p:spPr>
          <a:xfrm>
            <a:off x="145230" y="1236883"/>
            <a:ext cx="8624937" cy="33009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2"/>
                </a:solidFill>
              </a:rPr>
              <a:t>9.3 Hybrid Blockchains</a:t>
            </a:r>
          </a:p>
          <a:p>
            <a:r>
              <a:rPr lang="en-US" sz="1500" kern="0" spc="-80" dirty="0">
                <a:solidFill>
                  <a:schemeClr val="accent6"/>
                </a:solidFill>
              </a:rPr>
              <a:t>Combine public transparency and private control.</a:t>
            </a:r>
          </a:p>
          <a:p>
            <a:r>
              <a:rPr lang="en-US" sz="1500" kern="0" spc="-80" dirty="0">
                <a:solidFill>
                  <a:schemeClr val="accent2"/>
                </a:solidFill>
              </a:rPr>
              <a:t>Example:</a:t>
            </a:r>
            <a:r>
              <a:rPr lang="en-US" sz="1500" kern="0" spc="-80" dirty="0">
                <a:solidFill>
                  <a:schemeClr val="accent6"/>
                </a:solidFill>
              </a:rPr>
              <a:t> Enterprises using private chains but settling assets on public chains.</a:t>
            </a:r>
          </a:p>
          <a:p>
            <a:endParaRPr lang="en-US" sz="1500" kern="0" spc="-80" dirty="0">
              <a:solidFill>
                <a:schemeClr val="accent6"/>
              </a:solidFill>
            </a:endParaRPr>
          </a:p>
          <a:p>
            <a:r>
              <a:rPr lang="en-US" sz="1500" kern="0" spc="-80" dirty="0">
                <a:solidFill>
                  <a:schemeClr val="accent2"/>
                </a:solidFill>
              </a:rPr>
              <a:t>10. Emerging Trends</a:t>
            </a:r>
          </a:p>
          <a:p>
            <a:r>
              <a:rPr lang="en-US" sz="1500" kern="0" spc="-80" dirty="0">
                <a:solidFill>
                  <a:schemeClr val="accent2"/>
                </a:solidFill>
              </a:rPr>
              <a:t>Self-sovereign identity (SSI): </a:t>
            </a:r>
            <a:r>
              <a:rPr lang="en-US" sz="1500" kern="0" spc="-80" dirty="0">
                <a:solidFill>
                  <a:schemeClr val="accent6"/>
                </a:solidFill>
              </a:rPr>
              <a:t>Users control their identity data on blockchain.</a:t>
            </a:r>
          </a:p>
          <a:p>
            <a:r>
              <a:rPr lang="en-US" sz="1500" kern="0" spc="-80" dirty="0">
                <a:solidFill>
                  <a:schemeClr val="accent2"/>
                </a:solidFill>
              </a:rPr>
              <a:t>Decentralized Finance (DeFi) 2.0: </a:t>
            </a:r>
            <a:r>
              <a:rPr lang="en-US" sz="1500" kern="0" spc="-80" dirty="0">
                <a:solidFill>
                  <a:schemeClr val="accent6"/>
                </a:solidFill>
              </a:rPr>
              <a:t>Advanced lending, liquidity pools, and insurance protocols.</a:t>
            </a:r>
          </a:p>
          <a:p>
            <a:r>
              <a:rPr lang="en-US" sz="1500" kern="0" spc="-80" dirty="0">
                <a:solidFill>
                  <a:schemeClr val="accent2"/>
                </a:solidFill>
              </a:rPr>
              <a:t>Blockchain for AI &amp; IoT: </a:t>
            </a:r>
            <a:r>
              <a:rPr lang="en-US" sz="1500" kern="0" spc="-80" dirty="0">
                <a:solidFill>
                  <a:schemeClr val="accent6"/>
                </a:solidFill>
              </a:rPr>
              <a:t>Secure, decentralized data sharing.</a:t>
            </a:r>
          </a:p>
          <a:p>
            <a:r>
              <a:rPr lang="en-US" sz="1500" kern="0" spc="-80" dirty="0">
                <a:solidFill>
                  <a:schemeClr val="accent2"/>
                </a:solidFill>
              </a:rPr>
              <a:t>Tokenized governance &amp; social impact: </a:t>
            </a:r>
            <a:r>
              <a:rPr lang="en-US" sz="1500" kern="0" spc="-80" dirty="0">
                <a:solidFill>
                  <a:schemeClr val="accent6"/>
                </a:solidFill>
              </a:rPr>
              <a:t>Blockchain-based voting, carbon credits, and ESG tracking.</a:t>
            </a:r>
          </a:p>
        </p:txBody>
      </p:sp>
    </p:spTree>
    <p:extLst>
      <p:ext uri="{BB962C8B-B14F-4D97-AF65-F5344CB8AC3E}">
        <p14:creationId xmlns:p14="http://schemas.microsoft.com/office/powerpoint/2010/main" val="399098628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Types of Blockchain - </a:t>
            </a:r>
            <a:r>
              <a:rPr lang="en-IN" sz="1800" dirty="0" err="1">
                <a:hlinkClick r:id="rId8"/>
              </a:rPr>
              <a:t>GeeksforGeeks</a:t>
            </a:r>
            <a:endParaRPr lang="en-US" sz="1800" dirty="0"/>
          </a:p>
          <a:p>
            <a:r>
              <a:rPr lang="en-US" sz="1800" dirty="0">
                <a:hlinkClick r:id="rId9"/>
              </a:rPr>
              <a:t>What is a Blockchain consensus algorithm?</a:t>
            </a:r>
            <a:r>
              <a:rPr lang="en-US" sz="1800" dirty="0"/>
              <a:t> </a:t>
            </a:r>
          </a:p>
          <a:p>
            <a:r>
              <a:rPr lang="en-US" sz="1800" dirty="0">
                <a:hlinkClick r:id="rId10"/>
              </a:rPr>
              <a:t>Evolution of blockchain consensus algorithms</a:t>
            </a:r>
            <a:endParaRPr lang="en-US" sz="1800" dirty="0"/>
          </a:p>
          <a:p>
            <a:r>
              <a:rPr lang="en-US" sz="1800" dirty="0">
                <a:hlinkClick r:id="rId11"/>
              </a:rPr>
              <a:t>Types of Digital Assets Explained with Examples and Use Cases</a:t>
            </a:r>
            <a:endParaRPr lang="en-US" sz="1800" dirty="0"/>
          </a:p>
          <a:p>
            <a:r>
              <a:rPr lang="en-US" sz="1800" dirty="0">
                <a:hlinkClick r:id="rId12"/>
              </a:rPr>
              <a:t>Blockchain Developer Roadmap</a:t>
            </a:r>
            <a:endParaRPr lang="en-US" sz="1800" dirty="0"/>
          </a:p>
          <a:p>
            <a:r>
              <a:rPr lang="en-IN" sz="1800" dirty="0">
                <a:hlinkClick r:id="rId13"/>
              </a:rPr>
              <a:t>Grokking Bitcoin</a:t>
            </a:r>
            <a:endParaRPr lang="en-IN" sz="1800" dirty="0"/>
          </a:p>
          <a:p>
            <a:r>
              <a:rPr lang="en-US" sz="1800" dirty="0">
                <a:hlinkClick r:id="rId14"/>
              </a:rPr>
              <a:t>Blockchain Applications: A Hands-On Approach</a:t>
            </a:r>
            <a:endParaRPr lang="en-US" sz="1800" dirty="0"/>
          </a:p>
          <a:p>
            <a:r>
              <a:rPr lang="en-US" sz="1800" dirty="0">
                <a:hlinkClick r:id="rId15"/>
              </a:rPr>
              <a:t>Mastering-Blockchain</a:t>
            </a:r>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extLst>
              <p:ext uri="{D42A27DB-BD31-4B8C-83A1-F6EECF244321}">
                <p14:modId xmlns:p14="http://schemas.microsoft.com/office/powerpoint/2010/main" val="30092756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5190214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51535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32473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B19A4-63D4-9825-5CB4-35B25AAED4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E3364A-654C-5B5A-8B08-21E85C158B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6945C1-EC3B-C8DE-561A-C7B6AEC7EF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FF321-4B93-B719-7292-72F55ABD86B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1DDDABD-32B9-AD5E-9BAE-3DA6AA7095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3B2921-B3D6-1FB7-31E1-C8942F6A20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679B4-8793-FAED-CF07-DABFC865B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928AC38-6C86-7AF9-7759-7A1138E35F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E19A72-CDC8-9443-1A3E-A87A6F2F399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902AD72-AEA7-F41A-1BC5-9287A0DAD7D7}"/>
              </a:ext>
            </a:extLst>
          </p:cNvPr>
          <p:cNvSpPr txBox="1">
            <a:spLocks/>
          </p:cNvSpPr>
          <p:nvPr/>
        </p:nvSpPr>
        <p:spPr>
          <a:xfrm>
            <a:off x="228600" y="762000"/>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6"/>
                </a:solidFill>
              </a:rPr>
              <a:t>    </a:t>
            </a:r>
            <a:r>
              <a:rPr lang="en-US" sz="1500" kern="0" spc="-80" dirty="0">
                <a:solidFill>
                  <a:schemeClr val="accent6"/>
                </a:solidFill>
              </a:rPr>
              <a:t>Earth (Reality)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[Remote Sensing Sensors]</a:t>
            </a:r>
          </a:p>
          <a:p>
            <a:pPr marL="12700" marR="5080"/>
            <a:r>
              <a:rPr lang="en-US" sz="1500" kern="0" spc="-80" dirty="0">
                <a:solidFill>
                  <a:schemeClr val="accent6"/>
                </a:solidFill>
              </a:rPr>
              <a:t>      Satellites, Drones, LiDAR</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Raw Imagery / Point Clouds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[Photogrammetry Engine]</a:t>
            </a:r>
          </a:p>
          <a:p>
            <a:pPr marL="12700" marR="5080"/>
            <a:r>
              <a:rPr lang="en-US" sz="1500" kern="0" spc="-80" dirty="0">
                <a:solidFill>
                  <a:schemeClr val="accent6"/>
                </a:solidFill>
              </a:rPr>
              <a:t>     </a:t>
            </a:r>
            <a:r>
              <a:rPr lang="en-US" sz="1500" kern="0" spc="-80" dirty="0" err="1">
                <a:solidFill>
                  <a:schemeClr val="accent6"/>
                </a:solidFill>
              </a:rPr>
              <a:t>Orthomosaic</a:t>
            </a:r>
            <a:r>
              <a:rPr lang="en-US" sz="1500" kern="0" spc="-80" dirty="0">
                <a:solidFill>
                  <a:schemeClr val="accent6"/>
                </a:solidFill>
              </a:rPr>
              <a:t> Maps / 3D Models / DEM</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[GIS]</a:t>
            </a:r>
          </a:p>
          <a:p>
            <a:pPr marL="12700" marR="5080"/>
            <a:r>
              <a:rPr lang="en-US" sz="1500" kern="0" spc="-80" dirty="0">
                <a:solidFill>
                  <a:schemeClr val="accent6"/>
                </a:solidFill>
              </a:rPr>
              <a:t>    Data Storage | Layering | Analysis</a:t>
            </a:r>
          </a:p>
          <a:p>
            <a:pPr marL="12700" marR="5080"/>
            <a:r>
              <a:rPr lang="en-US" sz="15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Spatial Insights / Layers</a:t>
            </a:r>
          </a:p>
          <a:p>
            <a:pPr marL="12700" marR="5080"/>
            <a:r>
              <a:rPr lang="en-US" sz="16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a:t>
            </a:r>
            <a:endParaRPr lang="en-US" sz="1500" kern="0" spc="-80" dirty="0">
              <a:solidFill>
                <a:schemeClr val="accent6"/>
              </a:solidFill>
            </a:endParaRPr>
          </a:p>
        </p:txBody>
      </p:sp>
    </p:spTree>
    <p:extLst>
      <p:ext uri="{BB962C8B-B14F-4D97-AF65-F5344CB8AC3E}">
        <p14:creationId xmlns:p14="http://schemas.microsoft.com/office/powerpoint/2010/main" val="357977627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106E-553C-A218-0C10-5B35E83F94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997C16-699A-BFB4-C7E2-1404AD3FD3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E3D077-12DF-DD52-93AD-01412EBE71D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3D03D-D84A-ADE4-D442-5165F0447AA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22CE6-BA18-E226-5B0E-2F02C49716C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60196-87BD-380C-4F8F-B8CE5961AC3D}"/>
              </a:ext>
            </a:extLst>
          </p:cNvPr>
          <p:cNvSpPr txBox="1">
            <a:spLocks/>
          </p:cNvSpPr>
          <p:nvPr/>
        </p:nvSpPr>
        <p:spPr>
          <a:xfrm>
            <a:off x="-2555666" y="5087779"/>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93A97-D4E7-21FF-FA95-8008F354563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04E0BF-249A-9A5D-33E3-EAD7AF540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96628B-9850-7A3A-5774-6FC966AE690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A0D73F-646E-BE8A-04C4-D15FD01AC259}"/>
              </a:ext>
            </a:extLst>
          </p:cNvPr>
          <p:cNvSpPr txBox="1">
            <a:spLocks/>
          </p:cNvSpPr>
          <p:nvPr/>
        </p:nvSpPr>
        <p:spPr>
          <a:xfrm>
            <a:off x="228600" y="762000"/>
            <a:ext cx="8624937" cy="84176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[Cartography Design]</a:t>
            </a:r>
          </a:p>
          <a:p>
            <a:pPr marL="12700" marR="5080"/>
            <a:r>
              <a:rPr lang="en-US" sz="1500" kern="0" spc="-80" dirty="0">
                <a:solidFill>
                  <a:schemeClr val="accent6"/>
                </a:solidFill>
              </a:rPr>
              <a:t>   Symbology | Colors | Labels | Legibility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Ready-to-use Maps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[Location Services Engine]</a:t>
            </a:r>
          </a:p>
          <a:p>
            <a:pPr marL="12700" marR="5080"/>
            <a:r>
              <a:rPr lang="en-US" sz="1500" kern="0" spc="-80" dirty="0">
                <a:solidFill>
                  <a:schemeClr val="accent6"/>
                </a:solidFill>
              </a:rPr>
              <a:t>   GPS + Wi-Fi + Network Positioning</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User Position + Routes</a:t>
            </a:r>
          </a:p>
          <a:p>
            <a:pPr marL="12700" marR="5080"/>
            <a:r>
              <a:rPr lang="en-US" sz="1900" kern="0" spc="-80" dirty="0">
                <a:solidFill>
                  <a:schemeClr val="accent6"/>
                </a:solidFill>
              </a:rPr>
              <a:t>           </a:t>
            </a:r>
            <a:r>
              <a:rPr lang="en-US" sz="1500" kern="0" spc="-80" dirty="0">
                <a:solidFill>
                  <a:schemeClr val="accent6"/>
                </a:solidFill>
              </a:rPr>
              <a:t>|</a:t>
            </a:r>
          </a:p>
          <a:p>
            <a:pPr marL="12700" marR="5080"/>
            <a:r>
              <a:rPr lang="en-US" sz="1500" kern="0" spc="-80" dirty="0">
                <a:solidFill>
                  <a:schemeClr val="accent6"/>
                </a:solidFill>
              </a:rPr>
              <a:t>              v</a:t>
            </a:r>
          </a:p>
          <a:p>
            <a:pPr marL="12700" marR="5080"/>
            <a:r>
              <a:rPr lang="en-US" sz="1500" kern="0" spc="-80" dirty="0">
                <a:solidFill>
                  <a:schemeClr val="accent6"/>
                </a:solidFill>
              </a:rPr>
              <a:t>    [Location-Based Apps UI]</a:t>
            </a:r>
          </a:p>
          <a:p>
            <a:pPr marL="12700" marR="5080"/>
            <a:r>
              <a:rPr lang="en-US" sz="1500" kern="0" spc="-80" dirty="0">
                <a:solidFill>
                  <a:schemeClr val="accent6"/>
                </a:solidFill>
              </a:rPr>
              <a:t>    Navigation | Delivery | Asset Tracking | AR</a:t>
            </a: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707407238"/>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23F21-A1E1-D298-DB62-0FFE76709F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D60C16-5DB3-7589-0874-4B54D0F9F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1D192-68C2-571B-49B5-EBA129B16E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56FD24-B312-BC1F-D285-392E9AD6B66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52F797C-0139-CA05-0848-9C21792267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3E3E52-5B90-9FC9-6C10-1C70B6602E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4D5D21-18B8-9267-8CE9-2D38946E96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77DEE2-FAD3-F9E3-AB15-B50FACCDB7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327CF-4DA8-408C-F5B5-F20B32963F8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8314B2A-55B0-B5D8-868D-19ABA235EB3F}"/>
              </a:ext>
            </a:extLst>
          </p:cNvPr>
          <p:cNvSpPr txBox="1">
            <a:spLocks/>
          </p:cNvSpPr>
          <p:nvPr/>
        </p:nvSpPr>
        <p:spPr>
          <a:xfrm>
            <a:off x="228600" y="7620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2"/>
                </a:solidFill>
              </a:rPr>
              <a:t>🌏 Core Idea </a:t>
            </a:r>
          </a:p>
          <a:p>
            <a:pPr marL="12700" marR="5080"/>
            <a:r>
              <a:rPr lang="en-US" sz="1700" kern="0" spc="-80" dirty="0">
                <a:solidFill>
                  <a:schemeClr val="accent6"/>
                </a:solidFill>
              </a:rPr>
              <a:t>Remote Sensing + Photogrammetry create the raw spatial data.</a:t>
            </a:r>
          </a:p>
          <a:p>
            <a:pPr marL="12700" marR="5080"/>
            <a:r>
              <a:rPr lang="en-US" sz="1700" kern="0" spc="-80" dirty="0">
                <a:solidFill>
                  <a:schemeClr val="accent6"/>
                </a:solidFill>
              </a:rPr>
              <a:t>GIS organizes + analyzes this data.</a:t>
            </a:r>
          </a:p>
          <a:p>
            <a:pPr marL="12700" marR="5080"/>
            <a:r>
              <a:rPr lang="en-US" sz="1700" kern="0" spc="-80" dirty="0">
                <a:solidFill>
                  <a:schemeClr val="accent6"/>
                </a:solidFill>
              </a:rPr>
              <a:t>Cartography turns it into understandable maps.</a:t>
            </a:r>
          </a:p>
          <a:p>
            <a:pPr marL="12700" marR="5080"/>
            <a:r>
              <a:rPr lang="en-US" sz="1700" kern="0" spc="-80" dirty="0">
                <a:solidFill>
                  <a:schemeClr val="accent6"/>
                </a:solidFill>
              </a:rPr>
              <a:t>Location Services &amp; Location Apps deliver these maps &amp; insights to users in real-time.</a:t>
            </a:r>
          </a:p>
          <a:p>
            <a:pPr marL="12700" marR="5080"/>
            <a:endParaRPr lang="en-US" sz="1700" kern="0" spc="-80" dirty="0">
              <a:solidFill>
                <a:schemeClr val="accent6"/>
              </a:solidFill>
            </a:endParaRPr>
          </a:p>
          <a:p>
            <a:pPr marL="355600" marR="5080" indent="-342900">
              <a:buAutoNum type="arabicParenR"/>
            </a:pPr>
            <a:r>
              <a:rPr lang="en-US" sz="1700" kern="0" spc="-80" dirty="0">
                <a:solidFill>
                  <a:schemeClr val="accent2"/>
                </a:solidFill>
              </a:rPr>
              <a:t>Remote Sensing (Seeing the Earth from Above)</a:t>
            </a:r>
          </a:p>
          <a:p>
            <a:pPr marL="12700" marR="5080"/>
            <a:r>
              <a:rPr lang="en-US" sz="1700" kern="0" spc="-80" dirty="0">
                <a:solidFill>
                  <a:schemeClr val="accent2"/>
                </a:solidFill>
              </a:rPr>
              <a:t>Source:</a:t>
            </a:r>
            <a:r>
              <a:rPr lang="en-US" sz="1700" kern="0" spc="-80" dirty="0">
                <a:solidFill>
                  <a:schemeClr val="accent6"/>
                </a:solidFill>
              </a:rPr>
              <a:t> satellites, drones, aircraft, radar, LiDAR.</a:t>
            </a:r>
          </a:p>
          <a:p>
            <a:pPr marL="12700" marR="5080"/>
            <a:r>
              <a:rPr lang="en-US" sz="1700" kern="0" spc="-80" dirty="0">
                <a:solidFill>
                  <a:schemeClr val="accent2"/>
                </a:solidFill>
              </a:rPr>
              <a:t>Output:</a:t>
            </a:r>
            <a:r>
              <a:rPr lang="en-US" sz="1700" kern="0" spc="-80" dirty="0">
                <a:solidFill>
                  <a:schemeClr val="accent6"/>
                </a:solidFill>
              </a:rPr>
              <a:t> raw imagery or point clouds. </a:t>
            </a:r>
          </a:p>
          <a:p>
            <a:pPr marL="12700" marR="5080"/>
            <a:r>
              <a:rPr lang="en-US" sz="1700" kern="0" spc="-80" dirty="0">
                <a:solidFill>
                  <a:schemeClr val="accent6"/>
                </a:solidFill>
              </a:rPr>
              <a:t>This is like opening your eyes to the world, capturing what is there.→ Provides pixels, spectral data, height, reflected signals.</a:t>
            </a:r>
          </a:p>
          <a:p>
            <a:pPr marL="12700" marR="5080"/>
            <a:endParaRPr lang="en-US" sz="1700" kern="0" spc="-80" dirty="0">
              <a:solidFill>
                <a:schemeClr val="accent6"/>
              </a:solidFill>
            </a:endParaRPr>
          </a:p>
          <a:p>
            <a:pPr marL="12700" marR="5080"/>
            <a:r>
              <a:rPr lang="en-US" sz="1700" kern="0" spc="-80" dirty="0">
                <a:solidFill>
                  <a:schemeClr val="accent2"/>
                </a:solidFill>
              </a:rPr>
              <a:t>2) Photogrammetry (Building 3D from 2D Images)</a:t>
            </a:r>
          </a:p>
          <a:p>
            <a:pPr marL="12700" marR="5080"/>
            <a:r>
              <a:rPr lang="en-US" sz="1700" kern="0" spc="-80" dirty="0">
                <a:solidFill>
                  <a:schemeClr val="accent6"/>
                </a:solidFill>
              </a:rPr>
              <a:t>Takes overlapping images from drones/satellites and reconstructs 3D models, Terrain surfaces, </a:t>
            </a:r>
            <a:r>
              <a:rPr lang="en-US" sz="1700" kern="0" spc="-80" dirty="0" err="1">
                <a:solidFill>
                  <a:schemeClr val="accent6"/>
                </a:solidFill>
              </a:rPr>
              <a:t>Orthomosaics</a:t>
            </a:r>
            <a:r>
              <a:rPr lang="en-US" sz="1700" kern="0" spc="-80" dirty="0">
                <a:solidFill>
                  <a:schemeClr val="accent6"/>
                </a:solidFill>
              </a:rPr>
              <a:t>, Dense point clouds</a:t>
            </a:r>
          </a:p>
          <a:p>
            <a:pPr marL="12700" marR="5080"/>
            <a:r>
              <a:rPr lang="en-US" sz="1700" kern="0" spc="-80" dirty="0">
                <a:solidFill>
                  <a:schemeClr val="accent6"/>
                </a:solidFill>
              </a:rPr>
              <a:t>This is geometry magic: turning flat pictures into measurable 3D Earth.</a:t>
            </a:r>
          </a:p>
          <a:p>
            <a:pPr marL="12700" marR="5080"/>
            <a:r>
              <a:rPr lang="en-US" sz="1700" kern="0" spc="-80" dirty="0">
                <a:solidFill>
                  <a:schemeClr val="accent2"/>
                </a:solidFill>
              </a:rPr>
              <a:t>N.B. – Some E2E  workflows / pipelines may skip this layer.</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7356265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10E94-A72C-ADC2-490B-E8921BAE8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F3D182-DD8E-1FD1-D9E5-3A02E737B2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FA760E-EA7C-CF69-100C-3D26DE26C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94373-D51A-70F8-6E73-8B50D3626B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63A1C3-1056-9617-D24A-87FD086CA6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111979-E514-214D-E041-A866A86E34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906CF2-0243-FC9C-B61B-7EB160B3B6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0BC948-5A54-2416-5D50-E444A62788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AC2616-F074-87A2-802C-B0C803828DA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7D58329-EEC7-8124-D81F-536D0DE72257}"/>
              </a:ext>
            </a:extLst>
          </p:cNvPr>
          <p:cNvSpPr txBox="1">
            <a:spLocks/>
          </p:cNvSpPr>
          <p:nvPr/>
        </p:nvSpPr>
        <p:spPr>
          <a:xfrm>
            <a:off x="228600" y="762000"/>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3) GIS (Geographic Information System)</a:t>
            </a:r>
          </a:p>
          <a:p>
            <a:pPr marL="12700" marR="5080"/>
            <a:r>
              <a:rPr lang="en-US" sz="1700" kern="0" spc="-80" dirty="0">
                <a:solidFill>
                  <a:schemeClr val="accent6"/>
                </a:solidFill>
              </a:rPr>
              <a:t>GIS stores, organizes, queries and analyzes spatial data, Layers (roads, elevation, land use, rainfall, addresses, etc.)</a:t>
            </a:r>
          </a:p>
          <a:p>
            <a:pPr marL="12700" marR="5080"/>
            <a:r>
              <a:rPr lang="en-US" sz="1700" kern="0" spc="-80" dirty="0">
                <a:solidFill>
                  <a:schemeClr val="accent6"/>
                </a:solidFill>
              </a:rPr>
              <a:t>Spatial queries (What is near what? How far? What changed over time?)</a:t>
            </a:r>
          </a:p>
          <a:p>
            <a:pPr marL="12700" marR="5080"/>
            <a:r>
              <a:rPr lang="en-US" sz="1700" kern="0" spc="-80" dirty="0">
                <a:solidFill>
                  <a:schemeClr val="accent6"/>
                </a:solidFill>
              </a:rPr>
              <a:t>This is the brain that converts all that data into answers.</a:t>
            </a:r>
          </a:p>
          <a:p>
            <a:pPr marL="12700" marR="5080"/>
            <a:endParaRPr lang="en-US" sz="1700" kern="0" spc="-80" dirty="0">
              <a:solidFill>
                <a:schemeClr val="accent6"/>
              </a:solidFill>
            </a:endParaRPr>
          </a:p>
          <a:p>
            <a:pPr marL="12700" marR="5080"/>
            <a:r>
              <a:rPr lang="en-US" sz="1700" kern="0" spc="-80" dirty="0">
                <a:solidFill>
                  <a:schemeClr val="accent2"/>
                </a:solidFill>
              </a:rPr>
              <a:t>4) Cartography (Making Maps Understandable)</a:t>
            </a:r>
          </a:p>
          <a:p>
            <a:pPr marL="12700" marR="5080"/>
            <a:r>
              <a:rPr lang="en-US" sz="1700" kern="0" spc="-80" dirty="0">
                <a:solidFill>
                  <a:schemeClr val="accent6"/>
                </a:solidFill>
              </a:rPr>
              <a:t>Here we apply design, symbology, color theory, labeling.</a:t>
            </a:r>
          </a:p>
          <a:p>
            <a:pPr marL="12700" marR="5080"/>
            <a:r>
              <a:rPr lang="en-US" sz="1700" kern="0" spc="-80" dirty="0">
                <a:solidFill>
                  <a:schemeClr val="accent6"/>
                </a:solidFill>
              </a:rPr>
              <a:t>This is the storyteller:</a:t>
            </a:r>
          </a:p>
          <a:p>
            <a:pPr marL="12700" marR="5080"/>
            <a:r>
              <a:rPr lang="en-US" sz="1700" kern="0" spc="-80" dirty="0">
                <a:solidFill>
                  <a:schemeClr val="accent6"/>
                </a:solidFill>
              </a:rPr>
              <a:t>Turning GIS data into maps that humans can read without headaches.</a:t>
            </a:r>
          </a:p>
          <a:p>
            <a:pPr marL="12700" marR="5080"/>
            <a:endParaRPr lang="en-US" sz="1700" kern="0" spc="-80" dirty="0">
              <a:solidFill>
                <a:schemeClr val="accent6"/>
              </a:solidFill>
            </a:endParaRPr>
          </a:p>
          <a:p>
            <a:pPr marL="12700" marR="5080"/>
            <a:r>
              <a:rPr lang="en-US" sz="1700" kern="0" spc="-80" dirty="0">
                <a:solidFill>
                  <a:schemeClr val="accent2"/>
                </a:solidFill>
              </a:rPr>
              <a:t>5) Location Services (Mathematical Positioning)</a:t>
            </a:r>
          </a:p>
          <a:p>
            <a:pPr marL="12700" marR="5080"/>
            <a:r>
              <a:rPr lang="en-US" sz="1700" kern="0" spc="-80" dirty="0">
                <a:solidFill>
                  <a:schemeClr val="accent6"/>
                </a:solidFill>
              </a:rPr>
              <a:t>Uses GPS + cell towers + Wi-Fi + inertial sensors to find:</a:t>
            </a:r>
          </a:p>
          <a:p>
            <a:pPr marL="12700" marR="5080"/>
            <a:r>
              <a:rPr lang="en-US" sz="1700" kern="0" spc="-80" dirty="0">
                <a:solidFill>
                  <a:schemeClr val="accent6"/>
                </a:solidFill>
              </a:rPr>
              <a:t>Where you are.</a:t>
            </a:r>
          </a:p>
          <a:p>
            <a:pPr marL="12700" marR="5080"/>
            <a:r>
              <a:rPr lang="en-US" sz="1700" kern="0" spc="-80" dirty="0">
                <a:solidFill>
                  <a:schemeClr val="accent6"/>
                </a:solidFill>
              </a:rPr>
              <a:t>Where places are.</a:t>
            </a:r>
          </a:p>
          <a:p>
            <a:pPr marL="12700" marR="5080"/>
            <a:r>
              <a:rPr lang="en-US" sz="1700" kern="0" spc="-80" dirty="0">
                <a:solidFill>
                  <a:schemeClr val="accent6"/>
                </a:solidFill>
              </a:rPr>
              <a:t>How to get from A → B.</a:t>
            </a:r>
          </a:p>
          <a:p>
            <a:pPr marL="12700" marR="5080"/>
            <a:r>
              <a:rPr lang="en-US" sz="1700" kern="0" spc="-80" dirty="0">
                <a:solidFill>
                  <a:schemeClr val="accent6"/>
                </a:solidFill>
              </a:rPr>
              <a:t>This is the compass inside your phone.</a:t>
            </a:r>
          </a:p>
          <a:p>
            <a:pPr marL="12700" marR="5080"/>
            <a:endParaRPr lang="en-US" sz="1700" kern="0" spc="-80" dirty="0">
              <a:solidFill>
                <a:schemeClr val="accent6"/>
              </a:solidFill>
            </a:endParaRPr>
          </a:p>
        </p:txBody>
      </p:sp>
    </p:spTree>
    <p:extLst>
      <p:ext uri="{BB962C8B-B14F-4D97-AF65-F5344CB8AC3E}">
        <p14:creationId xmlns:p14="http://schemas.microsoft.com/office/powerpoint/2010/main" val="433573123"/>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B0343-4EFD-AB9E-55A0-3E7AD038E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E1E33A-4D68-F339-7A13-76465AB3D8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6F308C-2707-2D5B-A611-C3F763A683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191D9-A2C5-32DA-A4A3-76E8FD9B3D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54534DC-2E4F-4A38-EFA9-B31E1B080C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C2F93B-5CC4-A8A0-C6B1-0ED44B2151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8F19F8-074B-BAB8-33E3-BE7D6B48CB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7BC9BB-9824-64E8-0D06-86F4EA326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FB5B8B-4D53-EFF6-7C7A-76D5234F2E5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AE48C1-504D-754E-1D26-DAC88219CCFE}"/>
              </a:ext>
            </a:extLst>
          </p:cNvPr>
          <p:cNvSpPr txBox="1">
            <a:spLocks/>
          </p:cNvSpPr>
          <p:nvPr/>
        </p:nvSpPr>
        <p:spPr>
          <a:xfrm>
            <a:off x="228600" y="762000"/>
            <a:ext cx="8624937" cy="84023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6) Location Apps (User Experience Layer)</a:t>
            </a:r>
          </a:p>
          <a:p>
            <a:pPr marL="12700" marR="5080"/>
            <a:r>
              <a:rPr lang="en-US" sz="1700" kern="0" spc="-80" dirty="0">
                <a:solidFill>
                  <a:schemeClr val="accent6"/>
                </a:solidFill>
              </a:rPr>
              <a:t>These are apps people actually use:</a:t>
            </a:r>
          </a:p>
          <a:p>
            <a:pPr marL="12700" marR="5080"/>
            <a:r>
              <a:rPr lang="en-US" sz="1700" kern="0" spc="-80" dirty="0">
                <a:solidFill>
                  <a:schemeClr val="accent6"/>
                </a:solidFill>
              </a:rPr>
              <a:t>Google Maps</a:t>
            </a:r>
          </a:p>
          <a:p>
            <a:pPr marL="12700" marR="5080"/>
            <a:r>
              <a:rPr lang="en-US" sz="1700" kern="0" spc="-80" dirty="0">
                <a:solidFill>
                  <a:schemeClr val="accent6"/>
                </a:solidFill>
              </a:rPr>
              <a:t>UberSwiggy/Zomato delivery routing</a:t>
            </a:r>
          </a:p>
          <a:p>
            <a:pPr marL="12700" marR="5080"/>
            <a:r>
              <a:rPr lang="en-US" sz="1700" kern="0" spc="-80" dirty="0" err="1">
                <a:solidFill>
                  <a:schemeClr val="accent6"/>
                </a:solidFill>
              </a:rPr>
              <a:t>MapMyIndia</a:t>
            </a:r>
            <a:endParaRPr lang="en-US" sz="1700" kern="0" spc="-80" dirty="0">
              <a:solidFill>
                <a:schemeClr val="accent6"/>
              </a:solidFill>
            </a:endParaRPr>
          </a:p>
          <a:p>
            <a:pPr marL="12700" marR="5080"/>
            <a:r>
              <a:rPr lang="en-US" sz="1700" kern="0" spc="-80" dirty="0">
                <a:solidFill>
                  <a:schemeClr val="accent6"/>
                </a:solidFill>
              </a:rPr>
              <a:t>Pokémon GO map logic</a:t>
            </a:r>
          </a:p>
          <a:p>
            <a:pPr marL="12700" marR="5080"/>
            <a:r>
              <a:rPr lang="en-US" sz="1700" kern="0" spc="-80" dirty="0">
                <a:solidFill>
                  <a:schemeClr val="accent6"/>
                </a:solidFill>
              </a:rPr>
              <a:t>Transport systems dashboards</a:t>
            </a:r>
          </a:p>
          <a:p>
            <a:pPr marL="12700" marR="5080"/>
            <a:r>
              <a:rPr lang="en-US" sz="1700" kern="0" spc="-80" dirty="0">
                <a:solidFill>
                  <a:schemeClr val="accent2"/>
                </a:solidFill>
              </a:rPr>
              <a:t>N.B.-&gt; Worthy to check the Mathematical concepts, techniques  &amp; their implementation algorithms used in each layer of the Big Picture by googling or “</a:t>
            </a:r>
            <a:r>
              <a:rPr lang="en-US" sz="1700" kern="0" spc="-80" dirty="0" err="1">
                <a:solidFill>
                  <a:schemeClr val="accent2"/>
                </a:solidFill>
              </a:rPr>
              <a:t>ChatGPT”ing</a:t>
            </a:r>
            <a:r>
              <a:rPr lang="en-US" sz="1700" kern="0" spc="-80" dirty="0">
                <a:solidFill>
                  <a:schemeClr val="accent2"/>
                </a:solidFill>
              </a:rPr>
              <a:t> or some other way. </a:t>
            </a:r>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One Real-world Example (Uber / Swiggy / Zomato)</a:t>
            </a:r>
          </a:p>
          <a:p>
            <a:pPr marL="12700" marR="5080"/>
            <a:r>
              <a:rPr lang="en-US" sz="1600" kern="0" spc="-80" dirty="0">
                <a:solidFill>
                  <a:schemeClr val="accent2"/>
                </a:solidFill>
              </a:rPr>
              <a:t>Remote Sensing/Photogrammetry -&gt;</a:t>
            </a:r>
            <a:r>
              <a:rPr lang="en-US" sz="1600" kern="0" spc="-80" dirty="0">
                <a:solidFill>
                  <a:schemeClr val="accent6"/>
                </a:solidFill>
              </a:rPr>
              <a:t> Drone/Mapping Data → City Map Layers (GIS)</a:t>
            </a:r>
          </a:p>
          <a:p>
            <a:pPr marL="12700" marR="5080"/>
            <a:r>
              <a:rPr lang="en-US" sz="1600" kern="0" spc="-80" dirty="0">
                <a:solidFill>
                  <a:schemeClr val="accent2"/>
                </a:solidFill>
              </a:rPr>
              <a:t>GIS -&gt;</a:t>
            </a:r>
            <a:r>
              <a:rPr lang="en-US" sz="1600" kern="0" spc="-80" dirty="0">
                <a:solidFill>
                  <a:schemeClr val="accent6"/>
                </a:solidFill>
              </a:rPr>
              <a:t> Roads + Traffic Data → Travel Cost Model</a:t>
            </a:r>
          </a:p>
          <a:p>
            <a:pPr marL="12700" marR="5080"/>
            <a:r>
              <a:rPr lang="en-US" sz="1600" kern="0" spc="-80" dirty="0">
                <a:solidFill>
                  <a:schemeClr val="accent2"/>
                </a:solidFill>
              </a:rPr>
              <a:t>Cartography →</a:t>
            </a:r>
            <a:r>
              <a:rPr lang="en-US" sz="1600" kern="0" spc="-80" dirty="0">
                <a:solidFill>
                  <a:schemeClr val="accent6"/>
                </a:solidFill>
              </a:rPr>
              <a:t> User-friendly map UI</a:t>
            </a:r>
          </a:p>
          <a:p>
            <a:pPr marL="12700" marR="5080"/>
            <a:r>
              <a:rPr lang="en-US" sz="1600" kern="0" spc="-80" dirty="0">
                <a:solidFill>
                  <a:schemeClr val="accent2"/>
                </a:solidFill>
              </a:rPr>
              <a:t>Location Services –&gt;</a:t>
            </a:r>
            <a:r>
              <a:rPr lang="en-US" sz="1600" kern="0" spc="-80" dirty="0">
                <a:solidFill>
                  <a:schemeClr val="accent6"/>
                </a:solidFill>
              </a:rPr>
              <a:t>  GPS → Your position </a:t>
            </a:r>
          </a:p>
          <a:p>
            <a:pPr marL="12700" marR="5080"/>
            <a:r>
              <a:rPr lang="en-US" sz="1600" kern="0" spc="-80" dirty="0">
                <a:solidFill>
                  <a:schemeClr val="accent2"/>
                </a:solidFill>
              </a:rPr>
              <a:t>Intermediate Operation(s) -&gt;</a:t>
            </a:r>
            <a:r>
              <a:rPr lang="en-US" sz="1600" kern="0" spc="-80" dirty="0">
                <a:solidFill>
                  <a:schemeClr val="accent6"/>
                </a:solidFill>
              </a:rPr>
              <a:t> Routing Algorithm → Shortest path to restaurant/customer</a:t>
            </a:r>
          </a:p>
          <a:p>
            <a:pPr marL="12700" marR="5080"/>
            <a:r>
              <a:rPr lang="en-US" sz="1600" kern="0" spc="-80" dirty="0">
                <a:solidFill>
                  <a:schemeClr val="accent2"/>
                </a:solidFill>
              </a:rPr>
              <a:t>Location App →</a:t>
            </a:r>
            <a:r>
              <a:rPr lang="en-US" sz="1600" kern="0" spc="-80" dirty="0">
                <a:solidFill>
                  <a:schemeClr val="accent6"/>
                </a:solidFill>
              </a:rPr>
              <a:t> Shows live driver movement, ETA, directions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67178559"/>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712B-6F93-2E7A-7E12-E93E09AA7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E2183B-FD57-E53C-5F6F-FA49A61C08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4EE19F-0C4A-9A3D-C235-ECF17CE46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0784C-0D43-7B9C-334B-C009FDDB81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3F8F38-C44A-9D5C-9993-9D0FFEE550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F2E61-4FDA-1F0D-B6FE-FD31739A87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5044B1-D655-B416-5161-B9827D7514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CEB2D8-DDA3-97B5-8E7C-230C10B55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669FF-798A-094E-A5D4-EEADCA15F28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14AEA9C-F8A7-DCF4-0648-981A0BA21F61}"/>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What Remote Sensing Is</a:t>
            </a:r>
          </a:p>
          <a:p>
            <a:pPr marL="12700" marR="5080"/>
            <a:r>
              <a:rPr lang="en-US" sz="1500" kern="0" spc="-80" dirty="0">
                <a:solidFill>
                  <a:schemeClr val="accent6"/>
                </a:solidFill>
              </a:rPr>
              <a:t>Remote sensing is the art and science of extracting information about Earth without physically touching it, usually by measuring electromagnetic radiation (EMR) reflected or emitted from </a:t>
            </a:r>
            <a:r>
              <a:rPr lang="en-US" sz="1500" kern="0" spc="-80" dirty="0" err="1">
                <a:solidFill>
                  <a:schemeClr val="accent6"/>
                </a:solidFill>
              </a:rPr>
              <a:t>surfaces.Think</a:t>
            </a:r>
            <a:r>
              <a:rPr lang="en-US" sz="1500" kern="0" spc="-80" dirty="0">
                <a:solidFill>
                  <a:schemeClr val="accent6"/>
                </a:solidFill>
              </a:rPr>
              <a:t> of sensors as cosmic ears, tuned to listen to the whispers of surfaces.</a:t>
            </a:r>
          </a:p>
          <a:p>
            <a:pPr marL="12700" marR="5080"/>
            <a:endParaRPr lang="en-US" sz="1500" kern="0" spc="-80" dirty="0">
              <a:solidFill>
                <a:schemeClr val="accent6"/>
              </a:solidFill>
            </a:endParaRP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Sun / Source ] </a:t>
            </a:r>
          </a:p>
          <a:p>
            <a:pPr marL="12700" marR="5080"/>
            <a:r>
              <a:rPr lang="en-US" sz="1500" kern="0" spc="-80" dirty="0">
                <a:solidFill>
                  <a:schemeClr val="accent6"/>
                </a:solidFill>
              </a:rPr>
              <a:t>       ↓ (Radiation)</a:t>
            </a:r>
          </a:p>
          <a:p>
            <a:pPr marL="12700" marR="5080"/>
            <a:r>
              <a:rPr lang="en-US" sz="1500" kern="0" spc="-80" dirty="0">
                <a:solidFill>
                  <a:schemeClr val="accent6"/>
                </a:solidFill>
              </a:rPr>
              <a:t>[ Atmosphere Interaction ]</a:t>
            </a:r>
          </a:p>
          <a:p>
            <a:pPr marL="12700" marR="5080"/>
            <a:r>
              <a:rPr lang="en-US" sz="1500" kern="0" spc="-80" dirty="0">
                <a:solidFill>
                  <a:schemeClr val="accent6"/>
                </a:solidFill>
              </a:rPr>
              <a:t>       ↓</a:t>
            </a:r>
          </a:p>
          <a:p>
            <a:pPr marL="12700" marR="5080"/>
            <a:r>
              <a:rPr lang="en-US" sz="1500" kern="0" spc="-80" dirty="0">
                <a:solidFill>
                  <a:schemeClr val="accent6"/>
                </a:solidFill>
              </a:rPr>
              <a:t>[ Energy Reaches Surface ]</a:t>
            </a:r>
          </a:p>
          <a:p>
            <a:pPr marL="12700" marR="5080"/>
            <a:r>
              <a:rPr lang="en-US" sz="1500" kern="0" spc="-80" dirty="0">
                <a:solidFill>
                  <a:schemeClr val="accent6"/>
                </a:solidFill>
              </a:rPr>
              <a:t>       ↓</a:t>
            </a:r>
          </a:p>
          <a:p>
            <a:pPr marL="12700" marR="5080"/>
            <a:r>
              <a:rPr lang="en-US" sz="1500" kern="0" spc="-80" dirty="0">
                <a:solidFill>
                  <a:schemeClr val="accent6"/>
                </a:solidFill>
              </a:rPr>
              <a:t>[ Surface Reflects/Emits Back ]</a:t>
            </a:r>
          </a:p>
          <a:p>
            <a:pPr marL="12700" marR="5080"/>
            <a:r>
              <a:rPr lang="en-US" sz="1500" kern="0" spc="-80" dirty="0">
                <a:solidFill>
                  <a:schemeClr val="accent6"/>
                </a:solidFill>
              </a:rPr>
              <a:t>       ↓</a:t>
            </a:r>
          </a:p>
          <a:p>
            <a:pPr marL="12700" marR="5080"/>
            <a:r>
              <a:rPr lang="en-US" sz="1500" kern="0" spc="-80" dirty="0">
                <a:solidFill>
                  <a:schemeClr val="accent6"/>
                </a:solidFill>
              </a:rPr>
              <a:t>[ Sensor (Satellite / UAV / Aircraft) ]</a:t>
            </a:r>
          </a:p>
          <a:p>
            <a:pPr marL="12700" marR="5080"/>
            <a:r>
              <a:rPr lang="en-US" sz="1500" kern="0" spc="-80" dirty="0">
                <a:solidFill>
                  <a:schemeClr val="accent6"/>
                </a:solidFill>
              </a:rPr>
              <a:t>       ↓</a:t>
            </a:r>
          </a:p>
          <a:p>
            <a:pPr marL="12700" marR="5080"/>
            <a:r>
              <a:rPr lang="en-US" sz="1500" kern="0" spc="-80" dirty="0">
                <a:solidFill>
                  <a:schemeClr val="accent6"/>
                </a:solidFill>
              </a:rPr>
              <a:t>[ Raw Digital Radiance Data ]</a:t>
            </a:r>
          </a:p>
          <a:p>
            <a:pPr marL="12700" marR="5080"/>
            <a:r>
              <a:rPr lang="en-US" sz="1500" kern="0" spc="-80" dirty="0">
                <a:solidFill>
                  <a:schemeClr val="accent6"/>
                </a:solidFill>
              </a:rPr>
              <a:t>       ↓</a:t>
            </a:r>
          </a:p>
          <a:p>
            <a:pPr marL="12700" marR="5080"/>
            <a:r>
              <a:rPr lang="en-US" sz="1500" kern="0" spc="-80" dirty="0">
                <a:solidFill>
                  <a:schemeClr val="accent6"/>
                </a:solidFill>
              </a:rPr>
              <a:t>[ Radiometric + Atmospheric Correction ]</a:t>
            </a:r>
          </a:p>
          <a:p>
            <a:pPr marL="12700" marR="5080"/>
            <a:r>
              <a:rPr lang="en-US" sz="1500" kern="0" spc="-80" dirty="0">
                <a:solidFill>
                  <a:schemeClr val="accent6"/>
                </a:solidFill>
              </a:rPr>
              <a:t>       ↓</a:t>
            </a:r>
          </a:p>
          <a:p>
            <a:pPr marL="12700" marR="5080"/>
            <a:r>
              <a:rPr lang="en-US" sz="1500" kern="0" spc="-80" dirty="0">
                <a:solidFill>
                  <a:schemeClr val="accent6"/>
                </a:solidFill>
              </a:rPr>
              <a:t>[ Geometric Correction &amp; Geo-referencing ]</a:t>
            </a:r>
          </a:p>
        </p:txBody>
      </p:sp>
    </p:spTree>
    <p:extLst>
      <p:ext uri="{BB962C8B-B14F-4D97-AF65-F5344CB8AC3E}">
        <p14:creationId xmlns:p14="http://schemas.microsoft.com/office/powerpoint/2010/main" val="142345929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FB4-E477-0C41-71A9-B763F522BB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18ABD8-AF2D-3621-057C-A5D8C48D74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794BBF-451C-8BF1-E2FF-D750BED937A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006AE2-8A2C-14B0-7D2C-8BB4B96155E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D17B82-56C1-49ED-3A52-C97880981BF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B7BE47-0A68-E42D-5C5A-9539055805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6CB01D-E869-8929-7DDB-334570F37B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74E0C5-A08D-76DD-4DE7-869DB06385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047B-D997-0AA4-FEFE-A1DA39BD89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EB5EBA6-4D98-50E2-A0DC-34C7FF46C9CF}"/>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a:t>
            </a:r>
          </a:p>
          <a:p>
            <a:pPr marL="12700" marR="5080"/>
            <a:r>
              <a:rPr lang="en-US" sz="1500" kern="0" spc="-80" dirty="0">
                <a:solidFill>
                  <a:schemeClr val="accent6"/>
                </a:solidFill>
              </a:rPr>
              <a:t>[ Image Enhancement &amp; Filtering ]</a:t>
            </a:r>
          </a:p>
          <a:p>
            <a:pPr marL="12700" marR="5080"/>
            <a:r>
              <a:rPr lang="en-US" sz="1500" kern="0" spc="-80" dirty="0">
                <a:solidFill>
                  <a:schemeClr val="accent6"/>
                </a:solidFill>
              </a:rPr>
              <a:t>       ↓</a:t>
            </a:r>
          </a:p>
          <a:p>
            <a:pPr marL="12700" marR="5080"/>
            <a:r>
              <a:rPr lang="en-US" sz="1500" kern="0" spc="-80" dirty="0">
                <a:solidFill>
                  <a:schemeClr val="accent6"/>
                </a:solidFill>
              </a:rPr>
              <a:t>[ Feature Extraction / Object Detection ]</a:t>
            </a:r>
          </a:p>
          <a:p>
            <a:pPr marL="12700" marR="5080"/>
            <a:r>
              <a:rPr lang="en-US" sz="1500" kern="0" spc="-80" dirty="0">
                <a:solidFill>
                  <a:schemeClr val="accent6"/>
                </a:solidFill>
              </a:rPr>
              <a:t>       ↓</a:t>
            </a:r>
          </a:p>
          <a:p>
            <a:pPr marL="12700" marR="5080"/>
            <a:r>
              <a:rPr lang="en-US" sz="1500" kern="0" spc="-80" dirty="0">
                <a:solidFill>
                  <a:schemeClr val="accent6"/>
                </a:solidFill>
              </a:rPr>
              <a:t>[ Thematic Classification / Index Computation ]</a:t>
            </a:r>
          </a:p>
          <a:p>
            <a:pPr marL="12700" marR="5080"/>
            <a:r>
              <a:rPr lang="en-US" sz="1500" kern="0" spc="-80" dirty="0">
                <a:solidFill>
                  <a:schemeClr val="accent6"/>
                </a:solidFill>
              </a:rPr>
              <a:t>       ↓</a:t>
            </a:r>
          </a:p>
          <a:p>
            <a:pPr marL="12700" marR="5080"/>
            <a:r>
              <a:rPr lang="en-US" sz="1500" kern="0" spc="-80" dirty="0">
                <a:solidFill>
                  <a:schemeClr val="accent6"/>
                </a:solidFill>
              </a:rPr>
              <a:t>[ Analysis &amp; Decision ]</a:t>
            </a:r>
          </a:p>
          <a:p>
            <a:pPr marL="12700" marR="5080"/>
            <a:endParaRPr lang="en-US" sz="1500" kern="0" spc="-80" dirty="0">
              <a:solidFill>
                <a:schemeClr val="accent6"/>
              </a:solidFill>
            </a:endParaRPr>
          </a:p>
          <a:p>
            <a:pPr marL="12700" marR="5080"/>
            <a:r>
              <a:rPr lang="en-US" sz="1500" kern="0" spc="-80" dirty="0">
                <a:solidFill>
                  <a:schemeClr val="accent2"/>
                </a:solidFill>
              </a:rPr>
              <a:t>1) Energy &amp; Sensor Physics</a:t>
            </a:r>
          </a:p>
          <a:p>
            <a:pPr marL="12700" marR="5080"/>
            <a:r>
              <a:rPr lang="en-US" sz="1500" kern="0" spc="-80" dirty="0">
                <a:solidFill>
                  <a:schemeClr val="accent6"/>
                </a:solidFill>
              </a:rPr>
              <a:t>This is the heartbeat.</a:t>
            </a:r>
          </a:p>
          <a:p>
            <a:pPr marL="12700" marR="5080"/>
            <a:r>
              <a:rPr lang="en-US" sz="1500" kern="0" spc="-80" dirty="0">
                <a:solidFill>
                  <a:schemeClr val="accent6"/>
                </a:solidFill>
              </a:rPr>
              <a:t>Electromagnetic Spectrum 🟣🔵🟢🟡🔴</a:t>
            </a:r>
          </a:p>
          <a:p>
            <a:pPr marL="12700" marR="5080"/>
            <a:endParaRPr lang="en-US" sz="1500" kern="0" spc="-80" dirty="0">
              <a:solidFill>
                <a:schemeClr val="accent6"/>
              </a:solidFill>
            </a:endParaRPr>
          </a:p>
          <a:p>
            <a:pPr marL="12700" marR="5080"/>
            <a:r>
              <a:rPr lang="en-US" sz="1500" kern="0" spc="-80" dirty="0">
                <a:solidFill>
                  <a:schemeClr val="accent2"/>
                </a:solidFill>
              </a:rPr>
              <a:t>Remote sensors typically use:</a:t>
            </a:r>
          </a:p>
          <a:p>
            <a:pPr marL="12700" marR="5080"/>
            <a:r>
              <a:rPr lang="en-US" sz="1500" kern="0" spc="-80" dirty="0">
                <a:solidFill>
                  <a:schemeClr val="accent6"/>
                </a:solidFill>
              </a:rPr>
              <a:t>Visible (0.4–0.7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Near Infrared (0.7–1.3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Shortwave IR (1.3–3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Thermal IR (3–14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Microwave (1 mm–1 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015762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74DD-50EA-ACC6-D889-9A05F12736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E57753-0455-0EE5-C5A8-FB0C4F66B4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8B5524-7F03-7FAD-29AD-B8B6D93B2A4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AF2A22-21DD-217A-EE5D-E91E52E7B08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B3045E-3246-AD91-CAF3-8E296EC37F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E7C35-8C62-AAD1-FF88-6EAECB46E5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CB9A03-11B5-40BF-2F10-AC5F9A6346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24E95-869E-FB9D-ABE0-CEF0FABE03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55CBCD0-118F-56D9-568C-1F77B55206D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08BD7B-8655-B00C-40BA-D2C81F99FD5C}"/>
              </a:ext>
            </a:extLst>
          </p:cNvPr>
          <p:cNvSpPr txBox="1">
            <a:spLocks/>
          </p:cNvSpPr>
          <p:nvPr/>
        </p:nvSpPr>
        <p:spPr>
          <a:xfrm>
            <a:off x="228600" y="762000"/>
            <a:ext cx="8624937" cy="226831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Key Concepts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 Sensors &amp; Platforms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6"/>
                </a:solidFill>
              </a:rPr>
              <a:t>Radar and LiDAR Core </a:t>
            </a:r>
            <a:r>
              <a:rPr lang="en-US" sz="1500" kern="0" spc="-80" dirty="0" err="1">
                <a:solidFill>
                  <a:schemeClr val="accent6"/>
                </a:solidFill>
              </a:rPr>
              <a:t>Maths</a:t>
            </a:r>
            <a:endParaRPr lang="en-US" sz="1500" kern="0" spc="-80" dirty="0">
              <a:solidFill>
                <a:schemeClr val="accent6"/>
              </a:solidFill>
            </a:endParaRPr>
          </a:p>
          <a:p>
            <a:pPr marL="12700" marR="5080"/>
            <a:r>
              <a:rPr lang="en-US" sz="1500" kern="0" spc="-80" dirty="0">
                <a:solidFill>
                  <a:schemeClr val="accent6"/>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6"/>
                </a:solidFill>
              </a:rPr>
              <a:t>Radar Backscatter: depends on surface roughness, incidence angle, and dielectric constant.</a:t>
            </a:r>
          </a:p>
          <a:p>
            <a:pPr marL="12700" marR="5080"/>
            <a:r>
              <a:rPr lang="en-US" sz="1500" kern="0" spc="-80" dirty="0">
                <a:solidFill>
                  <a:schemeClr val="accent6"/>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6"/>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 (RTE) models</a:t>
            </a:r>
          </a:p>
          <a:p>
            <a:pPr marL="12700" marR="5080"/>
            <a:r>
              <a:rPr lang="en-US" sz="1500" kern="0" spc="-80" dirty="0">
                <a:solidFill>
                  <a:schemeClr val="accent6"/>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6"/>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r>
              <a:rPr lang="en-US" sz="1500" kern="0" spc="-80" dirty="0">
                <a:solidFill>
                  <a:schemeClr val="accent6"/>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r>
              <a:rPr lang="en-US" sz="1500" kern="0" spc="-80" dirty="0">
                <a:solidFill>
                  <a:schemeClr val="accent6"/>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6"/>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a:p>
            <a:pPr marL="12700" marR="5080"/>
            <a:r>
              <a:rPr lang="en-US" sz="1500" kern="0" spc="-80" dirty="0">
                <a:solidFill>
                  <a:schemeClr val="accent6"/>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p>
          <a:p>
            <a:pPr marL="12700" marR="5080"/>
            <a:r>
              <a:rPr lang="el-GR" sz="1500" kern="0" spc="-80" dirty="0">
                <a:solidFill>
                  <a:schemeClr val="accent6"/>
                </a:solidFill>
              </a:rPr>
              <a:t>8) </a:t>
            </a:r>
            <a:r>
              <a:rPr lang="en-US" sz="1500" kern="0" spc="-80" dirty="0">
                <a:solidFill>
                  <a:schemeClr val="accent6"/>
                </a:solidFill>
              </a:rPr>
              <a:t>Change Detection</a:t>
            </a:r>
          </a:p>
          <a:p>
            <a:pPr marL="12700" marR="5080"/>
            <a:r>
              <a:rPr lang="en-US" sz="1500" kern="0" spc="-80" dirty="0">
                <a:solidFill>
                  <a:schemeClr val="accent6"/>
                </a:solidFill>
              </a:rPr>
              <a:t>Compare multitemporal </a:t>
            </a:r>
            <a:r>
              <a:rPr lang="en-US" sz="1500" kern="0" spc="-80" dirty="0" err="1">
                <a:solidFill>
                  <a:schemeClr val="accent6"/>
                </a:solidFill>
              </a:rPr>
              <a:t>rasters</a:t>
            </a:r>
            <a:r>
              <a:rPr lang="en-US" sz="1500" kern="0" spc="-80" dirty="0">
                <a:solidFill>
                  <a:schemeClr val="accent6"/>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r>
              <a:rPr lang="en-US" sz="1500" kern="0" spc="-80" dirty="0">
                <a:solidFill>
                  <a:schemeClr val="accent6"/>
                </a:solidFill>
              </a:rPr>
              <a:t>9) Active Remote Sensing </a:t>
            </a:r>
            <a:r>
              <a:rPr lang="en-US" sz="1500" kern="0" spc="-80" dirty="0" err="1">
                <a:solidFill>
                  <a:schemeClr val="accent6"/>
                </a:solidFill>
              </a:rPr>
              <a:t>Maths</a:t>
            </a:r>
            <a:r>
              <a:rPr lang="en-US" sz="1500" kern="0" spc="-80" dirty="0">
                <a:solidFill>
                  <a:schemeClr val="accent6"/>
                </a:solidFill>
              </a:rPr>
              <a:t>: 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6"/>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6"/>
                </a:solidFill>
              </a:rPr>
              <a:t>Advanced math: Eigen decomposition of scattering matrix.</a:t>
            </a:r>
          </a:p>
          <a:p>
            <a:pPr marL="12700" marR="5080"/>
            <a:r>
              <a:rPr lang="en-US" sz="1500" kern="0" spc="-80" dirty="0">
                <a:solidFill>
                  <a:schemeClr val="accent6"/>
                </a:solidFill>
              </a:rPr>
              <a:t>10) LiDAR Point Clouds</a:t>
            </a:r>
          </a:p>
          <a:p>
            <a:pPr marL="12700" marR="5080"/>
            <a:r>
              <a:rPr lang="en-US" sz="1500" kern="0" spc="-80" dirty="0">
                <a:solidFill>
                  <a:schemeClr val="accent6"/>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6"/>
                </a:solidFill>
              </a:rPr>
              <a:t>Surface models:</a:t>
            </a:r>
          </a:p>
          <a:p>
            <a:pPr marL="12700" marR="5080"/>
            <a:r>
              <a:rPr lang="en-US" sz="1500" kern="0" spc="-80" dirty="0">
                <a:solidFill>
                  <a:schemeClr val="accent6"/>
                </a:solidFill>
              </a:rPr>
              <a:t>DSM: Visible surfaces</a:t>
            </a:r>
          </a:p>
          <a:p>
            <a:pPr marL="12700" marR="5080"/>
            <a:r>
              <a:rPr lang="en-US" sz="1500" kern="0" spc="-80" dirty="0">
                <a:solidFill>
                  <a:schemeClr val="accent6"/>
                </a:solidFill>
              </a:rPr>
              <a:t>DTM: Ground only (after classification)</a:t>
            </a:r>
          </a:p>
          <a:p>
            <a:pPr marL="12700" marR="5080"/>
            <a:r>
              <a:rPr lang="en-US" sz="1500" kern="0" spc="-80" dirty="0" err="1">
                <a:solidFill>
                  <a:schemeClr val="accent6"/>
                </a:solidFill>
              </a:rPr>
              <a:t>nDSM</a:t>
            </a:r>
            <a:r>
              <a:rPr lang="en-US" sz="1500" kern="0" spc="-80" dirty="0">
                <a:solidFill>
                  <a:schemeClr val="accent6"/>
                </a:solidFill>
              </a:rPr>
              <a:t>: Height of objects (DSM - DTM)</a:t>
            </a:r>
          </a:p>
          <a:p>
            <a:pPr marL="12700" marR="5080"/>
            <a:r>
              <a:rPr lang="en-US" sz="1500" kern="0" spc="-80" dirty="0">
                <a:solidFill>
                  <a:schemeClr val="accent6"/>
                </a:solidFill>
              </a:rPr>
              <a:t>🎓 Final Summary (The Essence)</a:t>
            </a:r>
          </a:p>
          <a:p>
            <a:pPr marL="12700" marR="5080"/>
            <a:r>
              <a:rPr lang="en-US" sz="1500" kern="0" spc="-80" dirty="0">
                <a:solidFill>
                  <a:schemeClr val="accent6"/>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p:txBody>
      </p:sp>
      <p:pic>
        <p:nvPicPr>
          <p:cNvPr id="16" name="Picture 15">
            <a:extLst>
              <a:ext uri="{FF2B5EF4-FFF2-40B4-BE49-F238E27FC236}">
                <a16:creationId xmlns:a16="http://schemas.microsoft.com/office/drawing/2014/main" id="{5D3DD689-9F5A-8DC0-76BC-4CD7E8922C43}"/>
              </a:ext>
            </a:extLst>
          </p:cNvPr>
          <p:cNvPicPr>
            <a:picLocks noChangeAspect="1"/>
          </p:cNvPicPr>
          <p:nvPr/>
        </p:nvPicPr>
        <p:blipFill>
          <a:blip r:embed="rId7"/>
          <a:stretch>
            <a:fillRect/>
          </a:stretch>
        </p:blipFill>
        <p:spPr>
          <a:xfrm>
            <a:off x="290462" y="1295322"/>
            <a:ext cx="8715473" cy="1524078"/>
          </a:xfrm>
          <a:prstGeom prst="rect">
            <a:avLst/>
          </a:prstGeom>
        </p:spPr>
      </p:pic>
      <p:pic>
        <p:nvPicPr>
          <p:cNvPr id="20" name="Picture 19">
            <a:extLst>
              <a:ext uri="{FF2B5EF4-FFF2-40B4-BE49-F238E27FC236}">
                <a16:creationId xmlns:a16="http://schemas.microsoft.com/office/drawing/2014/main" id="{458443E9-0404-4A45-7FC2-E83C7B8CE4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7175" y="3338969"/>
            <a:ext cx="8824962" cy="2570206"/>
          </a:xfrm>
          <a:prstGeom prst="rect">
            <a:avLst/>
          </a:prstGeom>
        </p:spPr>
      </p:pic>
    </p:spTree>
    <p:extLst>
      <p:ext uri="{BB962C8B-B14F-4D97-AF65-F5344CB8AC3E}">
        <p14:creationId xmlns:p14="http://schemas.microsoft.com/office/powerpoint/2010/main" val="352687342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936DD-D3F0-D276-F009-11469B34A9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18C2F6-D279-FAEF-4697-2346D1C18D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90F58-CF6F-6A6B-8C8C-6E2F1E26F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F58A70-30DA-B791-F258-D1C64F6BA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A6FD2B-7AD3-EF01-0CFA-60056C7C13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A45E42-4702-AA90-FF80-96BBF52A245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20098-71F7-86F1-8CEC-224A815577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865908-1C92-0411-8113-F71F83215E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258386-0CF9-9AE4-7C7E-F6A8B60255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6D96D55-3DD3-04B9-FF42-883FA40F96D6}"/>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2) Sensors &amp; Platforms</a:t>
            </a:r>
          </a:p>
          <a:p>
            <a:pPr marL="12700" marR="5080"/>
            <a:r>
              <a:rPr lang="en-US" sz="1500" kern="0" spc="-80" dirty="0">
                <a:solidFill>
                  <a:schemeClr val="accent2"/>
                </a:solidFill>
              </a:rPr>
              <a:t>Radar and LiDAR Core </a:t>
            </a:r>
            <a:r>
              <a:rPr lang="en-US" sz="1500" kern="0" spc="-80" dirty="0" err="1">
                <a:solidFill>
                  <a:schemeClr val="accent2"/>
                </a:solidFill>
              </a:rPr>
              <a:t>Maths</a:t>
            </a:r>
            <a:endParaRPr lang="en-US" sz="1500" kern="0" spc="-80" dirty="0">
              <a:solidFill>
                <a:schemeClr val="accent2"/>
              </a:solidFill>
            </a:endParaRPr>
          </a:p>
          <a:p>
            <a:pPr marL="12700" marR="5080"/>
            <a:r>
              <a:rPr lang="en-US" sz="1500" kern="0" spc="-80" dirty="0">
                <a:solidFill>
                  <a:schemeClr val="accent2"/>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2"/>
                </a:solidFill>
              </a:rPr>
              <a:t>Radar Backscatter: </a:t>
            </a:r>
            <a:r>
              <a:rPr lang="en-US" sz="1500" kern="0" spc="-80" dirty="0">
                <a:solidFill>
                  <a:schemeClr val="accent6"/>
                </a:solidFill>
              </a:rPr>
              <a:t>depends on surface roughness, incidence angle, and dielectric constant.</a:t>
            </a:r>
          </a:p>
          <a:p>
            <a:pPr marL="12700" marR="5080"/>
            <a:endParaRPr lang="en-US" sz="1500" kern="0" spc="-80" dirty="0">
              <a:solidFill>
                <a:schemeClr val="accent6"/>
              </a:solidFill>
            </a:endParaRPr>
          </a:p>
          <a:p>
            <a:pPr marL="12700" marR="5080"/>
            <a:r>
              <a:rPr lang="en-US" sz="1500" kern="0" spc="-80" dirty="0">
                <a:solidFill>
                  <a:schemeClr val="accent2"/>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2"/>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a:t>
            </a:r>
          </a:p>
          <a:p>
            <a:pPr marL="12700" marR="5080"/>
            <a:r>
              <a:rPr lang="en-US" sz="1500" kern="0" spc="-80" dirty="0">
                <a:solidFill>
                  <a:schemeClr val="accent6"/>
                </a:solidFill>
              </a:rPr>
              <a:t>                                                                                                                  (RTE) models</a:t>
            </a:r>
          </a:p>
          <a:p>
            <a:pPr marL="12700" marR="5080"/>
            <a:endParaRPr lang="en-US" sz="1500" kern="0" spc="-80" dirty="0">
              <a:solidFill>
                <a:schemeClr val="accent6"/>
              </a:solidFill>
            </a:endParaRPr>
          </a:p>
          <a:p>
            <a:pPr marL="12700" marR="5080"/>
            <a:r>
              <a:rPr lang="en-US" sz="1500" kern="0" spc="-80" dirty="0">
                <a:solidFill>
                  <a:schemeClr val="accent2"/>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2"/>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p:txBody>
      </p:sp>
    </p:spTree>
    <p:extLst>
      <p:ext uri="{BB962C8B-B14F-4D97-AF65-F5344CB8AC3E}">
        <p14:creationId xmlns:p14="http://schemas.microsoft.com/office/powerpoint/2010/main" val="4178445943"/>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78CC-8A99-CD5F-8D69-AA63BBFD0C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08621A-AC28-4688-3F4C-1B85744480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CD7447-33C5-0968-24AF-75CEC905D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4E5810-7823-780D-EE2E-4D19840E9B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BE44CB-EC93-6BD7-C179-96C9FD089E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1EBB1C-E982-8977-F620-8B49F28C96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E71A6-EE7A-0702-C934-4B2F1D8CD1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67C3E75-7EEF-4E33-F302-3E2A8F2563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5DBF96-A391-286A-A99C-EBE1D9833BC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C06A013-8091-D188-8BF0-B0896F7B660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4) Geometric Correction</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endParaRPr lang="en-US" sz="1500" kern="0" spc="-80" dirty="0">
              <a:solidFill>
                <a:schemeClr val="accent6"/>
              </a:solidFill>
            </a:endParaRPr>
          </a:p>
          <a:p>
            <a:pPr marL="12700" marR="5080"/>
            <a:r>
              <a:rPr lang="en-US" sz="1500" kern="0" spc="-80" dirty="0">
                <a:solidFill>
                  <a:schemeClr val="accent2"/>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endParaRPr lang="en-US" sz="1500" kern="0" spc="-80" dirty="0">
              <a:solidFill>
                <a:schemeClr val="accent6"/>
              </a:solidFill>
            </a:endParaRPr>
          </a:p>
          <a:p>
            <a:pPr marL="12700" marR="5080"/>
            <a:r>
              <a:rPr lang="en-US" sz="1500" kern="0" spc="-80" dirty="0">
                <a:solidFill>
                  <a:schemeClr val="accent2"/>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2"/>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p:txBody>
      </p:sp>
    </p:spTree>
    <p:extLst>
      <p:ext uri="{BB962C8B-B14F-4D97-AF65-F5344CB8AC3E}">
        <p14:creationId xmlns:p14="http://schemas.microsoft.com/office/powerpoint/2010/main" val="145340903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434B-430E-45E7-9C0E-39ED7E0B05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082D80-F66A-8230-B20B-7C8993F0EA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B5CC1F-7DC2-54A7-DE04-6B202755B2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082428-D3F7-FB41-96C6-185E170A5A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EEF198-E1F5-5196-DC8D-5044EA1BF3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384AE4-7FC9-375D-9B4F-0D5E08755B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10633B-8698-2FCF-4BA5-C130F2651F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F49DCC-31D3-5740-DA36-74340DC577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A30739-5FFA-4C28-C53D-1ADEDD37EB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83D145-B260-1696-EBEF-442C9FE84DE8}"/>
              </a:ext>
            </a:extLst>
          </p:cNvPr>
          <p:cNvSpPr txBox="1">
            <a:spLocks/>
          </p:cNvSpPr>
          <p:nvPr/>
        </p:nvSpPr>
        <p:spPr>
          <a:xfrm>
            <a:off x="228600"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8) </a:t>
            </a:r>
            <a:r>
              <a:rPr lang="en-US" sz="1500" kern="0" spc="-80" dirty="0">
                <a:solidFill>
                  <a:schemeClr val="accent2"/>
                </a:solidFill>
              </a:rPr>
              <a:t>Change Detection</a:t>
            </a:r>
          </a:p>
          <a:p>
            <a:pPr marL="12700" marR="5080"/>
            <a:r>
              <a:rPr lang="en-US" sz="1500" kern="0" spc="-80" dirty="0">
                <a:solidFill>
                  <a:schemeClr val="accent2"/>
                </a:solidFill>
              </a:rPr>
              <a:t>Compare multitemporal </a:t>
            </a:r>
            <a:r>
              <a:rPr lang="en-US" sz="1500" kern="0" spc="-80" dirty="0" err="1">
                <a:solidFill>
                  <a:schemeClr val="accent2"/>
                </a:solidFill>
              </a:rPr>
              <a:t>rasters</a:t>
            </a:r>
            <a:r>
              <a:rPr lang="en-US" sz="1500" kern="0" spc="-80" dirty="0">
                <a:solidFill>
                  <a:schemeClr val="accent2"/>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187635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8B68C-6E97-132F-5150-33213E91A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EB0E41-C4EF-2DDE-99BB-B5BE935981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66D829-1939-99CB-5C4F-B483470549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F6EF9-0273-0205-524D-476B8D5A28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56FDA8-465C-F625-6B80-50A3E2A73A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5E275-8CD2-9ABE-2CFE-676840FFC2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61B17C-4E87-C83D-7356-548FCCB771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7D5BA4-708B-1B8F-B3E9-D2DC1B7197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7750AE-B277-FE31-9948-0810182FF4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46417C-0574-7042-9568-06FC01E5F61B}"/>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9) Active Remote Sensing </a:t>
            </a:r>
            <a:r>
              <a:rPr lang="en-US" sz="1500" kern="0" spc="-80" dirty="0" err="1">
                <a:solidFill>
                  <a:schemeClr val="accent2"/>
                </a:solidFill>
              </a:rPr>
              <a:t>Maths</a:t>
            </a:r>
            <a:r>
              <a:rPr lang="en-US" sz="1500" kern="0" spc="-80" dirty="0">
                <a:solidFill>
                  <a:schemeClr val="accent2"/>
                </a:solidFill>
              </a:rPr>
              <a:t>:</a:t>
            </a:r>
            <a:r>
              <a:rPr lang="en-US" sz="1500" kern="0" spc="-80" dirty="0">
                <a:solidFill>
                  <a:schemeClr val="accent6"/>
                </a:solidFill>
              </a:rPr>
              <a:t> </a:t>
            </a:r>
          </a:p>
          <a:p>
            <a:pPr marL="12700" marR="5080"/>
            <a:r>
              <a:rPr lang="en-US" sz="1500" kern="0" spc="-80" dirty="0">
                <a:solidFill>
                  <a:schemeClr val="accent6"/>
                </a:solidFill>
              </a:rPr>
              <a:t>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2"/>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2"/>
                </a:solidFill>
              </a:rPr>
              <a:t>Advanced math:</a:t>
            </a:r>
            <a:r>
              <a:rPr lang="en-US" sz="1500" kern="0" spc="-80" dirty="0">
                <a:solidFill>
                  <a:schemeClr val="accent6"/>
                </a:solidFill>
              </a:rPr>
              <a:t> Eigen decomposition of scattering matrix.</a:t>
            </a:r>
          </a:p>
          <a:p>
            <a:pPr marL="12700" marR="5080"/>
            <a:endParaRPr lang="en-US" sz="1500" kern="0" spc="-80" dirty="0">
              <a:solidFill>
                <a:schemeClr val="accent6"/>
              </a:solidFill>
            </a:endParaRPr>
          </a:p>
          <a:p>
            <a:pPr marL="12700" marR="5080"/>
            <a:r>
              <a:rPr lang="en-US" sz="1500" kern="0" spc="-80" dirty="0">
                <a:solidFill>
                  <a:schemeClr val="accent2"/>
                </a:solidFill>
              </a:rPr>
              <a:t>10) LiDAR Point Clouds</a:t>
            </a:r>
          </a:p>
          <a:p>
            <a:pPr marL="12700" marR="5080"/>
            <a:r>
              <a:rPr lang="en-US" sz="1500" kern="0" spc="-80" dirty="0">
                <a:solidFill>
                  <a:schemeClr val="accent2"/>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2"/>
                </a:solidFill>
              </a:rPr>
              <a:t>Surface models:</a:t>
            </a:r>
          </a:p>
          <a:p>
            <a:pPr marL="12700" marR="5080"/>
            <a:r>
              <a:rPr lang="en-US" sz="1500" kern="0" spc="-80" dirty="0">
                <a:solidFill>
                  <a:schemeClr val="accent2"/>
                </a:solidFill>
              </a:rPr>
              <a:t>DSM:</a:t>
            </a:r>
            <a:r>
              <a:rPr lang="en-US" sz="1500" kern="0" spc="-80" dirty="0">
                <a:solidFill>
                  <a:schemeClr val="accent6"/>
                </a:solidFill>
              </a:rPr>
              <a:t> Visible surfaces</a:t>
            </a:r>
          </a:p>
          <a:p>
            <a:pPr marL="12700" marR="5080"/>
            <a:r>
              <a:rPr lang="en-US" sz="1500" kern="0" spc="-80" dirty="0">
                <a:solidFill>
                  <a:schemeClr val="accent2"/>
                </a:solidFill>
              </a:rPr>
              <a:t>DTM: </a:t>
            </a:r>
            <a:r>
              <a:rPr lang="en-US" sz="1500" kern="0" spc="-80" dirty="0">
                <a:solidFill>
                  <a:schemeClr val="accent6"/>
                </a:solidFill>
              </a:rPr>
              <a:t>Ground only (after classification)</a:t>
            </a:r>
          </a:p>
          <a:p>
            <a:pPr marL="12700" marR="5080"/>
            <a:r>
              <a:rPr lang="en-US" sz="1500" kern="0" spc="-80" dirty="0" err="1">
                <a:solidFill>
                  <a:schemeClr val="accent2"/>
                </a:solidFill>
              </a:rPr>
              <a:t>nDSM</a:t>
            </a:r>
            <a:r>
              <a:rPr lang="en-US" sz="1500" kern="0" spc="-80" dirty="0">
                <a:solidFill>
                  <a:schemeClr val="accent2"/>
                </a:solidFill>
              </a:rPr>
              <a:t>:</a:t>
            </a:r>
            <a:r>
              <a:rPr lang="en-US" sz="1500" kern="0" spc="-80" dirty="0">
                <a:solidFill>
                  <a:schemeClr val="accent6"/>
                </a:solidFill>
              </a:rPr>
              <a:t> Height of objects (DSM - DTM)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92268066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A2F2-7197-3FA8-05FC-EB77A43850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107455-BCC8-8B56-C52C-C32E57938A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0107D0-BE2D-0223-2C9F-DC6B89791A3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4214D-FA7B-C5D8-8FEF-59888690C4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4DD861-70EB-EE41-BF7A-562D88EDDD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C75EBCE-D9D6-6C28-1683-314D8883978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E63D3C-9847-F18C-159D-DC4716A1BB5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434371-B813-F644-162C-11B33571F2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40647E7-D476-7CC1-62D4-3FE7947A7F5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957C0F-8F76-5732-FE1D-D47D782AE7E9}"/>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Final Summary (The Essence)</a:t>
            </a:r>
          </a:p>
          <a:p>
            <a:pPr marL="12700" marR="5080"/>
            <a:r>
              <a:rPr lang="en-US" sz="1500" kern="0" spc="-80" dirty="0">
                <a:solidFill>
                  <a:schemeClr val="accent2"/>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a:p>
            <a:pPr marL="12700" marR="5080"/>
            <a:endParaRPr lang="en-US" sz="1500" kern="0" spc="-80" dirty="0">
              <a:solidFill>
                <a:schemeClr val="accent6"/>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For Further Exploration</a:t>
            </a:r>
          </a:p>
          <a:p>
            <a:pPr marL="12700" marR="5080"/>
            <a:r>
              <a:rPr lang="en-IN" sz="1600" dirty="0">
                <a:hlinkClick r:id="rId7"/>
              </a:rPr>
              <a:t>Remote Sensing | NASA </a:t>
            </a:r>
            <a:r>
              <a:rPr lang="en-IN" sz="1600" dirty="0" err="1">
                <a:hlinkClick r:id="rId7"/>
              </a:rPr>
              <a:t>Earthdata</a:t>
            </a:r>
            <a:endParaRPr lang="en-IN" sz="1600" dirty="0"/>
          </a:p>
          <a:p>
            <a:pPr marL="12700" marR="5080"/>
            <a:r>
              <a:rPr lang="en-US" sz="1600" dirty="0">
                <a:hlinkClick r:id="rId8"/>
              </a:rPr>
              <a:t>Remote Sensing Tutorial In Spanish, French, Portuguese, and English - GRSS-IEEE</a:t>
            </a:r>
            <a:endParaRPr lang="en-US" sz="1500" kern="0" spc="-80" dirty="0">
              <a:solidFill>
                <a:schemeClr val="accent2"/>
              </a:solidFill>
            </a:endParaRPr>
          </a:p>
          <a:p>
            <a:pPr marL="12700" marR="5080"/>
            <a:r>
              <a:rPr lang="en-US" sz="1600" dirty="0">
                <a:hlinkClick r:id="rId9"/>
              </a:rPr>
              <a:t>Remote sensing, GIS and GPS</a:t>
            </a:r>
            <a:endParaRPr lang="en-US" sz="1600" dirty="0"/>
          </a:p>
          <a:p>
            <a:pPr marL="12700" marR="5080"/>
            <a:r>
              <a:rPr lang="en-IN" sz="1600" dirty="0">
                <a:hlinkClick r:id="rId10"/>
              </a:rPr>
              <a:t>REMOTE SENSING AND GIS</a:t>
            </a:r>
            <a:endParaRPr lang="en-IN" sz="1600" dirty="0"/>
          </a:p>
          <a:p>
            <a:pPr marL="12700" marR="5080"/>
            <a:r>
              <a:rPr lang="en-US" sz="1600" dirty="0">
                <a:hlinkClick r:id="rId11"/>
              </a:rPr>
              <a:t>Advanced Mathematical Methods in Remote Sensing</a:t>
            </a:r>
            <a:endParaRPr lang="en-US" sz="1500" kern="0" spc="-80" dirty="0">
              <a:solidFill>
                <a:schemeClr val="accent2"/>
              </a:solidFill>
            </a:endParaRPr>
          </a:p>
        </p:txBody>
      </p:sp>
    </p:spTree>
    <p:extLst>
      <p:ext uri="{BB962C8B-B14F-4D97-AF65-F5344CB8AC3E}">
        <p14:creationId xmlns:p14="http://schemas.microsoft.com/office/powerpoint/2010/main" val="3592684532"/>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928E-89F1-6C57-DDDE-8FDBD09FA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7B37B2-84D8-B16B-7035-B3286F496B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284CC4-1A98-175E-EC66-69AD0B763C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C0A0E-6F55-0DF7-4722-B45DF9DDAC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44FE3B-7B81-7A95-ACA2-2FBCF114F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1C4DA6-C18F-168A-A81D-095DC5BCCD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40DC9F-2CFD-33C1-49F8-266FC4AC4B4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C37B04-122A-7735-C8B5-C110C4DC061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BD20683-924B-7E56-6D50-58F5EA7DE4E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A27E5A2-1F1F-65AD-D067-D4D0E57DBBE3}"/>
              </a:ext>
            </a:extLst>
          </p:cNvPr>
          <p:cNvSpPr txBox="1">
            <a:spLocks/>
          </p:cNvSpPr>
          <p:nvPr/>
        </p:nvSpPr>
        <p:spPr>
          <a:xfrm>
            <a:off x="228600" y="762000"/>
            <a:ext cx="8624937" cy="39857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1. What is Photogrammetry?</a:t>
            </a:r>
          </a:p>
          <a:p>
            <a:pPr marL="12700" marR="5080"/>
            <a:r>
              <a:rPr lang="en-US" sz="1500" kern="0" spc="-80" dirty="0">
                <a:solidFill>
                  <a:schemeClr val="accent6"/>
                </a:solidFill>
              </a:rPr>
              <a:t>Photogrammetry is the science and technology of obtaining reliable measurements and 3D information about physical objects and the environment through the process of recording, measuring, and interpreting photographic images.</a:t>
            </a:r>
          </a:p>
          <a:p>
            <a:pPr marL="12700" marR="5080"/>
            <a:r>
              <a:rPr lang="en-US" sz="1500" kern="0" spc="-80" dirty="0">
                <a:solidFill>
                  <a:schemeClr val="accent6"/>
                </a:solidFill>
              </a:rPr>
              <a:t>It transforms 2D image data into 3D spatial information.</a:t>
            </a:r>
          </a:p>
          <a:p>
            <a:pPr marL="12700" marR="5080"/>
            <a:endParaRPr lang="en-US" sz="1500" kern="0" spc="-80" dirty="0">
              <a:solidFill>
                <a:schemeClr val="accent6"/>
              </a:solidFill>
            </a:endParaRPr>
          </a:p>
          <a:p>
            <a:pPr marL="12700" marR="5080"/>
            <a:r>
              <a:rPr lang="en-US" sz="1500" kern="0" spc="-80" dirty="0">
                <a:solidFill>
                  <a:schemeClr val="accent2"/>
                </a:solidFill>
              </a:rPr>
              <a:t>2. Major Types of Photogrammetry</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graphicFrame>
        <p:nvGraphicFramePr>
          <p:cNvPr id="10" name="Table 9">
            <a:extLst>
              <a:ext uri="{FF2B5EF4-FFF2-40B4-BE49-F238E27FC236}">
                <a16:creationId xmlns:a16="http://schemas.microsoft.com/office/drawing/2014/main" id="{3EFBB511-81AD-179D-A65F-BA42A033C676}"/>
              </a:ext>
            </a:extLst>
          </p:cNvPr>
          <p:cNvGraphicFramePr>
            <a:graphicFrameLocks noGrp="1"/>
          </p:cNvGraphicFramePr>
          <p:nvPr>
            <p:extLst>
              <p:ext uri="{D42A27DB-BD31-4B8C-83A1-F6EECF244321}">
                <p14:modId xmlns:p14="http://schemas.microsoft.com/office/powerpoint/2010/main" val="3986300572"/>
              </p:ext>
            </p:extLst>
          </p:nvPr>
        </p:nvGraphicFramePr>
        <p:xfrm>
          <a:off x="199925" y="2672079"/>
          <a:ext cx="8715474" cy="3237093"/>
        </p:xfrm>
        <a:graphic>
          <a:graphicData uri="http://schemas.openxmlformats.org/drawingml/2006/table">
            <a:tbl>
              <a:tblPr firstRow="1" bandRow="1">
                <a:tableStyleId>{5C22544A-7EE6-4342-B048-85BDC9FD1C3A}</a:tableStyleId>
              </a:tblPr>
              <a:tblGrid>
                <a:gridCol w="2905158">
                  <a:extLst>
                    <a:ext uri="{9D8B030D-6E8A-4147-A177-3AD203B41FA5}">
                      <a16:colId xmlns:a16="http://schemas.microsoft.com/office/drawing/2014/main" val="3620479117"/>
                    </a:ext>
                  </a:extLst>
                </a:gridCol>
                <a:gridCol w="2905158">
                  <a:extLst>
                    <a:ext uri="{9D8B030D-6E8A-4147-A177-3AD203B41FA5}">
                      <a16:colId xmlns:a16="http://schemas.microsoft.com/office/drawing/2014/main" val="2681647465"/>
                    </a:ext>
                  </a:extLst>
                </a:gridCol>
                <a:gridCol w="2905158">
                  <a:extLst>
                    <a:ext uri="{9D8B030D-6E8A-4147-A177-3AD203B41FA5}">
                      <a16:colId xmlns:a16="http://schemas.microsoft.com/office/drawing/2014/main" val="4106503271"/>
                    </a:ext>
                  </a:extLst>
                </a:gridCol>
              </a:tblGrid>
              <a:tr h="450969">
                <a:tc>
                  <a:txBody>
                    <a:bodyPr/>
                    <a:lstStyle/>
                    <a:p>
                      <a:r>
                        <a:rPr lang="en-IN" dirty="0"/>
                        <a:t>Type</a:t>
                      </a:r>
                    </a:p>
                  </a:txBody>
                  <a:tcPr/>
                </a:tc>
                <a:tc>
                  <a:txBody>
                    <a:bodyPr/>
                    <a:lstStyle/>
                    <a:p>
                      <a:r>
                        <a:rPr lang="en-IN" dirty="0"/>
                        <a:t>Description</a:t>
                      </a:r>
                    </a:p>
                  </a:txBody>
                  <a:tcPr/>
                </a:tc>
                <a:tc>
                  <a:txBody>
                    <a:bodyPr/>
                    <a:lstStyle/>
                    <a:p>
                      <a:r>
                        <a:rPr lang="en-IN" dirty="0"/>
                        <a:t>Use Cases</a:t>
                      </a:r>
                    </a:p>
                  </a:txBody>
                  <a:tcPr/>
                </a:tc>
                <a:extLst>
                  <a:ext uri="{0D108BD9-81ED-4DB2-BD59-A6C34878D82A}">
                    <a16:rowId xmlns:a16="http://schemas.microsoft.com/office/drawing/2014/main" val="2437575816"/>
                  </a:ext>
                </a:extLst>
              </a:tr>
              <a:tr h="450969">
                <a:tc>
                  <a:txBody>
                    <a:bodyPr/>
                    <a:lstStyle/>
                    <a:p>
                      <a:r>
                        <a:rPr lang="en-IN" dirty="0"/>
                        <a:t>Aerial Photogrammetry</a:t>
                      </a:r>
                    </a:p>
                  </a:txBody>
                  <a:tcPr/>
                </a:tc>
                <a:tc>
                  <a:txBody>
                    <a:bodyPr/>
                    <a:lstStyle/>
                    <a:p>
                      <a:r>
                        <a:rPr lang="en-US" dirty="0"/>
                        <a:t>Uses aerial or drone images</a:t>
                      </a:r>
                      <a:endParaRPr lang="en-IN" dirty="0"/>
                    </a:p>
                  </a:txBody>
                  <a:tcPr/>
                </a:tc>
                <a:tc>
                  <a:txBody>
                    <a:bodyPr/>
                    <a:lstStyle/>
                    <a:p>
                      <a:r>
                        <a:rPr lang="en-IN" dirty="0"/>
                        <a:t>Mapping, DEM generation</a:t>
                      </a:r>
                    </a:p>
                  </a:txBody>
                  <a:tcPr/>
                </a:tc>
                <a:extLst>
                  <a:ext uri="{0D108BD9-81ED-4DB2-BD59-A6C34878D82A}">
                    <a16:rowId xmlns:a16="http://schemas.microsoft.com/office/drawing/2014/main" val="2178679576"/>
                  </a:ext>
                </a:extLst>
              </a:tr>
              <a:tr h="778385">
                <a:tc>
                  <a:txBody>
                    <a:bodyPr/>
                    <a:lstStyle/>
                    <a:p>
                      <a:r>
                        <a:rPr lang="en-IN" dirty="0"/>
                        <a:t>Terrestrial (Close-Range) Photogrammetry</a:t>
                      </a:r>
                    </a:p>
                  </a:txBody>
                  <a:tcPr/>
                </a:tc>
                <a:tc>
                  <a:txBody>
                    <a:bodyPr/>
                    <a:lstStyle/>
                    <a:p>
                      <a:r>
                        <a:rPr lang="en-IN" dirty="0"/>
                        <a:t>Uses ground-based cameras</a:t>
                      </a:r>
                    </a:p>
                  </a:txBody>
                  <a:tcPr/>
                </a:tc>
                <a:tc>
                  <a:txBody>
                    <a:bodyPr/>
                    <a:lstStyle/>
                    <a:p>
                      <a:r>
                        <a:rPr lang="en-IN" dirty="0"/>
                        <a:t>Architecture, heritage documentation</a:t>
                      </a:r>
                    </a:p>
                  </a:txBody>
                  <a:tcPr/>
                </a:tc>
                <a:extLst>
                  <a:ext uri="{0D108BD9-81ED-4DB2-BD59-A6C34878D82A}">
                    <a16:rowId xmlns:a16="http://schemas.microsoft.com/office/drawing/2014/main" val="1227742599"/>
                  </a:ext>
                </a:extLst>
              </a:tr>
              <a:tr h="778385">
                <a:tc>
                  <a:txBody>
                    <a:bodyPr/>
                    <a:lstStyle/>
                    <a:p>
                      <a:r>
                        <a:rPr lang="en-IN" dirty="0"/>
                        <a:t>Satellite Photogrammetry</a:t>
                      </a:r>
                    </a:p>
                  </a:txBody>
                  <a:tcPr/>
                </a:tc>
                <a:tc>
                  <a:txBody>
                    <a:bodyPr/>
                    <a:lstStyle/>
                    <a:p>
                      <a:r>
                        <a:rPr lang="en-IN" dirty="0"/>
                        <a:t>Uses satellite imagery</a:t>
                      </a:r>
                    </a:p>
                  </a:txBody>
                  <a:tcPr/>
                </a:tc>
                <a:tc>
                  <a:txBody>
                    <a:bodyPr/>
                    <a:lstStyle/>
                    <a:p>
                      <a:r>
                        <a:rPr lang="en-IN" dirty="0"/>
                        <a:t>Large-scale mapping, terrain models</a:t>
                      </a:r>
                    </a:p>
                  </a:txBody>
                  <a:tcPr/>
                </a:tc>
                <a:extLst>
                  <a:ext uri="{0D108BD9-81ED-4DB2-BD59-A6C34878D82A}">
                    <a16:rowId xmlns:a16="http://schemas.microsoft.com/office/drawing/2014/main" val="1084393789"/>
                  </a:ext>
                </a:extLst>
              </a:tr>
              <a:tr h="778385">
                <a:tc>
                  <a:txBody>
                    <a:bodyPr/>
                    <a:lstStyle/>
                    <a:p>
                      <a:r>
                        <a:rPr lang="en-IN" dirty="0"/>
                        <a:t>Oblique Photogrammetry</a:t>
                      </a:r>
                    </a:p>
                  </a:txBody>
                  <a:tcPr/>
                </a:tc>
                <a:tc>
                  <a:txBody>
                    <a:bodyPr/>
                    <a:lstStyle/>
                    <a:p>
                      <a:r>
                        <a:rPr lang="en-IN" dirty="0"/>
                        <a:t>Captures tilted images</a:t>
                      </a:r>
                    </a:p>
                  </a:txBody>
                  <a:tcPr/>
                </a:tc>
                <a:tc>
                  <a:txBody>
                    <a:bodyPr/>
                    <a:lstStyle/>
                    <a:p>
                      <a:r>
                        <a:rPr lang="en-US" dirty="0"/>
                        <a:t>3D city modeling, façade reconstruction</a:t>
                      </a:r>
                    </a:p>
                  </a:txBody>
                  <a:tcPr/>
                </a:tc>
                <a:extLst>
                  <a:ext uri="{0D108BD9-81ED-4DB2-BD59-A6C34878D82A}">
                    <a16:rowId xmlns:a16="http://schemas.microsoft.com/office/drawing/2014/main" val="2025871696"/>
                  </a:ext>
                </a:extLst>
              </a:tr>
            </a:tbl>
          </a:graphicData>
        </a:graphic>
      </p:graphicFrame>
    </p:spTree>
    <p:extLst>
      <p:ext uri="{BB962C8B-B14F-4D97-AF65-F5344CB8AC3E}">
        <p14:creationId xmlns:p14="http://schemas.microsoft.com/office/powerpoint/2010/main" val="29569742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5CE98-1A5A-9177-9ABF-46CB61E637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78A752-BD08-8A3F-4C1F-68C833BAD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61A6645-EA32-68DB-442F-A19AAE13F6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698F2-9EC9-4B61-0093-396C3FA4B8C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C251979-EC34-5411-0B11-6BDB8952A0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D14C62-6F04-B534-1EEF-72E35FA624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B2A604-1C32-A88C-5118-7DF8E7A0B0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217D7C-21CB-B6C3-A7B2-CB4DEBA6D8E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E0A5009-515C-4E4C-876C-22CBCFE146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85744C9-164B-09EF-0D2B-789428696278}"/>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3. Core Concepts</a:t>
            </a:r>
          </a:p>
          <a:p>
            <a:pPr marL="12700" marR="5080"/>
            <a:r>
              <a:rPr lang="en-US" sz="1500" kern="0" spc="-80" dirty="0">
                <a:solidFill>
                  <a:schemeClr val="accent2"/>
                </a:solidFill>
              </a:rPr>
              <a:t>Collinearity Principle:</a:t>
            </a:r>
          </a:p>
          <a:p>
            <a:pPr marL="12700" marR="5080"/>
            <a:r>
              <a:rPr lang="en-US" sz="1500" kern="0" spc="-80" dirty="0">
                <a:solidFill>
                  <a:schemeClr val="accent6"/>
                </a:solidFill>
              </a:rPr>
              <a:t>The object point, image point, and camera center lie on a straight line.</a:t>
            </a:r>
          </a:p>
          <a:p>
            <a:pPr marL="12700" marR="5080"/>
            <a:r>
              <a:rPr lang="en-US" sz="1500" kern="0" spc="-80" dirty="0">
                <a:solidFill>
                  <a:schemeClr val="accent6"/>
                </a:solidFill>
              </a:rPr>
              <a:t>Used in deriving the collinearity equations, the foundation of photogrammetric computation.</a:t>
            </a:r>
          </a:p>
          <a:p>
            <a:pPr marL="12700" marR="5080"/>
            <a:r>
              <a:rPr lang="en-US" sz="1500" kern="0" spc="-80" dirty="0">
                <a:solidFill>
                  <a:schemeClr val="accent2"/>
                </a:solidFill>
              </a:rPr>
              <a:t>Coplanarity Principle:</a:t>
            </a:r>
          </a:p>
          <a:p>
            <a:pPr marL="12700" marR="5080"/>
            <a:r>
              <a:rPr lang="en-US" sz="1500" kern="0" spc="-80" dirty="0">
                <a:solidFill>
                  <a:schemeClr val="accent6"/>
                </a:solidFill>
              </a:rPr>
              <a:t>Two images of the same object point and the two camera centers lie on the same plane.</a:t>
            </a:r>
          </a:p>
          <a:p>
            <a:pPr marL="12700" marR="5080"/>
            <a:r>
              <a:rPr lang="en-US" sz="1500" kern="0" spc="-80" dirty="0">
                <a:solidFill>
                  <a:schemeClr val="accent2"/>
                </a:solidFill>
              </a:rPr>
              <a:t>Stereoscopy:</a:t>
            </a:r>
          </a:p>
          <a:p>
            <a:pPr marL="12700" marR="5080"/>
            <a:r>
              <a:rPr lang="en-US" sz="1500" kern="0" spc="-80" dirty="0">
                <a:solidFill>
                  <a:schemeClr val="accent6"/>
                </a:solidFill>
              </a:rPr>
              <a:t>Technique of using overlapping images to create a stereoscopic pair, giving depth perception.</a:t>
            </a:r>
          </a:p>
          <a:p>
            <a:pPr marL="12700" marR="5080"/>
            <a:r>
              <a:rPr lang="en-US" sz="1500" kern="0" spc="-80" dirty="0">
                <a:solidFill>
                  <a:schemeClr val="accent2"/>
                </a:solidFill>
              </a:rPr>
              <a:t>Parallax:</a:t>
            </a:r>
          </a:p>
          <a:p>
            <a:pPr marL="12700" marR="5080"/>
            <a:r>
              <a:rPr lang="en-US" sz="1500" kern="0" spc="-80" dirty="0">
                <a:solidFill>
                  <a:schemeClr val="accent6"/>
                </a:solidFill>
              </a:rPr>
              <a:t>Apparent shift of an object’s position between two images; used to determine elevation.</a:t>
            </a:r>
          </a:p>
          <a:p>
            <a:pPr marL="12700" marR="5080"/>
            <a:r>
              <a:rPr lang="en-US" sz="1500" kern="0" spc="-80" dirty="0">
                <a:solidFill>
                  <a:schemeClr val="accent2"/>
                </a:solidFill>
              </a:rPr>
              <a:t>Interior Orientation:</a:t>
            </a:r>
          </a:p>
          <a:p>
            <a:pPr marL="12700" marR="5080"/>
            <a:r>
              <a:rPr lang="en-US" sz="1500" kern="0" spc="-80" dirty="0">
                <a:solidFill>
                  <a:schemeClr val="accent6"/>
                </a:solidFill>
              </a:rPr>
              <a:t>Defines the internal geometry of the camera (focal length, principal point, distortion).</a:t>
            </a:r>
          </a:p>
          <a:p>
            <a:pPr marL="12700" marR="5080"/>
            <a:r>
              <a:rPr lang="en-US" sz="1500" kern="0" spc="-80" dirty="0">
                <a:solidFill>
                  <a:schemeClr val="accent2"/>
                </a:solidFill>
              </a:rPr>
              <a:t>Exterior Orientation:</a:t>
            </a:r>
          </a:p>
          <a:p>
            <a:pPr marL="12700" marR="5080"/>
            <a:r>
              <a:rPr lang="en-US" sz="1500" kern="0" spc="-80" dirty="0">
                <a:solidFill>
                  <a:schemeClr val="accent6"/>
                </a:solidFill>
              </a:rPr>
              <a:t>Describes the position (X, Y, Z) and attitude (ω, φ, κ rotations) of the camera during image capture.</a:t>
            </a:r>
          </a:p>
          <a:p>
            <a:pPr marL="12700" marR="5080"/>
            <a:r>
              <a:rPr lang="en-US" sz="1500" kern="0" spc="-80" dirty="0">
                <a:solidFill>
                  <a:schemeClr val="accent2"/>
                </a:solidFill>
              </a:rPr>
              <a:t>Image Matching:</a:t>
            </a:r>
          </a:p>
          <a:p>
            <a:pPr marL="12700" marR="5080"/>
            <a:r>
              <a:rPr lang="en-US" sz="1500" kern="0" spc="-80" dirty="0">
                <a:solidFill>
                  <a:schemeClr val="accent6"/>
                </a:solidFill>
              </a:rPr>
              <a:t>Process of identifying identical features across overlapping images.</a:t>
            </a:r>
          </a:p>
          <a:p>
            <a:pPr marL="12700" marR="5080"/>
            <a:endParaRPr lang="en-US" sz="1500" kern="0" spc="-80" dirty="0">
              <a:solidFill>
                <a:schemeClr val="accent6"/>
              </a:solidFill>
            </a:endParaRPr>
          </a:p>
          <a:p>
            <a:pPr marL="12700" marR="5080"/>
            <a:r>
              <a:rPr lang="en-US" sz="1500" kern="0" spc="-80" dirty="0">
                <a:solidFill>
                  <a:schemeClr val="accent2"/>
                </a:solidFill>
              </a:rPr>
              <a:t>4. Methods of Photogrammetry</a:t>
            </a:r>
          </a:p>
          <a:p>
            <a:pPr marL="12700" marR="5080"/>
            <a:r>
              <a:rPr lang="en-US" sz="1500" kern="0" spc="-80" dirty="0">
                <a:solidFill>
                  <a:schemeClr val="accent2"/>
                </a:solidFill>
              </a:rPr>
              <a:t>Analog Photogrammetry:</a:t>
            </a:r>
          </a:p>
          <a:p>
            <a:pPr marL="12700" marR="5080"/>
            <a:r>
              <a:rPr lang="en-US" sz="1500" kern="0" spc="-80" dirty="0">
                <a:solidFill>
                  <a:schemeClr val="accent6"/>
                </a:solidFill>
              </a:rPr>
              <a:t>Traditional film-based, optical-mechanical methods using </a:t>
            </a:r>
            <a:r>
              <a:rPr lang="en-US" sz="1500" kern="0" spc="-80" dirty="0" err="1">
                <a:solidFill>
                  <a:schemeClr val="accent6"/>
                </a:solidFill>
              </a:rPr>
              <a:t>stereoplotters</a:t>
            </a:r>
            <a:r>
              <a:rPr lang="en-US" sz="1500" kern="0" spc="-80" dirty="0">
                <a:solidFill>
                  <a:schemeClr val="accent6"/>
                </a:solidFill>
              </a:rPr>
              <a:t>.</a:t>
            </a:r>
          </a:p>
        </p:txBody>
      </p:sp>
    </p:spTree>
    <p:extLst>
      <p:ext uri="{BB962C8B-B14F-4D97-AF65-F5344CB8AC3E}">
        <p14:creationId xmlns:p14="http://schemas.microsoft.com/office/powerpoint/2010/main" val="2808459279"/>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2C35C-A922-9BDE-9428-C1D3CAB4CC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C24B0E-FE92-05F2-73C2-92812F7247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C080A7-B67E-CF1A-8419-B197030AD74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232502-601E-8704-6443-F65AE931E1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6E3CC1-1A97-4DCC-17E4-9D3C6944E0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7B404A-28C4-92E2-C426-B9DE14B6E6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321863-8A9D-FF41-CBAA-6F25A78F3A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1BB328-2DFD-DA9E-63CF-33B63A55BF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0C39684-1B33-37F2-C62E-B7D43FAC98C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43BA3DB-3A57-CA8D-E839-6D81995EC688}"/>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Analytical Photogrammetry:</a:t>
            </a:r>
          </a:p>
          <a:p>
            <a:pPr marL="12700" marR="5080"/>
            <a:r>
              <a:rPr lang="en-US" sz="1500" kern="0" spc="-80" dirty="0">
                <a:solidFill>
                  <a:schemeClr val="accent6"/>
                </a:solidFill>
              </a:rPr>
              <a:t>Uses mathematical models (collinearity equations) with digitized images.</a:t>
            </a:r>
          </a:p>
          <a:p>
            <a:pPr marL="12700" marR="5080"/>
            <a:r>
              <a:rPr lang="en-US" sz="1500" kern="0" spc="-80" dirty="0">
                <a:solidFill>
                  <a:schemeClr val="accent2"/>
                </a:solidFill>
              </a:rPr>
              <a:t>Digital Photogrammetry:</a:t>
            </a:r>
          </a:p>
          <a:p>
            <a:pPr marL="12700" marR="5080"/>
            <a:r>
              <a:rPr lang="en-US" sz="1500" kern="0" spc="-80" dirty="0">
                <a:solidFill>
                  <a:schemeClr val="accent6"/>
                </a:solidFill>
              </a:rPr>
              <a:t>Fully computer-based — employs image processing, feature extraction, and </a:t>
            </a:r>
            <a:r>
              <a:rPr lang="en-US" sz="1500" kern="0" spc="-80" dirty="0" err="1">
                <a:solidFill>
                  <a:schemeClr val="accent6"/>
                </a:solidFill>
              </a:rPr>
              <a:t>SfM</a:t>
            </a:r>
            <a:r>
              <a:rPr lang="en-US" sz="1500" kern="0" spc="-80" dirty="0">
                <a:solidFill>
                  <a:schemeClr val="accent6"/>
                </a:solidFill>
              </a:rPr>
              <a:t> (Structure-from-Motion).</a:t>
            </a:r>
          </a:p>
          <a:p>
            <a:pPr marL="12700" marR="5080"/>
            <a:r>
              <a:rPr lang="en-US" sz="1500" kern="0" spc="-80" dirty="0">
                <a:solidFill>
                  <a:schemeClr val="accent2"/>
                </a:solidFill>
              </a:rPr>
              <a:t>    Structure from Motion (</a:t>
            </a:r>
            <a:r>
              <a:rPr lang="en-US" sz="1500" kern="0" spc="-80" dirty="0" err="1">
                <a:solidFill>
                  <a:schemeClr val="accent2"/>
                </a:solidFill>
              </a:rPr>
              <a:t>SfM</a:t>
            </a:r>
            <a:r>
              <a:rPr lang="en-US" sz="1500" kern="0" spc="-80" dirty="0">
                <a:solidFill>
                  <a:schemeClr val="accent2"/>
                </a:solidFill>
              </a:rPr>
              <a:t>):</a:t>
            </a:r>
          </a:p>
          <a:p>
            <a:pPr marL="12700" marR="5080"/>
            <a:r>
              <a:rPr lang="en-US" sz="1500" kern="0" spc="-80" dirty="0">
                <a:solidFill>
                  <a:schemeClr val="accent6"/>
                </a:solidFill>
              </a:rPr>
              <a:t>    Automatically reconstructs 3D geometry from unordered 2D images using feature matching </a:t>
            </a:r>
          </a:p>
          <a:p>
            <a:pPr marL="12700" marR="5080"/>
            <a:r>
              <a:rPr lang="en-US" sz="1500" kern="0" spc="-80" dirty="0">
                <a:solidFill>
                  <a:schemeClr val="accent6"/>
                </a:solidFill>
              </a:rPr>
              <a:t>    and camera calibration.</a:t>
            </a:r>
          </a:p>
          <a:p>
            <a:pPr marL="12700" marR="5080"/>
            <a:r>
              <a:rPr lang="en-US" sz="1500" kern="0" spc="-80" dirty="0">
                <a:solidFill>
                  <a:schemeClr val="accent2"/>
                </a:solidFill>
              </a:rPr>
              <a:t>    Bundle Adjustment:</a:t>
            </a:r>
          </a:p>
          <a:p>
            <a:pPr marL="12700" marR="5080"/>
            <a:r>
              <a:rPr lang="en-US" sz="1500" kern="0" spc="-80" dirty="0">
                <a:solidFill>
                  <a:schemeClr val="accent6"/>
                </a:solidFill>
              </a:rPr>
              <a:t>    Optimization process refining camera parameters and 3D point positions simultaneously for </a:t>
            </a:r>
          </a:p>
          <a:p>
            <a:pPr marL="12700" marR="5080"/>
            <a:r>
              <a:rPr lang="en-US" sz="1500" kern="0" spc="-80" dirty="0">
                <a:solidFill>
                  <a:schemeClr val="accent6"/>
                </a:solidFill>
              </a:rPr>
              <a:t>    minimal reprojection error.</a:t>
            </a:r>
          </a:p>
          <a:p>
            <a:pPr marL="12700" marR="5080"/>
            <a:endParaRPr lang="en-US" sz="1500" kern="0" spc="-80" dirty="0">
              <a:solidFill>
                <a:schemeClr val="accent6"/>
              </a:solidFill>
            </a:endParaRPr>
          </a:p>
          <a:p>
            <a:pPr marL="12700" marR="5080"/>
            <a:r>
              <a:rPr lang="en-US" sz="1500" kern="0" spc="-80" dirty="0">
                <a:solidFill>
                  <a:schemeClr val="accent2"/>
                </a:solidFill>
              </a:rPr>
              <a:t>5. Key Techniques</a:t>
            </a:r>
          </a:p>
          <a:p>
            <a:pPr marL="12700" marR="5080"/>
            <a:r>
              <a:rPr lang="en-US" sz="1500" kern="0" spc="-80" dirty="0">
                <a:solidFill>
                  <a:schemeClr val="accent2"/>
                </a:solidFill>
              </a:rPr>
              <a:t>Image Orientation:</a:t>
            </a:r>
          </a:p>
          <a:p>
            <a:pPr marL="12700" marR="5080"/>
            <a:r>
              <a:rPr lang="en-US" sz="1500" kern="0" spc="-80" dirty="0">
                <a:solidFill>
                  <a:schemeClr val="accent2"/>
                </a:solidFill>
              </a:rPr>
              <a:t>Interior Orientation:</a:t>
            </a:r>
            <a:r>
              <a:rPr lang="en-US" sz="1500" kern="0" spc="-80" dirty="0">
                <a:solidFill>
                  <a:schemeClr val="accent6"/>
                </a:solidFill>
              </a:rPr>
              <a:t> Calibrate the camera.</a:t>
            </a:r>
          </a:p>
          <a:p>
            <a:pPr marL="12700" marR="5080"/>
            <a:r>
              <a:rPr lang="en-US" sz="1500" kern="0" spc="-80" dirty="0">
                <a:solidFill>
                  <a:schemeClr val="accent2"/>
                </a:solidFill>
              </a:rPr>
              <a:t>Relative Orientation: </a:t>
            </a:r>
            <a:r>
              <a:rPr lang="en-US" sz="1500" kern="0" spc="-80" dirty="0">
                <a:solidFill>
                  <a:schemeClr val="accent6"/>
                </a:solidFill>
              </a:rPr>
              <a:t>Align overlapping images.</a:t>
            </a:r>
          </a:p>
          <a:p>
            <a:pPr marL="12700" marR="5080"/>
            <a:r>
              <a:rPr lang="en-US" sz="1500" kern="0" spc="-80" dirty="0">
                <a:solidFill>
                  <a:schemeClr val="accent2"/>
                </a:solidFill>
              </a:rPr>
              <a:t>Absolute Orientation: </a:t>
            </a:r>
            <a:r>
              <a:rPr lang="en-US" sz="1500" kern="0" spc="-80" dirty="0">
                <a:solidFill>
                  <a:schemeClr val="accent6"/>
                </a:solidFill>
              </a:rPr>
              <a:t>Scale and position model to real-world coordinates.</a:t>
            </a:r>
          </a:p>
          <a:p>
            <a:pPr marL="12700" marR="5080"/>
            <a:r>
              <a:rPr lang="en-US" sz="1500" kern="0" spc="-80" dirty="0">
                <a:solidFill>
                  <a:schemeClr val="accent2"/>
                </a:solidFill>
              </a:rPr>
              <a:t>Triangulation:</a:t>
            </a:r>
          </a:p>
          <a:p>
            <a:pPr marL="12700" marR="5080"/>
            <a:r>
              <a:rPr lang="en-US" sz="1500" kern="0" spc="-80" dirty="0">
                <a:solidFill>
                  <a:schemeClr val="accent2"/>
                </a:solidFill>
              </a:rPr>
              <a:t>Derives </a:t>
            </a:r>
            <a:r>
              <a:rPr lang="en-US" sz="1500" kern="0" spc="-80" dirty="0">
                <a:solidFill>
                  <a:schemeClr val="accent6"/>
                </a:solidFill>
              </a:rPr>
              <a:t>3D coordinates from intersecting rays traced from image points to object points.</a:t>
            </a:r>
          </a:p>
          <a:p>
            <a:pPr marL="12700" marR="5080"/>
            <a:r>
              <a:rPr lang="en-US" sz="1500" kern="0" spc="-80" dirty="0">
                <a:solidFill>
                  <a:schemeClr val="accent2"/>
                </a:solidFill>
              </a:rPr>
              <a:t>DEM/DSM/DTM Extraction:</a:t>
            </a:r>
          </a:p>
          <a:p>
            <a:pPr marL="12700" marR="5080"/>
            <a:r>
              <a:rPr lang="en-US" sz="1500" kern="0" spc="-80" dirty="0">
                <a:solidFill>
                  <a:schemeClr val="accent2"/>
                </a:solidFill>
              </a:rPr>
              <a:t>DEM (Digital Elevation Model): </a:t>
            </a:r>
            <a:r>
              <a:rPr lang="en-US" sz="1500" kern="0" spc="-80" dirty="0">
                <a:solidFill>
                  <a:schemeClr val="accent6"/>
                </a:solidFill>
              </a:rPr>
              <a:t>Surface elevations without objects.</a:t>
            </a:r>
          </a:p>
        </p:txBody>
      </p:sp>
    </p:spTree>
    <p:extLst>
      <p:ext uri="{BB962C8B-B14F-4D97-AF65-F5344CB8AC3E}">
        <p14:creationId xmlns:p14="http://schemas.microsoft.com/office/powerpoint/2010/main" val="113741639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F9C07-811E-39B3-BF60-BAE1D7C993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853388-A6C4-68B1-999F-03BC7D93FDE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0CED18-24B2-C637-1C5F-5184D6B2D1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A8F168-95F1-7591-BD98-819FAF98A4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8809C4-DD7C-ACD6-36B8-20EBE3630F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CF4E12-312D-FA20-1A5E-9B349140F6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CC8B8D-328F-AAB7-ADB9-A2F5D6224B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9E6E5-0480-7224-B736-CA4287AE36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A4F05BC5-FE91-2041-DF5F-098A2BD44EB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F9C94F8-A982-9B29-A78A-B2C4DC80530E}"/>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DSM (Digital Surface Model):</a:t>
            </a:r>
            <a:r>
              <a:rPr lang="en-US" sz="1500" kern="0" spc="-80" dirty="0">
                <a:solidFill>
                  <a:schemeClr val="accent6"/>
                </a:solidFill>
              </a:rPr>
              <a:t> Includes trees/buildings.</a:t>
            </a:r>
          </a:p>
          <a:p>
            <a:pPr marL="12700" marR="5080"/>
            <a:r>
              <a:rPr lang="en-US" sz="1500" kern="0" spc="-80" dirty="0">
                <a:solidFill>
                  <a:schemeClr val="accent2"/>
                </a:solidFill>
              </a:rPr>
              <a:t>DTM (Digital Terrain Model):</a:t>
            </a:r>
            <a:r>
              <a:rPr lang="en-US" sz="1500" kern="0" spc="-80" dirty="0">
                <a:solidFill>
                  <a:schemeClr val="accent6"/>
                </a:solidFill>
              </a:rPr>
              <a:t> Smoothed earth surface.</a:t>
            </a:r>
          </a:p>
          <a:p>
            <a:pPr marL="12700" marR="5080"/>
            <a:r>
              <a:rPr lang="en-US" sz="1500" kern="0" spc="-80" dirty="0">
                <a:solidFill>
                  <a:schemeClr val="accent2"/>
                </a:solidFill>
              </a:rPr>
              <a:t>Orthorectification:</a:t>
            </a:r>
          </a:p>
          <a:p>
            <a:pPr marL="12700" marR="5080"/>
            <a:r>
              <a:rPr lang="en-US" sz="1500" kern="0" spc="-80" dirty="0">
                <a:solidFill>
                  <a:schemeClr val="accent6"/>
                </a:solidFill>
              </a:rPr>
              <a:t>Corrects image distortions from relief displacement and camera tilt → results in orthophotos (map-accurate images).</a:t>
            </a:r>
          </a:p>
          <a:p>
            <a:pPr marL="12700" marR="5080"/>
            <a:r>
              <a:rPr lang="en-US" sz="1500" kern="0" spc="-80" dirty="0">
                <a:solidFill>
                  <a:schemeClr val="accent2"/>
                </a:solidFill>
              </a:rPr>
              <a:t>Image Mosaicking:</a:t>
            </a:r>
          </a:p>
          <a:p>
            <a:pPr marL="12700" marR="5080"/>
            <a:r>
              <a:rPr lang="en-US" sz="1500" kern="0" spc="-80" dirty="0">
                <a:solidFill>
                  <a:schemeClr val="accent6"/>
                </a:solidFill>
              </a:rPr>
              <a:t>Seamlessly joins multiple orthophotos into one continuous image.</a:t>
            </a:r>
          </a:p>
          <a:p>
            <a:pPr marL="12700" marR="5080"/>
            <a:r>
              <a:rPr lang="en-US" sz="1500" kern="0" spc="-80" dirty="0">
                <a:solidFill>
                  <a:schemeClr val="accent2"/>
                </a:solidFill>
              </a:rPr>
              <a:t>Dense Point Cloud Generation:</a:t>
            </a:r>
          </a:p>
          <a:p>
            <a:pPr marL="12700" marR="5080"/>
            <a:r>
              <a:rPr lang="en-US" sz="1500" kern="0" spc="-80" dirty="0">
                <a:solidFill>
                  <a:schemeClr val="accent6"/>
                </a:solidFill>
              </a:rPr>
              <a:t>Produces high-resolution 3D point clouds using multi-view stereo (MVS).</a:t>
            </a:r>
          </a:p>
          <a:p>
            <a:pPr marL="12700" marR="5080"/>
            <a:endParaRPr lang="en-US" sz="1500" kern="0" spc="-80" dirty="0">
              <a:solidFill>
                <a:schemeClr val="accent6"/>
              </a:solidFill>
            </a:endParaRPr>
          </a:p>
          <a:p>
            <a:pPr marL="12700" marR="5080"/>
            <a:r>
              <a:rPr lang="en-US" sz="1500" kern="0" spc="-80" dirty="0">
                <a:solidFill>
                  <a:schemeClr val="accent2"/>
                </a:solidFill>
              </a:rPr>
              <a:t>6. Important Algorithms</a:t>
            </a:r>
          </a:p>
          <a:p>
            <a:pPr marL="12700" marR="5080"/>
            <a:r>
              <a:rPr lang="en-US" sz="1500" kern="0" spc="-80" dirty="0">
                <a:solidFill>
                  <a:schemeClr val="accent2"/>
                </a:solidFill>
              </a:rPr>
              <a:t>Feature Detection &amp; Matching:</a:t>
            </a:r>
          </a:p>
          <a:p>
            <a:pPr marL="12700" marR="5080"/>
            <a:r>
              <a:rPr lang="en-US" sz="1500" kern="0" spc="-80" dirty="0">
                <a:solidFill>
                  <a:schemeClr val="accent6"/>
                </a:solidFill>
              </a:rPr>
              <a:t>SIFT (Scale Invariant Feature Transform)</a:t>
            </a:r>
          </a:p>
          <a:p>
            <a:pPr marL="12700" marR="5080"/>
            <a:r>
              <a:rPr lang="en-US" sz="1500" kern="0" spc="-80" dirty="0">
                <a:solidFill>
                  <a:schemeClr val="accent6"/>
                </a:solidFill>
              </a:rPr>
              <a:t>SURF (Speeded Up Robust Features)</a:t>
            </a:r>
          </a:p>
          <a:p>
            <a:pPr marL="12700" marR="5080"/>
            <a:r>
              <a:rPr lang="en-US" sz="1500" kern="0" spc="-80" dirty="0">
                <a:solidFill>
                  <a:schemeClr val="accent6"/>
                </a:solidFill>
              </a:rPr>
              <a:t>ORB (Oriented FAST and Rotated BRIEF)</a:t>
            </a:r>
          </a:p>
          <a:p>
            <a:pPr marL="12700" marR="5080"/>
            <a:r>
              <a:rPr lang="en-US" sz="1500" kern="0" spc="-80" dirty="0" err="1">
                <a:solidFill>
                  <a:schemeClr val="accent2"/>
                </a:solidFill>
              </a:rPr>
              <a:t>Epipolar</a:t>
            </a:r>
            <a:r>
              <a:rPr lang="en-US" sz="1500" kern="0" spc="-80" dirty="0">
                <a:solidFill>
                  <a:schemeClr val="accent2"/>
                </a:solidFill>
              </a:rPr>
              <a:t> Geometry:</a:t>
            </a:r>
          </a:p>
          <a:p>
            <a:pPr marL="12700" marR="5080"/>
            <a:r>
              <a:rPr lang="en-US" sz="1500" kern="0" spc="-80" dirty="0">
                <a:solidFill>
                  <a:schemeClr val="accent6"/>
                </a:solidFill>
              </a:rPr>
              <a:t>Relationship between two views — governed by Fundamental Matrix (F).</a:t>
            </a:r>
          </a:p>
          <a:p>
            <a:pPr marL="12700" marR="5080"/>
            <a:r>
              <a:rPr lang="en-US" sz="1500" kern="0" spc="-80" dirty="0">
                <a:solidFill>
                  <a:schemeClr val="accent6"/>
                </a:solidFill>
              </a:rPr>
              <a:t>Reduces search space for corresponding points.</a:t>
            </a:r>
          </a:p>
          <a:p>
            <a:pPr marL="12700" marR="5080"/>
            <a:r>
              <a:rPr lang="en-US" sz="1500" kern="0" spc="-80" dirty="0">
                <a:solidFill>
                  <a:schemeClr val="accent2"/>
                </a:solidFill>
              </a:rPr>
              <a:t>Camera Calibration:</a:t>
            </a:r>
          </a:p>
          <a:p>
            <a:pPr marL="12700" marR="5080"/>
            <a:r>
              <a:rPr lang="en-US" sz="1500" kern="0" spc="-80" dirty="0">
                <a:solidFill>
                  <a:schemeClr val="accent6"/>
                </a:solidFill>
              </a:rPr>
              <a:t>Determines intrinsic and extrinsic parameters using Zhang’s calibration method.</a:t>
            </a:r>
          </a:p>
        </p:txBody>
      </p:sp>
    </p:spTree>
    <p:extLst>
      <p:ext uri="{BB962C8B-B14F-4D97-AF65-F5344CB8AC3E}">
        <p14:creationId xmlns:p14="http://schemas.microsoft.com/office/powerpoint/2010/main" val="819143629"/>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ECDEE-0BFE-84B2-3303-B7B380DDE6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40A3BA-3DC5-F1B2-4937-8B143DE30C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2AD537-0463-2D41-F065-1298AF55A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D147FE-5CC0-72D3-A27E-42B6278EC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BC8BE6-52FF-49BA-E9E6-71F51DA9B0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18394B-78BF-D8D9-DD2C-02B77C4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4BCFC6-6886-9FC1-388E-F5EFF467D8F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69652A-1B7B-BF1E-7542-35DB1D86C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5864A70-54B9-6FA9-722E-9DFE14986BF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E3694A5-519F-060C-F973-7EF9626BB4A7}"/>
              </a:ext>
            </a:extLst>
          </p:cNvPr>
          <p:cNvSpPr txBox="1">
            <a:spLocks/>
          </p:cNvSpPr>
          <p:nvPr/>
        </p:nvSpPr>
        <p:spPr>
          <a:xfrm>
            <a:off x="228600" y="7620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Bundle Adjustment:</a:t>
            </a:r>
          </a:p>
          <a:p>
            <a:pPr marL="12700" marR="5080"/>
            <a:r>
              <a:rPr lang="en-US" sz="1500" kern="0" spc="-80" dirty="0">
                <a:solidFill>
                  <a:schemeClr val="accent6"/>
                </a:solidFill>
              </a:rPr>
              <a:t>Nonlinear least-squares optimization (typically using Levenberg–Marquardt) minimizing reprojection error.</a:t>
            </a:r>
          </a:p>
          <a:p>
            <a:pPr marL="12700" marR="5080"/>
            <a:r>
              <a:rPr lang="en-US" sz="1500" kern="0" spc="-80" dirty="0">
                <a:solidFill>
                  <a:schemeClr val="accent2"/>
                </a:solidFill>
              </a:rPr>
              <a:t>RANSAC (Random Sample Consensus):</a:t>
            </a:r>
          </a:p>
          <a:p>
            <a:pPr marL="12700" marR="5080"/>
            <a:r>
              <a:rPr lang="en-US" sz="1500" kern="0" spc="-80" dirty="0">
                <a:solidFill>
                  <a:schemeClr val="accent6"/>
                </a:solidFill>
              </a:rPr>
              <a:t>Robust estimation of transformation matrices (e.g., </a:t>
            </a:r>
            <a:r>
              <a:rPr lang="en-US" sz="1500" kern="0" spc="-80" dirty="0" err="1">
                <a:solidFill>
                  <a:schemeClr val="accent6"/>
                </a:solidFill>
              </a:rPr>
              <a:t>homography</a:t>
            </a:r>
            <a:r>
              <a:rPr lang="en-US" sz="1500" kern="0" spc="-80" dirty="0">
                <a:solidFill>
                  <a:schemeClr val="accent6"/>
                </a:solidFill>
              </a:rPr>
              <a:t> or fundamental matrix).</a:t>
            </a:r>
          </a:p>
          <a:p>
            <a:pPr marL="12700" marR="5080"/>
            <a:r>
              <a:rPr lang="en-US" sz="1500" kern="0" spc="-80" dirty="0">
                <a:solidFill>
                  <a:schemeClr val="accent2"/>
                </a:solidFill>
              </a:rPr>
              <a:t>Triangulation Algorithms:</a:t>
            </a:r>
          </a:p>
          <a:p>
            <a:pPr marL="12700" marR="5080"/>
            <a:r>
              <a:rPr lang="en-US" sz="1500" kern="0" spc="-80" dirty="0">
                <a:solidFill>
                  <a:schemeClr val="accent6"/>
                </a:solidFill>
              </a:rPr>
              <a:t>Linear and nonlinear triangulation methods for deriving 3D coordinates from 2D correspondences.</a:t>
            </a:r>
          </a:p>
          <a:p>
            <a:pPr marL="12700" marR="5080"/>
            <a:r>
              <a:rPr lang="en-US" sz="1500" kern="0" spc="-80" dirty="0">
                <a:solidFill>
                  <a:schemeClr val="accent2"/>
                </a:solidFill>
              </a:rPr>
              <a:t>DEM Generation Algorithms:</a:t>
            </a:r>
          </a:p>
          <a:p>
            <a:pPr marL="12700" marR="5080"/>
            <a:r>
              <a:rPr lang="en-US" sz="1500" kern="0" spc="-80" dirty="0">
                <a:solidFill>
                  <a:schemeClr val="accent2"/>
                </a:solidFill>
              </a:rPr>
              <a:t>Interpolation techniques such as:</a:t>
            </a:r>
          </a:p>
          <a:p>
            <a:pPr marL="12700" marR="5080"/>
            <a:r>
              <a:rPr lang="en-US" sz="1500" kern="0" spc="-80" dirty="0">
                <a:solidFill>
                  <a:schemeClr val="accent6"/>
                </a:solidFill>
              </a:rPr>
              <a:t>Inverse Distance Weighting (IDW)</a:t>
            </a:r>
          </a:p>
          <a:p>
            <a:pPr marL="12700" marR="5080"/>
            <a:r>
              <a:rPr lang="en-US" sz="1500" kern="0" spc="-80" dirty="0">
                <a:solidFill>
                  <a:schemeClr val="accent6"/>
                </a:solidFill>
              </a:rPr>
              <a:t>Kriging</a:t>
            </a:r>
          </a:p>
          <a:p>
            <a:pPr marL="12700" marR="5080"/>
            <a:r>
              <a:rPr lang="en-US" sz="1500" kern="0" spc="-80" dirty="0">
                <a:solidFill>
                  <a:schemeClr val="accent6"/>
                </a:solidFill>
              </a:rPr>
              <a:t>TIN (Triangulated Irregular Network) based interpolation</a:t>
            </a:r>
          </a:p>
          <a:p>
            <a:pPr marL="12700" marR="5080"/>
            <a:endParaRPr lang="en-US" sz="1500" kern="0" spc="-80" dirty="0">
              <a:solidFill>
                <a:schemeClr val="accent6"/>
              </a:solidFill>
            </a:endParaRPr>
          </a:p>
          <a:p>
            <a:pPr marL="12700" marR="5080"/>
            <a:r>
              <a:rPr lang="en-US" sz="1500" kern="0" spc="-80" dirty="0">
                <a:solidFill>
                  <a:schemeClr val="accent2"/>
                </a:solidFill>
              </a:rPr>
              <a:t>7.Underlying Mathematics</a:t>
            </a:r>
          </a:p>
          <a:p>
            <a:pPr marL="12700" marR="5080"/>
            <a:r>
              <a:rPr lang="en-US" sz="1500" kern="0" spc="-80" dirty="0">
                <a:solidFill>
                  <a:schemeClr val="accent2"/>
                </a:solidFill>
              </a:rPr>
              <a:t>Projective Geometry:</a:t>
            </a:r>
          </a:p>
          <a:p>
            <a:pPr marL="12700" marR="5080"/>
            <a:r>
              <a:rPr lang="en-US" sz="1500" kern="0" spc="-80" dirty="0">
                <a:solidFill>
                  <a:schemeClr val="accent6"/>
                </a:solidFill>
              </a:rPr>
              <a:t>Foundation of image formation — uses homogeneous coordinates and transformations.</a:t>
            </a:r>
          </a:p>
          <a:p>
            <a:pPr marL="12700" marR="5080"/>
            <a:r>
              <a:rPr lang="en-US" sz="1500" kern="0" spc="-80" dirty="0">
                <a:solidFill>
                  <a:schemeClr val="accent2"/>
                </a:solidFill>
              </a:rPr>
              <a:t>Pinhole Camera Model:</a:t>
            </a:r>
          </a:p>
          <a:p>
            <a:pPr marL="12700" marR="5080"/>
            <a:r>
              <a:rPr lang="en-US" sz="1500" kern="0" spc="-80" dirty="0">
                <a:solidFill>
                  <a:schemeClr val="accent6"/>
                </a:solidFill>
              </a:rPr>
              <a:t>Relates 3D world coordinates (X, Y, Z) to 2D image coordinates (x, 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27359239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2F308-5506-1018-9AAD-20E450972A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671FED-BA81-ADEE-6C81-36D38384C3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D5B28A-8C44-F3FF-3103-D84F91F5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02FAF1-155C-3C45-A01D-1F370EC24B9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6EE8FD-933A-E733-9AAD-A76DE1E151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978DB-44AA-2FE0-E110-D6E07DC212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1228C6-CA73-A6A9-168E-5C7447248F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4675C3C-A4D6-F5CF-8CC3-5696045158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49383169-24C6-A63E-93AC-34FA4B65E0A8}"/>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EA40231-2EC8-D9CB-3FC2-063A4E7D8E5A}"/>
              </a:ext>
            </a:extLst>
          </p:cNvPr>
          <p:cNvSpPr txBox="1">
            <a:spLocks/>
          </p:cNvSpPr>
          <p:nvPr/>
        </p:nvSpPr>
        <p:spPr>
          <a:xfrm>
            <a:off x="228600" y="762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pic>
        <p:nvPicPr>
          <p:cNvPr id="11" name="Picture 10" descr="A mathematical equation with black text&#10;&#10;AI-generated content may be incorrect.">
            <a:extLst>
              <a:ext uri="{FF2B5EF4-FFF2-40B4-BE49-F238E27FC236}">
                <a16:creationId xmlns:a16="http://schemas.microsoft.com/office/drawing/2014/main" id="{0AF68C85-9FBF-8E8F-55E1-8797D3B964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6163" y="1094759"/>
            <a:ext cx="8791673" cy="1022403"/>
          </a:xfrm>
          <a:prstGeom prst="rect">
            <a:avLst/>
          </a:prstGeom>
        </p:spPr>
      </p:pic>
      <p:sp>
        <p:nvSpPr>
          <p:cNvPr id="10" name="object 2">
            <a:extLst>
              <a:ext uri="{FF2B5EF4-FFF2-40B4-BE49-F238E27FC236}">
                <a16:creationId xmlns:a16="http://schemas.microsoft.com/office/drawing/2014/main" id="{F01A0856-2EBD-BA09-8FF6-4D649AE32616}"/>
              </a:ext>
            </a:extLst>
          </p:cNvPr>
          <p:cNvSpPr txBox="1">
            <a:spLocks/>
          </p:cNvSpPr>
          <p:nvPr/>
        </p:nvSpPr>
        <p:spPr>
          <a:xfrm>
            <a:off x="290463" y="2100724"/>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where K is intrinsic matrix, R rotation, t translation.</a:t>
            </a:r>
          </a:p>
          <a:p>
            <a:pPr marL="12700" marR="5080"/>
            <a:r>
              <a:rPr lang="en-US" sz="1500" kern="0" spc="-80" dirty="0">
                <a:solidFill>
                  <a:schemeClr val="accent2"/>
                </a:solidFill>
              </a:rPr>
              <a:t>Collinearity Equations:</a:t>
            </a:r>
          </a:p>
        </p:txBody>
      </p:sp>
      <p:pic>
        <p:nvPicPr>
          <p:cNvPr id="14" name="Picture 13">
            <a:extLst>
              <a:ext uri="{FF2B5EF4-FFF2-40B4-BE49-F238E27FC236}">
                <a16:creationId xmlns:a16="http://schemas.microsoft.com/office/drawing/2014/main" id="{33710E29-C793-1E6E-1096-2542524F3E3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2604653"/>
            <a:ext cx="8915400" cy="546128"/>
          </a:xfrm>
          <a:prstGeom prst="rect">
            <a:avLst/>
          </a:prstGeom>
        </p:spPr>
      </p:pic>
      <p:sp>
        <p:nvSpPr>
          <p:cNvPr id="15" name="object 2">
            <a:extLst>
              <a:ext uri="{FF2B5EF4-FFF2-40B4-BE49-F238E27FC236}">
                <a16:creationId xmlns:a16="http://schemas.microsoft.com/office/drawing/2014/main" id="{C5F78D07-5A4E-7B0E-1770-37FFCD473842}"/>
              </a:ext>
            </a:extLst>
          </p:cNvPr>
          <p:cNvSpPr txBox="1">
            <a:spLocks/>
          </p:cNvSpPr>
          <p:nvPr/>
        </p:nvSpPr>
        <p:spPr>
          <a:xfrm>
            <a:off x="304800" y="3195935"/>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(and similarly for y).</a:t>
            </a:r>
          </a:p>
          <a:p>
            <a:pPr marL="12700" marR="5080"/>
            <a:r>
              <a:rPr lang="en-US" sz="1500" kern="0" spc="-80" dirty="0">
                <a:solidFill>
                  <a:schemeClr val="accent2"/>
                </a:solidFill>
              </a:rPr>
              <a:t>Least Squares Adjustment:</a:t>
            </a:r>
          </a:p>
          <a:p>
            <a:pPr marL="12700" marR="5080"/>
            <a:r>
              <a:rPr lang="en-US" sz="1500" kern="0" spc="-80" dirty="0">
                <a:solidFill>
                  <a:schemeClr val="accent6"/>
                </a:solidFill>
              </a:rPr>
              <a:t>Used in bundle adjustment and triangulation to minimize total error.</a:t>
            </a:r>
          </a:p>
          <a:p>
            <a:pPr marL="12700" marR="5080"/>
            <a:r>
              <a:rPr lang="en-US" sz="1500" kern="0" spc="-80" dirty="0">
                <a:solidFill>
                  <a:schemeClr val="accent2"/>
                </a:solidFill>
              </a:rPr>
              <a:t>Matrix Transformations:</a:t>
            </a:r>
          </a:p>
          <a:p>
            <a:pPr marL="12700" marR="5080"/>
            <a:r>
              <a:rPr lang="en-US" sz="1500" kern="0" spc="-80" dirty="0">
                <a:solidFill>
                  <a:schemeClr val="accent6"/>
                </a:solidFill>
              </a:rPr>
              <a:t>Rotation matrices, translation vectors, scaling matrices for coordinate transformations.</a:t>
            </a:r>
          </a:p>
          <a:p>
            <a:pPr marL="12700" marR="5080"/>
            <a:r>
              <a:rPr lang="en-US" sz="1500" kern="0" spc="-80" dirty="0">
                <a:solidFill>
                  <a:schemeClr val="accent2"/>
                </a:solidFill>
              </a:rPr>
              <a:t>Error Propagation &amp; Uncertainty:</a:t>
            </a:r>
          </a:p>
          <a:p>
            <a:pPr marL="12700" marR="5080"/>
            <a:r>
              <a:rPr lang="en-US" sz="1500" kern="0" spc="-80" dirty="0">
                <a:solidFill>
                  <a:schemeClr val="accent6"/>
                </a:solidFill>
              </a:rPr>
              <a:t>Estimating variance-covariance of measured points for accuracy assessment.</a:t>
            </a:r>
          </a:p>
          <a:p>
            <a:pPr marL="12700" marR="5080"/>
            <a:endParaRPr lang="en-US" sz="1500" kern="0" spc="-80" dirty="0">
              <a:solidFill>
                <a:schemeClr val="accent6"/>
              </a:solidFill>
            </a:endParaRPr>
          </a:p>
          <a:p>
            <a:pPr marL="12700" marR="5080"/>
            <a:r>
              <a:rPr lang="en-US" sz="1500" kern="0" spc="-80" dirty="0">
                <a:solidFill>
                  <a:schemeClr val="accent2"/>
                </a:solidFill>
              </a:rPr>
              <a:t>8. Outputs</a:t>
            </a:r>
          </a:p>
          <a:p>
            <a:pPr marL="12700" marR="5080"/>
            <a:r>
              <a:rPr lang="en-US" sz="1500" kern="0" spc="-80" dirty="0">
                <a:solidFill>
                  <a:schemeClr val="accent6"/>
                </a:solidFill>
              </a:rPr>
              <a:t>Orthophotos</a:t>
            </a:r>
          </a:p>
          <a:p>
            <a:pPr marL="12700" marR="5080"/>
            <a:r>
              <a:rPr lang="en-US" sz="1500" kern="0" spc="-80" dirty="0">
                <a:solidFill>
                  <a:schemeClr val="accent6"/>
                </a:solidFill>
              </a:rPr>
              <a:t>3D point clouds</a:t>
            </a:r>
          </a:p>
          <a:p>
            <a:pPr marL="12700" marR="5080"/>
            <a:r>
              <a:rPr lang="en-US" sz="1500" kern="0" spc="-80" dirty="0">
                <a:solidFill>
                  <a:schemeClr val="accent6"/>
                </a:solidFill>
              </a:rPr>
              <a:t>Digital Terrain Models</a:t>
            </a:r>
          </a:p>
        </p:txBody>
      </p:sp>
    </p:spTree>
    <p:extLst>
      <p:ext uri="{BB962C8B-B14F-4D97-AF65-F5344CB8AC3E}">
        <p14:creationId xmlns:p14="http://schemas.microsoft.com/office/powerpoint/2010/main" val="137350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408C-4D05-9A85-CA09-159A4841CE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0250BC-FF44-33B5-8295-0014DB6228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B416E9-D6E0-F1A0-394C-6D37DFE827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33BCE-2615-581A-403C-A1FCED324F5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E9E1EE-03F4-7442-42EA-DBC04AE357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609BAD-393F-05EC-A4B5-8B6F679AD9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369C86-EF15-497E-7BF4-9AE4DE0BB6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CC2A3-0F1F-8628-009D-7C6273D50E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C08C4ED-D971-D0D6-56FB-64E093DB22BE}"/>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A92C32-242D-D948-C3EA-B4FADEDDB0EE}"/>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6"/>
                </a:solidFill>
              </a:rPr>
              <a:t>Contour maps</a:t>
            </a:r>
          </a:p>
          <a:p>
            <a:pPr marL="12700" marR="5080"/>
            <a:r>
              <a:rPr lang="en-US" sz="1500" kern="0" spc="-80" dirty="0">
                <a:solidFill>
                  <a:schemeClr val="accent6"/>
                </a:solidFill>
              </a:rPr>
              <a:t>3D textured meshes</a:t>
            </a:r>
          </a:p>
          <a:p>
            <a:pPr marL="12700" marR="5080"/>
            <a:r>
              <a:rPr lang="en-US" sz="1500" kern="0" spc="-80" dirty="0">
                <a:solidFill>
                  <a:schemeClr val="accent6"/>
                </a:solidFill>
              </a:rPr>
              <a:t>Vector data (buildings, roads, etc.)</a:t>
            </a:r>
          </a:p>
          <a:p>
            <a:pPr marL="12700" marR="5080"/>
            <a:endParaRPr lang="en-US" sz="1500" kern="0" spc="-80" dirty="0">
              <a:solidFill>
                <a:schemeClr val="accent6"/>
              </a:solidFill>
            </a:endParaRPr>
          </a:p>
          <a:p>
            <a:pPr marL="12700" marR="5080"/>
            <a:r>
              <a:rPr lang="en-US" sz="1500" kern="0" spc="-80" dirty="0">
                <a:solidFill>
                  <a:schemeClr val="accent2"/>
                </a:solidFill>
              </a:rPr>
              <a:t>9. Applications</a:t>
            </a:r>
          </a:p>
          <a:p>
            <a:pPr marL="12700" marR="5080"/>
            <a:r>
              <a:rPr lang="en-US" sz="1500" kern="0" spc="-80" dirty="0">
                <a:solidFill>
                  <a:schemeClr val="accent6"/>
                </a:solidFill>
              </a:rPr>
              <a:t>Surveying &amp; Mapping</a:t>
            </a:r>
          </a:p>
          <a:p>
            <a:pPr marL="12700" marR="5080"/>
            <a:r>
              <a:rPr lang="en-US" sz="1500" kern="0" spc="-80" dirty="0">
                <a:solidFill>
                  <a:schemeClr val="accent6"/>
                </a:solidFill>
              </a:rPr>
              <a:t>Architecture &amp; Archaeology</a:t>
            </a:r>
          </a:p>
          <a:p>
            <a:pPr marL="12700" marR="5080"/>
            <a:r>
              <a:rPr lang="en-US" sz="1500" kern="0" spc="-80" dirty="0">
                <a:solidFill>
                  <a:schemeClr val="accent6"/>
                </a:solidFill>
              </a:rPr>
              <a:t>Civil Engineering &amp; Construction</a:t>
            </a:r>
          </a:p>
          <a:p>
            <a:pPr marL="12700" marR="5080"/>
            <a:r>
              <a:rPr lang="en-US" sz="1500" kern="0" spc="-80" dirty="0">
                <a:solidFill>
                  <a:schemeClr val="accent6"/>
                </a:solidFill>
              </a:rPr>
              <a:t>Forestry &amp; Agriculture</a:t>
            </a:r>
          </a:p>
          <a:p>
            <a:pPr marL="12700" marR="5080"/>
            <a:r>
              <a:rPr lang="en-US" sz="1500" kern="0" spc="-80" dirty="0">
                <a:solidFill>
                  <a:schemeClr val="accent6"/>
                </a:solidFill>
              </a:rPr>
              <a:t>Environmental Monitoring</a:t>
            </a:r>
          </a:p>
          <a:p>
            <a:pPr marL="12700" marR="5080"/>
            <a:r>
              <a:rPr lang="en-US" sz="1500" kern="0" spc="-80" dirty="0">
                <a:solidFill>
                  <a:schemeClr val="accent6"/>
                </a:solidFill>
              </a:rPr>
              <a:t>Disaster Management</a:t>
            </a:r>
          </a:p>
          <a:p>
            <a:pPr marL="12700" marR="5080"/>
            <a:r>
              <a:rPr lang="en-US" sz="1500" kern="0" spc="-80" dirty="0">
                <a:solidFill>
                  <a:schemeClr val="accent6"/>
                </a:solidFill>
              </a:rPr>
              <a:t>Remote Sensing</a:t>
            </a:r>
          </a:p>
          <a:p>
            <a:pPr marL="12700" marR="5080"/>
            <a:r>
              <a:rPr lang="en-US" sz="1500" kern="0" spc="-80" dirty="0">
                <a:solidFill>
                  <a:schemeClr val="accent6"/>
                </a:solidFill>
              </a:rPr>
              <a:t>Smart Cities &amp; Urban Planning. </a:t>
            </a:r>
          </a:p>
          <a:p>
            <a:pPr marL="12700" marR="5080"/>
            <a:endParaRPr lang="en-US" sz="1500" kern="0" spc="-80" dirty="0">
              <a:solidFill>
                <a:schemeClr val="accent6"/>
              </a:solidFill>
            </a:endParaRPr>
          </a:p>
          <a:p>
            <a:pPr marL="12700" marR="5080"/>
            <a:r>
              <a:rPr lang="en-US" sz="1800" kern="0" spc="-80" dirty="0">
                <a:solidFill>
                  <a:schemeClr val="accent2"/>
                </a:solidFill>
              </a:rPr>
              <a:t>For Further Exploration</a:t>
            </a:r>
          </a:p>
          <a:p>
            <a:pPr marL="12700" marR="5080"/>
            <a:r>
              <a:rPr lang="en-US" sz="1800" dirty="0">
                <a:hlinkClick r:id="rId7"/>
              </a:rPr>
              <a:t>Methods of data capture for high resolution mapping using photogrammetry</a:t>
            </a:r>
            <a:endParaRPr lang="en-US" sz="1800" dirty="0"/>
          </a:p>
          <a:p>
            <a:pPr marL="12700" marR="5080"/>
            <a:r>
              <a:rPr lang="en-IN" sz="1800" dirty="0">
                <a:hlinkClick r:id="rId8"/>
              </a:rPr>
              <a:t>Photogrammetry I &amp; II</a:t>
            </a:r>
            <a:endParaRPr lang="en-IN" sz="1800" dirty="0"/>
          </a:p>
          <a:p>
            <a:pPr marL="12700" marR="5080"/>
            <a:r>
              <a:rPr lang="en-IN" sz="1800" dirty="0" err="1">
                <a:hlinkClick r:id="rId9"/>
              </a:rPr>
              <a:t>Principles_of_Photogrammetry</a:t>
            </a:r>
            <a:endParaRPr lang="en-IN" sz="1800" dirty="0"/>
          </a:p>
          <a:p>
            <a:pPr marL="12700" marR="5080"/>
            <a:r>
              <a:rPr lang="en-IN" sz="1800" dirty="0">
                <a:hlinkClick r:id="rId10"/>
              </a:rPr>
              <a:t>Maths-of-Photogrammetry</a:t>
            </a:r>
            <a:endParaRPr lang="en-IN" sz="1800" dirty="0"/>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37146610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177B4-9558-C6DC-DEA8-94026C66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835B7-2159-048C-3D4C-867B1D32BF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500911-1E5D-F8FA-1B7B-CED4F0B9CC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A11DBD-3986-07AC-3CD4-2400D6E6BB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E5FB4C-72E4-8771-5C8C-0D2C053D7C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A9A872-4797-F7D5-3258-0FD1FE70F2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38D2BB-886A-76A4-7123-7F15020C6C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0E9F44-31F8-38AB-9D46-14C48A5F4D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CEA1C1-13B4-2F4D-1F3D-3463FA9E10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4B0D0EA-ADAE-3B5B-D2E2-2C46122E49B1}"/>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1. What GIS Actually Does</a:t>
            </a:r>
          </a:p>
          <a:p>
            <a:pPr marL="355600" marR="5080" indent="-342900">
              <a:buAutoNum type="alphaUcPeriod"/>
            </a:pPr>
            <a:r>
              <a:rPr lang="en-US" sz="1500" kern="0" spc="-80" dirty="0">
                <a:solidFill>
                  <a:schemeClr val="accent2"/>
                </a:solidFill>
              </a:rPr>
              <a:t>Based on Data Structure</a:t>
            </a:r>
          </a:p>
          <a:p>
            <a:pPr marL="12700" marR="5080"/>
            <a:r>
              <a:rPr lang="en-US" sz="1500" kern="0" spc="-80" dirty="0">
                <a:solidFill>
                  <a:schemeClr val="accent2"/>
                </a:solidFill>
              </a:rPr>
              <a:t>GIS is essentially mathematics + geography + computers that answer spatial questions like: </a:t>
            </a:r>
            <a:r>
              <a:rPr lang="en-US" sz="1500" kern="0" spc="-80" dirty="0">
                <a:solidFill>
                  <a:schemeClr val="accent6"/>
                </a:solidFill>
              </a:rPr>
              <a:t>Where is something? </a:t>
            </a:r>
          </a:p>
          <a:p>
            <a:pPr marL="12700" marR="5080"/>
            <a:r>
              <a:rPr lang="en-US" sz="1500" kern="0" spc="-80" dirty="0">
                <a:solidFill>
                  <a:schemeClr val="accent6"/>
                </a:solidFill>
              </a:rPr>
              <a:t>What is near it?</a:t>
            </a:r>
          </a:p>
          <a:p>
            <a:pPr marL="12700" marR="5080"/>
            <a:r>
              <a:rPr lang="en-US" sz="1500" kern="0" spc="-80" dirty="0">
                <a:solidFill>
                  <a:schemeClr val="accent6"/>
                </a:solidFill>
              </a:rPr>
              <a:t>How far is it? </a:t>
            </a:r>
          </a:p>
          <a:p>
            <a:pPr marL="12700" marR="5080"/>
            <a:r>
              <a:rPr lang="en-US" sz="1500" kern="0" spc="-80" dirty="0">
                <a:solidFill>
                  <a:schemeClr val="accent6"/>
                </a:solidFill>
              </a:rPr>
              <a:t>How does it relate to other things? </a:t>
            </a:r>
          </a:p>
          <a:p>
            <a:pPr marL="12700" marR="5080"/>
            <a:r>
              <a:rPr lang="en-US" sz="1500" kern="0" spc="-80" dirty="0">
                <a:solidFill>
                  <a:schemeClr val="accent6"/>
                </a:solidFill>
              </a:rPr>
              <a:t>How has it changed over time? </a:t>
            </a:r>
          </a:p>
          <a:p>
            <a:pPr marL="12700" marR="5080"/>
            <a:endParaRPr lang="en-US" sz="1500" kern="0" spc="-80" dirty="0">
              <a:solidFill>
                <a:schemeClr val="accent6"/>
              </a:solidFill>
            </a:endParaRPr>
          </a:p>
          <a:p>
            <a:pPr marL="12700" marR="5080"/>
            <a:r>
              <a:rPr lang="en-US" sz="1500" kern="0" spc="-80" dirty="0">
                <a:solidFill>
                  <a:schemeClr val="accent2"/>
                </a:solidFill>
              </a:rPr>
              <a:t>Think of GIS as a canvas that can hold Reality, layered into data. </a:t>
            </a:r>
          </a:p>
          <a:p>
            <a:pPr marL="12700" marR="5080"/>
            <a:endParaRPr lang="en-US" sz="1500" kern="0" spc="-80" dirty="0">
              <a:solidFill>
                <a:schemeClr val="accent6"/>
              </a:solidFill>
            </a:endParaRPr>
          </a:p>
          <a:p>
            <a:pPr marL="12700" marR="5080"/>
            <a:r>
              <a:rPr lang="en-US" sz="1500" kern="0" spc="-80" dirty="0">
                <a:solidFill>
                  <a:schemeClr val="accent2"/>
                </a:solidFill>
              </a:rPr>
              <a:t>Imagine stacking transparent layers: </a:t>
            </a:r>
          </a:p>
          <a:p>
            <a:pPr marL="12700" marR="5080"/>
            <a:r>
              <a:rPr lang="en-US" sz="1500" kern="0" spc="-80" dirty="0">
                <a:solidFill>
                  <a:schemeClr val="accent6"/>
                </a:solidFill>
              </a:rPr>
              <a:t>🏞 Terrain</a:t>
            </a:r>
          </a:p>
          <a:p>
            <a:pPr marL="12700" marR="5080"/>
            <a:r>
              <a:rPr lang="en-US" sz="1500" kern="0" spc="-80" dirty="0">
                <a:solidFill>
                  <a:schemeClr val="accent6"/>
                </a:solidFill>
              </a:rPr>
              <a:t>🌆 Buildings </a:t>
            </a:r>
          </a:p>
          <a:p>
            <a:pPr marL="12700" marR="5080"/>
            <a:r>
              <a:rPr lang="en-US" sz="1500" kern="0" spc="-80" dirty="0">
                <a:solidFill>
                  <a:schemeClr val="accent6"/>
                </a:solidFill>
              </a:rPr>
              <a:t>🛣 Roads </a:t>
            </a:r>
          </a:p>
          <a:p>
            <a:pPr marL="12700" marR="5080"/>
            <a:r>
              <a:rPr lang="en-US" sz="1500" kern="0" spc="-80" dirty="0">
                <a:solidFill>
                  <a:schemeClr val="accent6"/>
                </a:solidFill>
              </a:rPr>
              <a:t>🚏 Bus stops </a:t>
            </a:r>
          </a:p>
          <a:p>
            <a:pPr marL="12700" marR="5080"/>
            <a:r>
              <a:rPr lang="en-US" sz="1500" kern="0" spc="-80" dirty="0">
                <a:solidFill>
                  <a:schemeClr val="accent6"/>
                </a:solidFill>
              </a:rPr>
              <a:t>💧 Water bodies </a:t>
            </a:r>
          </a:p>
          <a:p>
            <a:pPr marL="12700" marR="5080"/>
            <a:r>
              <a:rPr lang="en-US" sz="1500" kern="0" spc="-80" dirty="0">
                <a:solidFill>
                  <a:schemeClr val="accent6"/>
                </a:solidFill>
              </a:rPr>
              <a:t>🌧 Rainfall patterns </a:t>
            </a:r>
          </a:p>
          <a:p>
            <a:pPr marL="12700" marR="5080"/>
            <a:r>
              <a:rPr lang="en-US" sz="1500" kern="0" spc="-80" dirty="0">
                <a:solidFill>
                  <a:schemeClr val="accent6"/>
                </a:solidFill>
              </a:rPr>
              <a:t>👥 Population density </a:t>
            </a:r>
          </a:p>
          <a:p>
            <a:pPr marL="12700" marR="5080"/>
            <a:r>
              <a:rPr lang="en-US" sz="1500" kern="0" spc="-80" dirty="0">
                <a:solidFill>
                  <a:schemeClr val="accent2"/>
                </a:solidFill>
              </a:rPr>
              <a:t>And then asking questions across these layers.</a:t>
            </a:r>
          </a:p>
        </p:txBody>
      </p:sp>
    </p:spTree>
    <p:extLst>
      <p:ext uri="{BB962C8B-B14F-4D97-AF65-F5344CB8AC3E}">
        <p14:creationId xmlns:p14="http://schemas.microsoft.com/office/powerpoint/2010/main" val="6775031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D44BA-78CC-2606-D78F-0FD492B5D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64F1C1-4D05-141A-08AD-DF0D2CBE40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7CD7A8-D1CC-DD32-B67E-A2CF2A0AA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37AFC7-E8D9-9059-2427-AD55CD58E4F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7B952B-A6CA-420D-EB11-75947BD48F4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8408A7-741F-B894-AC97-C248AF9C3F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CC237-CFC7-1A1B-FDDF-5623FC5C1F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E70AB0-9B66-7A75-F1F7-77CF27E983D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DCF00F-EC1B-39E7-9534-FCBBF54D73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0674F67-E6A8-5F48-6ECD-9A69BE8F0456}"/>
              </a:ext>
            </a:extLst>
          </p:cNvPr>
          <p:cNvSpPr txBox="1">
            <a:spLocks/>
          </p:cNvSpPr>
          <p:nvPr/>
        </p:nvSpPr>
        <p:spPr>
          <a:xfrm>
            <a:off x="228600" y="762000"/>
            <a:ext cx="8624937" cy="92948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355600" marR="5080" indent="-342900">
              <a:buAutoNum type="alphaUcPeriod"/>
            </a:pPr>
            <a:r>
              <a:rPr lang="en-US" sz="1500" kern="0" spc="-80" dirty="0">
                <a:solidFill>
                  <a:schemeClr val="accent2"/>
                </a:solidFill>
              </a:rPr>
              <a:t>Based on Data Structure</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Vector Data</a:t>
            </a:r>
          </a:p>
          <a:p>
            <a:pPr marL="12700" marR="5080"/>
            <a:r>
              <a:rPr lang="en-US" sz="1500" kern="0" spc="-80" dirty="0">
                <a:solidFill>
                  <a:schemeClr val="accent6"/>
                </a:solidFill>
              </a:rPr>
              <a:t>Represents features as discrete geometric shapes: points, lines, and polygons.</a:t>
            </a:r>
          </a:p>
          <a:p>
            <a:pPr marL="12700" marR="5080"/>
            <a:r>
              <a:rPr lang="en-US" sz="1500" kern="0" spc="-80" dirty="0">
                <a:solidFill>
                  <a:schemeClr val="accent2"/>
                </a:solidFill>
              </a:rPr>
              <a:t>Points:</a:t>
            </a:r>
            <a:r>
              <a:rPr lang="en-US" sz="1500" kern="0" spc="-80" dirty="0">
                <a:solidFill>
                  <a:schemeClr val="accent6"/>
                </a:solidFill>
              </a:rPr>
              <a:t> Represent a specific location (e.g., a well, bus stop).</a:t>
            </a:r>
          </a:p>
          <a:p>
            <a:pPr marL="12700" marR="5080"/>
            <a:r>
              <a:rPr lang="en-US" sz="1500" kern="0" spc="-80" dirty="0">
                <a:solidFill>
                  <a:schemeClr val="accent2"/>
                </a:solidFill>
              </a:rPr>
              <a:t>Lines: </a:t>
            </a:r>
            <a:r>
              <a:rPr lang="en-US" sz="1500" kern="0" spc="-80" dirty="0">
                <a:solidFill>
                  <a:schemeClr val="accent6"/>
                </a:solidFill>
              </a:rPr>
              <a:t>Represent linear features (e.g., rivers, roads, pipelines).</a:t>
            </a:r>
          </a:p>
          <a:p>
            <a:pPr marL="12700" marR="5080"/>
            <a:r>
              <a:rPr lang="en-US" sz="1500" kern="0" spc="-80" dirty="0">
                <a:solidFill>
                  <a:schemeClr val="accent2"/>
                </a:solidFill>
              </a:rPr>
              <a:t>Polygons:</a:t>
            </a:r>
            <a:r>
              <a:rPr lang="en-US" sz="1500" kern="0" spc="-80" dirty="0">
                <a:solidFill>
                  <a:schemeClr val="accent6"/>
                </a:solidFill>
              </a:rPr>
              <a:t> Represent areas (e.g., lakes, parks, administrative boundaries).</a:t>
            </a:r>
          </a:p>
          <a:p>
            <a:pPr marL="12700" marR="5080"/>
            <a:r>
              <a:rPr lang="en-US" sz="1500" kern="0" spc="-80" dirty="0">
                <a:solidFill>
                  <a:schemeClr val="accent2"/>
                </a:solidFill>
              </a:rPr>
              <a:t>Advantages: </a:t>
            </a:r>
            <a:r>
              <a:rPr lang="en-US" sz="1500" kern="0" spc="-80" dirty="0">
                <a:solidFill>
                  <a:schemeClr val="accent6"/>
                </a:solidFill>
              </a:rPr>
              <a:t>Precise, compact, good for networks.</a:t>
            </a:r>
          </a:p>
          <a:p>
            <a:pPr marL="12700" marR="5080"/>
            <a:r>
              <a:rPr lang="en-US" sz="1500" kern="0" spc="-80" dirty="0">
                <a:solidFill>
                  <a:schemeClr val="accent2"/>
                </a:solidFill>
              </a:rPr>
              <a:t>Disadvantages:</a:t>
            </a:r>
            <a:r>
              <a:rPr lang="en-US" sz="1500" kern="0" spc="-80" dirty="0">
                <a:solidFill>
                  <a:schemeClr val="accent6"/>
                </a:solidFill>
              </a:rPr>
              <a:t> Complex to model continuous phenomena (e.g., elevation, temperature).</a:t>
            </a:r>
          </a:p>
          <a:p>
            <a:pPr marL="12700" marR="5080"/>
            <a:endParaRPr lang="en-US" sz="1500" kern="0" spc="-80" dirty="0">
              <a:solidFill>
                <a:schemeClr val="accent6"/>
              </a:solidFill>
            </a:endParaRPr>
          </a:p>
          <a:p>
            <a:pPr marL="12700" marR="5080"/>
            <a:r>
              <a:rPr lang="en-US" sz="1500" kern="0" spc="-80" dirty="0">
                <a:solidFill>
                  <a:schemeClr val="accent2"/>
                </a:solidFill>
              </a:rPr>
              <a:t>Raster Data</a:t>
            </a:r>
          </a:p>
          <a:p>
            <a:pPr marL="12700" marR="5080"/>
            <a:r>
              <a:rPr lang="en-US" sz="1500" kern="0" spc="-80" dirty="0">
                <a:solidFill>
                  <a:schemeClr val="accent6"/>
                </a:solidFill>
              </a:rPr>
              <a:t>Represents data as a grid of cells (pixels), where each cell has a value.</a:t>
            </a:r>
          </a:p>
          <a:p>
            <a:pPr marL="12700" marR="5080"/>
            <a:r>
              <a:rPr lang="en-US" sz="1500" kern="0" spc="-80" dirty="0">
                <a:solidFill>
                  <a:schemeClr val="accent2"/>
                </a:solidFill>
              </a:rPr>
              <a:t>Examples: </a:t>
            </a:r>
            <a:r>
              <a:rPr lang="en-US" sz="1500" kern="0" spc="-80" dirty="0">
                <a:solidFill>
                  <a:schemeClr val="accent6"/>
                </a:solidFill>
              </a:rPr>
              <a:t>Satellite imagery, aerial photos, DEM (Digital Elevation Model).</a:t>
            </a:r>
          </a:p>
          <a:p>
            <a:pPr marL="12700" marR="5080"/>
            <a:r>
              <a:rPr lang="en-US" sz="1500" kern="0" spc="-80" dirty="0">
                <a:solidFill>
                  <a:schemeClr val="accent2"/>
                </a:solidFill>
              </a:rPr>
              <a:t>Advantages: </a:t>
            </a:r>
            <a:r>
              <a:rPr lang="en-US" sz="1500" kern="0" spc="-80" dirty="0">
                <a:solidFill>
                  <a:schemeClr val="accent6"/>
                </a:solidFill>
              </a:rPr>
              <a:t>Good for continuous phenomena, easy for image processing.</a:t>
            </a:r>
          </a:p>
          <a:p>
            <a:pPr marL="12700" marR="5080"/>
            <a:r>
              <a:rPr lang="en-US" sz="1500" kern="0" spc="-80" dirty="0">
                <a:solidFill>
                  <a:schemeClr val="accent2"/>
                </a:solidFill>
              </a:rPr>
              <a:t>Disadvantages: </a:t>
            </a:r>
            <a:r>
              <a:rPr lang="en-US" sz="1500" kern="0" spc="-80" dirty="0">
                <a:solidFill>
                  <a:schemeClr val="accent6"/>
                </a:solidFill>
              </a:rPr>
              <a:t>Large storage, lower precision for discrete objects.</a:t>
            </a:r>
          </a:p>
          <a:p>
            <a:pPr marL="12700" marR="5080"/>
            <a:endParaRPr lang="en-US" sz="1500" kern="0" spc="-80" dirty="0">
              <a:solidFill>
                <a:schemeClr val="accent6"/>
              </a:solidFill>
            </a:endParaRPr>
          </a:p>
          <a:p>
            <a:pPr marL="12700" marR="5080"/>
            <a:r>
              <a:rPr lang="en-US" sz="1500" kern="0" spc="-80" dirty="0">
                <a:solidFill>
                  <a:schemeClr val="accent2"/>
                </a:solidFill>
              </a:rPr>
              <a:t>B. Based on Nature</a:t>
            </a:r>
          </a:p>
          <a:p>
            <a:pPr marL="12700" marR="5080"/>
            <a:r>
              <a:rPr lang="en-US" sz="1500" kern="0" spc="-80" dirty="0">
                <a:solidFill>
                  <a:schemeClr val="accent2"/>
                </a:solidFill>
              </a:rPr>
              <a:t>Spatial Data (Geometric)</a:t>
            </a:r>
          </a:p>
          <a:p>
            <a:pPr marL="12700" marR="5080"/>
            <a:r>
              <a:rPr lang="en-US" sz="1500" kern="0" spc="-80" dirty="0">
                <a:solidFill>
                  <a:schemeClr val="accent6"/>
                </a:solidFill>
              </a:rPr>
              <a:t>Represents where features exist in space (coordinates, shapes).</a:t>
            </a:r>
          </a:p>
          <a:p>
            <a:pPr marL="12700" marR="5080"/>
            <a:r>
              <a:rPr lang="en-US" sz="1500" kern="0" spc="-80" dirty="0">
                <a:solidFill>
                  <a:schemeClr val="accent2"/>
                </a:solidFill>
              </a:rPr>
              <a:t>Example: </a:t>
            </a:r>
            <a:r>
              <a:rPr lang="en-US" sz="1500" kern="0" spc="-80" dirty="0">
                <a:solidFill>
                  <a:schemeClr val="accent6"/>
                </a:solidFill>
              </a:rPr>
              <a:t>Latitude/Longitude of cities, river paths.</a:t>
            </a:r>
          </a:p>
          <a:p>
            <a:pPr marL="12700" marR="5080"/>
            <a:endParaRPr lang="en-US" sz="1500" kern="0" spc="-80" dirty="0">
              <a:solidFill>
                <a:schemeClr val="accent6"/>
              </a:solidFill>
            </a:endParaRPr>
          </a:p>
          <a:p>
            <a:pPr marL="12700" marR="5080"/>
            <a:r>
              <a:rPr lang="en-US" sz="1500" kern="0" spc="-80" dirty="0">
                <a:solidFill>
                  <a:schemeClr val="accent6"/>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6"/>
                </a:solidFill>
              </a:rPr>
              <a:t>Example: City population, road type, soil type.</a:t>
            </a:r>
          </a:p>
          <a:p>
            <a:pPr marL="12700" marR="5080"/>
            <a:r>
              <a:rPr lang="en-US" sz="1500" kern="0" spc="-80" dirty="0">
                <a:solidFill>
                  <a:schemeClr val="accent6"/>
                </a:solidFill>
              </a:rPr>
              <a:t>C. Based on Time</a:t>
            </a:r>
          </a:p>
          <a:p>
            <a:pPr marL="12700" marR="5080"/>
            <a:r>
              <a:rPr lang="en-US" sz="1500" kern="0" spc="-80" dirty="0">
                <a:solidFill>
                  <a:schemeClr val="accent6"/>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6"/>
                </a:solidFill>
              </a:rPr>
              <a:t>Example: Census data, land use maps.</a:t>
            </a: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6"/>
                </a:solidFill>
              </a:rPr>
              <a:t>Example: Traffic data, weather sensors, GPS tracking.</a:t>
            </a:r>
          </a:p>
          <a:p>
            <a:pPr marL="12700" marR="5080"/>
            <a:r>
              <a:rPr lang="en-US" sz="1500" kern="0" spc="-80" dirty="0">
                <a:solidFill>
                  <a:schemeClr val="accent6"/>
                </a:solidFill>
              </a:rPr>
              <a:t>D. Based on Source/Acquisition Method</a:t>
            </a:r>
          </a:p>
          <a:p>
            <a:pPr marL="12700" marR="5080"/>
            <a:r>
              <a:rPr lang="en-US" sz="1500" kern="0" spc="-80" dirty="0">
                <a:solidFill>
                  <a:schemeClr val="accent6"/>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r>
              <a:rPr lang="en-US" sz="1500" kern="0" spc="-80" dirty="0">
                <a:solidFill>
                  <a:schemeClr val="accent6"/>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6"/>
                </a:solidFill>
              </a:rPr>
              <a:t>Example: Topographic maps, satellite imagery, government GIS datasets.</a:t>
            </a:r>
          </a:p>
        </p:txBody>
      </p:sp>
    </p:spTree>
    <p:extLst>
      <p:ext uri="{BB962C8B-B14F-4D97-AF65-F5344CB8AC3E}">
        <p14:creationId xmlns:p14="http://schemas.microsoft.com/office/powerpoint/2010/main" val="1888727751"/>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D5781-B1DE-253C-2C7C-BFA3A85DC6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CB4C68-0D7E-7BE9-BB4F-FA7103AFB7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ADAED4-9798-5723-40E1-F4FBF62911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763CD1-98BF-BB84-4883-D225F70E6E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8EB37D-0D55-60C8-9A47-8F795CF16B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5069C9-DDD1-3F2C-67B0-4BE84E34FC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658C72-B7FB-A8C6-3BB5-A0C02BEB5AB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9B63-8528-BBB0-0FE3-8AEB304E3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824CEC-B744-E999-1D86-26DFEAFB5C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8A58366-45E0-F960-753C-A5653DE13229}"/>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B. Based on Nature</a:t>
            </a:r>
          </a:p>
          <a:p>
            <a:pPr marL="12700" marR="5080"/>
            <a:r>
              <a:rPr lang="en-US" sz="1500" kern="0" spc="-80" dirty="0">
                <a:solidFill>
                  <a:schemeClr val="accent2"/>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2"/>
                </a:solidFill>
              </a:rPr>
              <a:t>Example: </a:t>
            </a:r>
            <a:r>
              <a:rPr lang="en-US" sz="1500" kern="0" spc="-80" dirty="0">
                <a:solidFill>
                  <a:schemeClr val="accent6"/>
                </a:solidFill>
              </a:rPr>
              <a:t>City population, road type, soil type.</a:t>
            </a:r>
          </a:p>
          <a:p>
            <a:pPr marL="12700" marR="5080"/>
            <a:endParaRPr lang="en-US" sz="1500" kern="0" spc="-80" dirty="0">
              <a:solidFill>
                <a:schemeClr val="accent6"/>
              </a:solidFill>
            </a:endParaRPr>
          </a:p>
          <a:p>
            <a:pPr marL="12700" marR="5080"/>
            <a:r>
              <a:rPr lang="en-US" sz="1500" kern="0" spc="-80" dirty="0">
                <a:solidFill>
                  <a:schemeClr val="accent2"/>
                </a:solidFill>
              </a:rPr>
              <a:t>C. Based on Time</a:t>
            </a:r>
          </a:p>
          <a:p>
            <a:pPr marL="12700" marR="5080"/>
            <a:r>
              <a:rPr lang="en-US" sz="1500" kern="0" spc="-80" dirty="0">
                <a:solidFill>
                  <a:schemeClr val="accent2"/>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2"/>
                </a:solidFill>
              </a:rPr>
              <a:t>Example: </a:t>
            </a:r>
            <a:r>
              <a:rPr lang="en-US" sz="1500" kern="0" spc="-80" dirty="0">
                <a:solidFill>
                  <a:schemeClr val="accent6"/>
                </a:solidFill>
              </a:rPr>
              <a:t>Census data, land use maps.</a:t>
            </a:r>
          </a:p>
          <a:p>
            <a:pPr marL="12700" marR="5080"/>
            <a:endParaRPr lang="en-US" sz="1500" kern="0" spc="-80" dirty="0">
              <a:solidFill>
                <a:schemeClr val="accent6"/>
              </a:solidFill>
            </a:endParaRPr>
          </a:p>
          <a:p>
            <a:pPr marL="12700" marR="5080"/>
            <a:r>
              <a:rPr lang="en-US" sz="1500" kern="0" spc="-80" dirty="0">
                <a:solidFill>
                  <a:schemeClr val="accent2"/>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2"/>
                </a:solidFill>
              </a:rPr>
              <a:t>Example: </a:t>
            </a:r>
            <a:r>
              <a:rPr lang="en-US" sz="1500" kern="0" spc="-80" dirty="0">
                <a:solidFill>
                  <a:schemeClr val="accent6"/>
                </a:solidFill>
              </a:rPr>
              <a:t>Traffic data, weather sensors, GPS tracking.</a:t>
            </a:r>
          </a:p>
          <a:p>
            <a:pPr marL="12700" marR="5080"/>
            <a:endParaRPr lang="en-US" sz="1500" kern="0" spc="-80" dirty="0">
              <a:solidFill>
                <a:schemeClr val="accent6"/>
              </a:solidFill>
            </a:endParaRP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2"/>
                </a:solidFill>
              </a:rPr>
              <a:t>Example: </a:t>
            </a:r>
            <a:r>
              <a:rPr lang="en-US" sz="1500" kern="0" spc="-80" dirty="0">
                <a:solidFill>
                  <a:schemeClr val="accent6"/>
                </a:solidFill>
              </a:rPr>
              <a:t>GPS surveys, drone photogrammetry, field observations.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6326287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2AD7C-B88C-8E80-6AA7-0439F7648A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9C9E8C-58A2-15F9-4057-E22A0B2691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B5600D-44F9-92D4-6138-6F5353E9E6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EA72E1-FC5B-FFD5-2D58-994F9CE96AB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8D1343-42A3-7458-FFE6-FE129C5BE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9CA865-B2F5-5E57-9C8E-E15B93EC1B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91386-C199-9E02-8A3E-8B8F10B1A8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AF70703-C2C4-5CED-BDC4-F623F9401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E0973A-1103-1491-0D8C-40DBF21B70C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D5BFA88-90AF-15BE-7676-29904D24CA64}"/>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2"/>
                </a:solidFill>
              </a:rPr>
              <a:t>Example: </a:t>
            </a:r>
            <a:r>
              <a:rPr lang="en-US" sz="1500" kern="0" spc="-80" dirty="0">
                <a:solidFill>
                  <a:schemeClr val="accent6"/>
                </a:solidFill>
              </a:rPr>
              <a:t>Topographic maps, satellite imagery, government GIS datasets.</a:t>
            </a:r>
          </a:p>
          <a:p>
            <a:pPr marL="12700" marR="5080"/>
            <a:endParaRPr lang="en-US" sz="1500" kern="0" spc="-80" dirty="0">
              <a:solidFill>
                <a:schemeClr val="accent6"/>
              </a:solidFill>
            </a:endParaRPr>
          </a:p>
          <a:p>
            <a:pPr marL="12700" marR="5080"/>
            <a:r>
              <a:rPr lang="en-US" sz="1500" kern="0" spc="-80" dirty="0">
                <a:solidFill>
                  <a:schemeClr val="accent2"/>
                </a:solidFill>
              </a:rPr>
              <a:t>3. Ways to Collect GIS Data</a:t>
            </a:r>
          </a:p>
          <a:p>
            <a:pPr marL="355600" marR="5080" indent="-342900">
              <a:buAutoNum type="alphaUcPeriod"/>
            </a:pPr>
            <a:r>
              <a:rPr lang="en-US" sz="1500" kern="0" spc="-80" dirty="0">
                <a:solidFill>
                  <a:schemeClr val="accent2"/>
                </a:solidFill>
              </a:rPr>
              <a:t>Field Survey Techniques</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Global Positioning System (GPS)</a:t>
            </a:r>
          </a:p>
          <a:p>
            <a:pPr marL="12700" marR="5080"/>
            <a:r>
              <a:rPr lang="en-US" sz="1500" kern="0" spc="-80" dirty="0">
                <a:solidFill>
                  <a:schemeClr val="accent6"/>
                </a:solidFill>
              </a:rPr>
              <a:t>Collects precise coordinates of features on the ground.</a:t>
            </a:r>
          </a:p>
          <a:p>
            <a:pPr marL="12700" marR="5080"/>
            <a:r>
              <a:rPr lang="en-US" sz="1500" kern="0" spc="-80" dirty="0">
                <a:solidFill>
                  <a:schemeClr val="accent2"/>
                </a:solidFill>
              </a:rPr>
              <a:t>Devices: </a:t>
            </a:r>
            <a:r>
              <a:rPr lang="en-US" sz="1500" kern="0" spc="-80" dirty="0">
                <a:solidFill>
                  <a:schemeClr val="accent6"/>
                </a:solidFill>
              </a:rPr>
              <a:t>Handheld GPS units, GNSS receivers.</a:t>
            </a:r>
          </a:p>
          <a:p>
            <a:pPr marL="12700" marR="5080"/>
            <a:r>
              <a:rPr lang="en-US" sz="1500" kern="0" spc="-80" dirty="0">
                <a:solidFill>
                  <a:schemeClr val="accent2"/>
                </a:solidFill>
              </a:rPr>
              <a:t>Applications: </a:t>
            </a:r>
            <a:r>
              <a:rPr lang="en-US" sz="1500" kern="0" spc="-80" dirty="0">
                <a:solidFill>
                  <a:schemeClr val="accent6"/>
                </a:solidFill>
              </a:rPr>
              <a:t>Road mapping, utility networks, environmental monitoring.</a:t>
            </a:r>
          </a:p>
          <a:p>
            <a:pPr marL="12700" marR="5080"/>
            <a:endParaRPr lang="en-US" sz="1500" kern="0" spc="-80" dirty="0">
              <a:solidFill>
                <a:schemeClr val="accent6"/>
              </a:solidFill>
            </a:endParaRPr>
          </a:p>
          <a:p>
            <a:pPr marL="12700" marR="5080"/>
            <a:r>
              <a:rPr lang="en-US" sz="1500" kern="0" spc="-80" dirty="0">
                <a:solidFill>
                  <a:schemeClr val="accent2"/>
                </a:solidFill>
              </a:rPr>
              <a:t>Total Station &amp; Theodolite</a:t>
            </a:r>
          </a:p>
          <a:p>
            <a:pPr marL="12700" marR="5080"/>
            <a:r>
              <a:rPr lang="en-US" sz="1500" kern="0" spc="-80" dirty="0">
                <a:solidFill>
                  <a:schemeClr val="accent6"/>
                </a:solidFill>
              </a:rPr>
              <a:t>Measures angles and distances for precise surveying.</a:t>
            </a:r>
          </a:p>
          <a:p>
            <a:pPr marL="12700" marR="5080"/>
            <a:r>
              <a:rPr lang="en-US" sz="1500" kern="0" spc="-80" dirty="0">
                <a:solidFill>
                  <a:schemeClr val="accent2"/>
                </a:solidFill>
              </a:rPr>
              <a:t>Applications:</a:t>
            </a:r>
            <a:r>
              <a:rPr lang="en-US" sz="1500" kern="0" spc="-80" dirty="0">
                <a:solidFill>
                  <a:schemeClr val="accent6"/>
                </a:solidFill>
              </a:rPr>
              <a:t> Engineering projects, cadastral surveys.</a:t>
            </a:r>
          </a:p>
          <a:p>
            <a:pPr marL="12700" marR="5080"/>
            <a:endParaRPr lang="en-US" sz="1500" kern="0" spc="-80" dirty="0">
              <a:solidFill>
                <a:schemeClr val="accent6"/>
              </a:solidFill>
            </a:endParaRPr>
          </a:p>
          <a:p>
            <a:pPr marL="12700" marR="5080"/>
            <a:r>
              <a:rPr lang="en-US" sz="1500" kern="0" spc="-80" dirty="0">
                <a:solidFill>
                  <a:schemeClr val="accent2"/>
                </a:solidFill>
              </a:rPr>
              <a:t>Ground Control Points (GCP)</a:t>
            </a:r>
          </a:p>
          <a:p>
            <a:pPr marL="12700" marR="5080"/>
            <a:r>
              <a:rPr lang="en-US" sz="1500" kern="0" spc="-80" dirty="0">
                <a:solidFill>
                  <a:schemeClr val="accent6"/>
                </a:solidFill>
              </a:rPr>
              <a:t>Reference points with known coordinates for aligning satellite/aerial imagery.</a:t>
            </a:r>
          </a:p>
        </p:txBody>
      </p:sp>
    </p:spTree>
    <p:extLst>
      <p:ext uri="{BB962C8B-B14F-4D97-AF65-F5344CB8AC3E}">
        <p14:creationId xmlns:p14="http://schemas.microsoft.com/office/powerpoint/2010/main" val="22860800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20EC3-1D10-77F4-AF3C-95CDCB0882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8061AE-9C4E-7F66-1CA5-FF7B26C2C1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971AC8-91BA-B8DE-A046-D5B6B88CD2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A48729-1946-7E94-6FB1-4EF3B43235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8914204-4D0B-ECF7-9333-587DB96F4D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77539AD-D19D-BBB4-C2B4-218A776F9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EC7C49-1B07-9349-AFC7-38D52957A0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67F41E-A3D1-24E3-5956-4C0C3DB4EEF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D801A3-99C7-23BA-2FF3-E5F94CCF86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F64268D-E6E1-6F39-FFF1-C474534C71E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B. Remote Sensing</a:t>
            </a:r>
          </a:p>
          <a:p>
            <a:pPr marL="12700" marR="5080"/>
            <a:r>
              <a:rPr lang="en-US" sz="1500" kern="0" spc="-80" dirty="0">
                <a:solidFill>
                  <a:schemeClr val="accent6"/>
                </a:solidFill>
              </a:rPr>
              <a:t>Captures data from airborne or spaceborne sensors.</a:t>
            </a:r>
          </a:p>
          <a:p>
            <a:pPr marL="12700" marR="5080"/>
            <a:endParaRPr lang="en-US" sz="1500" kern="0" spc="-80" dirty="0">
              <a:solidFill>
                <a:schemeClr val="accent6"/>
              </a:solidFill>
            </a:endParaRPr>
          </a:p>
          <a:p>
            <a:pPr marL="12700" marR="5080"/>
            <a:r>
              <a:rPr lang="en-US" sz="1500" kern="0" spc="-80" dirty="0">
                <a:solidFill>
                  <a:schemeClr val="accent2"/>
                </a:solidFill>
              </a:rPr>
              <a:t>Satellite Imagery</a:t>
            </a:r>
          </a:p>
          <a:p>
            <a:pPr marL="12700" marR="5080"/>
            <a:r>
              <a:rPr lang="en-US" sz="1500" kern="0" spc="-80" dirty="0">
                <a:solidFill>
                  <a:schemeClr val="accent2"/>
                </a:solidFill>
              </a:rPr>
              <a:t>Sources: </a:t>
            </a:r>
            <a:r>
              <a:rPr lang="en-US" sz="1500" kern="0" spc="-80" dirty="0">
                <a:solidFill>
                  <a:schemeClr val="accent6"/>
                </a:solidFill>
              </a:rPr>
              <a:t>Landsat, Sentinel, </a:t>
            </a:r>
            <a:r>
              <a:rPr lang="en-US" sz="1500" kern="0" spc="-80" dirty="0" err="1">
                <a:solidFill>
                  <a:schemeClr val="accent6"/>
                </a:solidFill>
              </a:rPr>
              <a:t>WorldView</a:t>
            </a:r>
            <a:r>
              <a:rPr lang="en-US" sz="1500" kern="0" spc="-80" dirty="0">
                <a:solidFill>
                  <a:schemeClr val="accent6"/>
                </a:solidFill>
              </a:rPr>
              <a:t>, MODIS.</a:t>
            </a:r>
          </a:p>
          <a:p>
            <a:pPr marL="12700" marR="5080"/>
            <a:r>
              <a:rPr lang="en-US" sz="1500" kern="0" spc="-80" dirty="0">
                <a:solidFill>
                  <a:schemeClr val="accent6"/>
                </a:solidFill>
              </a:rPr>
              <a:t>Can provide land use, vegetation, water bodies, urban expansion.</a:t>
            </a:r>
          </a:p>
          <a:p>
            <a:pPr marL="12700" marR="5080"/>
            <a:endParaRPr lang="en-US" sz="1500" kern="0" spc="-80" dirty="0">
              <a:solidFill>
                <a:schemeClr val="accent6"/>
              </a:solidFill>
            </a:endParaRPr>
          </a:p>
          <a:p>
            <a:pPr marL="12700" marR="5080"/>
            <a:r>
              <a:rPr lang="en-US" sz="1500" kern="0" spc="-80" dirty="0">
                <a:solidFill>
                  <a:schemeClr val="accent2"/>
                </a:solidFill>
              </a:rPr>
              <a:t>Aerial Photography</a:t>
            </a:r>
          </a:p>
          <a:p>
            <a:pPr marL="12700" marR="5080"/>
            <a:r>
              <a:rPr lang="en-US" sz="1500" kern="0" spc="-80" dirty="0">
                <a:solidFill>
                  <a:schemeClr val="accent6"/>
                </a:solidFill>
              </a:rPr>
              <a:t>High-resolution images captured from aircraft or drones.</a:t>
            </a:r>
          </a:p>
          <a:p>
            <a:pPr marL="12700" marR="5080"/>
            <a:r>
              <a:rPr lang="en-US" sz="1500" kern="0" spc="-80" dirty="0">
                <a:solidFill>
                  <a:schemeClr val="accent6"/>
                </a:solidFill>
              </a:rPr>
              <a:t>Used for detailed mapping, disaster assessment, and construction monitoring.</a:t>
            </a:r>
          </a:p>
          <a:p>
            <a:pPr marL="12700" marR="5080"/>
            <a:endParaRPr lang="en-US" sz="1500" kern="0" spc="-80" dirty="0">
              <a:solidFill>
                <a:schemeClr val="accent6"/>
              </a:solidFill>
            </a:endParaRPr>
          </a:p>
          <a:p>
            <a:pPr marL="12700" marR="5080"/>
            <a:r>
              <a:rPr lang="en-US" sz="1500" kern="0" spc="-80" dirty="0">
                <a:solidFill>
                  <a:schemeClr val="accent2"/>
                </a:solidFill>
              </a:rPr>
              <a:t>LiDAR (Light Detection and Ranging)</a:t>
            </a:r>
          </a:p>
          <a:p>
            <a:pPr marL="12700" marR="5080"/>
            <a:r>
              <a:rPr lang="en-US" sz="1500" kern="0" spc="-80" dirty="0">
                <a:solidFill>
                  <a:schemeClr val="accent6"/>
                </a:solidFill>
              </a:rPr>
              <a:t>Measures distance using laser pulses to generate 3D point clouds.</a:t>
            </a:r>
          </a:p>
          <a:p>
            <a:pPr marL="12700" marR="5080"/>
            <a:r>
              <a:rPr lang="en-US" sz="1500" kern="0" spc="-80" dirty="0">
                <a:solidFill>
                  <a:schemeClr val="accent6"/>
                </a:solidFill>
              </a:rPr>
              <a:t>Used for terrain modeling, forestry, urban planning.</a:t>
            </a:r>
          </a:p>
          <a:p>
            <a:pPr marL="12700" marR="5080"/>
            <a:endParaRPr lang="en-US" sz="1500" kern="0" spc="-80" dirty="0">
              <a:solidFill>
                <a:schemeClr val="accent6"/>
              </a:solidFill>
            </a:endParaRPr>
          </a:p>
          <a:p>
            <a:pPr marL="12700" marR="5080"/>
            <a:r>
              <a:rPr lang="en-US" sz="1500" kern="0" spc="-80" dirty="0">
                <a:solidFill>
                  <a:schemeClr val="accent2"/>
                </a:solidFill>
              </a:rPr>
              <a:t>Photogrammetry</a:t>
            </a:r>
          </a:p>
          <a:p>
            <a:pPr marL="12700" marR="5080"/>
            <a:r>
              <a:rPr lang="en-US" sz="1500" kern="0" spc="-80" dirty="0">
                <a:solidFill>
                  <a:schemeClr val="accent6"/>
                </a:solidFill>
              </a:rPr>
              <a:t>Extracts 3D information from 2D images.</a:t>
            </a:r>
          </a:p>
          <a:p>
            <a:pPr marL="12700" marR="5080"/>
            <a:r>
              <a:rPr lang="en-US" sz="1500" kern="0" spc="-80" dirty="0">
                <a:solidFill>
                  <a:schemeClr val="accent6"/>
                </a:solidFill>
              </a:rPr>
              <a:t>Commonly used with UAV/drone images for topography and DEM generation.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1747131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FCDCF-A040-7307-6628-DFA04E878B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4D020F1-2986-4894-ED3F-DE8ACC09A9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90A451-1A4C-73AE-19AE-5DA0A1462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33D431-E2E2-7195-71B4-5F66CDE349F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848DD-4051-07CF-F642-95494B4264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404280-3FBE-12AF-4407-3CD5F17B01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B42577-4C29-A054-A589-8FC4A206D7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E5F4BD1-400D-2872-E0D1-A4077E66AE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D2343B-9590-41B2-EF55-E069980717B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50C0EBA-2225-6C67-FB91-4607C35DB23D}"/>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C. Existing Maps and Documents</a:t>
            </a:r>
          </a:p>
          <a:p>
            <a:pPr marL="12700" marR="5080"/>
            <a:endParaRPr lang="en-US" sz="1500" kern="0" spc="-80" dirty="0">
              <a:solidFill>
                <a:schemeClr val="accent2"/>
              </a:solidFill>
            </a:endParaRPr>
          </a:p>
          <a:p>
            <a:pPr marL="12700" marR="5080"/>
            <a:r>
              <a:rPr lang="en-US" sz="1500" kern="0" spc="-80" dirty="0">
                <a:solidFill>
                  <a:schemeClr val="accent2"/>
                </a:solidFill>
              </a:rPr>
              <a:t>Topographic Maps</a:t>
            </a:r>
          </a:p>
          <a:p>
            <a:pPr marL="12700" marR="5080"/>
            <a:r>
              <a:rPr lang="en-US" sz="1500" kern="0" spc="-80" dirty="0">
                <a:solidFill>
                  <a:schemeClr val="accent6"/>
                </a:solidFill>
              </a:rPr>
              <a:t>Contour lines, rivers, roads, and built-up areas.</a:t>
            </a:r>
          </a:p>
          <a:p>
            <a:pPr marL="12700" marR="5080"/>
            <a:r>
              <a:rPr lang="en-US" sz="1500" kern="0" spc="-80" dirty="0">
                <a:solidFill>
                  <a:schemeClr val="accent6"/>
                </a:solidFill>
              </a:rPr>
              <a:t>Digitized into GIS format.</a:t>
            </a:r>
          </a:p>
          <a:p>
            <a:pPr marL="12700" marR="5080"/>
            <a:endParaRPr lang="en-US" sz="1500" kern="0" spc="-80" dirty="0">
              <a:solidFill>
                <a:schemeClr val="accent6"/>
              </a:solidFill>
            </a:endParaRPr>
          </a:p>
          <a:p>
            <a:pPr marL="12700" marR="5080"/>
            <a:r>
              <a:rPr lang="en-US" sz="1500" kern="0" spc="-80" dirty="0">
                <a:solidFill>
                  <a:schemeClr val="accent2"/>
                </a:solidFill>
              </a:rPr>
              <a:t>Cadastral Maps</a:t>
            </a:r>
          </a:p>
          <a:p>
            <a:pPr marL="12700" marR="5080"/>
            <a:r>
              <a:rPr lang="en-US" sz="1500" kern="0" spc="-80" dirty="0">
                <a:solidFill>
                  <a:schemeClr val="accent6"/>
                </a:solidFill>
              </a:rPr>
              <a:t>Property boundaries, land parcels.</a:t>
            </a:r>
          </a:p>
          <a:p>
            <a:pPr marL="12700" marR="5080"/>
            <a:r>
              <a:rPr lang="en-US" sz="1500" kern="0" spc="-80" dirty="0">
                <a:solidFill>
                  <a:schemeClr val="accent6"/>
                </a:solidFill>
              </a:rPr>
              <a:t>Statistical &amp; Survey Data</a:t>
            </a:r>
          </a:p>
          <a:p>
            <a:pPr marL="12700" marR="5080"/>
            <a:r>
              <a:rPr lang="en-US" sz="1500" kern="0" spc="-80" dirty="0">
                <a:solidFill>
                  <a:schemeClr val="accent6"/>
                </a:solidFill>
              </a:rPr>
              <a:t>Census data, socio-economic datasets, epidemiology data.</a:t>
            </a:r>
          </a:p>
          <a:p>
            <a:pPr marL="12700" marR="5080"/>
            <a:endParaRPr lang="en-US" sz="1500" kern="0" spc="-80" dirty="0">
              <a:solidFill>
                <a:schemeClr val="accent6"/>
              </a:solidFill>
            </a:endParaRPr>
          </a:p>
          <a:p>
            <a:pPr marL="12700" marR="5080"/>
            <a:r>
              <a:rPr lang="en-US" sz="1500" kern="0" spc="-80" dirty="0">
                <a:solidFill>
                  <a:schemeClr val="accent2"/>
                </a:solidFill>
              </a:rPr>
              <a:t>D. Crowdsourced and IoT Data</a:t>
            </a:r>
          </a:p>
          <a:p>
            <a:pPr marL="12700" marR="5080"/>
            <a:r>
              <a:rPr lang="en-US" sz="1500" kern="0" spc="-80" dirty="0">
                <a:solidFill>
                  <a:schemeClr val="accent2"/>
                </a:solidFill>
              </a:rPr>
              <a:t>Volunteered Geographic Information (VGI)</a:t>
            </a:r>
          </a:p>
          <a:p>
            <a:pPr marL="12700" marR="5080"/>
            <a:r>
              <a:rPr lang="en-US" sz="1500" kern="0" spc="-80" dirty="0">
                <a:solidFill>
                  <a:schemeClr val="accent6"/>
                </a:solidFill>
              </a:rPr>
              <a:t>User-contributed data, e.g., OpenStreetMap.</a:t>
            </a:r>
          </a:p>
          <a:p>
            <a:pPr marL="12700" marR="5080"/>
            <a:endParaRPr lang="en-US" sz="1500" kern="0" spc="-80" dirty="0">
              <a:solidFill>
                <a:schemeClr val="accent6"/>
              </a:solidFill>
            </a:endParaRPr>
          </a:p>
          <a:p>
            <a:pPr marL="12700" marR="5080"/>
            <a:r>
              <a:rPr lang="en-US" sz="1500" kern="0" spc="-80" dirty="0">
                <a:solidFill>
                  <a:schemeClr val="accent2"/>
                </a:solidFill>
              </a:rPr>
              <a:t>Sensors and IoT Devices</a:t>
            </a:r>
          </a:p>
          <a:p>
            <a:pPr marL="12700" marR="5080"/>
            <a:r>
              <a:rPr lang="en-US" sz="1500" kern="0" spc="-80" dirty="0">
                <a:solidFill>
                  <a:schemeClr val="accent6"/>
                </a:solidFill>
              </a:rPr>
              <a:t>Traffic sensors, weather stations, pollution monitors.</a:t>
            </a:r>
          </a:p>
          <a:p>
            <a:pPr marL="12700" marR="5080"/>
            <a:r>
              <a:rPr lang="en-US" sz="1500" kern="0" spc="-80" dirty="0">
                <a:solidFill>
                  <a:schemeClr val="accent6"/>
                </a:solidFill>
              </a:rPr>
              <a:t>Provides real-time GIS data streams.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29035399"/>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DBBE5-1D15-9CEB-F2B1-A6991F8627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67235B-8078-8D90-8165-991B7C61EC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06D3B-BBA1-B5EA-7C96-D1BC4991A4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6044A4-A97E-CD03-4BA3-1362D7FA25B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47DAF9-01AE-0580-D6A5-EA3CFADB1A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B13559-FEC9-5418-F09B-AEEF0670F8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767686-3A76-5B74-12DC-56CBEC7D77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1AE7DF-FEFD-0DDB-00B5-17C88B91F8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6DA447-9D1A-B0C6-D485-F3D3AFD7CAE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A003C6-9CC0-4D71-B021-52A7612B7B93}"/>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E. Web and Database Sources</a:t>
            </a:r>
          </a:p>
          <a:p>
            <a:pPr marL="12700" marR="5080"/>
            <a:r>
              <a:rPr lang="en-US" sz="1500" kern="0" spc="-80" dirty="0">
                <a:solidFill>
                  <a:schemeClr val="accent6"/>
                </a:solidFill>
              </a:rPr>
              <a:t>Government Portals</a:t>
            </a:r>
          </a:p>
          <a:p>
            <a:pPr marL="12700" marR="5080"/>
            <a:r>
              <a:rPr lang="en-US" sz="1500" kern="0" spc="-80" dirty="0">
                <a:solidFill>
                  <a:schemeClr val="accent2"/>
                </a:solidFill>
              </a:rPr>
              <a:t>Example: </a:t>
            </a:r>
            <a:r>
              <a:rPr lang="en-US" sz="1500" kern="0" spc="-80" dirty="0">
                <a:solidFill>
                  <a:schemeClr val="accent6"/>
                </a:solidFill>
              </a:rPr>
              <a:t>USGS Earth Explorer, India Bhuvan, Open Data portals.</a:t>
            </a:r>
          </a:p>
          <a:p>
            <a:pPr marL="12700" marR="5080"/>
            <a:r>
              <a:rPr lang="en-US" sz="1500" kern="0" spc="-80" dirty="0">
                <a:solidFill>
                  <a:schemeClr val="accent2"/>
                </a:solidFill>
              </a:rPr>
              <a:t>Commercial GIS Data</a:t>
            </a:r>
          </a:p>
          <a:p>
            <a:pPr marL="12700" marR="5080"/>
            <a:r>
              <a:rPr lang="en-US" sz="1500" kern="0" spc="-80" dirty="0">
                <a:solidFill>
                  <a:schemeClr val="accent6"/>
                </a:solidFill>
              </a:rPr>
              <a:t>ESRI, Google Earth Engine, satellite data providers.</a:t>
            </a:r>
          </a:p>
          <a:p>
            <a:pPr marL="12700" marR="5080"/>
            <a:r>
              <a:rPr lang="en-US" sz="1500" kern="0" spc="-80" dirty="0">
                <a:solidFill>
                  <a:schemeClr val="accent2"/>
                </a:solidFill>
              </a:rPr>
              <a:t>Social Media</a:t>
            </a:r>
          </a:p>
          <a:p>
            <a:pPr marL="12700" marR="5080"/>
            <a:r>
              <a:rPr lang="en-US" sz="1500" kern="0" spc="-80" dirty="0">
                <a:solidFill>
                  <a:schemeClr val="accent6"/>
                </a:solidFill>
              </a:rPr>
              <a:t>Location-tagged data for disaster monitoring or urban studies.</a:t>
            </a:r>
          </a:p>
          <a:p>
            <a:pPr marL="12700" marR="5080"/>
            <a:endParaRPr lang="en-US" sz="1500" kern="0" spc="-80" dirty="0">
              <a:solidFill>
                <a:schemeClr val="accent6"/>
              </a:solidFill>
            </a:endParaRPr>
          </a:p>
          <a:p>
            <a:pPr marL="12700" marR="5080"/>
            <a:r>
              <a:rPr lang="en-US" sz="1500" kern="0" spc="-80" dirty="0">
                <a:solidFill>
                  <a:schemeClr val="accent2"/>
                </a:solidFill>
              </a:rPr>
              <a:t>F. Digitization and Data Conversion</a:t>
            </a:r>
          </a:p>
          <a:p>
            <a:pPr marL="12700" marR="5080"/>
            <a:r>
              <a:rPr lang="en-US" sz="1500" kern="0" spc="-80" dirty="0">
                <a:solidFill>
                  <a:schemeClr val="accent6"/>
                </a:solidFill>
              </a:rPr>
              <a:t>Digitizing paper maps using scanners and GIS software.</a:t>
            </a:r>
          </a:p>
          <a:p>
            <a:pPr marL="12700" marR="5080"/>
            <a:r>
              <a:rPr lang="en-US" sz="1500" kern="0" spc="-80" dirty="0">
                <a:solidFill>
                  <a:schemeClr val="accent2"/>
                </a:solidFill>
              </a:rPr>
              <a:t>Vectorization: </a:t>
            </a:r>
            <a:r>
              <a:rPr lang="en-US" sz="1500" kern="0" spc="-80" dirty="0">
                <a:solidFill>
                  <a:schemeClr val="accent6"/>
                </a:solidFill>
              </a:rPr>
              <a:t>Converting raster images to vector features.</a:t>
            </a:r>
          </a:p>
          <a:p>
            <a:pPr marL="12700" marR="5080"/>
            <a:r>
              <a:rPr lang="en-US" sz="1500" kern="0" spc="-80" dirty="0">
                <a:solidFill>
                  <a:schemeClr val="accent2"/>
                </a:solidFill>
              </a:rPr>
              <a:t>Georeferencing: </a:t>
            </a:r>
            <a:r>
              <a:rPr lang="en-US" sz="1500" kern="0" spc="-80" dirty="0">
                <a:solidFill>
                  <a:schemeClr val="accent6"/>
                </a:solidFill>
              </a:rPr>
              <a:t>Assigning coordinates to images/maps.</a:t>
            </a:r>
          </a:p>
          <a:p>
            <a:pPr marL="12700" marR="5080"/>
            <a:endParaRPr lang="en-US" sz="1500" kern="0" spc="-80" dirty="0">
              <a:solidFill>
                <a:schemeClr val="accent6"/>
              </a:solidFill>
            </a:endParaRPr>
          </a:p>
          <a:p>
            <a:pPr marL="12700" marR="5080"/>
            <a:r>
              <a:rPr lang="en-US" sz="1500" kern="0" spc="-80" dirty="0">
                <a:solidFill>
                  <a:schemeClr val="accent2"/>
                </a:solidFill>
              </a:rPr>
              <a:t>Summary Table</a:t>
            </a:r>
          </a:p>
          <a:p>
            <a:pPr marL="12700" marR="5080"/>
            <a:r>
              <a:rPr lang="en-US" sz="1500" kern="0" spc="-80" dirty="0">
                <a:solidFill>
                  <a:schemeClr val="accent2"/>
                </a:solidFill>
              </a:rPr>
              <a:t>Data Type                 Examples	                                    Collection Method</a:t>
            </a:r>
          </a:p>
          <a:p>
            <a:pPr marL="12700" marR="5080"/>
            <a:r>
              <a:rPr lang="en-US" sz="1400" kern="0" spc="-80" dirty="0">
                <a:solidFill>
                  <a:schemeClr val="accent6"/>
                </a:solidFill>
              </a:rPr>
              <a:t>Vector	                  Points, Lines, Polygons	                   GPS, Surveying, Digitization</a:t>
            </a:r>
          </a:p>
          <a:p>
            <a:pPr marL="12700" marR="5080"/>
            <a:r>
              <a:rPr lang="en-US" sz="1400" kern="0" spc="-80" dirty="0">
                <a:solidFill>
                  <a:schemeClr val="accent6"/>
                </a:solidFill>
              </a:rPr>
              <a:t>Raster	                  Satellite imagery, DEM	                   Remote sensing, Scanning, Drone imagery</a:t>
            </a:r>
          </a:p>
          <a:p>
            <a:pPr marL="12700" marR="5080"/>
            <a:r>
              <a:rPr lang="en-US" sz="1400" kern="0" spc="-80" dirty="0">
                <a:solidFill>
                  <a:schemeClr val="accent6"/>
                </a:solidFill>
              </a:rPr>
              <a:t>Attribute	                  Population, Soil type	                   Field survey, Census, Sensor data</a:t>
            </a:r>
          </a:p>
          <a:p>
            <a:pPr marL="12700" marR="5080"/>
            <a:r>
              <a:rPr lang="en-US" sz="1400" kern="0" spc="-80" dirty="0">
                <a:solidFill>
                  <a:schemeClr val="accent6"/>
                </a:solidFill>
              </a:rPr>
              <a:t>Real-time	                  Traffic, Weather	                   IoT sensors, GPS tracking</a:t>
            </a:r>
          </a:p>
          <a:p>
            <a:pPr marL="12700" marR="5080"/>
            <a:r>
              <a:rPr lang="en-US" sz="1400" kern="0" spc="-80" dirty="0">
                <a:solidFill>
                  <a:schemeClr val="accent6"/>
                </a:solidFill>
              </a:rPr>
              <a:t>Static	                  Land use maps	                   Maps, Surveys</a:t>
            </a:r>
          </a:p>
          <a:p>
            <a:pPr marL="12700" marR="5080"/>
            <a:r>
              <a:rPr lang="en-US" sz="1400" kern="0" spc="-80" dirty="0">
                <a:solidFill>
                  <a:schemeClr val="accent6"/>
                </a:solidFill>
              </a:rPr>
              <a:t>Crowdsourced            OpenStreetMap	                   Volunteered input.</a:t>
            </a:r>
          </a:p>
        </p:txBody>
      </p:sp>
    </p:spTree>
    <p:extLst>
      <p:ext uri="{BB962C8B-B14F-4D97-AF65-F5344CB8AC3E}">
        <p14:creationId xmlns:p14="http://schemas.microsoft.com/office/powerpoint/2010/main" val="427124231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0D63-A38B-FA2D-AB8C-BF6EC0123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475FEB-F924-1F42-6F3A-8C562BF60A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885F0-2FCB-6FC2-49F7-C272C49E1F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1DECD-FD4A-F996-C778-50D0463248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7B351-CE5F-D9E4-66CF-34848F3529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F0EC2D-29F7-EAA8-329D-1B88B2B0E7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9ACFD0-A587-1C59-9D0C-197102AE4E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3C44A7-315B-321B-06B9-BA25F2DBFD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BC3D20-5260-EFAA-6E6F-92198C8FC3F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2A9591F-B0F8-2B01-7B89-AC1B359E6514}"/>
              </a:ext>
            </a:extLst>
          </p:cNvPr>
          <p:cNvSpPr txBox="1">
            <a:spLocks/>
          </p:cNvSpPr>
          <p:nvPr/>
        </p:nvSpPr>
        <p:spPr>
          <a:xfrm>
            <a:off x="228600" y="7620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a) Geometry Operations </a:t>
            </a:r>
          </a:p>
          <a:p>
            <a:pPr marL="12700" marR="5080"/>
            <a:r>
              <a:rPr lang="en-US" sz="1400" kern="0" spc="-80" dirty="0">
                <a:solidFill>
                  <a:schemeClr val="accent6"/>
                </a:solidFill>
              </a:rPr>
              <a:t>Buffer (grow/shrink shapes) </a:t>
            </a:r>
          </a:p>
          <a:p>
            <a:pPr marL="12700" marR="5080"/>
            <a:r>
              <a:rPr lang="en-US" sz="1400" kern="0" spc="-80" dirty="0">
                <a:solidFill>
                  <a:schemeClr val="accent6"/>
                </a:solidFill>
              </a:rPr>
              <a:t>Intersect (find overlaps) </a:t>
            </a:r>
          </a:p>
          <a:p>
            <a:pPr marL="12700" marR="5080"/>
            <a:r>
              <a:rPr lang="en-US" sz="1400" kern="0" spc="-80" dirty="0">
                <a:solidFill>
                  <a:schemeClr val="accent6"/>
                </a:solidFill>
              </a:rPr>
              <a:t>Union (combine shapes) </a:t>
            </a:r>
          </a:p>
          <a:p>
            <a:pPr marL="12700" marR="5080"/>
            <a:r>
              <a:rPr lang="en-US" sz="1400" kern="0" spc="-80" dirty="0">
                <a:solidFill>
                  <a:schemeClr val="accent6"/>
                </a:solidFill>
              </a:rPr>
              <a:t>Clip (cut one shape with another) </a:t>
            </a:r>
          </a:p>
          <a:p>
            <a:pPr marL="12700" marR="5080"/>
            <a:r>
              <a:rPr lang="en-US" sz="1400" kern="0" spc="-80" dirty="0">
                <a:solidFill>
                  <a:schemeClr val="accent6"/>
                </a:solidFill>
              </a:rPr>
              <a:t>Dissolve (merge adjacent shapes)</a:t>
            </a:r>
          </a:p>
          <a:p>
            <a:pPr marL="12700" marR="5080"/>
            <a:endParaRPr lang="en-US" sz="1400" kern="0" spc="-80" dirty="0">
              <a:solidFill>
                <a:schemeClr val="accent6"/>
              </a:solidFill>
            </a:endParaRPr>
          </a:p>
          <a:p>
            <a:pPr marL="12700" marR="5080"/>
            <a:r>
              <a:rPr lang="en-US" sz="1400" kern="0" spc="-80" dirty="0">
                <a:solidFill>
                  <a:schemeClr val="accent2"/>
                </a:solidFill>
              </a:rPr>
              <a:t>b) Spatial Queries </a:t>
            </a:r>
          </a:p>
          <a:p>
            <a:pPr marL="12700" marR="5080"/>
            <a:r>
              <a:rPr lang="en-US" sz="1400" kern="0" spc="-80" dirty="0">
                <a:solidFill>
                  <a:schemeClr val="accent6"/>
                </a:solidFill>
              </a:rPr>
              <a:t>"Find all schools within 500m of highways.“</a:t>
            </a:r>
          </a:p>
          <a:p>
            <a:pPr marL="12700" marR="5080"/>
            <a:r>
              <a:rPr lang="en-US" sz="1400" kern="0" spc="-80" dirty="0">
                <a:solidFill>
                  <a:schemeClr val="accent6"/>
                </a:solidFill>
              </a:rPr>
              <a:t> Uses: distance computation + point-in-polygon logic</a:t>
            </a:r>
          </a:p>
          <a:p>
            <a:pPr marL="12700" marR="5080"/>
            <a:endParaRPr lang="en-US" sz="1400" kern="0" spc="-80" dirty="0">
              <a:solidFill>
                <a:schemeClr val="accent6"/>
              </a:solidFill>
            </a:endParaRPr>
          </a:p>
          <a:p>
            <a:pPr marL="12700" marR="5080"/>
            <a:r>
              <a:rPr lang="en-US" sz="1400" kern="0" spc="-80" dirty="0">
                <a:solidFill>
                  <a:schemeClr val="accent2"/>
                </a:solidFill>
              </a:rPr>
              <a:t>c) Attribute Queries </a:t>
            </a:r>
          </a:p>
          <a:p>
            <a:pPr marL="12700" marR="5080"/>
            <a:r>
              <a:rPr lang="en-US" sz="1400" kern="0" spc="-80" dirty="0">
                <a:solidFill>
                  <a:schemeClr val="accent6"/>
                </a:solidFill>
              </a:rPr>
              <a:t>"Select cities where population &gt; 1 million." Pure relational algebra on databases.</a:t>
            </a:r>
          </a:p>
          <a:p>
            <a:pPr marL="12700" marR="5080"/>
            <a:endParaRPr lang="en-US" sz="1400" kern="0" spc="-80" dirty="0">
              <a:solidFill>
                <a:schemeClr val="accent6"/>
              </a:solidFill>
            </a:endParaRPr>
          </a:p>
          <a:p>
            <a:pPr marL="12700" marR="5080"/>
            <a:r>
              <a:rPr lang="en-US" sz="1400" kern="0" spc="-80" dirty="0">
                <a:solidFill>
                  <a:schemeClr val="accent2"/>
                </a:solidFill>
              </a:rPr>
              <a:t>d) Raster Operations </a:t>
            </a:r>
          </a:p>
          <a:p>
            <a:pPr marL="12700" marR="5080"/>
            <a:r>
              <a:rPr lang="en-US" sz="1400" kern="0" spc="-80" dirty="0">
                <a:solidFill>
                  <a:schemeClr val="accent2"/>
                </a:solidFill>
              </a:rPr>
              <a:t>Type                                      Example                                           Math Used </a:t>
            </a:r>
          </a:p>
          <a:p>
            <a:pPr marL="12700" marR="5080"/>
            <a:r>
              <a:rPr lang="en-US" sz="1400" kern="0" spc="-80" dirty="0">
                <a:solidFill>
                  <a:schemeClr val="accent6"/>
                </a:solidFill>
              </a:rPr>
              <a:t>Local                                      NDVI = (NIR - Red)/(NIR + Red)     Pixel arithmetic </a:t>
            </a:r>
          </a:p>
          <a:p>
            <a:pPr marL="12700" marR="5080"/>
            <a:r>
              <a:rPr lang="en-US" sz="1400" kern="0" spc="-80" dirty="0">
                <a:solidFill>
                  <a:schemeClr val="accent6"/>
                </a:solidFill>
              </a:rPr>
              <a:t>Focal                                      Slope computation                         Convolution kernels </a:t>
            </a:r>
          </a:p>
          <a:p>
            <a:pPr marL="12700" marR="5080"/>
            <a:r>
              <a:rPr lang="en-US" sz="1400" kern="0" spc="-80" dirty="0">
                <a:solidFill>
                  <a:schemeClr val="accent6"/>
                </a:solidFill>
              </a:rPr>
              <a:t>Zonal                                     Mean rainfall per district               Statistical aggregation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15632891"/>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CC448-734B-7871-7486-DB71D4C9C8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29A7D3-E6C3-E5FE-DC84-904BBD531F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281B95-AF80-436C-E9E1-80905823E7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451AB-4926-89F7-038D-081F8F654E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D5C866-EEFB-D9D4-781D-71CF26FC2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5DF57D-4ADE-A54B-7916-0640101D56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FD2D4-CA0B-0367-0244-D9102A694F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72A3DF-5D47-7908-8F66-96CF6C7EA1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BF26DB2-895E-6777-4D29-90F63013BD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937C93E-9D56-F004-FCFD-B45B2929D447}"/>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e) Network Analysis </a:t>
            </a:r>
          </a:p>
          <a:p>
            <a:pPr marL="12700" marR="5080"/>
            <a:r>
              <a:rPr lang="en-US" sz="1400" kern="0" spc="-80" dirty="0">
                <a:solidFill>
                  <a:schemeClr val="accent6"/>
                </a:solidFill>
              </a:rPr>
              <a:t>Shortest path (e.g., Google Maps) </a:t>
            </a:r>
          </a:p>
          <a:p>
            <a:pPr marL="12700" marR="5080"/>
            <a:r>
              <a:rPr lang="en-US" sz="1400" kern="0" spc="-80" dirty="0">
                <a:solidFill>
                  <a:schemeClr val="accent6"/>
                </a:solidFill>
              </a:rPr>
              <a:t>Service area (which hospital is closest?) </a:t>
            </a:r>
          </a:p>
          <a:p>
            <a:pPr marL="12700" marR="5080"/>
            <a:r>
              <a:rPr lang="en-US" sz="1400" kern="0" spc="-80" dirty="0">
                <a:solidFill>
                  <a:schemeClr val="accent6"/>
                </a:solidFill>
              </a:rPr>
              <a:t>Uses graph theory + Dijkstra / A*</a:t>
            </a:r>
          </a:p>
          <a:p>
            <a:pPr marL="12700" marR="5080"/>
            <a:endParaRPr lang="en-US" sz="1400" kern="0" spc="-80" dirty="0">
              <a:solidFill>
                <a:schemeClr val="accent6"/>
              </a:solidFill>
            </a:endParaRPr>
          </a:p>
          <a:p>
            <a:pPr marL="12700" marR="5080"/>
            <a:r>
              <a:rPr lang="en-US" sz="1400" kern="0" spc="-80" dirty="0">
                <a:solidFill>
                  <a:schemeClr val="accent2"/>
                </a:solidFill>
              </a:rPr>
              <a:t>5) Advanced GIS Concepts</a:t>
            </a:r>
          </a:p>
          <a:p>
            <a:pPr marL="12700" marR="5080"/>
            <a:r>
              <a:rPr lang="en-US" sz="1400" kern="0" spc="-80" dirty="0">
                <a:solidFill>
                  <a:schemeClr val="accent2"/>
                </a:solidFill>
              </a:rPr>
              <a:t>Technique	                            Purpose	                    Key Math</a:t>
            </a:r>
          </a:p>
          <a:p>
            <a:pPr marL="12700" marR="5080"/>
            <a:r>
              <a:rPr lang="en-US" sz="1400" kern="0" spc="-80" dirty="0">
                <a:solidFill>
                  <a:schemeClr val="accent6"/>
                </a:solidFill>
              </a:rPr>
              <a:t>Spatial Interpolation	         Fill unknown values	Kriging, IDW</a:t>
            </a:r>
          </a:p>
          <a:p>
            <a:pPr marL="12700" marR="5080"/>
            <a:r>
              <a:rPr lang="en-US" sz="1400" kern="0" spc="-80" dirty="0">
                <a:solidFill>
                  <a:schemeClr val="accent6"/>
                </a:solidFill>
              </a:rPr>
              <a:t>Image Classification	         Land use mapping	Linear algebra + ML</a:t>
            </a:r>
          </a:p>
          <a:p>
            <a:pPr marL="12700" marR="5080"/>
            <a:r>
              <a:rPr lang="en-US" sz="1400" kern="0" spc="-80" dirty="0">
                <a:solidFill>
                  <a:schemeClr val="accent6"/>
                </a:solidFill>
              </a:rPr>
              <a:t>LiDAR Processing	         Extract 3D structures	Point cloud geometry</a:t>
            </a:r>
          </a:p>
          <a:p>
            <a:pPr marL="12700" marR="5080"/>
            <a:r>
              <a:rPr lang="en-US" sz="1400" kern="0" spc="-80" dirty="0">
                <a:solidFill>
                  <a:schemeClr val="accent6"/>
                </a:solidFill>
              </a:rPr>
              <a:t>3D GIS	                            City models (BIM)	Transform matrices &amp; perspective projection</a:t>
            </a:r>
          </a:p>
          <a:p>
            <a:pPr marL="12700" marR="5080"/>
            <a:r>
              <a:rPr lang="en-US" sz="1400" kern="0" spc="-80" dirty="0" err="1">
                <a:solidFill>
                  <a:schemeClr val="accent6"/>
                </a:solidFill>
              </a:rPr>
              <a:t>Spatio</a:t>
            </a:r>
            <a:r>
              <a:rPr lang="en-US" sz="1400" kern="0" spc="-80" dirty="0">
                <a:solidFill>
                  <a:schemeClr val="accent6"/>
                </a:solidFill>
              </a:rPr>
              <a:t>-temporal GIS	         Time-based changes	Time-series statistics</a:t>
            </a:r>
          </a:p>
          <a:p>
            <a:pPr marL="12700" marR="5080"/>
            <a:endParaRPr lang="en-US" sz="1400" kern="0" spc="-80" dirty="0">
              <a:solidFill>
                <a:schemeClr val="accent6"/>
              </a:solidFill>
            </a:endParaRPr>
          </a:p>
          <a:p>
            <a:pPr marL="12700" marR="5080"/>
            <a:r>
              <a:rPr lang="en-US" sz="1400" kern="0" spc="-80" dirty="0">
                <a:solidFill>
                  <a:schemeClr val="accent2"/>
                </a:solidFill>
              </a:rPr>
              <a:t>Other Noteworthy Applications of GIS</a:t>
            </a:r>
          </a:p>
          <a:p>
            <a:pPr marL="12700" marR="5080"/>
            <a:r>
              <a:rPr lang="en-US" sz="1400" kern="0" spc="-80" dirty="0">
                <a:solidFill>
                  <a:schemeClr val="accent6"/>
                </a:solidFill>
              </a:rPr>
              <a:t>Proximity detection algorithms</a:t>
            </a:r>
          </a:p>
          <a:p>
            <a:pPr marL="12700" marR="5080"/>
            <a:r>
              <a:rPr lang="en-US" sz="1400" kern="0" spc="-80" dirty="0">
                <a:solidFill>
                  <a:schemeClr val="accent6"/>
                </a:solidFill>
              </a:rPr>
              <a:t>Directions (driving, walking, biking, public transport)</a:t>
            </a:r>
          </a:p>
          <a:p>
            <a:pPr marL="12700" marR="5080"/>
            <a:r>
              <a:rPr lang="en-US" sz="1400" kern="0" spc="-80" dirty="0">
                <a:solidFill>
                  <a:schemeClr val="accent6"/>
                </a:solidFill>
              </a:rPr>
              <a:t>Traffic and real-time updates</a:t>
            </a:r>
          </a:p>
          <a:p>
            <a:pPr marL="12700" marR="5080"/>
            <a:r>
              <a:rPr lang="en-US" sz="1400" kern="0" spc="-80" dirty="0">
                <a:solidFill>
                  <a:schemeClr val="accent6"/>
                </a:solidFill>
              </a:rPr>
              <a:t>Push notifications based on location</a:t>
            </a:r>
          </a:p>
          <a:p>
            <a:pPr marL="12700" marR="5080"/>
            <a:r>
              <a:rPr lang="en-US" sz="1400" kern="0" spc="-80" dirty="0">
                <a:solidFill>
                  <a:schemeClr val="accent6"/>
                </a:solidFill>
              </a:rPr>
              <a:t>Live location sharing</a:t>
            </a:r>
          </a:p>
          <a:p>
            <a:pPr marL="12700" marR="5080"/>
            <a:r>
              <a:rPr lang="en-US" sz="1400" kern="0" spc="-80" dirty="0">
                <a:solidFill>
                  <a:schemeClr val="accent6"/>
                </a:solidFill>
              </a:rPr>
              <a:t>Multi-modal transport routing</a:t>
            </a:r>
          </a:p>
          <a:p>
            <a:pPr marL="12700" marR="5080"/>
            <a:r>
              <a:rPr lang="en-US" sz="1400" kern="0" spc="-80" dirty="0">
                <a:solidFill>
                  <a:schemeClr val="accent6"/>
                </a:solidFill>
              </a:rPr>
              <a:t>Traffic-aware routing</a:t>
            </a:r>
          </a:p>
          <a:p>
            <a:pPr marL="12700" marR="5080"/>
            <a:r>
              <a:rPr lang="en-US" sz="1400" kern="0" spc="-80" dirty="0">
                <a:solidFill>
                  <a:schemeClr val="accent6"/>
                </a:solidFill>
              </a:rPr>
              <a:t>Places API (POI – points of interest)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37302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B7303-FC04-E536-885D-9226B22A43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D1CC8C-6288-1626-9CEB-C81252BF50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BE0785-7373-808F-CDD3-0286C7A0B5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EE7686-BC2E-35CB-E4D0-4D0528F0A6F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585B28B-CE3C-046F-F4A5-6EE05C6957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F70D81-00E8-3A1A-C367-FFBFB9054A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C6E0ED-FFC4-C0F4-8089-449061907C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FDA1596-5B2D-E198-E402-97D64B928C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DBBB9-9804-A8AB-3BDC-9A56302DEC0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A5AE632-6DE8-AEF1-1683-0201E1184E0F}"/>
              </a:ext>
            </a:extLst>
          </p:cNvPr>
          <p:cNvSpPr txBox="1">
            <a:spLocks/>
          </p:cNvSpPr>
          <p:nvPr/>
        </p:nvSpPr>
        <p:spPr>
          <a:xfrm>
            <a:off x="228600" y="762000"/>
            <a:ext cx="8624937" cy="60785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350" kern="0" spc="-80" dirty="0">
                <a:solidFill>
                  <a:schemeClr val="accent2"/>
                </a:solidFill>
              </a:rPr>
              <a:t>For Further Exploration</a:t>
            </a:r>
          </a:p>
          <a:p>
            <a:pPr marL="12700" marR="5080"/>
            <a:r>
              <a:rPr lang="en-IN" sz="1350" dirty="0">
                <a:hlinkClick r:id="rId7"/>
              </a:rPr>
              <a:t>Geospatial Data Science Essentials: 101 Practical Python Tips and Tricks</a:t>
            </a:r>
            <a:endParaRPr lang="en-US" sz="1350" kern="0" spc="-80" dirty="0">
              <a:solidFill>
                <a:schemeClr val="accent2"/>
              </a:solidFill>
            </a:endParaRPr>
          </a:p>
          <a:p>
            <a:pPr marL="12700" marR="5080"/>
            <a:r>
              <a:rPr lang="en-IN" sz="1350" dirty="0">
                <a:hlinkClick r:id="rId8"/>
              </a:rPr>
              <a:t>Introduction to Geographical Information Systems</a:t>
            </a:r>
            <a:endParaRPr lang="en-IN" sz="1350" dirty="0"/>
          </a:p>
          <a:p>
            <a:pPr marL="12700" marR="5080"/>
            <a:r>
              <a:rPr lang="en-IN" sz="1350" dirty="0">
                <a:hlinkClick r:id="rId9"/>
              </a:rPr>
              <a:t>Geographic Information Systems and Science </a:t>
            </a:r>
            <a:endParaRPr lang="en-IN" sz="1350" dirty="0"/>
          </a:p>
          <a:p>
            <a:pPr marL="12700" marR="5080"/>
            <a:r>
              <a:rPr lang="fr-FR" sz="1350" dirty="0">
                <a:hlinkClick r:id="rId10"/>
              </a:rPr>
              <a:t>QGIS Training Manual — QGIS Documentation </a:t>
            </a:r>
            <a:r>
              <a:rPr lang="fr-FR" sz="1350" dirty="0" err="1">
                <a:hlinkClick r:id="rId10"/>
              </a:rPr>
              <a:t>documentation</a:t>
            </a:r>
            <a:endParaRPr lang="fr-FR" sz="1350" dirty="0"/>
          </a:p>
          <a:p>
            <a:pPr marL="12700" marR="5080"/>
            <a:r>
              <a:rPr lang="en-IN" sz="1350" dirty="0">
                <a:hlinkClick r:id="rId11"/>
              </a:rPr>
              <a:t>Understanding GIS</a:t>
            </a:r>
            <a:endParaRPr lang="en-US" sz="1350" kern="0" spc="-80" dirty="0">
              <a:solidFill>
                <a:schemeClr val="accent2"/>
              </a:solidFill>
            </a:endParaRPr>
          </a:p>
          <a:p>
            <a:pPr marL="12700" marR="5080"/>
            <a:r>
              <a:rPr lang="en-IN" sz="1350" dirty="0">
                <a:hlinkClick r:id="rId12"/>
              </a:rPr>
              <a:t>Spatial database – Wikipedia</a:t>
            </a:r>
            <a:endParaRPr lang="en-IN" sz="1350" dirty="0"/>
          </a:p>
          <a:p>
            <a:pPr marL="12700" marR="5080"/>
            <a:r>
              <a:rPr lang="en-IN" sz="1350" dirty="0">
                <a:hlinkClick r:id="rId13"/>
              </a:rPr>
              <a:t>Training Materials | </a:t>
            </a:r>
            <a:r>
              <a:rPr lang="en-IN" sz="1350" dirty="0" err="1">
                <a:hlinkClick r:id="rId13"/>
              </a:rPr>
              <a:t>PostGIS</a:t>
            </a:r>
            <a:r>
              <a:rPr lang="en-US" sz="1350" kern="0" spc="-80" dirty="0">
                <a:solidFill>
                  <a:schemeClr val="accent2"/>
                </a:solidFill>
              </a:rPr>
              <a:t>  </a:t>
            </a:r>
          </a:p>
          <a:p>
            <a:pPr marL="12700" marR="5080"/>
            <a:r>
              <a:rPr lang="en-IN" sz="1350" dirty="0">
                <a:hlinkClick r:id="rId14"/>
              </a:rPr>
              <a:t>Documentation | </a:t>
            </a:r>
            <a:r>
              <a:rPr lang="en-IN" sz="1350" dirty="0" err="1">
                <a:hlinkClick r:id="rId14"/>
              </a:rPr>
              <a:t>PostGIS</a:t>
            </a:r>
            <a:r>
              <a:rPr lang="en-US" sz="1350" kern="0" spc="-80" dirty="0">
                <a:solidFill>
                  <a:schemeClr val="accent2"/>
                </a:solidFill>
              </a:rPr>
              <a:t> </a:t>
            </a:r>
          </a:p>
          <a:p>
            <a:pPr marL="12700" marR="5080"/>
            <a:r>
              <a:rPr lang="en-IN" sz="1350" dirty="0">
                <a:hlinkClick r:id="rId15"/>
              </a:rPr>
              <a:t>Understanding Efficient Spatial Indexing – </a:t>
            </a:r>
            <a:r>
              <a:rPr lang="en-IN" sz="1350" dirty="0" err="1">
                <a:hlinkClick r:id="rId15"/>
              </a:rPr>
              <a:t>GeeksforGeeks</a:t>
            </a:r>
            <a:r>
              <a:rPr lang="en-IN" sz="1350" kern="0" spc="-80" dirty="0">
                <a:solidFill>
                  <a:schemeClr val="accent6"/>
                </a:solidFill>
              </a:rPr>
              <a:t>(Any geospatial index is mainly hash or tree based)</a:t>
            </a:r>
            <a:endParaRPr lang="en-US" sz="1350" kern="0" spc="-80" dirty="0">
              <a:solidFill>
                <a:schemeClr val="accent6"/>
              </a:solidFill>
            </a:endParaRPr>
          </a:p>
          <a:p>
            <a:pPr marL="12700" marR="5080"/>
            <a:r>
              <a:rPr lang="en-IN" sz="1350" dirty="0">
                <a:hlinkClick r:id="rId16"/>
              </a:rPr>
              <a:t>Quadtrees &amp; </a:t>
            </a:r>
            <a:r>
              <a:rPr lang="en-IN" sz="1350" dirty="0" err="1">
                <a:hlinkClick r:id="rId16"/>
              </a:rPr>
              <a:t>GeoHash</a:t>
            </a:r>
            <a:endParaRPr lang="en-IN" sz="1350" dirty="0"/>
          </a:p>
          <a:p>
            <a:pPr marL="12700" marR="5080"/>
            <a:r>
              <a:rPr lang="en-IN" sz="1350" dirty="0">
                <a:hlinkClick r:id="rId17"/>
              </a:rPr>
              <a:t>Geohash grid - OpenSearch Documentation</a:t>
            </a:r>
            <a:endParaRPr lang="en-IN" sz="1350" dirty="0"/>
          </a:p>
          <a:p>
            <a:pPr marL="12700" marR="5080"/>
            <a:r>
              <a:rPr lang="en-IN" sz="1350" dirty="0">
                <a:hlinkClick r:id="rId18"/>
              </a:rPr>
              <a:t>S2 Geometry | S2Geometry</a:t>
            </a:r>
            <a:r>
              <a:rPr lang="en-IN" sz="1350" kern="0" spc="-80" dirty="0">
                <a:solidFill>
                  <a:schemeClr val="accent6"/>
                </a:solidFill>
              </a:rPr>
              <a:t>(another tree based geo index)</a:t>
            </a:r>
          </a:p>
          <a:p>
            <a:pPr marL="12700" marR="5080"/>
            <a:r>
              <a:rPr lang="en-US" sz="1350" dirty="0">
                <a:hlinkClick r:id="rId19"/>
              </a:rPr>
              <a:t>S2 Region Coverer Online Viewer</a:t>
            </a:r>
            <a:endParaRPr lang="en-IN" sz="1350" dirty="0"/>
          </a:p>
          <a:p>
            <a:pPr marL="12700" marR="5080"/>
            <a:r>
              <a:rPr lang="en-US" sz="1350" dirty="0">
                <a:hlinkClick r:id="rId20"/>
              </a:rPr>
              <a:t>SpatialSearch - Apache Lucene (Java) - Apache Software Foundation</a:t>
            </a:r>
            <a:endParaRPr lang="en-US" sz="1350" dirty="0"/>
          </a:p>
          <a:p>
            <a:pPr marL="12700" marR="5080"/>
            <a:r>
              <a:rPr lang="en-US" sz="1350" dirty="0" err="1">
                <a:hlinkClick r:id="rId21"/>
              </a:rPr>
              <a:t>Geoshape</a:t>
            </a:r>
            <a:r>
              <a:rPr lang="en-US" sz="1350" dirty="0">
                <a:hlinkClick r:id="rId21"/>
              </a:rPr>
              <a:t> field type | Elasticsearch Guide [8.17] | Elastic</a:t>
            </a:r>
            <a:endParaRPr lang="en-US" sz="1350" dirty="0"/>
          </a:p>
          <a:p>
            <a:pPr marL="12700" marR="5080"/>
            <a:r>
              <a:rPr lang="en-IN" sz="1350" dirty="0">
                <a:hlinkClick r:id="rId22"/>
              </a:rPr>
              <a:t>Scaling Millions of Geospatial Queries per minute using Redis</a:t>
            </a:r>
            <a:endParaRPr lang="en-IN" sz="1350" dirty="0"/>
          </a:p>
          <a:p>
            <a:pPr marL="12700" marR="5080"/>
            <a:r>
              <a:rPr lang="en-IN" sz="1350" dirty="0">
                <a:hlinkClick r:id="rId23"/>
              </a:rPr>
              <a:t>Address geocoding – Wikipedia</a:t>
            </a:r>
            <a:endParaRPr lang="en-IN" sz="1350" dirty="0"/>
          </a:p>
          <a:p>
            <a:pPr marL="12700" marR="5080"/>
            <a:r>
              <a:rPr lang="en-IN" sz="1350" dirty="0">
                <a:hlinkClick r:id="rId24"/>
              </a:rPr>
              <a:t>The Hilbert Mapping</a:t>
            </a:r>
            <a:endParaRPr lang="en-IN" sz="1350" dirty="0"/>
          </a:p>
          <a:p>
            <a:pPr marL="12700" marR="5080"/>
            <a:r>
              <a:rPr lang="en-US" sz="1350" dirty="0" err="1">
                <a:hlinkClick r:id="rId25"/>
              </a:rPr>
              <a:t>Geosharded</a:t>
            </a:r>
            <a:r>
              <a:rPr lang="en-US" sz="1350" dirty="0">
                <a:hlinkClick r:id="rId25"/>
              </a:rPr>
              <a:t> Recommendations with Hilbert Curve at Tinder | Hacker News</a:t>
            </a:r>
            <a:endParaRPr lang="en-US" sz="1350" dirty="0"/>
          </a:p>
          <a:p>
            <a:pPr marL="12700" marR="5080"/>
            <a:r>
              <a:rPr lang="en-IN" sz="1350" dirty="0">
                <a:hlinkClick r:id="rId14"/>
              </a:rPr>
              <a:t>Documentation | </a:t>
            </a:r>
            <a:r>
              <a:rPr lang="en-IN" sz="1350" dirty="0" err="1">
                <a:hlinkClick r:id="rId14"/>
              </a:rPr>
              <a:t>PostGIS</a:t>
            </a:r>
            <a:endParaRPr lang="en-US" sz="1350" dirty="0"/>
          </a:p>
          <a:p>
            <a:pPr marL="12700" marR="5080"/>
            <a:r>
              <a:rPr lang="en-IN" sz="1350" kern="0" spc="-80" dirty="0">
                <a:solidFill>
                  <a:schemeClr val="accent2"/>
                </a:solidFill>
              </a:rPr>
              <a:t>N.B. – </a:t>
            </a:r>
            <a:r>
              <a:rPr lang="en-IN" sz="1350" kern="0" spc="-80" dirty="0">
                <a:solidFill>
                  <a:schemeClr val="accent6"/>
                </a:solidFill>
              </a:rPr>
              <a:t>The basic idea w.r.t any geo search is to divide the map into smaller regions/areas &amp; build (inverted) indexes(e.g. a geohash index table having 2 columns viz geohash &amp; business IDs)</a:t>
            </a:r>
          </a:p>
          <a:p>
            <a:pPr marL="12700" marR="5080"/>
            <a:endParaRPr lang="en-US" sz="1400" dirty="0"/>
          </a:p>
          <a:p>
            <a:pPr marL="12700" marR="5080"/>
            <a:endParaRPr lang="en-IN" sz="1200" kern="0" spc="-80" dirty="0">
              <a:solidFill>
                <a:schemeClr val="accent6"/>
              </a:solidFill>
            </a:endParaRPr>
          </a:p>
          <a:p>
            <a:pPr marL="12700" marR="5080"/>
            <a:endParaRPr lang="en-IN" sz="12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10768603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769C-A769-63F3-A43A-D255481AC2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C64F65-A6F2-30D6-8FB1-C8EDB5202F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4D48CC-385C-6729-34BD-F6B40D2AE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12053D-8E3B-5294-4036-51E79CFCA3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9729BE-DB81-9F4F-1DD2-654F9F1BB4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6D8282-C7F7-1583-1647-9A66B152C5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F260B-A215-1A62-E715-1C71E4D821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4CECB5-47A0-7920-62EE-520C2498C1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574E4B-8977-F6C7-56DA-F66B413FB74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C73A8F-9482-10B6-2303-004072C1DCE7}"/>
              </a:ext>
            </a:extLst>
          </p:cNvPr>
          <p:cNvSpPr txBox="1">
            <a:spLocks/>
          </p:cNvSpPr>
          <p:nvPr/>
        </p:nvSpPr>
        <p:spPr>
          <a:xfrm>
            <a:off x="228600" y="762000"/>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1. What Cartography Really Is</a:t>
            </a:r>
          </a:p>
          <a:p>
            <a:pPr marL="12700" marR="5080"/>
            <a:r>
              <a:rPr lang="en-US" sz="1400" kern="0" spc="-80" dirty="0">
                <a:solidFill>
                  <a:schemeClr val="accent2"/>
                </a:solidFill>
              </a:rPr>
              <a:t>Cartography is:</a:t>
            </a:r>
          </a:p>
          <a:p>
            <a:pPr marL="12700" marR="5080"/>
            <a:r>
              <a:rPr lang="en-US" sz="1400" kern="0" spc="-80" dirty="0">
                <a:solidFill>
                  <a:schemeClr val="accent2"/>
                </a:solidFill>
              </a:rPr>
              <a:t>Representation: </a:t>
            </a:r>
            <a:r>
              <a:rPr lang="en-US" sz="1400" kern="0" spc="-80" dirty="0">
                <a:solidFill>
                  <a:schemeClr val="accent6"/>
                </a:solidFill>
              </a:rPr>
              <a:t>Creating symbolic models of reality.</a:t>
            </a:r>
          </a:p>
          <a:p>
            <a:pPr marL="12700" marR="5080"/>
            <a:r>
              <a:rPr lang="en-US" sz="1400" kern="0" spc="-80" dirty="0">
                <a:solidFill>
                  <a:schemeClr val="accent2"/>
                </a:solidFill>
              </a:rPr>
              <a:t>Abstraction: </a:t>
            </a:r>
            <a:r>
              <a:rPr lang="en-US" sz="1400" kern="0" spc="-80" dirty="0">
                <a:solidFill>
                  <a:schemeClr val="accent6"/>
                </a:solidFill>
              </a:rPr>
              <a:t>Deciding what to keep and what to omit.</a:t>
            </a:r>
          </a:p>
          <a:p>
            <a:pPr marL="12700" marR="5080"/>
            <a:r>
              <a:rPr lang="en-US" sz="1400" kern="0" spc="-80" dirty="0">
                <a:solidFill>
                  <a:schemeClr val="accent2"/>
                </a:solidFill>
              </a:rPr>
              <a:t>Communication: </a:t>
            </a:r>
            <a:r>
              <a:rPr lang="en-US" sz="1400" kern="0" spc="-80" dirty="0">
                <a:solidFill>
                  <a:schemeClr val="accent6"/>
                </a:solidFill>
              </a:rPr>
              <a:t>Making spatial meaning clear and useful.</a:t>
            </a:r>
          </a:p>
          <a:p>
            <a:pPr marL="12700" marR="5080"/>
            <a:r>
              <a:rPr lang="en-US" sz="1400" kern="0" spc="-80" dirty="0">
                <a:solidFill>
                  <a:schemeClr val="accent2"/>
                </a:solidFill>
              </a:rPr>
              <a:t>Aesthetic Discipline:</a:t>
            </a:r>
            <a:r>
              <a:rPr lang="en-US" sz="1400" kern="0" spc="-80" dirty="0">
                <a:solidFill>
                  <a:schemeClr val="accent6"/>
                </a:solidFill>
              </a:rPr>
              <a:t> Ensuring visual balance and map personality.</a:t>
            </a:r>
          </a:p>
          <a:p>
            <a:pPr marL="12700" marR="5080"/>
            <a:r>
              <a:rPr lang="en-US" sz="1400" kern="0" spc="-80" dirty="0">
                <a:solidFill>
                  <a:schemeClr val="accent6"/>
                </a:solidFill>
              </a:rPr>
              <a:t>Every map is a story someone wants to tell about a place.</a:t>
            </a:r>
          </a:p>
          <a:p>
            <a:pPr marL="12700" marR="5080"/>
            <a:endParaRPr lang="en-US" sz="1400" kern="0" spc="-80" dirty="0">
              <a:solidFill>
                <a:schemeClr val="accent6"/>
              </a:solidFill>
            </a:endParaRPr>
          </a:p>
          <a:p>
            <a:pPr marL="12700" marR="5080"/>
            <a:r>
              <a:rPr lang="en-US" sz="1400" kern="0" spc="-80" dirty="0">
                <a:solidFill>
                  <a:schemeClr val="accent2"/>
                </a:solidFill>
              </a:rPr>
              <a:t>2. Core Concepts in Cartography</a:t>
            </a:r>
          </a:p>
          <a:p>
            <a:pPr marL="12700" marR="5080"/>
            <a:r>
              <a:rPr lang="en-US" sz="1400" kern="0" spc="-80" dirty="0">
                <a:solidFill>
                  <a:schemeClr val="accent2"/>
                </a:solidFill>
              </a:rPr>
              <a:t>Concept	                   Meaning	                                                         Key Questions</a:t>
            </a:r>
          </a:p>
          <a:p>
            <a:pPr marL="12700" marR="5080"/>
            <a:r>
              <a:rPr lang="en-US" sz="1400" kern="0" spc="-80" dirty="0">
                <a:solidFill>
                  <a:schemeClr val="accent6"/>
                </a:solidFill>
              </a:rPr>
              <a:t>Scale	                   Ratio of map distance to ground distance     How big should the world feel?</a:t>
            </a:r>
          </a:p>
          <a:p>
            <a:pPr marL="12700" marR="5080"/>
            <a:r>
              <a:rPr lang="en-US" sz="1400" kern="0" spc="-80" dirty="0">
                <a:solidFill>
                  <a:schemeClr val="accent6"/>
                </a:solidFill>
              </a:rPr>
              <a:t>Projection	                   Flattening the spherical Earth to 2D               What distortions are acceptable?</a:t>
            </a:r>
          </a:p>
          <a:p>
            <a:pPr marL="12700" marR="5080"/>
            <a:r>
              <a:rPr lang="en-US" sz="1400" kern="0" spc="-80" dirty="0">
                <a:solidFill>
                  <a:schemeClr val="accent6"/>
                </a:solidFill>
              </a:rPr>
              <a:t>Generalization	Simplifying reality for readability	                  What can we remove without losing </a:t>
            </a:r>
          </a:p>
          <a:p>
            <a:pPr marL="12700" marR="5080"/>
            <a:r>
              <a:rPr lang="en-US" sz="1400" kern="0" spc="-80" dirty="0">
                <a:solidFill>
                  <a:schemeClr val="accent6"/>
                </a:solidFill>
              </a:rPr>
              <a:t>                                                                                                                   meaning?</a:t>
            </a:r>
          </a:p>
          <a:p>
            <a:pPr marL="12700" marR="5080"/>
            <a:r>
              <a:rPr lang="en-US" sz="1400" kern="0" spc="-80" dirty="0">
                <a:solidFill>
                  <a:schemeClr val="accent6"/>
                </a:solidFill>
              </a:rPr>
              <a:t>Symbolization	Representing features with signs	                  How do we visually encode concepts?</a:t>
            </a:r>
          </a:p>
          <a:p>
            <a:pPr marL="12700" marR="5080"/>
            <a:r>
              <a:rPr lang="en-US" sz="1400" kern="0" spc="-80" dirty="0">
                <a:solidFill>
                  <a:schemeClr val="accent6"/>
                </a:solidFill>
              </a:rPr>
              <a:t>Classification	Grouping numeric or categorical data           How should differences be </a:t>
            </a:r>
          </a:p>
          <a:p>
            <a:pPr marL="12700" marR="5080"/>
            <a:r>
              <a:rPr lang="en-US" sz="1400" kern="0" spc="-80" dirty="0">
                <a:solidFill>
                  <a:schemeClr val="accent6"/>
                </a:solidFill>
              </a:rPr>
              <a:t>                                                                                                                   highlighted?</a:t>
            </a:r>
          </a:p>
          <a:p>
            <a:pPr marL="12700" marR="5080"/>
            <a:r>
              <a:rPr lang="en-US" sz="1400" kern="0" spc="-80" dirty="0">
                <a:solidFill>
                  <a:schemeClr val="accent6"/>
                </a:solidFill>
              </a:rPr>
              <a:t>Typography	Text placement and hierarchy	                  What should the viewer notice first?</a:t>
            </a:r>
          </a:p>
          <a:p>
            <a:pPr marL="12700" marR="5080"/>
            <a:r>
              <a:rPr lang="en-US" sz="1400" kern="0" spc="-80" dirty="0">
                <a:solidFill>
                  <a:schemeClr val="accent6"/>
                </a:solidFill>
              </a:rPr>
              <a:t>Composition	Layout of visual elements	                  How does the eye travel across the </a:t>
            </a:r>
          </a:p>
          <a:p>
            <a:pPr marL="12700" marR="5080"/>
            <a:r>
              <a:rPr lang="en-US" sz="1400" kern="0" spc="-80" dirty="0">
                <a:solidFill>
                  <a:schemeClr val="accent6"/>
                </a:solidFill>
              </a:rPr>
              <a:t>                                                                                                                   map?</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4747874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8D73-9361-BC05-E1B7-78235A1424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9B5CE-721F-E29B-98C9-83049CD886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A4A466-3D90-0BD1-D685-D9034D3282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B73874-7961-059B-441F-37238FFF2C0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B37A7C-BF80-5E29-48F6-187ABEC65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5364CB-6882-BB62-32E8-A5D981F031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17ED6B-445B-374C-48BD-36025E7182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1B6713-FDCC-12EA-1DBF-2314306E1A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E506DB-FECC-E3F1-ADA9-D16E1136D7B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50367AA-39B9-864D-56A8-1AB0D7683FD5}"/>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 Geometry &amp; Mathematics Underlying Cartography</a:t>
            </a:r>
          </a:p>
          <a:p>
            <a:pPr marL="12700" marR="5080"/>
            <a:endParaRPr lang="en-US" sz="1400" kern="0" spc="-80" dirty="0">
              <a:solidFill>
                <a:schemeClr val="accent2"/>
              </a:solidFill>
            </a:endParaRPr>
          </a:p>
          <a:p>
            <a:pPr marL="12700" marR="5080"/>
            <a:r>
              <a:rPr lang="en-US" sz="1400" kern="0" spc="-80" dirty="0">
                <a:solidFill>
                  <a:schemeClr val="accent2"/>
                </a:solidFill>
              </a:rPr>
              <a:t>3.1 Coordinate Systems</a:t>
            </a:r>
          </a:p>
          <a:p>
            <a:pPr marL="12700" marR="5080"/>
            <a:r>
              <a:rPr lang="en-US" sz="1400" kern="0" spc="-80" dirty="0">
                <a:solidFill>
                  <a:schemeClr val="accent6"/>
                </a:solidFill>
              </a:rPr>
              <a:t>Earth is not a perfect sphere. We approximate it using:</a:t>
            </a:r>
          </a:p>
          <a:p>
            <a:pPr marL="12700" marR="5080"/>
            <a:r>
              <a:rPr lang="en-US" sz="1400" kern="0" spc="-80" dirty="0">
                <a:solidFill>
                  <a:schemeClr val="accent6"/>
                </a:solidFill>
              </a:rPr>
              <a:t>Ellipsoid Models (e.g., WGS84)</a:t>
            </a:r>
          </a:p>
          <a:p>
            <a:pPr marL="12700" marR="5080"/>
            <a:r>
              <a:rPr lang="en-US" sz="1400" kern="0" spc="-80" dirty="0">
                <a:solidFill>
                  <a:schemeClr val="accent6"/>
                </a:solidFill>
              </a:rPr>
              <a:t>Geodetic Coordinates (φ, λ): latitude (φ), longitude (λ)</a:t>
            </a:r>
          </a:p>
          <a:p>
            <a:pPr marL="12700" marR="5080"/>
            <a:r>
              <a:rPr lang="en-US" sz="1400" kern="0" spc="-80" dirty="0">
                <a:solidFill>
                  <a:schemeClr val="accent6"/>
                </a:solidFill>
              </a:rPr>
              <a:t>Cartesian Earth-Centered Coordinates (X, Y, Z) (for satellites, GPS)</a:t>
            </a:r>
          </a:p>
          <a:p>
            <a:pPr marL="12700" marR="5080"/>
            <a:endParaRPr lang="en-US" sz="1400" kern="0" spc="-80" dirty="0">
              <a:solidFill>
                <a:schemeClr val="accent6"/>
              </a:solidFill>
            </a:endParaRPr>
          </a:p>
          <a:p>
            <a:pPr marL="12700" marR="5080"/>
            <a:r>
              <a:rPr lang="en-US" sz="1400" kern="0" spc="-80" dirty="0">
                <a:solidFill>
                  <a:schemeClr val="accent2"/>
                </a:solidFill>
              </a:rPr>
              <a:t>3.2 Map Projections</a:t>
            </a:r>
          </a:p>
          <a:p>
            <a:pPr marL="12700" marR="5080"/>
            <a:r>
              <a:rPr lang="en-US" sz="1400" kern="0" spc="-80" dirty="0">
                <a:solidFill>
                  <a:schemeClr val="accent6"/>
                </a:solidFill>
              </a:rPr>
              <a:t>Projection = Mathematical transformation: (</a:t>
            </a:r>
            <a:r>
              <a:rPr lang="en-US" sz="1400" kern="0" spc="-80" dirty="0" err="1">
                <a:solidFill>
                  <a:schemeClr val="accent6"/>
                </a:solidFill>
              </a:rPr>
              <a:t>x,y</a:t>
            </a:r>
            <a:r>
              <a:rPr lang="en-US" sz="1400" kern="0" spc="-80" dirty="0">
                <a:solidFill>
                  <a:schemeClr val="accent6"/>
                </a:solidFill>
              </a:rPr>
              <a:t>)=f(</a:t>
            </a:r>
            <a:r>
              <a:rPr lang="en-US" sz="1400" kern="0" spc="-80" dirty="0" err="1">
                <a:solidFill>
                  <a:schemeClr val="accent6"/>
                </a:solidFill>
              </a:rPr>
              <a:t>ϕ,λ</a:t>
            </a:r>
            <a:r>
              <a:rPr lang="en-US" sz="1400" kern="0" spc="-80" dirty="0">
                <a:solidFill>
                  <a:schemeClr val="accent6"/>
                </a:solidFill>
              </a:rPr>
              <a:t>)</a:t>
            </a:r>
          </a:p>
          <a:p>
            <a:pPr marL="12700" marR="5080"/>
            <a:r>
              <a:rPr lang="en-US" sz="1400" kern="0" spc="-80" dirty="0">
                <a:solidFill>
                  <a:schemeClr val="accent2"/>
                </a:solidFill>
              </a:rPr>
              <a:t>Each projection preserves some property and distorts others:</a:t>
            </a:r>
          </a:p>
          <a:p>
            <a:pPr marL="12700" marR="5080"/>
            <a:r>
              <a:rPr lang="en-US" sz="1400" kern="0" spc="-80" dirty="0">
                <a:solidFill>
                  <a:schemeClr val="accent2"/>
                </a:solidFill>
              </a:rPr>
              <a:t>Projection Family	Preserves	                                       Use Case	                            Examples</a:t>
            </a:r>
          </a:p>
          <a:p>
            <a:pPr marL="12700" marR="5080"/>
            <a:r>
              <a:rPr lang="en-US" sz="1400" kern="0" spc="-80" dirty="0">
                <a:solidFill>
                  <a:schemeClr val="accent6"/>
                </a:solidFill>
              </a:rPr>
              <a:t>Conformal	Shape	Navigation                                       cadastral maps	         Mercator</a:t>
            </a:r>
          </a:p>
          <a:p>
            <a:pPr marL="12700" marR="5080"/>
            <a:r>
              <a:rPr lang="en-US" sz="1400" kern="0" spc="-80" dirty="0">
                <a:solidFill>
                  <a:schemeClr val="accent6"/>
                </a:solidFill>
              </a:rPr>
              <a:t>Equal-Area	Area	Thematic                                          land-cover	                             </a:t>
            </a:r>
            <a:r>
              <a:rPr lang="en-US" sz="1400" kern="0" spc="-80" dirty="0" err="1">
                <a:solidFill>
                  <a:schemeClr val="accent6"/>
                </a:solidFill>
              </a:rPr>
              <a:t>Mollweide,Albers</a:t>
            </a:r>
            <a:endParaRPr lang="en-US" sz="1400" kern="0" spc="-80" dirty="0">
              <a:solidFill>
                <a:schemeClr val="accent6"/>
              </a:solidFill>
            </a:endParaRPr>
          </a:p>
          <a:p>
            <a:pPr marL="12700" marR="5080"/>
            <a:r>
              <a:rPr lang="en-US" sz="1400" kern="0" spc="-80" dirty="0">
                <a:solidFill>
                  <a:schemeClr val="accent6"/>
                </a:solidFill>
              </a:rPr>
              <a:t>Equidistant	Distances (along certain lines)	Radio ranges, route maps    Azimuthal </a:t>
            </a:r>
          </a:p>
          <a:p>
            <a:pPr marL="12700" marR="5080"/>
            <a:r>
              <a:rPr lang="en-US" sz="1400" kern="0" spc="-80" dirty="0">
                <a:solidFill>
                  <a:schemeClr val="accent6"/>
                </a:solidFill>
              </a:rPr>
              <a:t>                                                                                                                                                  Equidistant</a:t>
            </a:r>
          </a:p>
          <a:p>
            <a:pPr marL="12700" marR="5080"/>
            <a:r>
              <a:rPr lang="en-US" sz="1400" kern="0" spc="-80" dirty="0">
                <a:solidFill>
                  <a:schemeClr val="accent6"/>
                </a:solidFill>
              </a:rPr>
              <a:t>Compromise	Balanced distortions	                    General reference map         Robinson, Winkel </a:t>
            </a:r>
          </a:p>
          <a:p>
            <a:pPr marL="12700" marR="5080"/>
            <a:r>
              <a:rPr lang="en-US" sz="1400" kern="0" spc="-80" dirty="0">
                <a:solidFill>
                  <a:schemeClr val="accent6"/>
                </a:solidFill>
              </a:rPr>
              <a:t>                                                                                                                                                  Tripel</a:t>
            </a:r>
          </a:p>
          <a:p>
            <a:pPr marL="12700" marR="5080"/>
            <a:r>
              <a:rPr lang="en-US" sz="1400" kern="0" spc="-80" dirty="0">
                <a:solidFill>
                  <a:schemeClr val="accent2"/>
                </a:solidFill>
              </a:rPr>
              <a:t>3.3 Scale</a:t>
            </a:r>
          </a:p>
          <a:p>
            <a:pPr marL="12700" marR="5080"/>
            <a:r>
              <a:rPr lang="en-US" sz="1400" kern="0" spc="-80" dirty="0">
                <a:solidFill>
                  <a:schemeClr val="accent6"/>
                </a:solidFill>
              </a:rPr>
              <a:t>If map scale is 1:50,000 → 1 cm = 50,000 cm = 500 m on Earth.</a:t>
            </a:r>
          </a:p>
          <a:p>
            <a:pPr marL="12700" marR="5080"/>
            <a:r>
              <a:rPr lang="en-US" sz="1400" kern="0" spc="-80" dirty="0">
                <a:solidFill>
                  <a:schemeClr val="accent6"/>
                </a:solidFill>
              </a:rPr>
              <a:t>Spatial data often needs rescaling and unit conversions.</a:t>
            </a:r>
          </a:p>
        </p:txBody>
      </p:sp>
    </p:spTree>
    <p:extLst>
      <p:ext uri="{BB962C8B-B14F-4D97-AF65-F5344CB8AC3E}">
        <p14:creationId xmlns:p14="http://schemas.microsoft.com/office/powerpoint/2010/main" val="405065051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1ED22-B00C-DC6B-A747-87D3F1F9B3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C7FD05-F98D-26C2-778B-608BA4F36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A1005-4C72-D1A0-A38C-7030CEEC84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DF07EB-BFFE-A55A-F8B2-FC4000852A4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B1D6C0-4B29-6391-3205-86E33A5C838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A5A222-668B-226D-26E0-443AE9AFA5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8FE1A27-40F1-7B7B-1857-BF3283BBBC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15DE38-1A18-8C9F-BB20-6BA5D99E9D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ECD2EB-E54E-B7A4-27DB-E42379F0E3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E95404-6583-A280-C22D-0C620F849CB4}"/>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3.4 Topology</a:t>
            </a:r>
          </a:p>
          <a:p>
            <a:pPr marL="12700" marR="5080"/>
            <a:r>
              <a:rPr lang="en-US" sz="1400" kern="0" spc="-80" dirty="0">
                <a:solidFill>
                  <a:schemeClr val="accent2"/>
                </a:solidFill>
              </a:rPr>
              <a:t>Topology is relationship geometry:</a:t>
            </a:r>
          </a:p>
          <a:p>
            <a:pPr marL="12700" marR="5080"/>
            <a:r>
              <a:rPr lang="en-US" sz="1400" kern="0" spc="-80" dirty="0">
                <a:solidFill>
                  <a:schemeClr val="accent6"/>
                </a:solidFill>
              </a:rPr>
              <a:t>Adjacency (who touches whom)</a:t>
            </a:r>
          </a:p>
          <a:p>
            <a:pPr marL="12700" marR="5080"/>
            <a:r>
              <a:rPr lang="en-US" sz="1400" kern="0" spc="-80" dirty="0">
                <a:solidFill>
                  <a:schemeClr val="accent6"/>
                </a:solidFill>
              </a:rPr>
              <a:t>Connectivity (networks)</a:t>
            </a:r>
          </a:p>
          <a:p>
            <a:pPr marL="12700" marR="5080"/>
            <a:r>
              <a:rPr lang="en-US" sz="1400" kern="0" spc="-80" dirty="0">
                <a:solidFill>
                  <a:schemeClr val="accent6"/>
                </a:solidFill>
              </a:rPr>
              <a:t>Containment (inside/outside)</a:t>
            </a:r>
          </a:p>
          <a:p>
            <a:pPr marL="12700" marR="5080"/>
            <a:r>
              <a:rPr lang="en-US" sz="1400" kern="0" spc="-80" dirty="0">
                <a:solidFill>
                  <a:schemeClr val="accent6"/>
                </a:solidFill>
              </a:rPr>
              <a:t>This is the language of GIS, ensuring maps stay logically correct.</a:t>
            </a:r>
          </a:p>
          <a:p>
            <a:pPr marL="12700" marR="5080"/>
            <a:endParaRPr lang="en-US" sz="1400" kern="0" spc="-80" dirty="0">
              <a:solidFill>
                <a:schemeClr val="accent6"/>
              </a:solidFill>
            </a:endParaRPr>
          </a:p>
          <a:p>
            <a:pPr marL="12700" marR="5080"/>
            <a:r>
              <a:rPr lang="en-US" sz="1400" kern="0" spc="-80" dirty="0">
                <a:solidFill>
                  <a:schemeClr val="accent2"/>
                </a:solidFill>
              </a:rPr>
              <a:t>3.5 Geometry Simplification Algorithms (Generalization)</a:t>
            </a:r>
          </a:p>
          <a:p>
            <a:pPr marL="12700" marR="5080"/>
            <a:r>
              <a:rPr lang="en-US" sz="1400" kern="0" spc="-80" dirty="0">
                <a:solidFill>
                  <a:schemeClr val="accent2"/>
                </a:solidFill>
              </a:rPr>
              <a:t>Used to reduce shapes while keeping essence:</a:t>
            </a:r>
          </a:p>
          <a:p>
            <a:pPr marL="12700" marR="5080"/>
            <a:r>
              <a:rPr lang="en-US" sz="1400" kern="0" spc="-80" dirty="0">
                <a:solidFill>
                  <a:schemeClr val="accent2"/>
                </a:solidFill>
              </a:rPr>
              <a:t>Algorithm	                                                          Purpose</a:t>
            </a:r>
          </a:p>
          <a:p>
            <a:pPr marL="12700" marR="5080"/>
            <a:r>
              <a:rPr lang="en-US" sz="1400" kern="0" spc="-80" dirty="0">
                <a:solidFill>
                  <a:schemeClr val="accent6"/>
                </a:solidFill>
              </a:rPr>
              <a:t>Douglas–</a:t>
            </a:r>
            <a:r>
              <a:rPr lang="en-US" sz="1400" kern="0" spc="-80" dirty="0" err="1">
                <a:solidFill>
                  <a:schemeClr val="accent6"/>
                </a:solidFill>
              </a:rPr>
              <a:t>Peucker</a:t>
            </a:r>
            <a:r>
              <a:rPr lang="en-US" sz="1400" kern="0" spc="-80" dirty="0">
                <a:solidFill>
                  <a:schemeClr val="accent6"/>
                </a:solidFill>
              </a:rPr>
              <a:t>	                                       Simplify polylines while controlling error</a:t>
            </a:r>
          </a:p>
          <a:p>
            <a:pPr marL="12700" marR="5080"/>
            <a:r>
              <a:rPr lang="en-US" sz="1400" kern="0" spc="-80" dirty="0" err="1">
                <a:solidFill>
                  <a:schemeClr val="accent6"/>
                </a:solidFill>
              </a:rPr>
              <a:t>Visvalingam</a:t>
            </a:r>
            <a:r>
              <a:rPr lang="en-US" sz="1400" kern="0" spc="-80" dirty="0">
                <a:solidFill>
                  <a:schemeClr val="accent6"/>
                </a:solidFill>
              </a:rPr>
              <a:t>–Whyatt	                                       Remove least visually significant points first</a:t>
            </a:r>
          </a:p>
          <a:p>
            <a:pPr marL="12700" marR="5080"/>
            <a:r>
              <a:rPr lang="en-US" sz="1400" kern="0" spc="-80" dirty="0">
                <a:solidFill>
                  <a:schemeClr val="accent6"/>
                </a:solidFill>
              </a:rPr>
              <a:t>Topology-Preserving Simplification	Maintain boundaries &amp; adjacency</a:t>
            </a:r>
          </a:p>
          <a:p>
            <a:pPr marL="12700" marR="5080"/>
            <a:endParaRPr lang="en-US" sz="1400" kern="0" spc="-80" dirty="0">
              <a:solidFill>
                <a:schemeClr val="accent6"/>
              </a:solidFill>
            </a:endParaRPr>
          </a:p>
          <a:p>
            <a:pPr marL="12700" marR="5080"/>
            <a:r>
              <a:rPr lang="en-US" sz="1400" kern="0" spc="-80" dirty="0">
                <a:solidFill>
                  <a:schemeClr val="accent2"/>
                </a:solidFill>
              </a:rPr>
              <a:t>4. Symbolization &amp; Visual Encoding</a:t>
            </a:r>
          </a:p>
          <a:p>
            <a:pPr marL="12700" marR="5080"/>
            <a:r>
              <a:rPr lang="en-US" sz="1400" kern="0" spc="-80" dirty="0">
                <a:solidFill>
                  <a:schemeClr val="accent6"/>
                </a:solidFill>
              </a:rPr>
              <a:t>Maps convert abstract concepts into visual cues.</a:t>
            </a:r>
          </a:p>
          <a:p>
            <a:pPr marL="12700" marR="5080"/>
            <a:r>
              <a:rPr lang="en-US" sz="1400" kern="0" spc="-80" dirty="0">
                <a:solidFill>
                  <a:schemeClr val="accent2"/>
                </a:solidFill>
              </a:rPr>
              <a:t>Visual Variable	 Meaning</a:t>
            </a:r>
          </a:p>
          <a:p>
            <a:pPr marL="12700" marR="5080"/>
            <a:r>
              <a:rPr lang="en-US" sz="1400" kern="0" spc="-80" dirty="0">
                <a:solidFill>
                  <a:schemeClr val="accent6"/>
                </a:solidFill>
              </a:rPr>
              <a:t>Size	                    Magnitude</a:t>
            </a:r>
          </a:p>
          <a:p>
            <a:pPr marL="12700" marR="5080"/>
            <a:r>
              <a:rPr lang="en-US" sz="1400" kern="0" spc="-80" dirty="0">
                <a:solidFill>
                  <a:schemeClr val="accent6"/>
                </a:solidFill>
              </a:rPr>
              <a:t>Color Hue	                    Category difference</a:t>
            </a:r>
          </a:p>
          <a:p>
            <a:pPr marL="12700" marR="5080"/>
            <a:r>
              <a:rPr lang="en-US" sz="1400" kern="0" spc="-80" dirty="0">
                <a:solidFill>
                  <a:schemeClr val="accent6"/>
                </a:solidFill>
              </a:rPr>
              <a:t>Color Value	 Intensity or quantity</a:t>
            </a:r>
          </a:p>
          <a:p>
            <a:pPr marL="12700" marR="5080"/>
            <a:r>
              <a:rPr lang="en-US" sz="1400" kern="0" spc="-80" dirty="0">
                <a:solidFill>
                  <a:schemeClr val="accent6"/>
                </a:solidFill>
              </a:rPr>
              <a:t>Texture / Pattern	 Type of land use or terrain</a:t>
            </a:r>
          </a:p>
          <a:p>
            <a:pPr marL="12700" marR="5080"/>
            <a:r>
              <a:rPr lang="en-US" sz="1400" kern="0" spc="-80" dirty="0">
                <a:solidFill>
                  <a:schemeClr val="accent6"/>
                </a:solidFill>
              </a:rPr>
              <a:t>Orientation	 Directionality</a:t>
            </a:r>
          </a:p>
          <a:p>
            <a:pPr marL="12700" marR="5080"/>
            <a:r>
              <a:rPr lang="en-US" sz="1400" kern="0" spc="-80" dirty="0">
                <a:solidFill>
                  <a:schemeClr val="accent6"/>
                </a:solidFill>
              </a:rPr>
              <a:t>Shape	                    Type / Class differences</a:t>
            </a:r>
          </a:p>
        </p:txBody>
      </p:sp>
    </p:spTree>
    <p:extLst>
      <p:ext uri="{BB962C8B-B14F-4D97-AF65-F5344CB8AC3E}">
        <p14:creationId xmlns:p14="http://schemas.microsoft.com/office/powerpoint/2010/main" val="4281287713"/>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B637B-83D6-8331-DD1C-E6712903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808D24-A09E-2980-E56B-8225382B83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1333E4-4B5D-F279-A961-933DEFB3F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50CC26A-732E-ECBA-D2B9-96EF6D58773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B1D5D9-3394-268A-C02E-A88A694B69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6408D8-8275-D4CB-1581-0CB771ADC3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8D9B54-E2C1-E9E8-2FD3-658AE9009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F9249C-12E4-7C5A-AD24-81279B2D6FA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97FF54-60AA-BC89-052C-2D34655189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22ECD5-BCEE-9605-317E-36C8A1F6EBA4}"/>
              </a:ext>
            </a:extLst>
          </p:cNvPr>
          <p:cNvSpPr txBox="1">
            <a:spLocks/>
          </p:cNvSpPr>
          <p:nvPr/>
        </p:nvSpPr>
        <p:spPr>
          <a:xfrm>
            <a:off x="228600" y="762000"/>
            <a:ext cx="8624937" cy="46012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The mathematics of color selection often uses:</a:t>
            </a:r>
          </a:p>
          <a:p>
            <a:pPr marL="12700" marR="5080"/>
            <a:r>
              <a:rPr lang="en-US" sz="1400" kern="0" spc="-80" dirty="0">
                <a:solidFill>
                  <a:schemeClr val="accent6"/>
                </a:solidFill>
              </a:rPr>
              <a:t>CIELAB color spaces for perceptual uniformity</a:t>
            </a:r>
          </a:p>
          <a:p>
            <a:pPr marL="12700" marR="5080"/>
            <a:r>
              <a:rPr lang="en-US" sz="1400" kern="0" spc="-80" dirty="0">
                <a:solidFill>
                  <a:schemeClr val="accent6"/>
                </a:solidFill>
              </a:rPr>
              <a:t>Sequential / Divergent / Qualitative color schemes (e.g., </a:t>
            </a:r>
            <a:r>
              <a:rPr lang="en-US" sz="1400" kern="0" spc="-80" dirty="0" err="1">
                <a:solidFill>
                  <a:schemeClr val="accent6"/>
                </a:solidFill>
              </a:rPr>
              <a:t>ColorBrewer</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 Classification Methods (Thematic Mapping)</a:t>
            </a:r>
          </a:p>
          <a:p>
            <a:pPr marL="12700" marR="5080"/>
            <a:r>
              <a:rPr lang="en-US" sz="1400" kern="0" spc="-80" dirty="0">
                <a:solidFill>
                  <a:schemeClr val="accent2"/>
                </a:solidFill>
              </a:rPr>
              <a:t>If mapping numerical values (population, rainfall):</a:t>
            </a:r>
          </a:p>
          <a:p>
            <a:pPr marL="12700" marR="5080"/>
            <a:r>
              <a:rPr lang="en-US" sz="1400" kern="0" spc="-80" dirty="0">
                <a:solidFill>
                  <a:schemeClr val="accent2"/>
                </a:solidFill>
              </a:rPr>
              <a:t>Method	                          Logic	                                                          When to Use</a:t>
            </a:r>
          </a:p>
          <a:p>
            <a:pPr marL="12700" marR="5080"/>
            <a:r>
              <a:rPr lang="en-US" sz="1400" kern="0" spc="-80" dirty="0">
                <a:solidFill>
                  <a:schemeClr val="accent6"/>
                </a:solidFill>
              </a:rPr>
              <a:t>Equal Interval	       Same range per class	                   Evenly distributed data</a:t>
            </a:r>
          </a:p>
          <a:p>
            <a:pPr marL="12700" marR="5080"/>
            <a:r>
              <a:rPr lang="en-US" sz="1400" kern="0" spc="-80" dirty="0">
                <a:solidFill>
                  <a:schemeClr val="accent6"/>
                </a:solidFill>
              </a:rPr>
              <a:t>Quantiles	                          Equal count per class	                   Skewed data</a:t>
            </a:r>
          </a:p>
          <a:p>
            <a:pPr marL="12700" marR="5080"/>
            <a:r>
              <a:rPr lang="en-US" sz="1400" kern="0" spc="-80" dirty="0">
                <a:solidFill>
                  <a:schemeClr val="accent6"/>
                </a:solidFill>
              </a:rPr>
              <a:t>Natural Breaks (Jenks)       Minimizes variation within classes	Most common, data-driven</a:t>
            </a:r>
          </a:p>
          <a:p>
            <a:pPr marL="12700" marR="5080"/>
            <a:r>
              <a:rPr lang="en-US" sz="1400" kern="0" spc="-80" dirty="0">
                <a:solidFill>
                  <a:schemeClr val="accent6"/>
                </a:solidFill>
              </a:rPr>
              <a:t>Standard Deviation	       Based on mean deviation	                   Emphasizing variance</a:t>
            </a:r>
          </a:p>
          <a:p>
            <a:pPr marL="12700" marR="5080"/>
            <a:endParaRPr lang="en-US" sz="1400" kern="0" spc="-80" dirty="0">
              <a:solidFill>
                <a:schemeClr val="accent6"/>
              </a:solidFill>
            </a:endParaRPr>
          </a:p>
          <a:p>
            <a:pPr marL="12700" marR="5080"/>
            <a:r>
              <a:rPr lang="en-US" sz="1400" kern="0" spc="-80" dirty="0">
                <a:solidFill>
                  <a:schemeClr val="accent2"/>
                </a:solidFill>
              </a:rPr>
              <a:t>6. Map Layout &amp; Composition Principles</a:t>
            </a:r>
          </a:p>
          <a:p>
            <a:pPr marL="12700" marR="5080"/>
            <a:r>
              <a:rPr lang="en-US" sz="1400" kern="0" spc="-80" dirty="0">
                <a:solidFill>
                  <a:schemeClr val="accent2"/>
                </a:solidFill>
              </a:rPr>
              <a:t>Maps must guide the eye:</a:t>
            </a:r>
          </a:p>
          <a:p>
            <a:pPr marL="12700" marR="5080"/>
            <a:r>
              <a:rPr lang="en-US" sz="1400" kern="0" spc="-80" dirty="0">
                <a:solidFill>
                  <a:schemeClr val="accent2"/>
                </a:solidFill>
              </a:rPr>
              <a:t>Visual hierarchy:</a:t>
            </a:r>
            <a:r>
              <a:rPr lang="en-US" sz="1400" kern="0" spc="-80" dirty="0">
                <a:solidFill>
                  <a:schemeClr val="accent6"/>
                </a:solidFill>
              </a:rPr>
              <a:t> Important elements appear stronger.</a:t>
            </a:r>
          </a:p>
          <a:p>
            <a:pPr marL="12700" marR="5080"/>
            <a:r>
              <a:rPr lang="en-US" sz="1400" kern="0" spc="-80" dirty="0">
                <a:solidFill>
                  <a:schemeClr val="accent6"/>
                </a:solidFill>
              </a:rPr>
              <a:t>Alignment forms invisible gravitational lines.</a:t>
            </a:r>
          </a:p>
          <a:p>
            <a:pPr marL="12700" marR="5080"/>
            <a:r>
              <a:rPr lang="en-US" sz="1400" kern="0" spc="-80" dirty="0">
                <a:solidFill>
                  <a:schemeClr val="accent2"/>
                </a:solidFill>
              </a:rPr>
              <a:t>Balance: </a:t>
            </a:r>
            <a:r>
              <a:rPr lang="en-US" sz="1400" kern="0" spc="-80" dirty="0">
                <a:solidFill>
                  <a:schemeClr val="accent6"/>
                </a:solidFill>
              </a:rPr>
              <a:t>Left/right, top/bottom weight feels stable.</a:t>
            </a:r>
          </a:p>
          <a:p>
            <a:pPr marL="12700" marR="5080"/>
            <a:r>
              <a:rPr lang="en-US" sz="1400" kern="0" spc="-80" dirty="0">
                <a:solidFill>
                  <a:schemeClr val="accent2"/>
                </a:solidFill>
              </a:rPr>
              <a:t>White space: </a:t>
            </a:r>
            <a:r>
              <a:rPr lang="en-US" sz="1400" kern="0" spc="-80" dirty="0">
                <a:solidFill>
                  <a:schemeClr val="accent6"/>
                </a:solidFill>
              </a:rPr>
              <a:t>The map breathes.</a:t>
            </a:r>
          </a:p>
          <a:p>
            <a:pPr marL="12700" marR="5080"/>
            <a:r>
              <a:rPr lang="en-US" sz="1400" kern="0" spc="-80" dirty="0">
                <a:solidFill>
                  <a:schemeClr val="accent6"/>
                </a:solidFill>
              </a:rPr>
              <a:t>A good map has rhythm.</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18598112"/>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E001-7026-FC73-5D94-A4B790D47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D9287-5EC2-ABEC-D92B-59F3F44C7F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D57EBE-FDBE-7C5B-4BE3-DD4A65AC9E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487AC8-F0E6-E488-628E-E21B5DA6B5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F6E954-F3DB-506C-7B60-417EE7CA1F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567472-5AEE-A31E-5CEC-07B55704101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E8C5FB-331C-6DE8-B7B5-341889D765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E99730-6049-4BB0-574B-DA3687499DF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50EE08C-FD86-8979-E027-AEF49AB32C8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C339A5-26EF-C374-0C24-277FBC7B29A3}"/>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7. Cartographic Techniques in Practice</a:t>
            </a:r>
          </a:p>
          <a:p>
            <a:pPr marL="12700" marR="5080"/>
            <a:r>
              <a:rPr lang="en-US" sz="1400" kern="0" spc="-80" dirty="0">
                <a:solidFill>
                  <a:schemeClr val="accent2"/>
                </a:solidFill>
              </a:rPr>
              <a:t>Task	                                                 Techniques Used</a:t>
            </a:r>
          </a:p>
          <a:p>
            <a:pPr marL="12700" marR="5080"/>
            <a:r>
              <a:rPr lang="en-US" sz="1400" kern="0" spc="-80" dirty="0">
                <a:solidFill>
                  <a:schemeClr val="accent6"/>
                </a:solidFill>
              </a:rPr>
              <a:t>Terrain Representation	          </a:t>
            </a:r>
            <a:r>
              <a:rPr lang="en-US" sz="1400" kern="0" spc="-80" dirty="0" err="1">
                <a:solidFill>
                  <a:schemeClr val="accent6"/>
                </a:solidFill>
              </a:rPr>
              <a:t>Hillshading</a:t>
            </a:r>
            <a:r>
              <a:rPr lang="en-US" sz="1400" kern="0" spc="-80" dirty="0">
                <a:solidFill>
                  <a:schemeClr val="accent6"/>
                </a:solidFill>
              </a:rPr>
              <a:t>, hypsometric tints, slope maps</a:t>
            </a:r>
          </a:p>
          <a:p>
            <a:pPr marL="12700" marR="5080"/>
            <a:r>
              <a:rPr lang="en-US" sz="1400" kern="0" spc="-80" dirty="0">
                <a:solidFill>
                  <a:schemeClr val="accent6"/>
                </a:solidFill>
              </a:rPr>
              <a:t>3D Cartography	                             Perspective projection, shaded relief, DEMs</a:t>
            </a:r>
          </a:p>
          <a:p>
            <a:pPr marL="12700" marR="5080"/>
            <a:r>
              <a:rPr lang="en-US" sz="1400" kern="0" spc="-80" dirty="0">
                <a:solidFill>
                  <a:schemeClr val="accent6"/>
                </a:solidFill>
              </a:rPr>
              <a:t>Choropleth Maps	                             Data classification + color schemes</a:t>
            </a:r>
          </a:p>
          <a:p>
            <a:pPr marL="12700" marR="5080"/>
            <a:r>
              <a:rPr lang="en-US" sz="1400" kern="0" spc="-80" dirty="0">
                <a:solidFill>
                  <a:schemeClr val="accent6"/>
                </a:solidFill>
              </a:rPr>
              <a:t>Isoline / Contour Mapping	          Interpolation (IDW, Kriging, Spline)</a:t>
            </a:r>
          </a:p>
          <a:p>
            <a:pPr marL="12700" marR="5080"/>
            <a:r>
              <a:rPr lang="en-US" sz="1400" kern="0" spc="-80" dirty="0">
                <a:solidFill>
                  <a:schemeClr val="accent6"/>
                </a:solidFill>
              </a:rPr>
              <a:t>Flow Maps	                                                 Network routing + proportional lines</a:t>
            </a:r>
          </a:p>
          <a:p>
            <a:pPr marL="12700" marR="5080"/>
            <a:r>
              <a:rPr lang="en-US" sz="1400" kern="0" spc="-80" dirty="0">
                <a:solidFill>
                  <a:schemeClr val="accent6"/>
                </a:solidFill>
              </a:rPr>
              <a:t>Dot Density Maps	                             Randomized or centroid-based point placement</a:t>
            </a:r>
          </a:p>
          <a:p>
            <a:pPr marL="12700" marR="5080"/>
            <a:endParaRPr lang="en-US" sz="1400" kern="0" spc="-80" dirty="0">
              <a:solidFill>
                <a:schemeClr val="accent6"/>
              </a:solidFill>
            </a:endParaRPr>
          </a:p>
          <a:p>
            <a:pPr marL="12700" marR="5080"/>
            <a:r>
              <a:rPr lang="en-US" sz="1400" kern="0" spc="-80" dirty="0">
                <a:solidFill>
                  <a:schemeClr val="accent2"/>
                </a:solidFill>
              </a:rPr>
              <a:t>8. Digital Cartography &amp; Modern Tooling</a:t>
            </a:r>
          </a:p>
          <a:p>
            <a:pPr marL="12700" marR="5080"/>
            <a:r>
              <a:rPr lang="en-US" sz="1400" kern="0" spc="-80" dirty="0">
                <a:solidFill>
                  <a:schemeClr val="accent2"/>
                </a:solidFill>
              </a:rPr>
              <a:t>Software</a:t>
            </a:r>
          </a:p>
          <a:p>
            <a:pPr marL="12700" marR="5080"/>
            <a:r>
              <a:rPr lang="en-US" sz="1400" kern="0" spc="-80" dirty="0">
                <a:solidFill>
                  <a:schemeClr val="accent6"/>
                </a:solidFill>
              </a:rPr>
              <a:t>QGIS</a:t>
            </a:r>
          </a:p>
          <a:p>
            <a:pPr marL="12700" marR="5080"/>
            <a:r>
              <a:rPr lang="en-US" sz="1400" kern="0" spc="-80" dirty="0">
                <a:solidFill>
                  <a:schemeClr val="accent6"/>
                </a:solidFill>
              </a:rPr>
              <a:t>ArcGIS</a:t>
            </a:r>
          </a:p>
          <a:p>
            <a:pPr marL="12700" marR="5080"/>
            <a:r>
              <a:rPr lang="en-US" sz="1400" kern="0" spc="-80" dirty="0" err="1">
                <a:solidFill>
                  <a:schemeClr val="accent6"/>
                </a:solidFill>
              </a:rPr>
              <a:t>Mapbox</a:t>
            </a:r>
            <a:r>
              <a:rPr lang="en-US" sz="1400" kern="0" spc="-80" dirty="0">
                <a:solidFill>
                  <a:schemeClr val="accent6"/>
                </a:solidFill>
              </a:rPr>
              <a:t> Studio</a:t>
            </a:r>
          </a:p>
          <a:p>
            <a:pPr marL="12700" marR="5080"/>
            <a:r>
              <a:rPr lang="en-US" sz="1400" kern="0" spc="-80" dirty="0">
                <a:solidFill>
                  <a:schemeClr val="accent6"/>
                </a:solidFill>
              </a:rPr>
              <a:t>D3.js</a:t>
            </a:r>
          </a:p>
          <a:p>
            <a:pPr marL="12700" marR="5080"/>
            <a:r>
              <a:rPr lang="en-US" sz="1400" kern="0" spc="-80" dirty="0">
                <a:solidFill>
                  <a:schemeClr val="accent6"/>
                </a:solidFill>
              </a:rPr>
              <a:t>Blender + GIS plugins (for cinematic cartography)</a:t>
            </a:r>
          </a:p>
          <a:p>
            <a:pPr marL="12700" marR="5080"/>
            <a:r>
              <a:rPr lang="en-US" sz="1400" kern="0" spc="-80" dirty="0">
                <a:solidFill>
                  <a:schemeClr val="accent2"/>
                </a:solidFill>
              </a:rPr>
              <a:t>Data Formats</a:t>
            </a:r>
          </a:p>
          <a:p>
            <a:pPr marL="12700" marR="5080"/>
            <a:r>
              <a:rPr lang="en-US" sz="1400" kern="0" spc="-80" dirty="0">
                <a:solidFill>
                  <a:schemeClr val="accent2"/>
                </a:solidFill>
              </a:rPr>
              <a:t>Vector: </a:t>
            </a:r>
            <a:r>
              <a:rPr lang="en-US" sz="1400" kern="0" spc="-80" dirty="0">
                <a:solidFill>
                  <a:schemeClr val="accent6"/>
                </a:solidFill>
              </a:rPr>
              <a:t>Shapefile, </a:t>
            </a:r>
            <a:r>
              <a:rPr lang="en-US" sz="1400" kern="0" spc="-80" dirty="0" err="1">
                <a:solidFill>
                  <a:schemeClr val="accent6"/>
                </a:solidFill>
              </a:rPr>
              <a:t>GeoJSON</a:t>
            </a:r>
            <a:endParaRPr lang="en-US" sz="1400" kern="0" spc="-80" dirty="0">
              <a:solidFill>
                <a:schemeClr val="accent6"/>
              </a:solidFill>
            </a:endParaRPr>
          </a:p>
          <a:p>
            <a:pPr marL="12700" marR="5080"/>
            <a:r>
              <a:rPr lang="en-US" sz="1400" kern="0" spc="-80" dirty="0">
                <a:solidFill>
                  <a:schemeClr val="accent2"/>
                </a:solidFill>
              </a:rPr>
              <a:t>Raster: </a:t>
            </a:r>
            <a:r>
              <a:rPr lang="en-US" sz="1400" kern="0" spc="-80" dirty="0" err="1">
                <a:solidFill>
                  <a:schemeClr val="accent6"/>
                </a:solidFill>
              </a:rPr>
              <a:t>GeoTIFF</a:t>
            </a:r>
            <a:r>
              <a:rPr lang="en-US" sz="1400" kern="0" spc="-80" dirty="0">
                <a:solidFill>
                  <a:schemeClr val="accent6"/>
                </a:solidFill>
              </a:rPr>
              <a:t>, COG</a:t>
            </a:r>
          </a:p>
          <a:p>
            <a:pPr marL="12700" marR="5080"/>
            <a:r>
              <a:rPr lang="en-US" sz="1400" kern="0" spc="-80" dirty="0">
                <a:solidFill>
                  <a:schemeClr val="accent2"/>
                </a:solidFill>
              </a:rPr>
              <a:t>Elevation Models: </a:t>
            </a:r>
            <a:r>
              <a:rPr lang="en-US" sz="1400" kern="0" spc="-80" dirty="0">
                <a:solidFill>
                  <a:schemeClr val="accent6"/>
                </a:solidFill>
              </a:rPr>
              <a:t>SRTM, DEM, DSM, DTM</a:t>
            </a:r>
          </a:p>
          <a:p>
            <a:pPr marL="12700" marR="5080"/>
            <a:r>
              <a:rPr lang="en-US" sz="1400" kern="0" spc="-80" dirty="0">
                <a:solidFill>
                  <a:schemeClr val="accent2"/>
                </a:solidFill>
              </a:rPr>
              <a:t>Rendering Pipelines</a:t>
            </a:r>
          </a:p>
          <a:p>
            <a:pPr marL="12700" marR="5080"/>
            <a:r>
              <a:rPr lang="en-US" sz="1400" kern="0" spc="-80" dirty="0">
                <a:solidFill>
                  <a:schemeClr val="accent6"/>
                </a:solidFill>
              </a:rPr>
              <a:t>GPU tile rendering (</a:t>
            </a:r>
            <a:r>
              <a:rPr lang="en-US" sz="1400" kern="0" spc="-80" dirty="0" err="1">
                <a:solidFill>
                  <a:schemeClr val="accent6"/>
                </a:solidFill>
              </a:rPr>
              <a:t>Mapbox</a:t>
            </a:r>
            <a:r>
              <a:rPr lang="en-US" sz="1400" kern="0" spc="-80" dirty="0">
                <a:solidFill>
                  <a:schemeClr val="accent6"/>
                </a:solidFill>
              </a:rPr>
              <a:t> GL)</a:t>
            </a:r>
          </a:p>
          <a:p>
            <a:pPr marL="12700" marR="5080"/>
            <a:r>
              <a:rPr lang="en-US" sz="1400" kern="0" spc="-80" dirty="0">
                <a:solidFill>
                  <a:schemeClr val="accent6"/>
                </a:solidFill>
              </a:rPr>
              <a:t>Vector tiling &amp; web map streaming</a:t>
            </a:r>
          </a:p>
        </p:txBody>
      </p:sp>
    </p:spTree>
    <p:extLst>
      <p:ext uri="{BB962C8B-B14F-4D97-AF65-F5344CB8AC3E}">
        <p14:creationId xmlns:p14="http://schemas.microsoft.com/office/powerpoint/2010/main" val="145974477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78D1E-18CF-8EB4-3477-C329642122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839592-7CC2-D762-C768-FD956763D2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216890-1273-D964-9699-D1355BB5CF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2E1470-E7CB-D483-8F3E-C33C11432C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D602A4-D565-EBC1-EEE4-4C5471BB2E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BA7E0-2C78-3F07-18BD-BB9BB788A9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E7B4C1E-76AC-9237-60FB-EF22575AE3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1265CC-7B4F-D78A-E48D-F9FD4B592F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BFA4A1-8C24-5A61-0018-FFE6B91494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F26231-FF63-0EE6-2253-D1DF56B708B5}"/>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9. The Philosophy of Good Cartography</a:t>
            </a:r>
          </a:p>
          <a:p>
            <a:pPr marL="12700" marR="5080"/>
            <a:r>
              <a:rPr lang="en-US" sz="1400" kern="0" spc="-80" dirty="0">
                <a:solidFill>
                  <a:schemeClr val="accent6"/>
                </a:solidFill>
              </a:rPr>
              <a:t>A map is never </a:t>
            </a:r>
            <a:r>
              <a:rPr lang="en-US" sz="1400" kern="0" spc="-80" dirty="0" err="1">
                <a:solidFill>
                  <a:schemeClr val="accent6"/>
                </a:solidFill>
              </a:rPr>
              <a:t>neutral.It</a:t>
            </a:r>
            <a:r>
              <a:rPr lang="en-US" sz="1400" kern="0" spc="-80" dirty="0">
                <a:solidFill>
                  <a:schemeClr val="accent6"/>
                </a:solidFill>
              </a:rPr>
              <a:t> is always designed to emphasize something.</a:t>
            </a:r>
          </a:p>
          <a:p>
            <a:pPr marL="12700" marR="5080"/>
            <a:r>
              <a:rPr lang="en-US" sz="1400" kern="0" spc="-80" dirty="0">
                <a:solidFill>
                  <a:schemeClr val="accent2"/>
                </a:solidFill>
              </a:rPr>
              <a:t>Good cartography is:</a:t>
            </a:r>
          </a:p>
          <a:p>
            <a:pPr marL="12700" marR="5080"/>
            <a:r>
              <a:rPr lang="en-US" sz="1400" kern="0" spc="-80" dirty="0">
                <a:solidFill>
                  <a:schemeClr val="accent6"/>
                </a:solidFill>
              </a:rPr>
              <a:t>Honest about scale &amp; projection limitations</a:t>
            </a:r>
          </a:p>
          <a:p>
            <a:pPr marL="12700" marR="5080"/>
            <a:r>
              <a:rPr lang="en-US" sz="1400" kern="0" spc="-80" dirty="0">
                <a:solidFill>
                  <a:schemeClr val="accent6"/>
                </a:solidFill>
              </a:rPr>
              <a:t>Aware of visual bias</a:t>
            </a:r>
          </a:p>
          <a:p>
            <a:pPr marL="12700" marR="5080"/>
            <a:r>
              <a:rPr lang="en-US" sz="1400" kern="0" spc="-80" dirty="0">
                <a:solidFill>
                  <a:schemeClr val="accent6"/>
                </a:solidFill>
              </a:rPr>
              <a:t>Clear in message</a:t>
            </a:r>
          </a:p>
          <a:p>
            <a:pPr marL="12700" marR="5080"/>
            <a:r>
              <a:rPr lang="en-US" sz="1400" kern="0" spc="-80" dirty="0">
                <a:solidFill>
                  <a:schemeClr val="accent6"/>
                </a:solidFill>
              </a:rPr>
              <a:t>Graceful in appearance</a:t>
            </a:r>
          </a:p>
          <a:p>
            <a:pPr marL="12700" marR="5080"/>
            <a:r>
              <a:rPr lang="en-US" sz="1400" kern="0" spc="-80" dirty="0">
                <a:solidFill>
                  <a:schemeClr val="accent2"/>
                </a:solidFill>
              </a:rPr>
              <a:t>Bad cartography is:</a:t>
            </a:r>
          </a:p>
          <a:p>
            <a:pPr marL="12700" marR="5080"/>
            <a:r>
              <a:rPr lang="en-US" sz="1400" kern="0" spc="-80" dirty="0">
                <a:solidFill>
                  <a:schemeClr val="accent6"/>
                </a:solidFill>
              </a:rPr>
              <a:t>Cluttered</a:t>
            </a:r>
          </a:p>
          <a:p>
            <a:pPr marL="12700" marR="5080"/>
            <a:r>
              <a:rPr lang="en-US" sz="1400" kern="0" spc="-80" dirty="0">
                <a:solidFill>
                  <a:schemeClr val="accent6"/>
                </a:solidFill>
              </a:rPr>
              <a:t>Misleading</a:t>
            </a:r>
          </a:p>
          <a:p>
            <a:pPr marL="12700" marR="5080"/>
            <a:r>
              <a:rPr lang="en-US" sz="1400" kern="0" spc="-80" dirty="0">
                <a:solidFill>
                  <a:schemeClr val="accent6"/>
                </a:solidFill>
              </a:rPr>
              <a:t>Overly literal or overly abstract</a:t>
            </a:r>
          </a:p>
          <a:p>
            <a:pPr marL="12700" marR="5080"/>
            <a:r>
              <a:rPr lang="en-US" sz="1400" kern="0" spc="-80" dirty="0">
                <a:solidFill>
                  <a:schemeClr val="accent6"/>
                </a:solidFill>
              </a:rPr>
              <a:t>Emotionless</a:t>
            </a:r>
          </a:p>
          <a:p>
            <a:pPr marL="12700" marR="5080"/>
            <a:r>
              <a:rPr lang="en-US" sz="1400" kern="0" spc="-80" dirty="0">
                <a:solidFill>
                  <a:schemeClr val="accent2"/>
                </a:solidFill>
              </a:rPr>
              <a:t>A map should feel like a spatial poem. </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600" kern="0" spc="-80" dirty="0">
                <a:solidFill>
                  <a:schemeClr val="accent2"/>
                </a:solidFill>
              </a:rPr>
              <a:t>Layering Techniques</a:t>
            </a:r>
          </a:p>
          <a:p>
            <a:pPr marL="12700" marR="5080"/>
            <a:r>
              <a:rPr lang="en-US" sz="1400" kern="0" spc="-80" dirty="0">
                <a:solidFill>
                  <a:schemeClr val="accent6"/>
                </a:solidFill>
              </a:rPr>
              <a:t>Imagine a map as a layered cake of spatial meaning: each layer is a thin sheet of logic, geometry, and story, stacked so the world reveals itself in slices. Map layering techniques and algorithms are the craft of arranging these sheets so geography becomes understandable, navigable, maybe even beautiful.</a:t>
            </a:r>
          </a:p>
          <a:p>
            <a:pPr marL="12700" marR="5080"/>
            <a:endParaRPr lang="en-US" sz="1400" kern="0" spc="-80" dirty="0">
              <a:solidFill>
                <a:schemeClr val="accent6"/>
              </a:solidFill>
            </a:endParaRPr>
          </a:p>
          <a:p>
            <a:pPr marL="12700" marR="5080"/>
            <a:r>
              <a:rPr lang="en-US" sz="1400" kern="0" spc="-80" dirty="0">
                <a:solidFill>
                  <a:schemeClr val="accent2"/>
                </a:solidFill>
              </a:rPr>
              <a:t>1) What is a Map Layer, Conceptually?</a:t>
            </a:r>
          </a:p>
          <a:p>
            <a:pPr marL="12700" marR="5080"/>
            <a:r>
              <a:rPr lang="en-US" sz="1400" kern="0" spc="-80" dirty="0">
                <a:solidFill>
                  <a:schemeClr val="accent6"/>
                </a:solidFill>
              </a:rPr>
              <a:t>A layer is a spatial dataset containing one type of geographic feature or theme: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6341453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096E9-DF1F-3587-C5D9-C900A3B5A1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1D8D60-2260-517B-5764-38A59D32FC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0F37EB-D688-D61F-6002-5ED5E143ED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F3CA7A-BA7D-B679-0D45-53CA86CC32E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570F87F-46A5-3A58-243A-CAF52811B74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A87C2-0AB6-6464-3234-C6CE2E94C1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CD70A4-015D-276D-5708-0BECE78310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2AC970-F86D-09B5-7441-E5190F726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ABD562-01FA-29A3-5B28-B89D058F8C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280103A6-B823-5DB3-F8B9-BC56B6C580E7}"/>
              </a:ext>
            </a:extLst>
          </p:cNvPr>
          <p:cNvSpPr txBox="1">
            <a:spLocks/>
          </p:cNvSpPr>
          <p:nvPr/>
        </p:nvSpPr>
        <p:spPr>
          <a:xfrm>
            <a:off x="228600" y="762000"/>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Layer	                   Content Example	                   Geometry Type</a:t>
            </a:r>
          </a:p>
          <a:p>
            <a:pPr marL="12700" marR="5080"/>
            <a:r>
              <a:rPr lang="en-US" sz="1400" kern="0" spc="-80" dirty="0">
                <a:solidFill>
                  <a:schemeClr val="accent6"/>
                </a:solidFill>
              </a:rPr>
              <a:t>Base terrain	Elevation, slope, landcover	Raster</a:t>
            </a:r>
          </a:p>
          <a:p>
            <a:pPr marL="12700" marR="5080"/>
            <a:r>
              <a:rPr lang="en-US" sz="1400" kern="0" spc="-80" dirty="0">
                <a:solidFill>
                  <a:schemeClr val="accent6"/>
                </a:solidFill>
              </a:rPr>
              <a:t>Hydrography	Rivers, lakes	                    Line/Polygon</a:t>
            </a:r>
          </a:p>
          <a:p>
            <a:pPr marL="12700" marR="5080"/>
            <a:r>
              <a:rPr lang="en-US" sz="1400" kern="0" spc="-80" dirty="0">
                <a:solidFill>
                  <a:schemeClr val="accent6"/>
                </a:solidFill>
              </a:rPr>
              <a:t>Transportation	Roads, railways	                    Line</a:t>
            </a:r>
          </a:p>
          <a:p>
            <a:pPr marL="12700" marR="5080"/>
            <a:r>
              <a:rPr lang="en-US" sz="1400" kern="0" spc="-80" dirty="0">
                <a:solidFill>
                  <a:schemeClr val="accent6"/>
                </a:solidFill>
              </a:rPr>
              <a:t>Boundaries	Countries, districts	                    Polygon</a:t>
            </a:r>
          </a:p>
          <a:p>
            <a:pPr marL="12700" marR="5080"/>
            <a:r>
              <a:rPr lang="en-US" sz="1400" kern="0" spc="-80" dirty="0">
                <a:solidFill>
                  <a:schemeClr val="accent6"/>
                </a:solidFill>
              </a:rPr>
              <a:t>POIs	                    Schools, hospitals	                    Points</a:t>
            </a:r>
          </a:p>
          <a:p>
            <a:pPr marL="12700" marR="5080"/>
            <a:r>
              <a:rPr lang="en-US" sz="1400" kern="0" spc="-80" dirty="0">
                <a:solidFill>
                  <a:schemeClr val="accent2"/>
                </a:solidFill>
              </a:rPr>
              <a:t>Layer stacks let us compare and analyze relationships:</a:t>
            </a:r>
          </a:p>
          <a:p>
            <a:pPr marL="12700" marR="5080"/>
            <a:r>
              <a:rPr lang="en-US" sz="1400" kern="0" spc="-80" dirty="0">
                <a:solidFill>
                  <a:schemeClr val="accent6"/>
                </a:solidFill>
              </a:rPr>
              <a:t>Roads (line) crossing rivers (polygon) require bridges.</a:t>
            </a:r>
          </a:p>
          <a:p>
            <a:pPr marL="12700" marR="5080"/>
            <a:r>
              <a:rPr lang="en-US" sz="1400" kern="0" spc="-80" dirty="0">
                <a:solidFill>
                  <a:schemeClr val="accent6"/>
                </a:solidFill>
              </a:rPr>
              <a:t>Hospitals (point) should lie within city boundaries (polygon).</a:t>
            </a:r>
          </a:p>
          <a:p>
            <a:pPr marL="12700" marR="5080"/>
            <a:r>
              <a:rPr lang="en-US" sz="1400" kern="0" spc="-80" dirty="0">
                <a:solidFill>
                  <a:schemeClr val="accent6"/>
                </a:solidFill>
              </a:rPr>
              <a:t>Vegetation (raster) changes with altitude (raster).</a:t>
            </a:r>
          </a:p>
          <a:p>
            <a:pPr marL="12700" marR="5080"/>
            <a:endParaRPr lang="en-US" sz="1400" kern="0" spc="-80" dirty="0">
              <a:solidFill>
                <a:schemeClr val="accent6"/>
              </a:solidFill>
            </a:endParaRPr>
          </a:p>
          <a:p>
            <a:pPr marL="12700" marR="5080"/>
            <a:r>
              <a:rPr lang="en-US" sz="1400" kern="0" spc="-80" dirty="0">
                <a:solidFill>
                  <a:schemeClr val="accent2"/>
                </a:solidFill>
              </a:rPr>
              <a:t>2) Core Layering Techniques (Cartographic + GIS)</a:t>
            </a:r>
          </a:p>
          <a:p>
            <a:pPr marL="12700" marR="5080"/>
            <a:r>
              <a:rPr lang="en-US" sz="1400" kern="0" spc="-80" dirty="0">
                <a:solidFill>
                  <a:schemeClr val="accent2"/>
                </a:solidFill>
              </a:rPr>
              <a:t>A) Visual Layer Ordering</a:t>
            </a:r>
          </a:p>
          <a:p>
            <a:pPr marL="12700" marR="5080"/>
            <a:r>
              <a:rPr lang="en-US" sz="1400" kern="0" spc="-80" dirty="0">
                <a:solidFill>
                  <a:schemeClr val="accent6"/>
                </a:solidFill>
              </a:rPr>
              <a:t>Which layer sits on top matters. </a:t>
            </a:r>
          </a:p>
          <a:p>
            <a:pPr marL="12700" marR="5080"/>
            <a:r>
              <a:rPr lang="en-US" sz="1400" kern="0" spc="-80" dirty="0">
                <a:solidFill>
                  <a:schemeClr val="accent2"/>
                </a:solidFill>
              </a:rPr>
              <a:t>Usually:</a:t>
            </a:r>
          </a:p>
          <a:p>
            <a:pPr marL="12700" marR="5080"/>
            <a:r>
              <a:rPr lang="en-US" sz="1400" kern="0" spc="-80" dirty="0">
                <a:solidFill>
                  <a:schemeClr val="accent2"/>
                </a:solidFill>
              </a:rPr>
              <a:t>Bottom:</a:t>
            </a:r>
            <a:r>
              <a:rPr lang="en-US" sz="1400" kern="0" spc="-80" dirty="0">
                <a:solidFill>
                  <a:schemeClr val="accent6"/>
                </a:solidFill>
              </a:rPr>
              <a:t> Terrain + satellite</a:t>
            </a:r>
          </a:p>
          <a:p>
            <a:pPr marL="12700" marR="5080"/>
            <a:r>
              <a:rPr lang="en-US" sz="1400" kern="0" spc="-80" dirty="0">
                <a:solidFill>
                  <a:schemeClr val="accent2"/>
                </a:solidFill>
              </a:rPr>
              <a:t>Middle: </a:t>
            </a:r>
            <a:r>
              <a:rPr lang="en-US" sz="1400" kern="0" spc="-80" dirty="0">
                <a:solidFill>
                  <a:schemeClr val="accent6"/>
                </a:solidFill>
              </a:rPr>
              <a:t>Water, land cover, boundaries</a:t>
            </a:r>
          </a:p>
          <a:p>
            <a:pPr marL="12700" marR="5080"/>
            <a:r>
              <a:rPr lang="en-US" sz="1400" kern="0" spc="-80" dirty="0">
                <a:solidFill>
                  <a:schemeClr val="accent2"/>
                </a:solidFill>
              </a:rPr>
              <a:t>Top: </a:t>
            </a:r>
            <a:r>
              <a:rPr lang="en-US" sz="1400" kern="0" spc="-80" dirty="0">
                <a:solidFill>
                  <a:schemeClr val="accent6"/>
                </a:solidFill>
              </a:rPr>
              <a:t>Roads, points, labels</a:t>
            </a:r>
          </a:p>
          <a:p>
            <a:pPr marL="12700" marR="5080"/>
            <a:r>
              <a:rPr lang="en-US" sz="1400" kern="0" spc="-80" dirty="0">
                <a:solidFill>
                  <a:schemeClr val="accent6"/>
                </a:solidFill>
              </a:rPr>
              <a:t>Because if labels lived under mountains, well… they'd get lost like socks in laundry.</a:t>
            </a:r>
          </a:p>
        </p:txBody>
      </p:sp>
    </p:spTree>
    <p:extLst>
      <p:ext uri="{BB962C8B-B14F-4D97-AF65-F5344CB8AC3E}">
        <p14:creationId xmlns:p14="http://schemas.microsoft.com/office/powerpoint/2010/main" val="409221138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42DB-2016-90DF-6DDB-88951BEE0E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A8CC45-1EFC-81B5-20E9-87D745AFD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058725-A67D-3976-C5D7-A67A305CBF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43E56F-7706-6C98-C29C-BC004A73812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008AED-5D2F-6360-A46C-BF705E49A1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CED474-6DBB-A2FD-4383-82D5CD8BFE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B74C3F2-B7E9-E561-249F-5A95FAE1B7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2D72AB-9F48-D21F-B2AB-61EC96BDE9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70F4A89-C3BA-BB75-3A26-DD2BBC994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146796-E4DA-EA77-39D1-DA51F8F25D7A}"/>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Layer Styling (Symbolization)</a:t>
            </a:r>
          </a:p>
          <a:p>
            <a:pPr marL="12700" marR="5080"/>
            <a:r>
              <a:rPr lang="en-US" sz="1400" kern="0" spc="-80" dirty="0">
                <a:solidFill>
                  <a:schemeClr val="accent2"/>
                </a:solidFill>
              </a:rPr>
              <a:t>This dictates clarity:</a:t>
            </a:r>
          </a:p>
          <a:p>
            <a:pPr marL="12700" marR="5080"/>
            <a:r>
              <a:rPr lang="en-US" sz="1400" kern="0" spc="-80" dirty="0">
                <a:solidFill>
                  <a:schemeClr val="accent6"/>
                </a:solidFill>
              </a:rPr>
              <a:t>Line thickness (e.g., highways thicker than alleys)</a:t>
            </a:r>
          </a:p>
          <a:p>
            <a:pPr marL="12700" marR="5080"/>
            <a:r>
              <a:rPr lang="en-US" sz="1400" kern="0" spc="-80" dirty="0">
                <a:solidFill>
                  <a:schemeClr val="accent6"/>
                </a:solidFill>
              </a:rPr>
              <a:t>Polygon fill patterns (solid, hatch, opacity)</a:t>
            </a:r>
          </a:p>
          <a:p>
            <a:pPr marL="12700" marR="5080"/>
            <a:r>
              <a:rPr lang="en-US" sz="1400" kern="0" spc="-80" dirty="0">
                <a:solidFill>
                  <a:schemeClr val="accent6"/>
                </a:solidFill>
              </a:rPr>
              <a:t>Color ramps (elevation gradients, heat intensity)</a:t>
            </a:r>
          </a:p>
          <a:p>
            <a:pPr marL="12700" marR="5080"/>
            <a:r>
              <a:rPr lang="en-US" sz="1400" kern="0" spc="-80" dirty="0">
                <a:solidFill>
                  <a:schemeClr val="accent6"/>
                </a:solidFill>
              </a:rPr>
              <a:t>Good maps never shout. They suggest.</a:t>
            </a:r>
          </a:p>
          <a:p>
            <a:pPr marL="12700" marR="5080"/>
            <a:endParaRPr lang="en-US" sz="1400" kern="0" spc="-80" dirty="0">
              <a:solidFill>
                <a:schemeClr val="accent6"/>
              </a:solidFill>
            </a:endParaRPr>
          </a:p>
          <a:p>
            <a:pPr marL="12700" marR="5080"/>
            <a:r>
              <a:rPr lang="en-US" sz="1400" kern="0" spc="-80" dirty="0">
                <a:solidFill>
                  <a:schemeClr val="accent2"/>
                </a:solidFill>
              </a:rPr>
              <a:t>C) Opacity &amp; Blending</a:t>
            </a:r>
          </a:p>
          <a:p>
            <a:pPr marL="12700" marR="5080"/>
            <a:r>
              <a:rPr lang="en-US" sz="1400" kern="0" spc="-80" dirty="0">
                <a:solidFill>
                  <a:schemeClr val="accent6"/>
                </a:solidFill>
              </a:rPr>
              <a:t>Adjusting transparency reveals spatial relationships:</a:t>
            </a:r>
          </a:p>
          <a:p>
            <a:pPr marL="12700" marR="5080"/>
            <a:r>
              <a:rPr lang="en-US" sz="1400" kern="0" spc="-80" dirty="0">
                <a:solidFill>
                  <a:schemeClr val="accent6"/>
                </a:solidFill>
              </a:rPr>
              <a:t>Semi-transparent vegetation atop satellite imagery</a:t>
            </a:r>
          </a:p>
          <a:p>
            <a:pPr marL="12700" marR="5080"/>
            <a:r>
              <a:rPr lang="en-US" sz="1400" kern="0" spc="-80" dirty="0">
                <a:solidFill>
                  <a:schemeClr val="accent6"/>
                </a:solidFill>
              </a:rPr>
              <a:t>Ghosted administrative boundaries above shaded relief</a:t>
            </a:r>
          </a:p>
          <a:p>
            <a:pPr marL="12700" marR="5080"/>
            <a:endParaRPr lang="en-US" sz="1400" kern="0" spc="-80" dirty="0">
              <a:solidFill>
                <a:schemeClr val="accent6"/>
              </a:solidFill>
            </a:endParaRPr>
          </a:p>
          <a:p>
            <a:pPr marL="12700" marR="5080"/>
            <a:r>
              <a:rPr lang="en-US" sz="1400" kern="0" spc="-80" dirty="0">
                <a:solidFill>
                  <a:schemeClr val="accent2"/>
                </a:solidFill>
              </a:rPr>
              <a:t>3) Computational / Algorithmic Layering</a:t>
            </a:r>
          </a:p>
          <a:p>
            <a:pPr marL="12700" marR="5080"/>
            <a:r>
              <a:rPr lang="en-US" sz="1400" kern="0" spc="-80" dirty="0">
                <a:solidFill>
                  <a:schemeClr val="accent2"/>
                </a:solidFill>
              </a:rPr>
              <a:t>A) Coordinate Transformation / Projection</a:t>
            </a:r>
          </a:p>
          <a:p>
            <a:pPr marL="12700" marR="5080"/>
            <a:r>
              <a:rPr lang="en-US" sz="1400" kern="0" spc="-80" dirty="0">
                <a:solidFill>
                  <a:schemeClr val="accent6"/>
                </a:solidFill>
              </a:rPr>
              <a:t>Layers must agree on a spatial reference.</a:t>
            </a:r>
          </a:p>
          <a:p>
            <a:pPr marL="12700" marR="5080"/>
            <a:r>
              <a:rPr lang="en-US" sz="1400" kern="0" spc="-80" dirty="0">
                <a:solidFill>
                  <a:schemeClr val="accent2"/>
                </a:solidFill>
              </a:rPr>
              <a:t>Algorithms:</a:t>
            </a:r>
          </a:p>
          <a:p>
            <a:pPr marL="12700" marR="5080"/>
            <a:r>
              <a:rPr lang="en-US" sz="1400" kern="0" spc="-80" dirty="0">
                <a:solidFill>
                  <a:schemeClr val="accent6"/>
                </a:solidFill>
              </a:rPr>
              <a:t>Affine transformations (shift, scale)</a:t>
            </a:r>
          </a:p>
          <a:p>
            <a:pPr marL="12700" marR="5080"/>
            <a:r>
              <a:rPr lang="en-US" sz="1400" kern="0" spc="-80" dirty="0">
                <a:solidFill>
                  <a:schemeClr val="accent6"/>
                </a:solidFill>
              </a:rPr>
              <a:t>Proj4 / EPSG transformations</a:t>
            </a:r>
          </a:p>
          <a:p>
            <a:pPr marL="12700" marR="5080"/>
            <a:r>
              <a:rPr lang="en-US" sz="1400" kern="0" spc="-80" dirty="0">
                <a:solidFill>
                  <a:schemeClr val="accent6"/>
                </a:solidFill>
              </a:rPr>
              <a:t>Datum shift (Helmert transformation)</a:t>
            </a:r>
          </a:p>
          <a:p>
            <a:pPr marL="12700" marR="5080"/>
            <a:r>
              <a:rPr lang="en-US" sz="1400" kern="0" spc="-80" dirty="0">
                <a:solidFill>
                  <a:schemeClr val="accent2"/>
                </a:solidFill>
              </a:rPr>
              <a:t>Mathematically:</a:t>
            </a:r>
          </a:p>
          <a:p>
            <a:pPr marL="12700" marR="5080"/>
            <a:r>
              <a:rPr lang="en-US" sz="1400" kern="0" spc="-80" dirty="0">
                <a:solidFill>
                  <a:schemeClr val="accent6"/>
                </a:solidFill>
              </a:rPr>
              <a:t>[x', y'] = A[x, y] + b</a:t>
            </a:r>
          </a:p>
          <a:p>
            <a:pPr marL="12700" marR="5080"/>
            <a:r>
              <a:rPr lang="en-US" sz="1400" kern="0" spc="-80" dirty="0">
                <a:solidFill>
                  <a:schemeClr val="accent6"/>
                </a:solidFill>
              </a:rPr>
              <a:t>Where A = transformation matrix, b = offset.</a:t>
            </a:r>
          </a:p>
        </p:txBody>
      </p:sp>
    </p:spTree>
    <p:extLst>
      <p:ext uri="{BB962C8B-B14F-4D97-AF65-F5344CB8AC3E}">
        <p14:creationId xmlns:p14="http://schemas.microsoft.com/office/powerpoint/2010/main" val="3837485049"/>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A6F5B-E84A-80C3-B84A-10194E19C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1EDD1F-848D-16F2-5C18-5FCA709687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D57BE7-3A2F-327B-8B07-CEBB6C222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9788E3-35B5-E019-BB17-80EF79BFEA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AF77D65-2017-831F-B0B0-794F4F0AFE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A6DF59F-B011-8384-BCAF-C48946704D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BEA7B3-4BCD-D470-8A73-F0C944BD64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2AABE6-CDFC-655E-FC10-3BD3CB52C60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0DABE3-FCE8-6588-2E75-6D1D74E000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F270DD5-0E3D-FCE5-C189-02F8C37C434C}"/>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Topology Enforcement</a:t>
            </a:r>
          </a:p>
          <a:p>
            <a:pPr marL="12700" marR="5080"/>
            <a:r>
              <a:rPr lang="en-US" sz="1400" kern="0" spc="-80" dirty="0">
                <a:solidFill>
                  <a:schemeClr val="accent2"/>
                </a:solidFill>
              </a:rPr>
              <a:t>Ensures layers respect geometry rules:</a:t>
            </a:r>
          </a:p>
          <a:p>
            <a:pPr marL="12700" marR="5080"/>
            <a:r>
              <a:rPr lang="en-US" sz="1400" kern="0" spc="-80" dirty="0">
                <a:solidFill>
                  <a:schemeClr val="accent2"/>
                </a:solidFill>
              </a:rPr>
              <a:t>Rule	                                      Example</a:t>
            </a:r>
          </a:p>
          <a:p>
            <a:pPr marL="12700" marR="5080"/>
            <a:r>
              <a:rPr lang="en-US" sz="1400" kern="0" spc="-80" dirty="0">
                <a:solidFill>
                  <a:schemeClr val="accent6"/>
                </a:solidFill>
              </a:rPr>
              <a:t>No self-intersection	                  Road segments shouldn’t form loops unintentionally</a:t>
            </a:r>
          </a:p>
          <a:p>
            <a:pPr marL="12700" marR="5080"/>
            <a:r>
              <a:rPr lang="en-US" sz="1400" kern="0" spc="-80" dirty="0">
                <a:solidFill>
                  <a:schemeClr val="accent6"/>
                </a:solidFill>
              </a:rPr>
              <a:t>Polygons must close	                  Boundaries shouldn’t leak</a:t>
            </a:r>
          </a:p>
          <a:p>
            <a:pPr marL="12700" marR="5080"/>
            <a:r>
              <a:rPr lang="en-US" sz="1400" kern="0" spc="-80" dirty="0">
                <a:solidFill>
                  <a:schemeClr val="accent6"/>
                </a:solidFill>
              </a:rPr>
              <a:t>Lines must connect at nodes       Road networks must be routable</a:t>
            </a:r>
          </a:p>
          <a:p>
            <a:pPr marL="12700" marR="5080"/>
            <a:r>
              <a:rPr lang="en-US" sz="1400" kern="0" spc="-80" dirty="0">
                <a:solidFill>
                  <a:schemeClr val="accent2"/>
                </a:solidFill>
              </a:rPr>
              <a:t>Algorithms:</a:t>
            </a:r>
          </a:p>
          <a:p>
            <a:pPr marL="12700" marR="5080"/>
            <a:r>
              <a:rPr lang="en-US" sz="1400" kern="0" spc="-80" dirty="0">
                <a:solidFill>
                  <a:schemeClr val="accent6"/>
                </a:solidFill>
              </a:rPr>
              <a:t>Planar graph construction</a:t>
            </a:r>
          </a:p>
          <a:p>
            <a:pPr marL="12700" marR="5080"/>
            <a:r>
              <a:rPr lang="en-US" sz="1400" kern="0" spc="-80" dirty="0">
                <a:solidFill>
                  <a:schemeClr val="accent6"/>
                </a:solidFill>
              </a:rPr>
              <a:t>Winged-edge / DCEL structures</a:t>
            </a:r>
          </a:p>
          <a:p>
            <a:pPr marL="12700" marR="5080"/>
            <a:r>
              <a:rPr lang="en-US" sz="1400" kern="0" spc="-80" dirty="0">
                <a:solidFill>
                  <a:schemeClr val="accent6"/>
                </a:solidFill>
              </a:rPr>
              <a:t>Topology clean-up (snap, trim, merge)</a:t>
            </a:r>
          </a:p>
          <a:p>
            <a:pPr marL="12700" marR="5080"/>
            <a:endParaRPr lang="en-US" sz="1400" kern="0" spc="-80" dirty="0">
              <a:solidFill>
                <a:schemeClr val="accent6"/>
              </a:solidFill>
            </a:endParaRPr>
          </a:p>
          <a:p>
            <a:pPr marL="12700" marR="5080"/>
            <a:r>
              <a:rPr lang="en-US" sz="1400" kern="0" spc="-80" dirty="0">
                <a:solidFill>
                  <a:schemeClr val="accent2"/>
                </a:solidFill>
              </a:rPr>
              <a:t>C) Layer Overlay Algorithms</a:t>
            </a:r>
          </a:p>
          <a:p>
            <a:pPr marL="12700" marR="5080"/>
            <a:r>
              <a:rPr lang="en-US" sz="1400" kern="0" spc="-80" dirty="0">
                <a:solidFill>
                  <a:schemeClr val="accent6"/>
                </a:solidFill>
              </a:rPr>
              <a:t>Overlay is how layers interact to derive new meaning.</a:t>
            </a:r>
          </a:p>
          <a:p>
            <a:pPr marL="12700" marR="5080"/>
            <a:r>
              <a:rPr lang="en-US" sz="1400" kern="0" spc="-80" dirty="0">
                <a:solidFill>
                  <a:schemeClr val="accent2"/>
                </a:solidFill>
              </a:rPr>
              <a:t>Operation	      Meaning	                    Example</a:t>
            </a:r>
          </a:p>
          <a:p>
            <a:pPr marL="12700" marR="5080"/>
            <a:r>
              <a:rPr lang="en-US" sz="1400" kern="0" spc="-80" dirty="0">
                <a:solidFill>
                  <a:schemeClr val="accent6"/>
                </a:solidFill>
              </a:rPr>
              <a:t>Intersect	      What overlaps	                    Flood zone ∩ residential area</a:t>
            </a:r>
          </a:p>
          <a:p>
            <a:pPr marL="12700" marR="5080"/>
            <a:r>
              <a:rPr lang="en-US" sz="1400" kern="0" spc="-80" dirty="0">
                <a:solidFill>
                  <a:schemeClr val="accent6"/>
                </a:solidFill>
              </a:rPr>
              <a:t>Union	      Combine geometries	 Merge adjacent forest parcels</a:t>
            </a:r>
          </a:p>
          <a:p>
            <a:pPr marL="12700" marR="5080"/>
            <a:r>
              <a:rPr lang="en-US" sz="1400" kern="0" spc="-80" dirty="0">
                <a:solidFill>
                  <a:schemeClr val="accent6"/>
                </a:solidFill>
              </a:rPr>
              <a:t>Difference	      Remove overlaps	                    Land except protected regions</a:t>
            </a:r>
          </a:p>
          <a:p>
            <a:pPr marL="12700" marR="5080"/>
            <a:r>
              <a:rPr lang="en-US" sz="1400" kern="0" spc="-80" dirty="0">
                <a:solidFill>
                  <a:schemeClr val="accent2"/>
                </a:solidFill>
              </a:rPr>
              <a:t>Algorithms used:</a:t>
            </a:r>
          </a:p>
          <a:p>
            <a:pPr marL="12700" marR="5080"/>
            <a:r>
              <a:rPr lang="en-US" sz="1400" kern="0" spc="-80" dirty="0">
                <a:solidFill>
                  <a:schemeClr val="accent6"/>
                </a:solidFill>
              </a:rPr>
              <a:t>Weiler–Atherton polygon clipping</a:t>
            </a:r>
          </a:p>
          <a:p>
            <a:pPr marL="12700" marR="5080"/>
            <a:r>
              <a:rPr lang="en-US" sz="1400" kern="0" spc="-80" dirty="0">
                <a:solidFill>
                  <a:schemeClr val="accent6"/>
                </a:solidFill>
              </a:rPr>
              <a:t>Sutherland–Hodgman polygon clipping</a:t>
            </a:r>
          </a:p>
          <a:p>
            <a:pPr marL="12700" marR="5080"/>
            <a:r>
              <a:rPr lang="en-US" sz="1400" kern="0" spc="-80" dirty="0">
                <a:solidFill>
                  <a:schemeClr val="accent6"/>
                </a:solidFill>
              </a:rPr>
              <a:t>Bentley–Ottmann for segment intersections</a:t>
            </a:r>
          </a:p>
        </p:txBody>
      </p:sp>
    </p:spTree>
    <p:extLst>
      <p:ext uri="{BB962C8B-B14F-4D97-AF65-F5344CB8AC3E}">
        <p14:creationId xmlns:p14="http://schemas.microsoft.com/office/powerpoint/2010/main" val="291430754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581C3-B785-B4BB-4BB2-1C1FDE8A2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CBA85D-BB73-A94A-BC88-6E090F495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BB05FB-CFC0-8BB8-B397-E6A7C2F961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EF04C5-B512-923E-4E6C-9676D6A1B0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3690661-D01C-20F7-D732-A75FF88E52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DB6736-63A5-CF2E-BCE9-47C1FEF90C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15A928F-8FC0-3047-4B5A-9A81AA257C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5438E23-7AD2-D924-0A16-AA0972C18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843AD4-535D-A234-3FA3-2A3E3562AB7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7F80F5-6C7A-912D-5F88-DF1BBC177ADA}"/>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D)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r>
              <a:rPr lang="en-US" sz="1400" kern="0" spc="-80" dirty="0">
                <a:solidFill>
                  <a:schemeClr val="accent2"/>
                </a:solidFill>
              </a:rPr>
              <a:t>E)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r>
              <a:rPr lang="en-US" sz="1400" kern="0" spc="-80" dirty="0">
                <a:solidFill>
                  <a:schemeClr val="accent2"/>
                </a:solidFill>
              </a:rPr>
              <a:t>F) Level of Detail (Generalization)</a:t>
            </a:r>
          </a:p>
          <a:p>
            <a:pPr marL="12700" marR="5080"/>
            <a:r>
              <a:rPr lang="en-US" sz="1400" kern="0" spc="-80" dirty="0">
                <a:solidFill>
                  <a:schemeClr val="accent6"/>
                </a:solidFill>
              </a:rPr>
              <a:t>When zoomed out, details overwhelm. So simplify.</a:t>
            </a:r>
          </a:p>
          <a:p>
            <a:pPr marL="12700" marR="5080"/>
            <a:r>
              <a:rPr lang="en-US" sz="1400" kern="0" spc="-80" dirty="0">
                <a:solidFill>
                  <a:schemeClr val="accent2"/>
                </a:solidFill>
              </a:rPr>
              <a:t>Algorithms:</a:t>
            </a:r>
          </a:p>
          <a:p>
            <a:pPr marL="12700" marR="5080"/>
            <a:r>
              <a:rPr lang="en-US" sz="1400" kern="0" spc="-80" dirty="0">
                <a:solidFill>
                  <a:schemeClr val="accent2"/>
                </a:solidFill>
              </a:rPr>
              <a:t>Task	                   Algorithm</a:t>
            </a:r>
          </a:p>
          <a:p>
            <a:pPr marL="12700" marR="5080"/>
            <a:r>
              <a:rPr lang="en-US" sz="1400" kern="0" spc="-80" dirty="0">
                <a:solidFill>
                  <a:schemeClr val="accent6"/>
                </a:solidFill>
              </a:rPr>
              <a:t>Simplify lines	Douglas–</a:t>
            </a:r>
            <a:r>
              <a:rPr lang="en-US" sz="1400" kern="0" spc="-80" dirty="0" err="1">
                <a:solidFill>
                  <a:schemeClr val="accent6"/>
                </a:solidFill>
              </a:rPr>
              <a:t>Peucker</a:t>
            </a:r>
            <a:r>
              <a:rPr lang="en-US" sz="1400" kern="0" spc="-80" dirty="0">
                <a:solidFill>
                  <a:schemeClr val="accent6"/>
                </a:solidFill>
              </a:rPr>
              <a:t>, </a:t>
            </a:r>
            <a:r>
              <a:rPr lang="en-US" sz="1400" kern="0" spc="-80" dirty="0" err="1">
                <a:solidFill>
                  <a:schemeClr val="accent6"/>
                </a:solidFill>
              </a:rPr>
              <a:t>Visvalingam</a:t>
            </a:r>
            <a:r>
              <a:rPr lang="en-US" sz="1400" kern="0" spc="-80" dirty="0">
                <a:solidFill>
                  <a:schemeClr val="accent6"/>
                </a:solidFill>
              </a:rPr>
              <a:t>-Whyatt</a:t>
            </a:r>
          </a:p>
          <a:p>
            <a:pPr marL="12700" marR="5080"/>
            <a:r>
              <a:rPr lang="en-US" sz="14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p:txBody>
      </p:sp>
    </p:spTree>
    <p:extLst>
      <p:ext uri="{BB962C8B-B14F-4D97-AF65-F5344CB8AC3E}">
        <p14:creationId xmlns:p14="http://schemas.microsoft.com/office/powerpoint/2010/main" val="1578350880"/>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5A98-6AA5-4B02-A212-CB0B9C6428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E388C9-AE40-9672-2162-E0AF63FB1A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8F70CC-23D4-0058-49C6-4D353B2967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FCEB46-E939-467B-63B4-113DAF15961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F8510FB-BEB3-AC63-BE48-0ABF8AC744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84552-6AA6-DA06-F849-5BB7DC9F7C6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ED94BD-6E98-60F1-97DE-A57EC456290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B691D2-CF42-DFF5-1F8A-34E24D2EB6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D025CE-D652-8D81-E4E4-388300EB213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47B1951-BC7C-BCA2-ED3C-606F121E4F5E}"/>
              </a:ext>
            </a:extLst>
          </p:cNvPr>
          <p:cNvSpPr txBox="1">
            <a:spLocks/>
          </p:cNvSpPr>
          <p:nvPr/>
        </p:nvSpPr>
        <p:spPr>
          <a:xfrm>
            <a:off x="228600" y="762000"/>
            <a:ext cx="8624937" cy="44165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4)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endParaRPr lang="en-US" sz="1400" kern="0" spc="-80" dirty="0">
              <a:solidFill>
                <a:schemeClr val="accent6"/>
              </a:solidFill>
            </a:endParaRPr>
          </a:p>
          <a:p>
            <a:pPr marL="12700" marR="5080"/>
            <a:r>
              <a:rPr lang="en-US" sz="1400" kern="0" spc="-80" dirty="0">
                <a:solidFill>
                  <a:schemeClr val="accent2"/>
                </a:solidFill>
              </a:rPr>
              <a:t>6) Level of Detail (Generalization)</a:t>
            </a:r>
          </a:p>
          <a:p>
            <a:pPr marL="12700" marR="5080"/>
            <a:r>
              <a:rPr lang="en-US" sz="1400" kern="0" spc="-80" dirty="0">
                <a:solidFill>
                  <a:schemeClr val="accent6"/>
                </a:solidFill>
              </a:rPr>
              <a:t>When zoomed out, details overwhelm. So simplify.</a:t>
            </a:r>
          </a:p>
        </p:txBody>
      </p:sp>
    </p:spTree>
    <p:extLst>
      <p:ext uri="{BB962C8B-B14F-4D97-AF65-F5344CB8AC3E}">
        <p14:creationId xmlns:p14="http://schemas.microsoft.com/office/powerpoint/2010/main" val="54264368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F1EB-61BA-1F54-CA74-CA41E398A6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1803F1-E6B5-31A5-1736-01B4CE3C4D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C7D9E-4CCF-5FB7-F2D8-CD3F4E15F0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D25E9-28B6-354D-064E-28DEF83D379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380F96B-F946-B847-BA6D-6FFE509B9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61212A-FBF8-6474-B0CF-F849BD15BB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8A1D49-60D3-9885-899B-1516A7B2F72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9083BD1-5FC5-50BF-41ED-E5561D72E5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CC4828-DFFD-B5AC-4B1E-8FF3B8FA7A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FF5E9BA-C1BA-66E6-A29B-51B7F4410695}"/>
              </a:ext>
            </a:extLst>
          </p:cNvPr>
          <p:cNvSpPr txBox="1">
            <a:spLocks/>
          </p:cNvSpPr>
          <p:nvPr/>
        </p:nvSpPr>
        <p:spPr>
          <a:xfrm>
            <a:off x="228600" y="7620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600" kern="0" spc="-80" dirty="0">
                <a:solidFill>
                  <a:schemeClr val="accent2"/>
                </a:solidFill>
              </a:rPr>
              <a:t>Algorithms:</a:t>
            </a:r>
          </a:p>
          <a:p>
            <a:pPr marL="12700" marR="5080"/>
            <a:r>
              <a:rPr lang="en-US" sz="1600" kern="0" spc="-80" dirty="0">
                <a:solidFill>
                  <a:schemeClr val="accent2"/>
                </a:solidFill>
              </a:rPr>
              <a:t>Task	                 Algorithm</a:t>
            </a:r>
          </a:p>
          <a:p>
            <a:pPr marL="12700" marR="5080"/>
            <a:r>
              <a:rPr lang="en-US" sz="1600" kern="0" spc="-80" dirty="0">
                <a:solidFill>
                  <a:schemeClr val="accent6"/>
                </a:solidFill>
              </a:rPr>
              <a:t>Simplify lines	Douglas–</a:t>
            </a:r>
            <a:r>
              <a:rPr lang="en-US" sz="1600" kern="0" spc="-80" dirty="0" err="1">
                <a:solidFill>
                  <a:schemeClr val="accent6"/>
                </a:solidFill>
              </a:rPr>
              <a:t>Peucker</a:t>
            </a:r>
            <a:r>
              <a:rPr lang="en-US" sz="1600" kern="0" spc="-80" dirty="0">
                <a:solidFill>
                  <a:schemeClr val="accent6"/>
                </a:solidFill>
              </a:rPr>
              <a:t>, </a:t>
            </a:r>
            <a:r>
              <a:rPr lang="en-US" sz="1600" kern="0" spc="-80" dirty="0" err="1">
                <a:solidFill>
                  <a:schemeClr val="accent6"/>
                </a:solidFill>
              </a:rPr>
              <a:t>Visvalingam</a:t>
            </a:r>
            <a:r>
              <a:rPr lang="en-US" sz="1600" kern="0" spc="-80" dirty="0">
                <a:solidFill>
                  <a:schemeClr val="accent6"/>
                </a:solidFill>
              </a:rPr>
              <a:t>-Whyatt</a:t>
            </a:r>
          </a:p>
          <a:p>
            <a:pPr marL="12700" marR="5080"/>
            <a:r>
              <a:rPr lang="en-US" sz="16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a:p>
            <a:pPr marL="12700" marR="5080"/>
            <a:endParaRPr lang="en-US" sz="1400" kern="0" spc="-80" dirty="0">
              <a:solidFill>
                <a:schemeClr val="accent6"/>
              </a:solidFill>
            </a:endParaRPr>
          </a:p>
          <a:p>
            <a:pPr marL="12700" marR="5080"/>
            <a:r>
              <a:rPr lang="en-US" sz="1400" kern="0" spc="-80" dirty="0">
                <a:solidFill>
                  <a:schemeClr val="accent2"/>
                </a:solidFill>
              </a:rPr>
              <a:t>4) Example Layer Stacking Workflow (App Map View)</a:t>
            </a:r>
          </a:p>
          <a:p>
            <a:pPr marL="12700" marR="5080"/>
            <a:r>
              <a:rPr lang="en-US" sz="1400" kern="0" spc="-80" dirty="0">
                <a:solidFill>
                  <a:schemeClr val="accent6"/>
                </a:solidFill>
              </a:rPr>
              <a:t>Terrain (raster) </a:t>
            </a:r>
          </a:p>
          <a:p>
            <a:pPr marL="12700" marR="5080"/>
            <a:r>
              <a:rPr lang="en-US" sz="1400" kern="0" spc="-80" dirty="0">
                <a:solidFill>
                  <a:schemeClr val="accent6"/>
                </a:solidFill>
              </a:rPr>
              <a:t>    ↓ shaded relief</a:t>
            </a:r>
          </a:p>
          <a:p>
            <a:pPr marL="12700" marR="5080"/>
            <a:r>
              <a:rPr lang="en-US" sz="1400" kern="0" spc="-80" dirty="0">
                <a:solidFill>
                  <a:schemeClr val="accent6"/>
                </a:solidFill>
              </a:rPr>
              <a:t>Land Cover (raster)</a:t>
            </a:r>
          </a:p>
          <a:p>
            <a:pPr marL="12700" marR="5080"/>
            <a:r>
              <a:rPr lang="en-US" sz="1400" kern="0" spc="-80" dirty="0">
                <a:solidFill>
                  <a:schemeClr val="accent6"/>
                </a:solidFill>
              </a:rPr>
              <a:t>    ↓ opacity 50%</a:t>
            </a:r>
          </a:p>
          <a:p>
            <a:pPr marL="12700" marR="5080"/>
            <a:r>
              <a:rPr lang="en-US" sz="1400" kern="0" spc="-80" dirty="0">
                <a:solidFill>
                  <a:schemeClr val="accent6"/>
                </a:solidFill>
              </a:rPr>
              <a:t>Hydrology (lines, polygons)</a:t>
            </a:r>
          </a:p>
          <a:p>
            <a:pPr marL="12700" marR="5080"/>
            <a:r>
              <a:rPr lang="en-US" sz="1400" kern="0" spc="-80" dirty="0">
                <a:solidFill>
                  <a:schemeClr val="accent6"/>
                </a:solidFill>
              </a:rPr>
              <a:t>Road Network (lines)</a:t>
            </a:r>
          </a:p>
          <a:p>
            <a:pPr marL="12700" marR="5080"/>
            <a:r>
              <a:rPr lang="en-US" sz="1400" kern="0" spc="-80" dirty="0">
                <a:solidFill>
                  <a:schemeClr val="accent6"/>
                </a:solidFill>
              </a:rPr>
              <a:t>Administrative Boundaries (thin dashed lines)</a:t>
            </a:r>
          </a:p>
          <a:p>
            <a:pPr marL="12700" marR="5080"/>
            <a:r>
              <a:rPr lang="en-US" sz="1400" kern="0" spc="-80" dirty="0">
                <a:solidFill>
                  <a:schemeClr val="accent6"/>
                </a:solidFill>
              </a:rPr>
              <a:t>POIs (icons)</a:t>
            </a:r>
          </a:p>
          <a:p>
            <a:pPr marL="12700" marR="5080"/>
            <a:r>
              <a:rPr lang="en-US" sz="1400" kern="0" spc="-80" dirty="0">
                <a:solidFill>
                  <a:schemeClr val="accent6"/>
                </a:solidFill>
              </a:rPr>
              <a:t>Labels (text)</a:t>
            </a:r>
          </a:p>
          <a:p>
            <a:pPr marL="12700" marR="5080"/>
            <a:r>
              <a:rPr lang="en-US" sz="1400" kern="0" spc="-80" dirty="0">
                <a:solidFill>
                  <a:schemeClr val="accent2"/>
                </a:solidFill>
              </a:rPr>
              <a:t>Result: </a:t>
            </a:r>
            <a:r>
              <a:rPr lang="en-US" sz="1400" kern="0" spc="-80" dirty="0">
                <a:solidFill>
                  <a:schemeClr val="accent6"/>
                </a:solidFill>
              </a:rPr>
              <a:t>A map that feels legible, not overwhelmed.</a:t>
            </a:r>
          </a:p>
        </p:txBody>
      </p:sp>
    </p:spTree>
    <p:extLst>
      <p:ext uri="{BB962C8B-B14F-4D97-AF65-F5344CB8AC3E}">
        <p14:creationId xmlns:p14="http://schemas.microsoft.com/office/powerpoint/2010/main" val="3237256922"/>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2D8E-92CB-C35E-9B9B-2737B5013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A0DBF8-0D63-F3FF-2023-E4C81BB8B2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5908E7-BBDF-7244-756E-84E6AFE43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781354-C0AE-28FA-DF92-6FE3E79FFEA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4F5531D-A47A-DD53-3037-2AB3026E1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DDCEB33-6AC2-74BE-DA04-381F30BA33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A6549A-B42B-B5FA-02ED-748AFF5AD1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154FF3-6CE5-2FE8-13B2-884EC0C978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04505A-909D-3C30-9265-509757703A6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330640B-E317-E512-8D3E-4616D1729BF9}"/>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Most Maps feels like a continuous flowing world because it never really shows you “the whole map” at once. It’s quietly streaming, stitching, caching, and swapping layers as you move. Picture it like a giant library where, instead of bringing all the books to your desk, a librarian keeps handing you just the pages you need right before you need them 📚➡️🗺️</a:t>
            </a:r>
          </a:p>
          <a:p>
            <a:pPr marL="12700" marR="5080"/>
            <a:endParaRPr lang="en-US" sz="1400" kern="0" spc="-80" dirty="0">
              <a:solidFill>
                <a:schemeClr val="accent6"/>
              </a:solidFill>
            </a:endParaRPr>
          </a:p>
          <a:p>
            <a:pPr marL="12700" marR="5080"/>
            <a:r>
              <a:rPr lang="en-US" sz="1400" kern="0" spc="-80" dirty="0">
                <a:solidFill>
                  <a:schemeClr val="accent2"/>
                </a:solidFill>
              </a:rPr>
              <a:t>1. The Map is Stored in “Tiles”</a:t>
            </a:r>
          </a:p>
          <a:p>
            <a:pPr marL="12700" marR="5080"/>
            <a:r>
              <a:rPr lang="en-US" sz="1400" kern="0" spc="-80" dirty="0">
                <a:solidFill>
                  <a:schemeClr val="accent6"/>
                </a:solidFill>
              </a:rPr>
              <a:t>The Earth is cut into small square images called tiles (usually 256×256 pixels).</a:t>
            </a:r>
          </a:p>
          <a:p>
            <a:pPr marL="12700" marR="5080"/>
            <a:r>
              <a:rPr lang="en-US" sz="1400" kern="0" spc="-80" dirty="0">
                <a:solidFill>
                  <a:schemeClr val="accent6"/>
                </a:solidFill>
              </a:rPr>
              <a:t>When you zoom, it fetches a different “layer” of tiles at higher or lower resolution.</a:t>
            </a:r>
          </a:p>
          <a:p>
            <a:pPr marL="12700" marR="5080"/>
            <a:r>
              <a:rPr lang="en-US" sz="1400" kern="0" spc="-80" dirty="0">
                <a:solidFill>
                  <a:schemeClr val="accent6"/>
                </a:solidFill>
              </a:rPr>
              <a:t>Zoom Level 3     → few tiles (coarse world)</a:t>
            </a:r>
          </a:p>
          <a:p>
            <a:pPr marL="12700" marR="5080"/>
            <a:r>
              <a:rPr lang="en-US" sz="1400" kern="0" spc="-80" dirty="0">
                <a:solidFill>
                  <a:schemeClr val="accent6"/>
                </a:solidFill>
              </a:rPr>
              <a:t>Zoom Level 18    → millions of tiles (street-level detail)</a:t>
            </a:r>
          </a:p>
          <a:p>
            <a:pPr marL="12700" marR="5080"/>
            <a:r>
              <a:rPr lang="en-US" sz="1400" kern="0" spc="-80" dirty="0">
                <a:solidFill>
                  <a:schemeClr val="accent6"/>
                </a:solidFill>
              </a:rPr>
              <a:t>Think: Lego bricks. Zoom out = big blocks; zoom in = tiny bricks.</a:t>
            </a:r>
          </a:p>
          <a:p>
            <a:pPr marL="12700" marR="5080"/>
            <a:endParaRPr lang="en-US" sz="1400" kern="0" spc="-80" dirty="0">
              <a:solidFill>
                <a:schemeClr val="accent6"/>
              </a:solidFill>
            </a:endParaRPr>
          </a:p>
          <a:p>
            <a:pPr marL="12700" marR="5080"/>
            <a:r>
              <a:rPr lang="en-US" sz="1400" kern="0" spc="-80" dirty="0">
                <a:solidFill>
                  <a:schemeClr val="accent2"/>
                </a:solidFill>
              </a:rPr>
              <a:t>2. Tiles are Loaded Just in Time</a:t>
            </a:r>
          </a:p>
          <a:p>
            <a:pPr marL="12700" marR="5080"/>
            <a:r>
              <a:rPr lang="en-US" sz="1400" kern="0" spc="-80" dirty="0">
                <a:solidFill>
                  <a:schemeClr val="accent6"/>
                </a:solidFill>
              </a:rPr>
              <a:t>As you pan the map, Google Maps:</a:t>
            </a:r>
          </a:p>
          <a:p>
            <a:pPr marL="12700" marR="5080"/>
            <a:r>
              <a:rPr lang="en-US" sz="1400" kern="0" spc="-80" dirty="0">
                <a:solidFill>
                  <a:schemeClr val="accent6"/>
                </a:solidFill>
              </a:rPr>
              <a:t>Predicts the direction you’re moving</a:t>
            </a:r>
          </a:p>
          <a:p>
            <a:pPr marL="12700" marR="5080"/>
            <a:r>
              <a:rPr lang="en-US" sz="1400" kern="0" spc="-80" dirty="0">
                <a:solidFill>
                  <a:schemeClr val="accent6"/>
                </a:solidFill>
              </a:rPr>
              <a:t>Downloads the next set of tiles before they come on screen</a:t>
            </a:r>
          </a:p>
          <a:p>
            <a:pPr marL="12700" marR="5080"/>
            <a:r>
              <a:rPr lang="en-US" sz="1400" kern="0" spc="-80" dirty="0">
                <a:solidFill>
                  <a:schemeClr val="accent6"/>
                </a:solidFill>
              </a:rPr>
              <a:t>Keeps recently viewed tiles cached in memory</a:t>
            </a:r>
          </a:p>
          <a:p>
            <a:pPr marL="12700" marR="5080"/>
            <a:r>
              <a:rPr lang="en-US" sz="1400" kern="0" spc="-80" dirty="0">
                <a:solidFill>
                  <a:schemeClr val="accent6"/>
                </a:solidFill>
              </a:rPr>
              <a:t>This makes the motion feel continuous instead of “chunky”.</a:t>
            </a:r>
          </a:p>
          <a:p>
            <a:pPr marL="12700" marR="5080"/>
            <a:r>
              <a:rPr lang="en-US" sz="1400" kern="0" spc="-80" dirty="0">
                <a:solidFill>
                  <a:schemeClr val="accent6"/>
                </a:solidFill>
              </a:rPr>
              <a:t>🧠 It’s like the map is reading ahead for you.</a:t>
            </a:r>
          </a:p>
          <a:p>
            <a:pPr marL="12700" marR="5080"/>
            <a:endParaRPr lang="en-US" sz="1400" kern="0" spc="-80" dirty="0">
              <a:solidFill>
                <a:schemeClr val="accent6"/>
              </a:solidFill>
            </a:endParaRPr>
          </a:p>
          <a:p>
            <a:pPr marL="12700" marR="5080"/>
            <a:r>
              <a:rPr lang="en-US" sz="1400" kern="0" spc="-80" dirty="0">
                <a:solidFill>
                  <a:schemeClr val="accent2"/>
                </a:solidFill>
              </a:rPr>
              <a:t>3. Vector Tiles (Not Just Images!)</a:t>
            </a:r>
          </a:p>
          <a:p>
            <a:pPr marL="12700" marR="5080"/>
            <a:r>
              <a:rPr lang="en-US" sz="1400" kern="0" spc="-80" dirty="0">
                <a:solidFill>
                  <a:schemeClr val="accent6"/>
                </a:solidFill>
              </a:rPr>
              <a:t>Older Google maps used bitmap images.</a:t>
            </a:r>
          </a:p>
        </p:txBody>
      </p:sp>
    </p:spTree>
    <p:extLst>
      <p:ext uri="{BB962C8B-B14F-4D97-AF65-F5344CB8AC3E}">
        <p14:creationId xmlns:p14="http://schemas.microsoft.com/office/powerpoint/2010/main" val="89301935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A586D-242E-3083-3981-DDD3FF83E2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F9A448-B884-288D-5AC9-327E2C7949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A00854-B88D-836D-3DBD-5F0E79DA48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87D626E-A743-2FEA-61F5-745634B79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D84FBC-6E68-F721-ED9B-2F61ECDB2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072159-E79A-76A6-EB27-D12D0A113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2AE67A-733F-02D1-2F4D-44DD10F08B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EBE8FC4-FB54-5971-202B-510A08F1C8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11954E-2FFE-2D3B-73A4-B627C3416C7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2C9C9CA-426D-0AF0-C948-2627B63C98EE}"/>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Modern Maps uses vector tiles:</a:t>
            </a:r>
          </a:p>
          <a:p>
            <a:pPr marL="12700" marR="5080"/>
            <a:r>
              <a:rPr lang="en-US" sz="1400" kern="0" spc="-80" dirty="0">
                <a:solidFill>
                  <a:schemeClr val="accent6"/>
                </a:solidFill>
              </a:rPr>
              <a:t>Lines for roads</a:t>
            </a:r>
          </a:p>
          <a:p>
            <a:pPr marL="12700" marR="5080"/>
            <a:r>
              <a:rPr lang="en-US" sz="1400" kern="0" spc="-80" dirty="0">
                <a:solidFill>
                  <a:schemeClr val="accent6"/>
                </a:solidFill>
              </a:rPr>
              <a:t>Polygons for buildings</a:t>
            </a:r>
          </a:p>
          <a:p>
            <a:pPr marL="12700" marR="5080"/>
            <a:r>
              <a:rPr lang="en-US" sz="1400" kern="0" spc="-80" dirty="0">
                <a:solidFill>
                  <a:schemeClr val="accent6"/>
                </a:solidFill>
              </a:rPr>
              <a:t>Text as labels</a:t>
            </a:r>
          </a:p>
          <a:p>
            <a:pPr marL="12700" marR="5080"/>
            <a:r>
              <a:rPr lang="en-US" sz="1400" kern="0" spc="-80" dirty="0">
                <a:solidFill>
                  <a:schemeClr val="accent6"/>
                </a:solidFill>
              </a:rPr>
              <a:t>Icons for POIs</a:t>
            </a:r>
          </a:p>
          <a:p>
            <a:pPr marL="12700" marR="5080"/>
            <a:r>
              <a:rPr lang="en-US" sz="1400" kern="0" spc="-80" dirty="0">
                <a:solidFill>
                  <a:schemeClr val="accent6"/>
                </a:solidFill>
              </a:rPr>
              <a:t>Your device draws the map in real-time using GPU.</a:t>
            </a:r>
          </a:p>
          <a:p>
            <a:pPr marL="12700" marR="5080"/>
            <a:r>
              <a:rPr lang="en-US" sz="1400" kern="0" spc="-80" dirty="0">
                <a:solidFill>
                  <a:schemeClr val="accent2"/>
                </a:solidFill>
              </a:rPr>
              <a:t>This allows:</a:t>
            </a:r>
          </a:p>
          <a:p>
            <a:pPr marL="12700" marR="5080"/>
            <a:r>
              <a:rPr lang="en-US" sz="1400" kern="0" spc="-80" dirty="0">
                <a:solidFill>
                  <a:schemeClr val="accent2"/>
                </a:solidFill>
              </a:rPr>
              <a:t>Feature	                   Benefit</a:t>
            </a:r>
          </a:p>
          <a:p>
            <a:pPr marL="12700" marR="5080"/>
            <a:r>
              <a:rPr lang="en-US" sz="1400" kern="0" spc="-80" dirty="0">
                <a:solidFill>
                  <a:schemeClr val="accent6"/>
                </a:solidFill>
              </a:rPr>
              <a:t>Rotation	                    Map can tilt/3D smoothly</a:t>
            </a:r>
          </a:p>
          <a:p>
            <a:pPr marL="12700" marR="5080"/>
            <a:r>
              <a:rPr lang="en-US" sz="1400" kern="0" spc="-80" dirty="0">
                <a:solidFill>
                  <a:schemeClr val="accent6"/>
                </a:solidFill>
              </a:rPr>
              <a:t>Styles on the fly	Night modes / highlight routes</a:t>
            </a:r>
          </a:p>
          <a:p>
            <a:pPr marL="12700" marR="5080"/>
            <a:r>
              <a:rPr lang="en-US" sz="1400" kern="0" spc="-80" dirty="0">
                <a:solidFill>
                  <a:schemeClr val="accent6"/>
                </a:solidFill>
              </a:rPr>
              <a:t>Tiny file sizes	Fast loading even on mobile</a:t>
            </a:r>
          </a:p>
          <a:p>
            <a:pPr marL="12700" marR="5080"/>
            <a:r>
              <a:rPr lang="en-US" sz="1400" kern="0" spc="-80" dirty="0">
                <a:solidFill>
                  <a:schemeClr val="accent6"/>
                </a:solidFill>
              </a:rPr>
              <a:t>The map is basically a live illustration, not a photo.</a:t>
            </a:r>
          </a:p>
          <a:p>
            <a:pPr marL="12700" marR="5080"/>
            <a:endParaRPr lang="en-US" sz="1400" kern="0" spc="-80" dirty="0">
              <a:solidFill>
                <a:schemeClr val="accent6"/>
              </a:solidFill>
            </a:endParaRPr>
          </a:p>
          <a:p>
            <a:pPr marL="12700" marR="5080"/>
            <a:r>
              <a:rPr lang="en-US" sz="1400" kern="0" spc="-80" dirty="0">
                <a:solidFill>
                  <a:schemeClr val="accent2"/>
                </a:solidFill>
              </a:rPr>
              <a:t>4. Progressive Rendering</a:t>
            </a:r>
          </a:p>
          <a:p>
            <a:pPr marL="12700" marR="5080"/>
            <a:r>
              <a:rPr lang="en-US" sz="1400" kern="0" spc="-80" dirty="0">
                <a:solidFill>
                  <a:schemeClr val="accent6"/>
                </a:solidFill>
              </a:rPr>
              <a:t>While loading, the map first draws:</a:t>
            </a:r>
          </a:p>
          <a:p>
            <a:pPr marL="12700" marR="5080"/>
            <a:r>
              <a:rPr lang="en-US" sz="1400" kern="0" spc="-80" dirty="0">
                <a:solidFill>
                  <a:schemeClr val="accent6"/>
                </a:solidFill>
              </a:rPr>
              <a:t>Base geometry (roads, land shapes)</a:t>
            </a:r>
          </a:p>
          <a:p>
            <a:pPr marL="12700" marR="5080"/>
            <a:r>
              <a:rPr lang="en-US" sz="1400" kern="0" spc="-80" dirty="0">
                <a:solidFill>
                  <a:schemeClr val="accent6"/>
                </a:solidFill>
              </a:rPr>
              <a:t>Labels and icons</a:t>
            </a:r>
          </a:p>
          <a:p>
            <a:pPr marL="12700" marR="5080"/>
            <a:r>
              <a:rPr lang="en-US" sz="1400" kern="0" spc="-80" dirty="0">
                <a:solidFill>
                  <a:schemeClr val="accent6"/>
                </a:solidFill>
              </a:rPr>
              <a:t>Extra details (shade, building outlines, traffic)</a:t>
            </a:r>
          </a:p>
          <a:p>
            <a:pPr marL="12700" marR="5080"/>
            <a:r>
              <a:rPr lang="en-US" sz="1400" kern="0" spc="-80" dirty="0">
                <a:solidFill>
                  <a:schemeClr val="accent6"/>
                </a:solidFill>
              </a:rPr>
              <a:t>This builds the world around you in layers, like a painter starting with big brush strokes 🎨.</a:t>
            </a:r>
          </a:p>
          <a:p>
            <a:pPr marL="12700" marR="5080"/>
            <a:endParaRPr lang="en-US" sz="1400" kern="0" spc="-80" dirty="0">
              <a:solidFill>
                <a:schemeClr val="accent6"/>
              </a:solidFill>
            </a:endParaRPr>
          </a:p>
          <a:p>
            <a:pPr marL="12700" marR="5080"/>
            <a:r>
              <a:rPr lang="en-US" sz="1400" kern="0" spc="-80" dirty="0">
                <a:solidFill>
                  <a:schemeClr val="accent2"/>
                </a:solidFill>
              </a:rPr>
              <a:t>5. Continuous Flow via “Pan Animation”</a:t>
            </a:r>
          </a:p>
          <a:p>
            <a:pPr marL="12700" marR="5080"/>
            <a:r>
              <a:rPr lang="en-US" sz="1400" kern="0" spc="-80" dirty="0">
                <a:solidFill>
                  <a:schemeClr val="accent2"/>
                </a:solidFill>
              </a:rPr>
              <a:t>When you drag the map:</a:t>
            </a:r>
          </a:p>
        </p:txBody>
      </p:sp>
    </p:spTree>
    <p:extLst>
      <p:ext uri="{BB962C8B-B14F-4D97-AF65-F5344CB8AC3E}">
        <p14:creationId xmlns:p14="http://schemas.microsoft.com/office/powerpoint/2010/main" val="2774036060"/>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E196-7628-2E64-498C-83FAB40642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8E2441-D482-6D00-4D98-6ADF18AFFE6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D2D086-5C16-0EAB-EF47-B5D78078CE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A01752-D6C4-3AD9-5711-9144AD1F941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402AA8-4D95-F73E-B28B-9E0069F0E9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50646-256C-F5FF-6596-C479822ACF9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6092A-A9C3-18CF-79EA-CDDB7196323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6790A9-21DF-171F-9E43-252E4E8D78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B2596A-6DEE-19A3-401C-A6F7ED137AB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BE2393-4B70-0F4F-6FC3-E5FBEF921BE7}"/>
              </a:ext>
            </a:extLst>
          </p:cNvPr>
          <p:cNvSpPr txBox="1">
            <a:spLocks/>
          </p:cNvSpPr>
          <p:nvPr/>
        </p:nvSpPr>
        <p:spPr>
          <a:xfrm>
            <a:off x="228600" y="762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The screen moves immediately (no wait)</a:t>
            </a:r>
          </a:p>
          <a:p>
            <a:pPr marL="12700" marR="5080"/>
            <a:r>
              <a:rPr lang="en-US" sz="1400" kern="0" spc="-80" dirty="0">
                <a:solidFill>
                  <a:schemeClr val="accent6"/>
                </a:solidFill>
              </a:rPr>
              <a:t>New tiles fill in after, asynchronously</a:t>
            </a:r>
          </a:p>
          <a:p>
            <a:pPr marL="12700" marR="5080"/>
            <a:r>
              <a:rPr lang="en-US" sz="1400" kern="0" spc="-80" dirty="0">
                <a:solidFill>
                  <a:schemeClr val="accent6"/>
                </a:solidFill>
              </a:rPr>
              <a:t>Motion is eased (easing curves)</a:t>
            </a:r>
          </a:p>
          <a:p>
            <a:pPr marL="12700" marR="5080"/>
            <a:r>
              <a:rPr lang="en-US" sz="1400" kern="0" spc="-80" dirty="0">
                <a:solidFill>
                  <a:schemeClr val="accent6"/>
                </a:solidFill>
              </a:rPr>
              <a:t>This tricks the eye into believing the world is always there.</a:t>
            </a:r>
          </a:p>
          <a:p>
            <a:pPr marL="12700" marR="5080"/>
            <a:endParaRPr lang="en-US" sz="1400" kern="0" spc="-80" dirty="0">
              <a:solidFill>
                <a:schemeClr val="accent6"/>
              </a:solidFill>
            </a:endParaRPr>
          </a:p>
          <a:p>
            <a:pPr marL="12700" marR="5080"/>
            <a:r>
              <a:rPr lang="en-US" sz="1400" kern="0" spc="-80" dirty="0">
                <a:solidFill>
                  <a:schemeClr val="accent2"/>
                </a:solidFill>
              </a:rPr>
              <a:t>6. Smart Caching</a:t>
            </a:r>
          </a:p>
          <a:p>
            <a:pPr marL="12700" marR="5080"/>
            <a:r>
              <a:rPr lang="en-US" sz="1400" kern="0" spc="-80" dirty="0">
                <a:solidFill>
                  <a:schemeClr val="accent6"/>
                </a:solidFill>
              </a:rPr>
              <a:t>Google Maps keeps your:</a:t>
            </a:r>
          </a:p>
          <a:p>
            <a:pPr marL="12700" marR="5080"/>
            <a:r>
              <a:rPr lang="en-US" sz="1400" kern="0" spc="-80" dirty="0">
                <a:solidFill>
                  <a:schemeClr val="accent6"/>
                </a:solidFill>
              </a:rPr>
              <a:t>Last visited area</a:t>
            </a:r>
          </a:p>
          <a:p>
            <a:pPr marL="12700" marR="5080"/>
            <a:r>
              <a:rPr lang="en-US" sz="1400" kern="0" spc="-80" dirty="0">
                <a:solidFill>
                  <a:schemeClr val="accent6"/>
                </a:solidFill>
              </a:rPr>
              <a:t>Most traveled places</a:t>
            </a:r>
          </a:p>
          <a:p>
            <a:pPr marL="12700" marR="5080"/>
            <a:r>
              <a:rPr lang="en-US" sz="1400" kern="0" spc="-80" dirty="0">
                <a:solidFill>
                  <a:schemeClr val="accent6"/>
                </a:solidFill>
              </a:rPr>
              <a:t>Prefetched navigation route tiles</a:t>
            </a:r>
          </a:p>
          <a:p>
            <a:pPr marL="12700" marR="5080"/>
            <a:r>
              <a:rPr lang="en-US" sz="1400" kern="0" spc="-80" dirty="0">
                <a:solidFill>
                  <a:schemeClr val="accent6"/>
                </a:solidFill>
              </a:rPr>
              <a:t>stored in local cache.</a:t>
            </a:r>
          </a:p>
          <a:p>
            <a:pPr marL="12700" marR="5080"/>
            <a:r>
              <a:rPr lang="en-US" sz="1400" kern="0" spc="-80" dirty="0">
                <a:solidFill>
                  <a:schemeClr val="accent6"/>
                </a:solidFill>
              </a:rPr>
              <a:t>So the map feels fast even without perfect network.</a:t>
            </a:r>
          </a:p>
          <a:p>
            <a:pPr marL="12700" marR="5080"/>
            <a:endParaRPr lang="en-US" sz="1400" kern="0" spc="-80" dirty="0">
              <a:solidFill>
                <a:schemeClr val="accent6"/>
              </a:solidFill>
            </a:endParaRPr>
          </a:p>
          <a:p>
            <a:pPr marL="12700" marR="5080"/>
            <a:r>
              <a:rPr lang="en-US" sz="1400" kern="0" spc="-80" dirty="0">
                <a:solidFill>
                  <a:schemeClr val="accent2"/>
                </a:solidFill>
              </a:rPr>
              <a:t>7. Optional 3D via WebGL</a:t>
            </a:r>
          </a:p>
          <a:p>
            <a:pPr marL="12700" marR="5080"/>
            <a:r>
              <a:rPr lang="en-US" sz="1400" kern="0" spc="-80" dirty="0">
                <a:solidFill>
                  <a:schemeClr val="accent6"/>
                </a:solidFill>
              </a:rPr>
              <a:t>Buildings and terrain are rendered using WebGL:</a:t>
            </a:r>
          </a:p>
          <a:p>
            <a:pPr marL="12700" marR="5080"/>
            <a:r>
              <a:rPr lang="en-US" sz="1400" kern="0" spc="-80" dirty="0">
                <a:solidFill>
                  <a:schemeClr val="accent6"/>
                </a:solidFill>
              </a:rPr>
              <a:t>Height maps</a:t>
            </a:r>
          </a:p>
          <a:p>
            <a:pPr marL="12700" marR="5080"/>
            <a:r>
              <a:rPr lang="en-US" sz="1400" kern="0" spc="-80" dirty="0">
                <a:solidFill>
                  <a:schemeClr val="accent6"/>
                </a:solidFill>
              </a:rPr>
              <a:t>3D meshes</a:t>
            </a:r>
          </a:p>
          <a:p>
            <a:pPr marL="12700" marR="5080"/>
            <a:r>
              <a:rPr lang="en-US" sz="1400" kern="0" spc="-80" dirty="0">
                <a:solidFill>
                  <a:schemeClr val="accent6"/>
                </a:solidFill>
              </a:rPr>
              <a:t>Vector extrusion</a:t>
            </a:r>
          </a:p>
          <a:p>
            <a:pPr marL="12700" marR="5080"/>
            <a:r>
              <a:rPr lang="en-US" sz="1400" kern="0" spc="-80" dirty="0">
                <a:solidFill>
                  <a:schemeClr val="accent6"/>
                </a:solidFill>
              </a:rPr>
              <a:t>Mountains appear to rise, cities unfold like origami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08987963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856F-6A33-37FA-96B4-33A1A57349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511212-7F80-80E4-C425-C4396CB9FB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C926FFD-8E6D-FE35-9E9C-0FCD71A4DA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EE1F47-B966-F3DA-C981-C70E102F6FA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8D2DC31-683C-7F4B-DAA7-DC81ADF15BD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AD4DAA-34F2-C931-F4B5-139258781F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A0CF6B-6173-331C-5EE8-65CF5F74FC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6D28C7-A905-D546-3A3B-BEF027ECC75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6A0D5-9B0C-59CB-50E1-1E3CF37AA12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B65ED48-E460-52E9-73DB-7152546A5209}"/>
              </a:ext>
            </a:extLst>
          </p:cNvPr>
          <p:cNvSpPr txBox="1">
            <a:spLocks/>
          </p:cNvSpPr>
          <p:nvPr/>
        </p:nvSpPr>
        <p:spPr>
          <a:xfrm>
            <a:off x="228600" y="762000"/>
            <a:ext cx="8624937" cy="26930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In Short</a:t>
            </a:r>
          </a:p>
          <a:p>
            <a:pPr marL="12700" marR="5080"/>
            <a:r>
              <a:rPr lang="en-US" sz="1400" kern="0" spc="-80" dirty="0">
                <a:solidFill>
                  <a:schemeClr val="accent2"/>
                </a:solidFill>
              </a:rPr>
              <a:t>Most Maps feels continuous because of:</a:t>
            </a:r>
          </a:p>
          <a:p>
            <a:pPr marL="12700" marR="5080"/>
            <a:r>
              <a:rPr lang="en-US" sz="1400" kern="0" spc="-80" dirty="0">
                <a:solidFill>
                  <a:schemeClr val="accent2"/>
                </a:solidFill>
              </a:rPr>
              <a:t>Component	                   Purpose</a:t>
            </a:r>
          </a:p>
          <a:p>
            <a:pPr marL="12700" marR="5080"/>
            <a:r>
              <a:rPr lang="en-US" sz="1400" kern="0" spc="-80" dirty="0">
                <a:solidFill>
                  <a:schemeClr val="accent6"/>
                </a:solidFill>
              </a:rPr>
              <a:t>Tile-based map system	Break world into manageable pieces</a:t>
            </a:r>
          </a:p>
          <a:p>
            <a:pPr marL="12700" marR="5080"/>
            <a:r>
              <a:rPr lang="en-US" sz="1400" kern="0" spc="-80" dirty="0">
                <a:solidFill>
                  <a:schemeClr val="accent6"/>
                </a:solidFill>
              </a:rPr>
              <a:t>Vector rendering	                   Smooth zoom, rotate, highlight</a:t>
            </a:r>
          </a:p>
          <a:p>
            <a:pPr marL="12700" marR="5080"/>
            <a:r>
              <a:rPr lang="en-US" sz="1400" kern="0" spc="-80" dirty="0">
                <a:solidFill>
                  <a:schemeClr val="accent6"/>
                </a:solidFill>
              </a:rPr>
              <a:t>Prefetching	                   Load what you'll need before you see it</a:t>
            </a:r>
          </a:p>
          <a:p>
            <a:pPr marL="12700" marR="5080"/>
            <a:r>
              <a:rPr lang="en-US" sz="1400" kern="0" spc="-80" dirty="0">
                <a:solidFill>
                  <a:schemeClr val="accent6"/>
                </a:solidFill>
              </a:rPr>
              <a:t>GPU rendering	                   Fast and fluid visuals</a:t>
            </a:r>
          </a:p>
          <a:p>
            <a:pPr marL="12700" marR="5080"/>
            <a:r>
              <a:rPr lang="en-US" sz="1400" kern="0" spc="-80" dirty="0">
                <a:solidFill>
                  <a:schemeClr val="accent6"/>
                </a:solidFill>
              </a:rPr>
              <a:t>Caching	                                       Keeps map available offline/weak network</a:t>
            </a:r>
          </a:p>
          <a:p>
            <a:pPr marL="12700" marR="5080"/>
            <a:endParaRPr lang="en-US" sz="1400" kern="0" spc="-80" dirty="0">
              <a:solidFill>
                <a:schemeClr val="accent6"/>
              </a:solidFill>
            </a:endParaRPr>
          </a:p>
          <a:p>
            <a:pPr marL="12700" marR="5080"/>
            <a:r>
              <a:rPr lang="en-US" sz="1400" kern="0" spc="-80" dirty="0">
                <a:solidFill>
                  <a:schemeClr val="accent6"/>
                </a:solidFill>
              </a:rPr>
              <a:t>It’s not one giant map. It’s a smart stream of tiny map pieces animated like ballet.</a:t>
            </a:r>
          </a:p>
        </p:txBody>
      </p:sp>
    </p:spTree>
    <p:extLst>
      <p:ext uri="{BB962C8B-B14F-4D97-AF65-F5344CB8AC3E}">
        <p14:creationId xmlns:p14="http://schemas.microsoft.com/office/powerpoint/2010/main" val="168143392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95E5-DFDA-C1A9-86D8-1FEEE6C0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1DE341-4200-A230-F41A-C09C8215C9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7245C1-6D62-8BCE-2B1E-CBEFD0D639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21D97-0B15-DA00-6292-5FC2898AF2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2DF329-6613-1979-F5B0-9E8BADB62D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8268A4-6D09-E376-90D1-2EA1E3DA9D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19A70B-E523-6D52-CB34-B18C5DCDA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7384B-812E-C2AC-5B97-28E42C9FC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ED344B-EE92-19D4-C9F2-6322A90FA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BC8C22-C906-A63E-9083-308EED67B1C4}"/>
              </a:ext>
            </a:extLst>
          </p:cNvPr>
          <p:cNvSpPr txBox="1">
            <a:spLocks/>
          </p:cNvSpPr>
          <p:nvPr/>
        </p:nvSpPr>
        <p:spPr>
          <a:xfrm>
            <a:off x="228600" y="762000"/>
            <a:ext cx="8624937" cy="39549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For Further Exploration</a:t>
            </a:r>
          </a:p>
          <a:p>
            <a:pPr marL="12700" marR="5080"/>
            <a:r>
              <a:rPr lang="en-US" sz="1400" dirty="0">
                <a:hlinkClick r:id="rId7"/>
              </a:rPr>
              <a:t>Cartography. The Definitive Guide to Making Maps by Kenneth Field | Esri Press</a:t>
            </a:r>
            <a:endParaRPr lang="en-US" sz="1400" kern="0" spc="-80" dirty="0">
              <a:solidFill>
                <a:schemeClr val="accent2"/>
              </a:solidFill>
            </a:endParaRP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IN" sz="1400" dirty="0">
                <a:hlinkClick r:id="rId9"/>
              </a:rPr>
              <a:t>Elements of Cartography</a:t>
            </a:r>
            <a:endParaRPr lang="en-IN" sz="1400" dirty="0"/>
          </a:p>
          <a:p>
            <a:pPr marL="12700" marR="5080"/>
            <a:r>
              <a:rPr lang="en-IN" sz="1400" dirty="0">
                <a:hlinkClick r:id="rId10"/>
              </a:rPr>
              <a:t>Fundamentals Of Cartography</a:t>
            </a:r>
            <a:endParaRPr lang="en-IN" sz="1400" dirty="0"/>
          </a:p>
          <a:p>
            <a:pPr marL="12700" marR="5080"/>
            <a:r>
              <a:rPr lang="en-IN" sz="1400" dirty="0">
                <a:hlinkClick r:id="rId11"/>
              </a:rPr>
              <a:t>Cartographic Technique (Practical) – Course</a:t>
            </a:r>
            <a:endParaRPr lang="en-IN" sz="1400" dirty="0"/>
          </a:p>
          <a:p>
            <a:pPr marL="12700" marR="5080"/>
            <a:r>
              <a:rPr lang="en-US" sz="1400" dirty="0">
                <a:hlinkClick r:id="rId12"/>
              </a:rPr>
              <a:t>The History of Cartography</a:t>
            </a:r>
            <a:endParaRPr lang="en-US" sz="1400" dirty="0"/>
          </a:p>
          <a:p>
            <a:pPr marL="12700" marR="5080"/>
            <a:r>
              <a:rPr lang="en-IN" sz="1400" dirty="0">
                <a:hlinkClick r:id="rId13"/>
              </a:rPr>
              <a:t>Map projection – Wikipedia</a:t>
            </a:r>
            <a:endParaRPr lang="en-IN" sz="1400" dirty="0"/>
          </a:p>
          <a:p>
            <a:pPr marL="12700" marR="5080"/>
            <a:r>
              <a:rPr lang="en-IN" sz="1400" dirty="0">
                <a:hlinkClick r:id="rId14"/>
              </a:rPr>
              <a:t>Why tiles? - Valhalla Docs</a:t>
            </a:r>
            <a:endParaRPr lang="en-US" sz="1400" dirty="0"/>
          </a:p>
          <a:p>
            <a:pPr marL="12700" marR="5080"/>
            <a:r>
              <a:rPr lang="en-IN" sz="1400" dirty="0">
                <a:hlinkClick r:id="rId15"/>
              </a:rPr>
              <a:t>Prototyping a Smoother Map. A glimpse into how Google Maps works…</a:t>
            </a:r>
          </a:p>
          <a:p>
            <a:pPr marL="12700" marR="5080"/>
            <a:r>
              <a:rPr lang="en-IN" sz="1400" dirty="0">
                <a:hlinkClick r:id="rId16"/>
              </a:rPr>
              <a:t>Vector Map Features</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a:hlinkClick r:id="rId18"/>
              </a:rPr>
              <a:t>Awesome-</a:t>
            </a:r>
            <a:r>
              <a:rPr lang="en-US" sz="1400" dirty="0" err="1">
                <a:hlinkClick r:id="rId18"/>
              </a:rPr>
              <a:t>Openlayers</a:t>
            </a:r>
            <a:endParaRPr lang="en-US" sz="1400" dirty="0"/>
          </a:p>
          <a:p>
            <a:pPr marL="12700" marR="5080"/>
            <a:r>
              <a:rPr lang="en-IN" sz="1400" dirty="0">
                <a:hlinkClick r:id="rId19"/>
              </a:rPr>
              <a:t>OpenStreetMap Wiki</a:t>
            </a:r>
            <a:endParaRPr lang="en-IN" sz="1400" dirty="0"/>
          </a:p>
          <a:p>
            <a:pPr marL="12700" marR="5080"/>
            <a:r>
              <a:rPr lang="en-US" sz="1400" dirty="0">
                <a:hlinkClick r:id="rId20"/>
              </a:rPr>
              <a:t>13 amazing maps to celebrate 13 years of OpenStreetMap | Opensource.com</a:t>
            </a:r>
            <a:endParaRPr lang="en-US" sz="1400" dirty="0"/>
          </a:p>
          <a:p>
            <a:pPr marL="12700" marR="5080"/>
            <a:r>
              <a:rPr lang="en-IN" sz="1400" dirty="0">
                <a:hlinkClick r:id="rId21"/>
              </a:rPr>
              <a:t>Localized OpenStreetMap</a:t>
            </a:r>
            <a:endParaRPr lang="en-IN" sz="1400" dirty="0"/>
          </a:p>
          <a:p>
            <a:pPr marL="12700" marR="5080"/>
            <a:r>
              <a:rPr lang="en-US" sz="1400" dirty="0">
                <a:hlinkClick r:id="rId22"/>
              </a:rPr>
              <a:t>Artificial Intelligence Studies in Cartography</a:t>
            </a:r>
            <a:endParaRPr lang="en-US" sz="1400" dirty="0"/>
          </a:p>
        </p:txBody>
      </p:sp>
    </p:spTree>
    <p:extLst>
      <p:ext uri="{BB962C8B-B14F-4D97-AF65-F5344CB8AC3E}">
        <p14:creationId xmlns:p14="http://schemas.microsoft.com/office/powerpoint/2010/main" val="519676791"/>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E966-9FE9-F308-BA6C-FC07D24855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AC9DF-68B8-0F9F-86FD-5BA100985A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588047-3AED-C37F-79D7-66B291B8ED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3AEF44-05C3-D9CD-6C59-46CE7E5E407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F13A11-551D-B9E9-00AB-04AF5CE465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F7455-E471-A02A-D611-A263526642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D23894-FE70-A7CD-7EE5-03649096AE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85F349-CC6A-FEC9-6A77-D5FC4B0D48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E9719D-07CF-4B2B-D93F-A3BE969B00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8034DB-162A-EFD9-EFE7-B8B481079B91}"/>
              </a:ext>
            </a:extLst>
          </p:cNvPr>
          <p:cNvSpPr txBox="1">
            <a:spLocks/>
          </p:cNvSpPr>
          <p:nvPr/>
        </p:nvSpPr>
        <p:spPr>
          <a:xfrm>
            <a:off x="228600" y="7620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What are Location Based Services (LBS)?</a:t>
            </a:r>
          </a:p>
          <a:p>
            <a:pPr marL="12700" marR="5080"/>
            <a:r>
              <a:rPr lang="en-US" sz="1400" kern="0" spc="-80" dirty="0">
                <a:solidFill>
                  <a:schemeClr val="accent6"/>
                </a:solidFill>
              </a:rPr>
              <a:t>LBS deliver information or actions based on where something is (you, a vehicle, a sensor, a drone, a delivery boy, a lost cow wearing a GPS tag, etc.).</a:t>
            </a:r>
          </a:p>
          <a:p>
            <a:pPr marL="12700" marR="5080"/>
            <a:r>
              <a:rPr lang="en-US" sz="1400" kern="0" spc="-80" dirty="0">
                <a:solidFill>
                  <a:schemeClr val="accent6"/>
                </a:solidFill>
              </a:rPr>
              <a:t>At the core:</a:t>
            </a:r>
          </a:p>
          <a:p>
            <a:pPr marL="12700" marR="5080"/>
            <a:r>
              <a:rPr lang="en-US" sz="1400" kern="0" spc="-80" dirty="0">
                <a:solidFill>
                  <a:schemeClr val="accent6"/>
                </a:solidFill>
              </a:rPr>
              <a:t>       Sensors → Positioning → GIS Data → Spatial Computation → Application Logic → User Interaction</a:t>
            </a:r>
          </a:p>
          <a:p>
            <a:pPr marL="12700" marR="5080"/>
            <a:endParaRPr lang="en-US" sz="1400" kern="0" spc="-80" dirty="0">
              <a:solidFill>
                <a:schemeClr val="accent6"/>
              </a:solidFill>
            </a:endParaRPr>
          </a:p>
          <a:p>
            <a:pPr marL="12700" marR="5080"/>
            <a:r>
              <a:rPr lang="en-US" sz="1400" kern="0" spc="-80" dirty="0">
                <a:solidFill>
                  <a:schemeClr val="accent2"/>
                </a:solidFill>
              </a:rPr>
              <a:t>1) POSITIONING SYSTEMS (How Location is Determined)</a:t>
            </a:r>
          </a:p>
          <a:p>
            <a:pPr marL="12700" marR="5080"/>
            <a:r>
              <a:rPr lang="en-US" sz="1400" kern="0" spc="-80" dirty="0">
                <a:solidFill>
                  <a:schemeClr val="accent2"/>
                </a:solidFill>
              </a:rPr>
              <a:t>A) Satellite-based Positioning</a:t>
            </a:r>
          </a:p>
          <a:p>
            <a:pPr marL="12700" marR="5080"/>
            <a:r>
              <a:rPr lang="en-US" sz="1400" kern="0" spc="-80" dirty="0">
                <a:solidFill>
                  <a:schemeClr val="accent2"/>
                </a:solidFill>
              </a:rPr>
              <a:t>System	Name	Coverage</a:t>
            </a:r>
          </a:p>
          <a:p>
            <a:pPr marL="12700" marR="5080"/>
            <a:r>
              <a:rPr lang="en-US" sz="1400" kern="0" spc="-80" dirty="0">
                <a:solidFill>
                  <a:schemeClr val="accent6"/>
                </a:solidFill>
              </a:rPr>
              <a:t>GPS	US	Global</a:t>
            </a:r>
          </a:p>
          <a:p>
            <a:pPr marL="12700" marR="5080"/>
            <a:r>
              <a:rPr lang="en-US" sz="1400" kern="0" spc="-80" dirty="0">
                <a:solidFill>
                  <a:schemeClr val="accent6"/>
                </a:solidFill>
              </a:rPr>
              <a:t>GLONASS	Russia	Global</a:t>
            </a:r>
          </a:p>
          <a:p>
            <a:pPr marL="12700" marR="5080"/>
            <a:r>
              <a:rPr lang="en-US" sz="1400" kern="0" spc="-80" dirty="0">
                <a:solidFill>
                  <a:schemeClr val="accent6"/>
                </a:solidFill>
              </a:rPr>
              <a:t>Galileo	EU	Global</a:t>
            </a:r>
          </a:p>
          <a:p>
            <a:pPr marL="12700" marR="5080"/>
            <a:r>
              <a:rPr lang="en-US" sz="1400" kern="0" spc="-80" dirty="0">
                <a:solidFill>
                  <a:schemeClr val="accent6"/>
                </a:solidFill>
              </a:rPr>
              <a:t>BeiDou	China	Global</a:t>
            </a:r>
          </a:p>
          <a:p>
            <a:pPr marL="12700" marR="5080"/>
            <a:endParaRPr lang="en-US" sz="1400" kern="0" spc="-80" dirty="0">
              <a:solidFill>
                <a:schemeClr val="accent6"/>
              </a:solidFill>
            </a:endParaRPr>
          </a:p>
          <a:p>
            <a:pPr marL="12700" marR="5080"/>
            <a:r>
              <a:rPr lang="en-US" sz="1400" kern="0" spc="-80" dirty="0">
                <a:solidFill>
                  <a:schemeClr val="accent2"/>
                </a:solidFill>
              </a:rPr>
              <a:t>Math Behind GNSS</a:t>
            </a:r>
          </a:p>
          <a:p>
            <a:pPr marL="12700" marR="5080"/>
            <a:r>
              <a:rPr lang="en-US" sz="1400" kern="0" spc="-80" dirty="0">
                <a:solidFill>
                  <a:schemeClr val="accent2"/>
                </a:solidFill>
              </a:rPr>
              <a:t>Trilateration in 3D:</a:t>
            </a:r>
          </a:p>
          <a:p>
            <a:pPr marL="12700" marR="5080"/>
            <a:r>
              <a:rPr lang="en-US" sz="1400" kern="0" spc="-80" dirty="0">
                <a:solidFill>
                  <a:schemeClr val="accent6"/>
                </a:solidFill>
              </a:rPr>
              <a:t>(x – xi)² + (y – </a:t>
            </a:r>
            <a:r>
              <a:rPr lang="en-US" sz="1400" kern="0" spc="-80" dirty="0" err="1">
                <a:solidFill>
                  <a:schemeClr val="accent6"/>
                </a:solidFill>
              </a:rPr>
              <a:t>yi</a:t>
            </a:r>
            <a:r>
              <a:rPr lang="en-US" sz="1400" kern="0" spc="-80" dirty="0">
                <a:solidFill>
                  <a:schemeClr val="accent6"/>
                </a:solidFill>
              </a:rPr>
              <a:t>)² + (z – zi)² = (c * </a:t>
            </a:r>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)²</a:t>
            </a:r>
          </a:p>
          <a:p>
            <a:pPr marL="12700" marR="5080"/>
            <a:r>
              <a:rPr lang="en-US" sz="1400" kern="0" spc="-80" dirty="0">
                <a:solidFill>
                  <a:schemeClr val="accent2"/>
                </a:solidFill>
              </a:rPr>
              <a:t>where:</a:t>
            </a:r>
          </a:p>
          <a:p>
            <a:pPr marL="12700" marR="5080"/>
            <a:r>
              <a:rPr lang="en-US" sz="1400" kern="0" spc="-80" dirty="0">
                <a:solidFill>
                  <a:schemeClr val="accent6"/>
                </a:solidFill>
              </a:rPr>
              <a:t>(xi, </a:t>
            </a:r>
            <a:r>
              <a:rPr lang="en-US" sz="1400" kern="0" spc="-80" dirty="0" err="1">
                <a:solidFill>
                  <a:schemeClr val="accent6"/>
                </a:solidFill>
              </a:rPr>
              <a:t>yi</a:t>
            </a:r>
            <a:r>
              <a:rPr lang="en-US" sz="1400" kern="0" spc="-80" dirty="0">
                <a:solidFill>
                  <a:schemeClr val="accent6"/>
                </a:solidFill>
              </a:rPr>
              <a:t>, zi) = satellite position</a:t>
            </a:r>
          </a:p>
          <a:p>
            <a:pPr marL="12700" marR="5080"/>
            <a:r>
              <a:rPr lang="en-US" sz="1400" kern="0" spc="-80" dirty="0">
                <a:solidFill>
                  <a:schemeClr val="accent6"/>
                </a:solidFill>
              </a:rPr>
              <a:t>(x, y, z) = receiver location</a:t>
            </a:r>
          </a:p>
          <a:p>
            <a:pPr marL="12700" marR="5080"/>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 = time delay between satellite signal sent and received</a:t>
            </a:r>
          </a:p>
          <a:p>
            <a:pPr marL="12700" marR="5080"/>
            <a:r>
              <a:rPr lang="en-US" sz="1400" kern="0" spc="-80" dirty="0">
                <a:solidFill>
                  <a:schemeClr val="accent6"/>
                </a:solidFill>
              </a:rPr>
              <a:t>c = speed of light</a:t>
            </a:r>
          </a:p>
          <a:p>
            <a:pPr marL="12700" marR="5080"/>
            <a:r>
              <a:rPr lang="en-US" sz="1400" kern="0" spc="-80" dirty="0">
                <a:solidFill>
                  <a:schemeClr val="accent2"/>
                </a:solidFill>
              </a:rPr>
              <a:t>Requires 4 satellites to solve for x, y, z, and clock bias.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6927128"/>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65FB9-9321-1B4C-2CE9-3B3068C898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D98BE-78F4-0489-7ADE-3DC61EDA32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64786-94BA-1F6D-2866-805143A0FA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6D40E5-ED13-84E3-83B2-5217F07A268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BBC00B-FABC-0449-011A-173C207D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C56B1D-CD9F-173F-252D-07A4C9BB3C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B76BA-D0D2-701D-8DBD-3D0F4FBD20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33056E-1AD2-3A92-C081-473ED76A83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E3B98-5049-A292-BD43-056A1EBC2CB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AC956C8-5889-D0A6-154B-B9E957FB19C1}"/>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B) Cell Tower Positioning</a:t>
            </a:r>
          </a:p>
          <a:p>
            <a:pPr marL="12700" marR="5080"/>
            <a:r>
              <a:rPr lang="en-US" sz="1400" kern="0" spc="-80" dirty="0">
                <a:solidFill>
                  <a:schemeClr val="accent6"/>
                </a:solidFill>
              </a:rPr>
              <a:t>GSM Triangulation</a:t>
            </a:r>
          </a:p>
          <a:p>
            <a:pPr marL="12700" marR="5080"/>
            <a:r>
              <a:rPr lang="en-US" sz="1400" kern="0" spc="-80" dirty="0">
                <a:solidFill>
                  <a:schemeClr val="accent6"/>
                </a:solidFill>
              </a:rPr>
              <a:t>RSSI (signal strength)</a:t>
            </a:r>
          </a:p>
          <a:p>
            <a:pPr marL="12700" marR="5080"/>
            <a:r>
              <a:rPr lang="en-US" sz="1400" kern="0" spc="-80" dirty="0">
                <a:solidFill>
                  <a:schemeClr val="accent6"/>
                </a:solidFill>
              </a:rPr>
              <a:t>Time Difference of Arrival:</a:t>
            </a:r>
          </a:p>
          <a:p>
            <a:pPr marL="12700" marR="5080"/>
            <a:r>
              <a:rPr lang="en-US" sz="1400" kern="0" spc="-80" dirty="0">
                <a:solidFill>
                  <a:schemeClr val="accent6"/>
                </a:solidFill>
              </a:rPr>
              <a:t>d = c * </a:t>
            </a:r>
            <a:r>
              <a:rPr lang="el-GR" sz="1400" kern="0" spc="-80" dirty="0">
                <a:solidFill>
                  <a:schemeClr val="accent6"/>
                </a:solidFill>
              </a:rPr>
              <a:t>Δ</a:t>
            </a:r>
            <a:r>
              <a:rPr lang="en-US" sz="1400" kern="0" spc="-80" dirty="0">
                <a:solidFill>
                  <a:schemeClr val="accent6"/>
                </a:solidFill>
              </a:rPr>
              <a:t>t</a:t>
            </a:r>
          </a:p>
          <a:p>
            <a:pPr marL="12700" marR="5080"/>
            <a:endParaRPr lang="en-US" sz="1400" kern="0" spc="-80" dirty="0">
              <a:solidFill>
                <a:schemeClr val="accent6"/>
              </a:solidFill>
            </a:endParaRPr>
          </a:p>
          <a:p>
            <a:pPr marL="12700" marR="5080"/>
            <a:r>
              <a:rPr lang="en-US" sz="1400" kern="0" spc="-80" dirty="0">
                <a:solidFill>
                  <a:schemeClr val="accent2"/>
                </a:solidFill>
              </a:rPr>
              <a:t>C) Wi-Fi Positioning</a:t>
            </a:r>
          </a:p>
          <a:p>
            <a:pPr marL="12700" marR="5080"/>
            <a:r>
              <a:rPr lang="en-US" sz="1400" kern="0" spc="-80" dirty="0">
                <a:solidFill>
                  <a:schemeClr val="accent2"/>
                </a:solidFill>
              </a:rPr>
              <a:t>Fingerprinting:</a:t>
            </a:r>
          </a:p>
          <a:p>
            <a:pPr marL="12700" marR="5080"/>
            <a:r>
              <a:rPr lang="en-US" sz="1400" kern="0" spc="-80" dirty="0">
                <a:solidFill>
                  <a:schemeClr val="accent6"/>
                </a:solidFill>
              </a:rPr>
              <a:t>Build a radio map of Wi-Fi signal strengths</a:t>
            </a:r>
          </a:p>
          <a:p>
            <a:pPr marL="12700" marR="5080"/>
            <a:r>
              <a:rPr lang="en-US" sz="1400" kern="0" spc="-80" dirty="0">
                <a:solidFill>
                  <a:schemeClr val="accent6"/>
                </a:solidFill>
              </a:rPr>
              <a:t>Match real-time signal to nearest cluster</a:t>
            </a:r>
          </a:p>
          <a:p>
            <a:pPr marL="12700" marR="5080"/>
            <a:r>
              <a:rPr lang="en-US" sz="1400" kern="0" spc="-80" dirty="0">
                <a:solidFill>
                  <a:schemeClr val="accent2"/>
                </a:solidFill>
              </a:rPr>
              <a:t>Uses</a:t>
            </a:r>
            <a:r>
              <a:rPr lang="en-US" sz="1400" kern="0" spc="-80" dirty="0">
                <a:solidFill>
                  <a:schemeClr val="accent6"/>
                </a:solidFill>
              </a:rPr>
              <a:t> K-NN, Random Forest, Deep Learning.</a:t>
            </a:r>
          </a:p>
          <a:p>
            <a:pPr marL="12700" marR="5080"/>
            <a:endParaRPr lang="en-US" sz="1400" kern="0" spc="-80" dirty="0">
              <a:solidFill>
                <a:schemeClr val="accent6"/>
              </a:solidFill>
            </a:endParaRPr>
          </a:p>
          <a:p>
            <a:pPr marL="12700" marR="5080"/>
            <a:r>
              <a:rPr lang="en-US" sz="1400" kern="0" spc="-80" dirty="0">
                <a:solidFill>
                  <a:schemeClr val="accent2"/>
                </a:solidFill>
              </a:rPr>
              <a:t>D) Bluetooth / BLE (Indoor)</a:t>
            </a:r>
          </a:p>
          <a:p>
            <a:pPr marL="12700" marR="5080"/>
            <a:r>
              <a:rPr lang="en-US" sz="1400" kern="0" spc="-80" dirty="0" err="1">
                <a:solidFill>
                  <a:schemeClr val="accent6"/>
                </a:solidFill>
              </a:rPr>
              <a:t>iBeacons</a:t>
            </a:r>
            <a:endParaRPr lang="en-US" sz="1400" kern="0" spc="-80" dirty="0">
              <a:solidFill>
                <a:schemeClr val="accent6"/>
              </a:solidFill>
            </a:endParaRPr>
          </a:p>
          <a:p>
            <a:pPr marL="12700" marR="5080"/>
            <a:r>
              <a:rPr lang="en-US" sz="1400" kern="0" spc="-80" dirty="0">
                <a:solidFill>
                  <a:schemeClr val="accent6"/>
                </a:solidFill>
              </a:rPr>
              <a:t>Distance estimate via Log-distance path loss model:</a:t>
            </a:r>
          </a:p>
          <a:p>
            <a:pPr marL="12700" marR="5080"/>
            <a:r>
              <a:rPr lang="en-US" sz="1400" kern="0" spc="-80" dirty="0">
                <a:solidFill>
                  <a:schemeClr val="accent6"/>
                </a:solidFill>
              </a:rPr>
              <a:t>d = 10 ^ ((RSSI0 - RSSI) / (10 * n))</a:t>
            </a:r>
          </a:p>
          <a:p>
            <a:pPr marL="12700" marR="5080"/>
            <a:endParaRPr lang="en-US" sz="1400" kern="0" spc="-80" dirty="0">
              <a:solidFill>
                <a:schemeClr val="accent6"/>
              </a:solidFill>
            </a:endParaRPr>
          </a:p>
          <a:p>
            <a:pPr marL="12700" marR="5080"/>
            <a:r>
              <a:rPr lang="en-US" sz="1400" kern="0" spc="-80" dirty="0">
                <a:solidFill>
                  <a:schemeClr val="accent2"/>
                </a:solidFill>
              </a:rPr>
              <a:t>E) Inertial Positioning (Pedestrian Dead Reckoning)</a:t>
            </a:r>
          </a:p>
          <a:p>
            <a:pPr marL="12700" marR="5080"/>
            <a:r>
              <a:rPr lang="en-US" sz="1400" kern="0" spc="-80" dirty="0">
                <a:solidFill>
                  <a:schemeClr val="accent6"/>
                </a:solidFill>
              </a:rPr>
              <a:t>Sensors: accelerometer + gyroscope + magnetometer.</a:t>
            </a:r>
          </a:p>
          <a:p>
            <a:pPr marL="12700" marR="5080"/>
            <a:r>
              <a:rPr lang="en-US" sz="1400" kern="0" spc="-80" dirty="0">
                <a:solidFill>
                  <a:schemeClr val="accent2"/>
                </a:solidFill>
              </a:rPr>
              <a:t>Math:</a:t>
            </a:r>
          </a:p>
          <a:p>
            <a:pPr marL="12700" marR="5080"/>
            <a:r>
              <a:rPr lang="en-US" sz="1400" kern="0" spc="-80" dirty="0">
                <a:solidFill>
                  <a:schemeClr val="accent6"/>
                </a:solidFill>
              </a:rPr>
              <a:t>Step detection → Peak detection</a:t>
            </a:r>
          </a:p>
        </p:txBody>
      </p:sp>
    </p:spTree>
    <p:extLst>
      <p:ext uri="{BB962C8B-B14F-4D97-AF65-F5344CB8AC3E}">
        <p14:creationId xmlns:p14="http://schemas.microsoft.com/office/powerpoint/2010/main" val="3562804445"/>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05-D05B-4699-668C-A1DFD589B2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DA3F5-DCFA-A559-7FB9-045C0BC91E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929A16-6393-990E-70B6-4C73A26AC1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594421-9CD8-F98D-3B77-334783360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5BC330-A031-9DD0-56A0-ED84EB5E1F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0DD018-808A-8618-0182-575C4FA27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B7DF756-4E48-5AEF-0C11-9AE1C9EF79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19B8C7-6532-9506-D99C-87D6BE216E4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844CAA-F195-21BF-B361-AE9C16B37B7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0550E9-3C99-FBAB-349D-4319C75A27E3}"/>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6"/>
                </a:solidFill>
              </a:rPr>
              <a:t>Heading → Quaternion rotation matrices</a:t>
            </a:r>
          </a:p>
          <a:p>
            <a:pPr marL="12700" marR="5080"/>
            <a:r>
              <a:rPr lang="en-US" sz="1400" kern="0" spc="-80" dirty="0">
                <a:solidFill>
                  <a:schemeClr val="accent6"/>
                </a:solidFill>
              </a:rPr>
              <a:t>Position = </a:t>
            </a:r>
            <a:r>
              <a:rPr lang="en-US" sz="1400" kern="0" spc="-80" dirty="0" err="1">
                <a:solidFill>
                  <a:schemeClr val="accent6"/>
                </a:solidFill>
              </a:rPr>
              <a:t>previous_position</a:t>
            </a:r>
            <a:r>
              <a:rPr lang="en-US" sz="1400" kern="0" spc="-80" dirty="0">
                <a:solidFill>
                  <a:schemeClr val="accent6"/>
                </a:solidFill>
              </a:rPr>
              <a:t> + </a:t>
            </a:r>
            <a:r>
              <a:rPr lang="en-US" sz="1400" kern="0" spc="-80" dirty="0" err="1">
                <a:solidFill>
                  <a:schemeClr val="accent6"/>
                </a:solidFill>
              </a:rPr>
              <a:t>step_length</a:t>
            </a:r>
            <a:r>
              <a:rPr lang="en-US" sz="1400" kern="0" spc="-80" dirty="0">
                <a:solidFill>
                  <a:schemeClr val="accent6"/>
                </a:solidFill>
              </a:rPr>
              <a:t> * direction</a:t>
            </a:r>
          </a:p>
          <a:p>
            <a:pPr marL="12700" marR="5080"/>
            <a:r>
              <a:rPr lang="en-US" sz="1400" kern="0" spc="-80" dirty="0">
                <a:solidFill>
                  <a:schemeClr val="accent6"/>
                </a:solidFill>
              </a:rPr>
              <a:t>Drift grows over time, corrected using Wi-Fi/BLE anchors.</a:t>
            </a:r>
          </a:p>
          <a:p>
            <a:pPr marL="12700" marR="5080"/>
            <a:endParaRPr lang="en-US" sz="1400" kern="0" spc="-80" dirty="0">
              <a:solidFill>
                <a:schemeClr val="accent6"/>
              </a:solidFill>
            </a:endParaRPr>
          </a:p>
          <a:p>
            <a:pPr marL="12700" marR="5080"/>
            <a:r>
              <a:rPr lang="en-US" sz="1400" kern="0" spc="-80" dirty="0">
                <a:solidFill>
                  <a:schemeClr val="accent2"/>
                </a:solidFill>
              </a:rPr>
              <a:t>2</a:t>
            </a:r>
            <a:r>
              <a:rPr lang="el-GR" sz="1400" kern="0" spc="-80" dirty="0">
                <a:solidFill>
                  <a:schemeClr val="accent2"/>
                </a:solidFill>
              </a:rPr>
              <a:t>) </a:t>
            </a:r>
            <a:r>
              <a:rPr lang="en-US" sz="1400" kern="0" spc="-80" dirty="0">
                <a:solidFill>
                  <a:schemeClr val="accent2"/>
                </a:solidFill>
              </a:rPr>
              <a:t>LOCATION SEMANTICS (Meaning of Place)</a:t>
            </a:r>
          </a:p>
          <a:p>
            <a:pPr marL="12700" marR="5080"/>
            <a:r>
              <a:rPr lang="en-US" sz="1400" kern="0" spc="-80" dirty="0">
                <a:solidFill>
                  <a:schemeClr val="accent6"/>
                </a:solidFill>
              </a:rPr>
              <a:t>POI Categorization (restaurants, hospitals, ATM…)</a:t>
            </a:r>
          </a:p>
          <a:p>
            <a:pPr marL="12700" marR="5080"/>
            <a:r>
              <a:rPr lang="en-US" sz="1400" kern="0" spc="-80" dirty="0">
                <a:solidFill>
                  <a:schemeClr val="accent6"/>
                </a:solidFill>
              </a:rPr>
              <a:t>Reverse Geocoding (coordinates → address)</a:t>
            </a:r>
          </a:p>
          <a:p>
            <a:pPr marL="12700" marR="5080"/>
            <a:r>
              <a:rPr lang="en-US" sz="1400" kern="0" spc="-80" dirty="0">
                <a:solidFill>
                  <a:schemeClr val="accent6"/>
                </a:solidFill>
              </a:rPr>
              <a:t>Geocoding (address → coordinates)</a:t>
            </a:r>
          </a:p>
          <a:p>
            <a:pPr marL="12700" marR="5080"/>
            <a:r>
              <a:rPr lang="en-US" sz="1400" kern="0" spc="-80" dirty="0">
                <a:solidFill>
                  <a:schemeClr val="accent6"/>
                </a:solidFill>
              </a:rPr>
              <a:t>Place Graphs (e.g., Google Places Knowledge Graph)</a:t>
            </a:r>
          </a:p>
          <a:p>
            <a:pPr marL="12700" marR="5080"/>
            <a:endParaRPr lang="en-US" sz="1400" kern="0" spc="-80" dirty="0">
              <a:solidFill>
                <a:schemeClr val="accent6"/>
              </a:solidFill>
            </a:endParaRPr>
          </a:p>
          <a:p>
            <a:pPr marL="12700" marR="5080"/>
            <a:r>
              <a:rPr lang="en-US" sz="1400" kern="0" spc="-80" dirty="0">
                <a:solidFill>
                  <a:schemeClr val="accent2"/>
                </a:solidFill>
              </a:rPr>
              <a:t>3) MOTION + BEHAVIOR MODELING</a:t>
            </a:r>
          </a:p>
          <a:p>
            <a:pPr marL="12700" marR="5080"/>
            <a:r>
              <a:rPr lang="en-US" sz="1400" kern="0" spc="-80" dirty="0">
                <a:solidFill>
                  <a:schemeClr val="accent2"/>
                </a:solidFill>
              </a:rPr>
              <a:t>Used for:</a:t>
            </a:r>
          </a:p>
          <a:p>
            <a:pPr marL="12700" marR="5080"/>
            <a:r>
              <a:rPr lang="en-US" sz="1400" kern="0" spc="-80" dirty="0">
                <a:solidFill>
                  <a:schemeClr val="accent6"/>
                </a:solidFill>
              </a:rPr>
              <a:t>ETA estimation</a:t>
            </a:r>
          </a:p>
          <a:p>
            <a:pPr marL="12700" marR="5080"/>
            <a:r>
              <a:rPr lang="en-US" sz="1400" kern="0" spc="-80" dirty="0">
                <a:solidFill>
                  <a:schemeClr val="accent6"/>
                </a:solidFill>
              </a:rPr>
              <a:t>User activity recognition (running, driving)</a:t>
            </a:r>
          </a:p>
          <a:p>
            <a:pPr marL="12700" marR="5080"/>
            <a:r>
              <a:rPr lang="en-US" sz="1400" kern="0" spc="-80" dirty="0">
                <a:solidFill>
                  <a:schemeClr val="accent2"/>
                </a:solidFill>
              </a:rPr>
              <a:t>Techniques:</a:t>
            </a:r>
          </a:p>
          <a:p>
            <a:pPr marL="12700" marR="5080"/>
            <a:r>
              <a:rPr lang="en-US" sz="1400" kern="0" spc="-80" dirty="0">
                <a:solidFill>
                  <a:schemeClr val="accent6"/>
                </a:solidFill>
              </a:rPr>
              <a:t>Kalman Filter, Particle Filter</a:t>
            </a:r>
          </a:p>
          <a:p>
            <a:pPr marL="12700" marR="5080"/>
            <a:r>
              <a:rPr lang="en-US" sz="1400" kern="0" spc="-80" dirty="0">
                <a:solidFill>
                  <a:schemeClr val="accent6"/>
                </a:solidFill>
              </a:rPr>
              <a:t>Bayesian Inference</a:t>
            </a:r>
          </a:p>
          <a:p>
            <a:pPr marL="12700" marR="5080"/>
            <a:r>
              <a:rPr lang="en-US" sz="1400" kern="0" spc="-80" dirty="0">
                <a:solidFill>
                  <a:schemeClr val="accent6"/>
                </a:solidFill>
              </a:rPr>
              <a:t>Neural trajectory models</a:t>
            </a:r>
          </a:p>
          <a:p>
            <a:pPr marL="12700" marR="5080"/>
            <a:r>
              <a:rPr lang="en-US" sz="1400" kern="0" spc="-80" dirty="0">
                <a:solidFill>
                  <a:schemeClr val="accent6"/>
                </a:solidFill>
              </a:rPr>
              <a:t>Kalman update:</a:t>
            </a:r>
          </a:p>
          <a:p>
            <a:pPr marL="12700" marR="5080"/>
            <a:r>
              <a:rPr lang="en-US" sz="1400" kern="0" spc="-80" dirty="0">
                <a:solidFill>
                  <a:schemeClr val="accent6"/>
                </a:solidFill>
              </a:rPr>
              <a:t>x̂(</a:t>
            </a:r>
            <a:r>
              <a:rPr lang="en-US" sz="1400" kern="0" spc="-80" dirty="0" err="1">
                <a:solidFill>
                  <a:schemeClr val="accent6"/>
                </a:solidFill>
              </a:rPr>
              <a:t>k|k</a:t>
            </a:r>
            <a:r>
              <a:rPr lang="en-US" sz="1400" kern="0" spc="-80" dirty="0">
                <a:solidFill>
                  <a:schemeClr val="accent6"/>
                </a:solidFill>
              </a:rPr>
              <a:t>) = x̂(k|k-1) + K(k)(z(k) - </a:t>
            </a:r>
            <a:r>
              <a:rPr lang="en-US" sz="1400" kern="0" spc="-80" dirty="0" err="1">
                <a:solidFill>
                  <a:schemeClr val="accent6"/>
                </a:solidFill>
              </a:rPr>
              <a:t>Hx</a:t>
            </a:r>
            <a:r>
              <a:rPr lang="en-US" sz="1400" kern="0" spc="-80" dirty="0">
                <a:solidFill>
                  <a:schemeClr val="accent6"/>
                </a:solidFill>
              </a:rPr>
              <a:t>̂(k|k-1))</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316922"/>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1252A-73D5-D11B-41E0-71C1031081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29C577-1642-5F62-9CE2-966B60CD7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D44427-58A3-82A1-4152-A43AAE3630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138D5-67F7-9A8C-8BE0-76AC87F861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C3E77E-FAE8-58F5-0F4A-4179138E5D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0C12AA-A3C9-3D57-01B5-8146E9FC23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E08C8D-BC90-7B08-2ECE-7C3E927EF6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98CA7B-70B5-D1AD-94DD-8E82A96B9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8534F2-0405-2521-9090-248D0A5EEBE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57DCB74-19D3-374D-8E42-52EE1F564E15}"/>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4) LBS APPLICATION LAYERS</a:t>
            </a:r>
          </a:p>
          <a:p>
            <a:pPr marL="12700" marR="5080"/>
            <a:r>
              <a:rPr lang="en-US" sz="1400" kern="0" spc="-80" dirty="0">
                <a:solidFill>
                  <a:schemeClr val="accent2"/>
                </a:solidFill>
              </a:rPr>
              <a:t>Category                       Examples	                          Logic</a:t>
            </a:r>
          </a:p>
          <a:p>
            <a:pPr marL="12700" marR="5080"/>
            <a:r>
              <a:rPr lang="en-US" sz="1400" kern="0" spc="-80" dirty="0">
                <a:solidFill>
                  <a:schemeClr val="accent6"/>
                </a:solidFill>
              </a:rPr>
              <a:t>Navigation	                    Google Maps, Waze	       Routing + ETA prediction</a:t>
            </a:r>
          </a:p>
          <a:p>
            <a:pPr marL="12700" marR="5080"/>
            <a:r>
              <a:rPr lang="en-US" sz="1400" kern="0" spc="-80" dirty="0">
                <a:solidFill>
                  <a:schemeClr val="accent6"/>
                </a:solidFill>
              </a:rPr>
              <a:t>Delivery / Mobility	Uber, Swiggy	       Real-time location + optimization</a:t>
            </a:r>
          </a:p>
          <a:p>
            <a:pPr marL="12700" marR="5080"/>
            <a:r>
              <a:rPr lang="en-US" sz="1400" kern="0" spc="-80" dirty="0">
                <a:solidFill>
                  <a:schemeClr val="accent6"/>
                </a:solidFill>
              </a:rPr>
              <a:t>Tracking	                    Fleet systems	       Geofencing + route deviation</a:t>
            </a:r>
          </a:p>
          <a:p>
            <a:pPr marL="12700" marR="5080"/>
            <a:r>
              <a:rPr lang="en-US" sz="1400" kern="0" spc="-80" dirty="0">
                <a:solidFill>
                  <a:schemeClr val="accent6"/>
                </a:solidFill>
              </a:rPr>
              <a:t>AR Location	Pokémon GO	       Camera pose + SLAM + GPS</a:t>
            </a:r>
          </a:p>
          <a:p>
            <a:pPr marL="12700" marR="5080"/>
            <a:r>
              <a:rPr lang="en-US" sz="1400" kern="0" spc="-80" dirty="0">
                <a:solidFill>
                  <a:schemeClr val="accent6"/>
                </a:solidFill>
              </a:rPr>
              <a:t>IoT Location	Asset tracking sensors      BLE + Edge computation</a:t>
            </a:r>
          </a:p>
          <a:p>
            <a:pPr marL="12700" marR="5080"/>
            <a:endParaRPr lang="en-US" sz="1400" kern="0" spc="-80" dirty="0">
              <a:solidFill>
                <a:schemeClr val="accent6"/>
              </a:solidFill>
            </a:endParaRPr>
          </a:p>
          <a:p>
            <a:pPr marL="12700" marR="5080"/>
            <a:r>
              <a:rPr lang="en-US" sz="1400" kern="0" spc="-80" dirty="0">
                <a:solidFill>
                  <a:schemeClr val="accent2"/>
                </a:solidFill>
              </a:rPr>
              <a:t>5) PIPELINE SUMMARY</a:t>
            </a:r>
          </a:p>
          <a:p>
            <a:pPr marL="12700" marR="5080"/>
            <a:r>
              <a:rPr lang="en-US" sz="1400" kern="0" spc="-80" dirty="0">
                <a:solidFill>
                  <a:schemeClr val="accent6"/>
                </a:solidFill>
              </a:rPr>
              <a:t>GPS/Cell/Wi-Fi/BLE → Sensor Fusion → Map Matching → GIS Spatial Operations → Application Logic → UI/UX</a:t>
            </a:r>
          </a:p>
          <a:p>
            <a:pPr marL="12700" marR="5080"/>
            <a:endParaRPr lang="en-US" sz="1400" kern="0" spc="-80" dirty="0">
              <a:solidFill>
                <a:schemeClr val="accent6"/>
              </a:solidFill>
            </a:endParaRPr>
          </a:p>
          <a:p>
            <a:pPr marL="12700" marR="5080"/>
            <a:r>
              <a:rPr lang="en-US" sz="1400" kern="0" spc="-80" dirty="0">
                <a:solidFill>
                  <a:schemeClr val="accent2"/>
                </a:solidFill>
              </a:rPr>
              <a:t>6) THE GRAND MATH SUMMARY</a:t>
            </a:r>
          </a:p>
          <a:p>
            <a:pPr marL="12700" marR="5080"/>
            <a:r>
              <a:rPr lang="en-US" sz="1400" kern="0" spc="-80" dirty="0">
                <a:solidFill>
                  <a:schemeClr val="accent6"/>
                </a:solidFill>
              </a:rPr>
              <a:t>Trilateration (GNSS)</a:t>
            </a:r>
          </a:p>
          <a:p>
            <a:pPr marL="12700" marR="5080"/>
            <a:r>
              <a:rPr lang="en-US" sz="1400" kern="0" spc="-80" dirty="0">
                <a:solidFill>
                  <a:schemeClr val="accent6"/>
                </a:solidFill>
              </a:rPr>
              <a:t>Triangulation (Cell, BLE)</a:t>
            </a:r>
          </a:p>
          <a:p>
            <a:pPr marL="12700" marR="5080"/>
            <a:r>
              <a:rPr lang="en-US" sz="1400" kern="0" spc="-80" dirty="0">
                <a:solidFill>
                  <a:schemeClr val="accent6"/>
                </a:solidFill>
              </a:rPr>
              <a:t>Quaternion Rotations (IMU motion)</a:t>
            </a:r>
          </a:p>
          <a:p>
            <a:pPr marL="12700" marR="5080"/>
            <a:r>
              <a:rPr lang="en-US" sz="1400" kern="0" spc="-80" dirty="0">
                <a:solidFill>
                  <a:schemeClr val="accent6"/>
                </a:solidFill>
              </a:rPr>
              <a:t>Haversine &amp; Spherical Geometry (distances)</a:t>
            </a:r>
          </a:p>
          <a:p>
            <a:pPr marL="12700" marR="5080"/>
            <a:r>
              <a:rPr lang="en-US" sz="1400" kern="0" spc="-80" dirty="0">
                <a:solidFill>
                  <a:schemeClr val="accent6"/>
                </a:solidFill>
              </a:rPr>
              <a:t>Graph Theory (routing)</a:t>
            </a:r>
          </a:p>
          <a:p>
            <a:pPr marL="12700" marR="5080"/>
            <a:r>
              <a:rPr lang="en-US" sz="1400" kern="0" spc="-80" dirty="0">
                <a:solidFill>
                  <a:schemeClr val="accent6"/>
                </a:solidFill>
              </a:rPr>
              <a:t>Bayesian Inference &amp; Kalman Filters (motion smoothing)</a:t>
            </a:r>
          </a:p>
          <a:p>
            <a:pPr marL="12700" marR="5080"/>
            <a:r>
              <a:rPr lang="en-US" sz="1400" kern="0" spc="-80" dirty="0">
                <a:solidFill>
                  <a:schemeClr val="accent6"/>
                </a:solidFill>
              </a:rPr>
              <a:t>R-trees / KD-Trees (spatial indexing)</a:t>
            </a:r>
          </a:p>
          <a:p>
            <a:pPr marL="12700" marR="5080"/>
            <a:r>
              <a:rPr lang="en-US" sz="1400" kern="0" spc="-80" dirty="0">
                <a:solidFill>
                  <a:schemeClr val="accent6"/>
                </a:solidFill>
              </a:rPr>
              <a:t>Hidden Markov Models (map matching)</a:t>
            </a:r>
          </a:p>
          <a:p>
            <a:pPr marL="12700" marR="5080"/>
            <a:r>
              <a:rPr lang="en-US" sz="1400" kern="0" spc="-80" dirty="0">
                <a:solidFill>
                  <a:schemeClr val="accent6"/>
                </a:solidFill>
              </a:rPr>
              <a:t>Deep Learning (Wi-Fi fingerprinting, ETA prediction).</a:t>
            </a: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400375768"/>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1F25-73B1-0041-7F96-583C174292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0549D2-0418-D71E-5ED5-D9385A09BF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9AE30C-3B07-4B44-0EB5-D8412A959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7AB5D-B8D8-AC62-5A44-9772B6669AF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234BC2-6F76-A7AC-CF0A-904D807A8D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007D8-7CDB-AC8C-8495-4870F316A5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53AE0E-DBEA-9A58-2B33-8FDD5B8DFA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582A8A-B9CD-F05F-6825-8D31BD4AB1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EAB021-D89E-C944-37F0-943FBD115D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C90F285-2CAA-40F6-CF10-6FF489AF361B}"/>
              </a:ext>
            </a:extLst>
          </p:cNvPr>
          <p:cNvSpPr txBox="1">
            <a:spLocks/>
          </p:cNvSpPr>
          <p:nvPr/>
        </p:nvSpPr>
        <p:spPr>
          <a:xfrm>
            <a:off x="228600" y="762000"/>
            <a:ext cx="8624937" cy="15850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For Further Exploration</a:t>
            </a:r>
          </a:p>
          <a:p>
            <a:pPr marL="12700" marR="5080"/>
            <a:r>
              <a:rPr lang="en-US" sz="1400" dirty="0">
                <a:hlinkClick r:id="rId7"/>
              </a:rPr>
              <a:t>Location-Based Services and Geo-Information Engineering </a:t>
            </a:r>
            <a:endParaRPr lang="en-US" sz="1400" dirty="0"/>
          </a:p>
          <a:p>
            <a:pPr marL="12700" marR="5080"/>
            <a:r>
              <a:rPr lang="en-US" sz="1400" dirty="0">
                <a:hlinkClick r:id="rId8"/>
              </a:rPr>
              <a:t>Location-based services and GIS in perspective - ScienceDirect</a:t>
            </a:r>
            <a:endParaRPr lang="en-US" sz="1400" kern="0" spc="-80" dirty="0">
              <a:solidFill>
                <a:schemeClr val="accent2"/>
              </a:solidFill>
            </a:endParaRPr>
          </a:p>
          <a:p>
            <a:pPr marL="12700" marR="5080"/>
            <a:r>
              <a:rPr lang="en-US" sz="1400" dirty="0">
                <a:hlinkClick r:id="rId9"/>
              </a:rPr>
              <a:t>Location based services: ongoing evolution and research agenda</a:t>
            </a:r>
            <a:endParaRPr lang="en-US" sz="1400" kern="0" spc="-80" dirty="0">
              <a:solidFill>
                <a:schemeClr val="accent6"/>
              </a:solidFill>
            </a:endParaRPr>
          </a:p>
          <a:p>
            <a:pPr marL="12700" marR="5080"/>
            <a:r>
              <a:rPr lang="en-US" sz="1400" dirty="0">
                <a:hlinkClick r:id="rId10"/>
              </a:rPr>
              <a:t>Location-Enabled IoT (LE-IoT)</a:t>
            </a:r>
            <a:endParaRPr lang="en-US" sz="1400" dirty="0"/>
          </a:p>
          <a:p>
            <a:pPr marL="12700" marR="5080"/>
            <a:r>
              <a:rPr lang="en-US" sz="1400" dirty="0">
                <a:hlinkClick r:id="rId11"/>
              </a:rPr>
              <a:t>A Review of Indoor/Outdoor Localization Solutions in IoT era</a:t>
            </a:r>
            <a:endParaRPr lang="en-US" sz="1400" kern="0" spc="-80" dirty="0">
              <a:solidFill>
                <a:schemeClr val="accent2"/>
              </a:solidFill>
            </a:endParaRPr>
          </a:p>
        </p:txBody>
      </p:sp>
    </p:spTree>
    <p:extLst>
      <p:ext uri="{BB962C8B-B14F-4D97-AF65-F5344CB8AC3E}">
        <p14:creationId xmlns:p14="http://schemas.microsoft.com/office/powerpoint/2010/main" val="344733797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3E3-DC77-26EE-0EC1-50DAEC8127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39F90-807D-FEFF-F686-7FC826F23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510B9-69EB-4A1C-249E-1D49590961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2CC24-DF2D-8531-9BCD-550606DDFAF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79B8111-1BDD-4333-0734-C0B775AD923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B4AE2D-D361-CC21-82D1-79A39BA8FF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17384-2FB3-756B-0331-0FD3C8CA73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FF48DC-3276-F9F8-3728-9275D7EE39E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C06CF5-7167-B700-27F7-FEE8D8F737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C62CF13-0CC2-B17C-C63E-F762590D0968}"/>
              </a:ext>
            </a:extLst>
          </p:cNvPr>
          <p:cNvSpPr txBox="1">
            <a:spLocks/>
          </p:cNvSpPr>
          <p:nvPr/>
        </p:nvSpPr>
        <p:spPr>
          <a:xfrm>
            <a:off x="228600" y="7620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2"/>
                </a:solidFill>
              </a:rPr>
              <a:t>Mobile App Development</a:t>
            </a:r>
          </a:p>
          <a:p>
            <a:pPr marL="12700" marR="5080"/>
            <a:r>
              <a:rPr lang="en-US" sz="1400" kern="0" spc="-80" dirty="0">
                <a:solidFill>
                  <a:schemeClr val="accent2"/>
                </a:solidFill>
              </a:rPr>
              <a:t>Platforms</a:t>
            </a:r>
          </a:p>
          <a:p>
            <a:pPr marL="12700" marR="5080"/>
            <a:r>
              <a:rPr lang="en-US" sz="1400" kern="0" spc="-80" dirty="0">
                <a:solidFill>
                  <a:schemeClr val="accent6"/>
                </a:solidFill>
              </a:rPr>
              <a:t>iOS (Swift, </a:t>
            </a:r>
            <a:r>
              <a:rPr lang="en-US" sz="1400" kern="0" spc="-80" dirty="0" err="1">
                <a:solidFill>
                  <a:schemeClr val="accent6"/>
                </a:solidFill>
              </a:rPr>
              <a:t>CoreLocation</a:t>
            </a:r>
            <a:r>
              <a:rPr lang="en-US" sz="1400" kern="0" spc="-80" dirty="0">
                <a:solidFill>
                  <a:schemeClr val="accent6"/>
                </a:solidFill>
              </a:rPr>
              <a:t>, </a:t>
            </a:r>
            <a:r>
              <a:rPr lang="en-US" sz="1400" kern="0" spc="-80" dirty="0" err="1">
                <a:solidFill>
                  <a:schemeClr val="accent6"/>
                </a:solidFill>
              </a:rPr>
              <a:t>MapKit</a:t>
            </a:r>
            <a:r>
              <a:rPr lang="en-US" sz="1400" kern="0" spc="-80" dirty="0">
                <a:solidFill>
                  <a:schemeClr val="accent6"/>
                </a:solidFill>
              </a:rPr>
              <a:t>)</a:t>
            </a:r>
          </a:p>
          <a:p>
            <a:pPr marL="12700" marR="5080"/>
            <a:r>
              <a:rPr lang="en-US" sz="1400" kern="0" spc="-80" dirty="0">
                <a:solidFill>
                  <a:schemeClr val="accent6"/>
                </a:solidFill>
              </a:rPr>
              <a:t>Android (Kotlin/Java, </a:t>
            </a:r>
            <a:r>
              <a:rPr lang="en-US" sz="1400" kern="0" spc="-80" dirty="0" err="1">
                <a:solidFill>
                  <a:schemeClr val="accent6"/>
                </a:solidFill>
              </a:rPr>
              <a:t>LocationManager</a:t>
            </a:r>
            <a:r>
              <a:rPr lang="en-US" sz="1400" kern="0" spc="-80" dirty="0">
                <a:solidFill>
                  <a:schemeClr val="accent6"/>
                </a:solidFill>
              </a:rPr>
              <a:t>, </a:t>
            </a:r>
            <a:r>
              <a:rPr lang="en-US" sz="1400" kern="0" spc="-80" dirty="0" err="1">
                <a:solidFill>
                  <a:schemeClr val="accent6"/>
                </a:solidFill>
              </a:rPr>
              <a:t>FusedLocationProvider</a:t>
            </a:r>
            <a:r>
              <a:rPr lang="en-US" sz="1400" kern="0" spc="-80" dirty="0">
                <a:solidFill>
                  <a:schemeClr val="accent6"/>
                </a:solidFill>
              </a:rPr>
              <a:t>)</a:t>
            </a:r>
          </a:p>
          <a:p>
            <a:pPr marL="12700" marR="5080"/>
            <a:r>
              <a:rPr lang="en-US" sz="1400" kern="0" spc="-80" dirty="0">
                <a:solidFill>
                  <a:schemeClr val="accent6"/>
                </a:solidFill>
              </a:rPr>
              <a:t>Cross-platform (Flutter, React Native, Xamarin, Unity)</a:t>
            </a:r>
          </a:p>
          <a:p>
            <a:pPr marL="12700" marR="5080"/>
            <a:r>
              <a:rPr lang="en-US" sz="1400" kern="0" spc="-80" dirty="0">
                <a:solidFill>
                  <a:schemeClr val="accent2"/>
                </a:solidFill>
              </a:rPr>
              <a:t>Permissions &amp; Privacy</a:t>
            </a:r>
          </a:p>
          <a:p>
            <a:pPr marL="12700" marR="5080"/>
            <a:r>
              <a:rPr lang="en-US" sz="1400" kern="0" spc="-80" dirty="0">
                <a:solidFill>
                  <a:schemeClr val="accent6"/>
                </a:solidFill>
              </a:rPr>
              <a:t>Runtime location permissions (foreground &amp; background)</a:t>
            </a:r>
          </a:p>
          <a:p>
            <a:pPr marL="12700" marR="5080"/>
            <a:r>
              <a:rPr lang="en-US" sz="1400" kern="0" spc="-80" dirty="0">
                <a:solidFill>
                  <a:schemeClr val="accent6"/>
                </a:solidFill>
              </a:rPr>
              <a:t>Privacy policies and GDPR compliance</a:t>
            </a:r>
          </a:p>
          <a:p>
            <a:pPr marL="12700" marR="5080"/>
            <a:r>
              <a:rPr lang="en-US" sz="1400" kern="0" spc="-80" dirty="0">
                <a:solidFill>
                  <a:schemeClr val="accent6"/>
                </a:solidFill>
              </a:rPr>
              <a:t>Best practices for minimal location data usage</a:t>
            </a:r>
          </a:p>
          <a:p>
            <a:pPr marL="12700" marR="5080"/>
            <a:r>
              <a:rPr lang="en-US" sz="1400" kern="0" spc="-80" dirty="0">
                <a:solidFill>
                  <a:schemeClr val="accent2"/>
                </a:solidFill>
              </a:rPr>
              <a:t>Sensors &amp; Device Integration</a:t>
            </a:r>
          </a:p>
          <a:p>
            <a:pPr marL="12700" marR="5080"/>
            <a:r>
              <a:rPr lang="en-US" sz="1400" kern="0" spc="-80" dirty="0">
                <a:solidFill>
                  <a:schemeClr val="accent6"/>
                </a:solidFill>
              </a:rPr>
              <a:t>Accelerometer, gyroscope (for movement detection)</a:t>
            </a:r>
          </a:p>
          <a:p>
            <a:pPr marL="12700" marR="5080"/>
            <a:r>
              <a:rPr lang="en-US" sz="1400" kern="0" spc="-80" dirty="0">
                <a:solidFill>
                  <a:schemeClr val="accent6"/>
                </a:solidFill>
              </a:rPr>
              <a:t>Compass (orientation)</a:t>
            </a:r>
          </a:p>
          <a:p>
            <a:pPr marL="12700" marR="5080"/>
            <a:r>
              <a:rPr lang="en-US" sz="1400" kern="0" spc="-80" dirty="0">
                <a:solidFill>
                  <a:schemeClr val="accent6"/>
                </a:solidFill>
              </a:rPr>
              <a:t>NFC/Beacon integration for proximity features</a:t>
            </a:r>
          </a:p>
          <a:p>
            <a:pPr marL="12700" marR="5080"/>
            <a:endParaRPr lang="en-US" sz="1900" kern="0" spc="-80" dirty="0">
              <a:solidFill>
                <a:schemeClr val="accent2"/>
              </a:solidFill>
            </a:endParaRPr>
          </a:p>
          <a:p>
            <a:pPr marL="12700" marR="5080"/>
            <a:r>
              <a:rPr lang="en-US" sz="1400" kern="0" spc="-80" dirty="0">
                <a:solidFill>
                  <a:schemeClr val="accent2"/>
                </a:solidFill>
              </a:rPr>
              <a:t>User Experience &amp; UI</a:t>
            </a:r>
          </a:p>
          <a:p>
            <a:pPr marL="12700" marR="5080"/>
            <a:r>
              <a:rPr lang="en-US" sz="1400" kern="0" spc="-80" dirty="0">
                <a:solidFill>
                  <a:schemeClr val="accent6"/>
                </a:solidFill>
              </a:rPr>
              <a:t>Map interaction design</a:t>
            </a:r>
          </a:p>
          <a:p>
            <a:pPr marL="12700" marR="5080"/>
            <a:r>
              <a:rPr lang="en-US" sz="1400" kern="0" spc="-80" dirty="0">
                <a:solidFill>
                  <a:schemeClr val="accent6"/>
                </a:solidFill>
              </a:rPr>
              <a:t>Panning, zooming, rotation</a:t>
            </a:r>
          </a:p>
          <a:p>
            <a:pPr marL="12700" marR="5080"/>
            <a:r>
              <a:rPr lang="en-US" sz="1400" kern="0" spc="-80" dirty="0">
                <a:solidFill>
                  <a:schemeClr val="accent6"/>
                </a:solidFill>
              </a:rPr>
              <a:t>Custom markers and overlays</a:t>
            </a:r>
          </a:p>
          <a:p>
            <a:pPr marL="12700" marR="5080"/>
            <a:r>
              <a:rPr lang="en-US" sz="1400" kern="0" spc="-80" dirty="0">
                <a:solidFill>
                  <a:schemeClr val="accent6"/>
                </a:solidFill>
              </a:rPr>
              <a:t>Heatmaps and choropleth maps</a:t>
            </a:r>
          </a:p>
          <a:p>
            <a:pPr marL="12700" marR="5080"/>
            <a:r>
              <a:rPr lang="en-US" sz="1400" kern="0" spc="-80" dirty="0">
                <a:solidFill>
                  <a:schemeClr val="accent6"/>
                </a:solidFill>
              </a:rPr>
              <a:t>Location feedback</a:t>
            </a:r>
          </a:p>
          <a:p>
            <a:pPr marL="12700" marR="5080"/>
            <a:r>
              <a:rPr lang="en-US" sz="1400" kern="0" spc="-80" dirty="0">
                <a:solidFill>
                  <a:schemeClr val="accent6"/>
                </a:solidFill>
              </a:rPr>
              <a:t>Turn-by-turn navigation</a:t>
            </a:r>
          </a:p>
          <a:p>
            <a:pPr marL="12700" marR="5080"/>
            <a:r>
              <a:rPr lang="en-US" sz="1400" kern="0" spc="-80" dirty="0">
                <a:solidFill>
                  <a:schemeClr val="accent6"/>
                </a:solidFill>
              </a:rPr>
              <a:t>Distance alerts</a:t>
            </a:r>
          </a:p>
        </p:txBody>
      </p:sp>
    </p:spTree>
    <p:extLst>
      <p:ext uri="{BB962C8B-B14F-4D97-AF65-F5344CB8AC3E}">
        <p14:creationId xmlns:p14="http://schemas.microsoft.com/office/powerpoint/2010/main" val="122395538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274FA-8872-BEFC-1C91-77B2B3E2E3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4905E6-F3D4-51A1-2EC5-1798F9FA4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6B9C27-2A82-E565-2C82-1700F3085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FFE6D0-8D06-E3CF-CE31-08B4CBA2D2A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C9FAE13-999E-87C8-2624-AA6128BD0C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40610-597E-09B3-A57A-7EF611754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0ECC022-E620-A420-655B-E4F4133F19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9DD2F3-FB34-5B0A-D9FC-CDB83F58DB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6268-31A9-C0D6-FA69-9AAD12479CB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6BAAE88-02BA-AA42-4622-07C5899C87FC}"/>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Activity recognition (walking, driving, cycling)</a:t>
            </a:r>
          </a:p>
          <a:p>
            <a:pPr marL="12700" marR="5080"/>
            <a:r>
              <a:rPr lang="en-US" sz="1400" kern="0" spc="-80" dirty="0">
                <a:solidFill>
                  <a:schemeClr val="accent6"/>
                </a:solidFill>
              </a:rPr>
              <a:t>Offline maps</a:t>
            </a:r>
          </a:p>
          <a:p>
            <a:pPr marL="12700" marR="5080"/>
            <a:r>
              <a:rPr lang="en-US" sz="1400" kern="0" spc="-80" dirty="0">
                <a:solidFill>
                  <a:schemeClr val="accent6"/>
                </a:solidFill>
              </a:rPr>
              <a:t>Map tiles caching</a:t>
            </a:r>
          </a:p>
          <a:p>
            <a:pPr marL="12700" marR="5080"/>
            <a:r>
              <a:rPr lang="en-US" sz="1400" kern="0" spc="-80" dirty="0">
                <a:solidFill>
                  <a:schemeClr val="accent6"/>
                </a:solidFill>
              </a:rPr>
              <a:t>Offline routing</a:t>
            </a:r>
          </a:p>
          <a:p>
            <a:pPr marL="12700" marR="5080"/>
            <a:endParaRPr lang="en-US" sz="1400" kern="0" spc="-80" dirty="0">
              <a:solidFill>
                <a:schemeClr val="accent6"/>
              </a:solidFill>
            </a:endParaRPr>
          </a:p>
          <a:p>
            <a:pPr marL="12700" marR="5080"/>
            <a:r>
              <a:rPr lang="en-US" sz="1400" kern="0" spc="-80" dirty="0">
                <a:solidFill>
                  <a:schemeClr val="accent2"/>
                </a:solidFill>
              </a:rPr>
              <a:t>Security &amp; Performance</a:t>
            </a:r>
          </a:p>
          <a:p>
            <a:pPr marL="12700" marR="5080"/>
            <a:r>
              <a:rPr lang="en-US" sz="1400" kern="0" spc="-80" dirty="0">
                <a:solidFill>
                  <a:schemeClr val="accent6"/>
                </a:solidFill>
              </a:rPr>
              <a:t>Secure location data transmission (HTTPS, encryption)</a:t>
            </a:r>
          </a:p>
          <a:p>
            <a:pPr marL="12700" marR="5080"/>
            <a:r>
              <a:rPr lang="en-US" sz="1400" kern="0" spc="-80" dirty="0">
                <a:solidFill>
                  <a:schemeClr val="accent6"/>
                </a:solidFill>
              </a:rPr>
              <a:t>Rate limiting for API calls (e.g., Google Maps API limits)</a:t>
            </a:r>
          </a:p>
          <a:p>
            <a:pPr marL="12700" marR="5080"/>
            <a:r>
              <a:rPr lang="en-US" sz="1400" kern="0" spc="-80" dirty="0">
                <a:solidFill>
                  <a:schemeClr val="accent6"/>
                </a:solidFill>
              </a:rPr>
              <a:t>Battery optimization for continuous location tracking</a:t>
            </a:r>
          </a:p>
          <a:p>
            <a:pPr marL="12700" marR="5080"/>
            <a:r>
              <a:rPr lang="en-US" sz="1400" kern="0" spc="-80" dirty="0">
                <a:solidFill>
                  <a:schemeClr val="accent6"/>
                </a:solidFill>
              </a:rPr>
              <a:t>Data anonymization for privacy</a:t>
            </a:r>
          </a:p>
          <a:p>
            <a:pPr marL="12700" marR="5080"/>
            <a:endParaRPr lang="en-US" sz="1400" kern="0" spc="-80" dirty="0">
              <a:solidFill>
                <a:schemeClr val="accent6"/>
              </a:solidFill>
            </a:endParaRPr>
          </a:p>
          <a:p>
            <a:pPr marL="12700" marR="5080"/>
            <a:r>
              <a:rPr lang="en-US" sz="1400" kern="0" spc="-80" dirty="0">
                <a:solidFill>
                  <a:schemeClr val="accent2"/>
                </a:solidFill>
              </a:rPr>
              <a:t>Advanced Concepts</a:t>
            </a:r>
          </a:p>
          <a:p>
            <a:pPr marL="12700" marR="5080"/>
            <a:r>
              <a:rPr lang="en-US" sz="1400" kern="0" spc="-80" dirty="0">
                <a:solidFill>
                  <a:schemeClr val="accent6"/>
                </a:solidFill>
              </a:rPr>
              <a:t>Machine Learning / AI</a:t>
            </a:r>
          </a:p>
          <a:p>
            <a:pPr marL="12700" marR="5080"/>
            <a:r>
              <a:rPr lang="en-US" sz="1400" kern="0" spc="-80" dirty="0">
                <a:solidFill>
                  <a:schemeClr val="accent6"/>
                </a:solidFill>
              </a:rPr>
              <a:t>Predictive location (next probable location)</a:t>
            </a:r>
          </a:p>
          <a:p>
            <a:pPr marL="12700" marR="5080"/>
            <a:r>
              <a:rPr lang="en-US" sz="1400" kern="0" spc="-80" dirty="0">
                <a:solidFill>
                  <a:schemeClr val="accent6"/>
                </a:solidFill>
              </a:rPr>
              <a:t>POI recommendation based on user behavior</a:t>
            </a:r>
          </a:p>
          <a:p>
            <a:pPr marL="12700" marR="5080"/>
            <a:r>
              <a:rPr lang="en-US" sz="1400" kern="0" spc="-80" dirty="0">
                <a:solidFill>
                  <a:schemeClr val="accent6"/>
                </a:solidFill>
              </a:rPr>
              <a:t>Context-aware notifications</a:t>
            </a:r>
          </a:p>
          <a:p>
            <a:pPr marL="12700" marR="5080"/>
            <a:r>
              <a:rPr lang="en-US" sz="1400" kern="0" spc="-80" dirty="0">
                <a:solidFill>
                  <a:schemeClr val="accent6"/>
                </a:solidFill>
              </a:rPr>
              <a:t>Augmented Reality</a:t>
            </a:r>
          </a:p>
          <a:p>
            <a:pPr marL="12700" marR="5080"/>
            <a:r>
              <a:rPr lang="en-US" sz="1400" kern="0" spc="-80" dirty="0">
                <a:solidFill>
                  <a:schemeClr val="accent6"/>
                </a:solidFill>
              </a:rPr>
              <a:t>AR navigation overlays (ARKit for iOS, </a:t>
            </a:r>
            <a:r>
              <a:rPr lang="en-US" sz="1400" kern="0" spc="-80" dirty="0" err="1">
                <a:solidFill>
                  <a:schemeClr val="accent6"/>
                </a:solidFill>
              </a:rPr>
              <a:t>ARCore</a:t>
            </a:r>
            <a:r>
              <a:rPr lang="en-US" sz="1400" kern="0" spc="-80" dirty="0">
                <a:solidFill>
                  <a:schemeClr val="accent6"/>
                </a:solidFill>
              </a:rPr>
              <a:t> for Android)</a:t>
            </a:r>
          </a:p>
          <a:p>
            <a:pPr marL="12700" marR="5080"/>
            <a:r>
              <a:rPr lang="en-US" sz="1400" kern="0" spc="-80" dirty="0">
                <a:solidFill>
                  <a:schemeClr val="accent6"/>
                </a:solidFill>
              </a:rPr>
              <a:t>Indoor AR positioning</a:t>
            </a:r>
          </a:p>
          <a:p>
            <a:pPr marL="12700" marR="5080"/>
            <a:r>
              <a:rPr lang="en-US" sz="1400" kern="0" spc="-80" dirty="0">
                <a:solidFill>
                  <a:schemeClr val="accent6"/>
                </a:solidFill>
              </a:rPr>
              <a:t>Integration with IoT</a:t>
            </a:r>
          </a:p>
          <a:p>
            <a:pPr marL="12700" marR="5080"/>
            <a:r>
              <a:rPr lang="en-US" sz="1400" kern="0" spc="-80" dirty="0">
                <a:solidFill>
                  <a:schemeClr val="accent6"/>
                </a:solidFill>
              </a:rPr>
              <a:t>Smart devices and wearables</a:t>
            </a:r>
          </a:p>
          <a:p>
            <a:pPr marL="12700" marR="5080"/>
            <a:r>
              <a:rPr lang="en-US" sz="1400" kern="0" spc="-80" dirty="0">
                <a:solidFill>
                  <a:schemeClr val="accent6"/>
                </a:solidFill>
              </a:rPr>
              <a:t>Geofenced automation (e.g., smart home triggers)</a:t>
            </a:r>
          </a:p>
          <a:p>
            <a:pPr marL="12700" marR="5080"/>
            <a:r>
              <a:rPr lang="en-US" sz="1400" kern="0" spc="-80" dirty="0">
                <a:solidFill>
                  <a:schemeClr val="accent6"/>
                </a:solidFill>
              </a:rPr>
              <a:t>Big Data &amp; Analytics</a:t>
            </a:r>
          </a:p>
        </p:txBody>
      </p:sp>
    </p:spTree>
    <p:extLst>
      <p:ext uri="{BB962C8B-B14F-4D97-AF65-F5344CB8AC3E}">
        <p14:creationId xmlns:p14="http://schemas.microsoft.com/office/powerpoint/2010/main" val="133257196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B2859-26FE-4CDB-0F86-F8D57D925B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BD797F-9635-A670-FC8C-17A805C6A8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35CDB-6139-AD55-7A80-0016915F2E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F55FC-C071-A293-13D7-A84708AFC29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470AF6-A293-828C-F69B-2EDFE6A480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D06EFB-E28F-962A-75AE-7974D7494C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795177-389E-344A-97D7-0A6CE65374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2E31C2-CF06-BCAC-AFC8-CEBFDC286B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1A011A-B4BA-220E-F593-045E0957F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AFD6F9-50C4-840D-D0F0-3B635283D1F2}"/>
              </a:ext>
            </a:extLst>
          </p:cNvPr>
          <p:cNvSpPr txBox="1">
            <a:spLocks/>
          </p:cNvSpPr>
          <p:nvPr/>
        </p:nvSpPr>
        <p:spPr>
          <a:xfrm>
            <a:off x="228600" y="7620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Heatmaps of user movements</a:t>
            </a:r>
          </a:p>
          <a:p>
            <a:pPr marL="12700" marR="5080"/>
            <a:r>
              <a:rPr lang="en-US" sz="1400" kern="0" spc="-80" dirty="0">
                <a:solidFill>
                  <a:schemeClr val="accent6"/>
                </a:solidFill>
              </a:rPr>
              <a:t>Geospatial analytics for business insights</a:t>
            </a:r>
          </a:p>
          <a:p>
            <a:pPr marL="12700" marR="5080"/>
            <a:r>
              <a:rPr lang="en-US" sz="1400" kern="0" spc="-80" dirty="0">
                <a:solidFill>
                  <a:schemeClr val="accent6"/>
                </a:solidFill>
              </a:rPr>
              <a:t>Real-time event tracking and alerts</a:t>
            </a:r>
          </a:p>
          <a:p>
            <a:pPr marL="12700" marR="5080"/>
            <a:endParaRPr lang="en-US" sz="1400" kern="0" spc="-80" dirty="0">
              <a:solidFill>
                <a:schemeClr val="accent6"/>
              </a:solidFill>
            </a:endParaRPr>
          </a:p>
          <a:p>
            <a:pPr marL="12700" marR="5080"/>
            <a:r>
              <a:rPr lang="en-US" sz="1400" kern="0" spc="-80" dirty="0">
                <a:solidFill>
                  <a:schemeClr val="accent2"/>
                </a:solidFill>
              </a:rPr>
              <a:t>Testing &amp; Monitoring</a:t>
            </a:r>
          </a:p>
          <a:p>
            <a:pPr marL="12700" marR="5080"/>
            <a:r>
              <a:rPr lang="en-US" sz="1400" kern="0" spc="-80" dirty="0">
                <a:solidFill>
                  <a:schemeClr val="accent6"/>
                </a:solidFill>
              </a:rPr>
              <a:t>Location mocking/simulation for testing</a:t>
            </a:r>
          </a:p>
          <a:p>
            <a:pPr marL="12700" marR="5080"/>
            <a:r>
              <a:rPr lang="en-US" sz="1400" kern="0" spc="-80" dirty="0">
                <a:solidFill>
                  <a:schemeClr val="accent6"/>
                </a:solidFill>
              </a:rPr>
              <a:t>Real-world field testing for accuracy</a:t>
            </a:r>
          </a:p>
          <a:p>
            <a:pPr marL="12700" marR="5080"/>
            <a:r>
              <a:rPr lang="en-US" sz="1400" kern="0" spc="-80" dirty="0">
                <a:solidFill>
                  <a:schemeClr val="accent6"/>
                </a:solidFill>
              </a:rPr>
              <a:t>Analytics of location-based events</a:t>
            </a:r>
          </a:p>
          <a:p>
            <a:pPr marL="12700" marR="5080"/>
            <a:r>
              <a:rPr lang="en-US" sz="1400" kern="0" spc="-80" dirty="0">
                <a:solidFill>
                  <a:schemeClr val="accent6"/>
                </a:solidFill>
              </a:rPr>
              <a:t>Crash reporting &amp; network monitoring</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088224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507373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1 -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70075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2 -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36743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US" sz="1400" dirty="0">
                <a:hlinkClick r:id="rId8"/>
              </a:rPr>
              <a:t>Computational Geometry: Algorithms and Applications | SpringerLink</a:t>
            </a:r>
            <a:endParaRPr lang="en-US" sz="1400" dirty="0"/>
          </a:p>
          <a:p>
            <a:pPr marL="12700" marR="5080"/>
            <a:r>
              <a:rPr lang="en-US" sz="1400" dirty="0">
                <a:hlinkClick r:id="rId9"/>
              </a:rPr>
              <a:t>Computational Geometry in Python – Deep Learning Garden</a:t>
            </a:r>
            <a:r>
              <a:rPr lang="en-US" sz="1400" kern="0" spc="-80" dirty="0">
                <a:solidFill>
                  <a:schemeClr val="accent2"/>
                </a:solidFill>
              </a:rPr>
              <a:t>  </a:t>
            </a:r>
          </a:p>
          <a:p>
            <a:pPr marL="12700" marR="5080"/>
            <a:r>
              <a:rPr lang="en-US" sz="1400" dirty="0">
                <a:hlinkClick r:id="rId10"/>
              </a:rPr>
              <a:t>Math for Security | No Starch Press</a:t>
            </a:r>
            <a:r>
              <a:rPr lang="en-US" sz="1400" kern="0" spc="-80" dirty="0">
                <a:solidFill>
                  <a:schemeClr val="accent2"/>
                </a:solidFill>
              </a:rPr>
              <a:t>  </a:t>
            </a:r>
          </a:p>
          <a:p>
            <a:pPr marL="12700" marR="5080"/>
            <a:r>
              <a:rPr lang="en-IN" sz="1400" dirty="0">
                <a:hlinkClick r:id="rId11"/>
              </a:rPr>
              <a:t>Uber System Design</a:t>
            </a:r>
            <a:endParaRPr lang="en-US" sz="1400" dirty="0"/>
          </a:p>
          <a:p>
            <a:pPr marL="12700" marR="5080"/>
            <a:r>
              <a:rPr lang="en-IN" sz="1400" dirty="0" err="1">
                <a:hlinkClick r:id="rId12"/>
              </a:rPr>
              <a:t>OpenTripPlanner</a:t>
            </a:r>
            <a:endParaRPr lang="en-IN" sz="1400" dirty="0"/>
          </a:p>
          <a:p>
            <a:pPr marL="12700" marR="5080"/>
            <a:r>
              <a:rPr lang="en-US" sz="1400" dirty="0" err="1">
                <a:hlinkClick r:id="rId13"/>
              </a:rPr>
              <a:t>RoutePlanner</a:t>
            </a:r>
            <a:r>
              <a:rPr lang="en-US" sz="1400" dirty="0">
                <a:hlinkClick r:id="rId13"/>
              </a:rPr>
              <a:t>: Simple free and open source tool for planning routes</a:t>
            </a:r>
            <a:endParaRPr lang="en-US" sz="1400" dirty="0"/>
          </a:p>
          <a:p>
            <a:pPr marL="12700" marR="5080"/>
            <a:r>
              <a:rPr lang="en-US" sz="1400" dirty="0">
                <a:hlinkClick r:id="rId14"/>
              </a:rPr>
              <a:t>End-to-End Google Earth Engine (Full Course)</a:t>
            </a:r>
            <a:endParaRPr lang="en-US" sz="1400" dirty="0"/>
          </a:p>
          <a:p>
            <a:pPr marL="12700" marR="5080"/>
            <a:r>
              <a:rPr lang="en-IN" sz="1400" dirty="0">
                <a:hlinkClick r:id="rId15"/>
              </a:rPr>
              <a:t>Open Geospatial Solutions · GitHub</a:t>
            </a:r>
            <a:endParaRPr lang="en-IN" sz="1400" dirty="0"/>
          </a:p>
          <a:p>
            <a:pPr marL="12700" marR="5080"/>
            <a:r>
              <a:rPr lang="en-IN" sz="1400" dirty="0">
                <a:hlinkClick r:id="rId16"/>
              </a:rPr>
              <a:t>System Design on Location Based Apps| LinkedIn</a:t>
            </a:r>
            <a:endParaRPr lang="en-IN" sz="1400" dirty="0"/>
          </a:p>
        </p:txBody>
      </p:sp>
    </p:spTree>
    <p:extLst>
      <p:ext uri="{BB962C8B-B14F-4D97-AF65-F5344CB8AC3E}">
        <p14:creationId xmlns:p14="http://schemas.microsoft.com/office/powerpoint/2010/main" val="317550910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23423</TotalTime>
  <Words>45983</Words>
  <Application>Microsoft Office PowerPoint</Application>
  <PresentationFormat>Custom</PresentationFormat>
  <Paragraphs>6257</Paragraphs>
  <Slides>348</Slides>
  <Notes>67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348</vt:i4>
      </vt:variant>
    </vt:vector>
  </HeadingPairs>
  <TitlesOfParts>
    <vt:vector size="356" baseType="lpstr">
      <vt:lpstr>-apple-system</vt:lpstr>
      <vt:lpstr>Aptos</vt:lpstr>
      <vt:lpstr>Arial</vt:lpstr>
      <vt:lpstr>Calibri</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3062</cp:revision>
  <dcterms:created xsi:type="dcterms:W3CDTF">2020-11-03T17:16:52Z</dcterms:created>
  <dcterms:modified xsi:type="dcterms:W3CDTF">2025-11-13T14:17:32Z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