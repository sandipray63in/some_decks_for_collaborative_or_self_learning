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1.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2.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3.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4.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5.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6.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7.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8.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9.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10.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11.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12.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notesSlides/notesSlide13.xml" ContentType="application/vnd.openxmlformats-officedocument.presentationml.notesSlide+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notesSlides/notesSlide14.xml" ContentType="application/vnd.openxmlformats-officedocument.presentationml.notesSlide+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diagrams/data90.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diagrams/data91.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diagrams/data92.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diagrams/data93.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diagrams/data94.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diagrams/data95.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diagrams/data96.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diagrams/data97.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ppt/diagrams/data98.xml" ContentType="application/vnd.openxmlformats-officedocument.drawingml.diagramData+xml"/>
  <Override PartName="/ppt/diagrams/layout98.xml" ContentType="application/vnd.openxmlformats-officedocument.drawingml.diagramLayout+xml"/>
  <Override PartName="/ppt/diagrams/quickStyle98.xml" ContentType="application/vnd.openxmlformats-officedocument.drawingml.diagramStyle+xml"/>
  <Override PartName="/ppt/diagrams/colors98.xml" ContentType="application/vnd.openxmlformats-officedocument.drawingml.diagramColors+xml"/>
  <Override PartName="/ppt/diagrams/drawing98.xml" ContentType="application/vnd.ms-office.drawingml.diagramDrawing+xml"/>
  <Override PartName="/ppt/diagrams/data99.xml" ContentType="application/vnd.openxmlformats-officedocument.drawingml.diagramData+xml"/>
  <Override PartName="/ppt/diagrams/layout99.xml" ContentType="application/vnd.openxmlformats-officedocument.drawingml.diagramLayout+xml"/>
  <Override PartName="/ppt/diagrams/quickStyle99.xml" ContentType="application/vnd.openxmlformats-officedocument.drawingml.diagramStyle+xml"/>
  <Override PartName="/ppt/diagrams/colors99.xml" ContentType="application/vnd.openxmlformats-officedocument.drawingml.diagramColors+xml"/>
  <Override PartName="/ppt/diagrams/drawing99.xml" ContentType="application/vnd.ms-office.drawingml.diagramDrawing+xml"/>
  <Override PartName="/ppt/diagrams/data100.xml" ContentType="application/vnd.openxmlformats-officedocument.drawingml.diagramData+xml"/>
  <Override PartName="/ppt/diagrams/layout100.xml" ContentType="application/vnd.openxmlformats-officedocument.drawingml.diagramLayout+xml"/>
  <Override PartName="/ppt/diagrams/quickStyle100.xml" ContentType="application/vnd.openxmlformats-officedocument.drawingml.diagramStyle+xml"/>
  <Override PartName="/ppt/diagrams/colors100.xml" ContentType="application/vnd.openxmlformats-officedocument.drawingml.diagramColors+xml"/>
  <Override PartName="/ppt/diagrams/drawing100.xml" ContentType="application/vnd.ms-office.drawingml.diagramDrawing+xml"/>
  <Override PartName="/ppt/diagrams/data101.xml" ContentType="application/vnd.openxmlformats-officedocument.drawingml.diagramData+xml"/>
  <Override PartName="/ppt/diagrams/layout101.xml" ContentType="application/vnd.openxmlformats-officedocument.drawingml.diagramLayout+xml"/>
  <Override PartName="/ppt/diagrams/quickStyle101.xml" ContentType="application/vnd.openxmlformats-officedocument.drawingml.diagramStyle+xml"/>
  <Override PartName="/ppt/diagrams/colors101.xml" ContentType="application/vnd.openxmlformats-officedocument.drawingml.diagramColors+xml"/>
  <Override PartName="/ppt/diagrams/drawing101.xml" ContentType="application/vnd.ms-office.drawingml.diagramDrawing+xml"/>
  <Override PartName="/ppt/diagrams/data102.xml" ContentType="application/vnd.openxmlformats-officedocument.drawingml.diagramData+xml"/>
  <Override PartName="/ppt/diagrams/layout102.xml" ContentType="application/vnd.openxmlformats-officedocument.drawingml.diagramLayout+xml"/>
  <Override PartName="/ppt/diagrams/quickStyle102.xml" ContentType="application/vnd.openxmlformats-officedocument.drawingml.diagramStyle+xml"/>
  <Override PartName="/ppt/diagrams/colors102.xml" ContentType="application/vnd.openxmlformats-officedocument.drawingml.diagramColors+xml"/>
  <Override PartName="/ppt/diagrams/drawing102.xml" ContentType="application/vnd.ms-office.drawingml.diagramDrawing+xml"/>
  <Override PartName="/ppt/diagrams/data103.xml" ContentType="application/vnd.openxmlformats-officedocument.drawingml.diagramData+xml"/>
  <Override PartName="/ppt/diagrams/layout103.xml" ContentType="application/vnd.openxmlformats-officedocument.drawingml.diagramLayout+xml"/>
  <Override PartName="/ppt/diagrams/quickStyle103.xml" ContentType="application/vnd.openxmlformats-officedocument.drawingml.diagramStyle+xml"/>
  <Override PartName="/ppt/diagrams/colors103.xml" ContentType="application/vnd.openxmlformats-officedocument.drawingml.diagramColors+xml"/>
  <Override PartName="/ppt/diagrams/drawing103.xml" ContentType="application/vnd.ms-office.drawingml.diagramDrawing+xml"/>
  <Override PartName="/ppt/diagrams/data104.xml" ContentType="application/vnd.openxmlformats-officedocument.drawingml.diagramData+xml"/>
  <Override PartName="/ppt/diagrams/layout104.xml" ContentType="application/vnd.openxmlformats-officedocument.drawingml.diagramLayout+xml"/>
  <Override PartName="/ppt/diagrams/quickStyle104.xml" ContentType="application/vnd.openxmlformats-officedocument.drawingml.diagramStyle+xml"/>
  <Override PartName="/ppt/diagrams/colors104.xml" ContentType="application/vnd.openxmlformats-officedocument.drawingml.diagramColors+xml"/>
  <Override PartName="/ppt/diagrams/drawing104.xml" ContentType="application/vnd.ms-office.drawingml.diagramDrawing+xml"/>
  <Override PartName="/ppt/diagrams/data105.xml" ContentType="application/vnd.openxmlformats-officedocument.drawingml.diagramData+xml"/>
  <Override PartName="/ppt/diagrams/layout105.xml" ContentType="application/vnd.openxmlformats-officedocument.drawingml.diagramLayout+xml"/>
  <Override PartName="/ppt/diagrams/quickStyle105.xml" ContentType="application/vnd.openxmlformats-officedocument.drawingml.diagramStyle+xml"/>
  <Override PartName="/ppt/diagrams/colors105.xml" ContentType="application/vnd.openxmlformats-officedocument.drawingml.diagramColors+xml"/>
  <Override PartName="/ppt/diagrams/drawing105.xml" ContentType="application/vnd.ms-office.drawingml.diagramDrawing+xml"/>
  <Override PartName="/ppt/diagrams/data106.xml" ContentType="application/vnd.openxmlformats-officedocument.drawingml.diagramData+xml"/>
  <Override PartName="/ppt/diagrams/layout106.xml" ContentType="application/vnd.openxmlformats-officedocument.drawingml.diagramLayout+xml"/>
  <Override PartName="/ppt/diagrams/quickStyle106.xml" ContentType="application/vnd.openxmlformats-officedocument.drawingml.diagramStyle+xml"/>
  <Override PartName="/ppt/diagrams/colors106.xml" ContentType="application/vnd.openxmlformats-officedocument.drawingml.diagramColors+xml"/>
  <Override PartName="/ppt/diagrams/drawing106.xml" ContentType="application/vnd.ms-office.drawingml.diagramDrawing+xml"/>
  <Override PartName="/ppt/diagrams/data107.xml" ContentType="application/vnd.openxmlformats-officedocument.drawingml.diagramData+xml"/>
  <Override PartName="/ppt/diagrams/layout107.xml" ContentType="application/vnd.openxmlformats-officedocument.drawingml.diagramLayout+xml"/>
  <Override PartName="/ppt/diagrams/quickStyle107.xml" ContentType="application/vnd.openxmlformats-officedocument.drawingml.diagramStyle+xml"/>
  <Override PartName="/ppt/diagrams/colors107.xml" ContentType="application/vnd.openxmlformats-officedocument.drawingml.diagramColors+xml"/>
  <Override PartName="/ppt/diagrams/drawing107.xml" ContentType="application/vnd.ms-office.drawingml.diagramDrawing+xml"/>
  <Override PartName="/ppt/diagrams/data108.xml" ContentType="application/vnd.openxmlformats-officedocument.drawingml.diagramData+xml"/>
  <Override PartName="/ppt/diagrams/layout108.xml" ContentType="application/vnd.openxmlformats-officedocument.drawingml.diagramLayout+xml"/>
  <Override PartName="/ppt/diagrams/quickStyle108.xml" ContentType="application/vnd.openxmlformats-officedocument.drawingml.diagramStyle+xml"/>
  <Override PartName="/ppt/diagrams/colors108.xml" ContentType="application/vnd.openxmlformats-officedocument.drawingml.diagramColors+xml"/>
  <Override PartName="/ppt/diagrams/drawing108.xml" ContentType="application/vnd.ms-office.drawingml.diagramDrawing+xml"/>
  <Override PartName="/ppt/diagrams/data109.xml" ContentType="application/vnd.openxmlformats-officedocument.drawingml.diagramData+xml"/>
  <Override PartName="/ppt/diagrams/layout109.xml" ContentType="application/vnd.openxmlformats-officedocument.drawingml.diagramLayout+xml"/>
  <Override PartName="/ppt/diagrams/quickStyle109.xml" ContentType="application/vnd.openxmlformats-officedocument.drawingml.diagramStyle+xml"/>
  <Override PartName="/ppt/diagrams/colors109.xml" ContentType="application/vnd.openxmlformats-officedocument.drawingml.diagramColors+xml"/>
  <Override PartName="/ppt/diagrams/drawing109.xml" ContentType="application/vnd.ms-office.drawingml.diagramDrawing+xml"/>
  <Override PartName="/ppt/diagrams/data110.xml" ContentType="application/vnd.openxmlformats-officedocument.drawingml.diagramData+xml"/>
  <Override PartName="/ppt/diagrams/layout110.xml" ContentType="application/vnd.openxmlformats-officedocument.drawingml.diagramLayout+xml"/>
  <Override PartName="/ppt/diagrams/quickStyle110.xml" ContentType="application/vnd.openxmlformats-officedocument.drawingml.diagramStyle+xml"/>
  <Override PartName="/ppt/diagrams/colors110.xml" ContentType="application/vnd.openxmlformats-officedocument.drawingml.diagramColors+xml"/>
  <Override PartName="/ppt/diagrams/drawing110.xml" ContentType="application/vnd.ms-office.drawingml.diagramDrawing+xml"/>
  <Override PartName="/ppt/diagrams/data111.xml" ContentType="application/vnd.openxmlformats-officedocument.drawingml.diagramData+xml"/>
  <Override PartName="/ppt/diagrams/layout111.xml" ContentType="application/vnd.openxmlformats-officedocument.drawingml.diagramLayout+xml"/>
  <Override PartName="/ppt/diagrams/quickStyle111.xml" ContentType="application/vnd.openxmlformats-officedocument.drawingml.diagramStyle+xml"/>
  <Override PartName="/ppt/diagrams/colors111.xml" ContentType="application/vnd.openxmlformats-officedocument.drawingml.diagramColors+xml"/>
  <Override PartName="/ppt/diagrams/drawing111.xml" ContentType="application/vnd.ms-office.drawingml.diagramDrawing+xml"/>
  <Override PartName="/ppt/diagrams/data112.xml" ContentType="application/vnd.openxmlformats-officedocument.drawingml.diagramData+xml"/>
  <Override PartName="/ppt/diagrams/layout112.xml" ContentType="application/vnd.openxmlformats-officedocument.drawingml.diagramLayout+xml"/>
  <Override PartName="/ppt/diagrams/quickStyle112.xml" ContentType="application/vnd.openxmlformats-officedocument.drawingml.diagramStyle+xml"/>
  <Override PartName="/ppt/diagrams/colors112.xml" ContentType="application/vnd.openxmlformats-officedocument.drawingml.diagramColors+xml"/>
  <Override PartName="/ppt/diagrams/drawing112.xml" ContentType="application/vnd.ms-office.drawingml.diagramDrawing+xml"/>
  <Override PartName="/ppt/diagrams/data113.xml" ContentType="application/vnd.openxmlformats-officedocument.drawingml.diagramData+xml"/>
  <Override PartName="/ppt/diagrams/layout113.xml" ContentType="application/vnd.openxmlformats-officedocument.drawingml.diagramLayout+xml"/>
  <Override PartName="/ppt/diagrams/quickStyle113.xml" ContentType="application/vnd.openxmlformats-officedocument.drawingml.diagramStyle+xml"/>
  <Override PartName="/ppt/diagrams/colors113.xml" ContentType="application/vnd.openxmlformats-officedocument.drawingml.diagramColors+xml"/>
  <Override PartName="/ppt/diagrams/drawing113.xml" ContentType="application/vnd.ms-office.drawingml.diagramDrawing+xml"/>
  <Override PartName="/ppt/diagrams/data114.xml" ContentType="application/vnd.openxmlformats-officedocument.drawingml.diagramData+xml"/>
  <Override PartName="/ppt/diagrams/layout114.xml" ContentType="application/vnd.openxmlformats-officedocument.drawingml.diagramLayout+xml"/>
  <Override PartName="/ppt/diagrams/quickStyle114.xml" ContentType="application/vnd.openxmlformats-officedocument.drawingml.diagramStyle+xml"/>
  <Override PartName="/ppt/diagrams/colors114.xml" ContentType="application/vnd.openxmlformats-officedocument.drawingml.diagramColors+xml"/>
  <Override PartName="/ppt/diagrams/drawing114.xml" ContentType="application/vnd.ms-office.drawingml.diagramDrawing+xml"/>
  <Override PartName="/ppt/diagrams/data115.xml" ContentType="application/vnd.openxmlformats-officedocument.drawingml.diagramData+xml"/>
  <Override PartName="/ppt/diagrams/layout115.xml" ContentType="application/vnd.openxmlformats-officedocument.drawingml.diagramLayout+xml"/>
  <Override PartName="/ppt/diagrams/quickStyle115.xml" ContentType="application/vnd.openxmlformats-officedocument.drawingml.diagramStyle+xml"/>
  <Override PartName="/ppt/diagrams/colors115.xml" ContentType="application/vnd.openxmlformats-officedocument.drawingml.diagramColors+xml"/>
  <Override PartName="/ppt/diagrams/drawing115.xml" ContentType="application/vnd.ms-office.drawingml.diagramDrawing+xml"/>
  <Override PartName="/ppt/diagrams/data116.xml" ContentType="application/vnd.openxmlformats-officedocument.drawingml.diagramData+xml"/>
  <Override PartName="/ppt/diagrams/layout116.xml" ContentType="application/vnd.openxmlformats-officedocument.drawingml.diagramLayout+xml"/>
  <Override PartName="/ppt/diagrams/quickStyle116.xml" ContentType="application/vnd.openxmlformats-officedocument.drawingml.diagramStyle+xml"/>
  <Override PartName="/ppt/diagrams/colors116.xml" ContentType="application/vnd.openxmlformats-officedocument.drawingml.diagramColors+xml"/>
  <Override PartName="/ppt/diagrams/drawing116.xml" ContentType="application/vnd.ms-office.drawingml.diagramDrawing+xml"/>
  <Override PartName="/ppt/diagrams/data117.xml" ContentType="application/vnd.openxmlformats-officedocument.drawingml.diagramData+xml"/>
  <Override PartName="/ppt/diagrams/layout117.xml" ContentType="application/vnd.openxmlformats-officedocument.drawingml.diagramLayout+xml"/>
  <Override PartName="/ppt/diagrams/quickStyle117.xml" ContentType="application/vnd.openxmlformats-officedocument.drawingml.diagramStyle+xml"/>
  <Override PartName="/ppt/diagrams/colors117.xml" ContentType="application/vnd.openxmlformats-officedocument.drawingml.diagramColors+xml"/>
  <Override PartName="/ppt/diagrams/drawing117.xml" ContentType="application/vnd.ms-office.drawingml.diagramDrawing+xml"/>
  <Override PartName="/ppt/diagrams/data118.xml" ContentType="application/vnd.openxmlformats-officedocument.drawingml.diagramData+xml"/>
  <Override PartName="/ppt/diagrams/layout118.xml" ContentType="application/vnd.openxmlformats-officedocument.drawingml.diagramLayout+xml"/>
  <Override PartName="/ppt/diagrams/quickStyle118.xml" ContentType="application/vnd.openxmlformats-officedocument.drawingml.diagramStyle+xml"/>
  <Override PartName="/ppt/diagrams/colors118.xml" ContentType="application/vnd.openxmlformats-officedocument.drawingml.diagramColors+xml"/>
  <Override PartName="/ppt/diagrams/drawing118.xml" ContentType="application/vnd.ms-office.drawingml.diagramDrawing+xml"/>
  <Override PartName="/ppt/diagrams/data119.xml" ContentType="application/vnd.openxmlformats-officedocument.drawingml.diagramData+xml"/>
  <Override PartName="/ppt/diagrams/layout119.xml" ContentType="application/vnd.openxmlformats-officedocument.drawingml.diagramLayout+xml"/>
  <Override PartName="/ppt/diagrams/quickStyle119.xml" ContentType="application/vnd.openxmlformats-officedocument.drawingml.diagramStyle+xml"/>
  <Override PartName="/ppt/diagrams/colors119.xml" ContentType="application/vnd.openxmlformats-officedocument.drawingml.diagramColors+xml"/>
  <Override PartName="/ppt/diagrams/drawing119.xml" ContentType="application/vnd.ms-office.drawingml.diagramDrawing+xml"/>
  <Override PartName="/ppt/notesSlides/notesSlide15.xml" ContentType="application/vnd.openxmlformats-officedocument.presentationml.notesSlide+xml"/>
  <Override PartName="/ppt/diagrams/data120.xml" ContentType="application/vnd.openxmlformats-officedocument.drawingml.diagramData+xml"/>
  <Override PartName="/ppt/diagrams/layout120.xml" ContentType="application/vnd.openxmlformats-officedocument.drawingml.diagramLayout+xml"/>
  <Override PartName="/ppt/diagrams/quickStyle120.xml" ContentType="application/vnd.openxmlformats-officedocument.drawingml.diagramStyle+xml"/>
  <Override PartName="/ppt/diagrams/colors120.xml" ContentType="application/vnd.openxmlformats-officedocument.drawingml.diagramColors+xml"/>
  <Override PartName="/ppt/diagrams/drawing120.xml" ContentType="application/vnd.ms-office.drawingml.diagramDrawing+xml"/>
  <Override PartName="/ppt/diagrams/data121.xml" ContentType="application/vnd.openxmlformats-officedocument.drawingml.diagramData+xml"/>
  <Override PartName="/ppt/diagrams/layout121.xml" ContentType="application/vnd.openxmlformats-officedocument.drawingml.diagramLayout+xml"/>
  <Override PartName="/ppt/diagrams/quickStyle121.xml" ContentType="application/vnd.openxmlformats-officedocument.drawingml.diagramStyle+xml"/>
  <Override PartName="/ppt/diagrams/colors121.xml" ContentType="application/vnd.openxmlformats-officedocument.drawingml.diagramColors+xml"/>
  <Override PartName="/ppt/diagrams/drawing121.xml" ContentType="application/vnd.ms-office.drawingml.diagramDrawing+xml"/>
  <Override PartName="/ppt/diagrams/data122.xml" ContentType="application/vnd.openxmlformats-officedocument.drawingml.diagramData+xml"/>
  <Override PartName="/ppt/diagrams/layout122.xml" ContentType="application/vnd.openxmlformats-officedocument.drawingml.diagramLayout+xml"/>
  <Override PartName="/ppt/diagrams/quickStyle122.xml" ContentType="application/vnd.openxmlformats-officedocument.drawingml.diagramStyle+xml"/>
  <Override PartName="/ppt/diagrams/colors122.xml" ContentType="application/vnd.openxmlformats-officedocument.drawingml.diagramColors+xml"/>
  <Override PartName="/ppt/diagrams/drawing122.xml" ContentType="application/vnd.ms-office.drawingml.diagramDrawing+xml"/>
  <Override PartName="/ppt/diagrams/data123.xml" ContentType="application/vnd.openxmlformats-officedocument.drawingml.diagramData+xml"/>
  <Override PartName="/ppt/diagrams/layout123.xml" ContentType="application/vnd.openxmlformats-officedocument.drawingml.diagramLayout+xml"/>
  <Override PartName="/ppt/diagrams/quickStyle123.xml" ContentType="application/vnd.openxmlformats-officedocument.drawingml.diagramStyle+xml"/>
  <Override PartName="/ppt/diagrams/colors123.xml" ContentType="application/vnd.openxmlformats-officedocument.drawingml.diagramColors+xml"/>
  <Override PartName="/ppt/diagrams/drawing123.xml" ContentType="application/vnd.ms-office.drawingml.diagramDrawing+xml"/>
  <Override PartName="/ppt/diagrams/data124.xml" ContentType="application/vnd.openxmlformats-officedocument.drawingml.diagramData+xml"/>
  <Override PartName="/ppt/diagrams/layout124.xml" ContentType="application/vnd.openxmlformats-officedocument.drawingml.diagramLayout+xml"/>
  <Override PartName="/ppt/diagrams/quickStyle124.xml" ContentType="application/vnd.openxmlformats-officedocument.drawingml.diagramStyle+xml"/>
  <Override PartName="/ppt/diagrams/colors124.xml" ContentType="application/vnd.openxmlformats-officedocument.drawingml.diagramColors+xml"/>
  <Override PartName="/ppt/diagrams/drawing124.xml" ContentType="application/vnd.ms-office.drawingml.diagramDrawing+xml"/>
  <Override PartName="/ppt/diagrams/data125.xml" ContentType="application/vnd.openxmlformats-officedocument.drawingml.diagramData+xml"/>
  <Override PartName="/ppt/diagrams/layout125.xml" ContentType="application/vnd.openxmlformats-officedocument.drawingml.diagramLayout+xml"/>
  <Override PartName="/ppt/diagrams/quickStyle125.xml" ContentType="application/vnd.openxmlformats-officedocument.drawingml.diagramStyle+xml"/>
  <Override PartName="/ppt/diagrams/colors125.xml" ContentType="application/vnd.openxmlformats-officedocument.drawingml.diagramColors+xml"/>
  <Override PartName="/ppt/diagrams/drawing125.xml" ContentType="application/vnd.ms-office.drawingml.diagramDrawing+xml"/>
  <Override PartName="/ppt/diagrams/data126.xml" ContentType="application/vnd.openxmlformats-officedocument.drawingml.diagramData+xml"/>
  <Override PartName="/ppt/diagrams/layout126.xml" ContentType="application/vnd.openxmlformats-officedocument.drawingml.diagramLayout+xml"/>
  <Override PartName="/ppt/diagrams/quickStyle126.xml" ContentType="application/vnd.openxmlformats-officedocument.drawingml.diagramStyle+xml"/>
  <Override PartName="/ppt/diagrams/colors126.xml" ContentType="application/vnd.openxmlformats-officedocument.drawingml.diagramColors+xml"/>
  <Override PartName="/ppt/diagrams/drawing126.xml" ContentType="application/vnd.ms-office.drawingml.diagramDrawing+xml"/>
  <Override PartName="/ppt/diagrams/data127.xml" ContentType="application/vnd.openxmlformats-officedocument.drawingml.diagramData+xml"/>
  <Override PartName="/ppt/diagrams/layout127.xml" ContentType="application/vnd.openxmlformats-officedocument.drawingml.diagramLayout+xml"/>
  <Override PartName="/ppt/diagrams/quickStyle127.xml" ContentType="application/vnd.openxmlformats-officedocument.drawingml.diagramStyle+xml"/>
  <Override PartName="/ppt/diagrams/colors127.xml" ContentType="application/vnd.openxmlformats-officedocument.drawingml.diagramColors+xml"/>
  <Override PartName="/ppt/diagrams/drawing127.xml" ContentType="application/vnd.ms-office.drawingml.diagramDrawing+xml"/>
  <Override PartName="/ppt/diagrams/data128.xml" ContentType="application/vnd.openxmlformats-officedocument.drawingml.diagramData+xml"/>
  <Override PartName="/ppt/diagrams/layout128.xml" ContentType="application/vnd.openxmlformats-officedocument.drawingml.diagramLayout+xml"/>
  <Override PartName="/ppt/diagrams/quickStyle128.xml" ContentType="application/vnd.openxmlformats-officedocument.drawingml.diagramStyle+xml"/>
  <Override PartName="/ppt/diagrams/colors128.xml" ContentType="application/vnd.openxmlformats-officedocument.drawingml.diagramColors+xml"/>
  <Override PartName="/ppt/diagrams/drawing128.xml" ContentType="application/vnd.ms-office.drawingml.diagramDrawing+xml"/>
  <Override PartName="/ppt/diagrams/data129.xml" ContentType="application/vnd.openxmlformats-officedocument.drawingml.diagramData+xml"/>
  <Override PartName="/ppt/diagrams/layout129.xml" ContentType="application/vnd.openxmlformats-officedocument.drawingml.diagramLayout+xml"/>
  <Override PartName="/ppt/diagrams/quickStyle129.xml" ContentType="application/vnd.openxmlformats-officedocument.drawingml.diagramStyle+xml"/>
  <Override PartName="/ppt/diagrams/colors129.xml" ContentType="application/vnd.openxmlformats-officedocument.drawingml.diagramColors+xml"/>
  <Override PartName="/ppt/diagrams/drawing129.xml" ContentType="application/vnd.ms-office.drawingml.diagramDrawing+xml"/>
  <Override PartName="/ppt/diagrams/data130.xml" ContentType="application/vnd.openxmlformats-officedocument.drawingml.diagramData+xml"/>
  <Override PartName="/ppt/diagrams/layout130.xml" ContentType="application/vnd.openxmlformats-officedocument.drawingml.diagramLayout+xml"/>
  <Override PartName="/ppt/diagrams/quickStyle130.xml" ContentType="application/vnd.openxmlformats-officedocument.drawingml.diagramStyle+xml"/>
  <Override PartName="/ppt/diagrams/colors130.xml" ContentType="application/vnd.openxmlformats-officedocument.drawingml.diagramColors+xml"/>
  <Override PartName="/ppt/diagrams/drawing130.xml" ContentType="application/vnd.ms-office.drawingml.diagramDrawing+xml"/>
  <Override PartName="/ppt/diagrams/data131.xml" ContentType="application/vnd.openxmlformats-officedocument.drawingml.diagramData+xml"/>
  <Override PartName="/ppt/diagrams/layout131.xml" ContentType="application/vnd.openxmlformats-officedocument.drawingml.diagramLayout+xml"/>
  <Override PartName="/ppt/diagrams/quickStyle131.xml" ContentType="application/vnd.openxmlformats-officedocument.drawingml.diagramStyle+xml"/>
  <Override PartName="/ppt/diagrams/colors131.xml" ContentType="application/vnd.openxmlformats-officedocument.drawingml.diagramColors+xml"/>
  <Override PartName="/ppt/diagrams/drawing131.xml" ContentType="application/vnd.ms-office.drawingml.diagramDrawing+xml"/>
  <Override PartName="/ppt/diagrams/data132.xml" ContentType="application/vnd.openxmlformats-officedocument.drawingml.diagramData+xml"/>
  <Override PartName="/ppt/diagrams/layout132.xml" ContentType="application/vnd.openxmlformats-officedocument.drawingml.diagramLayout+xml"/>
  <Override PartName="/ppt/diagrams/quickStyle132.xml" ContentType="application/vnd.openxmlformats-officedocument.drawingml.diagramStyle+xml"/>
  <Override PartName="/ppt/diagrams/colors132.xml" ContentType="application/vnd.openxmlformats-officedocument.drawingml.diagramColors+xml"/>
  <Override PartName="/ppt/diagrams/drawing132.xml" ContentType="application/vnd.ms-office.drawingml.diagramDrawing+xml"/>
  <Override PartName="/ppt/diagrams/data133.xml" ContentType="application/vnd.openxmlformats-officedocument.drawingml.diagramData+xml"/>
  <Override PartName="/ppt/diagrams/layout133.xml" ContentType="application/vnd.openxmlformats-officedocument.drawingml.diagramLayout+xml"/>
  <Override PartName="/ppt/diagrams/quickStyle133.xml" ContentType="application/vnd.openxmlformats-officedocument.drawingml.diagramStyle+xml"/>
  <Override PartName="/ppt/diagrams/colors133.xml" ContentType="application/vnd.openxmlformats-officedocument.drawingml.diagramColors+xml"/>
  <Override PartName="/ppt/diagrams/drawing133.xml" ContentType="application/vnd.ms-office.drawingml.diagramDrawing+xml"/>
  <Override PartName="/ppt/diagrams/data134.xml" ContentType="application/vnd.openxmlformats-officedocument.drawingml.diagramData+xml"/>
  <Override PartName="/ppt/diagrams/layout134.xml" ContentType="application/vnd.openxmlformats-officedocument.drawingml.diagramLayout+xml"/>
  <Override PartName="/ppt/diagrams/quickStyle134.xml" ContentType="application/vnd.openxmlformats-officedocument.drawingml.diagramStyle+xml"/>
  <Override PartName="/ppt/diagrams/colors134.xml" ContentType="application/vnd.openxmlformats-officedocument.drawingml.diagramColors+xml"/>
  <Override PartName="/ppt/diagrams/drawing134.xml" ContentType="application/vnd.ms-office.drawingml.diagramDrawing+xml"/>
  <Override PartName="/ppt/diagrams/data135.xml" ContentType="application/vnd.openxmlformats-officedocument.drawingml.diagramData+xml"/>
  <Override PartName="/ppt/diagrams/layout135.xml" ContentType="application/vnd.openxmlformats-officedocument.drawingml.diagramLayout+xml"/>
  <Override PartName="/ppt/diagrams/quickStyle135.xml" ContentType="application/vnd.openxmlformats-officedocument.drawingml.diagramStyle+xml"/>
  <Override PartName="/ppt/diagrams/colors135.xml" ContentType="application/vnd.openxmlformats-officedocument.drawingml.diagramColors+xml"/>
  <Override PartName="/ppt/diagrams/drawing135.xml" ContentType="application/vnd.ms-office.drawingml.diagramDrawing+xml"/>
  <Override PartName="/ppt/diagrams/data136.xml" ContentType="application/vnd.openxmlformats-officedocument.drawingml.diagramData+xml"/>
  <Override PartName="/ppt/diagrams/layout136.xml" ContentType="application/vnd.openxmlformats-officedocument.drawingml.diagramLayout+xml"/>
  <Override PartName="/ppt/diagrams/quickStyle136.xml" ContentType="application/vnd.openxmlformats-officedocument.drawingml.diagramStyle+xml"/>
  <Override PartName="/ppt/diagrams/colors136.xml" ContentType="application/vnd.openxmlformats-officedocument.drawingml.diagramColors+xml"/>
  <Override PartName="/ppt/diagrams/drawing136.xml" ContentType="application/vnd.ms-office.drawingml.diagramDrawing+xml"/>
  <Override PartName="/ppt/diagrams/data137.xml" ContentType="application/vnd.openxmlformats-officedocument.drawingml.diagramData+xml"/>
  <Override PartName="/ppt/diagrams/layout137.xml" ContentType="application/vnd.openxmlformats-officedocument.drawingml.diagramLayout+xml"/>
  <Override PartName="/ppt/diagrams/quickStyle137.xml" ContentType="application/vnd.openxmlformats-officedocument.drawingml.diagramStyle+xml"/>
  <Override PartName="/ppt/diagrams/colors137.xml" ContentType="application/vnd.openxmlformats-officedocument.drawingml.diagramColors+xml"/>
  <Override PartName="/ppt/diagrams/drawing137.xml" ContentType="application/vnd.ms-office.drawingml.diagramDrawing+xml"/>
  <Override PartName="/ppt/diagrams/data138.xml" ContentType="application/vnd.openxmlformats-officedocument.drawingml.diagramData+xml"/>
  <Override PartName="/ppt/diagrams/layout138.xml" ContentType="application/vnd.openxmlformats-officedocument.drawingml.diagramLayout+xml"/>
  <Override PartName="/ppt/diagrams/quickStyle138.xml" ContentType="application/vnd.openxmlformats-officedocument.drawingml.diagramStyle+xml"/>
  <Override PartName="/ppt/diagrams/colors138.xml" ContentType="application/vnd.openxmlformats-officedocument.drawingml.diagramColors+xml"/>
  <Override PartName="/ppt/diagrams/drawing138.xml" ContentType="application/vnd.ms-office.drawingml.diagramDrawing+xml"/>
  <Override PartName="/ppt/diagrams/data139.xml" ContentType="application/vnd.openxmlformats-officedocument.drawingml.diagramData+xml"/>
  <Override PartName="/ppt/diagrams/layout139.xml" ContentType="application/vnd.openxmlformats-officedocument.drawingml.diagramLayout+xml"/>
  <Override PartName="/ppt/diagrams/quickStyle139.xml" ContentType="application/vnd.openxmlformats-officedocument.drawingml.diagramStyle+xml"/>
  <Override PartName="/ppt/diagrams/colors139.xml" ContentType="application/vnd.openxmlformats-officedocument.drawingml.diagramColors+xml"/>
  <Override PartName="/ppt/diagrams/drawing139.xml" ContentType="application/vnd.ms-office.drawingml.diagramDrawing+xml"/>
  <Override PartName="/ppt/diagrams/data140.xml" ContentType="application/vnd.openxmlformats-officedocument.drawingml.diagramData+xml"/>
  <Override PartName="/ppt/diagrams/layout140.xml" ContentType="application/vnd.openxmlformats-officedocument.drawingml.diagramLayout+xml"/>
  <Override PartName="/ppt/diagrams/quickStyle140.xml" ContentType="application/vnd.openxmlformats-officedocument.drawingml.diagramStyle+xml"/>
  <Override PartName="/ppt/diagrams/colors140.xml" ContentType="application/vnd.openxmlformats-officedocument.drawingml.diagramColors+xml"/>
  <Override PartName="/ppt/diagrams/drawing140.xml" ContentType="application/vnd.ms-office.drawingml.diagramDrawing+xml"/>
  <Override PartName="/ppt/diagrams/data141.xml" ContentType="application/vnd.openxmlformats-officedocument.drawingml.diagramData+xml"/>
  <Override PartName="/ppt/diagrams/layout141.xml" ContentType="application/vnd.openxmlformats-officedocument.drawingml.diagramLayout+xml"/>
  <Override PartName="/ppt/diagrams/quickStyle141.xml" ContentType="application/vnd.openxmlformats-officedocument.drawingml.diagramStyle+xml"/>
  <Override PartName="/ppt/diagrams/colors141.xml" ContentType="application/vnd.openxmlformats-officedocument.drawingml.diagramColors+xml"/>
  <Override PartName="/ppt/diagrams/drawing141.xml" ContentType="application/vnd.ms-office.drawingml.diagramDrawing+xml"/>
  <Override PartName="/ppt/diagrams/data142.xml" ContentType="application/vnd.openxmlformats-officedocument.drawingml.diagramData+xml"/>
  <Override PartName="/ppt/diagrams/layout142.xml" ContentType="application/vnd.openxmlformats-officedocument.drawingml.diagramLayout+xml"/>
  <Override PartName="/ppt/diagrams/quickStyle142.xml" ContentType="application/vnd.openxmlformats-officedocument.drawingml.diagramStyle+xml"/>
  <Override PartName="/ppt/diagrams/colors142.xml" ContentType="application/vnd.openxmlformats-officedocument.drawingml.diagramColors+xml"/>
  <Override PartName="/ppt/diagrams/drawing142.xml" ContentType="application/vnd.ms-office.drawingml.diagramDrawing+xml"/>
  <Override PartName="/ppt/diagrams/data143.xml" ContentType="application/vnd.openxmlformats-officedocument.drawingml.diagramData+xml"/>
  <Override PartName="/ppt/diagrams/layout143.xml" ContentType="application/vnd.openxmlformats-officedocument.drawingml.diagramLayout+xml"/>
  <Override PartName="/ppt/diagrams/quickStyle143.xml" ContentType="application/vnd.openxmlformats-officedocument.drawingml.diagramStyle+xml"/>
  <Override PartName="/ppt/diagrams/colors143.xml" ContentType="application/vnd.openxmlformats-officedocument.drawingml.diagramColors+xml"/>
  <Override PartName="/ppt/diagrams/drawing143.xml" ContentType="application/vnd.ms-office.drawingml.diagramDrawing+xml"/>
  <Override PartName="/ppt/diagrams/data144.xml" ContentType="application/vnd.openxmlformats-officedocument.drawingml.diagramData+xml"/>
  <Override PartName="/ppt/diagrams/layout144.xml" ContentType="application/vnd.openxmlformats-officedocument.drawingml.diagramLayout+xml"/>
  <Override PartName="/ppt/diagrams/quickStyle144.xml" ContentType="application/vnd.openxmlformats-officedocument.drawingml.diagramStyle+xml"/>
  <Override PartName="/ppt/diagrams/colors144.xml" ContentType="application/vnd.openxmlformats-officedocument.drawingml.diagramColors+xml"/>
  <Override PartName="/ppt/diagrams/drawing144.xml" ContentType="application/vnd.ms-office.drawingml.diagramDrawing+xml"/>
  <Override PartName="/ppt/diagrams/data145.xml" ContentType="application/vnd.openxmlformats-officedocument.drawingml.diagramData+xml"/>
  <Override PartName="/ppt/diagrams/layout145.xml" ContentType="application/vnd.openxmlformats-officedocument.drawingml.diagramLayout+xml"/>
  <Override PartName="/ppt/diagrams/quickStyle145.xml" ContentType="application/vnd.openxmlformats-officedocument.drawingml.diagramStyle+xml"/>
  <Override PartName="/ppt/diagrams/colors145.xml" ContentType="application/vnd.openxmlformats-officedocument.drawingml.diagramColors+xml"/>
  <Override PartName="/ppt/diagrams/drawing145.xml" ContentType="application/vnd.ms-office.drawingml.diagramDrawing+xml"/>
  <Override PartName="/ppt/diagrams/data146.xml" ContentType="application/vnd.openxmlformats-officedocument.drawingml.diagramData+xml"/>
  <Override PartName="/ppt/diagrams/layout146.xml" ContentType="application/vnd.openxmlformats-officedocument.drawingml.diagramLayout+xml"/>
  <Override PartName="/ppt/diagrams/quickStyle146.xml" ContentType="application/vnd.openxmlformats-officedocument.drawingml.diagramStyle+xml"/>
  <Override PartName="/ppt/diagrams/colors146.xml" ContentType="application/vnd.openxmlformats-officedocument.drawingml.diagramColors+xml"/>
  <Override PartName="/ppt/diagrams/drawing146.xml" ContentType="application/vnd.ms-office.drawingml.diagramDrawing+xml"/>
  <Override PartName="/ppt/diagrams/data147.xml" ContentType="application/vnd.openxmlformats-officedocument.drawingml.diagramData+xml"/>
  <Override PartName="/ppt/diagrams/layout147.xml" ContentType="application/vnd.openxmlformats-officedocument.drawingml.diagramLayout+xml"/>
  <Override PartName="/ppt/diagrams/quickStyle147.xml" ContentType="application/vnd.openxmlformats-officedocument.drawingml.diagramStyle+xml"/>
  <Override PartName="/ppt/diagrams/colors147.xml" ContentType="application/vnd.openxmlformats-officedocument.drawingml.diagramColors+xml"/>
  <Override PartName="/ppt/diagrams/drawing147.xml" ContentType="application/vnd.ms-office.drawingml.diagramDrawing+xml"/>
  <Override PartName="/ppt/diagrams/data148.xml" ContentType="application/vnd.openxmlformats-officedocument.drawingml.diagramData+xml"/>
  <Override PartName="/ppt/diagrams/layout148.xml" ContentType="application/vnd.openxmlformats-officedocument.drawingml.diagramLayout+xml"/>
  <Override PartName="/ppt/diagrams/quickStyle148.xml" ContentType="application/vnd.openxmlformats-officedocument.drawingml.diagramStyle+xml"/>
  <Override PartName="/ppt/diagrams/colors148.xml" ContentType="application/vnd.openxmlformats-officedocument.drawingml.diagramColors+xml"/>
  <Override PartName="/ppt/diagrams/drawing148.xml" ContentType="application/vnd.ms-office.drawingml.diagramDrawing+xml"/>
  <Override PartName="/ppt/diagrams/data149.xml" ContentType="application/vnd.openxmlformats-officedocument.drawingml.diagramData+xml"/>
  <Override PartName="/ppt/diagrams/layout149.xml" ContentType="application/vnd.openxmlformats-officedocument.drawingml.diagramLayout+xml"/>
  <Override PartName="/ppt/diagrams/quickStyle149.xml" ContentType="application/vnd.openxmlformats-officedocument.drawingml.diagramStyle+xml"/>
  <Override PartName="/ppt/diagrams/colors149.xml" ContentType="application/vnd.openxmlformats-officedocument.drawingml.diagramColors+xml"/>
  <Override PartName="/ppt/diagrams/drawing149.xml" ContentType="application/vnd.ms-office.drawingml.diagramDrawing+xml"/>
  <Override PartName="/ppt/diagrams/data150.xml" ContentType="application/vnd.openxmlformats-officedocument.drawingml.diagramData+xml"/>
  <Override PartName="/ppt/diagrams/layout150.xml" ContentType="application/vnd.openxmlformats-officedocument.drawingml.diagramLayout+xml"/>
  <Override PartName="/ppt/diagrams/quickStyle150.xml" ContentType="application/vnd.openxmlformats-officedocument.drawingml.diagramStyle+xml"/>
  <Override PartName="/ppt/diagrams/colors150.xml" ContentType="application/vnd.openxmlformats-officedocument.drawingml.diagramColors+xml"/>
  <Override PartName="/ppt/diagrams/drawing150.xml" ContentType="application/vnd.ms-office.drawingml.diagramDrawing+xml"/>
  <Override PartName="/ppt/diagrams/data151.xml" ContentType="application/vnd.openxmlformats-officedocument.drawingml.diagramData+xml"/>
  <Override PartName="/ppt/diagrams/layout151.xml" ContentType="application/vnd.openxmlformats-officedocument.drawingml.diagramLayout+xml"/>
  <Override PartName="/ppt/diagrams/quickStyle151.xml" ContentType="application/vnd.openxmlformats-officedocument.drawingml.diagramStyle+xml"/>
  <Override PartName="/ppt/diagrams/colors151.xml" ContentType="application/vnd.openxmlformats-officedocument.drawingml.diagramColors+xml"/>
  <Override PartName="/ppt/diagrams/drawing151.xml" ContentType="application/vnd.ms-office.drawingml.diagramDrawing+xml"/>
  <Override PartName="/ppt/diagrams/data152.xml" ContentType="application/vnd.openxmlformats-officedocument.drawingml.diagramData+xml"/>
  <Override PartName="/ppt/diagrams/layout152.xml" ContentType="application/vnd.openxmlformats-officedocument.drawingml.diagramLayout+xml"/>
  <Override PartName="/ppt/diagrams/quickStyle152.xml" ContentType="application/vnd.openxmlformats-officedocument.drawingml.diagramStyle+xml"/>
  <Override PartName="/ppt/diagrams/colors152.xml" ContentType="application/vnd.openxmlformats-officedocument.drawingml.diagramColors+xml"/>
  <Override PartName="/ppt/diagrams/drawing152.xml" ContentType="application/vnd.ms-office.drawingml.diagramDrawing+xml"/>
  <Override PartName="/ppt/diagrams/data153.xml" ContentType="application/vnd.openxmlformats-officedocument.drawingml.diagramData+xml"/>
  <Override PartName="/ppt/diagrams/layout153.xml" ContentType="application/vnd.openxmlformats-officedocument.drawingml.diagramLayout+xml"/>
  <Override PartName="/ppt/diagrams/quickStyle153.xml" ContentType="application/vnd.openxmlformats-officedocument.drawingml.diagramStyle+xml"/>
  <Override PartName="/ppt/diagrams/colors153.xml" ContentType="application/vnd.openxmlformats-officedocument.drawingml.diagramColors+xml"/>
  <Override PartName="/ppt/diagrams/drawing153.xml" ContentType="application/vnd.ms-office.drawingml.diagramDrawing+xml"/>
  <Override PartName="/ppt/diagrams/data154.xml" ContentType="application/vnd.openxmlformats-officedocument.drawingml.diagramData+xml"/>
  <Override PartName="/ppt/diagrams/layout154.xml" ContentType="application/vnd.openxmlformats-officedocument.drawingml.diagramLayout+xml"/>
  <Override PartName="/ppt/diagrams/quickStyle154.xml" ContentType="application/vnd.openxmlformats-officedocument.drawingml.diagramStyle+xml"/>
  <Override PartName="/ppt/diagrams/colors154.xml" ContentType="application/vnd.openxmlformats-officedocument.drawingml.diagramColors+xml"/>
  <Override PartName="/ppt/diagrams/drawing154.xml" ContentType="application/vnd.ms-office.drawingml.diagramDrawing+xml"/>
  <Override PartName="/ppt/diagrams/data155.xml" ContentType="application/vnd.openxmlformats-officedocument.drawingml.diagramData+xml"/>
  <Override PartName="/ppt/diagrams/layout155.xml" ContentType="application/vnd.openxmlformats-officedocument.drawingml.diagramLayout+xml"/>
  <Override PartName="/ppt/diagrams/quickStyle155.xml" ContentType="application/vnd.openxmlformats-officedocument.drawingml.diagramStyle+xml"/>
  <Override PartName="/ppt/diagrams/colors155.xml" ContentType="application/vnd.openxmlformats-officedocument.drawingml.diagramColors+xml"/>
  <Override PartName="/ppt/diagrams/drawing155.xml" ContentType="application/vnd.ms-office.drawingml.diagramDrawing+xml"/>
  <Override PartName="/ppt/diagrams/data156.xml" ContentType="application/vnd.openxmlformats-officedocument.drawingml.diagramData+xml"/>
  <Override PartName="/ppt/diagrams/layout156.xml" ContentType="application/vnd.openxmlformats-officedocument.drawingml.diagramLayout+xml"/>
  <Override PartName="/ppt/diagrams/quickStyle156.xml" ContentType="application/vnd.openxmlformats-officedocument.drawingml.diagramStyle+xml"/>
  <Override PartName="/ppt/diagrams/colors156.xml" ContentType="application/vnd.openxmlformats-officedocument.drawingml.diagramColors+xml"/>
  <Override PartName="/ppt/diagrams/drawing156.xml" ContentType="application/vnd.ms-office.drawingml.diagramDrawing+xml"/>
  <Override PartName="/ppt/diagrams/data157.xml" ContentType="application/vnd.openxmlformats-officedocument.drawingml.diagramData+xml"/>
  <Override PartName="/ppt/diagrams/layout157.xml" ContentType="application/vnd.openxmlformats-officedocument.drawingml.diagramLayout+xml"/>
  <Override PartName="/ppt/diagrams/quickStyle157.xml" ContentType="application/vnd.openxmlformats-officedocument.drawingml.diagramStyle+xml"/>
  <Override PartName="/ppt/diagrams/colors157.xml" ContentType="application/vnd.openxmlformats-officedocument.drawingml.diagramColors+xml"/>
  <Override PartName="/ppt/diagrams/drawing157.xml" ContentType="application/vnd.ms-office.drawingml.diagramDrawing+xml"/>
  <Override PartName="/ppt/diagrams/data158.xml" ContentType="application/vnd.openxmlformats-officedocument.drawingml.diagramData+xml"/>
  <Override PartName="/ppt/diagrams/layout158.xml" ContentType="application/vnd.openxmlformats-officedocument.drawingml.diagramLayout+xml"/>
  <Override PartName="/ppt/diagrams/quickStyle158.xml" ContentType="application/vnd.openxmlformats-officedocument.drawingml.diagramStyle+xml"/>
  <Override PartName="/ppt/diagrams/colors158.xml" ContentType="application/vnd.openxmlformats-officedocument.drawingml.diagramColors+xml"/>
  <Override PartName="/ppt/diagrams/drawing158.xml" ContentType="application/vnd.ms-office.drawingml.diagramDrawing+xml"/>
  <Override PartName="/ppt/diagrams/data159.xml" ContentType="application/vnd.openxmlformats-officedocument.drawingml.diagramData+xml"/>
  <Override PartName="/ppt/diagrams/layout159.xml" ContentType="application/vnd.openxmlformats-officedocument.drawingml.diagramLayout+xml"/>
  <Override PartName="/ppt/diagrams/quickStyle159.xml" ContentType="application/vnd.openxmlformats-officedocument.drawingml.diagramStyle+xml"/>
  <Override PartName="/ppt/diagrams/colors159.xml" ContentType="application/vnd.openxmlformats-officedocument.drawingml.diagramColors+xml"/>
  <Override PartName="/ppt/diagrams/drawing159.xml" ContentType="application/vnd.ms-office.drawingml.diagramDrawing+xml"/>
  <Override PartName="/ppt/diagrams/data160.xml" ContentType="application/vnd.openxmlformats-officedocument.drawingml.diagramData+xml"/>
  <Override PartName="/ppt/diagrams/layout160.xml" ContentType="application/vnd.openxmlformats-officedocument.drawingml.diagramLayout+xml"/>
  <Override PartName="/ppt/diagrams/quickStyle160.xml" ContentType="application/vnd.openxmlformats-officedocument.drawingml.diagramStyle+xml"/>
  <Override PartName="/ppt/diagrams/colors160.xml" ContentType="application/vnd.openxmlformats-officedocument.drawingml.diagramColors+xml"/>
  <Override PartName="/ppt/diagrams/drawing160.xml" ContentType="application/vnd.ms-office.drawingml.diagramDrawing+xml"/>
  <Override PartName="/ppt/diagrams/data161.xml" ContentType="application/vnd.openxmlformats-officedocument.drawingml.diagramData+xml"/>
  <Override PartName="/ppt/diagrams/layout161.xml" ContentType="application/vnd.openxmlformats-officedocument.drawingml.diagramLayout+xml"/>
  <Override PartName="/ppt/diagrams/quickStyle161.xml" ContentType="application/vnd.openxmlformats-officedocument.drawingml.diagramStyle+xml"/>
  <Override PartName="/ppt/diagrams/colors161.xml" ContentType="application/vnd.openxmlformats-officedocument.drawingml.diagramColors+xml"/>
  <Override PartName="/ppt/diagrams/drawing161.xml" ContentType="application/vnd.ms-office.drawingml.diagramDrawing+xml"/>
  <Override PartName="/ppt/diagrams/data162.xml" ContentType="application/vnd.openxmlformats-officedocument.drawingml.diagramData+xml"/>
  <Override PartName="/ppt/diagrams/layout162.xml" ContentType="application/vnd.openxmlformats-officedocument.drawingml.diagramLayout+xml"/>
  <Override PartName="/ppt/diagrams/quickStyle162.xml" ContentType="application/vnd.openxmlformats-officedocument.drawingml.diagramStyle+xml"/>
  <Override PartName="/ppt/diagrams/colors162.xml" ContentType="application/vnd.openxmlformats-officedocument.drawingml.diagramColors+xml"/>
  <Override PartName="/ppt/diagrams/drawing162.xml" ContentType="application/vnd.ms-office.drawingml.diagramDrawing+xml"/>
  <Override PartName="/ppt/diagrams/data163.xml" ContentType="application/vnd.openxmlformats-officedocument.drawingml.diagramData+xml"/>
  <Override PartName="/ppt/diagrams/layout163.xml" ContentType="application/vnd.openxmlformats-officedocument.drawingml.diagramLayout+xml"/>
  <Override PartName="/ppt/diagrams/quickStyle163.xml" ContentType="application/vnd.openxmlformats-officedocument.drawingml.diagramStyle+xml"/>
  <Override PartName="/ppt/diagrams/colors163.xml" ContentType="application/vnd.openxmlformats-officedocument.drawingml.diagramColors+xml"/>
  <Override PartName="/ppt/diagrams/drawing163.xml" ContentType="application/vnd.ms-office.drawingml.diagramDrawing+xml"/>
  <Override PartName="/ppt/diagrams/data164.xml" ContentType="application/vnd.openxmlformats-officedocument.drawingml.diagramData+xml"/>
  <Override PartName="/ppt/diagrams/layout164.xml" ContentType="application/vnd.openxmlformats-officedocument.drawingml.diagramLayout+xml"/>
  <Override PartName="/ppt/diagrams/quickStyle164.xml" ContentType="application/vnd.openxmlformats-officedocument.drawingml.diagramStyle+xml"/>
  <Override PartName="/ppt/diagrams/colors164.xml" ContentType="application/vnd.openxmlformats-officedocument.drawingml.diagramColors+xml"/>
  <Override PartName="/ppt/diagrams/drawing164.xml" ContentType="application/vnd.ms-office.drawingml.diagramDrawing+xml"/>
  <Override PartName="/ppt/diagrams/data165.xml" ContentType="application/vnd.openxmlformats-officedocument.drawingml.diagramData+xml"/>
  <Override PartName="/ppt/diagrams/layout165.xml" ContentType="application/vnd.openxmlformats-officedocument.drawingml.diagramLayout+xml"/>
  <Override PartName="/ppt/diagrams/quickStyle165.xml" ContentType="application/vnd.openxmlformats-officedocument.drawingml.diagramStyle+xml"/>
  <Override PartName="/ppt/diagrams/colors165.xml" ContentType="application/vnd.openxmlformats-officedocument.drawingml.diagramColors+xml"/>
  <Override PartName="/ppt/diagrams/drawing165.xml" ContentType="application/vnd.ms-office.drawingml.diagramDrawing+xml"/>
  <Override PartName="/ppt/diagrams/data166.xml" ContentType="application/vnd.openxmlformats-officedocument.drawingml.diagramData+xml"/>
  <Override PartName="/ppt/diagrams/layout166.xml" ContentType="application/vnd.openxmlformats-officedocument.drawingml.diagramLayout+xml"/>
  <Override PartName="/ppt/diagrams/quickStyle166.xml" ContentType="application/vnd.openxmlformats-officedocument.drawingml.diagramStyle+xml"/>
  <Override PartName="/ppt/diagrams/colors166.xml" ContentType="application/vnd.openxmlformats-officedocument.drawingml.diagramColors+xml"/>
  <Override PartName="/ppt/diagrams/drawing166.xml" ContentType="application/vnd.ms-office.drawingml.diagramDrawing+xml"/>
  <Override PartName="/ppt/notesSlides/notesSlide16.xml" ContentType="application/vnd.openxmlformats-officedocument.presentationml.notesSlide+xml"/>
  <Override PartName="/ppt/diagrams/data167.xml" ContentType="application/vnd.openxmlformats-officedocument.drawingml.diagramData+xml"/>
  <Override PartName="/ppt/diagrams/layout167.xml" ContentType="application/vnd.openxmlformats-officedocument.drawingml.diagramLayout+xml"/>
  <Override PartName="/ppt/diagrams/quickStyle167.xml" ContentType="application/vnd.openxmlformats-officedocument.drawingml.diagramStyle+xml"/>
  <Override PartName="/ppt/diagrams/colors167.xml" ContentType="application/vnd.openxmlformats-officedocument.drawingml.diagramColors+xml"/>
  <Override PartName="/ppt/diagrams/drawing167.xml" ContentType="application/vnd.ms-office.drawingml.diagramDrawing+xml"/>
  <Override PartName="/ppt/notesSlides/notesSlide17.xml" ContentType="application/vnd.openxmlformats-officedocument.presentationml.notesSlide+xml"/>
  <Override PartName="/ppt/diagrams/data168.xml" ContentType="application/vnd.openxmlformats-officedocument.drawingml.diagramData+xml"/>
  <Override PartName="/ppt/diagrams/layout168.xml" ContentType="application/vnd.openxmlformats-officedocument.drawingml.diagramLayout+xml"/>
  <Override PartName="/ppt/diagrams/quickStyle168.xml" ContentType="application/vnd.openxmlformats-officedocument.drawingml.diagramStyle+xml"/>
  <Override PartName="/ppt/diagrams/colors168.xml" ContentType="application/vnd.openxmlformats-officedocument.drawingml.diagramColors+xml"/>
  <Override PartName="/ppt/diagrams/drawing168.xml" ContentType="application/vnd.ms-office.drawingml.diagramDrawing+xml"/>
  <Override PartName="/ppt/diagrams/data169.xml" ContentType="application/vnd.openxmlformats-officedocument.drawingml.diagramData+xml"/>
  <Override PartName="/ppt/diagrams/layout169.xml" ContentType="application/vnd.openxmlformats-officedocument.drawingml.diagramLayout+xml"/>
  <Override PartName="/ppt/diagrams/quickStyle169.xml" ContentType="application/vnd.openxmlformats-officedocument.drawingml.diagramStyle+xml"/>
  <Override PartName="/ppt/diagrams/colors169.xml" ContentType="application/vnd.openxmlformats-officedocument.drawingml.diagramColors+xml"/>
  <Override PartName="/ppt/diagrams/drawing169.xml" ContentType="application/vnd.ms-office.drawingml.diagramDrawing+xml"/>
  <Override PartName="/ppt/diagrams/data170.xml" ContentType="application/vnd.openxmlformats-officedocument.drawingml.diagramData+xml"/>
  <Override PartName="/ppt/diagrams/layout170.xml" ContentType="application/vnd.openxmlformats-officedocument.drawingml.diagramLayout+xml"/>
  <Override PartName="/ppt/diagrams/quickStyle170.xml" ContentType="application/vnd.openxmlformats-officedocument.drawingml.diagramStyle+xml"/>
  <Override PartName="/ppt/diagrams/colors170.xml" ContentType="application/vnd.openxmlformats-officedocument.drawingml.diagramColors+xml"/>
  <Override PartName="/ppt/diagrams/drawing170.xml" ContentType="application/vnd.ms-office.drawingml.diagramDrawing+xml"/>
  <Override PartName="/ppt/diagrams/data171.xml" ContentType="application/vnd.openxmlformats-officedocument.drawingml.diagramData+xml"/>
  <Override PartName="/ppt/diagrams/layout171.xml" ContentType="application/vnd.openxmlformats-officedocument.drawingml.diagramLayout+xml"/>
  <Override PartName="/ppt/diagrams/quickStyle171.xml" ContentType="application/vnd.openxmlformats-officedocument.drawingml.diagramStyle+xml"/>
  <Override PartName="/ppt/diagrams/colors171.xml" ContentType="application/vnd.openxmlformats-officedocument.drawingml.diagramColors+xml"/>
  <Override PartName="/ppt/diagrams/drawing171.xml" ContentType="application/vnd.ms-office.drawingml.diagramDrawing+xml"/>
  <Override PartName="/ppt/diagrams/data172.xml" ContentType="application/vnd.openxmlformats-officedocument.drawingml.diagramData+xml"/>
  <Override PartName="/ppt/diagrams/layout172.xml" ContentType="application/vnd.openxmlformats-officedocument.drawingml.diagramLayout+xml"/>
  <Override PartName="/ppt/diagrams/quickStyle172.xml" ContentType="application/vnd.openxmlformats-officedocument.drawingml.diagramStyle+xml"/>
  <Override PartName="/ppt/diagrams/colors172.xml" ContentType="application/vnd.openxmlformats-officedocument.drawingml.diagramColors+xml"/>
  <Override PartName="/ppt/diagrams/drawing172.xml" ContentType="application/vnd.ms-office.drawingml.diagramDrawing+xml"/>
  <Override PartName="/ppt/diagrams/data173.xml" ContentType="application/vnd.openxmlformats-officedocument.drawingml.diagramData+xml"/>
  <Override PartName="/ppt/diagrams/layout173.xml" ContentType="application/vnd.openxmlformats-officedocument.drawingml.diagramLayout+xml"/>
  <Override PartName="/ppt/diagrams/quickStyle173.xml" ContentType="application/vnd.openxmlformats-officedocument.drawingml.diagramStyle+xml"/>
  <Override PartName="/ppt/diagrams/colors173.xml" ContentType="application/vnd.openxmlformats-officedocument.drawingml.diagramColors+xml"/>
  <Override PartName="/ppt/diagrams/drawing173.xml" ContentType="application/vnd.ms-office.drawingml.diagramDrawing+xml"/>
  <Override PartName="/ppt/diagrams/data174.xml" ContentType="application/vnd.openxmlformats-officedocument.drawingml.diagramData+xml"/>
  <Override PartName="/ppt/diagrams/layout174.xml" ContentType="application/vnd.openxmlformats-officedocument.drawingml.diagramLayout+xml"/>
  <Override PartName="/ppt/diagrams/quickStyle174.xml" ContentType="application/vnd.openxmlformats-officedocument.drawingml.diagramStyle+xml"/>
  <Override PartName="/ppt/diagrams/colors174.xml" ContentType="application/vnd.openxmlformats-officedocument.drawingml.diagramColors+xml"/>
  <Override PartName="/ppt/diagrams/drawing174.xml" ContentType="application/vnd.ms-office.drawingml.diagramDrawing+xml"/>
  <Override PartName="/ppt/diagrams/data175.xml" ContentType="application/vnd.openxmlformats-officedocument.drawingml.diagramData+xml"/>
  <Override PartName="/ppt/diagrams/layout175.xml" ContentType="application/vnd.openxmlformats-officedocument.drawingml.diagramLayout+xml"/>
  <Override PartName="/ppt/diagrams/quickStyle175.xml" ContentType="application/vnd.openxmlformats-officedocument.drawingml.diagramStyle+xml"/>
  <Override PartName="/ppt/diagrams/colors175.xml" ContentType="application/vnd.openxmlformats-officedocument.drawingml.diagramColors+xml"/>
  <Override PartName="/ppt/diagrams/drawing175.xml" ContentType="application/vnd.ms-office.drawingml.diagramDrawing+xml"/>
  <Override PartName="/ppt/diagrams/data176.xml" ContentType="application/vnd.openxmlformats-officedocument.drawingml.diagramData+xml"/>
  <Override PartName="/ppt/diagrams/layout176.xml" ContentType="application/vnd.openxmlformats-officedocument.drawingml.diagramLayout+xml"/>
  <Override PartName="/ppt/diagrams/quickStyle176.xml" ContentType="application/vnd.openxmlformats-officedocument.drawingml.diagramStyle+xml"/>
  <Override PartName="/ppt/diagrams/colors176.xml" ContentType="application/vnd.openxmlformats-officedocument.drawingml.diagramColors+xml"/>
  <Override PartName="/ppt/diagrams/drawing176.xml" ContentType="application/vnd.ms-office.drawingml.diagramDrawing+xml"/>
  <Override PartName="/ppt/diagrams/data177.xml" ContentType="application/vnd.openxmlformats-officedocument.drawingml.diagramData+xml"/>
  <Override PartName="/ppt/diagrams/layout177.xml" ContentType="application/vnd.openxmlformats-officedocument.drawingml.diagramLayout+xml"/>
  <Override PartName="/ppt/diagrams/quickStyle177.xml" ContentType="application/vnd.openxmlformats-officedocument.drawingml.diagramStyle+xml"/>
  <Override PartName="/ppt/diagrams/colors177.xml" ContentType="application/vnd.openxmlformats-officedocument.drawingml.diagramColors+xml"/>
  <Override PartName="/ppt/diagrams/drawing177.xml" ContentType="application/vnd.ms-office.drawingml.diagramDrawing+xml"/>
  <Override PartName="/ppt/diagrams/data178.xml" ContentType="application/vnd.openxmlformats-officedocument.drawingml.diagramData+xml"/>
  <Override PartName="/ppt/diagrams/layout178.xml" ContentType="application/vnd.openxmlformats-officedocument.drawingml.diagramLayout+xml"/>
  <Override PartName="/ppt/diagrams/quickStyle178.xml" ContentType="application/vnd.openxmlformats-officedocument.drawingml.diagramStyle+xml"/>
  <Override PartName="/ppt/diagrams/colors178.xml" ContentType="application/vnd.openxmlformats-officedocument.drawingml.diagramColors+xml"/>
  <Override PartName="/ppt/diagrams/drawing178.xml" ContentType="application/vnd.ms-office.drawingml.diagramDrawing+xml"/>
  <Override PartName="/ppt/diagrams/data179.xml" ContentType="application/vnd.openxmlformats-officedocument.drawingml.diagramData+xml"/>
  <Override PartName="/ppt/diagrams/layout179.xml" ContentType="application/vnd.openxmlformats-officedocument.drawingml.diagramLayout+xml"/>
  <Override PartName="/ppt/diagrams/quickStyle179.xml" ContentType="application/vnd.openxmlformats-officedocument.drawingml.diagramStyle+xml"/>
  <Override PartName="/ppt/diagrams/colors179.xml" ContentType="application/vnd.openxmlformats-officedocument.drawingml.diagramColors+xml"/>
  <Override PartName="/ppt/diagrams/drawing179.xml" ContentType="application/vnd.ms-office.drawingml.diagramDrawing+xml"/>
  <Override PartName="/ppt/diagrams/data180.xml" ContentType="application/vnd.openxmlformats-officedocument.drawingml.diagramData+xml"/>
  <Override PartName="/ppt/diagrams/layout180.xml" ContentType="application/vnd.openxmlformats-officedocument.drawingml.diagramLayout+xml"/>
  <Override PartName="/ppt/diagrams/quickStyle180.xml" ContentType="application/vnd.openxmlformats-officedocument.drawingml.diagramStyle+xml"/>
  <Override PartName="/ppt/diagrams/colors180.xml" ContentType="application/vnd.openxmlformats-officedocument.drawingml.diagramColors+xml"/>
  <Override PartName="/ppt/diagrams/drawing180.xml" ContentType="application/vnd.ms-office.drawingml.diagramDrawing+xml"/>
  <Override PartName="/ppt/diagrams/data181.xml" ContentType="application/vnd.openxmlformats-officedocument.drawingml.diagramData+xml"/>
  <Override PartName="/ppt/diagrams/layout181.xml" ContentType="application/vnd.openxmlformats-officedocument.drawingml.diagramLayout+xml"/>
  <Override PartName="/ppt/diagrams/quickStyle181.xml" ContentType="application/vnd.openxmlformats-officedocument.drawingml.diagramStyle+xml"/>
  <Override PartName="/ppt/diagrams/colors181.xml" ContentType="application/vnd.openxmlformats-officedocument.drawingml.diagramColors+xml"/>
  <Override PartName="/ppt/diagrams/drawing181.xml" ContentType="application/vnd.ms-office.drawingml.diagramDrawing+xml"/>
  <Override PartName="/ppt/diagrams/data182.xml" ContentType="application/vnd.openxmlformats-officedocument.drawingml.diagramData+xml"/>
  <Override PartName="/ppt/diagrams/layout182.xml" ContentType="application/vnd.openxmlformats-officedocument.drawingml.diagramLayout+xml"/>
  <Override PartName="/ppt/diagrams/quickStyle182.xml" ContentType="application/vnd.openxmlformats-officedocument.drawingml.diagramStyle+xml"/>
  <Override PartName="/ppt/diagrams/colors182.xml" ContentType="application/vnd.openxmlformats-officedocument.drawingml.diagramColors+xml"/>
  <Override PartName="/ppt/diagrams/drawing182.xml" ContentType="application/vnd.ms-office.drawingml.diagramDrawing+xml"/>
  <Override PartName="/ppt/diagrams/data183.xml" ContentType="application/vnd.openxmlformats-officedocument.drawingml.diagramData+xml"/>
  <Override PartName="/ppt/diagrams/layout183.xml" ContentType="application/vnd.openxmlformats-officedocument.drawingml.diagramLayout+xml"/>
  <Override PartName="/ppt/diagrams/quickStyle183.xml" ContentType="application/vnd.openxmlformats-officedocument.drawingml.diagramStyle+xml"/>
  <Override PartName="/ppt/diagrams/colors183.xml" ContentType="application/vnd.openxmlformats-officedocument.drawingml.diagramColors+xml"/>
  <Override PartName="/ppt/diagrams/drawing183.xml" ContentType="application/vnd.ms-office.drawingml.diagramDrawing+xml"/>
  <Override PartName="/ppt/diagrams/data184.xml" ContentType="application/vnd.openxmlformats-officedocument.drawingml.diagramData+xml"/>
  <Override PartName="/ppt/diagrams/layout184.xml" ContentType="application/vnd.openxmlformats-officedocument.drawingml.diagramLayout+xml"/>
  <Override PartName="/ppt/diagrams/quickStyle184.xml" ContentType="application/vnd.openxmlformats-officedocument.drawingml.diagramStyle+xml"/>
  <Override PartName="/ppt/diagrams/colors184.xml" ContentType="application/vnd.openxmlformats-officedocument.drawingml.diagramColors+xml"/>
  <Override PartName="/ppt/diagrams/drawing184.xml" ContentType="application/vnd.ms-office.drawingml.diagramDrawing+xml"/>
  <Override PartName="/ppt/diagrams/data185.xml" ContentType="application/vnd.openxmlformats-officedocument.drawingml.diagramData+xml"/>
  <Override PartName="/ppt/diagrams/layout185.xml" ContentType="application/vnd.openxmlformats-officedocument.drawingml.diagramLayout+xml"/>
  <Override PartName="/ppt/diagrams/quickStyle185.xml" ContentType="application/vnd.openxmlformats-officedocument.drawingml.diagramStyle+xml"/>
  <Override PartName="/ppt/diagrams/colors185.xml" ContentType="application/vnd.openxmlformats-officedocument.drawingml.diagramColors+xml"/>
  <Override PartName="/ppt/diagrams/drawing185.xml" ContentType="application/vnd.ms-office.drawingml.diagramDrawing+xml"/>
  <Override PartName="/ppt/diagrams/data186.xml" ContentType="application/vnd.openxmlformats-officedocument.drawingml.diagramData+xml"/>
  <Override PartName="/ppt/diagrams/layout186.xml" ContentType="application/vnd.openxmlformats-officedocument.drawingml.diagramLayout+xml"/>
  <Override PartName="/ppt/diagrams/quickStyle186.xml" ContentType="application/vnd.openxmlformats-officedocument.drawingml.diagramStyle+xml"/>
  <Override PartName="/ppt/diagrams/colors186.xml" ContentType="application/vnd.openxmlformats-officedocument.drawingml.diagramColors+xml"/>
  <Override PartName="/ppt/diagrams/drawing186.xml" ContentType="application/vnd.ms-office.drawingml.diagramDrawing+xml"/>
  <Override PartName="/ppt/diagrams/data187.xml" ContentType="application/vnd.openxmlformats-officedocument.drawingml.diagramData+xml"/>
  <Override PartName="/ppt/diagrams/layout187.xml" ContentType="application/vnd.openxmlformats-officedocument.drawingml.diagramLayout+xml"/>
  <Override PartName="/ppt/diagrams/quickStyle187.xml" ContentType="application/vnd.openxmlformats-officedocument.drawingml.diagramStyle+xml"/>
  <Override PartName="/ppt/diagrams/colors187.xml" ContentType="application/vnd.openxmlformats-officedocument.drawingml.diagramColors+xml"/>
  <Override PartName="/ppt/diagrams/drawing187.xml" ContentType="application/vnd.ms-office.drawingml.diagramDrawing+xml"/>
  <Override PartName="/ppt/diagrams/data188.xml" ContentType="application/vnd.openxmlformats-officedocument.drawingml.diagramData+xml"/>
  <Override PartName="/ppt/diagrams/layout188.xml" ContentType="application/vnd.openxmlformats-officedocument.drawingml.diagramLayout+xml"/>
  <Override PartName="/ppt/diagrams/quickStyle188.xml" ContentType="application/vnd.openxmlformats-officedocument.drawingml.diagramStyle+xml"/>
  <Override PartName="/ppt/diagrams/colors188.xml" ContentType="application/vnd.openxmlformats-officedocument.drawingml.diagramColors+xml"/>
  <Override PartName="/ppt/diagrams/drawing188.xml" ContentType="application/vnd.ms-office.drawingml.diagramDrawing+xml"/>
  <Override PartName="/ppt/diagrams/data189.xml" ContentType="application/vnd.openxmlformats-officedocument.drawingml.diagramData+xml"/>
  <Override PartName="/ppt/diagrams/layout189.xml" ContentType="application/vnd.openxmlformats-officedocument.drawingml.diagramLayout+xml"/>
  <Override PartName="/ppt/diagrams/quickStyle189.xml" ContentType="application/vnd.openxmlformats-officedocument.drawingml.diagramStyle+xml"/>
  <Override PartName="/ppt/diagrams/colors189.xml" ContentType="application/vnd.openxmlformats-officedocument.drawingml.diagramColors+xml"/>
  <Override PartName="/ppt/diagrams/drawing189.xml" ContentType="application/vnd.ms-office.drawingml.diagramDrawing+xml"/>
  <Override PartName="/ppt/diagrams/data190.xml" ContentType="application/vnd.openxmlformats-officedocument.drawingml.diagramData+xml"/>
  <Override PartName="/ppt/diagrams/layout190.xml" ContentType="application/vnd.openxmlformats-officedocument.drawingml.diagramLayout+xml"/>
  <Override PartName="/ppt/diagrams/quickStyle190.xml" ContentType="application/vnd.openxmlformats-officedocument.drawingml.diagramStyle+xml"/>
  <Override PartName="/ppt/diagrams/colors190.xml" ContentType="application/vnd.openxmlformats-officedocument.drawingml.diagramColors+xml"/>
  <Override PartName="/ppt/diagrams/drawing190.xml" ContentType="application/vnd.ms-office.drawingml.diagramDrawing+xml"/>
  <Override PartName="/ppt/diagrams/data191.xml" ContentType="application/vnd.openxmlformats-officedocument.drawingml.diagramData+xml"/>
  <Override PartName="/ppt/diagrams/layout191.xml" ContentType="application/vnd.openxmlformats-officedocument.drawingml.diagramLayout+xml"/>
  <Override PartName="/ppt/diagrams/quickStyle191.xml" ContentType="application/vnd.openxmlformats-officedocument.drawingml.diagramStyle+xml"/>
  <Override PartName="/ppt/diagrams/colors191.xml" ContentType="application/vnd.openxmlformats-officedocument.drawingml.diagramColors+xml"/>
  <Override PartName="/ppt/diagrams/drawing191.xml" ContentType="application/vnd.ms-office.drawingml.diagramDrawing+xml"/>
  <Override PartName="/ppt/diagrams/data192.xml" ContentType="application/vnd.openxmlformats-officedocument.drawingml.diagramData+xml"/>
  <Override PartName="/ppt/diagrams/layout192.xml" ContentType="application/vnd.openxmlformats-officedocument.drawingml.diagramLayout+xml"/>
  <Override PartName="/ppt/diagrams/quickStyle192.xml" ContentType="application/vnd.openxmlformats-officedocument.drawingml.diagramStyle+xml"/>
  <Override PartName="/ppt/diagrams/colors192.xml" ContentType="application/vnd.openxmlformats-officedocument.drawingml.diagramColors+xml"/>
  <Override PartName="/ppt/diagrams/drawing19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3"/>
  </p:notesMasterIdLst>
  <p:sldIdLst>
    <p:sldId id="256" r:id="rId5"/>
    <p:sldId id="297" r:id="rId6"/>
    <p:sldId id="298" r:id="rId7"/>
    <p:sldId id="299" r:id="rId8"/>
    <p:sldId id="300" r:id="rId9"/>
    <p:sldId id="301" r:id="rId10"/>
    <p:sldId id="302" r:id="rId11"/>
    <p:sldId id="303" r:id="rId12"/>
    <p:sldId id="304" r:id="rId13"/>
    <p:sldId id="753" r:id="rId14"/>
    <p:sldId id="751" r:id="rId15"/>
    <p:sldId id="752" r:id="rId16"/>
    <p:sldId id="754" r:id="rId17"/>
    <p:sldId id="756" r:id="rId18"/>
    <p:sldId id="755" r:id="rId19"/>
    <p:sldId id="305" r:id="rId20"/>
    <p:sldId id="306" r:id="rId21"/>
    <p:sldId id="307" r:id="rId22"/>
    <p:sldId id="308" r:id="rId23"/>
    <p:sldId id="309" r:id="rId24"/>
    <p:sldId id="310" r:id="rId25"/>
    <p:sldId id="312" r:id="rId26"/>
    <p:sldId id="313" r:id="rId27"/>
    <p:sldId id="571" r:id="rId28"/>
    <p:sldId id="575" r:id="rId29"/>
    <p:sldId id="314" r:id="rId30"/>
    <p:sldId id="376" r:id="rId31"/>
    <p:sldId id="749" r:id="rId32"/>
    <p:sldId id="737" r:id="rId33"/>
    <p:sldId id="776" r:id="rId34"/>
    <p:sldId id="777" r:id="rId35"/>
    <p:sldId id="778" r:id="rId36"/>
    <p:sldId id="779" r:id="rId37"/>
    <p:sldId id="780" r:id="rId38"/>
    <p:sldId id="781" r:id="rId39"/>
    <p:sldId id="782" r:id="rId40"/>
    <p:sldId id="784" r:id="rId41"/>
    <p:sldId id="783" r:id="rId42"/>
    <p:sldId id="785" r:id="rId43"/>
    <p:sldId id="738" r:id="rId44"/>
    <p:sldId id="566" r:id="rId45"/>
    <p:sldId id="390" r:id="rId46"/>
    <p:sldId id="391" r:id="rId47"/>
    <p:sldId id="731" r:id="rId48"/>
    <p:sldId id="732" r:id="rId49"/>
    <p:sldId id="401" r:id="rId50"/>
    <p:sldId id="526" r:id="rId51"/>
    <p:sldId id="411" r:id="rId52"/>
    <p:sldId id="434" r:id="rId53"/>
    <p:sldId id="380" r:id="rId54"/>
    <p:sldId id="381" r:id="rId55"/>
    <p:sldId id="382" r:id="rId56"/>
    <p:sldId id="437" r:id="rId57"/>
    <p:sldId id="388" r:id="rId58"/>
    <p:sldId id="387" r:id="rId59"/>
    <p:sldId id="386" r:id="rId60"/>
    <p:sldId id="389" r:id="rId61"/>
    <p:sldId id="383" r:id="rId62"/>
    <p:sldId id="384" r:id="rId63"/>
    <p:sldId id="385" r:id="rId64"/>
    <p:sldId id="491" r:id="rId65"/>
    <p:sldId id="500" r:id="rId66"/>
    <p:sldId id="402" r:id="rId67"/>
    <p:sldId id="730" r:id="rId68"/>
    <p:sldId id="741" r:id="rId69"/>
    <p:sldId id="392" r:id="rId70"/>
    <p:sldId id="394" r:id="rId71"/>
    <p:sldId id="395" r:id="rId72"/>
    <p:sldId id="393" r:id="rId73"/>
    <p:sldId id="396" r:id="rId74"/>
    <p:sldId id="398" r:id="rId75"/>
    <p:sldId id="399" r:id="rId76"/>
    <p:sldId id="397" r:id="rId77"/>
    <p:sldId id="412" r:id="rId78"/>
    <p:sldId id="523" r:id="rId79"/>
    <p:sldId id="445" r:id="rId80"/>
    <p:sldId id="446" r:id="rId81"/>
    <p:sldId id="315" r:id="rId82"/>
    <p:sldId id="447" r:id="rId83"/>
    <p:sldId id="448" r:id="rId84"/>
    <p:sldId id="449" r:id="rId85"/>
    <p:sldId id="450" r:id="rId86"/>
    <p:sldId id="413" r:id="rId87"/>
    <p:sldId id="316" r:id="rId88"/>
    <p:sldId id="451" r:id="rId89"/>
    <p:sldId id="452" r:id="rId90"/>
    <p:sldId id="453" r:id="rId91"/>
    <p:sldId id="454" r:id="rId92"/>
    <p:sldId id="455" r:id="rId93"/>
    <p:sldId id="318" r:id="rId94"/>
    <p:sldId id="317" r:id="rId95"/>
    <p:sldId id="456" r:id="rId96"/>
    <p:sldId id="319" r:id="rId97"/>
    <p:sldId id="525" r:id="rId98"/>
    <p:sldId id="736" r:id="rId99"/>
    <p:sldId id="773" r:id="rId100"/>
    <p:sldId id="774" r:id="rId101"/>
    <p:sldId id="775" r:id="rId102"/>
    <p:sldId id="325" r:id="rId103"/>
    <p:sldId id="322" r:id="rId104"/>
    <p:sldId id="334" r:id="rId105"/>
    <p:sldId id="323" r:id="rId106"/>
    <p:sldId id="324" r:id="rId107"/>
    <p:sldId id="326" r:id="rId108"/>
    <p:sldId id="327" r:id="rId109"/>
    <p:sldId id="328" r:id="rId110"/>
    <p:sldId id="329" r:id="rId111"/>
    <p:sldId id="586" r:id="rId112"/>
    <p:sldId id="331" r:id="rId113"/>
    <p:sldId id="332" r:id="rId114"/>
    <p:sldId id="728" r:id="rId115"/>
    <p:sldId id="404" r:id="rId116"/>
    <p:sldId id="335" r:id="rId117"/>
    <p:sldId id="527" r:id="rId118"/>
    <p:sldId id="457" r:id="rId119"/>
    <p:sldId id="458" r:id="rId120"/>
    <p:sldId id="459" r:id="rId121"/>
    <p:sldId id="336" r:id="rId122"/>
    <p:sldId id="340" r:id="rId123"/>
    <p:sldId id="341" r:id="rId124"/>
    <p:sldId id="343" r:id="rId125"/>
    <p:sldId id="344" r:id="rId126"/>
    <p:sldId id="345" r:id="rId127"/>
    <p:sldId id="346" r:id="rId128"/>
    <p:sldId id="570" r:id="rId129"/>
    <p:sldId id="347" r:id="rId130"/>
    <p:sldId id="348" r:id="rId131"/>
    <p:sldId id="739" r:id="rId132"/>
    <p:sldId id="740" r:id="rId133"/>
    <p:sldId id="349" r:id="rId134"/>
    <p:sldId id="351" r:id="rId135"/>
    <p:sldId id="350" r:id="rId136"/>
    <p:sldId id="352" r:id="rId137"/>
    <p:sldId id="353" r:id="rId138"/>
    <p:sldId id="354" r:id="rId139"/>
    <p:sldId id="568" r:id="rId140"/>
    <p:sldId id="355" r:id="rId141"/>
    <p:sldId id="356" r:id="rId142"/>
    <p:sldId id="357" r:id="rId143"/>
    <p:sldId id="358" r:id="rId144"/>
    <p:sldId id="750" r:id="rId145"/>
    <p:sldId id="757" r:id="rId146"/>
    <p:sldId id="760" r:id="rId147"/>
    <p:sldId id="759" r:id="rId148"/>
    <p:sldId id="761" r:id="rId149"/>
    <p:sldId id="758" r:id="rId150"/>
    <p:sldId id="729" r:id="rId151"/>
    <p:sldId id="359" r:id="rId152"/>
    <p:sldId id="360" r:id="rId153"/>
    <p:sldId id="415" r:id="rId154"/>
    <p:sldId id="363" r:id="rId155"/>
    <p:sldId id="364" r:id="rId156"/>
    <p:sldId id="522" r:id="rId157"/>
    <p:sldId id="572" r:id="rId158"/>
    <p:sldId id="365" r:id="rId159"/>
    <p:sldId id="366" r:id="rId160"/>
    <p:sldId id="577" r:id="rId161"/>
    <p:sldId id="578" r:id="rId162"/>
    <p:sldId id="580" r:id="rId163"/>
    <p:sldId id="581" r:id="rId164"/>
    <p:sldId id="369" r:id="rId165"/>
    <p:sldId id="435" r:id="rId166"/>
    <p:sldId id="576" r:id="rId167"/>
    <p:sldId id="742" r:id="rId168"/>
    <p:sldId id="743" r:id="rId169"/>
    <p:sldId id="744" r:id="rId170"/>
    <p:sldId id="745" r:id="rId171"/>
    <p:sldId id="746" r:id="rId172"/>
    <p:sldId id="747" r:id="rId173"/>
    <p:sldId id="748" r:id="rId174"/>
    <p:sldId id="569" r:id="rId175"/>
    <p:sldId id="370" r:id="rId176"/>
    <p:sldId id="583" r:id="rId177"/>
    <p:sldId id="371" r:id="rId178"/>
    <p:sldId id="441" r:id="rId179"/>
    <p:sldId id="439" r:id="rId180"/>
    <p:sldId id="440" r:id="rId181"/>
    <p:sldId id="442" r:id="rId182"/>
    <p:sldId id="443" r:id="rId183"/>
    <p:sldId id="484" r:id="rId184"/>
    <p:sldId id="438" r:id="rId185"/>
    <p:sldId id="372" r:id="rId186"/>
    <p:sldId id="373" r:id="rId187"/>
    <p:sldId id="377" r:id="rId188"/>
    <p:sldId id="378" r:id="rId189"/>
    <p:sldId id="379" r:id="rId190"/>
    <p:sldId id="768" r:id="rId191"/>
    <p:sldId id="769" r:id="rId192"/>
    <p:sldId id="770" r:id="rId193"/>
    <p:sldId id="771" r:id="rId194"/>
    <p:sldId id="772" r:id="rId195"/>
    <p:sldId id="762" r:id="rId196"/>
    <p:sldId id="763" r:id="rId197"/>
    <p:sldId id="764" r:id="rId198"/>
    <p:sldId id="765" r:id="rId199"/>
    <p:sldId id="766" r:id="rId200"/>
    <p:sldId id="767" r:id="rId201"/>
    <p:sldId id="294" r:id="rId202"/>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2160">
          <p15:clr>
            <a:srgbClr val="A4A3A4"/>
          </p15:clr>
        </p15:guide>
        <p15:guide id="3" pos="960" userDrawn="1">
          <p15:clr>
            <a:srgbClr val="A4A3A4"/>
          </p15:clr>
        </p15:guide>
        <p15:guide id="4" pos="3696" userDrawn="1">
          <p15:clr>
            <a:srgbClr val="A4A3A4"/>
          </p15:clr>
        </p15:guide>
        <p15:guide id="5" orient="horz"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J McMahan" initials="MJM" lastIdx="43" clrIdx="0">
    <p:extLst>
      <p:ext uri="{19B8F6BF-5375-455C-9EA6-DF929625EA0E}">
        <p15:presenceInfo xmlns:p15="http://schemas.microsoft.com/office/powerpoint/2012/main" userId="S::o004618@ofgbancorp.com::f5de8ce0-42e9-4038-a990-3facc77dc678" providerId="AD"/>
      </p:ext>
    </p:extLst>
  </p:cmAuthor>
  <p:cmAuthor id="2" name="Alvarez Holgado, Raquel (Cognizant)" initials="AHR(" lastIdx="2" clrIdx="1">
    <p:extLst>
      <p:ext uri="{19B8F6BF-5375-455C-9EA6-DF929625EA0E}">
        <p15:presenceInfo xmlns:p15="http://schemas.microsoft.com/office/powerpoint/2012/main" userId="S-1-5-21-1178368992-402679808-390482200-3157283" providerId="AD"/>
      </p:ext>
    </p:extLst>
  </p:cmAuthor>
  <p:cmAuthor id="3" name="david martin" initials="dm" lastIdx="1" clrIdx="2">
    <p:extLst>
      <p:ext uri="{19B8F6BF-5375-455C-9EA6-DF929625EA0E}">
        <p15:presenceInfo xmlns:p15="http://schemas.microsoft.com/office/powerpoint/2012/main" userId="david mart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2F2"/>
    <a:srgbClr val="1E1A20"/>
    <a:srgbClr val="727272"/>
    <a:srgbClr val="DFF7F1"/>
    <a:srgbClr val="F1EAFF"/>
    <a:srgbClr val="64597A"/>
    <a:srgbClr val="FFFFFF"/>
    <a:srgbClr val="F8DBFD"/>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57" autoAdjust="0"/>
    <p:restoredTop sz="92877" autoAdjust="0"/>
  </p:normalViewPr>
  <p:slideViewPr>
    <p:cSldViewPr>
      <p:cViewPr varScale="1">
        <p:scale>
          <a:sx n="67" d="100"/>
          <a:sy n="67" d="100"/>
        </p:scale>
        <p:origin x="1144" y="56"/>
      </p:cViewPr>
      <p:guideLst>
        <p:guide orient="horz" pos="2016"/>
        <p:guide pos="2160"/>
        <p:guide pos="960"/>
        <p:guide pos="3696"/>
        <p:guide orient="horz" pos="24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presProps" Target="presProp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viewProps" Target="viewProps.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theme" Target="theme/theme1.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199" Type="http://schemas.openxmlformats.org/officeDocument/2006/relationships/slide" Target="slides/slide195.xml"/><Relationship Id="rId203" Type="http://schemas.openxmlformats.org/officeDocument/2006/relationships/notesMaster" Target="notesMasters/notesMaster1.xml"/><Relationship Id="rId208"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slide" Target="slides/slide185.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209" Type="http://schemas.microsoft.com/office/2016/11/relationships/changesInfo" Target="changesInfos/changesInfo1.xml"/><Relationship Id="rId190" Type="http://schemas.openxmlformats.org/officeDocument/2006/relationships/slide" Target="slides/slide186.xml"/><Relationship Id="rId204" Type="http://schemas.openxmlformats.org/officeDocument/2006/relationships/commentAuthors" Target="commentAuthor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 Sandip (Cognizant)" userId="5f7625ad-98d9-4890-9d14-c521d7d0e727" providerId="ADAL" clId="{C2AB7451-CC97-4FB3-8B68-F5313FB7DC79}"/>
    <pc:docChg chg="modSld">
      <pc:chgData name="Ray, Sandip (Cognizant)" userId="5f7625ad-98d9-4890-9d14-c521d7d0e727" providerId="ADAL" clId="{C2AB7451-CC97-4FB3-8B68-F5313FB7DC79}" dt="2023-04-06T04:09:00.980" v="256" actId="20577"/>
      <pc:docMkLst>
        <pc:docMk/>
      </pc:docMkLst>
      <pc:sldChg chg="modSp mod">
        <pc:chgData name="Ray, Sandip (Cognizant)" userId="5f7625ad-98d9-4890-9d14-c521d7d0e727" providerId="ADAL" clId="{C2AB7451-CC97-4FB3-8B68-F5313FB7DC79}" dt="2023-04-06T03:59:36.364" v="161" actId="20577"/>
        <pc:sldMkLst>
          <pc:docMk/>
          <pc:sldMk cId="0" sldId="260"/>
        </pc:sldMkLst>
        <pc:spChg chg="mod">
          <ac:chgData name="Ray, Sandip (Cognizant)" userId="5f7625ad-98d9-4890-9d14-c521d7d0e727" providerId="ADAL" clId="{C2AB7451-CC97-4FB3-8B68-F5313FB7DC79}" dt="2023-04-06T03:59:36.364" v="161" actId="20577"/>
          <ac:spMkLst>
            <pc:docMk/>
            <pc:sldMk cId="0" sldId="260"/>
            <ac:spMk id="6" creationId="{6F1A71D4-B0E2-03B4-6EE7-DB07A3C27BD4}"/>
          </ac:spMkLst>
        </pc:spChg>
      </pc:sldChg>
      <pc:sldChg chg="modSp mod">
        <pc:chgData name="Ray, Sandip (Cognizant)" userId="5f7625ad-98d9-4890-9d14-c521d7d0e727" providerId="ADAL" clId="{C2AB7451-CC97-4FB3-8B68-F5313FB7DC79}" dt="2023-04-06T03:48:53.533" v="73" actId="20577"/>
        <pc:sldMkLst>
          <pc:docMk/>
          <pc:sldMk cId="4047161330" sldId="286"/>
        </pc:sldMkLst>
        <pc:spChg chg="mod">
          <ac:chgData name="Ray, Sandip (Cognizant)" userId="5f7625ad-98d9-4890-9d14-c521d7d0e727" providerId="ADAL" clId="{C2AB7451-CC97-4FB3-8B68-F5313FB7DC79}" dt="2023-04-06T03:45:56.046" v="16" actId="20577"/>
          <ac:spMkLst>
            <pc:docMk/>
            <pc:sldMk cId="4047161330" sldId="286"/>
            <ac:spMk id="10" creationId="{00000000-0000-0000-0000-000000000000}"/>
          </ac:spMkLst>
        </pc:spChg>
        <pc:spChg chg="mod">
          <ac:chgData name="Ray, Sandip (Cognizant)" userId="5f7625ad-98d9-4890-9d14-c521d7d0e727" providerId="ADAL" clId="{C2AB7451-CC97-4FB3-8B68-F5313FB7DC79}" dt="2023-04-06T03:48:53.533" v="73" actId="20577"/>
          <ac:spMkLst>
            <pc:docMk/>
            <pc:sldMk cId="4047161330" sldId="286"/>
            <ac:spMk id="22" creationId="{2C359A52-6812-58BA-7F74-5756C76E8AAB}"/>
          </ac:spMkLst>
        </pc:spChg>
      </pc:sldChg>
      <pc:sldChg chg="modSp mod">
        <pc:chgData name="Ray, Sandip (Cognizant)" userId="5f7625ad-98d9-4890-9d14-c521d7d0e727" providerId="ADAL" clId="{C2AB7451-CC97-4FB3-8B68-F5313FB7DC79}" dt="2023-04-06T03:50:55.737" v="137" actId="20577"/>
        <pc:sldMkLst>
          <pc:docMk/>
          <pc:sldMk cId="1704172639" sldId="287"/>
        </pc:sldMkLst>
        <pc:spChg chg="mod">
          <ac:chgData name="Ray, Sandip (Cognizant)" userId="5f7625ad-98d9-4890-9d14-c521d7d0e727" providerId="ADAL" clId="{C2AB7451-CC97-4FB3-8B68-F5313FB7DC79}" dt="2023-04-06T03:50:55.737" v="137" actId="20577"/>
          <ac:spMkLst>
            <pc:docMk/>
            <pc:sldMk cId="1704172639" sldId="287"/>
            <ac:spMk id="10" creationId="{00000000-0000-0000-0000-000000000000}"/>
          </ac:spMkLst>
        </pc:spChg>
      </pc:sldChg>
      <pc:sldChg chg="modSp mod">
        <pc:chgData name="Ray, Sandip (Cognizant)" userId="5f7625ad-98d9-4890-9d14-c521d7d0e727" providerId="ADAL" clId="{C2AB7451-CC97-4FB3-8B68-F5313FB7DC79}" dt="2023-04-06T03:52:41.549" v="147" actId="20577"/>
        <pc:sldMkLst>
          <pc:docMk/>
          <pc:sldMk cId="4018458971" sldId="288"/>
        </pc:sldMkLst>
        <pc:spChg chg="mod">
          <ac:chgData name="Ray, Sandip (Cognizant)" userId="5f7625ad-98d9-4890-9d14-c521d7d0e727" providerId="ADAL" clId="{C2AB7451-CC97-4FB3-8B68-F5313FB7DC79}" dt="2023-04-06T03:52:41.549" v="147" actId="20577"/>
          <ac:spMkLst>
            <pc:docMk/>
            <pc:sldMk cId="4018458971" sldId="288"/>
            <ac:spMk id="10" creationId="{00000000-0000-0000-0000-000000000000}"/>
          </ac:spMkLst>
        </pc:spChg>
      </pc:sldChg>
      <pc:sldChg chg="modSp mod">
        <pc:chgData name="Ray, Sandip (Cognizant)" userId="5f7625ad-98d9-4890-9d14-c521d7d0e727" providerId="ADAL" clId="{C2AB7451-CC97-4FB3-8B68-F5313FB7DC79}" dt="2023-04-06T03:56:47.733" v="149" actId="20577"/>
        <pc:sldMkLst>
          <pc:docMk/>
          <pc:sldMk cId="1223559503" sldId="291"/>
        </pc:sldMkLst>
        <pc:spChg chg="mod">
          <ac:chgData name="Ray, Sandip (Cognizant)" userId="5f7625ad-98d9-4890-9d14-c521d7d0e727" providerId="ADAL" clId="{C2AB7451-CC97-4FB3-8B68-F5313FB7DC79}" dt="2023-04-06T03:56:47.733" v="149" actId="20577"/>
          <ac:spMkLst>
            <pc:docMk/>
            <pc:sldMk cId="1223559503" sldId="291"/>
            <ac:spMk id="10" creationId="{00000000-0000-0000-0000-000000000000}"/>
          </ac:spMkLst>
        </pc:spChg>
      </pc:sldChg>
      <pc:sldChg chg="modSp mod">
        <pc:chgData name="Ray, Sandip (Cognizant)" userId="5f7625ad-98d9-4890-9d14-c521d7d0e727" providerId="ADAL" clId="{C2AB7451-CC97-4FB3-8B68-F5313FB7DC79}" dt="2023-04-06T04:09:00.980" v="256" actId="20577"/>
        <pc:sldMkLst>
          <pc:docMk/>
          <pc:sldMk cId="785725705" sldId="292"/>
        </pc:sldMkLst>
        <pc:spChg chg="mod">
          <ac:chgData name="Ray, Sandip (Cognizant)" userId="5f7625ad-98d9-4890-9d14-c521d7d0e727" providerId="ADAL" clId="{C2AB7451-CC97-4FB3-8B68-F5313FB7DC79}" dt="2023-04-06T04:09:00.980" v="256" actId="20577"/>
          <ac:spMkLst>
            <pc:docMk/>
            <pc:sldMk cId="785725705" sldId="292"/>
            <ac:spMk id="10" creationId="{00000000-0000-0000-0000-000000000000}"/>
          </ac:spMkLst>
        </pc:spChg>
      </pc:sldChg>
      <pc:sldChg chg="modSp mod">
        <pc:chgData name="Ray, Sandip (Cognizant)" userId="5f7625ad-98d9-4890-9d14-c521d7d0e727" providerId="ADAL" clId="{C2AB7451-CC97-4FB3-8B68-F5313FB7DC79}" dt="2023-04-06T03:55:08.024" v="148" actId="6549"/>
        <pc:sldMkLst>
          <pc:docMk/>
          <pc:sldMk cId="1456905060" sldId="293"/>
        </pc:sldMkLst>
        <pc:spChg chg="mod">
          <ac:chgData name="Ray, Sandip (Cognizant)" userId="5f7625ad-98d9-4890-9d14-c521d7d0e727" providerId="ADAL" clId="{C2AB7451-CC97-4FB3-8B68-F5313FB7DC79}" dt="2023-04-06T03:55:08.024" v="148" actId="6549"/>
          <ac:spMkLst>
            <pc:docMk/>
            <pc:sldMk cId="1456905060" sldId="293"/>
            <ac:spMk id="10" creationId="{00000000-0000-0000-0000-000000000000}"/>
          </ac:spMkLst>
        </pc:spChg>
      </pc:sldChg>
    </pc:docChg>
  </pc:docChgLst>
  <pc:docChgLst>
    <pc:chgData name="Kumar, Harendra (Cognizant)" userId="8b8433c2-3ce6-4e38-9e1b-c8afb18e9057" providerId="ADAL" clId="{9C4CD99B-EF1B-4C81-94B0-0A1924216EBF}"/>
    <pc:docChg chg="undo custSel addSld delSld modSld sldOrd addSection delSection">
      <pc:chgData name="Kumar, Harendra (Cognizant)" userId="8b8433c2-3ce6-4e38-9e1b-c8afb18e9057" providerId="ADAL" clId="{9C4CD99B-EF1B-4C81-94B0-0A1924216EBF}" dt="2023-04-03T10:14:33.691" v="8675" actId="1035"/>
      <pc:docMkLst>
        <pc:docMk/>
      </pc:docMkLst>
      <pc:sldChg chg="addSp delSp modSp mod">
        <pc:chgData name="Kumar, Harendra (Cognizant)" userId="8b8433c2-3ce6-4e38-9e1b-c8afb18e9057" providerId="ADAL" clId="{9C4CD99B-EF1B-4C81-94B0-0A1924216EBF}" dt="2023-04-03T07:22:34.979" v="3882" actId="1037"/>
        <pc:sldMkLst>
          <pc:docMk/>
          <pc:sldMk cId="0" sldId="256"/>
        </pc:sldMkLst>
        <pc:spChg chg="del mod">
          <ac:chgData name="Kumar, Harendra (Cognizant)" userId="8b8433c2-3ce6-4e38-9e1b-c8afb18e9057" providerId="ADAL" clId="{9C4CD99B-EF1B-4C81-94B0-0A1924216EBF}" dt="2023-04-03T05:55:28.094" v="18" actId="12084"/>
          <ac:spMkLst>
            <pc:docMk/>
            <pc:sldMk cId="0" sldId="256"/>
            <ac:spMk id="2" creationId="{00000000-0000-0000-0000-000000000000}"/>
          </ac:spMkLst>
        </pc:spChg>
        <pc:spChg chg="mod">
          <ac:chgData name="Kumar, Harendra (Cognizant)" userId="8b8433c2-3ce6-4e38-9e1b-c8afb18e9057" providerId="ADAL" clId="{9C4CD99B-EF1B-4C81-94B0-0A1924216EBF}" dt="2023-04-03T07:22:34.979" v="3882" actId="1037"/>
          <ac:spMkLst>
            <pc:docMk/>
            <pc:sldMk cId="0" sldId="256"/>
            <ac:spMk id="3" creationId="{00000000-0000-0000-0000-000000000000}"/>
          </ac:spMkLst>
        </pc:spChg>
        <pc:graphicFrameChg chg="add mod">
          <ac:chgData name="Kumar, Harendra (Cognizant)" userId="8b8433c2-3ce6-4e38-9e1b-c8afb18e9057" providerId="ADAL" clId="{9C4CD99B-EF1B-4C81-94B0-0A1924216EBF}" dt="2023-04-03T07:22:25.842" v="3873" actId="12100"/>
          <ac:graphicFrameMkLst>
            <pc:docMk/>
            <pc:sldMk cId="0" sldId="256"/>
            <ac:graphicFrameMk id="6" creationId="{226DC635-E9B3-0133-0548-37B556605D82}"/>
          </ac:graphicFrameMkLst>
        </pc:graphicFrameChg>
      </pc:sldChg>
      <pc:sldChg chg="addSp delSp modSp mod">
        <pc:chgData name="Kumar, Harendra (Cognizant)" userId="8b8433c2-3ce6-4e38-9e1b-c8afb18e9057" providerId="ADAL" clId="{9C4CD99B-EF1B-4C81-94B0-0A1924216EBF}" dt="2023-04-03T09:52:43.219" v="7266" actId="2"/>
        <pc:sldMkLst>
          <pc:docMk/>
          <pc:sldMk cId="0" sldId="258"/>
        </pc:sldMkLst>
        <pc:spChg chg="mod">
          <ac:chgData name="Kumar, Harendra (Cognizant)" userId="8b8433c2-3ce6-4e38-9e1b-c8afb18e9057" providerId="ADAL" clId="{9C4CD99B-EF1B-4C81-94B0-0A1924216EBF}" dt="2023-04-03T07:17:59.233" v="3847" actId="255"/>
          <ac:spMkLst>
            <pc:docMk/>
            <pc:sldMk cId="0" sldId="258"/>
            <ac:spMk id="2" creationId="{00000000-0000-0000-0000-000000000000}"/>
          </ac:spMkLst>
        </pc:spChg>
        <pc:spChg chg="del mod">
          <ac:chgData name="Kumar, Harendra (Cognizant)" userId="8b8433c2-3ce6-4e38-9e1b-c8afb18e9057" providerId="ADAL" clId="{9C4CD99B-EF1B-4C81-94B0-0A1924216EBF}" dt="2023-04-03T06:39:27.761" v="1746" actId="21"/>
          <ac:spMkLst>
            <pc:docMk/>
            <pc:sldMk cId="0" sldId="258"/>
            <ac:spMk id="4" creationId="{00000000-0000-0000-0000-000000000000}"/>
          </ac:spMkLst>
        </pc:spChg>
        <pc:spChg chg="mod">
          <ac:chgData name="Kumar, Harendra (Cognizant)" userId="8b8433c2-3ce6-4e38-9e1b-c8afb18e9057" providerId="ADAL" clId="{9C4CD99B-EF1B-4C81-94B0-0A1924216EBF}" dt="2023-04-03T09:52:41.695" v="7265" actId="2"/>
          <ac:spMkLst>
            <pc:docMk/>
            <pc:sldMk cId="0" sldId="258"/>
            <ac:spMk id="5" creationId="{00000000-0000-0000-0000-000000000000}"/>
          </ac:spMkLst>
        </pc:spChg>
        <pc:spChg chg="del">
          <ac:chgData name="Kumar, Harendra (Cognizant)" userId="8b8433c2-3ce6-4e38-9e1b-c8afb18e9057" providerId="ADAL" clId="{9C4CD99B-EF1B-4C81-94B0-0A1924216EBF}" dt="2023-04-03T06:39:11.928" v="1740" actId="478"/>
          <ac:spMkLst>
            <pc:docMk/>
            <pc:sldMk cId="0" sldId="258"/>
            <ac:spMk id="7" creationId="{00000000-0000-0000-0000-000000000000}"/>
          </ac:spMkLst>
        </pc:spChg>
        <pc:spChg chg="del">
          <ac:chgData name="Kumar, Harendra (Cognizant)" userId="8b8433c2-3ce6-4e38-9e1b-c8afb18e9057" providerId="ADAL" clId="{9C4CD99B-EF1B-4C81-94B0-0A1924216EBF}" dt="2023-04-03T06:39:09.787" v="1739" actId="478"/>
          <ac:spMkLst>
            <pc:docMk/>
            <pc:sldMk cId="0" sldId="258"/>
            <ac:spMk id="8" creationId="{00000000-0000-0000-0000-000000000000}"/>
          </ac:spMkLst>
        </pc:spChg>
        <pc:spChg chg="add mod">
          <ac:chgData name="Kumar, Harendra (Cognizant)" userId="8b8433c2-3ce6-4e38-9e1b-c8afb18e9057" providerId="ADAL" clId="{9C4CD99B-EF1B-4C81-94B0-0A1924216EBF}" dt="2023-04-03T09:52:43.219" v="7266" actId="2"/>
          <ac:spMkLst>
            <pc:docMk/>
            <pc:sldMk cId="0" sldId="258"/>
            <ac:spMk id="9" creationId="{E2B73E12-784C-7F90-DA48-6D0006E2601C}"/>
          </ac:spMkLst>
        </pc:spChg>
        <pc:picChg chg="add mod">
          <ac:chgData name="Kumar, Harendra (Cognizant)" userId="8b8433c2-3ce6-4e38-9e1b-c8afb18e9057" providerId="ADAL" clId="{9C4CD99B-EF1B-4C81-94B0-0A1924216EBF}" dt="2023-04-03T07:21:03.506" v="3870" actId="14100"/>
          <ac:picMkLst>
            <pc:docMk/>
            <pc:sldMk cId="0" sldId="258"/>
            <ac:picMk id="6" creationId="{7F0752E5-7035-0C32-C92B-70020742F100}"/>
          </ac:picMkLst>
        </pc:picChg>
        <pc:picChg chg="add mod">
          <ac:chgData name="Kumar, Harendra (Cognizant)" userId="8b8433c2-3ce6-4e38-9e1b-c8afb18e9057" providerId="ADAL" clId="{9C4CD99B-EF1B-4C81-94B0-0A1924216EBF}" dt="2023-04-03T07:20:50.567" v="3868" actId="14100"/>
          <ac:picMkLst>
            <pc:docMk/>
            <pc:sldMk cId="0" sldId="258"/>
            <ac:picMk id="11" creationId="{FEB3C8A0-8B7A-23A2-EC4D-3EEE1C72A435}"/>
          </ac:picMkLst>
        </pc:picChg>
      </pc:sldChg>
      <pc:sldChg chg="addSp delSp modSp mod">
        <pc:chgData name="Kumar, Harendra (Cognizant)" userId="8b8433c2-3ce6-4e38-9e1b-c8afb18e9057" providerId="ADAL" clId="{9C4CD99B-EF1B-4C81-94B0-0A1924216EBF}" dt="2023-04-03T09:54:11.475" v="7276" actId="2711"/>
        <pc:sldMkLst>
          <pc:docMk/>
          <pc:sldMk cId="0" sldId="260"/>
        </pc:sldMkLst>
        <pc:spChg chg="del">
          <ac:chgData name="Kumar, Harendra (Cognizant)" userId="8b8433c2-3ce6-4e38-9e1b-c8afb18e9057" providerId="ADAL" clId="{9C4CD99B-EF1B-4C81-94B0-0A1924216EBF}" dt="2023-04-03T06:54:56.237" v="2383" actId="478"/>
          <ac:spMkLst>
            <pc:docMk/>
            <pc:sldMk cId="0" sldId="260"/>
            <ac:spMk id="2" creationId="{00000000-0000-0000-0000-000000000000}"/>
          </ac:spMkLst>
        </pc:spChg>
        <pc:spChg chg="del">
          <ac:chgData name="Kumar, Harendra (Cognizant)" userId="8b8433c2-3ce6-4e38-9e1b-c8afb18e9057" providerId="ADAL" clId="{9C4CD99B-EF1B-4C81-94B0-0A1924216EBF}" dt="2023-04-03T06:54:54.953" v="2382" actId="478"/>
          <ac:spMkLst>
            <pc:docMk/>
            <pc:sldMk cId="0" sldId="260"/>
            <ac:spMk id="3" creationId="{00000000-0000-0000-0000-000000000000}"/>
          </ac:spMkLst>
        </pc:spChg>
        <pc:spChg chg="add mod">
          <ac:chgData name="Kumar, Harendra (Cognizant)" userId="8b8433c2-3ce6-4e38-9e1b-c8afb18e9057" providerId="ADAL" clId="{9C4CD99B-EF1B-4C81-94B0-0A1924216EBF}" dt="2023-04-03T09:54:11.475" v="7276" actId="2711"/>
          <ac:spMkLst>
            <pc:docMk/>
            <pc:sldMk cId="0" sldId="260"/>
            <ac:spMk id="4" creationId="{93A0F582-DCEC-D980-FFA8-A6F1ED88539A}"/>
          </ac:spMkLst>
        </pc:spChg>
        <pc:spChg chg="del mod">
          <ac:chgData name="Kumar, Harendra (Cognizant)" userId="8b8433c2-3ce6-4e38-9e1b-c8afb18e9057" providerId="ADAL" clId="{9C4CD99B-EF1B-4C81-94B0-0A1924216EBF}" dt="2023-04-03T06:54:57.808" v="2385" actId="478"/>
          <ac:spMkLst>
            <pc:docMk/>
            <pc:sldMk cId="0" sldId="260"/>
            <ac:spMk id="5" creationId="{00000000-0000-0000-0000-000000000000}"/>
          </ac:spMkLst>
        </pc:spChg>
        <pc:spChg chg="add mod">
          <ac:chgData name="Kumar, Harendra (Cognizant)" userId="8b8433c2-3ce6-4e38-9e1b-c8afb18e9057" providerId="ADAL" clId="{9C4CD99B-EF1B-4C81-94B0-0A1924216EBF}" dt="2023-04-03T09:53:42.213" v="7275" actId="2711"/>
          <ac:spMkLst>
            <pc:docMk/>
            <pc:sldMk cId="0" sldId="260"/>
            <ac:spMk id="6" creationId="{6F1A71D4-B0E2-03B4-6EE7-DB07A3C27BD4}"/>
          </ac:spMkLst>
        </pc:spChg>
        <pc:spChg chg="del mod">
          <ac:chgData name="Kumar, Harendra (Cognizant)" userId="8b8433c2-3ce6-4e38-9e1b-c8afb18e9057" providerId="ADAL" clId="{9C4CD99B-EF1B-4C81-94B0-0A1924216EBF}" dt="2023-04-03T06:54:53.249" v="2381" actId="478"/>
          <ac:spMkLst>
            <pc:docMk/>
            <pc:sldMk cId="0" sldId="260"/>
            <ac:spMk id="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0" sldId="269"/>
        </pc:sldMkLst>
        <pc:spChg chg="mod">
          <ac:chgData name="Kumar, Harendra (Cognizant)" userId="8b8433c2-3ce6-4e38-9e1b-c8afb18e9057" providerId="ADAL" clId="{9C4CD99B-EF1B-4C81-94B0-0A1924216EBF}" dt="2023-04-03T05:56:19.037" v="24"/>
          <ac:spMkLst>
            <pc:docMk/>
            <pc:sldMk cId="0" sldId="269"/>
            <ac:spMk id="14"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5"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6"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0" sldId="270"/>
        </pc:sldMkLst>
      </pc:sldChg>
      <pc:sldChg chg="del">
        <pc:chgData name="Kumar, Harendra (Cognizant)" userId="8b8433c2-3ce6-4e38-9e1b-c8afb18e9057" providerId="ADAL" clId="{9C4CD99B-EF1B-4C81-94B0-0A1924216EBF}" dt="2023-04-03T07:22:56.532" v="3883" actId="47"/>
        <pc:sldMkLst>
          <pc:docMk/>
          <pc:sldMk cId="0" sldId="275"/>
        </pc:sldMkLst>
      </pc:sldChg>
      <pc:sldChg chg="del">
        <pc:chgData name="Kumar, Harendra (Cognizant)" userId="8b8433c2-3ce6-4e38-9e1b-c8afb18e9057" providerId="ADAL" clId="{9C4CD99B-EF1B-4C81-94B0-0A1924216EBF}" dt="2023-04-03T07:22:56.532" v="3883" actId="47"/>
        <pc:sldMkLst>
          <pc:docMk/>
          <pc:sldMk cId="3766500295" sldId="276"/>
        </pc:sldMkLst>
      </pc:sldChg>
      <pc:sldChg chg="del">
        <pc:chgData name="Kumar, Harendra (Cognizant)" userId="8b8433c2-3ce6-4e38-9e1b-c8afb18e9057" providerId="ADAL" clId="{9C4CD99B-EF1B-4C81-94B0-0A1924216EBF}" dt="2023-04-03T07:22:56.532" v="3883" actId="47"/>
        <pc:sldMkLst>
          <pc:docMk/>
          <pc:sldMk cId="3958584192" sldId="277"/>
        </pc:sldMkLst>
      </pc:sldChg>
      <pc:sldChg chg="modSp del">
        <pc:chgData name="Kumar, Harendra (Cognizant)" userId="8b8433c2-3ce6-4e38-9e1b-c8afb18e9057" providerId="ADAL" clId="{9C4CD99B-EF1B-4C81-94B0-0A1924216EBF}" dt="2023-04-03T07:22:56.532" v="3883" actId="47"/>
        <pc:sldMkLst>
          <pc:docMk/>
          <pc:sldMk cId="3888009725" sldId="278"/>
        </pc:sldMkLst>
        <pc:spChg chg="mod">
          <ac:chgData name="Kumar, Harendra (Cognizant)" userId="8b8433c2-3ce6-4e38-9e1b-c8afb18e9057" providerId="ADAL" clId="{9C4CD99B-EF1B-4C81-94B0-0A1924216EBF}" dt="2023-04-03T05:56:19.037" v="24"/>
          <ac:spMkLst>
            <pc:docMk/>
            <pc:sldMk cId="3888009725" sldId="278"/>
            <ac:spMk id="25"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1415307865" sldId="279"/>
        </pc:sldMkLst>
        <pc:spChg chg="mod">
          <ac:chgData name="Kumar, Harendra (Cognizant)" userId="8b8433c2-3ce6-4e38-9e1b-c8afb18e9057" providerId="ADAL" clId="{9C4CD99B-EF1B-4C81-94B0-0A1924216EBF}" dt="2023-04-03T05:56:19.037" v="24"/>
          <ac:spMkLst>
            <pc:docMk/>
            <pc:sldMk cId="1415307865" sldId="279"/>
            <ac:spMk id="13"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9004302" sldId="280"/>
        </pc:sldMkLst>
        <pc:spChg chg="mod">
          <ac:chgData name="Kumar, Harendra (Cognizant)" userId="8b8433c2-3ce6-4e38-9e1b-c8afb18e9057" providerId="ADAL" clId="{9C4CD99B-EF1B-4C81-94B0-0A1924216EBF}" dt="2023-04-03T05:56:19.037" v="24"/>
          <ac:spMkLst>
            <pc:docMk/>
            <pc:sldMk cId="299004302" sldId="280"/>
            <ac:spMk id="21"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3040225914" sldId="281"/>
        </pc:sldMkLst>
      </pc:sldChg>
      <pc:sldChg chg="del">
        <pc:chgData name="Kumar, Harendra (Cognizant)" userId="8b8433c2-3ce6-4e38-9e1b-c8afb18e9057" providerId="ADAL" clId="{9C4CD99B-EF1B-4C81-94B0-0A1924216EBF}" dt="2023-04-03T07:22:56.532" v="3883" actId="47"/>
        <pc:sldMkLst>
          <pc:docMk/>
          <pc:sldMk cId="2805173323" sldId="282"/>
        </pc:sldMkLst>
      </pc:sldChg>
      <pc:sldChg chg="del">
        <pc:chgData name="Kumar, Harendra (Cognizant)" userId="8b8433c2-3ce6-4e38-9e1b-c8afb18e9057" providerId="ADAL" clId="{9C4CD99B-EF1B-4C81-94B0-0A1924216EBF}" dt="2023-04-03T07:22:56.532" v="3883" actId="47"/>
        <pc:sldMkLst>
          <pc:docMk/>
          <pc:sldMk cId="2680098498" sldId="283"/>
        </pc:sldMkLst>
      </pc:sldChg>
      <pc:sldChg chg="addSp delSp modSp mod">
        <pc:chgData name="Kumar, Harendra (Cognizant)" userId="8b8433c2-3ce6-4e38-9e1b-c8afb18e9057" providerId="ADAL" clId="{9C4CD99B-EF1B-4C81-94B0-0A1924216EBF}" dt="2023-04-03T07:24:11.475" v="3885" actId="207"/>
        <pc:sldMkLst>
          <pc:docMk/>
          <pc:sldMk cId="4047161330" sldId="286"/>
        </pc:sldMkLst>
        <pc:spChg chg="add del mod">
          <ac:chgData name="Kumar, Harendra (Cognizant)" userId="8b8433c2-3ce6-4e38-9e1b-c8afb18e9057" providerId="ADAL" clId="{9C4CD99B-EF1B-4C81-94B0-0A1924216EBF}" dt="2023-04-03T06:34:01.733" v="1679" actId="767"/>
          <ac:spMkLst>
            <pc:docMk/>
            <pc:sldMk cId="4047161330" sldId="286"/>
            <ac:spMk id="4" creationId="{A412336A-1D81-041F-9B56-742FB28DC2EE}"/>
          </ac:spMkLst>
        </pc:spChg>
        <pc:spChg chg="mod">
          <ac:chgData name="Kumar, Harendra (Cognizant)" userId="8b8433c2-3ce6-4e38-9e1b-c8afb18e9057" providerId="ADAL" clId="{9C4CD99B-EF1B-4C81-94B0-0A1924216EBF}" dt="2023-04-03T06:36:10.730" v="1694" actId="21"/>
          <ac:spMkLst>
            <pc:docMk/>
            <pc:sldMk cId="4047161330" sldId="286"/>
            <ac:spMk id="10" creationId="{00000000-0000-0000-0000-000000000000}"/>
          </ac:spMkLst>
        </pc:spChg>
        <pc:spChg chg="del">
          <ac:chgData name="Kumar, Harendra (Cognizant)" userId="8b8433c2-3ce6-4e38-9e1b-c8afb18e9057" providerId="ADAL" clId="{9C4CD99B-EF1B-4C81-94B0-0A1924216EBF}" dt="2023-04-03T05:55:53.265" v="22" actId="478"/>
          <ac:spMkLst>
            <pc:docMk/>
            <pc:sldMk cId="4047161330" sldId="286"/>
            <ac:spMk id="15" creationId="{00000000-0000-0000-0000-000000000000}"/>
          </ac:spMkLst>
        </pc:spChg>
        <pc:spChg chg="del">
          <ac:chgData name="Kumar, Harendra (Cognizant)" userId="8b8433c2-3ce6-4e38-9e1b-c8afb18e9057" providerId="ADAL" clId="{9C4CD99B-EF1B-4C81-94B0-0A1924216EBF}" dt="2023-04-03T05:55:56.104" v="23" actId="478"/>
          <ac:spMkLst>
            <pc:docMk/>
            <pc:sldMk cId="4047161330" sldId="286"/>
            <ac:spMk id="16" creationId="{00000000-0000-0000-0000-000000000000}"/>
          </ac:spMkLst>
        </pc:spChg>
        <pc:spChg chg="mod">
          <ac:chgData name="Kumar, Harendra (Cognizant)" userId="8b8433c2-3ce6-4e38-9e1b-c8afb18e9057" providerId="ADAL" clId="{9C4CD99B-EF1B-4C81-94B0-0A1924216EBF}" dt="2023-04-03T07:24:11.475" v="3885" actId="207"/>
          <ac:spMkLst>
            <pc:docMk/>
            <pc:sldMk cId="4047161330" sldId="286"/>
            <ac:spMk id="17" creationId="{00000000-0000-0000-0000-000000000000}"/>
          </ac:spMkLst>
        </pc:spChg>
        <pc:spChg chg="add mod">
          <ac:chgData name="Kumar, Harendra (Cognizant)" userId="8b8433c2-3ce6-4e38-9e1b-c8afb18e9057" providerId="ADAL" clId="{9C4CD99B-EF1B-4C81-94B0-0A1924216EBF}" dt="2023-04-03T06:37:59.503" v="1718" actId="14100"/>
          <ac:spMkLst>
            <pc:docMk/>
            <pc:sldMk cId="4047161330" sldId="286"/>
            <ac:spMk id="22" creationId="{2C359A52-6812-58BA-7F74-5756C76E8AAB}"/>
          </ac:spMkLst>
        </pc:spChg>
        <pc:grpChg chg="del">
          <ac:chgData name="Kumar, Harendra (Cognizant)" userId="8b8433c2-3ce6-4e38-9e1b-c8afb18e9057" providerId="ADAL" clId="{9C4CD99B-EF1B-4C81-94B0-0A1924216EBF}" dt="2023-04-03T05:55:50.662" v="21" actId="478"/>
          <ac:grpSpMkLst>
            <pc:docMk/>
            <pc:sldMk cId="4047161330" sldId="286"/>
            <ac:grpSpMk id="3" creationId="{00000000-0000-0000-0000-000000000000}"/>
          </ac:grpSpMkLst>
        </pc:grpChg>
        <pc:grpChg chg="del">
          <ac:chgData name="Kumar, Harendra (Cognizant)" userId="8b8433c2-3ce6-4e38-9e1b-c8afb18e9057" providerId="ADAL" clId="{9C4CD99B-EF1B-4C81-94B0-0A1924216EBF}" dt="2023-04-03T05:55:42.479" v="19" actId="478"/>
          <ac:grpSpMkLst>
            <pc:docMk/>
            <pc:sldMk cId="4047161330" sldId="286"/>
            <ac:grpSpMk id="6" creationId="{00000000-0000-0000-0000-000000000000}"/>
          </ac:grpSpMkLst>
        </pc:grpChg>
        <pc:grpChg chg="del">
          <ac:chgData name="Kumar, Harendra (Cognizant)" userId="8b8433c2-3ce6-4e38-9e1b-c8afb18e9057" providerId="ADAL" clId="{9C4CD99B-EF1B-4C81-94B0-0A1924216EBF}" dt="2023-04-03T05:55:48.650" v="20" actId="478"/>
          <ac:grpSpMkLst>
            <pc:docMk/>
            <pc:sldMk cId="4047161330" sldId="286"/>
            <ac:grpSpMk id="19" creationId="{00000000-0000-0000-0000-000000000000}"/>
          </ac:grpSpMkLst>
        </pc:grpChg>
        <pc:picChg chg="add del mod">
          <ac:chgData name="Kumar, Harendra (Cognizant)" userId="8b8433c2-3ce6-4e38-9e1b-c8afb18e9057" providerId="ADAL" clId="{9C4CD99B-EF1B-4C81-94B0-0A1924216EBF}" dt="2023-04-03T06:34:00.625" v="1677" actId="22"/>
          <ac:picMkLst>
            <pc:docMk/>
            <pc:sldMk cId="4047161330" sldId="286"/>
            <ac:picMk id="7" creationId="{4BDB3BD7-FCAC-998F-2189-4D4512E8B244}"/>
          </ac:picMkLst>
        </pc:picChg>
        <pc:picChg chg="add mod">
          <ac:chgData name="Kumar, Harendra (Cognizant)" userId="8b8433c2-3ce6-4e38-9e1b-c8afb18e9057" providerId="ADAL" clId="{9C4CD99B-EF1B-4C81-94B0-0A1924216EBF}" dt="2023-04-03T06:37:37.142" v="1715" actId="14100"/>
          <ac:picMkLst>
            <pc:docMk/>
            <pc:sldMk cId="4047161330" sldId="286"/>
            <ac:picMk id="9" creationId="{2720219B-D876-535C-5076-9CD15E0C9272}"/>
          </ac:picMkLst>
        </pc:picChg>
      </pc:sldChg>
      <pc:sldChg chg="modSp del">
        <pc:chgData name="Kumar, Harendra (Cognizant)" userId="8b8433c2-3ce6-4e38-9e1b-c8afb18e9057" providerId="ADAL" clId="{9C4CD99B-EF1B-4C81-94B0-0A1924216EBF}" dt="2023-04-03T07:22:56.532" v="3883" actId="47"/>
        <pc:sldMkLst>
          <pc:docMk/>
          <pc:sldMk cId="1522341275" sldId="287"/>
        </pc:sldMkLst>
        <pc:spChg chg="mod">
          <ac:chgData name="Kumar, Harendra (Cognizant)" userId="8b8433c2-3ce6-4e38-9e1b-c8afb18e9057" providerId="ADAL" clId="{9C4CD99B-EF1B-4C81-94B0-0A1924216EBF}" dt="2023-04-03T05:56:19.037" v="24"/>
          <ac:spMkLst>
            <pc:docMk/>
            <pc:sldMk cId="1522341275" sldId="287"/>
            <ac:spMk id="19" creationId="{00000000-0000-0000-0000-000000000000}"/>
          </ac:spMkLst>
        </pc:spChg>
      </pc:sldChg>
      <pc:sldChg chg="addSp delSp modSp add mod">
        <pc:chgData name="Kumar, Harendra (Cognizant)" userId="8b8433c2-3ce6-4e38-9e1b-c8afb18e9057" providerId="ADAL" clId="{9C4CD99B-EF1B-4C81-94B0-0A1924216EBF}" dt="2023-04-03T10:03:39.898" v="7844" actId="14100"/>
        <pc:sldMkLst>
          <pc:docMk/>
          <pc:sldMk cId="1704172639" sldId="287"/>
        </pc:sldMkLst>
        <pc:spChg chg="add del mod">
          <ac:chgData name="Kumar, Harendra (Cognizant)" userId="8b8433c2-3ce6-4e38-9e1b-c8afb18e9057" providerId="ADAL" clId="{9C4CD99B-EF1B-4C81-94B0-0A1924216EBF}" dt="2023-04-03T07:59:02.079" v="4283"/>
          <ac:spMkLst>
            <pc:docMk/>
            <pc:sldMk cId="1704172639" sldId="287"/>
            <ac:spMk id="8" creationId="{BC64A90C-8B92-0B87-54E9-00E89581B42F}"/>
          </ac:spMkLst>
        </pc:spChg>
        <pc:spChg chg="mod">
          <ac:chgData name="Kumar, Harendra (Cognizant)" userId="8b8433c2-3ce6-4e38-9e1b-c8afb18e9057" providerId="ADAL" clId="{9C4CD99B-EF1B-4C81-94B0-0A1924216EBF}" dt="2023-04-03T10:03:21.279" v="7838" actId="1036"/>
          <ac:spMkLst>
            <pc:docMk/>
            <pc:sldMk cId="1704172639" sldId="287"/>
            <ac:spMk id="10" creationId="{00000000-0000-0000-0000-000000000000}"/>
          </ac:spMkLst>
        </pc:spChg>
        <pc:spChg chg="add mod">
          <ac:chgData name="Kumar, Harendra (Cognizant)" userId="8b8433c2-3ce6-4e38-9e1b-c8afb18e9057" providerId="ADAL" clId="{9C4CD99B-EF1B-4C81-94B0-0A1924216EBF}" dt="2023-04-03T10:02:09.227" v="7721" actId="1037"/>
          <ac:spMkLst>
            <pc:docMk/>
            <pc:sldMk cId="1704172639" sldId="287"/>
            <ac:spMk id="13" creationId="{EFA37FE9-227B-4C1C-6280-8E2D16CFFD48}"/>
          </ac:spMkLst>
        </pc:spChg>
        <pc:spChg chg="mod">
          <ac:chgData name="Kumar, Harendra (Cognizant)" userId="8b8433c2-3ce6-4e38-9e1b-c8afb18e9057" providerId="ADAL" clId="{9C4CD99B-EF1B-4C81-94B0-0A1924216EBF}" dt="2023-04-03T10:03:16.187" v="7837" actId="20577"/>
          <ac:spMkLst>
            <pc:docMk/>
            <pc:sldMk cId="1704172639" sldId="287"/>
            <ac:spMk id="17" creationId="{00000000-0000-0000-0000-000000000000}"/>
          </ac:spMkLst>
        </pc:spChg>
        <pc:spChg chg="del mod">
          <ac:chgData name="Kumar, Harendra (Cognizant)" userId="8b8433c2-3ce6-4e38-9e1b-c8afb18e9057" providerId="ADAL" clId="{9C4CD99B-EF1B-4C81-94B0-0A1924216EBF}" dt="2023-04-03T08:06:30.934" v="4562" actId="21"/>
          <ac:spMkLst>
            <pc:docMk/>
            <pc:sldMk cId="1704172639" sldId="287"/>
            <ac:spMk id="22" creationId="{2C359A52-6812-58BA-7F74-5756C76E8AAB}"/>
          </ac:spMkLst>
        </pc:spChg>
        <pc:picChg chg="add del mod">
          <ac:chgData name="Kumar, Harendra (Cognizant)" userId="8b8433c2-3ce6-4e38-9e1b-c8afb18e9057" providerId="ADAL" clId="{9C4CD99B-EF1B-4C81-94B0-0A1924216EBF}" dt="2023-04-03T07:54:48.109" v="4143" actId="22"/>
          <ac:picMkLst>
            <pc:docMk/>
            <pc:sldMk cId="1704172639" sldId="287"/>
            <ac:picMk id="3" creationId="{EBCD9881-B8EB-CAEF-6BE8-457225B40691}"/>
          </ac:picMkLst>
        </pc:picChg>
        <pc:picChg chg="add del mod">
          <ac:chgData name="Kumar, Harendra (Cognizant)" userId="8b8433c2-3ce6-4e38-9e1b-c8afb18e9057" providerId="ADAL" clId="{9C4CD99B-EF1B-4C81-94B0-0A1924216EBF}" dt="2023-04-03T07:55:50.120" v="4152" actId="931"/>
          <ac:picMkLst>
            <pc:docMk/>
            <pc:sldMk cId="1704172639" sldId="287"/>
            <ac:picMk id="5" creationId="{6B79AB95-8E3E-0E8C-72AD-E23E6AF67DC1}"/>
          </ac:picMkLst>
        </pc:picChg>
        <pc:picChg chg="add del mod">
          <ac:chgData name="Kumar, Harendra (Cognizant)" userId="8b8433c2-3ce6-4e38-9e1b-c8afb18e9057" providerId="ADAL" clId="{9C4CD99B-EF1B-4C81-94B0-0A1924216EBF}" dt="2023-04-03T10:01:55.565" v="7715" actId="21"/>
          <ac:picMkLst>
            <pc:docMk/>
            <pc:sldMk cId="1704172639" sldId="287"/>
            <ac:picMk id="7" creationId="{C7905C8B-45C2-7E9F-D08D-AE1B48727475}"/>
          </ac:picMkLst>
        </pc:picChg>
        <pc:picChg chg="del">
          <ac:chgData name="Kumar, Harendra (Cognizant)" userId="8b8433c2-3ce6-4e38-9e1b-c8afb18e9057" providerId="ADAL" clId="{9C4CD99B-EF1B-4C81-94B0-0A1924216EBF}" dt="2023-04-03T07:24:32.173" v="3894" actId="478"/>
          <ac:picMkLst>
            <pc:docMk/>
            <pc:sldMk cId="1704172639" sldId="287"/>
            <ac:picMk id="9" creationId="{2720219B-D876-535C-5076-9CD15E0C9272}"/>
          </ac:picMkLst>
        </pc:picChg>
        <pc:picChg chg="add mod">
          <ac:chgData name="Kumar, Harendra (Cognizant)" userId="8b8433c2-3ce6-4e38-9e1b-c8afb18e9057" providerId="ADAL" clId="{9C4CD99B-EF1B-4C81-94B0-0A1924216EBF}" dt="2023-04-03T10:03:33.200" v="7842" actId="14100"/>
          <ac:picMkLst>
            <pc:docMk/>
            <pc:sldMk cId="1704172639" sldId="287"/>
            <ac:picMk id="12" creationId="{723F3FE9-59C9-408D-1BEB-95D6FEE240A3}"/>
          </ac:picMkLst>
        </pc:picChg>
        <pc:picChg chg="add del mod">
          <ac:chgData name="Kumar, Harendra (Cognizant)" userId="8b8433c2-3ce6-4e38-9e1b-c8afb18e9057" providerId="ADAL" clId="{9C4CD99B-EF1B-4C81-94B0-0A1924216EBF}" dt="2023-04-03T08:06:05.880" v="4551" actId="478"/>
          <ac:picMkLst>
            <pc:docMk/>
            <pc:sldMk cId="1704172639" sldId="287"/>
            <ac:picMk id="15" creationId="{A32BDC4F-6687-E003-29CD-AFCA0D507C7B}"/>
          </ac:picMkLst>
        </pc:picChg>
        <pc:picChg chg="add mod">
          <ac:chgData name="Kumar, Harendra (Cognizant)" userId="8b8433c2-3ce6-4e38-9e1b-c8afb18e9057" providerId="ADAL" clId="{9C4CD99B-EF1B-4C81-94B0-0A1924216EBF}" dt="2023-04-03T10:03:39.898" v="7844" actId="14100"/>
          <ac:picMkLst>
            <pc:docMk/>
            <pc:sldMk cId="1704172639" sldId="287"/>
            <ac:picMk id="18" creationId="{531221BF-6E63-CAAE-6926-9A7265ED5230}"/>
          </ac:picMkLst>
        </pc:picChg>
      </pc:sldChg>
      <pc:sldChg chg="del">
        <pc:chgData name="Kumar, Harendra (Cognizant)" userId="8b8433c2-3ce6-4e38-9e1b-c8afb18e9057" providerId="ADAL" clId="{9C4CD99B-EF1B-4C81-94B0-0A1924216EBF}" dt="2023-04-03T07:22:56.532" v="3883" actId="47"/>
        <pc:sldMkLst>
          <pc:docMk/>
          <pc:sldMk cId="428928714" sldId="288"/>
        </pc:sldMkLst>
      </pc:sldChg>
      <pc:sldChg chg="addSp delSp modSp add mod">
        <pc:chgData name="Kumar, Harendra (Cognizant)" userId="8b8433c2-3ce6-4e38-9e1b-c8afb18e9057" providerId="ADAL" clId="{9C4CD99B-EF1B-4C81-94B0-0A1924216EBF}" dt="2023-04-03T09:52:21.679" v="7259" actId="2"/>
        <pc:sldMkLst>
          <pc:docMk/>
          <pc:sldMk cId="4018458971" sldId="288"/>
        </pc:sldMkLst>
        <pc:spChg chg="add del">
          <ac:chgData name="Kumar, Harendra (Cognizant)" userId="8b8433c2-3ce6-4e38-9e1b-c8afb18e9057" providerId="ADAL" clId="{9C4CD99B-EF1B-4C81-94B0-0A1924216EBF}" dt="2023-04-03T09:50:10.296" v="7255" actId="478"/>
          <ac:spMkLst>
            <pc:docMk/>
            <pc:sldMk cId="4018458971" sldId="288"/>
            <ac:spMk id="6" creationId="{36C18FB9-59E7-96B5-9936-83F3B55F38E2}"/>
          </ac:spMkLst>
        </pc:spChg>
        <pc:spChg chg="mod">
          <ac:chgData name="Kumar, Harendra (Cognizant)" userId="8b8433c2-3ce6-4e38-9e1b-c8afb18e9057" providerId="ADAL" clId="{9C4CD99B-EF1B-4C81-94B0-0A1924216EBF}" dt="2023-04-03T09:52:21.679" v="7259" actId="2"/>
          <ac:spMkLst>
            <pc:docMk/>
            <pc:sldMk cId="4018458971" sldId="288"/>
            <ac:spMk id="10" creationId="{00000000-0000-0000-0000-000000000000}"/>
          </ac:spMkLst>
        </pc:spChg>
        <pc:spChg chg="del mod">
          <ac:chgData name="Kumar, Harendra (Cognizant)" userId="8b8433c2-3ce6-4e38-9e1b-c8afb18e9057" providerId="ADAL" clId="{9C4CD99B-EF1B-4C81-94B0-0A1924216EBF}" dt="2023-04-03T08:08:21.550" v="4666" actId="21"/>
          <ac:spMkLst>
            <pc:docMk/>
            <pc:sldMk cId="4018458971" sldId="288"/>
            <ac:spMk id="13" creationId="{EFA37FE9-227B-4C1C-6280-8E2D16CFFD48}"/>
          </ac:spMkLst>
        </pc:spChg>
        <pc:spChg chg="mod">
          <ac:chgData name="Kumar, Harendra (Cognizant)" userId="8b8433c2-3ce6-4e38-9e1b-c8afb18e9057" providerId="ADAL" clId="{9C4CD99B-EF1B-4C81-94B0-0A1924216EBF}" dt="2023-04-03T08:08:01.030" v="4646" actId="5793"/>
          <ac:spMkLst>
            <pc:docMk/>
            <pc:sldMk cId="4018458971" sldId="288"/>
            <ac:spMk id="17" creationId="{00000000-0000-0000-0000-000000000000}"/>
          </ac:spMkLst>
        </pc:spChg>
        <pc:picChg chg="add del mod">
          <ac:chgData name="Kumar, Harendra (Cognizant)" userId="8b8433c2-3ce6-4e38-9e1b-c8afb18e9057" providerId="ADAL" clId="{9C4CD99B-EF1B-4C81-94B0-0A1924216EBF}" dt="2023-04-03T08:37:12.883" v="5853" actId="478"/>
          <ac:picMkLst>
            <pc:docMk/>
            <pc:sldMk cId="4018458971" sldId="288"/>
            <ac:picMk id="3" creationId="{88F30A0D-D46C-FEFC-19F4-CD063CF77750}"/>
          </ac:picMkLst>
        </pc:picChg>
        <pc:picChg chg="add mod">
          <ac:chgData name="Kumar, Harendra (Cognizant)" userId="8b8433c2-3ce6-4e38-9e1b-c8afb18e9057" providerId="ADAL" clId="{9C4CD99B-EF1B-4C81-94B0-0A1924216EBF}" dt="2023-04-03T08:37:32.858" v="5863" actId="14100"/>
          <ac:picMkLst>
            <pc:docMk/>
            <pc:sldMk cId="4018458971" sldId="288"/>
            <ac:picMk id="5" creationId="{746E00E2-3F5D-7BF9-8FED-6FAD3C400887}"/>
          </ac:picMkLst>
        </pc:picChg>
        <pc:picChg chg="del">
          <ac:chgData name="Kumar, Harendra (Cognizant)" userId="8b8433c2-3ce6-4e38-9e1b-c8afb18e9057" providerId="ADAL" clId="{9C4CD99B-EF1B-4C81-94B0-0A1924216EBF}" dt="2023-04-03T08:08:14.235" v="4662" actId="478"/>
          <ac:picMkLst>
            <pc:docMk/>
            <pc:sldMk cId="4018458971" sldId="288"/>
            <ac:picMk id="7" creationId="{C7905C8B-45C2-7E9F-D08D-AE1B48727475}"/>
          </ac:picMkLst>
        </pc:picChg>
        <pc:picChg chg="del mod">
          <ac:chgData name="Kumar, Harendra (Cognizant)" userId="8b8433c2-3ce6-4e38-9e1b-c8afb18e9057" providerId="ADAL" clId="{9C4CD99B-EF1B-4C81-94B0-0A1924216EBF}" dt="2023-04-03T08:08:15.915" v="4664" actId="478"/>
          <ac:picMkLst>
            <pc:docMk/>
            <pc:sldMk cId="4018458971" sldId="288"/>
            <ac:picMk id="12" creationId="{723F3FE9-59C9-408D-1BEB-95D6FEE240A3}"/>
          </ac:picMkLst>
        </pc:picChg>
        <pc:picChg chg="del">
          <ac:chgData name="Kumar, Harendra (Cognizant)" userId="8b8433c2-3ce6-4e38-9e1b-c8afb18e9057" providerId="ADAL" clId="{9C4CD99B-EF1B-4C81-94B0-0A1924216EBF}" dt="2023-04-03T08:08:11.781" v="4661" actId="478"/>
          <ac:picMkLst>
            <pc:docMk/>
            <pc:sldMk cId="4018458971" sldId="288"/>
            <ac:picMk id="18" creationId="{531221BF-6E63-CAAE-6926-9A7265ED5230}"/>
          </ac:picMkLst>
        </pc:picChg>
      </pc:sldChg>
      <pc:sldChg chg="modSp del">
        <pc:chgData name="Kumar, Harendra (Cognizant)" userId="8b8433c2-3ce6-4e38-9e1b-c8afb18e9057" providerId="ADAL" clId="{9C4CD99B-EF1B-4C81-94B0-0A1924216EBF}" dt="2023-04-03T07:22:56.532" v="3883" actId="47"/>
        <pc:sldMkLst>
          <pc:docMk/>
          <pc:sldMk cId="452766161" sldId="289"/>
        </pc:sldMkLst>
        <pc:spChg chg="mod">
          <ac:chgData name="Kumar, Harendra (Cognizant)" userId="8b8433c2-3ce6-4e38-9e1b-c8afb18e9057" providerId="ADAL" clId="{9C4CD99B-EF1B-4C81-94B0-0A1924216EBF}" dt="2023-04-03T05:56:19.037" v="24"/>
          <ac:spMkLst>
            <pc:docMk/>
            <pc:sldMk cId="452766161" sldId="289"/>
            <ac:spMk id="52" creationId="{00000000-0000-0000-0000-000000000000}"/>
          </ac:spMkLst>
        </pc:spChg>
      </pc:sldChg>
      <pc:sldChg chg="addSp delSp modSp add mod">
        <pc:chgData name="Kumar, Harendra (Cognizant)" userId="8b8433c2-3ce6-4e38-9e1b-c8afb18e9057" providerId="ADAL" clId="{9C4CD99B-EF1B-4C81-94B0-0A1924216EBF}" dt="2023-04-03T09:52:27.788" v="7260" actId="313"/>
        <pc:sldMkLst>
          <pc:docMk/>
          <pc:sldMk cId="2064697556" sldId="289"/>
        </pc:sldMkLst>
        <pc:spChg chg="mod">
          <ac:chgData name="Kumar, Harendra (Cognizant)" userId="8b8433c2-3ce6-4e38-9e1b-c8afb18e9057" providerId="ADAL" clId="{9C4CD99B-EF1B-4C81-94B0-0A1924216EBF}" dt="2023-04-03T09:52:27.788" v="7260" actId="313"/>
          <ac:spMkLst>
            <pc:docMk/>
            <pc:sldMk cId="2064697556" sldId="289"/>
            <ac:spMk id="10" creationId="{00000000-0000-0000-0000-000000000000}"/>
          </ac:spMkLst>
        </pc:spChg>
        <pc:spChg chg="mod">
          <ac:chgData name="Kumar, Harendra (Cognizant)" userId="8b8433c2-3ce6-4e38-9e1b-c8afb18e9057" providerId="ADAL" clId="{9C4CD99B-EF1B-4C81-94B0-0A1924216EBF}" dt="2023-04-03T08:37:52.602" v="5906" actId="6549"/>
          <ac:spMkLst>
            <pc:docMk/>
            <pc:sldMk cId="2064697556" sldId="289"/>
            <ac:spMk id="17" creationId="{00000000-0000-0000-0000-000000000000}"/>
          </ac:spMkLst>
        </pc:spChg>
        <pc:picChg chg="mod">
          <ac:chgData name="Kumar, Harendra (Cognizant)" userId="8b8433c2-3ce6-4e38-9e1b-c8afb18e9057" providerId="ADAL" clId="{9C4CD99B-EF1B-4C81-94B0-0A1924216EBF}" dt="2023-04-03T08:41:47.745" v="6103" actId="14100"/>
          <ac:picMkLst>
            <pc:docMk/>
            <pc:sldMk cId="2064697556" sldId="289"/>
            <ac:picMk id="3" creationId="{88F30A0D-D46C-FEFC-19F4-CD063CF77750}"/>
          </ac:picMkLst>
        </pc:picChg>
        <pc:picChg chg="add mod">
          <ac:chgData name="Kumar, Harendra (Cognizant)" userId="8b8433c2-3ce6-4e38-9e1b-c8afb18e9057" providerId="ADAL" clId="{9C4CD99B-EF1B-4C81-94B0-0A1924216EBF}" dt="2023-04-03T08:41:54.805" v="6105" actId="14100"/>
          <ac:picMkLst>
            <pc:docMk/>
            <pc:sldMk cId="2064697556" sldId="289"/>
            <ac:picMk id="4" creationId="{40E263CA-FFBD-B3F3-AE30-7D8EFF0A12D8}"/>
          </ac:picMkLst>
        </pc:picChg>
        <pc:picChg chg="del">
          <ac:chgData name="Kumar, Harendra (Cognizant)" userId="8b8433c2-3ce6-4e38-9e1b-c8afb18e9057" providerId="ADAL" clId="{9C4CD99B-EF1B-4C81-94B0-0A1924216EBF}" dt="2023-04-03T08:40:28.735" v="6096" actId="478"/>
          <ac:picMkLst>
            <pc:docMk/>
            <pc:sldMk cId="2064697556" sldId="289"/>
            <ac:picMk id="5" creationId="{746E00E2-3F5D-7BF9-8FED-6FAD3C400887}"/>
          </ac:picMkLst>
        </pc:picChg>
      </pc:sldChg>
      <pc:sldChg chg="modSp del">
        <pc:chgData name="Kumar, Harendra (Cognizant)" userId="8b8433c2-3ce6-4e38-9e1b-c8afb18e9057" providerId="ADAL" clId="{9C4CD99B-EF1B-4C81-94B0-0A1924216EBF}" dt="2023-04-03T07:22:56.532" v="3883" actId="47"/>
        <pc:sldMkLst>
          <pc:docMk/>
          <pc:sldMk cId="3369816941" sldId="290"/>
        </pc:sldMkLst>
        <pc:spChg chg="mod">
          <ac:chgData name="Kumar, Harendra (Cognizant)" userId="8b8433c2-3ce6-4e38-9e1b-c8afb18e9057" providerId="ADAL" clId="{9C4CD99B-EF1B-4C81-94B0-0A1924216EBF}" dt="2023-04-03T05:56:19.037" v="24"/>
          <ac:spMkLst>
            <pc:docMk/>
            <pc:sldMk cId="3369816941" sldId="290"/>
            <ac:spMk id="51" creationId="{BF5627D9-3BE8-43E5-ACEA-B86C93214EB2}"/>
          </ac:spMkLst>
        </pc:spChg>
        <pc:spChg chg="mod">
          <ac:chgData name="Kumar, Harendra (Cognizant)" userId="8b8433c2-3ce6-4e38-9e1b-c8afb18e9057" providerId="ADAL" clId="{9C4CD99B-EF1B-4C81-94B0-0A1924216EBF}" dt="2023-04-03T05:56:19.037" v="24"/>
          <ac:spMkLst>
            <pc:docMk/>
            <pc:sldMk cId="3369816941" sldId="290"/>
            <ac:spMk id="82" creationId="{00000000-0000-0000-0000-000000000000}"/>
          </ac:spMkLst>
        </pc:spChg>
      </pc:sldChg>
      <pc:sldChg chg="addSp delSp modSp add mod">
        <pc:chgData name="Kumar, Harendra (Cognizant)" userId="8b8433c2-3ce6-4e38-9e1b-c8afb18e9057" providerId="ADAL" clId="{9C4CD99B-EF1B-4C81-94B0-0A1924216EBF}" dt="2023-04-03T09:52:37.071" v="7262" actId="2"/>
        <pc:sldMkLst>
          <pc:docMk/>
          <pc:sldMk cId="3516052301" sldId="290"/>
        </pc:sldMkLst>
        <pc:spChg chg="add mod">
          <ac:chgData name="Kumar, Harendra (Cognizant)" userId="8b8433c2-3ce6-4e38-9e1b-c8afb18e9057" providerId="ADAL" clId="{9C4CD99B-EF1B-4C81-94B0-0A1924216EBF}" dt="2023-04-03T09:52:37.071" v="7262" actId="2"/>
          <ac:spMkLst>
            <pc:docMk/>
            <pc:sldMk cId="3516052301" sldId="290"/>
            <ac:spMk id="7" creationId="{FECB05A3-091C-BB4C-293C-D91F24FAD8F1}"/>
          </ac:spMkLst>
        </pc:spChg>
        <pc:spChg chg="add del mod">
          <ac:chgData name="Kumar, Harendra (Cognizant)" userId="8b8433c2-3ce6-4e38-9e1b-c8afb18e9057" providerId="ADAL" clId="{9C4CD99B-EF1B-4C81-94B0-0A1924216EBF}" dt="2023-04-03T09:52:34.737" v="7261" actId="2"/>
          <ac:spMkLst>
            <pc:docMk/>
            <pc:sldMk cId="3516052301" sldId="290"/>
            <ac:spMk id="10" creationId="{00000000-0000-0000-0000-000000000000}"/>
          </ac:spMkLst>
        </pc:spChg>
        <pc:spChg chg="mod">
          <ac:chgData name="Kumar, Harendra (Cognizant)" userId="8b8433c2-3ce6-4e38-9e1b-c8afb18e9057" providerId="ADAL" clId="{9C4CD99B-EF1B-4C81-94B0-0A1924216EBF}" dt="2023-04-03T08:42:49.245" v="6181" actId="5793"/>
          <ac:spMkLst>
            <pc:docMk/>
            <pc:sldMk cId="3516052301" sldId="290"/>
            <ac:spMk id="17" creationId="{00000000-0000-0000-0000-000000000000}"/>
          </ac:spMkLst>
        </pc:spChg>
        <pc:picChg chg="del">
          <ac:chgData name="Kumar, Harendra (Cognizant)" userId="8b8433c2-3ce6-4e38-9e1b-c8afb18e9057" providerId="ADAL" clId="{9C4CD99B-EF1B-4C81-94B0-0A1924216EBF}" dt="2023-04-03T08:43:37.080" v="6272" actId="478"/>
          <ac:picMkLst>
            <pc:docMk/>
            <pc:sldMk cId="3516052301" sldId="290"/>
            <ac:picMk id="3" creationId="{88F30A0D-D46C-FEFC-19F4-CD063CF77750}"/>
          </ac:picMkLst>
        </pc:picChg>
        <pc:picChg chg="del">
          <ac:chgData name="Kumar, Harendra (Cognizant)" userId="8b8433c2-3ce6-4e38-9e1b-c8afb18e9057" providerId="ADAL" clId="{9C4CD99B-EF1B-4C81-94B0-0A1924216EBF}" dt="2023-04-03T08:43:38.320" v="6273" actId="478"/>
          <ac:picMkLst>
            <pc:docMk/>
            <pc:sldMk cId="3516052301" sldId="290"/>
            <ac:picMk id="4" creationId="{40E263CA-FFBD-B3F3-AE30-7D8EFF0A12D8}"/>
          </ac:picMkLst>
        </pc:picChg>
        <pc:picChg chg="add mod">
          <ac:chgData name="Kumar, Harendra (Cognizant)" userId="8b8433c2-3ce6-4e38-9e1b-c8afb18e9057" providerId="ADAL" clId="{9C4CD99B-EF1B-4C81-94B0-0A1924216EBF}" dt="2023-04-03T08:54:40.242" v="7114" actId="1038"/>
          <ac:picMkLst>
            <pc:docMk/>
            <pc:sldMk cId="3516052301" sldId="290"/>
            <ac:picMk id="5" creationId="{8B45853E-0110-E1D0-9122-748124353568}"/>
          </ac:picMkLst>
        </pc:picChg>
        <pc:picChg chg="add mod">
          <ac:chgData name="Kumar, Harendra (Cognizant)" userId="8b8433c2-3ce6-4e38-9e1b-c8afb18e9057" providerId="ADAL" clId="{9C4CD99B-EF1B-4C81-94B0-0A1924216EBF}" dt="2023-04-03T08:57:07.945" v="7173" actId="1038"/>
          <ac:picMkLst>
            <pc:docMk/>
            <pc:sldMk cId="3516052301" sldId="290"/>
            <ac:picMk id="9" creationId="{77677CE2-7EB1-EA27-ECBB-DA6DDB641771}"/>
          </ac:picMkLst>
        </pc:picChg>
      </pc:sldChg>
      <pc:sldChg chg="modSp del">
        <pc:chgData name="Kumar, Harendra (Cognizant)" userId="8b8433c2-3ce6-4e38-9e1b-c8afb18e9057" providerId="ADAL" clId="{9C4CD99B-EF1B-4C81-94B0-0A1924216EBF}" dt="2023-04-03T07:22:56.532" v="3883" actId="47"/>
        <pc:sldMkLst>
          <pc:docMk/>
          <pc:sldMk cId="956773638" sldId="291"/>
        </pc:sldMkLst>
        <pc:spChg chg="mod">
          <ac:chgData name="Kumar, Harendra (Cognizant)" userId="8b8433c2-3ce6-4e38-9e1b-c8afb18e9057" providerId="ADAL" clId="{9C4CD99B-EF1B-4C81-94B0-0A1924216EBF}" dt="2023-04-03T05:56:19.037" v="24"/>
          <ac:spMkLst>
            <pc:docMk/>
            <pc:sldMk cId="956773638" sldId="291"/>
            <ac:spMk id="5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1"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3"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4" creationId="{00000000-0000-0000-0000-000000000000}"/>
          </ac:spMkLst>
        </pc:spChg>
      </pc:sldChg>
      <pc:sldChg chg="addSp delSp modSp add mod ord">
        <pc:chgData name="Kumar, Harendra (Cognizant)" userId="8b8433c2-3ce6-4e38-9e1b-c8afb18e9057" providerId="ADAL" clId="{9C4CD99B-EF1B-4C81-94B0-0A1924216EBF}" dt="2023-04-03T10:14:33.691" v="8675" actId="1035"/>
        <pc:sldMkLst>
          <pc:docMk/>
          <pc:sldMk cId="1223559503" sldId="291"/>
        </pc:sldMkLst>
        <pc:spChg chg="add del mod">
          <ac:chgData name="Kumar, Harendra (Cognizant)" userId="8b8433c2-3ce6-4e38-9e1b-c8afb18e9057" providerId="ADAL" clId="{9C4CD99B-EF1B-4C81-94B0-0A1924216EBF}" dt="2023-04-03T10:06:53.999" v="7936" actId="767"/>
          <ac:spMkLst>
            <pc:docMk/>
            <pc:sldMk cId="1223559503" sldId="291"/>
            <ac:spMk id="4" creationId="{94FC8D60-BDBB-9C2F-E5B2-6027A878C655}"/>
          </ac:spMkLst>
        </pc:spChg>
        <pc:spChg chg="add del mod">
          <ac:chgData name="Kumar, Harendra (Cognizant)" userId="8b8433c2-3ce6-4e38-9e1b-c8afb18e9057" providerId="ADAL" clId="{9C4CD99B-EF1B-4C81-94B0-0A1924216EBF}" dt="2023-04-03T10:07:13.319" v="7942" actId="767"/>
          <ac:spMkLst>
            <pc:docMk/>
            <pc:sldMk cId="1223559503" sldId="291"/>
            <ac:spMk id="5" creationId="{53FE68A1-663A-4DEC-DF40-85C7B5B84B7E}"/>
          </ac:spMkLst>
        </pc:spChg>
        <pc:spChg chg="del">
          <ac:chgData name="Kumar, Harendra (Cognizant)" userId="8b8433c2-3ce6-4e38-9e1b-c8afb18e9057" providerId="ADAL" clId="{9C4CD99B-EF1B-4C81-94B0-0A1924216EBF}" dt="2023-04-03T08:58:01.192" v="7191" actId="478"/>
          <ac:spMkLst>
            <pc:docMk/>
            <pc:sldMk cId="1223559503" sldId="291"/>
            <ac:spMk id="6" creationId="{36C18FB9-59E7-96B5-9936-83F3B55F38E2}"/>
          </ac:spMkLst>
        </pc:spChg>
        <pc:spChg chg="add mod">
          <ac:chgData name="Kumar, Harendra (Cognizant)" userId="8b8433c2-3ce6-4e38-9e1b-c8afb18e9057" providerId="ADAL" clId="{9C4CD99B-EF1B-4C81-94B0-0A1924216EBF}" dt="2023-04-03T10:14:33.691" v="8675" actId="1035"/>
          <ac:spMkLst>
            <pc:docMk/>
            <pc:sldMk cId="1223559503" sldId="291"/>
            <ac:spMk id="6" creationId="{B4AA0405-CA4D-CA6B-047B-9822B03F17F5}"/>
          </ac:spMkLst>
        </pc:spChg>
        <pc:spChg chg="add del mod">
          <ac:chgData name="Kumar, Harendra (Cognizant)" userId="8b8433c2-3ce6-4e38-9e1b-c8afb18e9057" providerId="ADAL" clId="{9C4CD99B-EF1B-4C81-94B0-0A1924216EBF}" dt="2023-04-03T10:10:53.415" v="8239"/>
          <ac:spMkLst>
            <pc:docMk/>
            <pc:sldMk cId="1223559503" sldId="291"/>
            <ac:spMk id="7" creationId="{A855D9BF-4CE1-B980-BA13-8039EF8CEF08}"/>
          </ac:spMkLst>
        </pc:spChg>
        <pc:spChg chg="mod">
          <ac:chgData name="Kumar, Harendra (Cognizant)" userId="8b8433c2-3ce6-4e38-9e1b-c8afb18e9057" providerId="ADAL" clId="{9C4CD99B-EF1B-4C81-94B0-0A1924216EBF}" dt="2023-04-03T10:14:33.691" v="8675" actId="1035"/>
          <ac:spMkLst>
            <pc:docMk/>
            <pc:sldMk cId="1223559503" sldId="291"/>
            <ac:spMk id="10" creationId="{00000000-0000-0000-0000-000000000000}"/>
          </ac:spMkLst>
        </pc:spChg>
        <pc:spChg chg="mod">
          <ac:chgData name="Kumar, Harendra (Cognizant)" userId="8b8433c2-3ce6-4e38-9e1b-c8afb18e9057" providerId="ADAL" clId="{9C4CD99B-EF1B-4C81-94B0-0A1924216EBF}" dt="2023-04-03T10:14:33.691" v="8675" actId="1035"/>
          <ac:spMkLst>
            <pc:docMk/>
            <pc:sldMk cId="1223559503" sldId="291"/>
            <ac:spMk id="17" creationId="{00000000-0000-0000-0000-000000000000}"/>
          </ac:spMkLst>
        </pc:spChg>
        <pc:picChg chg="add mod">
          <ac:chgData name="Kumar, Harendra (Cognizant)" userId="8b8433c2-3ce6-4e38-9e1b-c8afb18e9057" providerId="ADAL" clId="{9C4CD99B-EF1B-4C81-94B0-0A1924216EBF}" dt="2023-04-03T10:14:33.691" v="8675" actId="1035"/>
          <ac:picMkLst>
            <pc:docMk/>
            <pc:sldMk cId="1223559503" sldId="291"/>
            <ac:picMk id="2" creationId="{BD2BA625-28D8-D1DD-D9C4-19A175FC7279}"/>
          </ac:picMkLst>
        </pc:picChg>
        <pc:picChg chg="add mod">
          <ac:chgData name="Kumar, Harendra (Cognizant)" userId="8b8433c2-3ce6-4e38-9e1b-c8afb18e9057" providerId="ADAL" clId="{9C4CD99B-EF1B-4C81-94B0-0A1924216EBF}" dt="2023-04-03T10:14:33.691" v="8675" actId="1035"/>
          <ac:picMkLst>
            <pc:docMk/>
            <pc:sldMk cId="1223559503" sldId="291"/>
            <ac:picMk id="3" creationId="{3A52B991-812D-36F8-572E-E63FC7DF49DE}"/>
          </ac:picMkLst>
        </pc:picChg>
        <pc:picChg chg="del">
          <ac:chgData name="Kumar, Harendra (Cognizant)" userId="8b8433c2-3ce6-4e38-9e1b-c8afb18e9057" providerId="ADAL" clId="{9C4CD99B-EF1B-4C81-94B0-0A1924216EBF}" dt="2023-04-03T08:57:56.929" v="7190" actId="478"/>
          <ac:picMkLst>
            <pc:docMk/>
            <pc:sldMk cId="1223559503" sldId="291"/>
            <ac:picMk id="3" creationId="{88F30A0D-D46C-FEFC-19F4-CD063CF77750}"/>
          </ac:picMkLst>
        </pc:picChg>
        <pc:picChg chg="del mod">
          <ac:chgData name="Kumar, Harendra (Cognizant)" userId="8b8433c2-3ce6-4e38-9e1b-c8afb18e9057" providerId="ADAL" clId="{9C4CD99B-EF1B-4C81-94B0-0A1924216EBF}" dt="2023-04-03T08:57:55.374" v="7189" actId="478"/>
          <ac:picMkLst>
            <pc:docMk/>
            <pc:sldMk cId="1223559503" sldId="291"/>
            <ac:picMk id="4" creationId="{40E263CA-FFBD-B3F3-AE30-7D8EFF0A12D8}"/>
          </ac:picMkLst>
        </pc:picChg>
      </pc:sldChg>
      <pc:sldChg chg="modSp add mod ord">
        <pc:chgData name="Kumar, Harendra (Cognizant)" userId="8b8433c2-3ce6-4e38-9e1b-c8afb18e9057" providerId="ADAL" clId="{9C4CD99B-EF1B-4C81-94B0-0A1924216EBF}" dt="2023-04-03T09:00:17.848" v="7254" actId="20577"/>
        <pc:sldMkLst>
          <pc:docMk/>
          <pc:sldMk cId="785725705" sldId="292"/>
        </pc:sldMkLst>
        <pc:spChg chg="mod">
          <ac:chgData name="Kumar, Harendra (Cognizant)" userId="8b8433c2-3ce6-4e38-9e1b-c8afb18e9057" providerId="ADAL" clId="{9C4CD99B-EF1B-4C81-94B0-0A1924216EBF}" dt="2023-04-03T09:00:17.848" v="7254" actId="20577"/>
          <ac:spMkLst>
            <pc:docMk/>
            <pc:sldMk cId="785725705" sldId="292"/>
            <ac:spMk id="10" creationId="{00000000-0000-0000-0000-000000000000}"/>
          </ac:spMkLst>
        </pc:spChg>
        <pc:spChg chg="mod">
          <ac:chgData name="Kumar, Harendra (Cognizant)" userId="8b8433c2-3ce6-4e38-9e1b-c8afb18e9057" providerId="ADAL" clId="{9C4CD99B-EF1B-4C81-94B0-0A1924216EBF}" dt="2023-04-03T09:00:08.222" v="7242" actId="20577"/>
          <ac:spMkLst>
            <pc:docMk/>
            <pc:sldMk cId="785725705" sldId="292"/>
            <ac:spMk id="1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83598549" sldId="292"/>
        </pc:sldMkLst>
        <pc:spChg chg="mod">
          <ac:chgData name="Kumar, Harendra (Cognizant)" userId="8b8433c2-3ce6-4e38-9e1b-c8afb18e9057" providerId="ADAL" clId="{9C4CD99B-EF1B-4C81-94B0-0A1924216EBF}" dt="2023-04-03T05:56:19.037" v="24"/>
          <ac:spMkLst>
            <pc:docMk/>
            <pc:sldMk cId="2983598549" sldId="292"/>
            <ac:spMk id="28" creationId="{00000000-0000-0000-0000-000000000000}"/>
          </ac:spMkLst>
        </pc:spChg>
      </pc:sldChg>
      <pc:sldMasterChg chg="delSldLayout">
        <pc:chgData name="Kumar, Harendra (Cognizant)" userId="8b8433c2-3ce6-4e38-9e1b-c8afb18e9057" providerId="ADAL" clId="{9C4CD99B-EF1B-4C81-94B0-0A1924216EBF}" dt="2023-04-03T07:22:56.532" v="3883" actId="47"/>
        <pc:sldMasterMkLst>
          <pc:docMk/>
          <pc:sldMasterMk cId="0" sldId="2147483648"/>
        </pc:sldMasterMkLst>
        <pc:sldLayoutChg chg="del">
          <pc:chgData name="Kumar, Harendra (Cognizant)" userId="8b8433c2-3ce6-4e38-9e1b-c8afb18e9057" providerId="ADAL" clId="{9C4CD99B-EF1B-4C81-94B0-0A1924216EBF}" dt="2023-04-03T07:22:56.532" v="3883" actId="47"/>
          <pc:sldLayoutMkLst>
            <pc:docMk/>
            <pc:sldMasterMk cId="0" sldId="2147483648"/>
            <pc:sldLayoutMk cId="4086406886" sldId="2147483666"/>
          </pc:sldLayoutMkLst>
        </pc:sldLayoutChg>
      </pc:sldMasterChg>
    </pc:docChg>
  </pc:docChgLst>
  <pc:docChgLst>
    <pc:chgData name="Kumar, Harendra (Cognizant)" userId="8b8433c2-3ce6-4e38-9e1b-c8afb18e9057" providerId="ADAL" clId="{1A8CCD16-2660-4488-985E-3D0D747599E1}"/>
    <pc:docChg chg="custSel addSld modSld">
      <pc:chgData name="Kumar, Harendra (Cognizant)" userId="8b8433c2-3ce6-4e38-9e1b-c8afb18e9057" providerId="ADAL" clId="{1A8CCD16-2660-4488-985E-3D0D747599E1}" dt="2023-04-04T05:52:01.534" v="2124" actId="2"/>
      <pc:docMkLst>
        <pc:docMk/>
      </pc:docMkLst>
      <pc:sldChg chg="modSp mod">
        <pc:chgData name="Kumar, Harendra (Cognizant)" userId="8b8433c2-3ce6-4e38-9e1b-c8afb18e9057" providerId="ADAL" clId="{1A8CCD16-2660-4488-985E-3D0D747599E1}" dt="2023-04-03T10:22:42.237" v="84" actId="20577"/>
        <pc:sldMkLst>
          <pc:docMk/>
          <pc:sldMk cId="0" sldId="258"/>
        </pc:sldMkLst>
        <pc:spChg chg="mod">
          <ac:chgData name="Kumar, Harendra (Cognizant)" userId="8b8433c2-3ce6-4e38-9e1b-c8afb18e9057" providerId="ADAL" clId="{1A8CCD16-2660-4488-985E-3D0D747599E1}" dt="2023-04-03T10:22:42.237" v="84" actId="20577"/>
          <ac:spMkLst>
            <pc:docMk/>
            <pc:sldMk cId="0" sldId="258"/>
            <ac:spMk id="5" creationId="{00000000-0000-0000-0000-000000000000}"/>
          </ac:spMkLst>
        </pc:spChg>
        <pc:spChg chg="mod">
          <ac:chgData name="Kumar, Harendra (Cognizant)" userId="8b8433c2-3ce6-4e38-9e1b-c8afb18e9057" providerId="ADAL" clId="{1A8CCD16-2660-4488-985E-3D0D747599E1}" dt="2023-04-03T10:22:28.354" v="81" actId="255"/>
          <ac:spMkLst>
            <pc:docMk/>
            <pc:sldMk cId="0" sldId="258"/>
            <ac:spMk id="9" creationId="{E2B73E12-784C-7F90-DA48-6D0006E2601C}"/>
          </ac:spMkLst>
        </pc:spChg>
        <pc:picChg chg="mod">
          <ac:chgData name="Kumar, Harendra (Cognizant)" userId="8b8433c2-3ce6-4e38-9e1b-c8afb18e9057" providerId="ADAL" clId="{1A8CCD16-2660-4488-985E-3D0D747599E1}" dt="2023-04-03T10:21:37.538" v="0" actId="1076"/>
          <ac:picMkLst>
            <pc:docMk/>
            <pc:sldMk cId="0" sldId="258"/>
            <ac:picMk id="6" creationId="{7F0752E5-7035-0C32-C92B-70020742F100}"/>
          </ac:picMkLst>
        </pc:picChg>
      </pc:sldChg>
      <pc:sldChg chg="modSp mod">
        <pc:chgData name="Kumar, Harendra (Cognizant)" userId="8b8433c2-3ce6-4e38-9e1b-c8afb18e9057" providerId="ADAL" clId="{1A8CCD16-2660-4488-985E-3D0D747599E1}" dt="2023-04-03T10:23:34.344" v="86" actId="2711"/>
        <pc:sldMkLst>
          <pc:docMk/>
          <pc:sldMk cId="0" sldId="260"/>
        </pc:sldMkLst>
        <pc:spChg chg="mod">
          <ac:chgData name="Kumar, Harendra (Cognizant)" userId="8b8433c2-3ce6-4e38-9e1b-c8afb18e9057" providerId="ADAL" clId="{1A8CCD16-2660-4488-985E-3D0D747599E1}" dt="2023-04-03T10:23:34.344" v="86" actId="2711"/>
          <ac:spMkLst>
            <pc:docMk/>
            <pc:sldMk cId="0" sldId="260"/>
            <ac:spMk id="4" creationId="{93A0F582-DCEC-D980-FFA8-A6F1ED88539A}"/>
          </ac:spMkLst>
        </pc:spChg>
      </pc:sldChg>
      <pc:sldChg chg="modSp mod">
        <pc:chgData name="Kumar, Harendra (Cognizant)" userId="8b8433c2-3ce6-4e38-9e1b-c8afb18e9057" providerId="ADAL" clId="{1A8CCD16-2660-4488-985E-3D0D747599E1}" dt="2023-04-03T10:39:20.183" v="130" actId="20577"/>
        <pc:sldMkLst>
          <pc:docMk/>
          <pc:sldMk cId="4047161330" sldId="286"/>
        </pc:sldMkLst>
        <pc:spChg chg="mod">
          <ac:chgData name="Kumar, Harendra (Cognizant)" userId="8b8433c2-3ce6-4e38-9e1b-c8afb18e9057" providerId="ADAL" clId="{1A8CCD16-2660-4488-985E-3D0D747599E1}" dt="2023-04-03T10:39:20.183" v="130" actId="20577"/>
          <ac:spMkLst>
            <pc:docMk/>
            <pc:sldMk cId="4047161330" sldId="286"/>
            <ac:spMk id="10" creationId="{00000000-0000-0000-0000-000000000000}"/>
          </ac:spMkLst>
        </pc:spChg>
      </pc:sldChg>
      <pc:sldChg chg="modSp mod">
        <pc:chgData name="Kumar, Harendra (Cognizant)" userId="8b8433c2-3ce6-4e38-9e1b-c8afb18e9057" providerId="ADAL" clId="{1A8CCD16-2660-4488-985E-3D0D747599E1}" dt="2023-04-03T10:40:22.750" v="146" actId="20577"/>
        <pc:sldMkLst>
          <pc:docMk/>
          <pc:sldMk cId="2064697556" sldId="289"/>
        </pc:sldMkLst>
        <pc:spChg chg="mod">
          <ac:chgData name="Kumar, Harendra (Cognizant)" userId="8b8433c2-3ce6-4e38-9e1b-c8afb18e9057" providerId="ADAL" clId="{1A8CCD16-2660-4488-985E-3D0D747599E1}" dt="2023-04-03T10:40:22.750" v="146" actId="20577"/>
          <ac:spMkLst>
            <pc:docMk/>
            <pc:sldMk cId="2064697556" sldId="289"/>
            <ac:spMk id="17" creationId="{00000000-0000-0000-0000-000000000000}"/>
          </ac:spMkLst>
        </pc:spChg>
      </pc:sldChg>
      <pc:sldChg chg="addSp delSp modSp mod">
        <pc:chgData name="Kumar, Harendra (Cognizant)" userId="8b8433c2-3ce6-4e38-9e1b-c8afb18e9057" providerId="ADAL" clId="{1A8CCD16-2660-4488-985E-3D0D747599E1}" dt="2023-04-04T05:51:47.877" v="2121" actId="2"/>
        <pc:sldMkLst>
          <pc:docMk/>
          <pc:sldMk cId="3516052301" sldId="290"/>
        </pc:sldMkLst>
        <pc:spChg chg="mod">
          <ac:chgData name="Kumar, Harendra (Cognizant)" userId="8b8433c2-3ce6-4e38-9e1b-c8afb18e9057" providerId="ADAL" clId="{1A8CCD16-2660-4488-985E-3D0D747599E1}" dt="2023-04-04T05:51:47.877" v="2121" actId="2"/>
          <ac:spMkLst>
            <pc:docMk/>
            <pc:sldMk cId="3516052301" sldId="290"/>
            <ac:spMk id="7" creationId="{FECB05A3-091C-BB4C-293C-D91F24FAD8F1}"/>
          </ac:spMkLst>
        </pc:spChg>
        <pc:spChg chg="del mod">
          <ac:chgData name="Kumar, Harendra (Cognizant)" userId="8b8433c2-3ce6-4e38-9e1b-c8afb18e9057" providerId="ADAL" clId="{1A8CCD16-2660-4488-985E-3D0D747599E1}" dt="2023-04-03T10:43:45.136" v="188" actId="21"/>
          <ac:spMkLst>
            <pc:docMk/>
            <pc:sldMk cId="3516052301" sldId="290"/>
            <ac:spMk id="10" creationId="{00000000-0000-0000-0000-000000000000}"/>
          </ac:spMkLst>
        </pc:spChg>
        <pc:picChg chg="add mod">
          <ac:chgData name="Kumar, Harendra (Cognizant)" userId="8b8433c2-3ce6-4e38-9e1b-c8afb18e9057" providerId="ADAL" clId="{1A8CCD16-2660-4488-985E-3D0D747599E1}" dt="2023-04-03T10:51:38.830" v="355" actId="14100"/>
          <ac:picMkLst>
            <pc:docMk/>
            <pc:sldMk cId="3516052301" sldId="290"/>
            <ac:picMk id="3" creationId="{7BD2D7E6-917A-6160-90C4-2F4024D5B37B}"/>
          </ac:picMkLst>
        </pc:picChg>
        <pc:picChg chg="mod">
          <ac:chgData name="Kumar, Harendra (Cognizant)" userId="8b8433c2-3ce6-4e38-9e1b-c8afb18e9057" providerId="ADAL" clId="{1A8CCD16-2660-4488-985E-3D0D747599E1}" dt="2023-04-03T10:51:34.847" v="354" actId="14100"/>
          <ac:picMkLst>
            <pc:docMk/>
            <pc:sldMk cId="3516052301" sldId="290"/>
            <ac:picMk id="5" creationId="{8B45853E-0110-E1D0-9122-748124353568}"/>
          </ac:picMkLst>
        </pc:picChg>
        <pc:picChg chg="del">
          <ac:chgData name="Kumar, Harendra (Cognizant)" userId="8b8433c2-3ce6-4e38-9e1b-c8afb18e9057" providerId="ADAL" clId="{1A8CCD16-2660-4488-985E-3D0D747599E1}" dt="2023-04-03T10:43:40.804" v="186" actId="21"/>
          <ac:picMkLst>
            <pc:docMk/>
            <pc:sldMk cId="3516052301" sldId="290"/>
            <ac:picMk id="9" creationId="{77677CE2-7EB1-EA27-ECBB-DA6DDB641771}"/>
          </ac:picMkLst>
        </pc:picChg>
      </pc:sldChg>
      <pc:sldChg chg="modSp mod">
        <pc:chgData name="Kumar, Harendra (Cognizant)" userId="8b8433c2-3ce6-4e38-9e1b-c8afb18e9057" providerId="ADAL" clId="{1A8CCD16-2660-4488-985E-3D0D747599E1}" dt="2023-04-04T05:51:59.990" v="2123" actId="2"/>
        <pc:sldMkLst>
          <pc:docMk/>
          <pc:sldMk cId="1223559503" sldId="291"/>
        </pc:sldMkLst>
        <pc:spChg chg="mod">
          <ac:chgData name="Kumar, Harendra (Cognizant)" userId="8b8433c2-3ce6-4e38-9e1b-c8afb18e9057" providerId="ADAL" clId="{1A8CCD16-2660-4488-985E-3D0D747599E1}" dt="2023-04-04T05:51:59.990" v="2123" actId="2"/>
          <ac:spMkLst>
            <pc:docMk/>
            <pc:sldMk cId="1223559503" sldId="291"/>
            <ac:spMk id="6" creationId="{B4AA0405-CA4D-CA6B-047B-9822B03F17F5}"/>
          </ac:spMkLst>
        </pc:spChg>
        <pc:spChg chg="mod">
          <ac:chgData name="Kumar, Harendra (Cognizant)" userId="8b8433c2-3ce6-4e38-9e1b-c8afb18e9057" providerId="ADAL" clId="{1A8CCD16-2660-4488-985E-3D0D747599E1}" dt="2023-04-04T05:51:58.430" v="2122" actId="2"/>
          <ac:spMkLst>
            <pc:docMk/>
            <pc:sldMk cId="1223559503" sldId="291"/>
            <ac:spMk id="10" creationId="{00000000-0000-0000-0000-000000000000}"/>
          </ac:spMkLst>
        </pc:spChg>
        <pc:picChg chg="mod">
          <ac:chgData name="Kumar, Harendra (Cognizant)" userId="8b8433c2-3ce6-4e38-9e1b-c8afb18e9057" providerId="ADAL" clId="{1A8CCD16-2660-4488-985E-3D0D747599E1}" dt="2023-04-04T05:49:40.613" v="2117" actId="1036"/>
          <ac:picMkLst>
            <pc:docMk/>
            <pc:sldMk cId="1223559503" sldId="291"/>
            <ac:picMk id="2" creationId="{BD2BA625-28D8-D1DD-D9C4-19A175FC7279}"/>
          </ac:picMkLst>
        </pc:picChg>
        <pc:picChg chg="mod">
          <ac:chgData name="Kumar, Harendra (Cognizant)" userId="8b8433c2-3ce6-4e38-9e1b-c8afb18e9057" providerId="ADAL" clId="{1A8CCD16-2660-4488-985E-3D0D747599E1}" dt="2023-04-04T05:49:42.490" v="2120" actId="1036"/>
          <ac:picMkLst>
            <pc:docMk/>
            <pc:sldMk cId="1223559503" sldId="291"/>
            <ac:picMk id="3" creationId="{3A52B991-812D-36F8-572E-E63FC7DF49DE}"/>
          </ac:picMkLst>
        </pc:picChg>
      </pc:sldChg>
      <pc:sldChg chg="modSp mod">
        <pc:chgData name="Kumar, Harendra (Cognizant)" userId="8b8433c2-3ce6-4e38-9e1b-c8afb18e9057" providerId="ADAL" clId="{1A8CCD16-2660-4488-985E-3D0D747599E1}" dt="2023-04-04T05:52:01.534" v="2124" actId="2"/>
        <pc:sldMkLst>
          <pc:docMk/>
          <pc:sldMk cId="785725705" sldId="292"/>
        </pc:sldMkLst>
        <pc:spChg chg="mod">
          <ac:chgData name="Kumar, Harendra (Cognizant)" userId="8b8433c2-3ce6-4e38-9e1b-c8afb18e9057" providerId="ADAL" clId="{1A8CCD16-2660-4488-985E-3D0D747599E1}" dt="2023-04-04T05:52:01.534" v="2124" actId="2"/>
          <ac:spMkLst>
            <pc:docMk/>
            <pc:sldMk cId="785725705" sldId="292"/>
            <ac:spMk id="10" creationId="{00000000-0000-0000-0000-000000000000}"/>
          </ac:spMkLst>
        </pc:spChg>
        <pc:spChg chg="mod">
          <ac:chgData name="Kumar, Harendra (Cognizant)" userId="8b8433c2-3ce6-4e38-9e1b-c8afb18e9057" providerId="ADAL" clId="{1A8CCD16-2660-4488-985E-3D0D747599E1}" dt="2023-04-03T10:53:26.252" v="367" actId="20577"/>
          <ac:spMkLst>
            <pc:docMk/>
            <pc:sldMk cId="785725705" sldId="292"/>
            <ac:spMk id="17" creationId="{00000000-0000-0000-0000-000000000000}"/>
          </ac:spMkLst>
        </pc:spChg>
      </pc:sldChg>
      <pc:sldChg chg="delSp modSp add mod">
        <pc:chgData name="Kumar, Harendra (Cognizant)" userId="8b8433c2-3ce6-4e38-9e1b-c8afb18e9057" providerId="ADAL" clId="{1A8CCD16-2660-4488-985E-3D0D747599E1}" dt="2023-04-03T10:51:59.412" v="357" actId="115"/>
        <pc:sldMkLst>
          <pc:docMk/>
          <pc:sldMk cId="1456905060" sldId="293"/>
        </pc:sldMkLst>
        <pc:spChg chg="del">
          <ac:chgData name="Kumar, Harendra (Cognizant)" userId="8b8433c2-3ce6-4e38-9e1b-c8afb18e9057" providerId="ADAL" clId="{1A8CCD16-2660-4488-985E-3D0D747599E1}" dt="2023-04-03T10:43:05.747" v="174" actId="21"/>
          <ac:spMkLst>
            <pc:docMk/>
            <pc:sldMk cId="1456905060" sldId="293"/>
            <ac:spMk id="6" creationId="{36C18FB9-59E7-96B5-9936-83F3B55F38E2}"/>
          </ac:spMkLst>
        </pc:spChg>
        <pc:spChg chg="del mod">
          <ac:chgData name="Kumar, Harendra (Cognizant)" userId="8b8433c2-3ce6-4e38-9e1b-c8afb18e9057" providerId="ADAL" clId="{1A8CCD16-2660-4488-985E-3D0D747599E1}" dt="2023-04-03T10:43:02.425" v="173" actId="21"/>
          <ac:spMkLst>
            <pc:docMk/>
            <pc:sldMk cId="1456905060" sldId="293"/>
            <ac:spMk id="7" creationId="{FECB05A3-091C-BB4C-293C-D91F24FAD8F1}"/>
          </ac:spMkLst>
        </pc:spChg>
        <pc:spChg chg="mod">
          <ac:chgData name="Kumar, Harendra (Cognizant)" userId="8b8433c2-3ce6-4e38-9e1b-c8afb18e9057" providerId="ADAL" clId="{1A8CCD16-2660-4488-985E-3D0D747599E1}" dt="2023-04-03T10:51:59.412" v="357" actId="115"/>
          <ac:spMkLst>
            <pc:docMk/>
            <pc:sldMk cId="1456905060" sldId="293"/>
            <ac:spMk id="10" creationId="{00000000-0000-0000-0000-000000000000}"/>
          </ac:spMkLst>
        </pc:spChg>
        <pc:picChg chg="del">
          <ac:chgData name="Kumar, Harendra (Cognizant)" userId="8b8433c2-3ce6-4e38-9e1b-c8afb18e9057" providerId="ADAL" clId="{1A8CCD16-2660-4488-985E-3D0D747599E1}" dt="2023-04-03T10:42:59.412" v="171" actId="21"/>
          <ac:picMkLst>
            <pc:docMk/>
            <pc:sldMk cId="1456905060" sldId="293"/>
            <ac:picMk id="5" creationId="{8B45853E-0110-E1D0-9122-748124353568}"/>
          </ac:picMkLst>
        </pc:picChg>
        <pc:picChg chg="mod">
          <ac:chgData name="Kumar, Harendra (Cognizant)" userId="8b8433c2-3ce6-4e38-9e1b-c8afb18e9057" providerId="ADAL" clId="{1A8CCD16-2660-4488-985E-3D0D747599E1}" dt="2023-04-03T10:43:32.985" v="185" actId="1035"/>
          <ac:picMkLst>
            <pc:docMk/>
            <pc:sldMk cId="1456905060" sldId="293"/>
            <ac:picMk id="9" creationId="{77677CE2-7EB1-EA27-ECBB-DA6DDB641771}"/>
          </ac:picMkLst>
        </pc:picChg>
      </pc:sldChg>
      <pc:sldChg chg="delSp modSp add mod">
        <pc:chgData name="Kumar, Harendra (Cognizant)" userId="8b8433c2-3ce6-4e38-9e1b-c8afb18e9057" providerId="ADAL" clId="{1A8CCD16-2660-4488-985E-3D0D747599E1}" dt="2023-04-03T11:01:11.658" v="733" actId="1036"/>
        <pc:sldMkLst>
          <pc:docMk/>
          <pc:sldMk cId="367818717" sldId="294"/>
        </pc:sldMkLst>
        <pc:spChg chg="del mod">
          <ac:chgData name="Kumar, Harendra (Cognizant)" userId="8b8433c2-3ce6-4e38-9e1b-c8afb18e9057" providerId="ADAL" clId="{1A8CCD16-2660-4488-985E-3D0D747599E1}" dt="2023-04-03T11:00:17.287" v="714" actId="21"/>
          <ac:spMkLst>
            <pc:docMk/>
            <pc:sldMk cId="367818717" sldId="294"/>
            <ac:spMk id="10" creationId="{00000000-0000-0000-0000-000000000000}"/>
          </ac:spMkLst>
        </pc:spChg>
        <pc:spChg chg="mod">
          <ac:chgData name="Kumar, Harendra (Cognizant)" userId="8b8433c2-3ce6-4e38-9e1b-c8afb18e9057" providerId="ADAL" clId="{1A8CCD16-2660-4488-985E-3D0D747599E1}" dt="2023-04-03T11:01:11.658" v="733" actId="1036"/>
          <ac:spMkLst>
            <pc:docMk/>
            <pc:sldMk cId="367818717" sldId="294"/>
            <ac:spMk id="1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Software Architecture &amp; Patterns</a:t>
          </a:r>
        </a:p>
        <a:p>
          <a:r>
            <a:rPr lang="en-US" b="1" i="0" dirty="0"/>
            <a:t>(Refresher)</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X="-937" custLinFactNeighborY="-108">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X="100000"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6343">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X="-649" custLinFactNeighborY="-19698">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Thinking -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212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Critical Thinking – A Soft skill needed across </a:t>
          </a:r>
          <a:r>
            <a:rPr lang="en-US"/>
            <a:t>almost any IT </a:t>
          </a:r>
          <a:r>
            <a:rPr lang="en-US" dirty="0"/>
            <a:t>Role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047"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Discovery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Discovery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Discovery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Discovery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Discovery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Requirement Analysis – Soft Skills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X="1528" custLinFactNeighborY="1471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Requirement Analysis –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7639">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Estimation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6960"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3953">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Modelling &amp; Documentation(&amp; Tools)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Architecture(/Design) Principles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Architecture(&amp; Design) Trade-Offs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Architecture(&amp; Design) Trade-Offs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Enterprise Architecture Process using TOGAF</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 vs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Styles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EAI(Enterprise Application Integration) Patterns -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EAI(Enterprise Application Integration) Patterns -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Application Architecture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 Architecture – A bit more in depth</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 Architecture – A bit more in depth</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 Architecture – A bit more in depth</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 Architecture – A bit more in depth</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 Architecture – A bit more in depth</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 Architecture – A bit more in depth</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 Architecture – A bit more in depth</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Microservices(&amp; Cloud) Architecture Patterns -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Microservices(&amp; Cloud) Architecture Patterns -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System Design(</a:t>
          </a:r>
          <a:r>
            <a:rPr lang="en-US" dirty="0" err="1"/>
            <a:t>a.k.a</a:t>
          </a:r>
          <a:r>
            <a:rPr lang="en-US" dirty="0"/>
            <a:t> Distributed Systems) Basics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NFR Matrix</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NFR Matrix</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NFR Matrix</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Well Architected Framework &amp; Runtime NFRs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2298"/>
          <a:ext cx="4982500" cy="186030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0" kern="1200" dirty="0"/>
            <a:t>Software Architecture &amp; Patterns</a:t>
          </a:r>
        </a:p>
        <a:p>
          <a:pPr marL="0" lvl="0" indent="0" algn="l" defTabSz="1333500">
            <a:lnSpc>
              <a:spcPct val="90000"/>
            </a:lnSpc>
            <a:spcBef>
              <a:spcPct val="0"/>
            </a:spcBef>
            <a:spcAft>
              <a:spcPct val="35000"/>
            </a:spcAft>
            <a:buNone/>
          </a:pPr>
          <a:r>
            <a:rPr lang="en-US" sz="3000" b="1" i="0" kern="1200" dirty="0"/>
            <a:t>(Refresher)</a:t>
          </a:r>
        </a:p>
      </dsp:txBody>
      <dsp:txXfrm>
        <a:off x="90812" y="103110"/>
        <a:ext cx="4800876" cy="16786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5785"/>
          <a:ext cx="71923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kern="1200" dirty="0"/>
            <a:t>Design Thinking</a:t>
          </a:r>
        </a:p>
      </dsp:txBody>
      <dsp:txXfrm>
        <a:off x="76105" y="91890"/>
        <a:ext cx="7040090" cy="14068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5785"/>
          <a:ext cx="71923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kern="1200" dirty="0"/>
            <a:t>Design Thinking</a:t>
          </a:r>
        </a:p>
      </dsp:txBody>
      <dsp:txXfrm>
        <a:off x="76105" y="91890"/>
        <a:ext cx="7040090" cy="14068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3191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Design Thinking - Steps</a:t>
          </a:r>
        </a:p>
      </dsp:txBody>
      <dsp:txXfrm>
        <a:off x="64397" y="64397"/>
        <a:ext cx="7063506" cy="119038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175264"/>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kern="1200" dirty="0"/>
            <a:t>Design Thinking - Steps</a:t>
          </a:r>
        </a:p>
      </dsp:txBody>
      <dsp:txXfrm>
        <a:off x="57372" y="57372"/>
        <a:ext cx="7077556" cy="10605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86087"/>
          <a:ext cx="7192300" cy="13191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Design Thinking - Steps</a:t>
          </a:r>
        </a:p>
      </dsp:txBody>
      <dsp:txXfrm>
        <a:off x="64397" y="250484"/>
        <a:ext cx="7063506" cy="11903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3191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Design Thinking - Steps</a:t>
          </a:r>
        </a:p>
      </dsp:txBody>
      <dsp:txXfrm>
        <a:off x="64397" y="64397"/>
        <a:ext cx="7063506" cy="11903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3191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Design Thinking - Steps</a:t>
          </a:r>
        </a:p>
      </dsp:txBody>
      <dsp:txXfrm>
        <a:off x="64397" y="64397"/>
        <a:ext cx="7063506" cy="119038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204823"/>
          <a:ext cx="7192300" cy="13191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dirty="0"/>
            <a:t>Design Thinking - Steps</a:t>
          </a:r>
        </a:p>
      </dsp:txBody>
      <dsp:txXfrm>
        <a:off x="64397" y="269220"/>
        <a:ext cx="7063506" cy="119038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59875"/>
          <a:ext cx="8839200" cy="45552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Critical Thinking – A Soft skill needed across </a:t>
          </a:r>
          <a:r>
            <a:rPr lang="en-US" sz="1900" kern="1200"/>
            <a:t>almost any IT </a:t>
          </a:r>
          <a:r>
            <a:rPr lang="en-US" sz="1900" kern="1200" dirty="0"/>
            <a:t>Role</a:t>
          </a:r>
        </a:p>
      </dsp:txBody>
      <dsp:txXfrm>
        <a:off x="22237" y="82112"/>
        <a:ext cx="8794726" cy="41105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Discovery Checklist</a:t>
          </a:r>
        </a:p>
      </dsp:txBody>
      <dsp:txXfrm>
        <a:off x="21162" y="21162"/>
        <a:ext cx="7149976" cy="39118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Discovery Checklist</a:t>
          </a:r>
        </a:p>
      </dsp:txBody>
      <dsp:txXfrm>
        <a:off x="21162" y="21162"/>
        <a:ext cx="7149976" cy="39118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Discovery Checklist</a:t>
          </a:r>
        </a:p>
      </dsp:txBody>
      <dsp:txXfrm>
        <a:off x="21162" y="21162"/>
        <a:ext cx="7149976" cy="39118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Discovery Checklist</a:t>
          </a:r>
        </a:p>
      </dsp:txBody>
      <dsp:txXfrm>
        <a:off x="21162" y="21162"/>
        <a:ext cx="7149976" cy="39118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Discovery Checklist</a:t>
          </a:r>
        </a:p>
      </dsp:txBody>
      <dsp:txXfrm>
        <a:off x="21162" y="21162"/>
        <a:ext cx="7149976" cy="39118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11107"/>
          <a:ext cx="7192300"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Requirement Analysis – Soft Skills</a:t>
          </a:r>
        </a:p>
      </dsp:txBody>
      <dsp:txXfrm>
        <a:off x="45663" y="356770"/>
        <a:ext cx="7100974" cy="84408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Requirement Analysis – NFRs</a:t>
          </a:r>
        </a:p>
      </dsp:txBody>
      <dsp:txXfrm>
        <a:off x="51517" y="51517"/>
        <a:ext cx="7089266" cy="95230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102786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Estimation</a:t>
          </a:r>
        </a:p>
      </dsp:txBody>
      <dsp:txXfrm>
        <a:off x="50176" y="50176"/>
        <a:ext cx="7091948" cy="92751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1969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Modelling &amp; Documentation(&amp; Tools)</a:t>
          </a:r>
        </a:p>
      </dsp:txBody>
      <dsp:txXfrm>
        <a:off x="35133" y="35133"/>
        <a:ext cx="7122034" cy="649433"/>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848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Architecture(/Design) Principles</a:t>
          </a:r>
        </a:p>
      </dsp:txBody>
      <dsp:txXfrm>
        <a:off x="36538" y="36538"/>
        <a:ext cx="7119224" cy="675411"/>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Architecture(&amp; Design) Trade-Offs</a:t>
          </a:r>
        </a:p>
      </dsp:txBody>
      <dsp:txXfrm>
        <a:off x="21162" y="21162"/>
        <a:ext cx="7149976" cy="391189"/>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Architecture(&amp; Design) Trade-Offs</a:t>
          </a:r>
        </a:p>
      </dsp:txBody>
      <dsp:txXfrm>
        <a:off x="21162" y="21162"/>
        <a:ext cx="7149976" cy="391189"/>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92500" cy="407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Enterprise Architecture Process using TOGAF</a:t>
          </a:r>
        </a:p>
      </dsp:txBody>
      <dsp:txXfrm>
        <a:off x="19904" y="19904"/>
        <a:ext cx="8752692" cy="367937"/>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 vs Patterns</a:t>
          </a:r>
        </a:p>
      </dsp:txBody>
      <dsp:txXfrm>
        <a:off x="21162" y="21162"/>
        <a:ext cx="7149976" cy="391189"/>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Styles</a:t>
          </a:r>
        </a:p>
      </dsp:txBody>
      <dsp:txXfrm>
        <a:off x="21162" y="21162"/>
        <a:ext cx="7149976" cy="391189"/>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38130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EAI(Enterprise Application Integration) Patterns - </a:t>
          </a:r>
        </a:p>
      </dsp:txBody>
      <dsp:txXfrm>
        <a:off x="21162" y="21162"/>
        <a:ext cx="8338983" cy="391189"/>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38130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EAI(Enterprise Application Integration) Patterns - </a:t>
          </a:r>
        </a:p>
      </dsp:txBody>
      <dsp:txXfrm>
        <a:off x="21162" y="21162"/>
        <a:ext cx="8338983" cy="391189"/>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Application Architecture Patterns</a:t>
          </a:r>
        </a:p>
      </dsp:txBody>
      <dsp:txXfrm>
        <a:off x="21162" y="21162"/>
        <a:ext cx="7149976" cy="391189"/>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4725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dsp:txBody>
      <dsp:txXfrm>
        <a:off x="21162" y="21162"/>
        <a:ext cx="8430213" cy="391189"/>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4725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dsp:txBody>
      <dsp:txXfrm>
        <a:off x="21162" y="21162"/>
        <a:ext cx="8430213" cy="391189"/>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4725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dsp:txBody>
      <dsp:txXfrm>
        <a:off x="21162" y="21162"/>
        <a:ext cx="8430213" cy="391189"/>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4725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dsp:txBody>
      <dsp:txXfrm>
        <a:off x="21162" y="21162"/>
        <a:ext cx="8430213" cy="391189"/>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4725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dsp:txBody>
      <dsp:txXfrm>
        <a:off x="21162" y="21162"/>
        <a:ext cx="8430213" cy="391189"/>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4725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dsp:txBody>
      <dsp:txXfrm>
        <a:off x="21162" y="21162"/>
        <a:ext cx="8430213" cy="391189"/>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6"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dsp:txBody>
      <dsp:txXfrm>
        <a:off x="21162" y="21162"/>
        <a:ext cx="8582612" cy="391189"/>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38130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Microservices(&amp; Cloud) Architecture Patterns - </a:t>
          </a:r>
        </a:p>
      </dsp:txBody>
      <dsp:txXfrm>
        <a:off x="21162" y="21162"/>
        <a:ext cx="8338983" cy="391189"/>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38130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Microservices(&amp; Cloud) Architecture Patterns - </a:t>
          </a:r>
        </a:p>
      </dsp:txBody>
      <dsp:txXfrm>
        <a:off x="21162" y="21162"/>
        <a:ext cx="8338983" cy="391189"/>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56136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System Design(</a:t>
          </a:r>
          <a:r>
            <a:rPr lang="en-US" sz="2300" kern="1200" dirty="0" err="1"/>
            <a:t>a.k.a</a:t>
          </a:r>
          <a:r>
            <a:rPr lang="en-US" sz="2300" kern="1200" dirty="0"/>
            <a:t> Distributed Systems) Basics</a:t>
          </a:r>
        </a:p>
      </dsp:txBody>
      <dsp:txXfrm>
        <a:off x="27404" y="27404"/>
        <a:ext cx="7137492" cy="506557"/>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56136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System Design(</a:t>
          </a:r>
          <a:r>
            <a:rPr lang="en-US" sz="2300" kern="1200" dirty="0" err="1"/>
            <a:t>a.k.a</a:t>
          </a:r>
          <a:r>
            <a:rPr lang="en-US" sz="2300" kern="1200" dirty="0"/>
            <a:t> Distributed Systems) Basics</a:t>
          </a:r>
        </a:p>
      </dsp:txBody>
      <dsp:txXfrm>
        <a:off x="27404" y="27404"/>
        <a:ext cx="7137492" cy="506557"/>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56136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System Design(</a:t>
          </a:r>
          <a:r>
            <a:rPr lang="en-US" sz="2300" kern="1200" dirty="0" err="1"/>
            <a:t>a.k.a</a:t>
          </a:r>
          <a:r>
            <a:rPr lang="en-US" sz="2300" kern="1200" dirty="0"/>
            <a:t> Distributed Systems) Basics</a:t>
          </a:r>
        </a:p>
      </dsp:txBody>
      <dsp:txXfrm>
        <a:off x="27404" y="27404"/>
        <a:ext cx="7137492" cy="506557"/>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56136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System Design(</a:t>
          </a:r>
          <a:r>
            <a:rPr lang="en-US" sz="2300" kern="1200" dirty="0" err="1"/>
            <a:t>a.k.a</a:t>
          </a:r>
          <a:r>
            <a:rPr lang="en-US" sz="2300" kern="1200" dirty="0"/>
            <a:t> Distributed Systems) Basics</a:t>
          </a:r>
        </a:p>
      </dsp:txBody>
      <dsp:txXfrm>
        <a:off x="27404" y="27404"/>
        <a:ext cx="7137492" cy="506557"/>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56136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System Design(</a:t>
          </a:r>
          <a:r>
            <a:rPr lang="en-US" sz="2300" kern="1200" dirty="0" err="1"/>
            <a:t>a.k.a</a:t>
          </a:r>
          <a:r>
            <a:rPr lang="en-US" sz="2300" kern="1200" dirty="0"/>
            <a:t> Distributed Systems) Basics</a:t>
          </a:r>
        </a:p>
      </dsp:txBody>
      <dsp:txXfrm>
        <a:off x="27404" y="27404"/>
        <a:ext cx="7137492" cy="506557"/>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7651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System Design(</a:t>
          </a:r>
          <a:r>
            <a:rPr lang="en-US" sz="2800" kern="1200" dirty="0" err="1"/>
            <a:t>a.k.a</a:t>
          </a:r>
          <a:r>
            <a:rPr lang="en-US" sz="2800" kern="1200" dirty="0"/>
            <a:t> Distributed Systems) Basics</a:t>
          </a:r>
        </a:p>
      </dsp:txBody>
      <dsp:txXfrm>
        <a:off x="33025" y="33025"/>
        <a:ext cx="7126250" cy="610467"/>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NFR Matrix</a:t>
          </a:r>
        </a:p>
      </dsp:txBody>
      <dsp:txXfrm>
        <a:off x="21162" y="21162"/>
        <a:ext cx="7149976" cy="391189"/>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NFR Matrix</a:t>
          </a:r>
        </a:p>
      </dsp:txBody>
      <dsp:txXfrm>
        <a:off x="21162" y="21162"/>
        <a:ext cx="7149976" cy="391189"/>
      </dsp:txXfrm>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NFR Matrix</a:t>
          </a:r>
        </a:p>
      </dsp:txBody>
      <dsp:txXfrm>
        <a:off x="21162" y="21162"/>
        <a:ext cx="7149976" cy="391189"/>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1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1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1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1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1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1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1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1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1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6477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Well Architected Framework &amp; Runtime NFRs</a:t>
          </a:r>
        </a:p>
      </dsp:txBody>
      <dsp:txXfrm>
        <a:off x="31620" y="31620"/>
        <a:ext cx="7129060" cy="584489"/>
      </dsp:txXfrm>
    </dsp:sp>
  </dsp:spTree>
</dsp:drawing>
</file>

<file path=ppt/diagrams/drawing1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38130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 </a:t>
          </a:r>
        </a:p>
      </dsp:txBody>
      <dsp:txXfrm>
        <a:off x="21162" y="21162"/>
        <a:ext cx="8338983" cy="391189"/>
      </dsp:txXfrm>
    </dsp:sp>
  </dsp:spTree>
</dsp:drawing>
</file>

<file path=ppt/diagrams/drawing1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drawing1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Well Architected Framework &amp; Runtime NFRs</a:t>
          </a:r>
        </a:p>
      </dsp:txBody>
      <dsp:txXfrm>
        <a:off x="21162" y="21162"/>
        <a:ext cx="7149976" cy="39118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AE750B3-386C-4233-BFC3-7F4AC971F92C}" type="datetimeFigureOut">
              <a:rPr lang="en-US" smtClean="0"/>
              <a:t>11/6/2025</a:t>
            </a:fld>
            <a:endParaRPr lang="en-US" dirty="0"/>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0C49AC16-2221-4935-809C-2A72A26F729C}" type="slidenum">
              <a:rPr lang="en-US" smtClean="0"/>
              <a:t>‹#›</a:t>
            </a:fld>
            <a:endParaRPr lang="en-US" dirty="0"/>
          </a:p>
        </p:txBody>
      </p:sp>
    </p:spTree>
    <p:extLst>
      <p:ext uri="{BB962C8B-B14F-4D97-AF65-F5344CB8AC3E}">
        <p14:creationId xmlns:p14="http://schemas.microsoft.com/office/powerpoint/2010/main" val="4081582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29</a:t>
            </a:fld>
            <a:endParaRPr lang="en-US" dirty="0"/>
          </a:p>
        </p:txBody>
      </p:sp>
    </p:spTree>
    <p:extLst>
      <p:ext uri="{BB962C8B-B14F-4D97-AF65-F5344CB8AC3E}">
        <p14:creationId xmlns:p14="http://schemas.microsoft.com/office/powerpoint/2010/main" val="3759342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85317-3A06-0767-8BE3-41AC25929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2FD48-A569-8EB8-F706-F0E23D744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6939B-0B3D-2061-8661-5B744FB5C1B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E4628A9-F8EB-C6A8-3EF8-3D912B1148A0}"/>
              </a:ext>
            </a:extLst>
          </p:cNvPr>
          <p:cNvSpPr>
            <a:spLocks noGrp="1"/>
          </p:cNvSpPr>
          <p:nvPr>
            <p:ph type="sldNum" sz="quarter" idx="5"/>
          </p:nvPr>
        </p:nvSpPr>
        <p:spPr/>
        <p:txBody>
          <a:bodyPr/>
          <a:lstStyle/>
          <a:p>
            <a:fld id="{0C49AC16-2221-4935-809C-2A72A26F729C}" type="slidenum">
              <a:rPr lang="en-US" smtClean="0"/>
              <a:t>30</a:t>
            </a:fld>
            <a:endParaRPr lang="en-US" dirty="0"/>
          </a:p>
        </p:txBody>
      </p:sp>
    </p:spTree>
    <p:extLst>
      <p:ext uri="{BB962C8B-B14F-4D97-AF65-F5344CB8AC3E}">
        <p14:creationId xmlns:p14="http://schemas.microsoft.com/office/powerpoint/2010/main" val="2634514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389C-C3C0-2052-6915-46004254F9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33639-C526-83AF-39CC-D924AE3E88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420C8A-3791-4897-3D4B-ED304133D18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DAACCC3-757D-E8E2-7808-FE40D68D6856}"/>
              </a:ext>
            </a:extLst>
          </p:cNvPr>
          <p:cNvSpPr>
            <a:spLocks noGrp="1"/>
          </p:cNvSpPr>
          <p:nvPr>
            <p:ph type="sldNum" sz="quarter" idx="5"/>
          </p:nvPr>
        </p:nvSpPr>
        <p:spPr/>
        <p:txBody>
          <a:bodyPr/>
          <a:lstStyle/>
          <a:p>
            <a:fld id="{0C49AC16-2221-4935-809C-2A72A26F729C}" type="slidenum">
              <a:rPr lang="en-US" smtClean="0"/>
              <a:t>31</a:t>
            </a:fld>
            <a:endParaRPr lang="en-US" dirty="0"/>
          </a:p>
        </p:txBody>
      </p:sp>
    </p:spTree>
    <p:extLst>
      <p:ext uri="{BB962C8B-B14F-4D97-AF65-F5344CB8AC3E}">
        <p14:creationId xmlns:p14="http://schemas.microsoft.com/office/powerpoint/2010/main" val="1473878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3B9FE-7D2A-B464-B656-2B2DFD527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43487-53FF-161E-B0EC-3F2C800CA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BFA26-CBA1-A704-4365-CD3BA882EE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E596EE1-3F41-CF51-ED30-0021ED8702F7}"/>
              </a:ext>
            </a:extLst>
          </p:cNvPr>
          <p:cNvSpPr>
            <a:spLocks noGrp="1"/>
          </p:cNvSpPr>
          <p:nvPr>
            <p:ph type="sldNum" sz="quarter" idx="5"/>
          </p:nvPr>
        </p:nvSpPr>
        <p:spPr/>
        <p:txBody>
          <a:bodyPr/>
          <a:lstStyle/>
          <a:p>
            <a:fld id="{0C49AC16-2221-4935-809C-2A72A26F729C}" type="slidenum">
              <a:rPr lang="en-US" smtClean="0"/>
              <a:t>32</a:t>
            </a:fld>
            <a:endParaRPr lang="en-US" dirty="0"/>
          </a:p>
        </p:txBody>
      </p:sp>
    </p:spTree>
    <p:extLst>
      <p:ext uri="{BB962C8B-B14F-4D97-AF65-F5344CB8AC3E}">
        <p14:creationId xmlns:p14="http://schemas.microsoft.com/office/powerpoint/2010/main" val="4223665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D4E40-93DD-A6FD-CECA-A815307AC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B22D0-D453-2638-FCEA-0EFA9CB53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C9B48-A237-85C2-C9DA-D98FF79E79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177CBB5-0C2C-B57D-9676-781DF02234C8}"/>
              </a:ext>
            </a:extLst>
          </p:cNvPr>
          <p:cNvSpPr>
            <a:spLocks noGrp="1"/>
          </p:cNvSpPr>
          <p:nvPr>
            <p:ph type="sldNum" sz="quarter" idx="5"/>
          </p:nvPr>
        </p:nvSpPr>
        <p:spPr/>
        <p:txBody>
          <a:bodyPr/>
          <a:lstStyle/>
          <a:p>
            <a:fld id="{0C49AC16-2221-4935-809C-2A72A26F729C}" type="slidenum">
              <a:rPr lang="en-US" smtClean="0"/>
              <a:t>33</a:t>
            </a:fld>
            <a:endParaRPr lang="en-US" dirty="0"/>
          </a:p>
        </p:txBody>
      </p:sp>
    </p:spTree>
    <p:extLst>
      <p:ext uri="{BB962C8B-B14F-4D97-AF65-F5344CB8AC3E}">
        <p14:creationId xmlns:p14="http://schemas.microsoft.com/office/powerpoint/2010/main" val="2003005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9283A-3AB9-A6FF-7648-32A68FB4F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F004F-54D6-7176-EC0B-059CD96AE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1A856-09DF-15AC-F33A-CB95983F864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9F465F3-2C4A-AFE5-A698-5517F0FBBA1D}"/>
              </a:ext>
            </a:extLst>
          </p:cNvPr>
          <p:cNvSpPr>
            <a:spLocks noGrp="1"/>
          </p:cNvSpPr>
          <p:nvPr>
            <p:ph type="sldNum" sz="quarter" idx="5"/>
          </p:nvPr>
        </p:nvSpPr>
        <p:spPr/>
        <p:txBody>
          <a:bodyPr/>
          <a:lstStyle/>
          <a:p>
            <a:fld id="{0C49AC16-2221-4935-809C-2A72A26F729C}" type="slidenum">
              <a:rPr lang="en-US" smtClean="0"/>
              <a:t>34</a:t>
            </a:fld>
            <a:endParaRPr lang="en-US" dirty="0"/>
          </a:p>
        </p:txBody>
      </p:sp>
    </p:spTree>
    <p:extLst>
      <p:ext uri="{BB962C8B-B14F-4D97-AF65-F5344CB8AC3E}">
        <p14:creationId xmlns:p14="http://schemas.microsoft.com/office/powerpoint/2010/main" val="2678015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B88CE-7E73-979D-4533-25E27DB9B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1CF6E-421B-FD12-7DD5-FF3CC3742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357FA-C508-F599-7C05-B484C48129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814A13-B861-0169-4D3E-492CF8BA0025}"/>
              </a:ext>
            </a:extLst>
          </p:cNvPr>
          <p:cNvSpPr>
            <a:spLocks noGrp="1"/>
          </p:cNvSpPr>
          <p:nvPr>
            <p:ph type="sldNum" sz="quarter" idx="5"/>
          </p:nvPr>
        </p:nvSpPr>
        <p:spPr/>
        <p:txBody>
          <a:bodyPr/>
          <a:lstStyle/>
          <a:p>
            <a:fld id="{0C49AC16-2221-4935-809C-2A72A26F729C}" type="slidenum">
              <a:rPr lang="en-US" smtClean="0"/>
              <a:t>35</a:t>
            </a:fld>
            <a:endParaRPr lang="en-US" dirty="0"/>
          </a:p>
        </p:txBody>
      </p:sp>
    </p:spTree>
    <p:extLst>
      <p:ext uri="{BB962C8B-B14F-4D97-AF65-F5344CB8AC3E}">
        <p14:creationId xmlns:p14="http://schemas.microsoft.com/office/powerpoint/2010/main" val="2612625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C446E-6A83-B493-E379-F509021A2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C9F5E-6F5E-5260-2F5D-D79E22A61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378EF-8E18-58D9-8AB4-D82852DC4B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30BC741-529E-23DF-27C8-4C56ACB0A9EF}"/>
              </a:ext>
            </a:extLst>
          </p:cNvPr>
          <p:cNvSpPr>
            <a:spLocks noGrp="1"/>
          </p:cNvSpPr>
          <p:nvPr>
            <p:ph type="sldNum" sz="quarter" idx="5"/>
          </p:nvPr>
        </p:nvSpPr>
        <p:spPr/>
        <p:txBody>
          <a:bodyPr/>
          <a:lstStyle/>
          <a:p>
            <a:fld id="{0C49AC16-2221-4935-809C-2A72A26F729C}" type="slidenum">
              <a:rPr lang="en-US" smtClean="0"/>
              <a:t>36</a:t>
            </a:fld>
            <a:endParaRPr lang="en-US" dirty="0"/>
          </a:p>
        </p:txBody>
      </p:sp>
    </p:spTree>
    <p:extLst>
      <p:ext uri="{BB962C8B-B14F-4D97-AF65-F5344CB8AC3E}">
        <p14:creationId xmlns:p14="http://schemas.microsoft.com/office/powerpoint/2010/main" val="2030944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64832-D2F6-50EC-CF39-1B52B7470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FD0469-8D68-BC34-A1D9-64A32C813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023CB-AD55-5E06-3B59-7714BD40BAD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783457-288F-4ADB-D1E1-3F34EAA22B75}"/>
              </a:ext>
            </a:extLst>
          </p:cNvPr>
          <p:cNvSpPr>
            <a:spLocks noGrp="1"/>
          </p:cNvSpPr>
          <p:nvPr>
            <p:ph type="sldNum" sz="quarter" idx="5"/>
          </p:nvPr>
        </p:nvSpPr>
        <p:spPr/>
        <p:txBody>
          <a:bodyPr/>
          <a:lstStyle/>
          <a:p>
            <a:fld id="{0C49AC16-2221-4935-809C-2A72A26F729C}" type="slidenum">
              <a:rPr lang="en-US" smtClean="0"/>
              <a:t>37</a:t>
            </a:fld>
            <a:endParaRPr lang="en-US" dirty="0"/>
          </a:p>
        </p:txBody>
      </p:sp>
    </p:spTree>
    <p:extLst>
      <p:ext uri="{BB962C8B-B14F-4D97-AF65-F5344CB8AC3E}">
        <p14:creationId xmlns:p14="http://schemas.microsoft.com/office/powerpoint/2010/main" val="3770695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B84B9-0690-C9EE-0015-34E6F47F2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37D51-2921-FD4C-65A3-C8BF951B4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C8EB3-E348-64A8-8222-CD021B729A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AB53E3E-E02A-6807-8B63-DB77E94E33EC}"/>
              </a:ext>
            </a:extLst>
          </p:cNvPr>
          <p:cNvSpPr>
            <a:spLocks noGrp="1"/>
          </p:cNvSpPr>
          <p:nvPr>
            <p:ph type="sldNum" sz="quarter" idx="5"/>
          </p:nvPr>
        </p:nvSpPr>
        <p:spPr/>
        <p:txBody>
          <a:bodyPr/>
          <a:lstStyle/>
          <a:p>
            <a:fld id="{0C49AC16-2221-4935-809C-2A72A26F729C}" type="slidenum">
              <a:rPr lang="en-US" smtClean="0"/>
              <a:t>38</a:t>
            </a:fld>
            <a:endParaRPr lang="en-US" dirty="0"/>
          </a:p>
        </p:txBody>
      </p:sp>
    </p:spTree>
    <p:extLst>
      <p:ext uri="{BB962C8B-B14F-4D97-AF65-F5344CB8AC3E}">
        <p14:creationId xmlns:p14="http://schemas.microsoft.com/office/powerpoint/2010/main" val="178555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1C78E-96AA-E877-74FD-B6C98DC074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29E71-031A-72CD-F136-58317BCAC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B957B5-3114-0356-2370-C5A4E821043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DB92A1D-E281-0C47-687E-4608EF731C4F}"/>
              </a:ext>
            </a:extLst>
          </p:cNvPr>
          <p:cNvSpPr>
            <a:spLocks noGrp="1"/>
          </p:cNvSpPr>
          <p:nvPr>
            <p:ph type="sldNum" sz="quarter" idx="5"/>
          </p:nvPr>
        </p:nvSpPr>
        <p:spPr/>
        <p:txBody>
          <a:bodyPr/>
          <a:lstStyle/>
          <a:p>
            <a:fld id="{0C49AC16-2221-4935-809C-2A72A26F729C}" type="slidenum">
              <a:rPr lang="en-US" smtClean="0"/>
              <a:t>39</a:t>
            </a:fld>
            <a:endParaRPr lang="en-US" dirty="0"/>
          </a:p>
        </p:txBody>
      </p:sp>
    </p:spTree>
    <p:extLst>
      <p:ext uri="{BB962C8B-B14F-4D97-AF65-F5344CB8AC3E}">
        <p14:creationId xmlns:p14="http://schemas.microsoft.com/office/powerpoint/2010/main" val="1875883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F19B3-2C63-4C75-E5DE-3C90DBD65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8CDC8-1D27-0685-7D71-DB106F8AAF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59AE9-12F2-7D53-FEA1-FBAEF1DC3D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3AD18D6-FA7E-ADB3-7AD8-9B9940D38CA1}"/>
              </a:ext>
            </a:extLst>
          </p:cNvPr>
          <p:cNvSpPr>
            <a:spLocks noGrp="1"/>
          </p:cNvSpPr>
          <p:nvPr>
            <p:ph type="sldNum" sz="quarter" idx="5"/>
          </p:nvPr>
        </p:nvSpPr>
        <p:spPr/>
        <p:txBody>
          <a:bodyPr/>
          <a:lstStyle/>
          <a:p>
            <a:fld id="{0C49AC16-2221-4935-809C-2A72A26F729C}" type="slidenum">
              <a:rPr lang="en-US" smtClean="0"/>
              <a:t>40</a:t>
            </a:fld>
            <a:endParaRPr lang="en-US" dirty="0"/>
          </a:p>
        </p:txBody>
      </p:sp>
    </p:spTree>
    <p:extLst>
      <p:ext uri="{BB962C8B-B14F-4D97-AF65-F5344CB8AC3E}">
        <p14:creationId xmlns:p14="http://schemas.microsoft.com/office/powerpoint/2010/main" val="2014125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45</a:t>
            </a:fld>
            <a:endParaRPr lang="en-US" dirty="0"/>
          </a:p>
        </p:txBody>
      </p:sp>
    </p:spTree>
    <p:extLst>
      <p:ext uri="{BB962C8B-B14F-4D97-AF65-F5344CB8AC3E}">
        <p14:creationId xmlns:p14="http://schemas.microsoft.com/office/powerpoint/2010/main" val="3212510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90</a:t>
            </a:fld>
            <a:endParaRPr lang="en-US" dirty="0"/>
          </a:p>
        </p:txBody>
      </p:sp>
    </p:spTree>
    <p:extLst>
      <p:ext uri="{BB962C8B-B14F-4D97-AF65-F5344CB8AC3E}">
        <p14:creationId xmlns:p14="http://schemas.microsoft.com/office/powerpoint/2010/main" val="3857258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125</a:t>
            </a:fld>
            <a:endParaRPr lang="en-US" dirty="0"/>
          </a:p>
        </p:txBody>
      </p:sp>
    </p:spTree>
    <p:extLst>
      <p:ext uri="{BB962C8B-B14F-4D97-AF65-F5344CB8AC3E}">
        <p14:creationId xmlns:p14="http://schemas.microsoft.com/office/powerpoint/2010/main" val="8978878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172</a:t>
            </a:fld>
            <a:endParaRPr lang="en-US" dirty="0"/>
          </a:p>
        </p:txBody>
      </p:sp>
    </p:spTree>
    <p:extLst>
      <p:ext uri="{BB962C8B-B14F-4D97-AF65-F5344CB8AC3E}">
        <p14:creationId xmlns:p14="http://schemas.microsoft.com/office/powerpoint/2010/main" val="2966799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9B778-A1E0-BA7B-AF3E-EF901C63C2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EAD46-D6B1-D873-0EF1-789832481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22557-8204-1F1C-67D5-B9535E3448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8D8CE6-D751-1C54-7B14-CD76DB369BB2}"/>
              </a:ext>
            </a:extLst>
          </p:cNvPr>
          <p:cNvSpPr>
            <a:spLocks noGrp="1"/>
          </p:cNvSpPr>
          <p:nvPr>
            <p:ph type="sldNum" sz="quarter" idx="5"/>
          </p:nvPr>
        </p:nvSpPr>
        <p:spPr/>
        <p:txBody>
          <a:bodyPr/>
          <a:lstStyle/>
          <a:p>
            <a:fld id="{0C49AC16-2221-4935-809C-2A72A26F729C}" type="slidenum">
              <a:rPr lang="en-US" smtClean="0"/>
              <a:t>173</a:t>
            </a:fld>
            <a:endParaRPr lang="en-US" dirty="0"/>
          </a:p>
        </p:txBody>
      </p:sp>
    </p:spTree>
    <p:extLst>
      <p:ext uri="{BB962C8B-B14F-4D97-AF65-F5344CB8AC3E}">
        <p14:creationId xmlns:p14="http://schemas.microsoft.com/office/powerpoint/2010/main" val="3338149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943600"/>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3079584" y="2139810"/>
            <a:ext cx="3027045" cy="1153795"/>
          </a:xfrm>
          <a:custGeom>
            <a:avLst/>
            <a:gdLst/>
            <a:ahLst/>
            <a:cxnLst/>
            <a:rect l="l" t="t" r="r" b="b"/>
            <a:pathLst>
              <a:path w="3027045" h="1153795">
                <a:moveTo>
                  <a:pt x="0" y="1153236"/>
                </a:moveTo>
                <a:lnTo>
                  <a:pt x="3026829" y="1153236"/>
                </a:lnTo>
                <a:lnTo>
                  <a:pt x="3026829" y="0"/>
                </a:lnTo>
                <a:lnTo>
                  <a:pt x="0" y="0"/>
                </a:lnTo>
                <a:lnTo>
                  <a:pt x="0" y="1153236"/>
                </a:lnTo>
                <a:close/>
              </a:path>
            </a:pathLst>
          </a:custGeom>
          <a:solidFill>
            <a:srgbClr val="FFFFFF"/>
          </a:solidFill>
        </p:spPr>
        <p:txBody>
          <a:bodyPr wrap="square" lIns="0" tIns="0" rIns="0" bIns="0" rtlCol="0"/>
          <a:lstStyle/>
          <a:p>
            <a:endParaRPr dirty="0"/>
          </a:p>
        </p:txBody>
      </p:sp>
      <p:sp>
        <p:nvSpPr>
          <p:cNvPr id="18" name="bk object 18"/>
          <p:cNvSpPr/>
          <p:nvPr/>
        </p:nvSpPr>
        <p:spPr>
          <a:xfrm>
            <a:off x="3186950" y="2836551"/>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19" name="bk object 19"/>
          <p:cNvSpPr/>
          <p:nvPr/>
        </p:nvSpPr>
        <p:spPr>
          <a:xfrm>
            <a:off x="3186950" y="2781966"/>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2" name="Holder 2"/>
          <p:cNvSpPr>
            <a:spLocks noGrp="1"/>
          </p:cNvSpPr>
          <p:nvPr>
            <p:ph type="ctrTitle"/>
          </p:nvPr>
        </p:nvSpPr>
        <p:spPr>
          <a:xfrm>
            <a:off x="3174246" y="2190333"/>
            <a:ext cx="2415540" cy="354964"/>
          </a:xfrm>
          <a:prstGeom prst="rect">
            <a:avLst/>
          </a:prstGeom>
        </p:spPr>
        <p:txBody>
          <a:bodyPr wrap="square" lIns="0" tIns="0" rIns="0" bIns="0">
            <a:spAutoFit/>
          </a:bodyPr>
          <a:lstStyle>
            <a:lvl1pPr>
              <a:defRPr sz="2150" b="1" i="0">
                <a:solidFill>
                  <a:srgbClr val="231F20"/>
                </a:solidFill>
                <a:latin typeface="Arial"/>
                <a:cs typeface="Arial"/>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sz="half" idx="2"/>
          </p:nvPr>
        </p:nvSpPr>
        <p:spPr>
          <a:xfrm>
            <a:off x="457200" y="1367028"/>
            <a:ext cx="3977640" cy="39227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5300" y="830562"/>
            <a:ext cx="2907665" cy="995044"/>
          </a:xfrm>
          <a:prstGeom prst="rect">
            <a:avLst/>
          </a:prstGeom>
        </p:spPr>
        <p:txBody>
          <a:bodyPr wrap="square" lIns="0" tIns="0" rIns="0" bIns="0">
            <a:spAutoFit/>
          </a:bodyPr>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a:xfrm>
            <a:off x="1217940" y="1414945"/>
            <a:ext cx="6708119" cy="1580514"/>
          </a:xfrm>
          <a:prstGeom prst="rect">
            <a:avLst/>
          </a:prstGeom>
        </p:spPr>
        <p:txBody>
          <a:bodyPr wrap="square" lIns="0" tIns="0" rIns="0" bIns="0">
            <a:spAutoFit/>
          </a:bodyPr>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a:xfrm>
            <a:off x="3108960" y="5527548"/>
            <a:ext cx="2926080" cy="2971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11/6/2025</a:t>
            </a:fld>
            <a:endParaRPr lang="en-US" dirty="0"/>
          </a:p>
        </p:txBody>
      </p:sp>
      <p:sp>
        <p:nvSpPr>
          <p:cNvPr id="6" name="Holder 6"/>
          <p:cNvSpPr>
            <a:spLocks noGrp="1"/>
          </p:cNvSpPr>
          <p:nvPr>
            <p:ph type="sldNum" sz="quarter" idx="7"/>
          </p:nvPr>
        </p:nvSpPr>
        <p:spPr>
          <a:xfrm>
            <a:off x="6583680" y="5527548"/>
            <a:ext cx="2103120" cy="2971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0.xml"/><Relationship Id="rId7" Type="http://schemas.openxmlformats.org/officeDocument/2006/relationships/image" Target="../media/image3.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hyperlink" Target="https://bytebytego.com/courses/system-design-interview/back-of-the-envelope-estimation" TargetMode="Externa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xml.rels><?xml version="1.0" encoding="UTF-8" standalone="yes"?>
<Relationships xmlns="http://schemas.openxmlformats.org/package/2006/relationships"><Relationship Id="rId8" Type="http://schemas.openxmlformats.org/officeDocument/2006/relationships/hyperlink" Target="https://www.linkedin.com/posts/arpitbhayani_careergrowth-activity-7272461615583649792-venm/?utm_source=share&amp;utm_medium=member_desktop" TargetMode="External"/><Relationship Id="rId3" Type="http://schemas.openxmlformats.org/officeDocument/2006/relationships/diagramLayout" Target="../diagrams/layout18.xml"/><Relationship Id="rId7" Type="http://schemas.openxmlformats.org/officeDocument/2006/relationships/hyperlink" Target="https://www.linkedin.com/pulse/estimation-prioritization-agile-safe-framework-samir/" TargetMode="Externa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9.xml.rels><?xml version="1.0" encoding="UTF-8" standalone="yes"?>
<Relationships xmlns="http://schemas.openxmlformats.org/package/2006/relationships"><Relationship Id="rId8" Type="http://schemas.openxmlformats.org/officeDocument/2006/relationships/hyperlink" Target="https://www.visual-paradigm.com/guide/uml-unified-modeling-language/what-is-component-diagram/" TargetMode="External"/><Relationship Id="rId3" Type="http://schemas.openxmlformats.org/officeDocument/2006/relationships/diagramLayout" Target="../diagrams/layout19.xml"/><Relationship Id="rId7" Type="http://schemas.openxmlformats.org/officeDocument/2006/relationships/hyperlink" Target="https://www.differencebetween.com/difference-between-use-case-diagram-and-activity-diagram/" TargetMode="Externa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 Id="rId9" Type="http://schemas.openxmlformats.org/officeDocument/2006/relationships/hyperlink" Target="https://www.lucidchart.com/pages/uml-class-diagram"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www.milanjovanovic.tech/blog/visualize-your-software-architecture-with-the-c4-model" TargetMode="External"/><Relationship Id="rId3" Type="http://schemas.openxmlformats.org/officeDocument/2006/relationships/diagramLayout" Target="../diagrams/layout20.xml"/><Relationship Id="rId7" Type="http://schemas.openxmlformats.org/officeDocument/2006/relationships/hyperlink" Target="https://www.geeksforgeeks.org/difference-between-sequence-diagram-and-collaboration-diagram/" TargetMode="Externa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10" Type="http://schemas.openxmlformats.org/officeDocument/2006/relationships/hyperlink" Target="https://en.wikipedia.org/wiki/ArchiMate" TargetMode="External"/><Relationship Id="rId4" Type="http://schemas.openxmlformats.org/officeDocument/2006/relationships/diagramQuickStyle" Target="../diagrams/quickStyle20.xml"/><Relationship Id="rId9" Type="http://schemas.openxmlformats.org/officeDocument/2006/relationships/hyperlink" Target="https://www.bpmn.org/" TargetMode="Externa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3.xml.rels><?xml version="1.0" encoding="UTF-8" standalone="yes"?>
<Relationships xmlns="http://schemas.openxmlformats.org/package/2006/relationships"><Relationship Id="rId8" Type="http://schemas.openxmlformats.org/officeDocument/2006/relationships/hyperlink" Target="https://modeling-languages.com/text-uml-tools-complete-list/" TargetMode="External"/><Relationship Id="rId13" Type="http://schemas.openxmlformats.org/officeDocument/2006/relationships/hyperlink" Target="https://www.youtube.com/watch?v=MiZLwBsuEgw" TargetMode="External"/><Relationship Id="rId3" Type="http://schemas.openxmlformats.org/officeDocument/2006/relationships/diagramLayout" Target="../diagrams/layout23.xml"/><Relationship Id="rId7" Type="http://schemas.openxmlformats.org/officeDocument/2006/relationships/hyperlink" Target="https://awesome-architecture.com/modeling/modeling/" TargetMode="External"/><Relationship Id="rId12" Type="http://schemas.openxmlformats.org/officeDocument/2006/relationships/hyperlink" Target="https://stackoverflow.com/questions/1714438/are-there-good-tools-for-c-sharp-reverse-engineering" TargetMode="Externa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11" Type="http://schemas.openxmlformats.org/officeDocument/2006/relationships/hyperlink" Target="https://github.com/likec4/likec4" TargetMode="External"/><Relationship Id="rId5" Type="http://schemas.openxmlformats.org/officeDocument/2006/relationships/diagramColors" Target="../diagrams/colors23.xml"/><Relationship Id="rId15" Type="http://schemas.openxmlformats.org/officeDocument/2006/relationships/hyperlink" Target="https://www.copilot.live/blog/how-to-use-github-copilot" TargetMode="External"/><Relationship Id="rId10" Type="http://schemas.openxmlformats.org/officeDocument/2006/relationships/hyperlink" Target="https://www.linkedin.com/pulse/software-architecture-as-code-rajesh-verma/" TargetMode="External"/><Relationship Id="rId4" Type="http://schemas.openxmlformats.org/officeDocument/2006/relationships/diagramQuickStyle" Target="../diagrams/quickStyle23.xml"/><Relationship Id="rId9" Type="http://schemas.openxmlformats.org/officeDocument/2006/relationships/hyperlink" Target="https://architectelevator.com/cloud/iac-architecture-as-code/" TargetMode="External"/><Relationship Id="rId14" Type="http://schemas.openxmlformats.org/officeDocument/2006/relationships/hyperlink" Target="https://www.linkedin.com/posts/bibryam_from-diagram-to-code-with-amazon-q-developer-activity-7285402085947236352-P8z-/" TargetMode="Externa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5.xml.rels><?xml version="1.0" encoding="UTF-8" standalone="yes"?>
<Relationships xmlns="http://schemas.openxmlformats.org/package/2006/relationships"><Relationship Id="rId8" Type="http://schemas.openxmlformats.org/officeDocument/2006/relationships/hyperlink" Target="https://www.workingsoftware.dev/software-architecture-documentation-the-ultimate-guide/" TargetMode="External"/><Relationship Id="rId13" Type="http://schemas.openxmlformats.org/officeDocument/2006/relationships/hyperlink" Target="https://www.atlassian.com/software/confluence/templates/software-architecture-review" TargetMode="External"/><Relationship Id="rId18" Type="http://schemas.openxmlformats.org/officeDocument/2006/relationships/hyperlink" Target="https://www.packtpub.com/en-in/product/practical-model-driven-enterprise-architecture-9781801076166" TargetMode="External"/><Relationship Id="rId3" Type="http://schemas.openxmlformats.org/officeDocument/2006/relationships/diagramLayout" Target="../diagrams/layout25.xml"/><Relationship Id="rId7" Type="http://schemas.openxmlformats.org/officeDocument/2006/relationships/hyperlink" Target="https://newsletter.techworld-with-milan.com/p/documenting-software-architectures" TargetMode="External"/><Relationship Id="rId12" Type="http://schemas.openxmlformats.org/officeDocument/2006/relationships/hyperlink" Target="https://github.com/aretecode/system-design-templates-excalidraw" TargetMode="External"/><Relationship Id="rId17" Type="http://schemas.openxmlformats.org/officeDocument/2006/relationships/hyperlink" Target="https://www.oreilly.com/library/view/communication-patterns/9781098140533/" TargetMode="External"/><Relationship Id="rId2" Type="http://schemas.openxmlformats.org/officeDocument/2006/relationships/diagramData" Target="../diagrams/data25.xml"/><Relationship Id="rId16" Type="http://schemas.openxmlformats.org/officeDocument/2006/relationships/hyperlink" Target="https://www.udemy.com/course/enterprise-architecture-how-to-design-models-diagrams/?couponCode=NVDIN35" TargetMode="External"/><Relationship Id="rId1" Type="http://schemas.openxmlformats.org/officeDocument/2006/relationships/slideLayout" Target="../slideLayouts/slideLayout2.xml"/><Relationship Id="rId6" Type="http://schemas.microsoft.com/office/2007/relationships/diagramDrawing" Target="../diagrams/drawing25.xml"/><Relationship Id="rId11" Type="http://schemas.openxmlformats.org/officeDocument/2006/relationships/hyperlink" Target="https://theopenarch.com/writing-an-effective-end-to-end-high-level-design/" TargetMode="External"/><Relationship Id="rId5" Type="http://schemas.openxmlformats.org/officeDocument/2006/relationships/diagramColors" Target="../diagrams/colors25.xml"/><Relationship Id="rId15" Type="http://schemas.openxmlformats.org/officeDocument/2006/relationships/hyperlink" Target="https://github.com/joelparkerhenderson/architecture-decision-record" TargetMode="External"/><Relationship Id="rId10" Type="http://schemas.openxmlformats.org/officeDocument/2006/relationships/hyperlink" Target="https://tech.forums.softwareag.com/t/i-am-looking-high-level-design-template-which-i-can-use-in-my-project/280773" TargetMode="External"/><Relationship Id="rId19" Type="http://schemas.openxmlformats.org/officeDocument/2006/relationships/hyperlink" Target="https://www.oreilly.com/library/view/modeling-enterprise-architecture/9780124199842/" TargetMode="External"/><Relationship Id="rId4" Type="http://schemas.openxmlformats.org/officeDocument/2006/relationships/diagramQuickStyle" Target="../diagrams/quickStyle25.xml"/><Relationship Id="rId9" Type="http://schemas.openxmlformats.org/officeDocument/2006/relationships/hyperlink" Target="https://github.com/bflorat/architecture-document-template" TargetMode="External"/><Relationship Id="rId14" Type="http://schemas.openxmlformats.org/officeDocument/2006/relationships/hyperlink" Target="https://github.com/thepracticaldeveloper/practical-architecture"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github.com/debasishg/frdomain" TargetMode="External"/><Relationship Id="rId3" Type="http://schemas.openxmlformats.org/officeDocument/2006/relationships/diagramLayout" Target="../diagrams/layout26.xml"/><Relationship Id="rId7" Type="http://schemas.openxmlformats.org/officeDocument/2006/relationships/hyperlink" Target="https://awesome-architecture.com/architectural-design-principles/architectural-design-principles/" TargetMode="Externa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10" Type="http://schemas.openxmlformats.org/officeDocument/2006/relationships/hyperlink" Target="https://www.amazon.in/Reactive-Messaging-Patterns-Actor-Model-ebook/dp/B011S8YC5G?ref_=ast_author_dp" TargetMode="External"/><Relationship Id="rId4" Type="http://schemas.openxmlformats.org/officeDocument/2006/relationships/diagramQuickStyle" Target="../diagrams/quickStyle26.xml"/><Relationship Id="rId9" Type="http://schemas.openxmlformats.org/officeDocument/2006/relationships/hyperlink" Target="https://www.reactivedesignpatterns.com/"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medium.com/@alex.wauters/how-to-make-architecture-trade-off-decisions-cb23482e1dfe" TargetMode="External"/><Relationship Id="rId3" Type="http://schemas.openxmlformats.org/officeDocument/2006/relationships/diagramLayout" Target="../diagrams/layout27.xml"/><Relationship Id="rId7" Type="http://schemas.openxmlformats.org/officeDocument/2006/relationships/hyperlink" Target="https://www.geeksforgeeks.org/architecture-tradeoff-analysis-method-atam/" TargetMode="Externa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 Id="rId9" Type="http://schemas.openxmlformats.org/officeDocument/2006/relationships/hyperlink" Target="https://www.linkedin.com/advice/0/how-do-you-evaluate-communicate-trade-offs"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www.milanjovanovic.tech/blog/enforcing-software-architecture-with-architecture-tests" TargetMode="External"/><Relationship Id="rId13" Type="http://schemas.openxmlformats.org/officeDocument/2006/relationships/hyperlink" Target="https://github.com/evolutionary-architecture/evolutionary-architecture-by-example" TargetMode="External"/><Relationship Id="rId18" Type="http://schemas.openxmlformats.org/officeDocument/2006/relationships/hyperlink" Target="https://www.oreilly.com/library/view/software-architecture-metrics/9781098112226/" TargetMode="External"/><Relationship Id="rId3" Type="http://schemas.openxmlformats.org/officeDocument/2006/relationships/diagramLayout" Target="../diagrams/layout28.xml"/><Relationship Id="rId21" Type="http://schemas.openxmlformats.org/officeDocument/2006/relationships/hyperlink" Target="https://arturwierzbicki.notion.site/Designing-Software-Architectures-notes-787dac4f3ac7454bbb2bafb96119e17b" TargetMode="External"/><Relationship Id="rId7" Type="http://schemas.openxmlformats.org/officeDocument/2006/relationships/hyperlink" Target="https://www.thoughtworks.com/insights/articles/fitness-function-driven-development" TargetMode="External"/><Relationship Id="rId12" Type="http://schemas.openxmlformats.org/officeDocument/2006/relationships/hyperlink" Target="https://gist.github.com/scottwd9/ada88f963aac95893e1eba10d4ad8f6d" TargetMode="External"/><Relationship Id="rId17" Type="http://schemas.openxmlformats.org/officeDocument/2006/relationships/hyperlink" Target="https://evolutionaryarchitecture.com/resources/" TargetMode="External"/><Relationship Id="rId2" Type="http://schemas.openxmlformats.org/officeDocument/2006/relationships/diagramData" Target="../diagrams/data28.xml"/><Relationship Id="rId16" Type="http://schemas.openxmlformats.org/officeDocument/2006/relationships/hyperlink" Target="https://lethain.com/building-evolutionary-architectures/" TargetMode="External"/><Relationship Id="rId20" Type="http://schemas.openxmlformats.org/officeDocument/2006/relationships/hyperlink" Target="https://medium.com/oolooroo/metrics-for-software-architects-and-designers-25b736a17a99" TargetMode="External"/><Relationship Id="rId1" Type="http://schemas.openxmlformats.org/officeDocument/2006/relationships/slideLayout" Target="../slideLayouts/slideLayout2.xml"/><Relationship Id="rId6" Type="http://schemas.microsoft.com/office/2007/relationships/diagramDrawing" Target="../diagrams/drawing28.xml"/><Relationship Id="rId11" Type="http://schemas.openxmlformats.org/officeDocument/2006/relationships/hyperlink" Target="https://pragprog.com/titles/mkdsa/design-it/" TargetMode="External"/><Relationship Id="rId5" Type="http://schemas.openxmlformats.org/officeDocument/2006/relationships/diagramColors" Target="../diagrams/colors28.xml"/><Relationship Id="rId15" Type="http://schemas.openxmlformats.org/officeDocument/2006/relationships/hyperlink" Target="https://sodkiewiczm.medium.com/geek-read-building-evolutionary-architectures-2nd-edition-5f500f395dbb" TargetMode="External"/><Relationship Id="rId23" Type="http://schemas.openxmlformats.org/officeDocument/2006/relationships/hyperlink" Target="https://www.linkedin.com/posts/gkcs_system-design-tradeoff-series-1-an-introduction-activity-7207432736918118400-aQ4y/" TargetMode="External"/><Relationship Id="rId10" Type="http://schemas.openxmlformats.org/officeDocument/2006/relationships/hyperlink" Target="https://www.oreilly.com/library/view/semantic-software-design/9781492045946/app01.html" TargetMode="External"/><Relationship Id="rId19" Type="http://schemas.openxmlformats.org/officeDocument/2006/relationships/hyperlink" Target="https://github.com/csjcode/solutions-architect-metrics-cheatsheet" TargetMode="External"/><Relationship Id="rId4" Type="http://schemas.openxmlformats.org/officeDocument/2006/relationships/diagramQuickStyle" Target="../diagrams/quickStyle28.xml"/><Relationship Id="rId9" Type="http://schemas.openxmlformats.org/officeDocument/2006/relationships/hyperlink" Target="https://www.softwarearchitecturebook.com/resources/" TargetMode="External"/><Relationship Id="rId14" Type="http://schemas.openxmlformats.org/officeDocument/2006/relationships/hyperlink" Target="https://pablo-iorio.medium.com/evolutionary-architectures-fe5a1c6f93ab" TargetMode="External"/><Relationship Id="rId22" Type="http://schemas.openxmlformats.org/officeDocument/2006/relationships/hyperlink" Target="https://www.linkedin.com/posts/gkcs_system-design-tradeoff-series-1-an-introduction-activity-7207432736918118400-aQ4y" TargetMode="Externa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8.xml"/><Relationship Id="rId7" Type="http://schemas.microsoft.com/office/2007/relationships/diagramDrawing" Target="../diagrams/drawing3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8.xml"/><Relationship Id="rId5" Type="http://schemas.openxmlformats.org/officeDocument/2006/relationships/diagramQuickStyle" Target="../diagrams/quickStyle38.xml"/><Relationship Id="rId4" Type="http://schemas.openxmlformats.org/officeDocument/2006/relationships/diagramLayout" Target="../diagrams/layout38.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40.xml.rels><?xml version="1.0" encoding="UTF-8" standalone="yes"?>
<Relationships xmlns="http://schemas.openxmlformats.org/package/2006/relationships"><Relationship Id="rId8" Type="http://schemas.openxmlformats.org/officeDocument/2006/relationships/hyperlink" Target="https://www.linkedin.com/pulse/day-one-enterprise-architect-vivek-srivastava--iq5tc/" TargetMode="External"/><Relationship Id="rId13" Type="http://schemas.openxmlformats.org/officeDocument/2006/relationships/hyperlink" Target="https://www.udemy.com/course/the-practice-of-enterprise-architecture-part-iii/?couponCode=LOCLZDOFFPINTRMT#instructor-1" TargetMode="External"/><Relationship Id="rId18" Type="http://schemas.openxmlformats.org/officeDocument/2006/relationships/hyperlink" Target="https://joerg-go.medium.com/togaf-quick-guide-855a3b0eb339" TargetMode="External"/><Relationship Id="rId3" Type="http://schemas.openxmlformats.org/officeDocument/2006/relationships/diagramData" Target="../diagrams/data40.xml"/><Relationship Id="rId21" Type="http://schemas.openxmlformats.org/officeDocument/2006/relationships/hyperlink" Target="https://eawheel.com/" TargetMode="External"/><Relationship Id="rId7" Type="http://schemas.microsoft.com/office/2007/relationships/diagramDrawing" Target="../diagrams/drawing40.xml"/><Relationship Id="rId12" Type="http://schemas.openxmlformats.org/officeDocument/2006/relationships/hyperlink" Target="https://www.udemy.com/course/practical-solution-architecture/?srsltid=AfmBOop0-SWxT3A3tPCnilJ7kJsOt5ndxhRBtEjw26CWfrU4fee6O9sY" TargetMode="External"/><Relationship Id="rId17" Type="http://schemas.openxmlformats.org/officeDocument/2006/relationships/hyperlink" Target="https://www.amazon.in/Enterprise-Architecture-Work-Communication-Engineering/dp/3662571692/ref=sr_1_3" TargetMode="External"/><Relationship Id="rId25" Type="http://schemas.openxmlformats.org/officeDocument/2006/relationships/hyperlink" Target="https://www.oreilly.com/library/view/technology-strategy-patterns/9781492040866/" TargetMode="External"/><Relationship Id="rId2" Type="http://schemas.openxmlformats.org/officeDocument/2006/relationships/notesSlide" Target="../notesSlides/notesSlide12.xml"/><Relationship Id="rId16" Type="http://schemas.openxmlformats.org/officeDocument/2006/relationships/hyperlink" Target="https://www.enterprisedesignpatterns.com/" TargetMode="External"/><Relationship Id="rId20" Type="http://schemas.openxmlformats.org/officeDocument/2006/relationships/hyperlink" Target="https://link.springer.com/book/10.1007/978-1-4842-4306-0" TargetMode="External"/><Relationship Id="rId1" Type="http://schemas.openxmlformats.org/officeDocument/2006/relationships/slideLayout" Target="../slideLayouts/slideLayout2.xml"/><Relationship Id="rId6" Type="http://schemas.openxmlformats.org/officeDocument/2006/relationships/diagramColors" Target="../diagrams/colors40.xml"/><Relationship Id="rId11" Type="http://schemas.openxmlformats.org/officeDocument/2006/relationships/hyperlink" Target="https://www.udemy.com/course/togaf-10-practitioner/?couponCode=LEARNNOWPLANS" TargetMode="External"/><Relationship Id="rId24" Type="http://schemas.openxmlformats.org/officeDocument/2006/relationships/hyperlink" Target="https://www.packtpub.com/en-in/product/realize-enterprise-architecture-with-aws-and-safe-9781801812078" TargetMode="External"/><Relationship Id="rId5" Type="http://schemas.openxmlformats.org/officeDocument/2006/relationships/diagramQuickStyle" Target="../diagrams/quickStyle40.xml"/><Relationship Id="rId15" Type="http://schemas.openxmlformats.org/officeDocument/2006/relationships/hyperlink" Target="https://www.leanix.net/en/wiki/ea/enterprise-architecture-governance" TargetMode="External"/><Relationship Id="rId23" Type="http://schemas.openxmlformats.org/officeDocument/2006/relationships/hyperlink" Target="https://conexiam.com/enterprise-architecture/free-resources/" TargetMode="External"/><Relationship Id="rId10" Type="http://schemas.openxmlformats.org/officeDocument/2006/relationships/hyperlink" Target="https://www.udemy.com/course/togaf-training-part2/?couponCode=LEARNNOWPLANS" TargetMode="External"/><Relationship Id="rId19" Type="http://schemas.openxmlformats.org/officeDocument/2006/relationships/hyperlink" Target="https://www.linkedin.com/pulse/developing-cloudgaf-tailored-togaf-framework-cloud-adoption-cvswe/" TargetMode="External"/><Relationship Id="rId4" Type="http://schemas.openxmlformats.org/officeDocument/2006/relationships/diagramLayout" Target="../diagrams/layout40.xml"/><Relationship Id="rId9" Type="http://schemas.openxmlformats.org/officeDocument/2006/relationships/hyperlink" Target="https://www.udemy.com/course/togaf10-part1/?couponCode=LEARNNOWPLANS" TargetMode="External"/><Relationship Id="rId14" Type="http://schemas.openxmlformats.org/officeDocument/2006/relationships/hyperlink" Target="https://www.udemy.com/course/enterprise-architecture-by-example/" TargetMode="External"/><Relationship Id="rId22" Type="http://schemas.openxmlformats.org/officeDocument/2006/relationships/hyperlink" Target="https://www.oreilly.com/library/view/fundamentals-of-enterprise/9781098159368/"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www.quora.com/Is-ASP-NET-MVC-a-framework-architecture-or-a-design-pattern" TargetMode="External"/><Relationship Id="rId3" Type="http://schemas.openxmlformats.org/officeDocument/2006/relationships/diagramLayout" Target="../diagrams/layout41.xml"/><Relationship Id="rId7" Type="http://schemas.openxmlformats.org/officeDocument/2006/relationships/image" Target="../media/image5.png"/><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 Id="rId9" Type="http://schemas.openxmlformats.org/officeDocument/2006/relationships/hyperlink" Target="https://www.linkedin.com/feed/update/urn:li:activity:7216040846343766016/" TargetMode="External"/></Relationships>
</file>

<file path=ppt/slides/_rels/slide42.xml.rels><?xml version="1.0" encoding="UTF-8" standalone="yes"?>
<Relationships xmlns="http://schemas.openxmlformats.org/package/2006/relationships"><Relationship Id="rId8" Type="http://schemas.openxmlformats.org/officeDocument/2006/relationships/hyperlink" Target="https://awesome-architecture.com/modular-monolith/" TargetMode="External"/><Relationship Id="rId3" Type="http://schemas.openxmlformats.org/officeDocument/2006/relationships/diagramLayout" Target="../diagrams/layout42.xml"/><Relationship Id="rId7" Type="http://schemas.openxmlformats.org/officeDocument/2006/relationships/image" Target="../media/image6.png"/><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3.xml"/><Relationship Id="rId7" Type="http://schemas.openxmlformats.org/officeDocument/2006/relationships/image" Target="../media/image7.png"/><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4.xml"/><Relationship Id="rId7" Type="http://schemas.openxmlformats.org/officeDocument/2006/relationships/image" Target="../media/image8.png"/><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hyperlink" Target="https://cloud.spring.io/spring-cloud-zookeeper/1.2.x/multi/multi_spring-cloud-zookeeper-discovery.html" TargetMode="External"/><Relationship Id="rId3" Type="http://schemas.openxmlformats.org/officeDocument/2006/relationships/diagramData" Target="../diagrams/data45.xml"/><Relationship Id="rId7" Type="http://schemas.microsoft.com/office/2007/relationships/diagramDrawing" Target="../diagrams/drawing45.xml"/><Relationship Id="rId12" Type="http://schemas.openxmlformats.org/officeDocument/2006/relationships/hyperlink" Target="https://zipkin.io/pages/architecture.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5.xml"/><Relationship Id="rId11" Type="http://schemas.openxmlformats.org/officeDocument/2006/relationships/hyperlink" Target="https://github.com/Apress/practical-microservices-architectural-patterns" TargetMode="External"/><Relationship Id="rId5" Type="http://schemas.openxmlformats.org/officeDocument/2006/relationships/diagramQuickStyle" Target="../diagrams/quickStyle45.xml"/><Relationship Id="rId10" Type="http://schemas.openxmlformats.org/officeDocument/2006/relationships/hyperlink" Target="https://github.com/PacktPublishing/Microservices-with-Spring-Boot-and-Spring-Cloud-Third-Edition" TargetMode="External"/><Relationship Id="rId4" Type="http://schemas.openxmlformats.org/officeDocument/2006/relationships/diagramLayout" Target="../diagrams/layout45.xml"/><Relationship Id="rId9" Type="http://schemas.openxmlformats.org/officeDocument/2006/relationships/hyperlink" Target="https://github.com/bhuvnesharya/Perfect-Roadmap-To-Learn-Java-SpringBoot-In-2024" TargetMode="External"/><Relationship Id="rId14" Type="http://schemas.openxmlformats.org/officeDocument/2006/relationships/hyperlink" Target="https://learn.microsoft.com/en-us/dotnet/core/extensions/service-discovery?tabs=dotnet-cli" TargetMode="External"/></Relationships>
</file>

<file path=ppt/slides/_rels/slide46.xml.rels><?xml version="1.0" encoding="UTF-8" standalone="yes"?>
<Relationships xmlns="http://schemas.openxmlformats.org/package/2006/relationships"><Relationship Id="rId8" Type="http://schemas.openxmlformats.org/officeDocument/2006/relationships/hyperlink" Target="https://medium.com/riskified-technology/message-broker-vs-event-broker-when-to-use-each-one-of-them-15597320a8ba" TargetMode="External"/><Relationship Id="rId13" Type="http://schemas.openxmlformats.org/officeDocument/2006/relationships/hyperlink" Target="https://learn.microsoft.com/en-us/azure/service-bus-messaging/service-bus-amqp-protocol-guide" TargetMode="External"/><Relationship Id="rId3" Type="http://schemas.openxmlformats.org/officeDocument/2006/relationships/diagramLayout" Target="../diagrams/layout46.xml"/><Relationship Id="rId7" Type="http://schemas.openxmlformats.org/officeDocument/2006/relationships/image" Target="../media/image10.png"/><Relationship Id="rId12" Type="http://schemas.openxmlformats.org/officeDocument/2006/relationships/hyperlink" Target="https://learn.microsoft.com/en-us/azure/service-bus-messaging/service-bus-async-messaging" TargetMode="Externa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11" Type="http://schemas.openxmlformats.org/officeDocument/2006/relationships/hyperlink" Target="https://learn.microsoft.com/en-us/azure/service-bus-messaging/service-bus-performance-improvements?tabs=net-standard-sdk-2" TargetMode="External"/><Relationship Id="rId5" Type="http://schemas.openxmlformats.org/officeDocument/2006/relationships/diagramColors" Target="../diagrams/colors46.xml"/><Relationship Id="rId10" Type="http://schemas.openxmlformats.org/officeDocument/2006/relationships/hyperlink" Target="https://learn.microsoft.com/en-us/azure/service-bus-messaging/service-bus-queues-topics-subscriptions" TargetMode="External"/><Relationship Id="rId4" Type="http://schemas.openxmlformats.org/officeDocument/2006/relationships/diagramQuickStyle" Target="../diagrams/quickStyle46.xml"/><Relationship Id="rId9" Type="http://schemas.openxmlformats.org/officeDocument/2006/relationships/hyperlink" Target="https://x.com/bytebytego/status/1726861680880304638" TargetMode="External"/><Relationship Id="rId14" Type="http://schemas.openxmlformats.org/officeDocument/2006/relationships/hyperlink" Target="https://www.rabbitmq.com/tutorials/amqp-concepts" TargetMode="External"/></Relationships>
</file>

<file path=ppt/slides/_rels/slide47.xml.rels><?xml version="1.0" encoding="UTF-8" standalone="yes"?>
<Relationships xmlns="http://schemas.openxmlformats.org/package/2006/relationships"><Relationship Id="rId8" Type="http://schemas.openxmlformats.org/officeDocument/2006/relationships/hyperlink" Target="https://www.syncfusion.com/succinctly-free-ebooks/aspnet-webhooks-succinctly" TargetMode="External"/><Relationship Id="rId3" Type="http://schemas.openxmlformats.org/officeDocument/2006/relationships/diagramLayout" Target="../diagrams/layout47.xml"/><Relationship Id="rId7" Type="http://schemas.openxmlformats.org/officeDocument/2006/relationships/hyperlink" Target="https://medium.com/ballerina-techblog/event-driven-apis-with-webhook-and-websub-83b0834f08f3" TargetMode="Externa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 Id="rId9" Type="http://schemas.openxmlformats.org/officeDocument/2006/relationships/image" Target="../media/image11.png"/></Relationships>
</file>

<file path=ppt/slides/_rels/slide48.xml.rels><?xml version="1.0" encoding="UTF-8" standalone="yes"?>
<Relationships xmlns="http://schemas.openxmlformats.org/package/2006/relationships"><Relationship Id="rId8" Type="http://schemas.openxmlformats.org/officeDocument/2006/relationships/hyperlink" Target="https://www.enterpriseintegrationpatterns.com/" TargetMode="External"/><Relationship Id="rId3" Type="http://schemas.openxmlformats.org/officeDocument/2006/relationships/diagramLayout" Target="../diagrams/layout48.xml"/><Relationship Id="rId7" Type="http://schemas.openxmlformats.org/officeDocument/2006/relationships/image" Target="../media/image12.gif"/><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11" Type="http://schemas.openxmlformats.org/officeDocument/2006/relationships/hyperlink" Target="https://aws.amazon.com/blogs/compute/implementing-enterprise-integration-patterns-with-aws-messaging-services-point-to-point-channels/" TargetMode="External"/><Relationship Id="rId5" Type="http://schemas.openxmlformats.org/officeDocument/2006/relationships/diagramColors" Target="../diagrams/colors48.xml"/><Relationship Id="rId10" Type="http://schemas.openxmlformats.org/officeDocument/2006/relationships/hyperlink" Target="https://pacodelacruz.io/enterprise-integration-patterns-on-azure-intro" TargetMode="External"/><Relationship Id="rId4" Type="http://schemas.openxmlformats.org/officeDocument/2006/relationships/diagramQuickStyle" Target="../diagrams/quickStyle48.xml"/><Relationship Id="rId9" Type="http://schemas.openxmlformats.org/officeDocument/2006/relationships/hyperlink" Target="https://learn.microsoft.com/en-us/dotnet/framework/wcf/extending/choosing-a-message-exchange-pattern" TargetMode="External"/></Relationships>
</file>

<file path=ppt/slides/_rels/slide4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Layout" Target="../diagrams/layout49.xml"/><Relationship Id="rId7" Type="http://schemas.openxmlformats.org/officeDocument/2006/relationships/hyperlink" Target="https://www.techtarget.com/searchcloudcomputing/definition/iPaaS-integration-platform-as-a-service" TargetMode="External"/><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50.xml"/><Relationship Id="rId7" Type="http://schemas.openxmlformats.org/officeDocument/2006/relationships/image" Target="../media/image14.png"/><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53.xml.rels><?xml version="1.0" encoding="UTF-8" standalone="yes"?>
<Relationships xmlns="http://schemas.openxmlformats.org/package/2006/relationships"><Relationship Id="rId8" Type="http://schemas.openxmlformats.org/officeDocument/2006/relationships/hyperlink" Target="https://github.com/sclark01/Swift_VIPER_Demo" TargetMode="External"/><Relationship Id="rId3" Type="http://schemas.openxmlformats.org/officeDocument/2006/relationships/diagramLayout" Target="../diagrams/layout53.xml"/><Relationship Id="rId7" Type="http://schemas.openxmlformats.org/officeDocument/2006/relationships/hyperlink" Target="https://github.com/PacktPublishing/MVVM-pattern-.NET-MAUI" TargetMode="External"/><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 Id="rId9" Type="http://schemas.openxmlformats.org/officeDocument/2006/relationships/hyperlink" Target="https://github.com/strongself/The-Book-of-VIPER" TargetMode="External"/></Relationships>
</file>

<file path=ppt/slides/_rels/slide5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54.xml"/><Relationship Id="rId7" Type="http://schemas.openxmlformats.org/officeDocument/2006/relationships/hyperlink" Target="https://awesome-architecture.com/hexagonal-architecture/" TargetMode="External"/><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5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55.xml"/><Relationship Id="rId7" Type="http://schemas.openxmlformats.org/officeDocument/2006/relationships/hyperlink" Target="https://awesome-architecture.com/onion-architecture/" TargetMode="External"/><Relationship Id="rId2" Type="http://schemas.openxmlformats.org/officeDocument/2006/relationships/diagramData" Target="../diagrams/data55.xml"/><Relationship Id="rId1" Type="http://schemas.openxmlformats.org/officeDocument/2006/relationships/slideLayout" Target="../slideLayouts/slideLayout2.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56.xml.rels><?xml version="1.0" encoding="UTF-8" standalone="yes"?>
<Relationships xmlns="http://schemas.openxmlformats.org/package/2006/relationships"><Relationship Id="rId8" Type="http://schemas.openxmlformats.org/officeDocument/2006/relationships/hyperlink" Target="https://www.milanjovanovic.tech/pragmatic-clean-architecture" TargetMode="External"/><Relationship Id="rId3" Type="http://schemas.openxmlformats.org/officeDocument/2006/relationships/diagramLayout" Target="../diagrams/layout56.xml"/><Relationship Id="rId7" Type="http://schemas.openxmlformats.org/officeDocument/2006/relationships/image" Target="../media/image17.jpeg"/><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10" Type="http://schemas.openxmlformats.org/officeDocument/2006/relationships/hyperlink" Target="https://www.linkedin.com/posts/goeleven_hexagonal-clean-onion-whats-the-difference-activity-7285626885605130240-5c76/" TargetMode="External"/><Relationship Id="rId4" Type="http://schemas.openxmlformats.org/officeDocument/2006/relationships/diagramQuickStyle" Target="../diagrams/quickStyle56.xml"/><Relationship Id="rId9" Type="http://schemas.openxmlformats.org/officeDocument/2006/relationships/hyperlink" Target="https://awesome-architecture.com/clean-architecture/" TargetMode="External"/></Relationships>
</file>

<file path=ppt/slides/_rels/slide57.xml.rels><?xml version="1.0" encoding="UTF-8" standalone="yes"?>
<Relationships xmlns="http://schemas.openxmlformats.org/package/2006/relationships"><Relationship Id="rId8" Type="http://schemas.openxmlformats.org/officeDocument/2006/relationships/hyperlink" Target="https://awesome-architecture.com/vertical-slice-architecture/" TargetMode="External"/><Relationship Id="rId3" Type="http://schemas.openxmlformats.org/officeDocument/2006/relationships/diagramLayout" Target="../diagrams/layout57.xml"/><Relationship Id="rId7" Type="http://schemas.openxmlformats.org/officeDocument/2006/relationships/hyperlink" Target="https://www.milanjovanovic.tech/blog/vertical-slice-architecture" TargetMode="External"/><Relationship Id="rId2" Type="http://schemas.openxmlformats.org/officeDocument/2006/relationships/diagramData" Target="../diagrams/data57.xml"/><Relationship Id="rId1" Type="http://schemas.openxmlformats.org/officeDocument/2006/relationships/slideLayout" Target="../slideLayouts/slideLayout2.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 Id="rId9" Type="http://schemas.openxmlformats.org/officeDocument/2006/relationships/image" Target="../media/image18.jpeg"/></Relationships>
</file>

<file path=ppt/slides/_rels/slide58.xml.rels><?xml version="1.0" encoding="UTF-8" standalone="yes"?>
<Relationships xmlns="http://schemas.openxmlformats.org/package/2006/relationships"><Relationship Id="rId8" Type="http://schemas.openxmlformats.org/officeDocument/2006/relationships/hyperlink" Target="https://medium.com/@mishraabhinn/understanding-domain-objects-entities-dtos-and-models-in-c-207bb5c1d97c" TargetMode="External"/><Relationship Id="rId3" Type="http://schemas.openxmlformats.org/officeDocument/2006/relationships/diagramLayout" Target="../diagrams/layout58.xml"/><Relationship Id="rId7" Type="http://schemas.openxmlformats.org/officeDocument/2006/relationships/hyperlink" Target="https://github.com/sandipray63in/DDD-Based-Enterprise-Application-Framework" TargetMode="External"/><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10" Type="http://schemas.openxmlformats.org/officeDocument/2006/relationships/hyperlink" Target="https://awesome-architecture.com/event-driven-architecture/" TargetMode="External"/><Relationship Id="rId4" Type="http://schemas.openxmlformats.org/officeDocument/2006/relationships/diagramQuickStyle" Target="../diagrams/quickStyle58.xml"/><Relationship Id="rId9" Type="http://schemas.openxmlformats.org/officeDocument/2006/relationships/hyperlink" Target="https://awesome-architecture.com/domain-driven-design/domain-driven-design/" TargetMode="External"/></Relationships>
</file>

<file path=ppt/slides/_rels/slide59.xml.rels><?xml version="1.0" encoding="UTF-8" standalone="yes"?>
<Relationships xmlns="http://schemas.openxmlformats.org/package/2006/relationships"><Relationship Id="rId8" Type="http://schemas.openxmlformats.org/officeDocument/2006/relationships/hyperlink" Target="https://learn.microsoft.com/en-us/dotnet/architecture/microservices/microservice-ddd-cqrs-patterns/apply-simplified-microservice-cqrs-ddd-patterns" TargetMode="External"/><Relationship Id="rId3" Type="http://schemas.openxmlformats.org/officeDocument/2006/relationships/diagramLayout" Target="../diagrams/layout59.xml"/><Relationship Id="rId7" Type="http://schemas.openxmlformats.org/officeDocument/2006/relationships/image" Target="../media/image19.png"/><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 Id="rId9" Type="http://schemas.openxmlformats.org/officeDocument/2006/relationships/hyperlink" Target="https://awesome-architecture.com/cqrs/" TargetMode="External"/></Relationships>
</file>

<file path=ppt/slides/_rels/slide60.xml.rels><?xml version="1.0" encoding="UTF-8" standalone="yes"?>
<Relationships xmlns="http://schemas.openxmlformats.org/package/2006/relationships"><Relationship Id="rId8" Type="http://schemas.openxmlformats.org/officeDocument/2006/relationships/hyperlink" Target="https://awesome-architecture.com/modeling/event-storming/" TargetMode="External"/><Relationship Id="rId3" Type="http://schemas.openxmlformats.org/officeDocument/2006/relationships/diagramLayout" Target="../diagrams/layout60.xml"/><Relationship Id="rId7" Type="http://schemas.openxmlformats.org/officeDocument/2006/relationships/image" Target="../media/image20.png"/><Relationship Id="rId2" Type="http://schemas.openxmlformats.org/officeDocument/2006/relationships/diagramData" Target="../diagrams/data60.xml"/><Relationship Id="rId1" Type="http://schemas.openxmlformats.org/officeDocument/2006/relationships/slideLayout" Target="../slideLayouts/slideLayout2.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 Id="rId9" Type="http://schemas.openxmlformats.org/officeDocument/2006/relationships/hyperlink" Target="https://awesome-architecture.com/event-sourcing/" TargetMode="External"/></Relationships>
</file>

<file path=ppt/slides/_rels/slide61.xml.rels><?xml version="1.0" encoding="UTF-8" standalone="yes"?>
<Relationships xmlns="http://schemas.openxmlformats.org/package/2006/relationships"><Relationship Id="rId8" Type="http://schemas.openxmlformats.org/officeDocument/2006/relationships/hyperlink" Target="https://martinfowler.com/eaaDev/" TargetMode="External"/><Relationship Id="rId3" Type="http://schemas.openxmlformats.org/officeDocument/2006/relationships/diagramLayout" Target="../diagrams/layout61.xml"/><Relationship Id="rId7" Type="http://schemas.openxmlformats.org/officeDocument/2006/relationships/hyperlink" Target="https://martinfowler.com/eaaCatalog/" TargetMode="External"/><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5" Type="http://schemas.openxmlformats.org/officeDocument/2006/relationships/diagramColors" Target="../diagrams/colors61.xml"/><Relationship Id="rId10" Type="http://schemas.openxmlformats.org/officeDocument/2006/relationships/hyperlink" Target="https://dotnet.microsoft.com/en-us/learn/dotnet/architecture-guides" TargetMode="External"/><Relationship Id="rId4" Type="http://schemas.openxmlformats.org/officeDocument/2006/relationships/diagramQuickStyle" Target="../diagrams/quickStyle61.xml"/><Relationship Id="rId9" Type="http://schemas.openxmlformats.org/officeDocument/2006/relationships/hyperlink" Target="http://www.corej2eepatterns.com/" TargetMode="External"/></Relationships>
</file>

<file path=ppt/slides/_rels/slide62.xml.rels><?xml version="1.0" encoding="UTF-8" standalone="yes"?>
<Relationships xmlns="http://schemas.openxmlformats.org/package/2006/relationships"><Relationship Id="rId8" Type="http://schemas.openxmlformats.org/officeDocument/2006/relationships/hyperlink" Target="https://aws.amazon.com/compare/the-difference-between-microservices-and-apis/" TargetMode="External"/><Relationship Id="rId3" Type="http://schemas.openxmlformats.org/officeDocument/2006/relationships/diagramLayout" Target="../diagrams/layout62.xml"/><Relationship Id="rId7" Type="http://schemas.openxmlformats.org/officeDocument/2006/relationships/hyperlink" Target="https://awesome-architecture.com/microservices/microservices/" TargetMode="External"/><Relationship Id="rId2" Type="http://schemas.openxmlformats.org/officeDocument/2006/relationships/diagramData" Target="../diagrams/data62.xml"/><Relationship Id="rId1" Type="http://schemas.openxmlformats.org/officeDocument/2006/relationships/slideLayout" Target="../slideLayouts/slideLayout2.xml"/><Relationship Id="rId6" Type="http://schemas.microsoft.com/office/2007/relationships/diagramDrawing" Target="../diagrams/drawing62.xml"/><Relationship Id="rId5" Type="http://schemas.openxmlformats.org/officeDocument/2006/relationships/diagramColors" Target="../diagrams/colors62.xml"/><Relationship Id="rId10" Type="http://schemas.openxmlformats.org/officeDocument/2006/relationships/image" Target="../media/image21.png"/><Relationship Id="rId4" Type="http://schemas.openxmlformats.org/officeDocument/2006/relationships/diagramQuickStyle" Target="../diagrams/quickStyle62.xml"/><Relationship Id="rId9" Type="http://schemas.openxmlformats.org/officeDocument/2006/relationships/hyperlink" Target="https://www.goodreads.com/book/show/28241543-microservices-vs-service-oriented-architecture" TargetMode="Externa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hyperlink" Target="https://thecodeman.net/posts/repr-pattern" TargetMode="External"/><Relationship Id="rId13" Type="http://schemas.openxmlformats.org/officeDocument/2006/relationships/hyperlink" Target="https://christianhelle.com/2023/03/refitter.html" TargetMode="External"/><Relationship Id="rId18" Type="http://schemas.openxmlformats.org/officeDocument/2006/relationships/hyperlink" Target="https://stackoverflow.com/questions/16958448/what-is-http-multipart-request" TargetMode="External"/><Relationship Id="rId3" Type="http://schemas.openxmlformats.org/officeDocument/2006/relationships/hyperlink" Target="https://roadmap.sh/api-design" TargetMode="External"/><Relationship Id="rId7" Type="http://schemas.openxmlformats.org/officeDocument/2006/relationships/hyperlink" Target="https://dret.github.io/guidelines/" TargetMode="External"/><Relationship Id="rId12" Type="http://schemas.openxmlformats.org/officeDocument/2006/relationships/hyperlink" Target="https://github.com/reactiveui/refit" TargetMode="External"/><Relationship Id="rId17" Type="http://schemas.openxmlformats.org/officeDocument/2006/relationships/hyperlink" Target="https://www.tutorialspoint.com/difference-between-streaming-and-downloading" TargetMode="External"/><Relationship Id="rId2" Type="http://schemas.openxmlformats.org/officeDocument/2006/relationships/hyperlink" Target="https://stackoverflow.com/questions/51429617/http-requests-body-vs-param-vs-headers-vs-data" TargetMode="External"/><Relationship Id="rId16" Type="http://schemas.openxmlformats.org/officeDocument/2006/relationships/hyperlink" Target="https://code-maze.com/hateoas-aspnet-core-web-api/" TargetMode="External"/><Relationship Id="rId1" Type="http://schemas.openxmlformats.org/officeDocument/2006/relationships/slideLayout" Target="../slideLayouts/slideLayout2.xml"/><Relationship Id="rId6" Type="http://schemas.openxmlformats.org/officeDocument/2006/relationships/hyperlink" Target="https://www.oreilly.com/library/view/mastering-api-architecture/9781492090625/" TargetMode="External"/><Relationship Id="rId11" Type="http://schemas.openxmlformats.org/officeDocument/2006/relationships/hyperlink" Target="https://jwt.io/" TargetMode="External"/><Relationship Id="rId5" Type="http://schemas.openxmlformats.org/officeDocument/2006/relationships/hyperlink" Target="https://www.milanjovanovic.tech/blog/functional-error-handling-in-dotnet-with-the-result-pattern" TargetMode="External"/><Relationship Id="rId15" Type="http://schemas.openxmlformats.org/officeDocument/2006/relationships/hyperlink" Target="https://martinfowler.com/articles/richardsonMaturityModel.html" TargetMode="External"/><Relationship Id="rId10" Type="http://schemas.openxmlformats.org/officeDocument/2006/relationships/hyperlink" Target="https://www.syncfusion.com/succinctly-free-ebooks?category=all&amp;searchkey=Simone%20Chiaretta&amp;type=all" TargetMode="External"/><Relationship Id="rId4" Type="http://schemas.openxmlformats.org/officeDocument/2006/relationships/hyperlink" Target="https://microservice-api-patterns.org/" TargetMode="External"/><Relationship Id="rId9" Type="http://schemas.openxmlformats.org/officeDocument/2006/relationships/hyperlink" Target="https://github.com/frankPairs/api-design-patterns-notes" TargetMode="External"/><Relationship Id="rId14" Type="http://schemas.openxmlformats.org/officeDocument/2006/relationships/hyperlink" Target="https://stackoverflow.com/questions/58612052/refit-client-using-a-dynamic-base-address" TargetMode="External"/></Relationships>
</file>

<file path=ppt/slides/_rels/slide65.xml.rels><?xml version="1.0" encoding="UTF-8" standalone="yes"?>
<Relationships xmlns="http://schemas.openxmlformats.org/package/2006/relationships"><Relationship Id="rId8" Type="http://schemas.openxmlformats.org/officeDocument/2006/relationships/hyperlink" Target="https://www.codemag.com/Article/2307051/Building-Microservices-Architecture-Using-GraphQL-and-ASP.NET-7-Core" TargetMode="External"/><Relationship Id="rId13" Type="http://schemas.openxmlformats.org/officeDocument/2006/relationships/hyperlink" Target="https://www.packtpub.com/en-in/product/enterprise-api-management-9781787284432" TargetMode="External"/><Relationship Id="rId3" Type="http://schemas.openxmlformats.org/officeDocument/2006/relationships/hyperlink" Target="https://stackoverflow.com/questions/1556911/multipart-downloading-in-c" TargetMode="External"/><Relationship Id="rId7" Type="http://schemas.openxmlformats.org/officeDocument/2006/relationships/hyperlink" Target="https://www.linkedin.com/posts/raul-junco_graphql-solves-the-%3F%3F%3F%3F%3F%3F%3F%3F%3F-%3F-activity-7120036391098437632-Jbp-/" TargetMode="External"/><Relationship Id="rId12" Type="http://schemas.openxmlformats.org/officeDocument/2006/relationships/hyperlink" Target="https://www.packtpub.com/en-in/product/microservices-communication-in-net-using-grpc-9781803249520" TargetMode="External"/><Relationship Id="rId2" Type="http://schemas.openxmlformats.org/officeDocument/2006/relationships/hyperlink" Target="https://stackoverflow.com/questions/19954287/how-to-upload-file-to-server-with-http-post-multipart-form-data" TargetMode="External"/><Relationship Id="rId1" Type="http://schemas.openxmlformats.org/officeDocument/2006/relationships/slideLayout" Target="../slideLayouts/slideLayout2.xml"/><Relationship Id="rId6" Type="http://schemas.openxmlformats.org/officeDocument/2006/relationships/hyperlink" Target="https://www.darrenhorrocks.co.uk/comparing-graphql-odata/" TargetMode="External"/><Relationship Id="rId11" Type="http://schemas.openxmlformats.org/officeDocument/2006/relationships/hyperlink" Target="https://www.infoworld.com/article/2259813/how-to-build-grpc-applications-in-aspnet-core.html" TargetMode="External"/><Relationship Id="rId5" Type="http://schemas.openxmlformats.org/officeDocument/2006/relationships/hyperlink" Target="https://newsletter.techworld-with-milan.com/p/when-to-use-graphql-grpc-and-rest" TargetMode="External"/><Relationship Id="rId15" Type="http://schemas.openxmlformats.org/officeDocument/2006/relationships/hyperlink" Target="https://github.com/DFE-Digital/eapim-platform-api" TargetMode="External"/><Relationship Id="rId10" Type="http://schemas.openxmlformats.org/officeDocument/2006/relationships/hyperlink" Target="https://www.linkedin.com/posts/adnan-maqbool-khan-0b4531a1_rest-vs-grpc-activity-7185185027700236288-CXf2/" TargetMode="External"/><Relationship Id="rId4" Type="http://schemas.openxmlformats.org/officeDocument/2006/relationships/hyperlink" Target="https://roadmap.sh/graphql" TargetMode="External"/><Relationship Id="rId9" Type="http://schemas.openxmlformats.org/officeDocument/2006/relationships/hyperlink" Target="https://chillicream.com/docs/hotchocolate/v13/server" TargetMode="External"/><Relationship Id="rId14" Type="http://schemas.openxmlformats.org/officeDocument/2006/relationships/hyperlink" Target="https://link.springer.com/book/10.1007/979-8-8688-0054-2" TargetMode="External"/></Relationships>
</file>

<file path=ppt/slides/_rels/slide66.xml.rels><?xml version="1.0" encoding="UTF-8" standalone="yes"?>
<Relationships xmlns="http://schemas.openxmlformats.org/package/2006/relationships"><Relationship Id="rId8" Type="http://schemas.openxmlformats.org/officeDocument/2006/relationships/hyperlink" Target="https://www.geeksforgeeks.org/python/documenting-graphql-apis-with-swagger/" TargetMode="External"/><Relationship Id="rId13" Type="http://schemas.microsoft.com/office/2007/relationships/diagramDrawing" Target="../diagrams/drawing63.xml"/><Relationship Id="rId3" Type="http://schemas.openxmlformats.org/officeDocument/2006/relationships/hyperlink" Target="https://medium.com/commencis/contract-first-api-development-with-openapi-generator-and-connexion-b21bbf2f9244" TargetMode="External"/><Relationship Id="rId7" Type="http://schemas.openxmlformats.org/officeDocument/2006/relationships/hyperlink" Target="https://github.com/RicoSuter/NSwag" TargetMode="External"/><Relationship Id="rId12" Type="http://schemas.openxmlformats.org/officeDocument/2006/relationships/diagramColors" Target="../diagrams/colors63.xml"/><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hyperlink" Target="https://github.com/mattfrear/Swashbuckle.Examples" TargetMode="External"/><Relationship Id="rId11" Type="http://schemas.openxmlformats.org/officeDocument/2006/relationships/diagramQuickStyle" Target="../diagrams/quickStyle63.xml"/><Relationship Id="rId5" Type="http://schemas.openxmlformats.org/officeDocument/2006/relationships/hyperlink" Target="https://www.manning.com/books/contract-testing-in-action" TargetMode="External"/><Relationship Id="rId10" Type="http://schemas.openxmlformats.org/officeDocument/2006/relationships/diagramLayout" Target="../diagrams/layout63.xml"/><Relationship Id="rId4" Type="http://schemas.openxmlformats.org/officeDocument/2006/relationships/hyperlink" Target="https://openapi.tools/" TargetMode="External"/><Relationship Id="rId9" Type="http://schemas.openxmlformats.org/officeDocument/2006/relationships/diagramData" Target="../diagrams/data63.xml"/></Relationships>
</file>

<file path=ppt/slides/_rels/slide67.xml.rels><?xml version="1.0" encoding="UTF-8" standalone="yes"?>
<Relationships xmlns="http://schemas.openxmlformats.org/package/2006/relationships"><Relationship Id="rId8" Type="http://schemas.openxmlformats.org/officeDocument/2006/relationships/diagramQuickStyle" Target="../diagrams/quickStyle64.xml"/><Relationship Id="rId3" Type="http://schemas.openxmlformats.org/officeDocument/2006/relationships/hyperlink" Target="https://www.tatvasoft.com/blog/different-methods-of-api-versioning-routing-in-asp-net-core/" TargetMode="External"/><Relationship Id="rId7" Type="http://schemas.openxmlformats.org/officeDocument/2006/relationships/diagramLayout" Target="../diagrams/layout64.xml"/><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diagramData" Target="../diagrams/data64.xml"/><Relationship Id="rId5" Type="http://schemas.openxmlformats.org/officeDocument/2006/relationships/hyperlink" Target="https://dzone.com/articles/api-versioning-approach-with-aws-api-gateway" TargetMode="External"/><Relationship Id="rId10" Type="http://schemas.microsoft.com/office/2007/relationships/diagramDrawing" Target="../diagrams/drawing64.xml"/><Relationship Id="rId4" Type="http://schemas.openxmlformats.org/officeDocument/2006/relationships/hyperlink" Target="https://www.linkedin.com/posts/sina-riyahi_backend-fullstack-developer-activity-7250805172837203969-QTxU/" TargetMode="External"/><Relationship Id="rId9" Type="http://schemas.openxmlformats.org/officeDocument/2006/relationships/diagramColors" Target="../diagrams/colors64.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65.xml"/><Relationship Id="rId7" Type="http://schemas.microsoft.com/office/2007/relationships/diagramDrawing" Target="../diagrams/drawing65.xml"/><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diagramColors" Target="../diagrams/colors65.xml"/><Relationship Id="rId5" Type="http://schemas.openxmlformats.org/officeDocument/2006/relationships/diagramQuickStyle" Target="../diagrams/quickStyle65.xml"/><Relationship Id="rId4" Type="http://schemas.openxmlformats.org/officeDocument/2006/relationships/diagramLayout" Target="../diagrams/layout65.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66.xml"/><Relationship Id="rId7" Type="http://schemas.microsoft.com/office/2007/relationships/diagramDrawing" Target="../diagrams/drawing66.xml"/><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diagramColors" Target="../diagrams/colors66.xml"/><Relationship Id="rId5" Type="http://schemas.openxmlformats.org/officeDocument/2006/relationships/diagramQuickStyle" Target="../diagrams/quickStyle66.xml"/><Relationship Id="rId4" Type="http://schemas.openxmlformats.org/officeDocument/2006/relationships/diagramLayout" Target="../diagrams/layout66.xml"/></Relationships>
</file>

<file path=ppt/slides/_rels/slide70.xml.rels><?xml version="1.0" encoding="UTF-8" standalone="yes"?>
<Relationships xmlns="http://schemas.openxmlformats.org/package/2006/relationships"><Relationship Id="rId8" Type="http://schemas.openxmlformats.org/officeDocument/2006/relationships/hyperlink" Target="https://www.freecodecamp.org/news/idempotency-in-http-methods/" TargetMode="External"/><Relationship Id="rId3" Type="http://schemas.openxmlformats.org/officeDocument/2006/relationships/diagramData" Target="../diagrams/data67.xml"/><Relationship Id="rId7" Type="http://schemas.microsoft.com/office/2007/relationships/diagramDrawing" Target="../diagrams/drawing67.xml"/><Relationship Id="rId2" Type="http://schemas.openxmlformats.org/officeDocument/2006/relationships/image" Target="../media/image27.gif"/><Relationship Id="rId1" Type="http://schemas.openxmlformats.org/officeDocument/2006/relationships/slideLayout" Target="../slideLayouts/slideLayout2.xml"/><Relationship Id="rId6" Type="http://schemas.openxmlformats.org/officeDocument/2006/relationships/diagramColors" Target="../diagrams/colors67.xml"/><Relationship Id="rId11" Type="http://schemas.openxmlformats.org/officeDocument/2006/relationships/hyperlink" Target="https://learn.microsoft.com/en-us/azure/service-bus-messaging/duplicate-detection" TargetMode="External"/><Relationship Id="rId5" Type="http://schemas.openxmlformats.org/officeDocument/2006/relationships/diagramQuickStyle" Target="../diagrams/quickStyle67.xml"/><Relationship Id="rId10" Type="http://schemas.openxmlformats.org/officeDocument/2006/relationships/hyperlink" Target="https://www.cockroachlabs.com/blog/idempotency-and-ordering-in-event-driven-systems/" TargetMode="External"/><Relationship Id="rId4" Type="http://schemas.openxmlformats.org/officeDocument/2006/relationships/diagramLayout" Target="../diagrams/layout67.xml"/><Relationship Id="rId9" Type="http://schemas.openxmlformats.org/officeDocument/2006/relationships/hyperlink" Target="https://www.linkedin.com/posts/raul-junco_how-many-ways-to-implement-idempotency-do-activity-7284922024202829824-1QSu/"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prashanthpanduranga.wordpress.com/2015/03/25/inevitability-of-multi-tenancy-saas-in-product-engineering/" TargetMode="External"/><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hyperlink" Target="https://github.com/microsoft/commercial-marketplace-client-dotnet" TargetMode="External"/><Relationship Id="rId5" Type="http://schemas.openxmlformats.org/officeDocument/2006/relationships/hyperlink" Target="https://www.amazon.in/Building-Multi-Tenant-SaaS-Architectures-Golding-ebook/dp/B0CW1HLHSP/ref=tmm_kin_swatch_0" TargetMode="External"/><Relationship Id="rId4" Type="http://schemas.openxmlformats.org/officeDocument/2006/relationships/hyperlink" Target="https://www.syncfusion.com/succinctly-free-ebooks/aspnet-multitenant-applications-succinctly"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kubernetes.io/docs/concepts/security/multi-tenancy/" TargetMode="External"/><Relationship Id="rId2" Type="http://schemas.openxmlformats.org/officeDocument/2006/relationships/hyperlink" Target="https://www.vamsitalkstech.com/architecture/kubernetes-multitenancy-best-practices-architecture-models-2-2/" TargetMode="Externa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hyperlink" Target="https://www.cncf.io/blog/2022/11/09/multi-tenancy-in-kubernetes-implementation-and-optimization/" TargetMode="External"/></Relationships>
</file>

<file path=ppt/slides/_rels/slide73.xml.rels><?xml version="1.0" encoding="UTF-8" standalone="yes"?>
<Relationships xmlns="http://schemas.openxmlformats.org/package/2006/relationships"><Relationship Id="rId8" Type="http://schemas.openxmlformats.org/officeDocument/2006/relationships/hyperlink" Target="https://cloud.google.com/architecture/microservices-architecture-refactoring-monoliths" TargetMode="External"/><Relationship Id="rId3" Type="http://schemas.openxmlformats.org/officeDocument/2006/relationships/diagramLayout" Target="../diagrams/layout68.xml"/><Relationship Id="rId7" Type="http://schemas.openxmlformats.org/officeDocument/2006/relationships/image" Target="../media/image30.gif"/><Relationship Id="rId2" Type="http://schemas.openxmlformats.org/officeDocument/2006/relationships/diagramData" Target="../diagrams/data68.xml"/><Relationship Id="rId1" Type="http://schemas.openxmlformats.org/officeDocument/2006/relationships/slideLayout" Target="../slideLayouts/slideLayout2.xml"/><Relationship Id="rId6" Type="http://schemas.microsoft.com/office/2007/relationships/diagramDrawing" Target="../diagrams/drawing68.xml"/><Relationship Id="rId5" Type="http://schemas.openxmlformats.org/officeDocument/2006/relationships/diagramColors" Target="../diagrams/colors68.xml"/><Relationship Id="rId4" Type="http://schemas.openxmlformats.org/officeDocument/2006/relationships/diagramQuickStyle" Target="../diagrams/quickStyle68.xml"/><Relationship Id="rId9" Type="http://schemas.openxmlformats.org/officeDocument/2006/relationships/hyperlink" Target="https://priyalwalpita.medium.com/monolith-to-microservices-migration-patters-a9e32d5adc9a" TargetMode="External"/></Relationships>
</file>

<file path=ppt/slides/_rels/slide74.xml.rels><?xml version="1.0" encoding="UTF-8" standalone="yes"?>
<Relationships xmlns="http://schemas.openxmlformats.org/package/2006/relationships"><Relationship Id="rId8" Type="http://schemas.openxmlformats.org/officeDocument/2006/relationships/hyperlink" Target="https://github.com/mehdihadeli/awesome-software-architecture/blob/main/docs/cloud-design-patterns/cloud-design-patterns.md" TargetMode="External"/><Relationship Id="rId3" Type="http://schemas.openxmlformats.org/officeDocument/2006/relationships/diagramLayout" Target="../diagrams/layout69.xml"/><Relationship Id="rId7" Type="http://schemas.openxmlformats.org/officeDocument/2006/relationships/image" Target="../media/image31.png"/><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75.xml.rels><?xml version="1.0" encoding="UTF-8" standalone="yes"?>
<Relationships xmlns="http://schemas.openxmlformats.org/package/2006/relationships"><Relationship Id="rId8" Type="http://schemas.openxmlformats.org/officeDocument/2006/relationships/hyperlink" Target="https://github.com/prayagupa/SOA" TargetMode="External"/><Relationship Id="rId13" Type="http://schemas.openxmlformats.org/officeDocument/2006/relationships/hyperlink" Target="https://www.linkedin.com/pulse/service-discovery-microservices-c-net-amir-doosti/" TargetMode="External"/><Relationship Id="rId18" Type="http://schemas.openxmlformats.org/officeDocument/2006/relationships/hyperlink" Target="https://learn.microsoft.com/en-us/azure/azure-functions/durable/durable-functions-cloud-backup?tabs=csharp" TargetMode="External"/><Relationship Id="rId3" Type="http://schemas.openxmlformats.org/officeDocument/2006/relationships/diagramLayout" Target="../diagrams/layout70.xml"/><Relationship Id="rId21" Type="http://schemas.openxmlformats.org/officeDocument/2006/relationships/hyperlink" Target="https://link.springer.com/book/10.1007/978-1-4842-7226-8" TargetMode="External"/><Relationship Id="rId7" Type="http://schemas.openxmlformats.org/officeDocument/2006/relationships/hyperlink" Target="https://microservices.io/patterns/" TargetMode="External"/><Relationship Id="rId12" Type="http://schemas.openxmlformats.org/officeDocument/2006/relationships/hyperlink" Target="https://kubernetes.io/docs/concepts/services-networking/" TargetMode="External"/><Relationship Id="rId17" Type="http://schemas.openxmlformats.org/officeDocument/2006/relationships/hyperlink" Target="https://www.getambassador.io/blog/microservices-discovery-api-gateway-vs-service-mesh" TargetMode="External"/><Relationship Id="rId2" Type="http://schemas.openxmlformats.org/officeDocument/2006/relationships/diagramData" Target="../diagrams/data70.xml"/><Relationship Id="rId16" Type="http://schemas.openxmlformats.org/officeDocument/2006/relationships/hyperlink" Target="https://www.techtarget.com/searchitoperations/definition/service-mesh" TargetMode="External"/><Relationship Id="rId20" Type="http://schemas.openxmlformats.org/officeDocument/2006/relationships/hyperlink" Target="https://www.linkedin.com/posts/juan-manuel-cubillos-avellaneda_design-patterns-used-across-different-software-activity-7144012408208986112-sBPR/" TargetMode="External"/><Relationship Id="rId1" Type="http://schemas.openxmlformats.org/officeDocument/2006/relationships/slideLayout" Target="../slideLayouts/slideLayout2.xml"/><Relationship Id="rId6" Type="http://schemas.microsoft.com/office/2007/relationships/diagramDrawing" Target="../diagrams/drawing70.xml"/><Relationship Id="rId11" Type="http://schemas.openxmlformats.org/officeDocument/2006/relationships/hyperlink" Target="https://kubernetes.io/docs/concepts/overview/components/" TargetMode="External"/><Relationship Id="rId5" Type="http://schemas.openxmlformats.org/officeDocument/2006/relationships/diagramColors" Target="../diagrams/colors70.xml"/><Relationship Id="rId15" Type="http://schemas.openxmlformats.org/officeDocument/2006/relationships/hyperlink" Target="https://learn.microsoft.com/en-us/shows/on-dotnet/dave-tillman-and-zach-brown-resilient-microservices-with-steeltoe" TargetMode="External"/><Relationship Id="rId10" Type="http://schemas.openxmlformats.org/officeDocument/2006/relationships/hyperlink" Target="https://github.com/Netflix/ribbon" TargetMode="External"/><Relationship Id="rId19" Type="http://schemas.openxmlformats.org/officeDocument/2006/relationships/hyperlink" Target="https://www.oreilly.com/library/view/design-patterns-for/9781492090700/" TargetMode="External"/><Relationship Id="rId4" Type="http://schemas.openxmlformats.org/officeDocument/2006/relationships/diagramQuickStyle" Target="../diagrams/quickStyle70.xml"/><Relationship Id="rId9" Type="http://schemas.openxmlformats.org/officeDocument/2006/relationships/hyperlink" Target="https://medium.com/@skpallewatta92/microservices-with-netflix-oss-spring-boot-and-non-jvm-applications-2d762768921a" TargetMode="External"/><Relationship Id="rId14" Type="http://schemas.openxmlformats.org/officeDocument/2006/relationships/hyperlink" Target="https://learn.microsoft.com/en-us/shows/on-dotnet/net-microservices-with-steeltoe" TargetMode="External"/><Relationship Id="rId22" Type="http://schemas.openxmlformats.org/officeDocument/2006/relationships/hyperlink" Target="https://www.linkedin.com/feed/update/urn:li:activity:7223921187465150465/" TargetMode="Externa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71.xml"/><Relationship Id="rId7" Type="http://schemas.openxmlformats.org/officeDocument/2006/relationships/image" Target="../media/image32.jpeg"/><Relationship Id="rId2" Type="http://schemas.openxmlformats.org/officeDocument/2006/relationships/diagramData" Target="../diagrams/data71.xml"/><Relationship Id="rId1" Type="http://schemas.openxmlformats.org/officeDocument/2006/relationships/slideLayout" Target="../slideLayouts/slideLayout2.xml"/><Relationship Id="rId6" Type="http://schemas.microsoft.com/office/2007/relationships/diagramDrawing" Target="../diagrams/drawing71.xml"/><Relationship Id="rId5" Type="http://schemas.openxmlformats.org/officeDocument/2006/relationships/diagramColors" Target="../diagrams/colors71.xml"/><Relationship Id="rId4" Type="http://schemas.openxmlformats.org/officeDocument/2006/relationships/diagramQuickStyle" Target="../diagrams/quickStyle71.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72.xml"/><Relationship Id="rId7" Type="http://schemas.openxmlformats.org/officeDocument/2006/relationships/image" Target="../media/image33.png"/><Relationship Id="rId2" Type="http://schemas.openxmlformats.org/officeDocument/2006/relationships/diagramData" Target="../diagrams/data72.xml"/><Relationship Id="rId1" Type="http://schemas.openxmlformats.org/officeDocument/2006/relationships/slideLayout" Target="../slideLayouts/slideLayout2.xml"/><Relationship Id="rId6" Type="http://schemas.microsoft.com/office/2007/relationships/diagramDrawing" Target="../diagrams/drawing72.xml"/><Relationship Id="rId5" Type="http://schemas.openxmlformats.org/officeDocument/2006/relationships/diagramColors" Target="../diagrams/colors72.xml"/><Relationship Id="rId4" Type="http://schemas.openxmlformats.org/officeDocument/2006/relationships/diagramQuickStyle" Target="../diagrams/quickStyle72.xml"/></Relationships>
</file>

<file path=ppt/slides/_rels/slide78.xml.rels><?xml version="1.0" encoding="UTF-8" standalone="yes"?>
<Relationships xmlns="http://schemas.openxmlformats.org/package/2006/relationships"><Relationship Id="rId8" Type="http://schemas.openxmlformats.org/officeDocument/2006/relationships/hyperlink" Target="https://www.educative.io/courses/grokking-the-system-design-interview/introduction-to-domain-name-system-dns" TargetMode="External"/><Relationship Id="rId3" Type="http://schemas.openxmlformats.org/officeDocument/2006/relationships/diagramLayout" Target="../diagrams/layout73.xml"/><Relationship Id="rId7" Type="http://schemas.openxmlformats.org/officeDocument/2006/relationships/hyperlink" Target="https://stackoverflow.com/questions/6527229/how-do-i-change-the-hosts-file-in-a-windows-program" TargetMode="External"/><Relationship Id="rId2" Type="http://schemas.openxmlformats.org/officeDocument/2006/relationships/diagramData" Target="../diagrams/data73.xml"/><Relationship Id="rId1" Type="http://schemas.openxmlformats.org/officeDocument/2006/relationships/slideLayout" Target="../slideLayouts/slideLayout2.xml"/><Relationship Id="rId6" Type="http://schemas.microsoft.com/office/2007/relationships/diagramDrawing" Target="../diagrams/drawing73.xml"/><Relationship Id="rId5" Type="http://schemas.openxmlformats.org/officeDocument/2006/relationships/diagramColors" Target="../diagrams/colors73.xml"/><Relationship Id="rId10" Type="http://schemas.openxmlformats.org/officeDocument/2006/relationships/hyperlink" Target="https://www.linkedin.com/posts/imashishmishra_dns-nameservers-howinternetworks-activity-7206120472265060354-sT-H/" TargetMode="External"/><Relationship Id="rId4" Type="http://schemas.openxmlformats.org/officeDocument/2006/relationships/diagramQuickStyle" Target="../diagrams/quickStyle73.xml"/><Relationship Id="rId9" Type="http://schemas.openxmlformats.org/officeDocument/2006/relationships/hyperlink" Target="https://www.educative.io/courses/grokking-the-system-design-interview/how-the-domain-name-system-works" TargetMode="Externa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74.xml"/><Relationship Id="rId7" Type="http://schemas.openxmlformats.org/officeDocument/2006/relationships/image" Target="../media/image34.png"/><Relationship Id="rId2" Type="http://schemas.openxmlformats.org/officeDocument/2006/relationships/diagramData" Target="../diagrams/data74.xml"/><Relationship Id="rId1" Type="http://schemas.openxmlformats.org/officeDocument/2006/relationships/slideLayout" Target="../slideLayouts/slideLayout2.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75.xml"/><Relationship Id="rId2" Type="http://schemas.openxmlformats.org/officeDocument/2006/relationships/diagramData" Target="../diagrams/data75.xml"/><Relationship Id="rId1" Type="http://schemas.openxmlformats.org/officeDocument/2006/relationships/slideLayout" Target="../slideLayouts/slideLayout2.xml"/><Relationship Id="rId6" Type="http://schemas.microsoft.com/office/2007/relationships/diagramDrawing" Target="../diagrams/drawing75.xml"/><Relationship Id="rId5" Type="http://schemas.openxmlformats.org/officeDocument/2006/relationships/diagramColors" Target="../diagrams/colors75.xml"/><Relationship Id="rId4" Type="http://schemas.openxmlformats.org/officeDocument/2006/relationships/diagramQuickStyle" Target="../diagrams/quickStyle75.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76.xml"/><Relationship Id="rId2" Type="http://schemas.openxmlformats.org/officeDocument/2006/relationships/diagramData" Target="../diagrams/data76.xml"/><Relationship Id="rId1" Type="http://schemas.openxmlformats.org/officeDocument/2006/relationships/slideLayout" Target="../slideLayouts/slideLayout2.xml"/><Relationship Id="rId6" Type="http://schemas.microsoft.com/office/2007/relationships/diagramDrawing" Target="../diagrams/drawing76.xml"/><Relationship Id="rId5" Type="http://schemas.openxmlformats.org/officeDocument/2006/relationships/diagramColors" Target="../diagrams/colors76.xml"/><Relationship Id="rId4" Type="http://schemas.openxmlformats.org/officeDocument/2006/relationships/diagramQuickStyle" Target="../diagrams/quickStyle76.xml"/></Relationships>
</file>

<file path=ppt/slides/_rels/slide8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diagramLayout" Target="../diagrams/layout77.xml"/><Relationship Id="rId7" Type="http://schemas.openxmlformats.org/officeDocument/2006/relationships/image" Target="../media/image35.png"/><Relationship Id="rId2" Type="http://schemas.openxmlformats.org/officeDocument/2006/relationships/diagramData" Target="../diagrams/data77.xml"/><Relationship Id="rId1" Type="http://schemas.openxmlformats.org/officeDocument/2006/relationships/slideLayout" Target="../slideLayouts/slideLayout2.xml"/><Relationship Id="rId6" Type="http://schemas.microsoft.com/office/2007/relationships/diagramDrawing" Target="../diagrams/drawing77.xml"/><Relationship Id="rId5" Type="http://schemas.openxmlformats.org/officeDocument/2006/relationships/diagramColors" Target="../diagrams/colors77.xml"/><Relationship Id="rId10" Type="http://schemas.openxmlformats.org/officeDocument/2006/relationships/image" Target="../media/image38.png"/><Relationship Id="rId4" Type="http://schemas.openxmlformats.org/officeDocument/2006/relationships/diagramQuickStyle" Target="../diagrams/quickStyle77.xml"/><Relationship Id="rId9" Type="http://schemas.openxmlformats.org/officeDocument/2006/relationships/image" Target="../media/image37.png"/></Relationships>
</file>

<file path=ppt/slides/_rels/slide8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diagramLayout" Target="../diagrams/layout78.xml"/><Relationship Id="rId7" Type="http://schemas.openxmlformats.org/officeDocument/2006/relationships/hyperlink" Target="https://www.linkedin.com/posts/brijpandeyji_the-top-12-load-balancing-techniques-to-keep-activity-7101526263709716481-a9-Q/?trk=public_profile_like_view" TargetMode="External"/><Relationship Id="rId2" Type="http://schemas.openxmlformats.org/officeDocument/2006/relationships/diagramData" Target="../diagrams/data78.xml"/><Relationship Id="rId1" Type="http://schemas.openxmlformats.org/officeDocument/2006/relationships/slideLayout" Target="../slideLayouts/slideLayout2.xml"/><Relationship Id="rId6" Type="http://schemas.microsoft.com/office/2007/relationships/diagramDrawing" Target="../diagrams/drawing78.xml"/><Relationship Id="rId5" Type="http://schemas.openxmlformats.org/officeDocument/2006/relationships/diagramColors" Target="../diagrams/colors78.xml"/><Relationship Id="rId4" Type="http://schemas.openxmlformats.org/officeDocument/2006/relationships/diagramQuickStyle" Target="../diagrams/quickStyle78.xml"/></Relationships>
</file>

<file path=ppt/slides/_rels/slide84.xml.rels><?xml version="1.0" encoding="UTF-8" standalone="yes"?>
<Relationships xmlns="http://schemas.openxmlformats.org/package/2006/relationships"><Relationship Id="rId8" Type="http://schemas.openxmlformats.org/officeDocument/2006/relationships/hyperlink" Target="https://systemsarchitect.io/docs/requirements/systems/services/load-balancer/choices" TargetMode="External"/><Relationship Id="rId13" Type="http://schemas.openxmlformats.org/officeDocument/2006/relationships/hyperlink" Target="https://github.com/Netflix/zuul" TargetMode="External"/><Relationship Id="rId3" Type="http://schemas.openxmlformats.org/officeDocument/2006/relationships/diagramLayout" Target="../diagrams/layout79.xml"/><Relationship Id="rId7" Type="http://schemas.openxmlformats.org/officeDocument/2006/relationships/hyperlink" Target="https://www.educative.io/courses/grokking-the-system-design-interview/introduction-to-load-balancers" TargetMode="External"/><Relationship Id="rId12" Type="http://schemas.openxmlformats.org/officeDocument/2006/relationships/hyperlink" Target="https://github.com/microsoft/service-fabric-yarp" TargetMode="External"/><Relationship Id="rId2" Type="http://schemas.openxmlformats.org/officeDocument/2006/relationships/diagramData" Target="../diagrams/data79.xml"/><Relationship Id="rId1" Type="http://schemas.openxmlformats.org/officeDocument/2006/relationships/slideLayout" Target="../slideLayouts/slideLayout2.xml"/><Relationship Id="rId6" Type="http://schemas.microsoft.com/office/2007/relationships/diagramDrawing" Target="../diagrams/drawing79.xml"/><Relationship Id="rId11" Type="http://schemas.openxmlformats.org/officeDocument/2006/relationships/hyperlink" Target="https://medium.com/@tejeswar_79802/a-deep-dive-into-yarp-and-ocelot-809ec5b982e0" TargetMode="External"/><Relationship Id="rId5" Type="http://schemas.openxmlformats.org/officeDocument/2006/relationships/diagramColors" Target="../diagrams/colors79.xml"/><Relationship Id="rId10" Type="http://schemas.openxmlformats.org/officeDocument/2006/relationships/hyperlink" Target="https://www.enjoyalgorithms.com/blog/proxies-in-system-design" TargetMode="External"/><Relationship Id="rId4" Type="http://schemas.openxmlformats.org/officeDocument/2006/relationships/diagramQuickStyle" Target="../diagrams/quickStyle79.xml"/><Relationship Id="rId9" Type="http://schemas.openxmlformats.org/officeDocument/2006/relationships/hyperlink" Target="https://www.imperva.com/learn/availability/sticky-session-persistence-and-cookies/" TargetMode="External"/></Relationships>
</file>

<file path=ppt/slides/_rels/slide8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diagramLayout" Target="../diagrams/layout80.xml"/><Relationship Id="rId7" Type="http://schemas.openxmlformats.org/officeDocument/2006/relationships/image" Target="../media/image40.png"/><Relationship Id="rId2" Type="http://schemas.openxmlformats.org/officeDocument/2006/relationships/diagramData" Target="../diagrams/data80.xml"/><Relationship Id="rId1" Type="http://schemas.openxmlformats.org/officeDocument/2006/relationships/slideLayout" Target="../slideLayouts/slideLayout2.xml"/><Relationship Id="rId6" Type="http://schemas.microsoft.com/office/2007/relationships/diagramDrawing" Target="../diagrams/drawing80.xml"/><Relationship Id="rId5" Type="http://schemas.openxmlformats.org/officeDocument/2006/relationships/diagramColors" Target="../diagrams/colors80.xml"/><Relationship Id="rId4" Type="http://schemas.openxmlformats.org/officeDocument/2006/relationships/diagramQuickStyle" Target="../diagrams/quickStyle80.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81.xml"/><Relationship Id="rId7" Type="http://schemas.openxmlformats.org/officeDocument/2006/relationships/image" Target="../media/image42.png"/><Relationship Id="rId2" Type="http://schemas.openxmlformats.org/officeDocument/2006/relationships/diagramData" Target="../diagrams/data81.xml"/><Relationship Id="rId1" Type="http://schemas.openxmlformats.org/officeDocument/2006/relationships/slideLayout" Target="../slideLayouts/slideLayout2.xml"/><Relationship Id="rId6" Type="http://schemas.microsoft.com/office/2007/relationships/diagramDrawing" Target="../diagrams/drawing81.xml"/><Relationship Id="rId5" Type="http://schemas.openxmlformats.org/officeDocument/2006/relationships/diagramColors" Target="../diagrams/colors81.xml"/><Relationship Id="rId4" Type="http://schemas.openxmlformats.org/officeDocument/2006/relationships/diagramQuickStyle" Target="../diagrams/quickStyle81.xml"/></Relationships>
</file>

<file path=ppt/slides/_rels/slide8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diagramLayout" Target="../diagrams/layout82.xml"/><Relationship Id="rId7" Type="http://schemas.openxmlformats.org/officeDocument/2006/relationships/image" Target="../media/image43.png"/><Relationship Id="rId2" Type="http://schemas.openxmlformats.org/officeDocument/2006/relationships/diagramData" Target="../diagrams/data82.xml"/><Relationship Id="rId1" Type="http://schemas.openxmlformats.org/officeDocument/2006/relationships/slideLayout" Target="../slideLayouts/slideLayout2.xml"/><Relationship Id="rId6" Type="http://schemas.microsoft.com/office/2007/relationships/diagramDrawing" Target="../diagrams/drawing82.xml"/><Relationship Id="rId5" Type="http://schemas.openxmlformats.org/officeDocument/2006/relationships/diagramColors" Target="../diagrams/colors82.xml"/><Relationship Id="rId4" Type="http://schemas.openxmlformats.org/officeDocument/2006/relationships/diagramQuickStyle" Target="../diagrams/quickStyle82.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83.xml"/><Relationship Id="rId7" Type="http://schemas.openxmlformats.org/officeDocument/2006/relationships/image" Target="../media/image45.png"/><Relationship Id="rId2" Type="http://schemas.openxmlformats.org/officeDocument/2006/relationships/diagramData" Target="../diagrams/data83.xml"/><Relationship Id="rId1" Type="http://schemas.openxmlformats.org/officeDocument/2006/relationships/slideLayout" Target="../slideLayouts/slideLayout2.xml"/><Relationship Id="rId6" Type="http://schemas.microsoft.com/office/2007/relationships/diagramDrawing" Target="../diagrams/drawing83.xml"/><Relationship Id="rId5" Type="http://schemas.openxmlformats.org/officeDocument/2006/relationships/diagramColors" Target="../diagrams/colors83.xml"/><Relationship Id="rId4" Type="http://schemas.openxmlformats.org/officeDocument/2006/relationships/diagramQuickStyle" Target="../diagrams/quickStyle83.xml"/></Relationships>
</file>

<file path=ppt/slides/_rels/slide89.xml.rels><?xml version="1.0" encoding="UTF-8" standalone="yes"?>
<Relationships xmlns="http://schemas.openxmlformats.org/package/2006/relationships"><Relationship Id="rId3" Type="http://schemas.openxmlformats.org/officeDocument/2006/relationships/diagramLayout" Target="../diagrams/layout84.xml"/><Relationship Id="rId7" Type="http://schemas.openxmlformats.org/officeDocument/2006/relationships/image" Target="../media/image46.png"/><Relationship Id="rId2" Type="http://schemas.openxmlformats.org/officeDocument/2006/relationships/diagramData" Target="../diagrams/data84.xml"/><Relationship Id="rId1" Type="http://schemas.openxmlformats.org/officeDocument/2006/relationships/slideLayout" Target="../slideLayouts/slideLayout2.xml"/><Relationship Id="rId6" Type="http://schemas.microsoft.com/office/2007/relationships/diagramDrawing" Target="../diagrams/drawing84.xml"/><Relationship Id="rId5" Type="http://schemas.openxmlformats.org/officeDocument/2006/relationships/diagramColors" Target="../diagrams/colors84.xml"/><Relationship Id="rId4" Type="http://schemas.openxmlformats.org/officeDocument/2006/relationships/diagramQuickStyle" Target="../diagrams/quickStyle84.xml"/></Relationships>
</file>

<file path=ppt/slides/_rels/slide90.xml.rels><?xml version="1.0" encoding="UTF-8" standalone="yes"?>
<Relationships xmlns="http://schemas.openxmlformats.org/package/2006/relationships"><Relationship Id="rId8" Type="http://schemas.openxmlformats.org/officeDocument/2006/relationships/hyperlink" Target="https://www.linkedin.com/advice/0/what-differences-similarities-between-acid-base-properties" TargetMode="External"/><Relationship Id="rId3" Type="http://schemas.openxmlformats.org/officeDocument/2006/relationships/diagramData" Target="../diagrams/data85.xml"/><Relationship Id="rId7" Type="http://schemas.microsoft.com/office/2007/relationships/diagramDrawing" Target="../diagrams/drawing85.xml"/><Relationship Id="rId12" Type="http://schemas.openxmlformats.org/officeDocument/2006/relationships/hyperlink" Target="https://www.geeksforgeeks.org/flat-nested-distributed-transaction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85.xml"/><Relationship Id="rId11" Type="http://schemas.openxmlformats.org/officeDocument/2006/relationships/hyperlink" Target="https://masteranyfield.com/2021/07/26/dealing-distributed-transactions-with-2pc-3pc-local-transaction-table-with-mqs/" TargetMode="External"/><Relationship Id="rId5" Type="http://schemas.openxmlformats.org/officeDocument/2006/relationships/diagramQuickStyle" Target="../diagrams/quickStyle85.xml"/><Relationship Id="rId10" Type="http://schemas.openxmlformats.org/officeDocument/2006/relationships/hyperlink" Target="https://en.wikipedia.org/wiki/PACELC_theorem" TargetMode="External"/><Relationship Id="rId4" Type="http://schemas.openxmlformats.org/officeDocument/2006/relationships/diagramLayout" Target="../diagrams/layout85.xml"/><Relationship Id="rId9" Type="http://schemas.openxmlformats.org/officeDocument/2006/relationships/hyperlink" Target="https://systemdesignbasic.wordpress.com/2020/06/20/15-acid-vs-base-database-transactions/" TargetMode="External"/></Relationships>
</file>

<file path=ppt/slides/_rels/slide91.xml.rels><?xml version="1.0" encoding="UTF-8" standalone="yes"?>
<Relationships xmlns="http://schemas.openxmlformats.org/package/2006/relationships"><Relationship Id="rId8" Type="http://schemas.openxmlformats.org/officeDocument/2006/relationships/hyperlink" Target="https://microservices.io/patterns/data/transactional-outbox.html" TargetMode="External"/><Relationship Id="rId3" Type="http://schemas.openxmlformats.org/officeDocument/2006/relationships/diagramLayout" Target="../diagrams/layout86.xml"/><Relationship Id="rId7" Type="http://schemas.openxmlformats.org/officeDocument/2006/relationships/hyperlink" Target="https://github.com/sandipray63in/DDD-Based-Enterprise-Application-Framework/blob/master/Infrastructure/UnitOfWork/UnitOfWork.cs" TargetMode="External"/><Relationship Id="rId2" Type="http://schemas.openxmlformats.org/officeDocument/2006/relationships/diagramData" Target="../diagrams/data86.xml"/><Relationship Id="rId1" Type="http://schemas.openxmlformats.org/officeDocument/2006/relationships/slideLayout" Target="../slideLayouts/slideLayout2.xml"/><Relationship Id="rId6" Type="http://schemas.microsoft.com/office/2007/relationships/diagramDrawing" Target="../diagrams/drawing86.xml"/><Relationship Id="rId5" Type="http://schemas.openxmlformats.org/officeDocument/2006/relationships/diagramColors" Target="../diagrams/colors86.xml"/><Relationship Id="rId10" Type="http://schemas.openxmlformats.org/officeDocument/2006/relationships/hyperlink" Target="https://www.oracle.com/docs/tech/transaction-manager-for-microservices.pdf" TargetMode="External"/><Relationship Id="rId4" Type="http://schemas.openxmlformats.org/officeDocument/2006/relationships/diagramQuickStyle" Target="../diagrams/quickStyle86.xml"/><Relationship Id="rId9" Type="http://schemas.openxmlformats.org/officeDocument/2006/relationships/hyperlink" Target="https://microservices.io/patterns/data/saga.html" TargetMode="External"/></Relationships>
</file>

<file path=ppt/slides/_rels/slide92.xml.rels><?xml version="1.0" encoding="UTF-8" standalone="yes"?>
<Relationships xmlns="http://schemas.openxmlformats.org/package/2006/relationships"><Relationship Id="rId8" Type="http://schemas.openxmlformats.org/officeDocument/2006/relationships/hyperlink" Target="https://www.zghurskyi.com/backpressure/" TargetMode="External"/><Relationship Id="rId3" Type="http://schemas.openxmlformats.org/officeDocument/2006/relationships/diagramLayout" Target="../diagrams/layout87.xml"/><Relationship Id="rId7" Type="http://schemas.openxmlformats.org/officeDocument/2006/relationships/image" Target="../media/image47.png"/><Relationship Id="rId2" Type="http://schemas.openxmlformats.org/officeDocument/2006/relationships/diagramData" Target="../diagrams/data87.xml"/><Relationship Id="rId1" Type="http://schemas.openxmlformats.org/officeDocument/2006/relationships/slideLayout" Target="../slideLayouts/slideLayout2.xml"/><Relationship Id="rId6" Type="http://schemas.microsoft.com/office/2007/relationships/diagramDrawing" Target="../diagrams/drawing87.xml"/><Relationship Id="rId5" Type="http://schemas.openxmlformats.org/officeDocument/2006/relationships/diagramColors" Target="../diagrams/colors87.xml"/><Relationship Id="rId4" Type="http://schemas.openxmlformats.org/officeDocument/2006/relationships/diagramQuickStyle" Target="../diagrams/quickStyle87.xml"/></Relationships>
</file>

<file path=ppt/slides/_rels/slide93.xml.rels><?xml version="1.0" encoding="UTF-8" standalone="yes"?>
<Relationships xmlns="http://schemas.openxmlformats.org/package/2006/relationships"><Relationship Id="rId8" Type="http://schemas.openxmlformats.org/officeDocument/2006/relationships/hyperlink" Target="https://thenewstack.io/data-control-management-three-planes-different-altitudes/" TargetMode="External"/><Relationship Id="rId3" Type="http://schemas.openxmlformats.org/officeDocument/2006/relationships/diagramLayout" Target="../diagrams/layout88.xml"/><Relationship Id="rId7" Type="http://schemas.openxmlformats.org/officeDocument/2006/relationships/hyperlink" Target="https://danieldonbavand.com/2022/03/08/what-is-a-control-and-data-plane-architecture/" TargetMode="External"/><Relationship Id="rId2" Type="http://schemas.openxmlformats.org/officeDocument/2006/relationships/diagramData" Target="../diagrams/data88.xml"/><Relationship Id="rId1" Type="http://schemas.openxmlformats.org/officeDocument/2006/relationships/slideLayout" Target="../slideLayouts/slideLayout2.xml"/><Relationship Id="rId6" Type="http://schemas.microsoft.com/office/2007/relationships/diagramDrawing" Target="../diagrams/drawing88.xml"/><Relationship Id="rId5" Type="http://schemas.openxmlformats.org/officeDocument/2006/relationships/diagramColors" Target="../diagrams/colors88.xml"/><Relationship Id="rId4" Type="http://schemas.openxmlformats.org/officeDocument/2006/relationships/diagramQuickStyle" Target="../diagrams/quickStyle88.xml"/></Relationships>
</file>

<file path=ppt/slides/_rels/slide94.xml.rels><?xml version="1.0" encoding="UTF-8" standalone="yes"?>
<Relationships xmlns="http://schemas.openxmlformats.org/package/2006/relationships"><Relationship Id="rId8" Type="http://schemas.openxmlformats.org/officeDocument/2006/relationships/hyperlink" Target="https://www.freecodecamp.org/news/a-thorough-introduction-to-distributed-systems-3b91562c9b3c/" TargetMode="External"/><Relationship Id="rId13" Type="http://schemas.openxmlformats.org/officeDocument/2006/relationships/hyperlink" Target="https://dimosr.github.io/distributed-systems-for-practitioners/" TargetMode="External"/><Relationship Id="rId18" Type="http://schemas.openxmlformats.org/officeDocument/2006/relationships/hyperlink" Target="https://medium.com/bytebytego-system-design-alliance/system-design-blueprint-the-ultimate-guide-e27b914bf8f1" TargetMode="External"/><Relationship Id="rId26" Type="http://schemas.openxmlformats.org/officeDocument/2006/relationships/hyperlink" Target="https://www.linkedin.com/posts/arpit-adlakha-30691a101_13-github-repositories-that-will-make-software-activity-7273993511509602304-ydrA/?utm_source=share&amp;utm_medium=member_desktop" TargetMode="External"/><Relationship Id="rId3" Type="http://schemas.openxmlformats.org/officeDocument/2006/relationships/diagramLayout" Target="../diagrams/layout89.xml"/><Relationship Id="rId21" Type="http://schemas.openxmlformats.org/officeDocument/2006/relationships/hyperlink" Target="https://www.manning.com/books/think-distributed-systems" TargetMode="External"/><Relationship Id="rId7" Type="http://schemas.openxmlformats.org/officeDocument/2006/relationships/hyperlink" Target="https://www.baeldung.com/cs/distributed-systems-guide" TargetMode="External"/><Relationship Id="rId12" Type="http://schemas.openxmlformats.org/officeDocument/2006/relationships/hyperlink" Target="https://dataintensive.net/" TargetMode="External"/><Relationship Id="rId17" Type="http://schemas.openxmlformats.org/officeDocument/2006/relationships/hyperlink" Target="https://github.com/mohsenshafiei/system-design-master-plan" TargetMode="External"/><Relationship Id="rId25" Type="http://schemas.openxmlformats.org/officeDocument/2006/relationships/hyperlink" Target="https://roadmap.sh/system-design" TargetMode="External"/><Relationship Id="rId2" Type="http://schemas.openxmlformats.org/officeDocument/2006/relationships/diagramData" Target="../diagrams/data89.xml"/><Relationship Id="rId16" Type="http://schemas.openxmlformats.org/officeDocument/2006/relationships/hyperlink" Target="https://muratbuffalo.blogspot.com/2023/10/hints-for-distributed-systems-design.html" TargetMode="External"/><Relationship Id="rId20" Type="http://schemas.openxmlformats.org/officeDocument/2006/relationships/hyperlink" Target="https://understandingdistributed.systems/" TargetMode="External"/><Relationship Id="rId1" Type="http://schemas.openxmlformats.org/officeDocument/2006/relationships/slideLayout" Target="../slideLayouts/slideLayout2.xml"/><Relationship Id="rId6" Type="http://schemas.microsoft.com/office/2007/relationships/diagramDrawing" Target="../diagrams/drawing89.xml"/><Relationship Id="rId11" Type="http://schemas.openxmlformats.org/officeDocument/2006/relationships/hyperlink" Target="https://github.com/PacktPublishing/Building-Modern-Distributed-Systems-with-Java" TargetMode="External"/><Relationship Id="rId24" Type="http://schemas.openxmlformats.org/officeDocument/2006/relationships/hyperlink" Target="https://www.amazon.in/System-Design-Google-Engineering-Interviews/dp/B0BX8ZW147/ref=sr_1_1" TargetMode="External"/><Relationship Id="rId5" Type="http://schemas.openxmlformats.org/officeDocument/2006/relationships/diagramColors" Target="../diagrams/colors89.xml"/><Relationship Id="rId15" Type="http://schemas.openxmlformats.org/officeDocument/2006/relationships/hyperlink" Target="https://www.packtpub.com/en-in/product/raspberry-pi-super-cluster-9781783286195" TargetMode="External"/><Relationship Id="rId23" Type="http://schemas.openxmlformats.org/officeDocument/2006/relationships/hyperlink" Target="https://www.durichitayat.net/system-design-interview-book/" TargetMode="External"/><Relationship Id="rId10" Type="http://schemas.openxmlformats.org/officeDocument/2006/relationships/hyperlink" Target="https://blog.bytebytego.com/p/a-crash-course-on-distributed-systems" TargetMode="External"/><Relationship Id="rId19" Type="http://schemas.openxmlformats.org/officeDocument/2006/relationships/hyperlink" Target="https://blog.bytebytego.com/p/free-system-design-pdf-158-pages" TargetMode="External"/><Relationship Id="rId4" Type="http://schemas.openxmlformats.org/officeDocument/2006/relationships/diagramQuickStyle" Target="../diagrams/quickStyle89.xml"/><Relationship Id="rId9" Type="http://schemas.openxmlformats.org/officeDocument/2006/relationships/hyperlink" Target="https://www.splunk.com/en_us/blog/learn/distributed-systems.html" TargetMode="External"/><Relationship Id="rId14" Type="http://schemas.openxmlformats.org/officeDocument/2006/relationships/hyperlink" Target="https://github.com/emichael/dslabs" TargetMode="External"/><Relationship Id="rId22" Type="http://schemas.openxmlformats.org/officeDocument/2006/relationships/hyperlink" Target="https://www.amazon.com/stores/author/B08BNMFT7P/allbooks" TargetMode="External"/><Relationship Id="rId27" Type="http://schemas.openxmlformats.org/officeDocument/2006/relationships/hyperlink" Target="https://github.com/madd86/awesome-system-design" TargetMode="External"/></Relationships>
</file>

<file path=ppt/slides/_rels/slide95.xml.rels><?xml version="1.0" encoding="UTF-8" standalone="yes"?>
<Relationships xmlns="http://schemas.openxmlformats.org/package/2006/relationships"><Relationship Id="rId8" Type="http://schemas.openxmlformats.org/officeDocument/2006/relationships/hyperlink" Target="https://github.com/drveillard/system-design-architecture" TargetMode="External"/><Relationship Id="rId13" Type="http://schemas.openxmlformats.org/officeDocument/2006/relationships/hyperlink" Target="https://www.geeksforgeeks.org/consistency-model-in-distributed-system/" TargetMode="External"/><Relationship Id="rId18" Type="http://schemas.openxmlformats.org/officeDocument/2006/relationships/hyperlink" Target="https://www.jwz.org/doc/threading.html" TargetMode="External"/><Relationship Id="rId3" Type="http://schemas.openxmlformats.org/officeDocument/2006/relationships/diagramLayout" Target="../diagrams/layout90.xml"/><Relationship Id="rId21" Type="http://schemas.openxmlformats.org/officeDocument/2006/relationships/hyperlink" Target="https://neil.fraser.name/writing/sync/" TargetMode="External"/><Relationship Id="rId7" Type="http://schemas.openxmlformats.org/officeDocument/2006/relationships/hyperlink" Target="https://github.com/PawanRamaMali/System-Design" TargetMode="External"/><Relationship Id="rId12" Type="http://schemas.openxmlformats.org/officeDocument/2006/relationships/hyperlink" Target="https://martin.kleppmann.com/2016/02/08/how-to-do-distributed-locking.html" TargetMode="External"/><Relationship Id="rId17" Type="http://schemas.openxmlformats.org/officeDocument/2006/relationships/hyperlink" Target="https://en.wikipedia.org/wiki/Thread_(online_communication)" TargetMode="External"/><Relationship Id="rId25" Type="http://schemas.openxmlformats.org/officeDocument/2006/relationships/hyperlink" Target="https://www.manning.com/books/think-distributed-systems" TargetMode="External"/><Relationship Id="rId2" Type="http://schemas.openxmlformats.org/officeDocument/2006/relationships/diagramData" Target="../diagrams/data90.xml"/><Relationship Id="rId16" Type="http://schemas.openxmlformats.org/officeDocument/2006/relationships/hyperlink" Target="https://medium.com/@mayilb77/design-a-distributed-job-scheduler-for-millions-of-tasks-in-daily-operations-4132dc6d645f" TargetMode="External"/><Relationship Id="rId20" Type="http://schemas.openxmlformats.org/officeDocument/2006/relationships/hyperlink" Target="https://docs.datastax.com/en/cql-oss/3.3/cql/cql_reference/timeuuid_functions_r.html" TargetMode="External"/><Relationship Id="rId1" Type="http://schemas.openxmlformats.org/officeDocument/2006/relationships/slideLayout" Target="../slideLayouts/slideLayout2.xml"/><Relationship Id="rId6" Type="http://schemas.microsoft.com/office/2007/relationships/diagramDrawing" Target="../diagrams/drawing90.xml"/><Relationship Id="rId11" Type="http://schemas.openxmlformats.org/officeDocument/2006/relationships/hyperlink" Target="https://ics.uci.edu/~cs230/lectures20/distrsyslectureset3-win20.pdf" TargetMode="External"/><Relationship Id="rId24" Type="http://schemas.openxmlformats.org/officeDocument/2006/relationships/hyperlink" Target="https://topdeveloperacademy.com/courses" TargetMode="External"/><Relationship Id="rId5" Type="http://schemas.openxmlformats.org/officeDocument/2006/relationships/diagramColors" Target="../diagrams/colors90.xml"/><Relationship Id="rId15" Type="http://schemas.openxmlformats.org/officeDocument/2006/relationships/hyperlink" Target="https://www.rcet.org.in/uploads/files/LectureNotes/cse/S6/CS8603%20DISTRIBUTED%20SYSTEMS/CS8603%20U.IV.pdf" TargetMode="External"/><Relationship Id="rId23" Type="http://schemas.openxmlformats.org/officeDocument/2006/relationships/hyperlink" Target="https://prashanthpanduranga.wordpress.com/2015/04/22/architecting-extremely-large-scale-web-applications-a-must-read-for-every-architect/" TargetMode="External"/><Relationship Id="rId10" Type="http://schemas.openxmlformats.org/officeDocument/2006/relationships/hyperlink" Target="https://www.linkedin.com/posts/rajatgajbhiye_study-these-45-problems-well-and-you-have-activity-7231260876379455488-eLA1/" TargetMode="External"/><Relationship Id="rId19" Type="http://schemas.openxmlformats.org/officeDocument/2006/relationships/hyperlink" Target="https://docs.aws.amazon.com/ses/latest/dg/dedicated-ip-warming.html" TargetMode="External"/><Relationship Id="rId4" Type="http://schemas.openxmlformats.org/officeDocument/2006/relationships/diagramQuickStyle" Target="../diagrams/quickStyle90.xml"/><Relationship Id="rId9" Type="http://schemas.openxmlformats.org/officeDocument/2006/relationships/hyperlink" Target="https://www.oreilly.com/library/view/system-design-on/9781098146887/" TargetMode="External"/><Relationship Id="rId14" Type="http://schemas.openxmlformats.org/officeDocument/2006/relationships/hyperlink" Target="https://www.cs.uic.edu/~ajayk/Chapter9.pdf" TargetMode="External"/><Relationship Id="rId22" Type="http://schemas.openxmlformats.org/officeDocument/2006/relationships/hyperlink" Target="https://cloudinfrastructureservices.co.uk/distributed-file-system-dfs-architecture-components-explained/" TargetMode="Externa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91.xml"/><Relationship Id="rId2" Type="http://schemas.openxmlformats.org/officeDocument/2006/relationships/diagramData" Target="../diagrams/data91.xml"/><Relationship Id="rId1" Type="http://schemas.openxmlformats.org/officeDocument/2006/relationships/slideLayout" Target="../slideLayouts/slideLayout2.xml"/><Relationship Id="rId6" Type="http://schemas.microsoft.com/office/2007/relationships/diagramDrawing" Target="../diagrams/drawing91.xml"/><Relationship Id="rId5" Type="http://schemas.openxmlformats.org/officeDocument/2006/relationships/diagramColors" Target="../diagrams/colors91.xml"/><Relationship Id="rId4" Type="http://schemas.openxmlformats.org/officeDocument/2006/relationships/diagramQuickStyle" Target="../diagrams/quickStyle91.xm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92.xml"/><Relationship Id="rId7" Type="http://schemas.openxmlformats.org/officeDocument/2006/relationships/image" Target="../media/image48.png"/><Relationship Id="rId2" Type="http://schemas.openxmlformats.org/officeDocument/2006/relationships/diagramData" Target="../diagrams/data92.xml"/><Relationship Id="rId1" Type="http://schemas.openxmlformats.org/officeDocument/2006/relationships/slideLayout" Target="../slideLayouts/slideLayout2.xml"/><Relationship Id="rId6" Type="http://schemas.microsoft.com/office/2007/relationships/diagramDrawing" Target="../diagrams/drawing92.xml"/><Relationship Id="rId5" Type="http://schemas.openxmlformats.org/officeDocument/2006/relationships/diagramColors" Target="../diagrams/colors92.xml"/><Relationship Id="rId4" Type="http://schemas.openxmlformats.org/officeDocument/2006/relationships/diagramQuickStyle" Target="../diagrams/quickStyle92.xml"/></Relationships>
</file>

<file path=ppt/slides/_rels/slide98.xml.rels><?xml version="1.0" encoding="UTF-8" standalone="yes"?>
<Relationships xmlns="http://schemas.openxmlformats.org/package/2006/relationships"><Relationship Id="rId8" Type="http://schemas.openxmlformats.org/officeDocument/2006/relationships/hyperlink" Target="https://en.wikipedia.org/wiki/Non-functional_requirement" TargetMode="External"/><Relationship Id="rId3" Type="http://schemas.openxmlformats.org/officeDocument/2006/relationships/diagramLayout" Target="../diagrams/layout93.xml"/><Relationship Id="rId7" Type="http://schemas.openxmlformats.org/officeDocument/2006/relationships/image" Target="../media/image49.png"/><Relationship Id="rId2" Type="http://schemas.openxmlformats.org/officeDocument/2006/relationships/diagramData" Target="../diagrams/data93.xml"/><Relationship Id="rId1" Type="http://schemas.openxmlformats.org/officeDocument/2006/relationships/slideLayout" Target="../slideLayouts/slideLayout2.xml"/><Relationship Id="rId6" Type="http://schemas.microsoft.com/office/2007/relationships/diagramDrawing" Target="../diagrams/drawing93.xml"/><Relationship Id="rId11" Type="http://schemas.openxmlformats.org/officeDocument/2006/relationships/hyperlink" Target="https://www.packtpub.com/en-in/product/mastering-non-functional-requirements-9781788297899" TargetMode="External"/><Relationship Id="rId5" Type="http://schemas.openxmlformats.org/officeDocument/2006/relationships/diagramColors" Target="../diagrams/colors93.xml"/><Relationship Id="rId10" Type="http://schemas.openxmlformats.org/officeDocument/2006/relationships/hyperlink" Target="https://msrviking.wordpress.com/tag/non-functional-requirement/" TargetMode="External"/><Relationship Id="rId4" Type="http://schemas.openxmlformats.org/officeDocument/2006/relationships/diagramQuickStyle" Target="../diagrams/quickStyle93.xml"/><Relationship Id="rId9" Type="http://schemas.openxmlformats.org/officeDocument/2006/relationships/hyperlink" Target="https://medium.com/@iagomodesto/rest-api-development-gentle-checklist-of-non-functional-requirements-for-success-df2170956190" TargetMode="Externa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94.xml"/><Relationship Id="rId2" Type="http://schemas.openxmlformats.org/officeDocument/2006/relationships/diagramData" Target="../diagrams/data94.xml"/><Relationship Id="rId1" Type="http://schemas.openxmlformats.org/officeDocument/2006/relationships/slideLayout" Target="../slideLayouts/slideLayout2.xml"/><Relationship Id="rId6" Type="http://schemas.microsoft.com/office/2007/relationships/diagramDrawing" Target="../diagrams/drawing94.xml"/><Relationship Id="rId5" Type="http://schemas.openxmlformats.org/officeDocument/2006/relationships/diagramColors" Target="../diagrams/colors94.xml"/><Relationship Id="rId4" Type="http://schemas.openxmlformats.org/officeDocument/2006/relationships/diagramQuickStyle" Target="../diagrams/quickStyle94.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95.xml"/><Relationship Id="rId2" Type="http://schemas.openxmlformats.org/officeDocument/2006/relationships/diagramData" Target="../diagrams/data95.xml"/><Relationship Id="rId1" Type="http://schemas.openxmlformats.org/officeDocument/2006/relationships/slideLayout" Target="../slideLayouts/slideLayout2.xml"/><Relationship Id="rId6" Type="http://schemas.microsoft.com/office/2007/relationships/diagramDrawing" Target="../diagrams/drawing95.xml"/><Relationship Id="rId5" Type="http://schemas.openxmlformats.org/officeDocument/2006/relationships/diagramColors" Target="../diagrams/colors95.xml"/><Relationship Id="rId4" Type="http://schemas.openxmlformats.org/officeDocument/2006/relationships/diagramQuickStyle" Target="../diagrams/quickStyle95.xml"/></Relationships>
</file>

<file path=ppt/slides/_rels/slide101.xml.rels><?xml version="1.0" encoding="UTF-8" standalone="yes"?>
<Relationships xmlns="http://schemas.openxmlformats.org/package/2006/relationships"><Relationship Id="rId8" Type="http://schemas.openxmlformats.org/officeDocument/2006/relationships/hyperlink" Target="https://stackoverflow.com/questions/16958448/what-is-http-multipart-request" TargetMode="External"/><Relationship Id="rId3" Type="http://schemas.openxmlformats.org/officeDocument/2006/relationships/diagramLayout" Target="../diagrams/layout96.xml"/><Relationship Id="rId7" Type="http://schemas.openxmlformats.org/officeDocument/2006/relationships/hyperlink" Target="https://stackoverflow.com/questions/43594911/how-to-load-large-files-with-streamreader-in-chunks" TargetMode="External"/><Relationship Id="rId2" Type="http://schemas.openxmlformats.org/officeDocument/2006/relationships/diagramData" Target="../diagrams/data96.xml"/><Relationship Id="rId1" Type="http://schemas.openxmlformats.org/officeDocument/2006/relationships/slideLayout" Target="../slideLayouts/slideLayout2.xml"/><Relationship Id="rId6" Type="http://schemas.microsoft.com/office/2007/relationships/diagramDrawing" Target="../diagrams/drawing96.xml"/><Relationship Id="rId5" Type="http://schemas.openxmlformats.org/officeDocument/2006/relationships/diagramColors" Target="../diagrams/colors96.xml"/><Relationship Id="rId4" Type="http://schemas.openxmlformats.org/officeDocument/2006/relationships/diagramQuickStyle" Target="../diagrams/quickStyle96.xml"/><Relationship Id="rId9" Type="http://schemas.openxmlformats.org/officeDocument/2006/relationships/hyperlink" Target="https://stackoverflow.com/questions/1078523/how-do-i-download-a-large-file-via-http-in-net" TargetMode="External"/></Relationships>
</file>

<file path=ppt/slides/_rels/slide102.xml.rels><?xml version="1.0" encoding="UTF-8" standalone="yes"?>
<Relationships xmlns="http://schemas.openxmlformats.org/package/2006/relationships"><Relationship Id="rId3" Type="http://schemas.openxmlformats.org/officeDocument/2006/relationships/diagramLayout" Target="../diagrams/layout97.xml"/><Relationship Id="rId7" Type="http://schemas.openxmlformats.org/officeDocument/2006/relationships/hyperlink" Target="https://blog.bytebytego.com/p/ep112-what-is-a-deadlock?open=false#%C2%A7top-cases-behind-cpu-usage" TargetMode="External"/><Relationship Id="rId2" Type="http://schemas.openxmlformats.org/officeDocument/2006/relationships/diagramData" Target="../diagrams/data97.xml"/><Relationship Id="rId1" Type="http://schemas.openxmlformats.org/officeDocument/2006/relationships/slideLayout" Target="../slideLayouts/slideLayout2.xml"/><Relationship Id="rId6" Type="http://schemas.microsoft.com/office/2007/relationships/diagramDrawing" Target="../diagrams/drawing97.xml"/><Relationship Id="rId5" Type="http://schemas.openxmlformats.org/officeDocument/2006/relationships/diagramColors" Target="../diagrams/colors97.xml"/><Relationship Id="rId4" Type="http://schemas.openxmlformats.org/officeDocument/2006/relationships/diagramQuickStyle" Target="../diagrams/quickStyle97.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98.xml"/><Relationship Id="rId2" Type="http://schemas.openxmlformats.org/officeDocument/2006/relationships/diagramData" Target="../diagrams/data98.xml"/><Relationship Id="rId1" Type="http://schemas.openxmlformats.org/officeDocument/2006/relationships/slideLayout" Target="../slideLayouts/slideLayout2.xml"/><Relationship Id="rId6" Type="http://schemas.microsoft.com/office/2007/relationships/diagramDrawing" Target="../diagrams/drawing98.xml"/><Relationship Id="rId5" Type="http://schemas.openxmlformats.org/officeDocument/2006/relationships/diagramColors" Target="../diagrams/colors98.xml"/><Relationship Id="rId4" Type="http://schemas.openxmlformats.org/officeDocument/2006/relationships/diagramQuickStyle" Target="../diagrams/quickStyle98.xml"/></Relationships>
</file>

<file path=ppt/slides/_rels/slide104.xml.rels><?xml version="1.0" encoding="UTF-8" standalone="yes"?>
<Relationships xmlns="http://schemas.openxmlformats.org/package/2006/relationships"><Relationship Id="rId3" Type="http://schemas.openxmlformats.org/officeDocument/2006/relationships/diagramLayout" Target="../diagrams/layout99.xml"/><Relationship Id="rId7" Type="http://schemas.openxmlformats.org/officeDocument/2006/relationships/hyperlink" Target="https://www.geeksforgeeks.org/sql-performance-tuning/" TargetMode="External"/><Relationship Id="rId2" Type="http://schemas.openxmlformats.org/officeDocument/2006/relationships/diagramData" Target="../diagrams/data99.xml"/><Relationship Id="rId1" Type="http://schemas.openxmlformats.org/officeDocument/2006/relationships/slideLayout" Target="../slideLayouts/slideLayout2.xml"/><Relationship Id="rId6" Type="http://schemas.microsoft.com/office/2007/relationships/diagramDrawing" Target="../diagrams/drawing99.xml"/><Relationship Id="rId5" Type="http://schemas.openxmlformats.org/officeDocument/2006/relationships/diagramColors" Target="../diagrams/colors99.xml"/><Relationship Id="rId4" Type="http://schemas.openxmlformats.org/officeDocument/2006/relationships/diagramQuickStyle" Target="../diagrams/quickStyle99.xml"/></Relationships>
</file>

<file path=ppt/slides/_rels/slide105.xml.rels><?xml version="1.0" encoding="UTF-8" standalone="yes"?>
<Relationships xmlns="http://schemas.openxmlformats.org/package/2006/relationships"><Relationship Id="rId8" Type="http://schemas.openxmlformats.org/officeDocument/2006/relationships/hyperlink" Target="https://stackoverflow.com/questions/1349850/c-sharp-what-are-some-high-performance-best-practices-tips-for-ado-net" TargetMode="External"/><Relationship Id="rId3" Type="http://schemas.openxmlformats.org/officeDocument/2006/relationships/diagramLayout" Target="../diagrams/layout100.xml"/><Relationship Id="rId7" Type="http://schemas.openxmlformats.org/officeDocument/2006/relationships/hyperlink" Target="https://www.linkedin.com/posts/mwaseemzakir_15-steps-to-improve-ef-core-performance-activity-7059768639381475328-1YkS/?trk=public_profile_like_view" TargetMode="External"/><Relationship Id="rId2" Type="http://schemas.openxmlformats.org/officeDocument/2006/relationships/diagramData" Target="../diagrams/data100.xml"/><Relationship Id="rId1" Type="http://schemas.openxmlformats.org/officeDocument/2006/relationships/slideLayout" Target="../slideLayouts/slideLayout2.xml"/><Relationship Id="rId6" Type="http://schemas.microsoft.com/office/2007/relationships/diagramDrawing" Target="../diagrams/drawing100.xml"/><Relationship Id="rId5" Type="http://schemas.openxmlformats.org/officeDocument/2006/relationships/diagramColors" Target="../diagrams/colors100.xml"/><Relationship Id="rId4" Type="http://schemas.openxmlformats.org/officeDocument/2006/relationships/diagramQuickStyle" Target="../diagrams/quickStyle100.xml"/></Relationships>
</file>

<file path=ppt/slides/_rels/slide106.xml.rels><?xml version="1.0" encoding="UTF-8" standalone="yes"?>
<Relationships xmlns="http://schemas.openxmlformats.org/package/2006/relationships"><Relationship Id="rId8" Type="http://schemas.openxmlformats.org/officeDocument/2006/relationships/hyperlink" Target="https://docs.aws.amazon.com/AmazonElastiCache/latest/dg/CacheNodes.SelectSize.html" TargetMode="External"/><Relationship Id="rId3" Type="http://schemas.openxmlformats.org/officeDocument/2006/relationships/diagramLayout" Target="../diagrams/layout101.xml"/><Relationship Id="rId7" Type="http://schemas.openxmlformats.org/officeDocument/2006/relationships/hyperlink" Target="https://aws.amazon.com/elasticache/redis-vs-memcached/" TargetMode="External"/><Relationship Id="rId2" Type="http://schemas.openxmlformats.org/officeDocument/2006/relationships/diagramData" Target="../diagrams/data101.xml"/><Relationship Id="rId1" Type="http://schemas.openxmlformats.org/officeDocument/2006/relationships/slideLayout" Target="../slideLayouts/slideLayout2.xml"/><Relationship Id="rId6" Type="http://schemas.microsoft.com/office/2007/relationships/diagramDrawing" Target="../diagrams/drawing101.xml"/><Relationship Id="rId5" Type="http://schemas.openxmlformats.org/officeDocument/2006/relationships/diagramColors" Target="../diagrams/colors101.xml"/><Relationship Id="rId4" Type="http://schemas.openxmlformats.org/officeDocument/2006/relationships/diagramQuickStyle" Target="../diagrams/quickStyle101.xml"/><Relationship Id="rId9" Type="http://schemas.openxmlformats.org/officeDocument/2006/relationships/hyperlink" Target="https://stackoverflow.com/questions/36203532/why-redis-cluster-only-have-16384-slots" TargetMode="External"/></Relationships>
</file>

<file path=ppt/slides/_rels/slide107.xml.rels><?xml version="1.0" encoding="UTF-8" standalone="yes"?>
<Relationships xmlns="http://schemas.openxmlformats.org/package/2006/relationships"><Relationship Id="rId8" Type="http://schemas.openxmlformats.org/officeDocument/2006/relationships/hyperlink" Target="https://blog.bytebytego.com/p/top-caching-strategies" TargetMode="External"/><Relationship Id="rId3" Type="http://schemas.openxmlformats.org/officeDocument/2006/relationships/diagramLayout" Target="../diagrams/layout102.xml"/><Relationship Id="rId7" Type="http://schemas.openxmlformats.org/officeDocument/2006/relationships/hyperlink" Target="https://www.geeksforgeeks.org/types-of-cache/" TargetMode="External"/><Relationship Id="rId12" Type="http://schemas.openxmlformats.org/officeDocument/2006/relationships/hyperlink" Target="https://www.milanjovanovic.tech/blog/hybrid-cache-in-aspnetcore-new-caching-library" TargetMode="External"/><Relationship Id="rId2" Type="http://schemas.openxmlformats.org/officeDocument/2006/relationships/diagramData" Target="../diagrams/data102.xml"/><Relationship Id="rId1" Type="http://schemas.openxmlformats.org/officeDocument/2006/relationships/slideLayout" Target="../slideLayouts/slideLayout2.xml"/><Relationship Id="rId6" Type="http://schemas.microsoft.com/office/2007/relationships/diagramDrawing" Target="../diagrams/drawing102.xml"/><Relationship Id="rId11" Type="http://schemas.openxmlformats.org/officeDocument/2006/relationships/hyperlink" Target="https://medium.com/@Gotit.GotIT/optimizing-distributed-cache-for-read-heavy-vs-write-heavy-workloads-with-docker-e97d94fc5bc9" TargetMode="External"/><Relationship Id="rId5" Type="http://schemas.openxmlformats.org/officeDocument/2006/relationships/diagramColors" Target="../diagrams/colors102.xml"/><Relationship Id="rId10" Type="http://schemas.openxmlformats.org/officeDocument/2006/relationships/hyperlink" Target="https://en.wikipedia.org/wiki/Cache_replacement_policies" TargetMode="External"/><Relationship Id="rId4" Type="http://schemas.openxmlformats.org/officeDocument/2006/relationships/diagramQuickStyle" Target="../diagrams/quickStyle102.xml"/><Relationship Id="rId9" Type="http://schemas.openxmlformats.org/officeDocument/2006/relationships/hyperlink" Target="https://medium.com/@mmoshikoo/cache-strategies-996e91c80303" TargetMode="External"/></Relationships>
</file>

<file path=ppt/slides/_rels/slide108.xml.rels><?xml version="1.0" encoding="UTF-8" standalone="yes"?>
<Relationships xmlns="http://schemas.openxmlformats.org/package/2006/relationships"><Relationship Id="rId3" Type="http://schemas.openxmlformats.org/officeDocument/2006/relationships/diagramLayout" Target="../diagrams/layout103.xml"/><Relationship Id="rId7" Type="http://schemas.openxmlformats.org/officeDocument/2006/relationships/hyperlink" Target="https://www.codeproject.com/Articles/114262/6-ways-of-doing-locking-in-NET-Pessimistic-and-opt?X-OpenDNS-Session=_9de9c51505afd04e25087660fe05563471999270ed46_iOJXkOqY_" TargetMode="External"/><Relationship Id="rId2" Type="http://schemas.openxmlformats.org/officeDocument/2006/relationships/diagramData" Target="../diagrams/data103.xml"/><Relationship Id="rId1" Type="http://schemas.openxmlformats.org/officeDocument/2006/relationships/slideLayout" Target="../slideLayouts/slideLayout2.xml"/><Relationship Id="rId6" Type="http://schemas.microsoft.com/office/2007/relationships/diagramDrawing" Target="../diagrams/drawing103.xml"/><Relationship Id="rId5" Type="http://schemas.openxmlformats.org/officeDocument/2006/relationships/diagramColors" Target="../diagrams/colors103.xml"/><Relationship Id="rId4" Type="http://schemas.openxmlformats.org/officeDocument/2006/relationships/diagramQuickStyle" Target="../diagrams/quickStyle103.xml"/></Relationships>
</file>

<file path=ppt/slides/_rels/slide109.xml.rels><?xml version="1.0" encoding="UTF-8" standalone="yes"?>
<Relationships xmlns="http://schemas.openxmlformats.org/package/2006/relationships"><Relationship Id="rId3" Type="http://schemas.openxmlformats.org/officeDocument/2006/relationships/diagramLayout" Target="../diagrams/layout104.xml"/><Relationship Id="rId2" Type="http://schemas.openxmlformats.org/officeDocument/2006/relationships/diagramData" Target="../diagrams/data104.xml"/><Relationship Id="rId1" Type="http://schemas.openxmlformats.org/officeDocument/2006/relationships/slideLayout" Target="../slideLayouts/slideLayout2.xml"/><Relationship Id="rId6" Type="http://schemas.microsoft.com/office/2007/relationships/diagramDrawing" Target="../diagrams/drawing104.xml"/><Relationship Id="rId5" Type="http://schemas.openxmlformats.org/officeDocument/2006/relationships/diagramColors" Target="../diagrams/colors104.xml"/><Relationship Id="rId4" Type="http://schemas.openxmlformats.org/officeDocument/2006/relationships/diagramQuickStyle" Target="../diagrams/quickStyle104.xml"/></Relationships>
</file>

<file path=ppt/slides/_rels/slide110.xml.rels><?xml version="1.0" encoding="UTF-8" standalone="yes"?>
<Relationships xmlns="http://schemas.openxmlformats.org/package/2006/relationships"><Relationship Id="rId8" Type="http://schemas.openxmlformats.org/officeDocument/2006/relationships/hyperlink" Target="https://www.educative.io/answers/whats-the-difference-between-optimistic-and-pessimistic-locking" TargetMode="External"/><Relationship Id="rId3" Type="http://schemas.openxmlformats.org/officeDocument/2006/relationships/diagramLayout" Target="../diagrams/layout105.xml"/><Relationship Id="rId7" Type="http://schemas.openxmlformats.org/officeDocument/2006/relationships/hyperlink" Target="http://en.wikipedia.org/wiki/Client-server" TargetMode="External"/><Relationship Id="rId2" Type="http://schemas.openxmlformats.org/officeDocument/2006/relationships/diagramData" Target="../diagrams/data105.xml"/><Relationship Id="rId1" Type="http://schemas.openxmlformats.org/officeDocument/2006/relationships/slideLayout" Target="../slideLayouts/slideLayout2.xml"/><Relationship Id="rId6" Type="http://schemas.microsoft.com/office/2007/relationships/diagramDrawing" Target="../diagrams/drawing105.xml"/><Relationship Id="rId5" Type="http://schemas.openxmlformats.org/officeDocument/2006/relationships/diagramColors" Target="../diagrams/colors105.xml"/><Relationship Id="rId4" Type="http://schemas.openxmlformats.org/officeDocument/2006/relationships/diagramQuickStyle" Target="../diagrams/quickStyle105.xml"/></Relationships>
</file>

<file path=ppt/slides/_rels/slide111.xml.rels><?xml version="1.0" encoding="UTF-8" standalone="yes"?>
<Relationships xmlns="http://schemas.openxmlformats.org/package/2006/relationships"><Relationship Id="rId8" Type="http://schemas.openxmlformats.org/officeDocument/2006/relationships/hyperlink" Target="https://learn.microsoft.com/en-us/ef/core/saving/concurrency?tabs=data-annotations" TargetMode="External"/><Relationship Id="rId3" Type="http://schemas.openxmlformats.org/officeDocument/2006/relationships/diagramLayout" Target="../diagrams/layout106.xml"/><Relationship Id="rId7" Type="http://schemas.openxmlformats.org/officeDocument/2006/relationships/hyperlink" Target="https://www.codeproject.com/Articles/676309/ADO-NET-Entity-Framework-Interview-Questions#HowcanwehandleconcurrencyinEntityframework" TargetMode="External"/><Relationship Id="rId2" Type="http://schemas.openxmlformats.org/officeDocument/2006/relationships/diagramData" Target="../diagrams/data106.xml"/><Relationship Id="rId1" Type="http://schemas.openxmlformats.org/officeDocument/2006/relationships/slideLayout" Target="../slideLayouts/slideLayout2.xml"/><Relationship Id="rId6" Type="http://schemas.microsoft.com/office/2007/relationships/diagramDrawing" Target="../diagrams/drawing106.xml"/><Relationship Id="rId5" Type="http://schemas.openxmlformats.org/officeDocument/2006/relationships/diagramColors" Target="../diagrams/colors106.xml"/><Relationship Id="rId10" Type="http://schemas.openxmlformats.org/officeDocument/2006/relationships/hyperlink" Target="https://medium.com/@roopa.kushtagi/concurrency-control-mechanisms-in-distributed-systems-4c7e510b2427" TargetMode="External"/><Relationship Id="rId4" Type="http://schemas.openxmlformats.org/officeDocument/2006/relationships/diagramQuickStyle" Target="../diagrams/quickStyle106.xml"/><Relationship Id="rId9" Type="http://schemas.openxmlformats.org/officeDocument/2006/relationships/hyperlink" Target="https://www.linkedin.com/posts/alexxubyte_systemdesign-coding-interviewtips-activity-7211031615462895616-678T/" TargetMode="External"/></Relationships>
</file>

<file path=ppt/slides/_rels/slide112.xml.rels><?xml version="1.0" encoding="UTF-8" standalone="yes"?>
<Relationships xmlns="http://schemas.openxmlformats.org/package/2006/relationships"><Relationship Id="rId3" Type="http://schemas.openxmlformats.org/officeDocument/2006/relationships/diagramLayout" Target="../diagrams/layout107.xml"/><Relationship Id="rId7" Type="http://schemas.openxmlformats.org/officeDocument/2006/relationships/image" Target="../media/image50.png"/><Relationship Id="rId2" Type="http://schemas.openxmlformats.org/officeDocument/2006/relationships/diagramData" Target="../diagrams/data107.xml"/><Relationship Id="rId1" Type="http://schemas.openxmlformats.org/officeDocument/2006/relationships/slideLayout" Target="../slideLayouts/slideLayout2.xml"/><Relationship Id="rId6" Type="http://schemas.microsoft.com/office/2007/relationships/diagramDrawing" Target="../diagrams/drawing107.xml"/><Relationship Id="rId5" Type="http://schemas.openxmlformats.org/officeDocument/2006/relationships/diagramColors" Target="../diagrams/colors107.xml"/><Relationship Id="rId4" Type="http://schemas.openxmlformats.org/officeDocument/2006/relationships/diagramQuickStyle" Target="../diagrams/quickStyle107.xml"/></Relationships>
</file>

<file path=ppt/slides/_rels/slide113.xml.rels><?xml version="1.0" encoding="UTF-8" standalone="yes"?>
<Relationships xmlns="http://schemas.openxmlformats.org/package/2006/relationships"><Relationship Id="rId8" Type="http://schemas.openxmlformats.org/officeDocument/2006/relationships/hyperlink" Target="https://www.keycdn.com/blog/frontend-optimization" TargetMode="External"/><Relationship Id="rId13" Type="http://schemas.openxmlformats.org/officeDocument/2006/relationships/hyperlink" Target="https://learn.microsoft.com/en-us/azure/service-bus-messaging/service-bus-performance-improvements?tabs=net-standard-sdk-2" TargetMode="External"/><Relationship Id="rId3" Type="http://schemas.openxmlformats.org/officeDocument/2006/relationships/diagramLayout" Target="../diagrams/layout108.xml"/><Relationship Id="rId7" Type="http://schemas.openxmlformats.org/officeDocument/2006/relationships/hyperlink" Target="https://stackoverflow.com/questions/5321876/which-one-to-use-expire-header-last-modified-header-or-etags" TargetMode="External"/><Relationship Id="rId12" Type="http://schemas.openxmlformats.org/officeDocument/2006/relationships/hyperlink" Target="https://github.com/PacktPublishing/ASP.NET-Core-1.0-High-Performance" TargetMode="External"/><Relationship Id="rId2" Type="http://schemas.openxmlformats.org/officeDocument/2006/relationships/diagramData" Target="../diagrams/data108.xml"/><Relationship Id="rId1" Type="http://schemas.openxmlformats.org/officeDocument/2006/relationships/slideLayout" Target="../slideLayouts/slideLayout2.xml"/><Relationship Id="rId6" Type="http://schemas.microsoft.com/office/2007/relationships/diagramDrawing" Target="../diagrams/drawing108.xml"/><Relationship Id="rId11" Type="http://schemas.openxmlformats.org/officeDocument/2006/relationships/hyperlink" Target="https://www.linkedin.com/posts/maheshma_performanceengineering-testing-softwareengineering-activity-7203946221932093440-7jWO/" TargetMode="External"/><Relationship Id="rId5" Type="http://schemas.openxmlformats.org/officeDocument/2006/relationships/diagramColors" Target="../diagrams/colors108.xml"/><Relationship Id="rId10" Type="http://schemas.openxmlformats.org/officeDocument/2006/relationships/hyperlink" Target="https://www.linkedin.com/feed/update/urn:li:activity:7218872038575243267/" TargetMode="External"/><Relationship Id="rId4" Type="http://schemas.openxmlformats.org/officeDocument/2006/relationships/diagramQuickStyle" Target="../diagrams/quickStyle108.xml"/><Relationship Id="rId9" Type="http://schemas.openxmlformats.org/officeDocument/2006/relationships/hyperlink" Target="https://www.martinfowler.com/articles/data-fetch-spa.html" TargetMode="External"/></Relationships>
</file>

<file path=ppt/slides/_rels/slide114.xml.rels><?xml version="1.0" encoding="UTF-8" standalone="yes"?>
<Relationships xmlns="http://schemas.openxmlformats.org/package/2006/relationships"><Relationship Id="rId3" Type="http://schemas.openxmlformats.org/officeDocument/2006/relationships/diagramLayout" Target="../diagrams/layout109.xml"/><Relationship Id="rId7" Type="http://schemas.openxmlformats.org/officeDocument/2006/relationships/hyperlink" Target="https://bravenewgeek.com/benchmarking-message-queue-latency/" TargetMode="External"/><Relationship Id="rId2" Type="http://schemas.openxmlformats.org/officeDocument/2006/relationships/diagramData" Target="../diagrams/data109.xml"/><Relationship Id="rId1" Type="http://schemas.openxmlformats.org/officeDocument/2006/relationships/slideLayout" Target="../slideLayouts/slideLayout2.xml"/><Relationship Id="rId6" Type="http://schemas.microsoft.com/office/2007/relationships/diagramDrawing" Target="../diagrams/drawing109.xml"/><Relationship Id="rId5" Type="http://schemas.openxmlformats.org/officeDocument/2006/relationships/diagramColors" Target="../diagrams/colors109.xml"/><Relationship Id="rId4" Type="http://schemas.openxmlformats.org/officeDocument/2006/relationships/diagramQuickStyle" Target="../diagrams/quickStyle109.xml"/></Relationships>
</file>

<file path=ppt/slides/_rels/slide115.xml.rels><?xml version="1.0" encoding="UTF-8" standalone="yes"?>
<Relationships xmlns="http://schemas.openxmlformats.org/package/2006/relationships"><Relationship Id="rId3" Type="http://schemas.openxmlformats.org/officeDocument/2006/relationships/diagramLayout" Target="../diagrams/layout110.xml"/><Relationship Id="rId7" Type="http://schemas.openxmlformats.org/officeDocument/2006/relationships/image" Target="../media/image51.png"/><Relationship Id="rId2" Type="http://schemas.openxmlformats.org/officeDocument/2006/relationships/diagramData" Target="../diagrams/data110.xml"/><Relationship Id="rId1" Type="http://schemas.openxmlformats.org/officeDocument/2006/relationships/slideLayout" Target="../slideLayouts/slideLayout2.xml"/><Relationship Id="rId6" Type="http://schemas.microsoft.com/office/2007/relationships/diagramDrawing" Target="../diagrams/drawing110.xml"/><Relationship Id="rId5" Type="http://schemas.openxmlformats.org/officeDocument/2006/relationships/diagramColors" Target="../diagrams/colors110.xml"/><Relationship Id="rId4" Type="http://schemas.openxmlformats.org/officeDocument/2006/relationships/diagramQuickStyle" Target="../diagrams/quickStyle110.xml"/></Relationships>
</file>

<file path=ppt/slides/_rels/slide116.xml.rels><?xml version="1.0" encoding="UTF-8" standalone="yes"?>
<Relationships xmlns="http://schemas.openxmlformats.org/package/2006/relationships"><Relationship Id="rId3" Type="http://schemas.openxmlformats.org/officeDocument/2006/relationships/diagramLayout" Target="../diagrams/layout111.xml"/><Relationship Id="rId7" Type="http://schemas.openxmlformats.org/officeDocument/2006/relationships/image" Target="../media/image52.png"/><Relationship Id="rId2" Type="http://schemas.openxmlformats.org/officeDocument/2006/relationships/diagramData" Target="../diagrams/data111.xml"/><Relationship Id="rId1" Type="http://schemas.openxmlformats.org/officeDocument/2006/relationships/slideLayout" Target="../slideLayouts/slideLayout2.xml"/><Relationship Id="rId6" Type="http://schemas.microsoft.com/office/2007/relationships/diagramDrawing" Target="../diagrams/drawing111.xml"/><Relationship Id="rId5" Type="http://schemas.openxmlformats.org/officeDocument/2006/relationships/diagramColors" Target="../diagrams/colors111.xml"/><Relationship Id="rId4" Type="http://schemas.openxmlformats.org/officeDocument/2006/relationships/diagramQuickStyle" Target="../diagrams/quickStyle111.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112.xml"/><Relationship Id="rId7" Type="http://schemas.openxmlformats.org/officeDocument/2006/relationships/image" Target="../media/image53.png"/><Relationship Id="rId2" Type="http://schemas.openxmlformats.org/officeDocument/2006/relationships/diagramData" Target="../diagrams/data112.xml"/><Relationship Id="rId1" Type="http://schemas.openxmlformats.org/officeDocument/2006/relationships/slideLayout" Target="../slideLayouts/slideLayout2.xml"/><Relationship Id="rId6" Type="http://schemas.microsoft.com/office/2007/relationships/diagramDrawing" Target="../diagrams/drawing112.xml"/><Relationship Id="rId5" Type="http://schemas.openxmlformats.org/officeDocument/2006/relationships/diagramColors" Target="../diagrams/colors112.xml"/><Relationship Id="rId4" Type="http://schemas.openxmlformats.org/officeDocument/2006/relationships/diagramQuickStyle" Target="../diagrams/quickStyle112.xml"/></Relationships>
</file>

<file path=ppt/slides/_rels/slide118.xml.rels><?xml version="1.0" encoding="UTF-8" standalone="yes"?>
<Relationships xmlns="http://schemas.openxmlformats.org/package/2006/relationships"><Relationship Id="rId8" Type="http://schemas.openxmlformats.org/officeDocument/2006/relationships/hyperlink" Target="https://www.nops.io/blog/horizontal-vs-vertical-scaling" TargetMode="External"/><Relationship Id="rId3" Type="http://schemas.openxmlformats.org/officeDocument/2006/relationships/diagramLayout" Target="../diagrams/layout113.xml"/><Relationship Id="rId7" Type="http://schemas.openxmlformats.org/officeDocument/2006/relationships/hyperlink" Target="https://mybaker.co/blogs/blogposts/whats-the-difference-between-a-tier-and-a-layer" TargetMode="External"/><Relationship Id="rId2" Type="http://schemas.openxmlformats.org/officeDocument/2006/relationships/diagramData" Target="../diagrams/data113.xml"/><Relationship Id="rId1" Type="http://schemas.openxmlformats.org/officeDocument/2006/relationships/slideLayout" Target="../slideLayouts/slideLayout2.xml"/><Relationship Id="rId6" Type="http://schemas.microsoft.com/office/2007/relationships/diagramDrawing" Target="../diagrams/drawing113.xml"/><Relationship Id="rId5" Type="http://schemas.openxmlformats.org/officeDocument/2006/relationships/diagramColors" Target="../diagrams/colors113.xml"/><Relationship Id="rId4" Type="http://schemas.openxmlformats.org/officeDocument/2006/relationships/diagramQuickStyle" Target="../diagrams/quickStyle113.xml"/><Relationship Id="rId9" Type="http://schemas.openxmlformats.org/officeDocument/2006/relationships/hyperlink" Target="https://microservices.io/articles/scalecube.html" TargetMode="External"/></Relationships>
</file>

<file path=ppt/slides/_rels/slide119.xml.rels><?xml version="1.0" encoding="UTF-8" standalone="yes"?>
<Relationships xmlns="http://schemas.openxmlformats.org/package/2006/relationships"><Relationship Id="rId3" Type="http://schemas.openxmlformats.org/officeDocument/2006/relationships/diagramLayout" Target="../diagrams/layout114.xml"/><Relationship Id="rId7" Type="http://schemas.openxmlformats.org/officeDocument/2006/relationships/image" Target="../media/image54.png"/><Relationship Id="rId2" Type="http://schemas.openxmlformats.org/officeDocument/2006/relationships/diagramData" Target="../diagrams/data114.xml"/><Relationship Id="rId1" Type="http://schemas.openxmlformats.org/officeDocument/2006/relationships/slideLayout" Target="../slideLayouts/slideLayout2.xml"/><Relationship Id="rId6" Type="http://schemas.microsoft.com/office/2007/relationships/diagramDrawing" Target="../diagrams/drawing114.xml"/><Relationship Id="rId5" Type="http://schemas.openxmlformats.org/officeDocument/2006/relationships/diagramColors" Target="../diagrams/colors114.xml"/><Relationship Id="rId4" Type="http://schemas.openxmlformats.org/officeDocument/2006/relationships/diagramQuickStyle" Target="../diagrams/quickStyle114.xml"/></Relationships>
</file>

<file path=ppt/slides/_rels/slide120.xml.rels><?xml version="1.0" encoding="UTF-8" standalone="yes"?>
<Relationships xmlns="http://schemas.openxmlformats.org/package/2006/relationships"><Relationship Id="rId3" Type="http://schemas.openxmlformats.org/officeDocument/2006/relationships/diagramLayout" Target="../diagrams/layout115.xml"/><Relationship Id="rId7" Type="http://schemas.openxmlformats.org/officeDocument/2006/relationships/image" Target="../media/image55.png"/><Relationship Id="rId2" Type="http://schemas.openxmlformats.org/officeDocument/2006/relationships/diagramData" Target="../diagrams/data115.xml"/><Relationship Id="rId1" Type="http://schemas.openxmlformats.org/officeDocument/2006/relationships/slideLayout" Target="../slideLayouts/slideLayout2.xml"/><Relationship Id="rId6" Type="http://schemas.microsoft.com/office/2007/relationships/diagramDrawing" Target="../diagrams/drawing115.xml"/><Relationship Id="rId5" Type="http://schemas.openxmlformats.org/officeDocument/2006/relationships/diagramColors" Target="../diagrams/colors115.xml"/><Relationship Id="rId4" Type="http://schemas.openxmlformats.org/officeDocument/2006/relationships/diagramQuickStyle" Target="../diagrams/quickStyle115.xml"/></Relationships>
</file>

<file path=ppt/slides/_rels/slide121.xml.rels><?xml version="1.0" encoding="UTF-8" standalone="yes"?>
<Relationships xmlns="http://schemas.openxmlformats.org/package/2006/relationships"><Relationship Id="rId3" Type="http://schemas.openxmlformats.org/officeDocument/2006/relationships/diagramLayout" Target="../diagrams/layout116.xml"/><Relationship Id="rId7" Type="http://schemas.openxmlformats.org/officeDocument/2006/relationships/image" Target="../media/image56.png"/><Relationship Id="rId2" Type="http://schemas.openxmlformats.org/officeDocument/2006/relationships/diagramData" Target="../diagrams/data116.xml"/><Relationship Id="rId1" Type="http://schemas.openxmlformats.org/officeDocument/2006/relationships/slideLayout" Target="../slideLayouts/slideLayout2.xml"/><Relationship Id="rId6" Type="http://schemas.microsoft.com/office/2007/relationships/diagramDrawing" Target="../diagrams/drawing116.xml"/><Relationship Id="rId5" Type="http://schemas.openxmlformats.org/officeDocument/2006/relationships/diagramColors" Target="../diagrams/colors116.xml"/><Relationship Id="rId4" Type="http://schemas.openxmlformats.org/officeDocument/2006/relationships/diagramQuickStyle" Target="../diagrams/quickStyle116.xml"/></Relationships>
</file>

<file path=ppt/slides/_rels/slide122.xml.rels><?xml version="1.0" encoding="UTF-8" standalone="yes"?>
<Relationships xmlns="http://schemas.openxmlformats.org/package/2006/relationships"><Relationship Id="rId3" Type="http://schemas.openxmlformats.org/officeDocument/2006/relationships/diagramLayout" Target="../diagrams/layout117.xml"/><Relationship Id="rId7" Type="http://schemas.openxmlformats.org/officeDocument/2006/relationships/image" Target="../media/image57.png"/><Relationship Id="rId2" Type="http://schemas.openxmlformats.org/officeDocument/2006/relationships/diagramData" Target="../diagrams/data117.xml"/><Relationship Id="rId1" Type="http://schemas.openxmlformats.org/officeDocument/2006/relationships/slideLayout" Target="../slideLayouts/slideLayout2.xml"/><Relationship Id="rId6" Type="http://schemas.microsoft.com/office/2007/relationships/diagramDrawing" Target="../diagrams/drawing117.xml"/><Relationship Id="rId5" Type="http://schemas.openxmlformats.org/officeDocument/2006/relationships/diagramColors" Target="../diagrams/colors117.xml"/><Relationship Id="rId4" Type="http://schemas.openxmlformats.org/officeDocument/2006/relationships/diagramQuickStyle" Target="../diagrams/quickStyle117.xml"/></Relationships>
</file>

<file path=ppt/slides/_rels/slide123.xml.rels><?xml version="1.0" encoding="UTF-8" standalone="yes"?>
<Relationships xmlns="http://schemas.openxmlformats.org/package/2006/relationships"><Relationship Id="rId3" Type="http://schemas.openxmlformats.org/officeDocument/2006/relationships/diagramLayout" Target="../diagrams/layout118.xml"/><Relationship Id="rId7" Type="http://schemas.openxmlformats.org/officeDocument/2006/relationships/image" Target="../media/image58.png"/><Relationship Id="rId2" Type="http://schemas.openxmlformats.org/officeDocument/2006/relationships/diagramData" Target="../diagrams/data118.xml"/><Relationship Id="rId1" Type="http://schemas.openxmlformats.org/officeDocument/2006/relationships/slideLayout" Target="../slideLayouts/slideLayout2.xml"/><Relationship Id="rId6" Type="http://schemas.microsoft.com/office/2007/relationships/diagramDrawing" Target="../diagrams/drawing118.xml"/><Relationship Id="rId5" Type="http://schemas.openxmlformats.org/officeDocument/2006/relationships/diagramColors" Target="../diagrams/colors118.xml"/><Relationship Id="rId4" Type="http://schemas.openxmlformats.org/officeDocument/2006/relationships/diagramQuickStyle" Target="../diagrams/quickStyle118.xml"/></Relationships>
</file>

<file path=ppt/slides/_rels/slide124.xml.rels><?xml version="1.0" encoding="UTF-8" standalone="yes"?>
<Relationships xmlns="http://schemas.openxmlformats.org/package/2006/relationships"><Relationship Id="rId8" Type="http://schemas.openxmlformats.org/officeDocument/2006/relationships/hyperlink" Target="https://systemdesign.one/consistent-hashing-explained/" TargetMode="External"/><Relationship Id="rId3" Type="http://schemas.openxmlformats.org/officeDocument/2006/relationships/diagramLayout" Target="../diagrams/layout119.xml"/><Relationship Id="rId7" Type="http://schemas.openxmlformats.org/officeDocument/2006/relationships/image" Target="../media/image59.png"/><Relationship Id="rId2" Type="http://schemas.openxmlformats.org/officeDocument/2006/relationships/diagramData" Target="../diagrams/data119.xml"/><Relationship Id="rId1" Type="http://schemas.openxmlformats.org/officeDocument/2006/relationships/slideLayout" Target="../slideLayouts/slideLayout2.xml"/><Relationship Id="rId6" Type="http://schemas.microsoft.com/office/2007/relationships/diagramDrawing" Target="../diagrams/drawing119.xml"/><Relationship Id="rId5" Type="http://schemas.openxmlformats.org/officeDocument/2006/relationships/diagramColors" Target="../diagrams/colors119.xml"/><Relationship Id="rId10" Type="http://schemas.openxmlformats.org/officeDocument/2006/relationships/hyperlink" Target="https://docs.datastax.com/en/cassandra-oss/3.0/cassandra/architecture/archDataDistributeDistribute.html" TargetMode="External"/><Relationship Id="rId4" Type="http://schemas.openxmlformats.org/officeDocument/2006/relationships/diagramQuickStyle" Target="../diagrams/quickStyle119.xml"/><Relationship Id="rId9" Type="http://schemas.openxmlformats.org/officeDocument/2006/relationships/hyperlink" Target="https://www.toptal.com/big-data/consistent-hashing" TargetMode="External"/></Relationships>
</file>

<file path=ppt/slides/_rels/slide125.xml.rels><?xml version="1.0" encoding="UTF-8" standalone="yes"?>
<Relationships xmlns="http://schemas.openxmlformats.org/package/2006/relationships"><Relationship Id="rId8" Type="http://schemas.openxmlformats.org/officeDocument/2006/relationships/hyperlink" Target="https://levelup.gitconnected.com/distributed-systems-physical-logical-and-vector-clocks-7ca989f5f780" TargetMode="External"/><Relationship Id="rId13" Type="http://schemas.openxmlformats.org/officeDocument/2006/relationships/hyperlink" Target="https://medium.com/coinmonks/chain-replication-how-to-build-an-effective-kv-storage-part-1-2-b0ce10d5afc3" TargetMode="External"/><Relationship Id="rId18" Type="http://schemas.openxmlformats.org/officeDocument/2006/relationships/hyperlink" Target="https://www.datacamp.com/blog/sharding-vs-partitioning" TargetMode="External"/><Relationship Id="rId3" Type="http://schemas.openxmlformats.org/officeDocument/2006/relationships/diagramData" Target="../diagrams/data120.xml"/><Relationship Id="rId7" Type="http://schemas.microsoft.com/office/2007/relationships/diagramDrawing" Target="../diagrams/drawing120.xml"/><Relationship Id="rId12" Type="http://schemas.openxmlformats.org/officeDocument/2006/relationships/hyperlink" Target="https://medium.com/@remisharoon/paxos-vs-raft-vs-zab-a-comprehensive-dive-into-distributed-consensus-protocols-6243a3f6539b" TargetMode="External"/><Relationship Id="rId17" Type="http://schemas.openxmlformats.org/officeDocument/2006/relationships/hyperlink" Target="https://blog.techlanika.com/avoiding-coordination-cost-three-patterns-for-building-efficient-distributed-systems-b8aff9314e88" TargetMode="External"/><Relationship Id="rId2" Type="http://schemas.openxmlformats.org/officeDocument/2006/relationships/notesSlide" Target="../notesSlides/notesSlide15.xml"/><Relationship Id="rId16" Type="http://schemas.openxmlformats.org/officeDocument/2006/relationships/hyperlink" Target="https://betterprogramming.pub/system-design-concepts-dynamo-16-sheets-of-paper-that-changed-the-world-fd2cba6585e3" TargetMode="External"/><Relationship Id="rId1" Type="http://schemas.openxmlformats.org/officeDocument/2006/relationships/slideLayout" Target="../slideLayouts/slideLayout2.xml"/><Relationship Id="rId6" Type="http://schemas.openxmlformats.org/officeDocument/2006/relationships/diagramColors" Target="../diagrams/colors120.xml"/><Relationship Id="rId11" Type="http://schemas.openxmlformats.org/officeDocument/2006/relationships/hyperlink" Target="https://www.educative.io/answers/how-does-the-leader-election-in-raft-work" TargetMode="External"/><Relationship Id="rId5" Type="http://schemas.openxmlformats.org/officeDocument/2006/relationships/diagramQuickStyle" Target="../diagrams/quickStyle120.xml"/><Relationship Id="rId15" Type="http://schemas.openxmlformats.org/officeDocument/2006/relationships/hyperlink" Target="https://www.sciencedirect.com/science/article/pii/B9780080316642500139" TargetMode="External"/><Relationship Id="rId10" Type="http://schemas.openxmlformats.org/officeDocument/2006/relationships/hyperlink" Target="https://learn.microsoft.com/en-us/azure/architecture/patterns/leader-election" TargetMode="External"/><Relationship Id="rId4" Type="http://schemas.openxmlformats.org/officeDocument/2006/relationships/diagramLayout" Target="../diagrams/layout120.xml"/><Relationship Id="rId9" Type="http://schemas.openxmlformats.org/officeDocument/2006/relationships/hyperlink" Target="https://www.linkedin.com/posts/maheshma_systemdesign-engineering-productdevelopment-activity-7149225837093920768-PW4P/" TargetMode="External"/><Relationship Id="rId14" Type="http://schemas.openxmlformats.org/officeDocument/2006/relationships/hyperlink" Target="https://medium.com/@istanbul_techie/a-look-at-conflict-free-replicated-data-types-crdt-221a5f629e7e" TargetMode="External"/></Relationships>
</file>

<file path=ppt/slides/_rels/slide126.xml.rels><?xml version="1.0" encoding="UTF-8" standalone="yes"?>
<Relationships xmlns="http://schemas.openxmlformats.org/package/2006/relationships"><Relationship Id="rId8" Type="http://schemas.openxmlformats.org/officeDocument/2006/relationships/hyperlink" Target="https://www.linkedin.com/feed/update/urn:li:activity:7216096293738184706/" TargetMode="External"/><Relationship Id="rId13" Type="http://schemas.openxmlformats.org/officeDocument/2006/relationships/hyperlink" Target="https://www.amazon.in/Web-Operations-Keeping-Data-Time-ebook/dp/B0043M4Z34" TargetMode="External"/><Relationship Id="rId18" Type="http://schemas.openxmlformats.org/officeDocument/2006/relationships/hyperlink" Target="https://learn.microsoft.com/en-us/azure/service-bus-messaging/service-bus-quotas" TargetMode="External"/><Relationship Id="rId3" Type="http://schemas.openxmlformats.org/officeDocument/2006/relationships/diagramLayout" Target="../diagrams/layout121.xml"/><Relationship Id="rId21" Type="http://schemas.openxmlformats.org/officeDocument/2006/relationships/hyperlink" Target="https://gist.github.com/sandipray63in/842c7c80f3a9db886159f5b6ff087824" TargetMode="External"/><Relationship Id="rId7" Type="http://schemas.openxmlformats.org/officeDocument/2006/relationships/hyperlink" Target="https://www3.cs.stonybrook.edu/~anshul/courses/cse591_s16/autoscaling_survey.pdf" TargetMode="External"/><Relationship Id="rId12" Type="http://schemas.openxmlformats.org/officeDocument/2006/relationships/hyperlink" Target="https://www.amazon.in/Scalability-Rules-Principles-Scaling-Sites-ebook/dp/B00503D1TY" TargetMode="External"/><Relationship Id="rId17" Type="http://schemas.openxmlformats.org/officeDocument/2006/relationships/hyperlink" Target="https://learn.microsoft.com/en-us/azure/service-bus-messaging/automate-update-messaging-units" TargetMode="External"/><Relationship Id="rId2" Type="http://schemas.openxmlformats.org/officeDocument/2006/relationships/diagramData" Target="../diagrams/data121.xml"/><Relationship Id="rId16" Type="http://schemas.openxmlformats.org/officeDocument/2006/relationships/hyperlink" Target="https://learn.microsoft.com/en-us/azure/aks/best-practices-performance-scale" TargetMode="External"/><Relationship Id="rId20" Type="http://schemas.openxmlformats.org/officeDocument/2006/relationships/hyperlink" Target="https://learn.microsoft.com/en-us/azure/aks/keda-about" TargetMode="External"/><Relationship Id="rId1" Type="http://schemas.openxmlformats.org/officeDocument/2006/relationships/slideLayout" Target="../slideLayouts/slideLayout2.xml"/><Relationship Id="rId6" Type="http://schemas.microsoft.com/office/2007/relationships/diagramDrawing" Target="../diagrams/drawing121.xml"/><Relationship Id="rId11" Type="http://schemas.openxmlformats.org/officeDocument/2006/relationships/hyperlink" Target="https://www.oreilly.com/library/view/the-art-of/9781491939192/" TargetMode="External"/><Relationship Id="rId5" Type="http://schemas.openxmlformats.org/officeDocument/2006/relationships/diagramColors" Target="../diagrams/colors121.xml"/><Relationship Id="rId15" Type="http://schemas.openxmlformats.org/officeDocument/2006/relationships/hyperlink" Target="https://learn.microsoft.com/en-us/azure/aks/concepts-scale" TargetMode="External"/><Relationship Id="rId10" Type="http://schemas.openxmlformats.org/officeDocument/2006/relationships/hyperlink" Target="https://www.amazon.in/Art-Scalability-Architecture-Organizations-Enterprise-ebook/dp/B00YF0OSHC" TargetMode="External"/><Relationship Id="rId19" Type="http://schemas.openxmlformats.org/officeDocument/2006/relationships/hyperlink" Target="https://mikhail.io/2017/07/sending-large-batches-to-azure-service-bus/" TargetMode="External"/><Relationship Id="rId4" Type="http://schemas.openxmlformats.org/officeDocument/2006/relationships/diagramQuickStyle" Target="../diagrams/quickStyle121.xml"/><Relationship Id="rId9" Type="http://schemas.openxmlformats.org/officeDocument/2006/relationships/hyperlink" Target="https://www.linkedin.com/posts/sina-riyahi_backend-fullstack-developer-activity-7202949667351937024-waTb/" TargetMode="External"/><Relationship Id="rId14" Type="http://schemas.openxmlformats.org/officeDocument/2006/relationships/hyperlink" Target="https://azure.github.io/Cloud-Native/cnny-2023/fundamentals-day-5/" TargetMode="External"/></Relationships>
</file>

<file path=ppt/slides/_rels/slide127.xml.rels><?xml version="1.0" encoding="UTF-8" standalone="yes"?>
<Relationships xmlns="http://schemas.openxmlformats.org/package/2006/relationships"><Relationship Id="rId8" Type="http://schemas.openxmlformats.org/officeDocument/2006/relationships/hyperlink" Target="https://d1.awsstatic.com/whitepapers/architecture/CalculatingTotalSystemAvailability.pdf" TargetMode="External"/><Relationship Id="rId13" Type="http://schemas.openxmlformats.org/officeDocument/2006/relationships/hyperlink" Target="https://stackoverflow.com/questions/58770795/performing-a-health-check-in-net-core-worker-service" TargetMode="External"/><Relationship Id="rId3" Type="http://schemas.openxmlformats.org/officeDocument/2006/relationships/diagramLayout" Target="../diagrams/layout122.xml"/><Relationship Id="rId7" Type="http://schemas.openxmlformats.org/officeDocument/2006/relationships/hyperlink" Target="https://www.eventhelix.com/fault-handling/system-reliability-availability/" TargetMode="External"/><Relationship Id="rId12" Type="http://schemas.openxmlformats.org/officeDocument/2006/relationships/hyperlink" Target="https://www.youtube.com/watch?v=Q5kVuM7zEUI" TargetMode="External"/><Relationship Id="rId2" Type="http://schemas.openxmlformats.org/officeDocument/2006/relationships/diagramData" Target="../diagrams/data122.xml"/><Relationship Id="rId1" Type="http://schemas.openxmlformats.org/officeDocument/2006/relationships/slideLayout" Target="../slideLayouts/slideLayout2.xml"/><Relationship Id="rId6" Type="http://schemas.microsoft.com/office/2007/relationships/diagramDrawing" Target="../diagrams/drawing122.xml"/><Relationship Id="rId11" Type="http://schemas.openxmlformats.org/officeDocument/2006/relationships/hyperlink" Target="https://learn.microsoft.com/en-us/azure/architecture/guide/aks/aks-high-availability" TargetMode="External"/><Relationship Id="rId5" Type="http://schemas.openxmlformats.org/officeDocument/2006/relationships/diagramColors" Target="../diagrams/colors122.xml"/><Relationship Id="rId10" Type="http://schemas.openxmlformats.org/officeDocument/2006/relationships/hyperlink" Target="https://www.davidguida.net/health-checks-with-asp-net-core-and-kubernetes/" TargetMode="External"/><Relationship Id="rId4" Type="http://schemas.openxmlformats.org/officeDocument/2006/relationships/diagramQuickStyle" Target="../diagrams/quickStyle122.xml"/><Relationship Id="rId9" Type="http://schemas.openxmlformats.org/officeDocument/2006/relationships/hyperlink" Target="https://www.sedai.io/blog/system-availability-calculation-definition-and-measurement" TargetMode="External"/></Relationships>
</file>

<file path=ppt/slides/_rels/slide128.xml.rels><?xml version="1.0" encoding="UTF-8" standalone="yes"?>
<Relationships xmlns="http://schemas.openxmlformats.org/package/2006/relationships"><Relationship Id="rId8" Type="http://schemas.openxmlformats.org/officeDocument/2006/relationships/hyperlink" Target="https://www.google.com/search?safe=active&amp;rlz=1C1GCEW_enIN1075IN1075&amp;cs=0&amp;sca_esv=46d8f456fc647ea5&amp;sxsrf=AE3TifNDLoEIu_tJAOFPiPzZOnk7jiIWYw%3A1754371051152&amp;q=MTTR+%28Mean+Time+to+Repair%2FResolution%29&amp;sa=X&amp;ved=2ahUKEwjU8L659fKOAxXg3TgGHdvdI60QxccNegQIDxAB&amp;mstk=AUtExfCvwzx0hHXloPmoX3A5T7ANmqYoRoBScVQ6WS9CyJz_OtYViWqwx9-4kG0SoMaUYYp0G88L1pJZ9MniP1HsNJHL0qXD3ZKJIFTxhYNMoR2CiNzvzKPeDePiUr9EWReXU0hVL7wfKLkW3lRwgp0lRC3WD79jigC1pMtclNTWTZx_BU8&amp;csui=3" TargetMode="External"/><Relationship Id="rId3" Type="http://schemas.openxmlformats.org/officeDocument/2006/relationships/diagramLayout" Target="../diagrams/layout123.xml"/><Relationship Id="rId7" Type="http://schemas.openxmlformats.org/officeDocument/2006/relationships/hyperlink" Target="https://www.google.com/search?safe=active&amp;rlz=1C1GCEW_enIN1075IN1075&amp;cs=0&amp;sca_esv=46d8f456fc647ea5&amp;sxsrf=AE3TifNDLoEIu_tJAOFPiPzZOnk7jiIWYw%3A1754371051152&amp;q=MTTD+%28Mean+Time+to+Detect%29&amp;sa=X&amp;ved=2ahUKEwjU8L659fKOAxXg3TgGHdvdI60QxccNegQIDRAB&amp;mstk=AUtExfCvwzx0hHXloPmoX3A5T7ANmqYoRoBScVQ6WS9CyJz_OtYViWqwx9-4kG0SoMaUYYp0G88L1pJZ9MniP1HsNJHL0qXD3ZKJIFTxhYNMoR2CiNzvzKPeDePiUr9EWReXU0hVL7wfKLkW3lRwgp0lRC3WD79jigC1pMtclNTWTZx_BU8&amp;csui=3" TargetMode="External"/><Relationship Id="rId2" Type="http://schemas.openxmlformats.org/officeDocument/2006/relationships/diagramData" Target="../diagrams/data123.xml"/><Relationship Id="rId1" Type="http://schemas.openxmlformats.org/officeDocument/2006/relationships/slideLayout" Target="../slideLayouts/slideLayout2.xml"/><Relationship Id="rId6" Type="http://schemas.microsoft.com/office/2007/relationships/diagramDrawing" Target="../diagrams/drawing123.xml"/><Relationship Id="rId5" Type="http://schemas.openxmlformats.org/officeDocument/2006/relationships/diagramColors" Target="../diagrams/colors123.xml"/><Relationship Id="rId4" Type="http://schemas.openxmlformats.org/officeDocument/2006/relationships/diagramQuickStyle" Target="../diagrams/quickStyle123.xml"/><Relationship Id="rId9" Type="http://schemas.openxmlformats.org/officeDocument/2006/relationships/hyperlink" Target="https://www.google.com/search?safe=active&amp;rlz=1C1GCEW_enIN1075IN1075&amp;cs=0&amp;sca_esv=46d8f456fc647ea5&amp;sxsrf=AE3TifNDLoEIu_tJAOFPiPzZOnk7jiIWYw%3A1754371051152&amp;q=MTTF+%28Mean+Time+to+Failure%29&amp;sa=X&amp;ved=2ahUKEwjU8L659fKOAxXg3TgGHdvdI60QxccNegQIDhAB&amp;mstk=AUtExfCvwzx0hHXloPmoX3A5T7ANmqYoRoBScVQ6WS9CyJz_OtYViWqwx9-4kG0SoMaUYYp0G88L1pJZ9MniP1HsNJHL0qXD3ZKJIFTxhYNMoR2CiNzvzKPeDePiUr9EWReXU0hVL7wfKLkW3lRwgp0lRC3WD79jigC1pMtclNTWTZx_BU8&amp;csui=3" TargetMode="External"/></Relationships>
</file>

<file path=ppt/slides/_rels/slide129.xml.rels><?xml version="1.0" encoding="UTF-8" standalone="yes"?>
<Relationships xmlns="http://schemas.openxmlformats.org/package/2006/relationships"><Relationship Id="rId3" Type="http://schemas.openxmlformats.org/officeDocument/2006/relationships/diagramLayout" Target="../diagrams/layout124.xml"/><Relationship Id="rId2" Type="http://schemas.openxmlformats.org/officeDocument/2006/relationships/diagramData" Target="../diagrams/data124.xml"/><Relationship Id="rId1" Type="http://schemas.openxmlformats.org/officeDocument/2006/relationships/slideLayout" Target="../slideLayouts/slideLayout2.xml"/><Relationship Id="rId6" Type="http://schemas.microsoft.com/office/2007/relationships/diagramDrawing" Target="../diagrams/drawing124.xml"/><Relationship Id="rId5" Type="http://schemas.openxmlformats.org/officeDocument/2006/relationships/diagramColors" Target="../diagrams/colors124.xml"/><Relationship Id="rId4" Type="http://schemas.openxmlformats.org/officeDocument/2006/relationships/diagramQuickStyle" Target="../diagrams/quickStyle124.xm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125.xml"/><Relationship Id="rId2" Type="http://schemas.openxmlformats.org/officeDocument/2006/relationships/diagramData" Target="../diagrams/data125.xml"/><Relationship Id="rId1" Type="http://schemas.openxmlformats.org/officeDocument/2006/relationships/slideLayout" Target="../slideLayouts/slideLayout2.xml"/><Relationship Id="rId6" Type="http://schemas.microsoft.com/office/2007/relationships/diagramDrawing" Target="../diagrams/drawing125.xml"/><Relationship Id="rId5" Type="http://schemas.openxmlformats.org/officeDocument/2006/relationships/diagramColors" Target="../diagrams/colors125.xml"/><Relationship Id="rId4" Type="http://schemas.openxmlformats.org/officeDocument/2006/relationships/diagramQuickStyle" Target="../diagrams/quickStyle125.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126.xml"/><Relationship Id="rId2" Type="http://schemas.openxmlformats.org/officeDocument/2006/relationships/diagramData" Target="../diagrams/data126.xml"/><Relationship Id="rId1" Type="http://schemas.openxmlformats.org/officeDocument/2006/relationships/slideLayout" Target="../slideLayouts/slideLayout2.xml"/><Relationship Id="rId6" Type="http://schemas.microsoft.com/office/2007/relationships/diagramDrawing" Target="../diagrams/drawing126.xml"/><Relationship Id="rId5" Type="http://schemas.openxmlformats.org/officeDocument/2006/relationships/diagramColors" Target="../diagrams/colors126.xml"/><Relationship Id="rId4" Type="http://schemas.openxmlformats.org/officeDocument/2006/relationships/diagramQuickStyle" Target="../diagrams/quickStyle126.xml"/></Relationships>
</file>

<file path=ppt/slides/_rels/slide132.xml.rels><?xml version="1.0" encoding="UTF-8" standalone="yes"?>
<Relationships xmlns="http://schemas.openxmlformats.org/package/2006/relationships"><Relationship Id="rId3" Type="http://schemas.openxmlformats.org/officeDocument/2006/relationships/diagramLayout" Target="../diagrams/layout127.xml"/><Relationship Id="rId2" Type="http://schemas.openxmlformats.org/officeDocument/2006/relationships/diagramData" Target="../diagrams/data127.xml"/><Relationship Id="rId1" Type="http://schemas.openxmlformats.org/officeDocument/2006/relationships/slideLayout" Target="../slideLayouts/slideLayout2.xml"/><Relationship Id="rId6" Type="http://schemas.microsoft.com/office/2007/relationships/diagramDrawing" Target="../diagrams/drawing127.xml"/><Relationship Id="rId5" Type="http://schemas.openxmlformats.org/officeDocument/2006/relationships/diagramColors" Target="../diagrams/colors127.xml"/><Relationship Id="rId4" Type="http://schemas.openxmlformats.org/officeDocument/2006/relationships/diagramQuickStyle" Target="../diagrams/quickStyle127.xml"/></Relationships>
</file>

<file path=ppt/slides/_rels/slide133.xml.rels><?xml version="1.0" encoding="UTF-8" standalone="yes"?>
<Relationships xmlns="http://schemas.openxmlformats.org/package/2006/relationships"><Relationship Id="rId8" Type="http://schemas.openxmlformats.org/officeDocument/2006/relationships/hyperlink" Target="https://aws.amazon.com/blogs/architecture/shuffle-sharding-massive-and-magical-fault-isolation/" TargetMode="External"/><Relationship Id="rId3" Type="http://schemas.openxmlformats.org/officeDocument/2006/relationships/diagramLayout" Target="../diagrams/layout128.xml"/><Relationship Id="rId7" Type="http://schemas.openxmlformats.org/officeDocument/2006/relationships/hyperlink" Target="https://learn.microsoft.com/en-us/azure/architecture/patterns/bulkhead" TargetMode="External"/><Relationship Id="rId2" Type="http://schemas.openxmlformats.org/officeDocument/2006/relationships/diagramData" Target="../diagrams/data128.xml"/><Relationship Id="rId1" Type="http://schemas.openxmlformats.org/officeDocument/2006/relationships/slideLayout" Target="../slideLayouts/slideLayout2.xml"/><Relationship Id="rId6" Type="http://schemas.microsoft.com/office/2007/relationships/diagramDrawing" Target="../diagrams/drawing128.xml"/><Relationship Id="rId5" Type="http://schemas.openxmlformats.org/officeDocument/2006/relationships/diagramColors" Target="../diagrams/colors128.xml"/><Relationship Id="rId4" Type="http://schemas.openxmlformats.org/officeDocument/2006/relationships/diagramQuickStyle" Target="../diagrams/quickStyle128.xml"/><Relationship Id="rId9" Type="http://schemas.openxmlformats.org/officeDocument/2006/relationships/hyperlink" Target="https://docs.aws.amazon.com/wellarchitected/latest/reducing-scope-of-impact-with-cell-based-architecture/reducing-scope-of-impact-with-cell-based-architecture.html" TargetMode="External"/></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129.xml"/><Relationship Id="rId7" Type="http://schemas.openxmlformats.org/officeDocument/2006/relationships/image" Target="../media/image60.jpeg"/><Relationship Id="rId2" Type="http://schemas.openxmlformats.org/officeDocument/2006/relationships/diagramData" Target="../diagrams/data129.xml"/><Relationship Id="rId1" Type="http://schemas.openxmlformats.org/officeDocument/2006/relationships/slideLayout" Target="../slideLayouts/slideLayout2.xml"/><Relationship Id="rId6" Type="http://schemas.microsoft.com/office/2007/relationships/diagramDrawing" Target="../diagrams/drawing129.xml"/><Relationship Id="rId5" Type="http://schemas.openxmlformats.org/officeDocument/2006/relationships/diagramColors" Target="../diagrams/colors129.xml"/><Relationship Id="rId4" Type="http://schemas.openxmlformats.org/officeDocument/2006/relationships/diagramQuickStyle" Target="../diagrams/quickStyle129.xml"/></Relationships>
</file>

<file path=ppt/slides/_rels/slide135.xml.rels><?xml version="1.0" encoding="UTF-8" standalone="yes"?>
<Relationships xmlns="http://schemas.openxmlformats.org/package/2006/relationships"><Relationship Id="rId8" Type="http://schemas.openxmlformats.org/officeDocument/2006/relationships/hyperlink" Target="https://petabridge.com/blog/how-actors-recover-from-failure-hierarchy-and-supervision/" TargetMode="External"/><Relationship Id="rId3" Type="http://schemas.openxmlformats.org/officeDocument/2006/relationships/diagramLayout" Target="../diagrams/layout130.xml"/><Relationship Id="rId7" Type="http://schemas.openxmlformats.org/officeDocument/2006/relationships/hyperlink" Target="http://akka.io/?ref=hackernoon.com" TargetMode="External"/><Relationship Id="rId2" Type="http://schemas.openxmlformats.org/officeDocument/2006/relationships/diagramData" Target="../diagrams/data130.xml"/><Relationship Id="rId1" Type="http://schemas.openxmlformats.org/officeDocument/2006/relationships/slideLayout" Target="../slideLayouts/slideLayout2.xml"/><Relationship Id="rId6" Type="http://schemas.microsoft.com/office/2007/relationships/diagramDrawing" Target="../diagrams/drawing130.xml"/><Relationship Id="rId5" Type="http://schemas.openxmlformats.org/officeDocument/2006/relationships/diagramColors" Target="../diagrams/colors130.xml"/><Relationship Id="rId4" Type="http://schemas.openxmlformats.org/officeDocument/2006/relationships/diagramQuickStyle" Target="../diagrams/quickStyle130.xml"/><Relationship Id="rId9" Type="http://schemas.openxmlformats.org/officeDocument/2006/relationships/hyperlink" Target="https://petabridge.com/blog/top-akkadotnet-design-patterns/" TargetMode="External"/></Relationships>
</file>

<file path=ppt/slides/_rels/slide136.xml.rels><?xml version="1.0" encoding="UTF-8" standalone="yes"?>
<Relationships xmlns="http://schemas.openxmlformats.org/package/2006/relationships"><Relationship Id="rId8" Type="http://schemas.openxmlformats.org/officeDocument/2006/relationships/hyperlink" Target="https://www.linkedin.com/advice/1/what-biggest-challenges-designing-global-system" TargetMode="External"/><Relationship Id="rId3" Type="http://schemas.openxmlformats.org/officeDocument/2006/relationships/diagramLayout" Target="../diagrams/layout131.xml"/><Relationship Id="rId7" Type="http://schemas.openxmlformats.org/officeDocument/2006/relationships/hyperlink" Target="https://www.deccanherald.com/technology/iisc-scientists-report-computing-breakthrough-3187052" TargetMode="External"/><Relationship Id="rId12" Type="http://schemas.openxmlformats.org/officeDocument/2006/relationships/hyperlink" Target="https://tutorialsdojo.com/azure-global-infrastructure/" TargetMode="External"/><Relationship Id="rId2" Type="http://schemas.openxmlformats.org/officeDocument/2006/relationships/diagramData" Target="../diagrams/data131.xml"/><Relationship Id="rId1" Type="http://schemas.openxmlformats.org/officeDocument/2006/relationships/slideLayout" Target="../slideLayouts/slideLayout2.xml"/><Relationship Id="rId6" Type="http://schemas.microsoft.com/office/2007/relationships/diagramDrawing" Target="../diagrams/drawing131.xml"/><Relationship Id="rId11" Type="http://schemas.openxmlformats.org/officeDocument/2006/relationships/hyperlink" Target="https://www.bmc.com/blogs/aws-regions-availability-zones/" TargetMode="External"/><Relationship Id="rId5" Type="http://schemas.openxmlformats.org/officeDocument/2006/relationships/diagramColors" Target="../diagrams/colors131.xml"/><Relationship Id="rId10" Type="http://schemas.openxmlformats.org/officeDocument/2006/relationships/hyperlink" Target="https://www.bmc.com/blogs/cloud-availability-regions-zones/" TargetMode="External"/><Relationship Id="rId4" Type="http://schemas.openxmlformats.org/officeDocument/2006/relationships/diagramQuickStyle" Target="../diagrams/quickStyle131.xml"/><Relationship Id="rId9" Type="http://schemas.openxmlformats.org/officeDocument/2006/relationships/hyperlink" Target="https://www.guildhawk.com/blog/localization-checklist-top-tips-and-tools" TargetMode="External"/></Relationships>
</file>

<file path=ppt/slides/_rels/slide137.xml.rels><?xml version="1.0" encoding="UTF-8" standalone="yes"?>
<Relationships xmlns="http://schemas.openxmlformats.org/package/2006/relationships"><Relationship Id="rId3" Type="http://schemas.openxmlformats.org/officeDocument/2006/relationships/diagramLayout" Target="../diagrams/layout132.xml"/><Relationship Id="rId2" Type="http://schemas.openxmlformats.org/officeDocument/2006/relationships/diagramData" Target="../diagrams/data132.xml"/><Relationship Id="rId1" Type="http://schemas.openxmlformats.org/officeDocument/2006/relationships/slideLayout" Target="../slideLayouts/slideLayout2.xml"/><Relationship Id="rId6" Type="http://schemas.microsoft.com/office/2007/relationships/diagramDrawing" Target="../diagrams/drawing132.xml"/><Relationship Id="rId5" Type="http://schemas.openxmlformats.org/officeDocument/2006/relationships/diagramColors" Target="../diagrams/colors132.xml"/><Relationship Id="rId4" Type="http://schemas.openxmlformats.org/officeDocument/2006/relationships/diagramQuickStyle" Target="../diagrams/quickStyle132.xml"/></Relationships>
</file>

<file path=ppt/slides/_rels/slide138.xml.rels><?xml version="1.0" encoding="UTF-8" standalone="yes"?>
<Relationships xmlns="http://schemas.openxmlformats.org/package/2006/relationships"><Relationship Id="rId8" Type="http://schemas.openxmlformats.org/officeDocument/2006/relationships/hyperlink" Target="https://www.nikolatech.net/blogs/resilient-dotnet-application-with-polly-resilience-pipelines" TargetMode="External"/><Relationship Id="rId3" Type="http://schemas.openxmlformats.org/officeDocument/2006/relationships/diagramLayout" Target="../diagrams/layout133.xml"/><Relationship Id="rId7" Type="http://schemas.openxmlformats.org/officeDocument/2006/relationships/hyperlink" Target="https://aws.amazon.com/builders-library/timeouts-retries-and-backoff-with-jitter/" TargetMode="External"/><Relationship Id="rId2" Type="http://schemas.openxmlformats.org/officeDocument/2006/relationships/diagramData" Target="../diagrams/data133.xml"/><Relationship Id="rId1" Type="http://schemas.openxmlformats.org/officeDocument/2006/relationships/slideLayout" Target="../slideLayouts/slideLayout2.xml"/><Relationship Id="rId6" Type="http://schemas.microsoft.com/office/2007/relationships/diagramDrawing" Target="../diagrams/drawing133.xml"/><Relationship Id="rId5" Type="http://schemas.openxmlformats.org/officeDocument/2006/relationships/diagramColors" Target="../diagrams/colors133.xml"/><Relationship Id="rId10" Type="http://schemas.openxmlformats.org/officeDocument/2006/relationships/hyperlink" Target="https://learn.microsoft.com/en-us/dotnet/core/resilience/http-resilience?tabs=dotnet-cli#standard-resilience-handler-defaults" TargetMode="External"/><Relationship Id="rId4" Type="http://schemas.openxmlformats.org/officeDocument/2006/relationships/diagramQuickStyle" Target="../diagrams/quickStyle133.xml"/><Relationship Id="rId9" Type="http://schemas.openxmlformats.org/officeDocument/2006/relationships/hyperlink" Target="https://devblogs.microsoft.com/dotnet/building-resilient-cloud-services-with-dotnet-8/" TargetMode="External"/></Relationships>
</file>

<file path=ppt/slides/_rels/slide139.xml.rels><?xml version="1.0" encoding="UTF-8" standalone="yes"?>
<Relationships xmlns="http://schemas.openxmlformats.org/package/2006/relationships"><Relationship Id="rId8" Type="http://schemas.openxmlformats.org/officeDocument/2006/relationships/hyperlink" Target="https://learn.microsoft.com/en-us/azure/architecture/patterns/circuit-breaker" TargetMode="External"/><Relationship Id="rId3" Type="http://schemas.openxmlformats.org/officeDocument/2006/relationships/diagramLayout" Target="../diagrams/layout134.xml"/><Relationship Id="rId7" Type="http://schemas.openxmlformats.org/officeDocument/2006/relationships/image" Target="../media/image61.png"/><Relationship Id="rId2" Type="http://schemas.openxmlformats.org/officeDocument/2006/relationships/diagramData" Target="../diagrams/data134.xml"/><Relationship Id="rId1" Type="http://schemas.openxmlformats.org/officeDocument/2006/relationships/slideLayout" Target="../slideLayouts/slideLayout2.xml"/><Relationship Id="rId6" Type="http://schemas.microsoft.com/office/2007/relationships/diagramDrawing" Target="../diagrams/drawing134.xml"/><Relationship Id="rId5" Type="http://schemas.openxmlformats.org/officeDocument/2006/relationships/diagramColors" Target="../diagrams/colors134.xml"/><Relationship Id="rId4" Type="http://schemas.openxmlformats.org/officeDocument/2006/relationships/diagramQuickStyle" Target="../diagrams/quickStyle134.xml"/></Relationships>
</file>

<file path=ppt/slides/_rels/slide140.xml.rels><?xml version="1.0" encoding="UTF-8" standalone="yes"?>
<Relationships xmlns="http://schemas.openxmlformats.org/package/2006/relationships"><Relationship Id="rId8" Type="http://schemas.openxmlformats.org/officeDocument/2006/relationships/hyperlink" Target="https://stackoverflow.com/questions/10259142/dead-letter-queue-and-poison-queues" TargetMode="External"/><Relationship Id="rId3" Type="http://schemas.openxmlformats.org/officeDocument/2006/relationships/diagramLayout" Target="../diagrams/layout135.xml"/><Relationship Id="rId7" Type="http://schemas.openxmlformats.org/officeDocument/2006/relationships/hyperlink" Target="https://github.com/sandipray63in/DDD-Based-Enterprise-Application-Framework/tree/master/Infrastructure/ExceptionHandling" TargetMode="External"/><Relationship Id="rId2" Type="http://schemas.openxmlformats.org/officeDocument/2006/relationships/diagramData" Target="../diagrams/data135.xml"/><Relationship Id="rId1" Type="http://schemas.openxmlformats.org/officeDocument/2006/relationships/slideLayout" Target="../slideLayouts/slideLayout2.xml"/><Relationship Id="rId6" Type="http://schemas.microsoft.com/office/2007/relationships/diagramDrawing" Target="../diagrams/drawing135.xml"/><Relationship Id="rId5" Type="http://schemas.openxmlformats.org/officeDocument/2006/relationships/diagramColors" Target="../diagrams/colors135.xml"/><Relationship Id="rId4" Type="http://schemas.openxmlformats.org/officeDocument/2006/relationships/diagramQuickStyle" Target="../diagrams/quickStyle135.xml"/></Relationships>
</file>

<file path=ppt/slides/_rels/slide141.xml.rels><?xml version="1.0" encoding="UTF-8" standalone="yes"?>
<Relationships xmlns="http://schemas.openxmlformats.org/package/2006/relationships"><Relationship Id="rId3" Type="http://schemas.openxmlformats.org/officeDocument/2006/relationships/diagramLayout" Target="../diagrams/layout136.xml"/><Relationship Id="rId2" Type="http://schemas.openxmlformats.org/officeDocument/2006/relationships/diagramData" Target="../diagrams/data136.xml"/><Relationship Id="rId1" Type="http://schemas.openxmlformats.org/officeDocument/2006/relationships/slideLayout" Target="../slideLayouts/slideLayout2.xml"/><Relationship Id="rId6" Type="http://schemas.microsoft.com/office/2007/relationships/diagramDrawing" Target="../diagrams/drawing136.xml"/><Relationship Id="rId5" Type="http://schemas.openxmlformats.org/officeDocument/2006/relationships/diagramColors" Target="../diagrams/colors136.xml"/><Relationship Id="rId4" Type="http://schemas.openxmlformats.org/officeDocument/2006/relationships/diagramQuickStyle" Target="../diagrams/quickStyle136.xml"/></Relationships>
</file>

<file path=ppt/slides/_rels/slide142.xml.rels><?xml version="1.0" encoding="UTF-8" standalone="yes"?>
<Relationships xmlns="http://schemas.openxmlformats.org/package/2006/relationships"><Relationship Id="rId3" Type="http://schemas.openxmlformats.org/officeDocument/2006/relationships/diagramLayout" Target="../diagrams/layout137.xml"/><Relationship Id="rId2" Type="http://schemas.openxmlformats.org/officeDocument/2006/relationships/diagramData" Target="../diagrams/data137.xml"/><Relationship Id="rId1" Type="http://schemas.openxmlformats.org/officeDocument/2006/relationships/slideLayout" Target="../slideLayouts/slideLayout2.xml"/><Relationship Id="rId6" Type="http://schemas.microsoft.com/office/2007/relationships/diagramDrawing" Target="../diagrams/drawing137.xml"/><Relationship Id="rId5" Type="http://schemas.openxmlformats.org/officeDocument/2006/relationships/diagramColors" Target="../diagrams/colors137.xml"/><Relationship Id="rId4" Type="http://schemas.openxmlformats.org/officeDocument/2006/relationships/diagramQuickStyle" Target="../diagrams/quickStyle137.xml"/></Relationships>
</file>

<file path=ppt/slides/_rels/slide143.xml.rels><?xml version="1.0" encoding="UTF-8" standalone="yes"?>
<Relationships xmlns="http://schemas.openxmlformats.org/package/2006/relationships"><Relationship Id="rId3" Type="http://schemas.openxmlformats.org/officeDocument/2006/relationships/diagramLayout" Target="../diagrams/layout138.xml"/><Relationship Id="rId2" Type="http://schemas.openxmlformats.org/officeDocument/2006/relationships/diagramData" Target="../diagrams/data138.xml"/><Relationship Id="rId1" Type="http://schemas.openxmlformats.org/officeDocument/2006/relationships/slideLayout" Target="../slideLayouts/slideLayout2.xml"/><Relationship Id="rId6" Type="http://schemas.microsoft.com/office/2007/relationships/diagramDrawing" Target="../diagrams/drawing138.xml"/><Relationship Id="rId5" Type="http://schemas.openxmlformats.org/officeDocument/2006/relationships/diagramColors" Target="../diagrams/colors138.xml"/><Relationship Id="rId4" Type="http://schemas.openxmlformats.org/officeDocument/2006/relationships/diagramQuickStyle" Target="../diagrams/quickStyle138.xml"/></Relationships>
</file>

<file path=ppt/slides/_rels/slide144.xml.rels><?xml version="1.0" encoding="UTF-8" standalone="yes"?>
<Relationships xmlns="http://schemas.openxmlformats.org/package/2006/relationships"><Relationship Id="rId3" Type="http://schemas.openxmlformats.org/officeDocument/2006/relationships/diagramLayout" Target="../diagrams/layout139.xml"/><Relationship Id="rId2" Type="http://schemas.openxmlformats.org/officeDocument/2006/relationships/diagramData" Target="../diagrams/data139.xml"/><Relationship Id="rId1" Type="http://schemas.openxmlformats.org/officeDocument/2006/relationships/slideLayout" Target="../slideLayouts/slideLayout2.xml"/><Relationship Id="rId6" Type="http://schemas.microsoft.com/office/2007/relationships/diagramDrawing" Target="../diagrams/drawing139.xml"/><Relationship Id="rId5" Type="http://schemas.openxmlformats.org/officeDocument/2006/relationships/diagramColors" Target="../diagrams/colors139.xml"/><Relationship Id="rId4" Type="http://schemas.openxmlformats.org/officeDocument/2006/relationships/diagramQuickStyle" Target="../diagrams/quickStyle139.xml"/></Relationships>
</file>

<file path=ppt/slides/_rels/slide145.xml.rels><?xml version="1.0" encoding="UTF-8" standalone="yes"?>
<Relationships xmlns="http://schemas.openxmlformats.org/package/2006/relationships"><Relationship Id="rId3" Type="http://schemas.openxmlformats.org/officeDocument/2006/relationships/diagramLayout" Target="../diagrams/layout140.xml"/><Relationship Id="rId2" Type="http://schemas.openxmlformats.org/officeDocument/2006/relationships/diagramData" Target="../diagrams/data140.xml"/><Relationship Id="rId1" Type="http://schemas.openxmlformats.org/officeDocument/2006/relationships/slideLayout" Target="../slideLayouts/slideLayout2.xml"/><Relationship Id="rId6" Type="http://schemas.microsoft.com/office/2007/relationships/diagramDrawing" Target="../diagrams/drawing140.xml"/><Relationship Id="rId5" Type="http://schemas.openxmlformats.org/officeDocument/2006/relationships/diagramColors" Target="../diagrams/colors140.xml"/><Relationship Id="rId4" Type="http://schemas.openxmlformats.org/officeDocument/2006/relationships/diagramQuickStyle" Target="../diagrams/quickStyle140.xml"/></Relationships>
</file>

<file path=ppt/slides/_rels/slide146.xml.rels><?xml version="1.0" encoding="UTF-8" standalone="yes"?>
<Relationships xmlns="http://schemas.openxmlformats.org/package/2006/relationships"><Relationship Id="rId3" Type="http://schemas.openxmlformats.org/officeDocument/2006/relationships/diagramLayout" Target="../diagrams/layout141.xml"/><Relationship Id="rId2" Type="http://schemas.openxmlformats.org/officeDocument/2006/relationships/diagramData" Target="../diagrams/data141.xml"/><Relationship Id="rId1" Type="http://schemas.openxmlformats.org/officeDocument/2006/relationships/slideLayout" Target="../slideLayouts/slideLayout2.xml"/><Relationship Id="rId6" Type="http://schemas.microsoft.com/office/2007/relationships/diagramDrawing" Target="../diagrams/drawing141.xml"/><Relationship Id="rId5" Type="http://schemas.openxmlformats.org/officeDocument/2006/relationships/diagramColors" Target="../diagrams/colors141.xml"/><Relationship Id="rId4" Type="http://schemas.openxmlformats.org/officeDocument/2006/relationships/diagramQuickStyle" Target="../diagrams/quickStyle141.xml"/></Relationships>
</file>

<file path=ppt/slides/_rels/slide147.xml.rels><?xml version="1.0" encoding="UTF-8" standalone="yes"?>
<Relationships xmlns="http://schemas.openxmlformats.org/package/2006/relationships"><Relationship Id="rId8" Type="http://schemas.openxmlformats.org/officeDocument/2006/relationships/hyperlink" Target="https://www.solarwinds.com/resources/it-glossary/network-availability" TargetMode="External"/><Relationship Id="rId3" Type="http://schemas.openxmlformats.org/officeDocument/2006/relationships/diagramLayout" Target="../diagrams/layout142.xml"/><Relationship Id="rId7" Type="http://schemas.openxmlformats.org/officeDocument/2006/relationships/hyperlink" Target="https://nilesecure.com/network-design/network-scalability" TargetMode="External"/><Relationship Id="rId2" Type="http://schemas.openxmlformats.org/officeDocument/2006/relationships/diagramData" Target="../diagrams/data142.xml"/><Relationship Id="rId1" Type="http://schemas.openxmlformats.org/officeDocument/2006/relationships/slideLayout" Target="../slideLayouts/slideLayout2.xml"/><Relationship Id="rId6" Type="http://schemas.microsoft.com/office/2007/relationships/diagramDrawing" Target="../diagrams/drawing142.xml"/><Relationship Id="rId5" Type="http://schemas.openxmlformats.org/officeDocument/2006/relationships/diagramColors" Target="../diagrams/colors142.xml"/><Relationship Id="rId4" Type="http://schemas.openxmlformats.org/officeDocument/2006/relationships/diagramQuickStyle" Target="../diagrams/quickStyle142.xml"/><Relationship Id="rId9" Type="http://schemas.openxmlformats.org/officeDocument/2006/relationships/hyperlink" Target="https://www.f5.com/glossary/network-availability" TargetMode="External"/></Relationships>
</file>

<file path=ppt/slides/_rels/slide148.xml.rels><?xml version="1.0" encoding="UTF-8" standalone="yes"?>
<Relationships xmlns="http://schemas.openxmlformats.org/package/2006/relationships"><Relationship Id="rId3" Type="http://schemas.openxmlformats.org/officeDocument/2006/relationships/diagramLayout" Target="../diagrams/layout143.xml"/><Relationship Id="rId2" Type="http://schemas.openxmlformats.org/officeDocument/2006/relationships/diagramData" Target="../diagrams/data143.xml"/><Relationship Id="rId1" Type="http://schemas.openxmlformats.org/officeDocument/2006/relationships/slideLayout" Target="../slideLayouts/slideLayout2.xml"/><Relationship Id="rId6" Type="http://schemas.microsoft.com/office/2007/relationships/diagramDrawing" Target="../diagrams/drawing143.xml"/><Relationship Id="rId5" Type="http://schemas.openxmlformats.org/officeDocument/2006/relationships/diagramColors" Target="../diagrams/colors143.xml"/><Relationship Id="rId4" Type="http://schemas.openxmlformats.org/officeDocument/2006/relationships/diagramQuickStyle" Target="../diagrams/quickStyle143.xml"/></Relationships>
</file>

<file path=ppt/slides/_rels/slide149.xml.rels><?xml version="1.0" encoding="UTF-8" standalone="yes"?>
<Relationships xmlns="http://schemas.openxmlformats.org/package/2006/relationships"><Relationship Id="rId8" Type="http://schemas.openxmlformats.org/officeDocument/2006/relationships/hyperlink" Target="https://en.m.wikipedia.org/wiki/Privacy-nhancing_technologies" TargetMode="External"/><Relationship Id="rId3" Type="http://schemas.openxmlformats.org/officeDocument/2006/relationships/diagramLayout" Target="../diagrams/layout144.xml"/><Relationship Id="rId7" Type="http://schemas.openxmlformats.org/officeDocument/2006/relationships/image" Target="../media/image62.png"/><Relationship Id="rId2" Type="http://schemas.openxmlformats.org/officeDocument/2006/relationships/diagramData" Target="../diagrams/data144.xml"/><Relationship Id="rId1" Type="http://schemas.openxmlformats.org/officeDocument/2006/relationships/slideLayout" Target="../slideLayouts/slideLayout2.xml"/><Relationship Id="rId6" Type="http://schemas.microsoft.com/office/2007/relationships/diagramDrawing" Target="../diagrams/drawing144.xml"/><Relationship Id="rId5" Type="http://schemas.openxmlformats.org/officeDocument/2006/relationships/diagramColors" Target="../diagrams/colors144.xml"/><Relationship Id="rId4" Type="http://schemas.openxmlformats.org/officeDocument/2006/relationships/diagramQuickStyle" Target="../diagrams/quickStyle144.xml"/></Relationships>
</file>

<file path=ppt/slides/_rels/slide150.xml.rels><?xml version="1.0" encoding="UTF-8" standalone="yes"?>
<Relationships xmlns="http://schemas.openxmlformats.org/package/2006/relationships"><Relationship Id="rId8" Type="http://schemas.openxmlformats.org/officeDocument/2006/relationships/hyperlink" Target="https://accelera.com.au/what-the-sec-is-devsecops/" TargetMode="External"/><Relationship Id="rId3" Type="http://schemas.openxmlformats.org/officeDocument/2006/relationships/diagramLayout" Target="../diagrams/layout145.xml"/><Relationship Id="rId7" Type="http://schemas.openxmlformats.org/officeDocument/2006/relationships/hyperlink" Target="https://www.blackduck.com/blog/secure-sdlc.html" TargetMode="External"/><Relationship Id="rId2" Type="http://schemas.openxmlformats.org/officeDocument/2006/relationships/diagramData" Target="../diagrams/data145.xml"/><Relationship Id="rId1" Type="http://schemas.openxmlformats.org/officeDocument/2006/relationships/slideLayout" Target="../slideLayouts/slideLayout2.xml"/><Relationship Id="rId6" Type="http://schemas.microsoft.com/office/2007/relationships/diagramDrawing" Target="../diagrams/drawing145.xml"/><Relationship Id="rId5" Type="http://schemas.openxmlformats.org/officeDocument/2006/relationships/diagramColors" Target="../diagrams/colors145.xml"/><Relationship Id="rId4" Type="http://schemas.openxmlformats.org/officeDocument/2006/relationships/diagramQuickStyle" Target="../diagrams/quickStyle145.xml"/><Relationship Id="rId9" Type="http://schemas.openxmlformats.org/officeDocument/2006/relationships/image" Target="../media/image63.png"/></Relationships>
</file>

<file path=ppt/slides/_rels/slide151.xml.rels><?xml version="1.0" encoding="UTF-8" standalone="yes"?>
<Relationships xmlns="http://schemas.openxmlformats.org/package/2006/relationships"><Relationship Id="rId8" Type="http://schemas.openxmlformats.org/officeDocument/2006/relationships/hyperlink" Target="https://www.microsoft.com/en-in/security/business/zero-trust" TargetMode="External"/><Relationship Id="rId3" Type="http://schemas.openxmlformats.org/officeDocument/2006/relationships/diagramLayout" Target="../diagrams/layout146.xml"/><Relationship Id="rId7" Type="http://schemas.openxmlformats.org/officeDocument/2006/relationships/hyperlink" Target="https://www.crowdstrike.com/en-us/cybersecurity-101/zero-trust-security/" TargetMode="External"/><Relationship Id="rId2" Type="http://schemas.openxmlformats.org/officeDocument/2006/relationships/diagramData" Target="../diagrams/data146.xml"/><Relationship Id="rId1" Type="http://schemas.openxmlformats.org/officeDocument/2006/relationships/slideLayout" Target="../slideLayouts/slideLayout2.xml"/><Relationship Id="rId6" Type="http://schemas.microsoft.com/office/2007/relationships/diagramDrawing" Target="../diagrams/drawing146.xml"/><Relationship Id="rId5" Type="http://schemas.openxmlformats.org/officeDocument/2006/relationships/diagramColors" Target="../diagrams/colors146.xml"/><Relationship Id="rId10" Type="http://schemas.openxmlformats.org/officeDocument/2006/relationships/image" Target="../media/image64.png"/><Relationship Id="rId4" Type="http://schemas.openxmlformats.org/officeDocument/2006/relationships/diagramQuickStyle" Target="../diagrams/quickStyle146.xml"/><Relationship Id="rId9" Type="http://schemas.openxmlformats.org/officeDocument/2006/relationships/hyperlink" Target="https://www.linkedin.com/pulse/zero-trust-security-cautious-move-balaji-ramarajan/" TargetMode="External"/></Relationships>
</file>

<file path=ppt/slides/_rels/slide152.xml.rels><?xml version="1.0" encoding="UTF-8" standalone="yes"?>
<Relationships xmlns="http://schemas.openxmlformats.org/package/2006/relationships"><Relationship Id="rId3" Type="http://schemas.openxmlformats.org/officeDocument/2006/relationships/diagramLayout" Target="../diagrams/layout147.xml"/><Relationship Id="rId2" Type="http://schemas.openxmlformats.org/officeDocument/2006/relationships/diagramData" Target="../diagrams/data147.xml"/><Relationship Id="rId1" Type="http://schemas.openxmlformats.org/officeDocument/2006/relationships/slideLayout" Target="../slideLayouts/slideLayout2.xml"/><Relationship Id="rId6" Type="http://schemas.microsoft.com/office/2007/relationships/diagramDrawing" Target="../diagrams/drawing147.xml"/><Relationship Id="rId5" Type="http://schemas.openxmlformats.org/officeDocument/2006/relationships/diagramColors" Target="../diagrams/colors147.xml"/><Relationship Id="rId4" Type="http://schemas.openxmlformats.org/officeDocument/2006/relationships/diagramQuickStyle" Target="../diagrams/quickStyle147.xml"/></Relationships>
</file>

<file path=ppt/slides/_rels/slide153.xml.rels><?xml version="1.0" encoding="UTF-8" standalone="yes"?>
<Relationships xmlns="http://schemas.openxmlformats.org/package/2006/relationships"><Relationship Id="rId3" Type="http://schemas.openxmlformats.org/officeDocument/2006/relationships/diagramLayout" Target="../diagrams/layout148.xml"/><Relationship Id="rId7" Type="http://schemas.openxmlformats.org/officeDocument/2006/relationships/image" Target="../media/image65.png"/><Relationship Id="rId2" Type="http://schemas.openxmlformats.org/officeDocument/2006/relationships/diagramData" Target="../diagrams/data148.xml"/><Relationship Id="rId1" Type="http://schemas.openxmlformats.org/officeDocument/2006/relationships/slideLayout" Target="../slideLayouts/slideLayout2.xml"/><Relationship Id="rId6" Type="http://schemas.microsoft.com/office/2007/relationships/diagramDrawing" Target="../diagrams/drawing148.xml"/><Relationship Id="rId5" Type="http://schemas.openxmlformats.org/officeDocument/2006/relationships/diagramColors" Target="../diagrams/colors148.xml"/><Relationship Id="rId4" Type="http://schemas.openxmlformats.org/officeDocument/2006/relationships/diagramQuickStyle" Target="../diagrams/quickStyle148.xml"/></Relationships>
</file>

<file path=ppt/slides/_rels/slide154.xml.rels><?xml version="1.0" encoding="UTF-8" standalone="yes"?>
<Relationships xmlns="http://schemas.openxmlformats.org/package/2006/relationships"><Relationship Id="rId8" Type="http://schemas.openxmlformats.org/officeDocument/2006/relationships/hyperlink" Target="https://tetrate.io/learn/what-is-mtls/" TargetMode="External"/><Relationship Id="rId3" Type="http://schemas.openxmlformats.org/officeDocument/2006/relationships/diagramLayout" Target="../diagrams/layout149.xml"/><Relationship Id="rId7" Type="http://schemas.openxmlformats.org/officeDocument/2006/relationships/image" Target="../media/image66.png"/><Relationship Id="rId2" Type="http://schemas.openxmlformats.org/officeDocument/2006/relationships/diagramData" Target="../diagrams/data149.xml"/><Relationship Id="rId1" Type="http://schemas.openxmlformats.org/officeDocument/2006/relationships/slideLayout" Target="../slideLayouts/slideLayout2.xml"/><Relationship Id="rId6" Type="http://schemas.microsoft.com/office/2007/relationships/diagramDrawing" Target="../diagrams/drawing149.xml"/><Relationship Id="rId11" Type="http://schemas.openxmlformats.org/officeDocument/2006/relationships/hyperlink" Target="https://learn.microsoft.com/en-us/answers/questions/2141429/implementing-mtls-between-two-apps-using-asp-net" TargetMode="External"/><Relationship Id="rId5" Type="http://schemas.openxmlformats.org/officeDocument/2006/relationships/diagramColors" Target="../diagrams/colors149.xml"/><Relationship Id="rId10" Type="http://schemas.openxmlformats.org/officeDocument/2006/relationships/hyperlink" Target="https://github.com/kallerosenbaum/grokkingbitcoin/blob/master/ch02-hash-functions-and-signatures.adoc" TargetMode="External"/><Relationship Id="rId4" Type="http://schemas.openxmlformats.org/officeDocument/2006/relationships/diagramQuickStyle" Target="../diagrams/quickStyle149.xml"/><Relationship Id="rId9" Type="http://schemas.openxmlformats.org/officeDocument/2006/relationships/hyperlink" Target="https://aws.amazon.com/compare/the-difference-between-ssl-and-tls/" TargetMode="External"/></Relationships>
</file>

<file path=ppt/slides/_rels/slide155.xml.rels><?xml version="1.0" encoding="UTF-8" standalone="yes"?>
<Relationships xmlns="http://schemas.openxmlformats.org/package/2006/relationships"><Relationship Id="rId3" Type="http://schemas.openxmlformats.org/officeDocument/2006/relationships/diagramLayout" Target="../diagrams/layout150.xml"/><Relationship Id="rId7" Type="http://schemas.openxmlformats.org/officeDocument/2006/relationships/image" Target="../media/image67.png"/><Relationship Id="rId2" Type="http://schemas.openxmlformats.org/officeDocument/2006/relationships/diagramData" Target="../diagrams/data150.xml"/><Relationship Id="rId1" Type="http://schemas.openxmlformats.org/officeDocument/2006/relationships/slideLayout" Target="../slideLayouts/slideLayout2.xml"/><Relationship Id="rId6" Type="http://schemas.microsoft.com/office/2007/relationships/diagramDrawing" Target="../diagrams/drawing150.xml"/><Relationship Id="rId5" Type="http://schemas.openxmlformats.org/officeDocument/2006/relationships/diagramColors" Target="../diagrams/colors150.xml"/><Relationship Id="rId4" Type="http://schemas.openxmlformats.org/officeDocument/2006/relationships/diagramQuickStyle" Target="../diagrams/quickStyle150.xml"/></Relationships>
</file>

<file path=ppt/slides/_rels/slide156.xml.rels><?xml version="1.0" encoding="UTF-8" standalone="yes"?>
<Relationships xmlns="http://schemas.openxmlformats.org/package/2006/relationships"><Relationship Id="rId3" Type="http://schemas.openxmlformats.org/officeDocument/2006/relationships/diagramLayout" Target="../diagrams/layout151.xml"/><Relationship Id="rId7" Type="http://schemas.openxmlformats.org/officeDocument/2006/relationships/image" Target="../media/image68.png"/><Relationship Id="rId2" Type="http://schemas.openxmlformats.org/officeDocument/2006/relationships/diagramData" Target="../diagrams/data151.xml"/><Relationship Id="rId1" Type="http://schemas.openxmlformats.org/officeDocument/2006/relationships/slideLayout" Target="../slideLayouts/slideLayout2.xml"/><Relationship Id="rId6" Type="http://schemas.microsoft.com/office/2007/relationships/diagramDrawing" Target="../diagrams/drawing151.xml"/><Relationship Id="rId5" Type="http://schemas.openxmlformats.org/officeDocument/2006/relationships/diagramColors" Target="../diagrams/colors151.xml"/><Relationship Id="rId4" Type="http://schemas.openxmlformats.org/officeDocument/2006/relationships/diagramQuickStyle" Target="../diagrams/quickStyle151.xml"/></Relationships>
</file>

<file path=ppt/slides/_rels/slide157.xml.rels><?xml version="1.0" encoding="UTF-8" standalone="yes"?>
<Relationships xmlns="http://schemas.openxmlformats.org/package/2006/relationships"><Relationship Id="rId3" Type="http://schemas.openxmlformats.org/officeDocument/2006/relationships/diagramLayout" Target="../diagrams/layout152.xml"/><Relationship Id="rId7" Type="http://schemas.openxmlformats.org/officeDocument/2006/relationships/image" Target="../media/image69.png"/><Relationship Id="rId2" Type="http://schemas.openxmlformats.org/officeDocument/2006/relationships/diagramData" Target="../diagrams/data152.xml"/><Relationship Id="rId1" Type="http://schemas.openxmlformats.org/officeDocument/2006/relationships/slideLayout" Target="../slideLayouts/slideLayout2.xml"/><Relationship Id="rId6" Type="http://schemas.microsoft.com/office/2007/relationships/diagramDrawing" Target="../diagrams/drawing152.xml"/><Relationship Id="rId5" Type="http://schemas.openxmlformats.org/officeDocument/2006/relationships/diagramColors" Target="../diagrams/colors152.xml"/><Relationship Id="rId4" Type="http://schemas.openxmlformats.org/officeDocument/2006/relationships/diagramQuickStyle" Target="../diagrams/quickStyle152.xml"/></Relationships>
</file>

<file path=ppt/slides/_rels/slide158.xml.rels><?xml version="1.0" encoding="UTF-8" standalone="yes"?>
<Relationships xmlns="http://schemas.openxmlformats.org/package/2006/relationships"><Relationship Id="rId3" Type="http://schemas.openxmlformats.org/officeDocument/2006/relationships/diagramLayout" Target="../diagrams/layout153.xml"/><Relationship Id="rId7" Type="http://schemas.openxmlformats.org/officeDocument/2006/relationships/image" Target="../media/image69.png"/><Relationship Id="rId2" Type="http://schemas.openxmlformats.org/officeDocument/2006/relationships/diagramData" Target="../diagrams/data153.xml"/><Relationship Id="rId1" Type="http://schemas.openxmlformats.org/officeDocument/2006/relationships/slideLayout" Target="../slideLayouts/slideLayout2.xml"/><Relationship Id="rId6" Type="http://schemas.microsoft.com/office/2007/relationships/diagramDrawing" Target="../diagrams/drawing153.xml"/><Relationship Id="rId5" Type="http://schemas.openxmlformats.org/officeDocument/2006/relationships/diagramColors" Target="../diagrams/colors153.xml"/><Relationship Id="rId4" Type="http://schemas.openxmlformats.org/officeDocument/2006/relationships/diagramQuickStyle" Target="../diagrams/quickStyle153.xml"/></Relationships>
</file>

<file path=ppt/slides/_rels/slide159.xml.rels><?xml version="1.0" encoding="UTF-8" standalone="yes"?>
<Relationships xmlns="http://schemas.openxmlformats.org/package/2006/relationships"><Relationship Id="rId3" Type="http://schemas.openxmlformats.org/officeDocument/2006/relationships/diagramLayout" Target="../diagrams/layout154.xml"/><Relationship Id="rId7" Type="http://schemas.openxmlformats.org/officeDocument/2006/relationships/image" Target="../media/image70.png"/><Relationship Id="rId2" Type="http://schemas.openxmlformats.org/officeDocument/2006/relationships/diagramData" Target="../diagrams/data154.xml"/><Relationship Id="rId1" Type="http://schemas.openxmlformats.org/officeDocument/2006/relationships/slideLayout" Target="../slideLayouts/slideLayout2.xml"/><Relationship Id="rId6" Type="http://schemas.microsoft.com/office/2007/relationships/diagramDrawing" Target="../diagrams/drawing154.xml"/><Relationship Id="rId5" Type="http://schemas.openxmlformats.org/officeDocument/2006/relationships/diagramColors" Target="../diagrams/colors154.xml"/><Relationship Id="rId4" Type="http://schemas.openxmlformats.org/officeDocument/2006/relationships/diagramQuickStyle" Target="../diagrams/quickStyle154.xml"/></Relationships>
</file>

<file path=ppt/slides/_rels/slide160.xml.rels><?xml version="1.0" encoding="UTF-8" standalone="yes"?>
<Relationships xmlns="http://schemas.openxmlformats.org/package/2006/relationships"><Relationship Id="rId3" Type="http://schemas.openxmlformats.org/officeDocument/2006/relationships/diagramLayout" Target="../diagrams/layout155.xml"/><Relationship Id="rId7" Type="http://schemas.openxmlformats.org/officeDocument/2006/relationships/image" Target="../media/image71.png"/><Relationship Id="rId2" Type="http://schemas.openxmlformats.org/officeDocument/2006/relationships/diagramData" Target="../diagrams/data155.xml"/><Relationship Id="rId1" Type="http://schemas.openxmlformats.org/officeDocument/2006/relationships/slideLayout" Target="../slideLayouts/slideLayout2.xml"/><Relationship Id="rId6" Type="http://schemas.microsoft.com/office/2007/relationships/diagramDrawing" Target="../diagrams/drawing155.xml"/><Relationship Id="rId5" Type="http://schemas.openxmlformats.org/officeDocument/2006/relationships/diagramColors" Target="../diagrams/colors155.xml"/><Relationship Id="rId4" Type="http://schemas.openxmlformats.org/officeDocument/2006/relationships/diagramQuickStyle" Target="../diagrams/quickStyle155.xml"/></Relationships>
</file>

<file path=ppt/slides/_rels/slide161.xml.rels><?xml version="1.0" encoding="UTF-8" standalone="yes"?>
<Relationships xmlns="http://schemas.openxmlformats.org/package/2006/relationships"><Relationship Id="rId3" Type="http://schemas.openxmlformats.org/officeDocument/2006/relationships/diagramLayout" Target="../diagrams/layout156.xml"/><Relationship Id="rId7" Type="http://schemas.openxmlformats.org/officeDocument/2006/relationships/hyperlink" Target="https://connect2id.com/blog/how-to-validate-an-openid-connect-id-token" TargetMode="External"/><Relationship Id="rId2" Type="http://schemas.openxmlformats.org/officeDocument/2006/relationships/diagramData" Target="../diagrams/data156.xml"/><Relationship Id="rId1" Type="http://schemas.openxmlformats.org/officeDocument/2006/relationships/slideLayout" Target="../slideLayouts/slideLayout2.xml"/><Relationship Id="rId6" Type="http://schemas.microsoft.com/office/2007/relationships/diagramDrawing" Target="../diagrams/drawing156.xml"/><Relationship Id="rId5" Type="http://schemas.openxmlformats.org/officeDocument/2006/relationships/diagramColors" Target="../diagrams/colors156.xml"/><Relationship Id="rId4" Type="http://schemas.openxmlformats.org/officeDocument/2006/relationships/diagramQuickStyle" Target="../diagrams/quickStyle156.xml"/></Relationships>
</file>

<file path=ppt/slides/_rels/slide162.xml.rels><?xml version="1.0" encoding="UTF-8" standalone="yes"?>
<Relationships xmlns="http://schemas.openxmlformats.org/package/2006/relationships"><Relationship Id="rId8" Type="http://schemas.openxmlformats.org/officeDocument/2006/relationships/hyperlink" Target="https://stackoverflow.com/questions/63465539/web-sso-with-external-or-partner-applications" TargetMode="External"/><Relationship Id="rId3" Type="http://schemas.openxmlformats.org/officeDocument/2006/relationships/diagramLayout" Target="../diagrams/layout157.xml"/><Relationship Id="rId7" Type="http://schemas.openxmlformats.org/officeDocument/2006/relationships/image" Target="../media/image72.png"/><Relationship Id="rId2" Type="http://schemas.openxmlformats.org/officeDocument/2006/relationships/diagramData" Target="../diagrams/data157.xml"/><Relationship Id="rId1" Type="http://schemas.openxmlformats.org/officeDocument/2006/relationships/slideLayout" Target="../slideLayouts/slideLayout2.xml"/><Relationship Id="rId6" Type="http://schemas.microsoft.com/office/2007/relationships/diagramDrawing" Target="../diagrams/drawing157.xml"/><Relationship Id="rId5" Type="http://schemas.openxmlformats.org/officeDocument/2006/relationships/diagramColors" Target="../diagrams/colors157.xml"/><Relationship Id="rId10" Type="http://schemas.openxmlformats.org/officeDocument/2006/relationships/hyperlink" Target="https://www.linkedin.com/posts/nikkisiapno_%3F%3F%3F-%3F%3F%3F%3F%3F%3F-%3F%3F%3F%3F-%3F%3F-%3F%3F%3F%3F%3F%3F%3F%3F%3F-activity-7204024260158193664-HTSo/" TargetMode="External"/><Relationship Id="rId4" Type="http://schemas.openxmlformats.org/officeDocument/2006/relationships/diagramQuickStyle" Target="../diagrams/quickStyle157.xml"/><Relationship Id="rId9" Type="http://schemas.openxmlformats.org/officeDocument/2006/relationships/hyperlink" Target="https://newsletter.techworld-with-milan.com/p/how-does-single-sign-on-sso-work" TargetMode="External"/></Relationships>
</file>

<file path=ppt/slides/_rels/slide163.xml.rels><?xml version="1.0" encoding="UTF-8" standalone="yes"?>
<Relationships xmlns="http://schemas.openxmlformats.org/package/2006/relationships"><Relationship Id="rId8" Type="http://schemas.openxmlformats.org/officeDocument/2006/relationships/hyperlink" Target="https://auth0.com/docs/manage-users/organizations" TargetMode="External"/><Relationship Id="rId3" Type="http://schemas.openxmlformats.org/officeDocument/2006/relationships/diagramLayout" Target="../diagrams/layout158.xml"/><Relationship Id="rId7" Type="http://schemas.openxmlformats.org/officeDocument/2006/relationships/hyperlink" Target="https://auth0.com/docs/manage-users/user-accounts/user-account-linking" TargetMode="External"/><Relationship Id="rId2" Type="http://schemas.openxmlformats.org/officeDocument/2006/relationships/diagramData" Target="../diagrams/data158.xml"/><Relationship Id="rId1" Type="http://schemas.openxmlformats.org/officeDocument/2006/relationships/slideLayout" Target="../slideLayouts/slideLayout2.xml"/><Relationship Id="rId6" Type="http://schemas.microsoft.com/office/2007/relationships/diagramDrawing" Target="../diagrams/drawing158.xml"/><Relationship Id="rId5" Type="http://schemas.openxmlformats.org/officeDocument/2006/relationships/diagramColors" Target="../diagrams/colors158.xml"/><Relationship Id="rId4" Type="http://schemas.openxmlformats.org/officeDocument/2006/relationships/diagramQuickStyle" Target="../diagrams/quickStyle158.xml"/><Relationship Id="rId9" Type="http://schemas.openxmlformats.org/officeDocument/2006/relationships/hyperlink" Target="https://community.auth0.com/t/account-linking-and-sso/128446" TargetMode="External"/></Relationships>
</file>

<file path=ppt/slides/_rels/slide164.xml.rels><?xml version="1.0" encoding="UTF-8" standalone="yes"?>
<Relationships xmlns="http://schemas.openxmlformats.org/package/2006/relationships"><Relationship Id="rId3" Type="http://schemas.openxmlformats.org/officeDocument/2006/relationships/diagramLayout" Target="../diagrams/layout159.xml"/><Relationship Id="rId2" Type="http://schemas.openxmlformats.org/officeDocument/2006/relationships/diagramData" Target="../diagrams/data159.xml"/><Relationship Id="rId1" Type="http://schemas.openxmlformats.org/officeDocument/2006/relationships/slideLayout" Target="../slideLayouts/slideLayout2.xml"/><Relationship Id="rId6" Type="http://schemas.microsoft.com/office/2007/relationships/diagramDrawing" Target="../diagrams/drawing159.xml"/><Relationship Id="rId5" Type="http://schemas.openxmlformats.org/officeDocument/2006/relationships/diagramColors" Target="../diagrams/colors159.xml"/><Relationship Id="rId4" Type="http://schemas.openxmlformats.org/officeDocument/2006/relationships/diagramQuickStyle" Target="../diagrams/quickStyle159.xml"/></Relationships>
</file>

<file path=ppt/slides/_rels/slide165.xml.rels><?xml version="1.0" encoding="UTF-8" standalone="yes"?>
<Relationships xmlns="http://schemas.openxmlformats.org/package/2006/relationships"><Relationship Id="rId3" Type="http://schemas.openxmlformats.org/officeDocument/2006/relationships/diagramLayout" Target="../diagrams/layout160.xml"/><Relationship Id="rId2" Type="http://schemas.openxmlformats.org/officeDocument/2006/relationships/diagramData" Target="../diagrams/data160.xml"/><Relationship Id="rId1" Type="http://schemas.openxmlformats.org/officeDocument/2006/relationships/slideLayout" Target="../slideLayouts/slideLayout2.xml"/><Relationship Id="rId6" Type="http://schemas.microsoft.com/office/2007/relationships/diagramDrawing" Target="../diagrams/drawing160.xml"/><Relationship Id="rId5" Type="http://schemas.openxmlformats.org/officeDocument/2006/relationships/diagramColors" Target="../diagrams/colors160.xml"/><Relationship Id="rId4" Type="http://schemas.openxmlformats.org/officeDocument/2006/relationships/diagramQuickStyle" Target="../diagrams/quickStyle160.xml"/></Relationships>
</file>

<file path=ppt/slides/_rels/slide166.xml.rels><?xml version="1.0" encoding="UTF-8" standalone="yes"?>
<Relationships xmlns="http://schemas.openxmlformats.org/package/2006/relationships"><Relationship Id="rId3" Type="http://schemas.openxmlformats.org/officeDocument/2006/relationships/diagramLayout" Target="../diagrams/layout161.xml"/><Relationship Id="rId2" Type="http://schemas.openxmlformats.org/officeDocument/2006/relationships/diagramData" Target="../diagrams/data161.xml"/><Relationship Id="rId1" Type="http://schemas.openxmlformats.org/officeDocument/2006/relationships/slideLayout" Target="../slideLayouts/slideLayout2.xml"/><Relationship Id="rId6" Type="http://schemas.microsoft.com/office/2007/relationships/diagramDrawing" Target="../diagrams/drawing161.xml"/><Relationship Id="rId5" Type="http://schemas.openxmlformats.org/officeDocument/2006/relationships/diagramColors" Target="../diagrams/colors161.xml"/><Relationship Id="rId4" Type="http://schemas.openxmlformats.org/officeDocument/2006/relationships/diagramQuickStyle" Target="../diagrams/quickStyle161.xml"/></Relationships>
</file>

<file path=ppt/slides/_rels/slide167.xml.rels><?xml version="1.0" encoding="UTF-8" standalone="yes"?>
<Relationships xmlns="http://schemas.openxmlformats.org/package/2006/relationships"><Relationship Id="rId3" Type="http://schemas.openxmlformats.org/officeDocument/2006/relationships/diagramLayout" Target="../diagrams/layout162.xml"/><Relationship Id="rId2" Type="http://schemas.openxmlformats.org/officeDocument/2006/relationships/diagramData" Target="../diagrams/data162.xml"/><Relationship Id="rId1" Type="http://schemas.openxmlformats.org/officeDocument/2006/relationships/slideLayout" Target="../slideLayouts/slideLayout2.xml"/><Relationship Id="rId6" Type="http://schemas.microsoft.com/office/2007/relationships/diagramDrawing" Target="../diagrams/drawing162.xml"/><Relationship Id="rId5" Type="http://schemas.openxmlformats.org/officeDocument/2006/relationships/diagramColors" Target="../diagrams/colors162.xml"/><Relationship Id="rId4" Type="http://schemas.openxmlformats.org/officeDocument/2006/relationships/diagramQuickStyle" Target="../diagrams/quickStyle162.xml"/></Relationships>
</file>

<file path=ppt/slides/_rels/slide168.xml.rels><?xml version="1.0" encoding="UTF-8" standalone="yes"?>
<Relationships xmlns="http://schemas.openxmlformats.org/package/2006/relationships"><Relationship Id="rId3" Type="http://schemas.openxmlformats.org/officeDocument/2006/relationships/diagramLayout" Target="../diagrams/layout163.xml"/><Relationship Id="rId2" Type="http://schemas.openxmlformats.org/officeDocument/2006/relationships/diagramData" Target="../diagrams/data163.xml"/><Relationship Id="rId1" Type="http://schemas.openxmlformats.org/officeDocument/2006/relationships/slideLayout" Target="../slideLayouts/slideLayout2.xml"/><Relationship Id="rId6" Type="http://schemas.microsoft.com/office/2007/relationships/diagramDrawing" Target="../diagrams/drawing163.xml"/><Relationship Id="rId5" Type="http://schemas.openxmlformats.org/officeDocument/2006/relationships/diagramColors" Target="../diagrams/colors163.xml"/><Relationship Id="rId4" Type="http://schemas.openxmlformats.org/officeDocument/2006/relationships/diagramQuickStyle" Target="../diagrams/quickStyle163.xml"/></Relationships>
</file>

<file path=ppt/slides/_rels/slide169.xml.rels><?xml version="1.0" encoding="UTF-8" standalone="yes"?>
<Relationships xmlns="http://schemas.openxmlformats.org/package/2006/relationships"><Relationship Id="rId8" Type="http://schemas.openxmlformats.org/officeDocument/2006/relationships/hyperlink" Target="https://www.openpolicyagent.org/docs/policy-language" TargetMode="External"/><Relationship Id="rId3" Type="http://schemas.openxmlformats.org/officeDocument/2006/relationships/diagramLayout" Target="../diagrams/layout164.xml"/><Relationship Id="rId7" Type="http://schemas.openxmlformats.org/officeDocument/2006/relationships/hyperlink" Target="https://www.aserto.com/blog/rbac-abac-and-rebac-differences-and-scenarios" TargetMode="External"/><Relationship Id="rId12" Type="http://schemas.openxmlformats.org/officeDocument/2006/relationships/hyperlink" Target="https://www.manning.com/books/dynamic-authorization" TargetMode="External"/><Relationship Id="rId2" Type="http://schemas.openxmlformats.org/officeDocument/2006/relationships/diagramData" Target="../diagrams/data164.xml"/><Relationship Id="rId1" Type="http://schemas.openxmlformats.org/officeDocument/2006/relationships/slideLayout" Target="../slideLayouts/slideLayout2.xml"/><Relationship Id="rId6" Type="http://schemas.microsoft.com/office/2007/relationships/diagramDrawing" Target="../diagrams/drawing164.xml"/><Relationship Id="rId11" Type="http://schemas.openxmlformats.org/officeDocument/2006/relationships/hyperlink" Target="https://docs.solo.io/gloo-mesh-enterprise/main/security/external-auth/opa/opa-byo/" TargetMode="External"/><Relationship Id="rId5" Type="http://schemas.openxmlformats.org/officeDocument/2006/relationships/diagramColors" Target="../diagrams/colors164.xml"/><Relationship Id="rId10" Type="http://schemas.openxmlformats.org/officeDocument/2006/relationships/hyperlink" Target="https://github.com/openfga/dotnet-sdk" TargetMode="External"/><Relationship Id="rId4" Type="http://schemas.openxmlformats.org/officeDocument/2006/relationships/diagramQuickStyle" Target="../diagrams/quickStyle164.xml"/><Relationship Id="rId9" Type="http://schemas.openxmlformats.org/officeDocument/2006/relationships/hyperlink" Target="https://github.com/open-policy-agent/opa-csharp" TargetMode="External"/></Relationships>
</file>

<file path=ppt/slides/_rels/slide170.xml.rels><?xml version="1.0" encoding="UTF-8" standalone="yes"?>
<Relationships xmlns="http://schemas.openxmlformats.org/package/2006/relationships"><Relationship Id="rId8" Type="http://schemas.openxmlformats.org/officeDocument/2006/relationships/hyperlink" Target="https://github.com/aserto-dev/topaz" TargetMode="External"/><Relationship Id="rId3" Type="http://schemas.openxmlformats.org/officeDocument/2006/relationships/diagramLayout" Target="../diagrams/layout165.xml"/><Relationship Id="rId7" Type="http://schemas.openxmlformats.org/officeDocument/2006/relationships/hyperlink" Target="https://www.aserto.com/blog/fine-grained-authorization-with-topaz" TargetMode="External"/><Relationship Id="rId2" Type="http://schemas.openxmlformats.org/officeDocument/2006/relationships/diagramData" Target="../diagrams/data165.xml"/><Relationship Id="rId1" Type="http://schemas.openxmlformats.org/officeDocument/2006/relationships/slideLayout" Target="../slideLayouts/slideLayout2.xml"/><Relationship Id="rId6" Type="http://schemas.microsoft.com/office/2007/relationships/diagramDrawing" Target="../diagrams/drawing165.xml"/><Relationship Id="rId5" Type="http://schemas.openxmlformats.org/officeDocument/2006/relationships/diagramColors" Target="../diagrams/colors165.xml"/><Relationship Id="rId4" Type="http://schemas.openxmlformats.org/officeDocument/2006/relationships/diagramQuickStyle" Target="../diagrams/quickStyle165.xml"/><Relationship Id="rId9" Type="http://schemas.openxmlformats.org/officeDocument/2006/relationships/hyperlink" Target="https://github.com/aserto-dev/aserto-dotnet" TargetMode="External"/></Relationships>
</file>

<file path=ppt/slides/_rels/slide171.xml.rels><?xml version="1.0" encoding="UTF-8" standalone="yes"?>
<Relationships xmlns="http://schemas.openxmlformats.org/package/2006/relationships"><Relationship Id="rId8" Type="http://schemas.openxmlformats.org/officeDocument/2006/relationships/hyperlink" Target="https://github.com/PacktPublishing/Kubernetes-Service-Mesh-with-Istio" TargetMode="External"/><Relationship Id="rId13" Type="http://schemas.openxmlformats.org/officeDocument/2006/relationships/hyperlink" Target="https://cloud.google.com/learn/what-is-istio?hl=en" TargetMode="External"/><Relationship Id="rId18" Type="http://schemas.openxmlformats.org/officeDocument/2006/relationships/hyperlink" Target="https://github.com/PacktPublishing/Bootstrap-Service-Mesh-Implementations-with-Istio" TargetMode="External"/><Relationship Id="rId3" Type="http://schemas.openxmlformats.org/officeDocument/2006/relationships/diagramLayout" Target="../diagrams/layout166.xml"/><Relationship Id="rId7" Type="http://schemas.openxmlformats.org/officeDocument/2006/relationships/hyperlink" Target="https://medium.com/microservices-learning/how-to-implement-security-for-microservices-89b140d3e555" TargetMode="External"/><Relationship Id="rId12" Type="http://schemas.openxmlformats.org/officeDocument/2006/relationships/hyperlink" Target="https://www.linkedin.com/feed/update/urn:li:activity:7224311940091666432/" TargetMode="External"/><Relationship Id="rId17" Type="http://schemas.openxmlformats.org/officeDocument/2006/relationships/hyperlink" Target="https://github.com/PacktPublishing/Mastering-Service-Mesh-Architecture" TargetMode="External"/><Relationship Id="rId2" Type="http://schemas.openxmlformats.org/officeDocument/2006/relationships/diagramData" Target="../diagrams/data166.xml"/><Relationship Id="rId16" Type="http://schemas.openxmlformats.org/officeDocument/2006/relationships/hyperlink" Target="https://github.com/PacktPublishing/Mastering-Service-Mesh" TargetMode="External"/><Relationship Id="rId1" Type="http://schemas.openxmlformats.org/officeDocument/2006/relationships/slideLayout" Target="../slideLayouts/slideLayout2.xml"/><Relationship Id="rId6" Type="http://schemas.microsoft.com/office/2007/relationships/diagramDrawing" Target="../diagrams/drawing166.xml"/><Relationship Id="rId11" Type="http://schemas.openxmlformats.org/officeDocument/2006/relationships/hyperlink" Target="https://service-mesh-patterns.github.io/service-mesh-patterns/" TargetMode="External"/><Relationship Id="rId5" Type="http://schemas.openxmlformats.org/officeDocument/2006/relationships/diagramColors" Target="../diagrams/colors166.xml"/><Relationship Id="rId15" Type="http://schemas.openxmlformats.org/officeDocument/2006/relationships/hyperlink" Target="https://istio.io/latest/docs/" TargetMode="External"/><Relationship Id="rId10" Type="http://schemas.openxmlformats.org/officeDocument/2006/relationships/hyperlink" Target="https://layer5.io/learn/service-mesh-books/the-enterprise-path-to-service-mesh-architectures-2nd-edition" TargetMode="External"/><Relationship Id="rId4" Type="http://schemas.openxmlformats.org/officeDocument/2006/relationships/diagramQuickStyle" Target="../diagrams/quickStyle166.xml"/><Relationship Id="rId9" Type="http://schemas.openxmlformats.org/officeDocument/2006/relationships/hyperlink" Target="https://github.com/marketplace/actions/service-mesh-interface-conformance-with-meshery" TargetMode="External"/><Relationship Id="rId14" Type="http://schemas.openxmlformats.org/officeDocument/2006/relationships/hyperlink" Target="https://www.syncfusion.com/succinctly-free-ebooks/istio-succinctly" TargetMode="External"/></Relationships>
</file>

<file path=ppt/slides/_rels/slide172.xml.rels><?xml version="1.0" encoding="UTF-8" standalone="yes"?>
<Relationships xmlns="http://schemas.openxmlformats.org/package/2006/relationships"><Relationship Id="rId13" Type="http://schemas.openxmlformats.org/officeDocument/2006/relationships/hyperlink" Target="https://curity.io/resources/learn/impersonation-flow-approaches/" TargetMode="External"/><Relationship Id="rId18" Type="http://schemas.openxmlformats.org/officeDocument/2006/relationships/hyperlink" Target="https://www.manning.com/books/microservices-security-in-action" TargetMode="External"/><Relationship Id="rId26" Type="http://schemas.openxmlformats.org/officeDocument/2006/relationships/hyperlink" Target="https://www.packtpub.com/en-in/product/implementing-multifactor-authentication-9781803246963" TargetMode="External"/><Relationship Id="rId3" Type="http://schemas.openxmlformats.org/officeDocument/2006/relationships/diagramData" Target="../diagrams/data167.xml"/><Relationship Id="rId21" Type="http://schemas.openxmlformats.org/officeDocument/2006/relationships/hyperlink" Target="https://identitymeme.org/doc/draft-hodges-learning-saml-00.html" TargetMode="External"/><Relationship Id="rId34" Type="http://schemas.openxmlformats.org/officeDocument/2006/relationships/hyperlink" Target="https://learn.microsoft.com/en-us/azure/architecture/reference-architectures/containers/aks-pci/aks-pci-ra-code-assets" TargetMode="External"/><Relationship Id="rId7" Type="http://schemas.microsoft.com/office/2007/relationships/diagramDrawing" Target="../diagrams/drawing167.xml"/><Relationship Id="rId12" Type="http://schemas.openxmlformats.org/officeDocument/2006/relationships/hyperlink" Target="https://developer.okta.com/docs/guides/implement-grant-type/authcode/main/" TargetMode="External"/><Relationship Id="rId17" Type="http://schemas.openxmlformats.org/officeDocument/2006/relationships/hyperlink" Target="https://www.pingidentity.com/en/resources/identity-fundamentals/authorization/authorization-methods.html" TargetMode="External"/><Relationship Id="rId25" Type="http://schemas.openxmlformats.org/officeDocument/2006/relationships/hyperlink" Target="https://github.com/fschick/Keycloak.ASPNet.Angular?tab=readme-ov-file" TargetMode="External"/><Relationship Id="rId33" Type="http://schemas.openxmlformats.org/officeDocument/2006/relationships/hyperlink" Target="https://www.compliancepoint.com/regulations/pci-3ds/" TargetMode="External"/><Relationship Id="rId2" Type="http://schemas.openxmlformats.org/officeDocument/2006/relationships/notesSlide" Target="../notesSlides/notesSlide16.xml"/><Relationship Id="rId16" Type="http://schemas.openxmlformats.org/officeDocument/2006/relationships/hyperlink" Target="https://www.syncfusion.com/succinctly-free-ebooks?category=all&amp;searchkey=security&amp;type=al" TargetMode="External"/><Relationship Id="rId20" Type="http://schemas.openxmlformats.org/officeDocument/2006/relationships/hyperlink" Target="https://dzone.com/refcardz/oauth-patterns-and-anti-patterns" TargetMode="External"/><Relationship Id="rId29" Type="http://schemas.openxmlformats.org/officeDocument/2006/relationships/hyperlink" Target="https://bigid.com/blog/sensitive-information-guide/" TargetMode="External"/><Relationship Id="rId1" Type="http://schemas.openxmlformats.org/officeDocument/2006/relationships/slideLayout" Target="../slideLayouts/slideLayout2.xml"/><Relationship Id="rId6" Type="http://schemas.openxmlformats.org/officeDocument/2006/relationships/diagramColors" Target="../diagrams/colors167.xml"/><Relationship Id="rId11" Type="http://schemas.openxmlformats.org/officeDocument/2006/relationships/hyperlink" Target="https://medium.com/@danny.garcia_19872/creating-your-own-global-identity-provider-part-i-4688bd28e1b3" TargetMode="External"/><Relationship Id="rId24" Type="http://schemas.openxmlformats.org/officeDocument/2006/relationships/hyperlink" Target="https://satoricyber.com/data-masking/data-masking-8-techniques-and-how-to-implement-them-successfully/" TargetMode="External"/><Relationship Id="rId32" Type="http://schemas.openxmlformats.org/officeDocument/2006/relationships/hyperlink" Target="https://learn.microsoft.com/en-us/azure/compliance/offerings/offering-pci-dss" TargetMode="External"/><Relationship Id="rId5" Type="http://schemas.openxmlformats.org/officeDocument/2006/relationships/diagramQuickStyle" Target="../diagrams/quickStyle167.xml"/><Relationship Id="rId15" Type="http://schemas.openxmlformats.org/officeDocument/2006/relationships/hyperlink" Target="https://fusionauth.io/articles/oauth/complete-list-oauth-grants" TargetMode="External"/><Relationship Id="rId23" Type="http://schemas.openxmlformats.org/officeDocument/2006/relationships/hyperlink" Target="https://pathlock.com/learn/data-masking-vs-tokenization/" TargetMode="External"/><Relationship Id="rId28" Type="http://schemas.openxmlformats.org/officeDocument/2006/relationships/hyperlink" Target="https://sprinto.com/blog/difference-between-pii-phi-and-pci/" TargetMode="External"/><Relationship Id="rId10" Type="http://schemas.openxmlformats.org/officeDocument/2006/relationships/hyperlink" Target="https://blog.bytebytego.com/p/ep120-what-do-version-numbers-mean?open=false#%C2%A7cybersecurity-in-one-picture" TargetMode="External"/><Relationship Id="rId19" Type="http://schemas.openxmlformats.org/officeDocument/2006/relationships/hyperlink" Target="https://link.springer.com/book/10.1007/978-1-4842-2050-4" TargetMode="External"/><Relationship Id="rId31" Type="http://schemas.openxmlformats.org/officeDocument/2006/relationships/hyperlink" Target="https://github.com/dvsekhvalnov/jose-jwt" TargetMode="External"/><Relationship Id="rId4" Type="http://schemas.openxmlformats.org/officeDocument/2006/relationships/diagramLayout" Target="../diagrams/layout167.xml"/><Relationship Id="rId9" Type="http://schemas.openxmlformats.org/officeDocument/2006/relationships/hyperlink" Target="https://stackoverflow.com/questions/48581556/oauth2-scopes-and-user-roles" TargetMode="External"/><Relationship Id="rId14" Type="http://schemas.openxmlformats.org/officeDocument/2006/relationships/hyperlink" Target="https://leverture.com/software/software-design-challenge-how-to-implement-impersonation-with-auth0/" TargetMode="External"/><Relationship Id="rId22" Type="http://schemas.openxmlformats.org/officeDocument/2006/relationships/hyperlink" Target="https://www.techtarget.com/searchsecurity/tip/Data-masking-vs-data-encryption-How-do-they-differ" TargetMode="External"/><Relationship Id="rId27" Type="http://schemas.openxmlformats.org/officeDocument/2006/relationships/hyperlink" Target="https://www.packtpub.com/en-us/product/identity-management-with-biometrics-9781838988388" TargetMode="External"/><Relationship Id="rId30" Type="http://schemas.openxmlformats.org/officeDocument/2006/relationships/hyperlink" Target="https://stackoverflow.com/questions/74257560/what-is-the-difference-between-jose-jwa-jwe-jwk-jws-and-jwt" TargetMode="External"/><Relationship Id="rId8" Type="http://schemas.openxmlformats.org/officeDocument/2006/relationships/hyperlink" Target="https://www.udemy.com/course/oauth-2-simplified/" TargetMode="External"/></Relationships>
</file>

<file path=ppt/slides/_rels/slide173.xml.rels><?xml version="1.0" encoding="UTF-8" standalone="yes"?>
<Relationships xmlns="http://schemas.openxmlformats.org/package/2006/relationships"><Relationship Id="rId13" Type="http://schemas.openxmlformats.org/officeDocument/2006/relationships/hyperlink" Target="https://learn.microsoft.com/en-us/entra/identity-platform/app-objects-and-service-principals?tabs=browser" TargetMode="External"/><Relationship Id="rId18" Type="http://schemas.openxmlformats.org/officeDocument/2006/relationships/hyperlink" Target="https://learn.microsoft.com/en-us/entra/architecture/auth-password-based-sso" TargetMode="External"/><Relationship Id="rId26" Type="http://schemas.openxmlformats.org/officeDocument/2006/relationships/hyperlink" Target="https://learn.microsoft.com/en-us/azure/active-directory-b2c/microsoft-graph-operations" TargetMode="External"/><Relationship Id="rId3" Type="http://schemas.openxmlformats.org/officeDocument/2006/relationships/diagramData" Target="../diagrams/data168.xml"/><Relationship Id="rId21" Type="http://schemas.openxmlformats.org/officeDocument/2006/relationships/hyperlink" Target="https://learn.microsoft.com/en-us/entra/identity-platform/v2-protocols-oidc" TargetMode="External"/><Relationship Id="rId7" Type="http://schemas.microsoft.com/office/2007/relationships/diagramDrawing" Target="../diagrams/drawing168.xml"/><Relationship Id="rId12" Type="http://schemas.openxmlformats.org/officeDocument/2006/relationships/hyperlink" Target="https://learn.microsoft.com/en-us/entra/fundamentals/new-name" TargetMode="External"/><Relationship Id="rId17" Type="http://schemas.openxmlformats.org/officeDocument/2006/relationships/hyperlink" Target="https://learn.microsoft.com/en-us/entra/identity-platform/howto-configure-publisher-domain" TargetMode="External"/><Relationship Id="rId25" Type="http://schemas.openxmlformats.org/officeDocument/2006/relationships/hyperlink" Target="https://learn.microsoft.com/en-us/azure/active-directory-b2c/billing" TargetMode="External"/><Relationship Id="rId33" Type="http://schemas.openxmlformats.org/officeDocument/2006/relationships/hyperlink" Target="https://www.syncfusion.com/succinctly-free-ebooks/external-collaboration-with-azure-ad-b2b-succinctly" TargetMode="External"/><Relationship Id="rId2" Type="http://schemas.openxmlformats.org/officeDocument/2006/relationships/notesSlide" Target="../notesSlides/notesSlide17.xml"/><Relationship Id="rId16" Type="http://schemas.openxmlformats.org/officeDocument/2006/relationships/hyperlink" Target="https://medium.com/@dany74q/service-to-service-auth-with-azure-ad-msi-oauth-2-0-step-by-step-a1aed196b1e1" TargetMode="External"/><Relationship Id="rId20" Type="http://schemas.openxmlformats.org/officeDocument/2006/relationships/hyperlink" Target="https://www.microsoft.com/en-us/download/details.aspx?id=28362" TargetMode="External"/><Relationship Id="rId29" Type="http://schemas.openxmlformats.org/officeDocument/2006/relationships/hyperlink" Target="https://learn.microsoft.com/en-us/azure/active-directory-b2c/trustframeworkpolicy" TargetMode="External"/><Relationship Id="rId1" Type="http://schemas.openxmlformats.org/officeDocument/2006/relationships/slideLayout" Target="../slideLayouts/slideLayout2.xml"/><Relationship Id="rId6" Type="http://schemas.openxmlformats.org/officeDocument/2006/relationships/diagramColors" Target="../diagrams/colors168.xml"/><Relationship Id="rId11" Type="http://schemas.openxmlformats.org/officeDocument/2006/relationships/hyperlink" Target="https://www.microsoft.com/en-us/securityengineering/sdl" TargetMode="External"/><Relationship Id="rId24" Type="http://schemas.openxmlformats.org/officeDocument/2006/relationships/hyperlink" Target="https://learn.microsoft.com/en-us/azure/active-directory-b2c/overview" TargetMode="External"/><Relationship Id="rId32" Type="http://schemas.openxmlformats.org/officeDocument/2006/relationships/hyperlink" Target="https://learn.microsoft.com/en-us/azure/active-directory-b2c/error-codes" TargetMode="External"/><Relationship Id="rId5" Type="http://schemas.openxmlformats.org/officeDocument/2006/relationships/diagramQuickStyle" Target="../diagrams/quickStyle168.xml"/><Relationship Id="rId15" Type="http://schemas.openxmlformats.org/officeDocument/2006/relationships/hyperlink" Target="https://medium.com/@tophamcherie/creating-azure-service-principals-or-managed-identities-granting-them-access-965ab38d6936" TargetMode="External"/><Relationship Id="rId23" Type="http://schemas.openxmlformats.org/officeDocument/2006/relationships/hyperlink" Target="https://github.com/microsoftgraph/msgraph-sdk-design" TargetMode="External"/><Relationship Id="rId28" Type="http://schemas.openxmlformats.org/officeDocument/2006/relationships/hyperlink" Target="https://learn.microsoft.com/en-us/azure/active-directory-b2c/custom-policy-developer-notes" TargetMode="External"/><Relationship Id="rId10" Type="http://schemas.openxmlformats.org/officeDocument/2006/relationships/hyperlink" Target="https://learn.microsoft.com/en-us/entra/identity-platform/v2-overview" TargetMode="External"/><Relationship Id="rId19" Type="http://schemas.openxmlformats.org/officeDocument/2006/relationships/hyperlink" Target="https://learn.microsoft.com/en-us/aspnet/web-api/overview/security/integrated-windows-authentication" TargetMode="External"/><Relationship Id="rId31" Type="http://schemas.openxmlformats.org/officeDocument/2006/relationships/hyperlink" Target="https://github.com/azure-ad-b2c/samples" TargetMode="External"/><Relationship Id="rId4" Type="http://schemas.openxmlformats.org/officeDocument/2006/relationships/diagramLayout" Target="../diagrams/layout168.xml"/><Relationship Id="rId9" Type="http://schemas.openxmlformats.org/officeDocument/2006/relationships/hyperlink" Target="https://stackoverflow.com/questions/39271230/azure-ad-vs-azure-ad-b2c-vs-azure-ad-b2b" TargetMode="External"/><Relationship Id="rId14" Type="http://schemas.openxmlformats.org/officeDocument/2006/relationships/hyperlink" Target="https://www.atmosera.com/blog/azure-service-principal-vs-managed-identity" TargetMode="External"/><Relationship Id="rId22" Type="http://schemas.openxmlformats.org/officeDocument/2006/relationships/hyperlink" Target="https://developer.microsoft.com/en-us/graph/graph-explorer" TargetMode="External"/><Relationship Id="rId27" Type="http://schemas.openxmlformats.org/officeDocument/2006/relationships/hyperlink" Target="https://learn.microsoft.com/en-us/azure/active-directory-b2c/custom-domain?pivots=b2c-user-flow" TargetMode="External"/><Relationship Id="rId30" Type="http://schemas.openxmlformats.org/officeDocument/2006/relationships/hyperlink" Target="https://learn.microsoft.com/en-us/azure/active-directory-b2c/user-migration" TargetMode="External"/><Relationship Id="rId8" Type="http://schemas.openxmlformats.org/officeDocument/2006/relationships/hyperlink" Target="https://learn.microsoft.com/en-us/entra/identity-platform/v2-oauth-ropc" TargetMode="External"/></Relationships>
</file>

<file path=ppt/slides/_rels/slide174.xml.rels><?xml version="1.0" encoding="UTF-8" standalone="yes"?>
<Relationships xmlns="http://schemas.openxmlformats.org/package/2006/relationships"><Relationship Id="rId8" Type="http://schemas.openxmlformats.org/officeDocument/2006/relationships/hyperlink" Target="https://learn.microsoft.com/en-us/aspnet/core/security/anti-request-forgery?view=aspnetcore-8.0" TargetMode="External"/><Relationship Id="rId3" Type="http://schemas.openxmlformats.org/officeDocument/2006/relationships/diagramLayout" Target="../diagrams/layout169.xml"/><Relationship Id="rId7" Type="http://schemas.openxmlformats.org/officeDocument/2006/relationships/image" Target="../media/image73.png"/><Relationship Id="rId2" Type="http://schemas.openxmlformats.org/officeDocument/2006/relationships/diagramData" Target="../diagrams/data169.xml"/><Relationship Id="rId1" Type="http://schemas.openxmlformats.org/officeDocument/2006/relationships/slideLayout" Target="../slideLayouts/slideLayout2.xml"/><Relationship Id="rId6" Type="http://schemas.microsoft.com/office/2007/relationships/diagramDrawing" Target="../diagrams/drawing169.xml"/><Relationship Id="rId5" Type="http://schemas.openxmlformats.org/officeDocument/2006/relationships/diagramColors" Target="../diagrams/colors169.xml"/><Relationship Id="rId4" Type="http://schemas.openxmlformats.org/officeDocument/2006/relationships/diagramQuickStyle" Target="../diagrams/quickStyle169.xml"/></Relationships>
</file>

<file path=ppt/slides/_rels/slide175.xml.rels><?xml version="1.0" encoding="UTF-8" standalone="yes"?>
<Relationships xmlns="http://schemas.openxmlformats.org/package/2006/relationships"><Relationship Id="rId8" Type="http://schemas.openxmlformats.org/officeDocument/2006/relationships/image" Target="../media/image74.jpeg"/><Relationship Id="rId3" Type="http://schemas.openxmlformats.org/officeDocument/2006/relationships/diagramLayout" Target="../diagrams/layout170.xml"/><Relationship Id="rId7" Type="http://schemas.openxmlformats.org/officeDocument/2006/relationships/hyperlink" Target="https://owasp.org/www-community/attacks/Server_Side_Request_Forgery" TargetMode="External"/><Relationship Id="rId2" Type="http://schemas.openxmlformats.org/officeDocument/2006/relationships/diagramData" Target="../diagrams/data170.xml"/><Relationship Id="rId1" Type="http://schemas.openxmlformats.org/officeDocument/2006/relationships/slideLayout" Target="../slideLayouts/slideLayout2.xml"/><Relationship Id="rId6" Type="http://schemas.microsoft.com/office/2007/relationships/diagramDrawing" Target="../diagrams/drawing170.xml"/><Relationship Id="rId5" Type="http://schemas.openxmlformats.org/officeDocument/2006/relationships/diagramColors" Target="../diagrams/colors170.xml"/><Relationship Id="rId4" Type="http://schemas.openxmlformats.org/officeDocument/2006/relationships/diagramQuickStyle" Target="../diagrams/quickStyle170.xml"/></Relationships>
</file>

<file path=ppt/slides/_rels/slide176.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diagramLayout" Target="../diagrams/layout171.xml"/><Relationship Id="rId7" Type="http://schemas.openxmlformats.org/officeDocument/2006/relationships/hyperlink" Target="https://learn.microsoft.com/en-us/aspnet/core/security/cors?view=aspnetcore-8.0" TargetMode="External"/><Relationship Id="rId2" Type="http://schemas.openxmlformats.org/officeDocument/2006/relationships/diagramData" Target="../diagrams/data171.xml"/><Relationship Id="rId1" Type="http://schemas.openxmlformats.org/officeDocument/2006/relationships/slideLayout" Target="../slideLayouts/slideLayout2.xml"/><Relationship Id="rId6" Type="http://schemas.microsoft.com/office/2007/relationships/diagramDrawing" Target="../diagrams/drawing171.xml"/><Relationship Id="rId5" Type="http://schemas.openxmlformats.org/officeDocument/2006/relationships/diagramColors" Target="../diagrams/colors171.xml"/><Relationship Id="rId4" Type="http://schemas.openxmlformats.org/officeDocument/2006/relationships/diagramQuickStyle" Target="../diagrams/quickStyle171.xml"/></Relationships>
</file>

<file path=ppt/slides/_rels/slide177.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diagramLayout" Target="../diagrams/layout172.xml"/><Relationship Id="rId7" Type="http://schemas.openxmlformats.org/officeDocument/2006/relationships/hyperlink" Target="https://learn.microsoft.com/en-us/aspnet/core/security/cross-site-scripting?view=aspnetcore-8.0" TargetMode="External"/><Relationship Id="rId2" Type="http://schemas.openxmlformats.org/officeDocument/2006/relationships/diagramData" Target="../diagrams/data172.xml"/><Relationship Id="rId1" Type="http://schemas.openxmlformats.org/officeDocument/2006/relationships/slideLayout" Target="../slideLayouts/slideLayout2.xml"/><Relationship Id="rId6" Type="http://schemas.microsoft.com/office/2007/relationships/diagramDrawing" Target="../diagrams/drawing172.xml"/><Relationship Id="rId5" Type="http://schemas.openxmlformats.org/officeDocument/2006/relationships/diagramColors" Target="../diagrams/colors172.xml"/><Relationship Id="rId4" Type="http://schemas.openxmlformats.org/officeDocument/2006/relationships/diagramQuickStyle" Target="../diagrams/quickStyle172.xml"/></Relationships>
</file>

<file path=ppt/slides/_rels/slide178.xml.rels><?xml version="1.0" encoding="UTF-8" standalone="yes"?>
<Relationships xmlns="http://schemas.openxmlformats.org/package/2006/relationships"><Relationship Id="rId8" Type="http://schemas.openxmlformats.org/officeDocument/2006/relationships/image" Target="../media/image77.jpeg"/><Relationship Id="rId3" Type="http://schemas.openxmlformats.org/officeDocument/2006/relationships/diagramLayout" Target="../diagrams/layout173.xml"/><Relationship Id="rId7" Type="http://schemas.openxmlformats.org/officeDocument/2006/relationships/hyperlink" Target="https://owasp.org/www-community/attacks/SQL_Injection" TargetMode="External"/><Relationship Id="rId2" Type="http://schemas.openxmlformats.org/officeDocument/2006/relationships/diagramData" Target="../diagrams/data173.xml"/><Relationship Id="rId1" Type="http://schemas.openxmlformats.org/officeDocument/2006/relationships/slideLayout" Target="../slideLayouts/slideLayout2.xml"/><Relationship Id="rId6" Type="http://schemas.microsoft.com/office/2007/relationships/diagramDrawing" Target="../diagrams/drawing173.xml"/><Relationship Id="rId5" Type="http://schemas.openxmlformats.org/officeDocument/2006/relationships/diagramColors" Target="../diagrams/colors173.xml"/><Relationship Id="rId4" Type="http://schemas.openxmlformats.org/officeDocument/2006/relationships/diagramQuickStyle" Target="../diagrams/quickStyle173.xml"/></Relationships>
</file>

<file path=ppt/slides/_rels/slide179.xml.rels><?xml version="1.0" encoding="UTF-8" standalone="yes"?>
<Relationships xmlns="http://schemas.openxmlformats.org/package/2006/relationships"><Relationship Id="rId8" Type="http://schemas.openxmlformats.org/officeDocument/2006/relationships/image" Target="../media/image78.jpeg"/><Relationship Id="rId3" Type="http://schemas.openxmlformats.org/officeDocument/2006/relationships/diagramLayout" Target="../diagrams/layout174.xml"/><Relationship Id="rId7" Type="http://schemas.openxmlformats.org/officeDocument/2006/relationships/hyperlink" Target="https://www.cloudflare.com/learning/ddos/what-is-a-ddos-attack/" TargetMode="External"/><Relationship Id="rId2" Type="http://schemas.openxmlformats.org/officeDocument/2006/relationships/diagramData" Target="../diagrams/data174.xml"/><Relationship Id="rId1" Type="http://schemas.openxmlformats.org/officeDocument/2006/relationships/slideLayout" Target="../slideLayouts/slideLayout2.xml"/><Relationship Id="rId6" Type="http://schemas.microsoft.com/office/2007/relationships/diagramDrawing" Target="../diagrams/drawing174.xml"/><Relationship Id="rId5" Type="http://schemas.openxmlformats.org/officeDocument/2006/relationships/diagramColors" Target="../diagrams/colors174.xml"/><Relationship Id="rId4" Type="http://schemas.openxmlformats.org/officeDocument/2006/relationships/diagramQuickStyle" Target="../diagrams/quickStyle174.xml"/></Relationships>
</file>

<file path=ppt/slides/_rels/slide180.xml.rels><?xml version="1.0" encoding="UTF-8" standalone="yes"?>
<Relationships xmlns="http://schemas.openxmlformats.org/package/2006/relationships"><Relationship Id="rId8" Type="http://schemas.openxmlformats.org/officeDocument/2006/relationships/hyperlink" Target="https://www.netscout.com/what-is-ddos/state-exhaustion-attacks" TargetMode="External"/><Relationship Id="rId3" Type="http://schemas.openxmlformats.org/officeDocument/2006/relationships/diagramLayout" Target="../diagrams/layout175.xml"/><Relationship Id="rId7" Type="http://schemas.openxmlformats.org/officeDocument/2006/relationships/image" Target="../media/image79.png"/><Relationship Id="rId2" Type="http://schemas.openxmlformats.org/officeDocument/2006/relationships/diagramData" Target="../diagrams/data175.xml"/><Relationship Id="rId1" Type="http://schemas.openxmlformats.org/officeDocument/2006/relationships/slideLayout" Target="../slideLayouts/slideLayout2.xml"/><Relationship Id="rId6" Type="http://schemas.microsoft.com/office/2007/relationships/diagramDrawing" Target="../diagrams/drawing175.xml"/><Relationship Id="rId5" Type="http://schemas.openxmlformats.org/officeDocument/2006/relationships/diagramColors" Target="../diagrams/colors175.xml"/><Relationship Id="rId4" Type="http://schemas.openxmlformats.org/officeDocument/2006/relationships/diagramQuickStyle" Target="../diagrams/quickStyle175.xml"/></Relationships>
</file>

<file path=ppt/slides/_rels/slide181.xml.rels><?xml version="1.0" encoding="UTF-8" standalone="yes"?>
<Relationships xmlns="http://schemas.openxmlformats.org/package/2006/relationships"><Relationship Id="rId8" Type="http://schemas.openxmlformats.org/officeDocument/2006/relationships/hyperlink" Target="https://learn.microsoft.com/en-us/aspnet/core/security/?view=aspnetcore-9.0&amp;viewFallbackFrom=aspnetcor" TargetMode="External"/><Relationship Id="rId13" Type="http://schemas.openxmlformats.org/officeDocument/2006/relationships/hyperlink" Target="https://portswigger.net/web-security/all-materials/detailed" TargetMode="External"/><Relationship Id="rId3" Type="http://schemas.openxmlformats.org/officeDocument/2006/relationships/diagramLayout" Target="../diagrams/layout176.xml"/><Relationship Id="rId7" Type="http://schemas.openxmlformats.org/officeDocument/2006/relationships/hyperlink" Target="https://artemasemenov.medium.com/unearthing-vulnerabilities-in-c-source-code-a-pragmatic-approach-df595f7686de" TargetMode="External"/><Relationship Id="rId12" Type="http://schemas.openxmlformats.org/officeDocument/2006/relationships/hyperlink" Target="https://portswigger.net/burp/documentation/scanner/vulnerabilities-list" TargetMode="External"/><Relationship Id="rId2" Type="http://schemas.openxmlformats.org/officeDocument/2006/relationships/diagramData" Target="../diagrams/data176.xml"/><Relationship Id="rId1" Type="http://schemas.openxmlformats.org/officeDocument/2006/relationships/slideLayout" Target="../slideLayouts/slideLayout2.xml"/><Relationship Id="rId6" Type="http://schemas.microsoft.com/office/2007/relationships/diagramDrawing" Target="../diagrams/drawing176.xml"/><Relationship Id="rId11" Type="http://schemas.openxmlformats.org/officeDocument/2006/relationships/hyperlink" Target="https://0xn3va.gitbook.io/cheat-sheets/container/escaping/cve-list" TargetMode="External"/><Relationship Id="rId5" Type="http://schemas.openxmlformats.org/officeDocument/2006/relationships/diagramColors" Target="../diagrams/colors176.xml"/><Relationship Id="rId10" Type="http://schemas.openxmlformats.org/officeDocument/2006/relationships/hyperlink" Target="https://www.oreilly.com/library/view/24-deadly-sins/9780071626750/" TargetMode="External"/><Relationship Id="rId4" Type="http://schemas.openxmlformats.org/officeDocument/2006/relationships/diagramQuickStyle" Target="../diagrams/quickStyle176.xml"/><Relationship Id="rId9" Type="http://schemas.openxmlformats.org/officeDocument/2006/relationships/hyperlink" Target="https://owasp.org/www-community/attacks/" TargetMode="External"/></Relationships>
</file>

<file path=ppt/slides/_rels/slide182.xml.rels><?xml version="1.0" encoding="UTF-8" standalone="yes"?>
<Relationships xmlns="http://schemas.openxmlformats.org/package/2006/relationships"><Relationship Id="rId8" Type="http://schemas.openxmlformats.org/officeDocument/2006/relationships/hyperlink" Target="https://www.linkedin.com/pulse/cross-industry-regtech-platform-pov-balaji-ramarajan-uj8uc/" TargetMode="External"/><Relationship Id="rId3" Type="http://schemas.openxmlformats.org/officeDocument/2006/relationships/diagramLayout" Target="../diagrams/layout177.xml"/><Relationship Id="rId7" Type="http://schemas.openxmlformats.org/officeDocument/2006/relationships/hyperlink" Target="https://www.linkedin.com/pulse/data-governance-digitally-intelligent-world-pov-balaji-ramarajan-q7hec/" TargetMode="External"/><Relationship Id="rId2" Type="http://schemas.openxmlformats.org/officeDocument/2006/relationships/diagramData" Target="../diagrams/data177.xml"/><Relationship Id="rId1" Type="http://schemas.openxmlformats.org/officeDocument/2006/relationships/slideLayout" Target="../slideLayouts/slideLayout2.xml"/><Relationship Id="rId6" Type="http://schemas.microsoft.com/office/2007/relationships/diagramDrawing" Target="../diagrams/drawing177.xml"/><Relationship Id="rId5" Type="http://schemas.openxmlformats.org/officeDocument/2006/relationships/diagramColors" Target="../diagrams/colors177.xml"/><Relationship Id="rId10" Type="http://schemas.openxmlformats.org/officeDocument/2006/relationships/hyperlink" Target="https://learn.microsoft.com/en-us/azure/security/fundamentals/best-practices-and-patterns" TargetMode="External"/><Relationship Id="rId4" Type="http://schemas.openxmlformats.org/officeDocument/2006/relationships/diagramQuickStyle" Target="../diagrams/quickStyle177.xml"/><Relationship Id="rId9" Type="http://schemas.openxmlformats.org/officeDocument/2006/relationships/hyperlink" Target="https://aws.amazon.com/compliance/" TargetMode="External"/></Relationships>
</file>

<file path=ppt/slides/_rels/slide183.xml.rels><?xml version="1.0" encoding="UTF-8" standalone="yes"?>
<Relationships xmlns="http://schemas.openxmlformats.org/package/2006/relationships"><Relationship Id="rId8" Type="http://schemas.openxmlformats.org/officeDocument/2006/relationships/hyperlink" Target="https://timdeschryver.dev/blog/feature-flags-in-net-from-simple-to-more-advanced" TargetMode="External"/><Relationship Id="rId3" Type="http://schemas.openxmlformats.org/officeDocument/2006/relationships/diagramLayout" Target="../diagrams/layout178.xml"/><Relationship Id="rId7" Type="http://schemas.openxmlformats.org/officeDocument/2006/relationships/hyperlink" Target="https://launchdarkly.com/" TargetMode="External"/><Relationship Id="rId2" Type="http://schemas.openxmlformats.org/officeDocument/2006/relationships/diagramData" Target="../diagrams/data178.xml"/><Relationship Id="rId1" Type="http://schemas.openxmlformats.org/officeDocument/2006/relationships/slideLayout" Target="../slideLayouts/slideLayout2.xml"/><Relationship Id="rId6" Type="http://schemas.microsoft.com/office/2007/relationships/diagramDrawing" Target="../diagrams/drawing178.xml"/><Relationship Id="rId5" Type="http://schemas.openxmlformats.org/officeDocument/2006/relationships/diagramColors" Target="../diagrams/colors178.xml"/><Relationship Id="rId4" Type="http://schemas.openxmlformats.org/officeDocument/2006/relationships/diagramQuickStyle" Target="../diagrams/quickStyle178.xml"/><Relationship Id="rId9" Type="http://schemas.openxmlformats.org/officeDocument/2006/relationships/hyperlink" Target="https://www.harness.io/blog/test-driven-or-feature-flag-driven-development-whats-best-for-your-team" TargetMode="External"/></Relationships>
</file>

<file path=ppt/slides/_rels/slide184.xml.rels><?xml version="1.0" encoding="UTF-8" standalone="yes"?>
<Relationships xmlns="http://schemas.openxmlformats.org/package/2006/relationships"><Relationship Id="rId3" Type="http://schemas.openxmlformats.org/officeDocument/2006/relationships/diagramLayout" Target="../diagrams/layout179.xml"/><Relationship Id="rId2" Type="http://schemas.openxmlformats.org/officeDocument/2006/relationships/diagramData" Target="../diagrams/data179.xml"/><Relationship Id="rId1" Type="http://schemas.openxmlformats.org/officeDocument/2006/relationships/slideLayout" Target="../slideLayouts/slideLayout2.xml"/><Relationship Id="rId6" Type="http://schemas.microsoft.com/office/2007/relationships/diagramDrawing" Target="../diagrams/drawing179.xml"/><Relationship Id="rId5" Type="http://schemas.openxmlformats.org/officeDocument/2006/relationships/diagramColors" Target="../diagrams/colors179.xml"/><Relationship Id="rId4" Type="http://schemas.openxmlformats.org/officeDocument/2006/relationships/diagramQuickStyle" Target="../diagrams/quickStyle179.xml"/></Relationships>
</file>

<file path=ppt/slides/_rels/slide185.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diagramLayout" Target="../diagrams/layout180.xml"/><Relationship Id="rId7" Type="http://schemas.openxmlformats.org/officeDocument/2006/relationships/image" Target="../media/image80.jpeg"/><Relationship Id="rId2" Type="http://schemas.openxmlformats.org/officeDocument/2006/relationships/diagramData" Target="../diagrams/data180.xml"/><Relationship Id="rId1" Type="http://schemas.openxmlformats.org/officeDocument/2006/relationships/slideLayout" Target="../slideLayouts/slideLayout2.xml"/><Relationship Id="rId6" Type="http://schemas.microsoft.com/office/2007/relationships/diagramDrawing" Target="../diagrams/drawing180.xml"/><Relationship Id="rId5" Type="http://schemas.openxmlformats.org/officeDocument/2006/relationships/diagramColors" Target="../diagrams/colors180.xml"/><Relationship Id="rId4" Type="http://schemas.openxmlformats.org/officeDocument/2006/relationships/diagramQuickStyle" Target="../diagrams/quickStyle180.xml"/></Relationships>
</file>

<file path=ppt/slides/_rels/slide186.xml.rels><?xml version="1.0" encoding="UTF-8" standalone="yes"?>
<Relationships xmlns="http://schemas.openxmlformats.org/package/2006/relationships"><Relationship Id="rId8" Type="http://schemas.openxmlformats.org/officeDocument/2006/relationships/hyperlink" Target="https://learn.microsoft.com/en-us/azure/architecture/solution-ideas/articles/disaster-recovery-enterprise-scale-dr" TargetMode="External"/><Relationship Id="rId3" Type="http://schemas.openxmlformats.org/officeDocument/2006/relationships/diagramLayout" Target="../diagrams/layout181.xml"/><Relationship Id="rId7" Type="http://schemas.openxmlformats.org/officeDocument/2006/relationships/hyperlink" Target="https://docs.aws.amazon.com/whitepapers/latest/disaster-recovery-workloads-on-aws/disaster-recovery-options-in-the-cloud.html" TargetMode="External"/><Relationship Id="rId2" Type="http://schemas.openxmlformats.org/officeDocument/2006/relationships/diagramData" Target="../diagrams/data181.xml"/><Relationship Id="rId1" Type="http://schemas.openxmlformats.org/officeDocument/2006/relationships/slideLayout" Target="../slideLayouts/slideLayout2.xml"/><Relationship Id="rId6" Type="http://schemas.microsoft.com/office/2007/relationships/diagramDrawing" Target="../diagrams/drawing181.xml"/><Relationship Id="rId5" Type="http://schemas.openxmlformats.org/officeDocument/2006/relationships/diagramColors" Target="../diagrams/colors181.xml"/><Relationship Id="rId10" Type="http://schemas.openxmlformats.org/officeDocument/2006/relationships/image" Target="../media/image82.png"/><Relationship Id="rId4" Type="http://schemas.openxmlformats.org/officeDocument/2006/relationships/diagramQuickStyle" Target="../diagrams/quickStyle181.xml"/><Relationship Id="rId9" Type="http://schemas.openxmlformats.org/officeDocument/2006/relationships/hyperlink" Target="https://www.druva.com/documents/pf/ebooks/druva-ebook-ultimate-guide-to-achieving-rpo-rto.pdf" TargetMode="External"/></Relationships>
</file>

<file path=ppt/slides/_rels/slide187.xml.rels><?xml version="1.0" encoding="UTF-8" standalone="yes"?>
<Relationships xmlns="http://schemas.openxmlformats.org/package/2006/relationships"><Relationship Id="rId3" Type="http://schemas.openxmlformats.org/officeDocument/2006/relationships/diagramLayout" Target="../diagrams/layout182.xml"/><Relationship Id="rId2" Type="http://schemas.openxmlformats.org/officeDocument/2006/relationships/diagramData" Target="../diagrams/data182.xml"/><Relationship Id="rId1" Type="http://schemas.openxmlformats.org/officeDocument/2006/relationships/slideLayout" Target="../slideLayouts/slideLayout2.xml"/><Relationship Id="rId6" Type="http://schemas.microsoft.com/office/2007/relationships/diagramDrawing" Target="../diagrams/drawing182.xml"/><Relationship Id="rId5" Type="http://schemas.openxmlformats.org/officeDocument/2006/relationships/diagramColors" Target="../diagrams/colors182.xml"/><Relationship Id="rId4" Type="http://schemas.openxmlformats.org/officeDocument/2006/relationships/diagramQuickStyle" Target="../diagrams/quickStyle182.xml"/></Relationships>
</file>

<file path=ppt/slides/_rels/slide188.xml.rels><?xml version="1.0" encoding="UTF-8" standalone="yes"?>
<Relationships xmlns="http://schemas.openxmlformats.org/package/2006/relationships"><Relationship Id="rId3" Type="http://schemas.openxmlformats.org/officeDocument/2006/relationships/diagramLayout" Target="../diagrams/layout183.xml"/><Relationship Id="rId2" Type="http://schemas.openxmlformats.org/officeDocument/2006/relationships/diagramData" Target="../diagrams/data183.xml"/><Relationship Id="rId1" Type="http://schemas.openxmlformats.org/officeDocument/2006/relationships/slideLayout" Target="../slideLayouts/slideLayout2.xml"/><Relationship Id="rId6" Type="http://schemas.microsoft.com/office/2007/relationships/diagramDrawing" Target="../diagrams/drawing183.xml"/><Relationship Id="rId5" Type="http://schemas.openxmlformats.org/officeDocument/2006/relationships/diagramColors" Target="../diagrams/colors183.xml"/><Relationship Id="rId4" Type="http://schemas.openxmlformats.org/officeDocument/2006/relationships/diagramQuickStyle" Target="../diagrams/quickStyle183.xml"/></Relationships>
</file>

<file path=ppt/slides/_rels/slide189.xml.rels><?xml version="1.0" encoding="UTF-8" standalone="yes"?>
<Relationships xmlns="http://schemas.openxmlformats.org/package/2006/relationships"><Relationship Id="rId8" Type="http://schemas.openxmlformats.org/officeDocument/2006/relationships/hyperlink" Target="https://www.packtpub.com/en-us/product/efficient-cloud-finops-9781805122579" TargetMode="External"/><Relationship Id="rId3" Type="http://schemas.openxmlformats.org/officeDocument/2006/relationships/diagramLayout" Target="../diagrams/layout184.xml"/><Relationship Id="rId7" Type="http://schemas.openxmlformats.org/officeDocument/2006/relationships/hyperlink" Target="https://github.com/jmfontaine/awesome-finops" TargetMode="External"/><Relationship Id="rId2" Type="http://schemas.openxmlformats.org/officeDocument/2006/relationships/diagramData" Target="../diagrams/data184.xml"/><Relationship Id="rId1" Type="http://schemas.openxmlformats.org/officeDocument/2006/relationships/slideLayout" Target="../slideLayouts/slideLayout2.xml"/><Relationship Id="rId6" Type="http://schemas.microsoft.com/office/2007/relationships/diagramDrawing" Target="../diagrams/drawing184.xml"/><Relationship Id="rId11" Type="http://schemas.openxmlformats.org/officeDocument/2006/relationships/hyperlink" Target="https://github.com/PacktPublishing/FinOps-Handbook-for-Microsoft-Azure" TargetMode="External"/><Relationship Id="rId5" Type="http://schemas.openxmlformats.org/officeDocument/2006/relationships/diagramColors" Target="../diagrams/colors184.xml"/><Relationship Id="rId10" Type="http://schemas.openxmlformats.org/officeDocument/2006/relationships/hyperlink" Target="https://github.com/dolevshor/azure-finops-guide" TargetMode="External"/><Relationship Id="rId4" Type="http://schemas.openxmlformats.org/officeDocument/2006/relationships/diagramQuickStyle" Target="../diagrams/quickStyle184.xml"/><Relationship Id="rId9" Type="http://schemas.openxmlformats.org/officeDocument/2006/relationships/hyperlink" Target="https://www.oreilly.com/library/view/cloud-finops/9781492054610/" TargetMode="External"/></Relationships>
</file>

<file path=ppt/slides/_rels/slide190.xml.rels><?xml version="1.0" encoding="UTF-8" standalone="yes"?>
<Relationships xmlns="http://schemas.openxmlformats.org/package/2006/relationships"><Relationship Id="rId3" Type="http://schemas.openxmlformats.org/officeDocument/2006/relationships/diagramLayout" Target="../diagrams/layout185.xml"/><Relationship Id="rId2" Type="http://schemas.openxmlformats.org/officeDocument/2006/relationships/diagramData" Target="../diagrams/data185.xml"/><Relationship Id="rId1" Type="http://schemas.openxmlformats.org/officeDocument/2006/relationships/slideLayout" Target="../slideLayouts/slideLayout2.xml"/><Relationship Id="rId6" Type="http://schemas.microsoft.com/office/2007/relationships/diagramDrawing" Target="../diagrams/drawing185.xml"/><Relationship Id="rId5" Type="http://schemas.openxmlformats.org/officeDocument/2006/relationships/diagramColors" Target="../diagrams/colors185.xml"/><Relationship Id="rId4" Type="http://schemas.openxmlformats.org/officeDocument/2006/relationships/diagramQuickStyle" Target="../diagrams/quickStyle185.xml"/></Relationships>
</file>

<file path=ppt/slides/_rels/slide191.xml.rels><?xml version="1.0" encoding="UTF-8" standalone="yes"?>
<Relationships xmlns="http://schemas.openxmlformats.org/package/2006/relationships"><Relationship Id="rId8" Type="http://schemas.openxmlformats.org/officeDocument/2006/relationships/hyperlink" Target="https://pragprog.com/titles/mnee2/release-it-second-edition/" TargetMode="External"/><Relationship Id="rId3" Type="http://schemas.openxmlformats.org/officeDocument/2006/relationships/diagramLayout" Target="../diagrams/layout186.xml"/><Relationship Id="rId7" Type="http://schemas.openxmlformats.org/officeDocument/2006/relationships/hyperlink" Target="https://martinfowler.com/books/continuousDelivery.html" TargetMode="External"/><Relationship Id="rId2" Type="http://schemas.openxmlformats.org/officeDocument/2006/relationships/diagramData" Target="../diagrams/data186.xml"/><Relationship Id="rId1" Type="http://schemas.openxmlformats.org/officeDocument/2006/relationships/slideLayout" Target="../slideLayouts/slideLayout2.xml"/><Relationship Id="rId6" Type="http://schemas.microsoft.com/office/2007/relationships/diagramDrawing" Target="../diagrams/drawing186.xml"/><Relationship Id="rId5" Type="http://schemas.openxmlformats.org/officeDocument/2006/relationships/diagramColors" Target="../diagrams/colors186.xml"/><Relationship Id="rId4" Type="http://schemas.openxmlformats.org/officeDocument/2006/relationships/diagramQuickStyle" Target="../diagrams/quickStyle186.xml"/></Relationships>
</file>

<file path=ppt/slides/_rels/slide192.xml.rels><?xml version="1.0" encoding="UTF-8" standalone="yes"?>
<Relationships xmlns="http://schemas.openxmlformats.org/package/2006/relationships"><Relationship Id="rId3" Type="http://schemas.openxmlformats.org/officeDocument/2006/relationships/diagramLayout" Target="../diagrams/layout187.xml"/><Relationship Id="rId2" Type="http://schemas.openxmlformats.org/officeDocument/2006/relationships/diagramData" Target="../diagrams/data187.xml"/><Relationship Id="rId1" Type="http://schemas.openxmlformats.org/officeDocument/2006/relationships/slideLayout" Target="../slideLayouts/slideLayout2.xml"/><Relationship Id="rId6" Type="http://schemas.microsoft.com/office/2007/relationships/diagramDrawing" Target="../diagrams/drawing187.xml"/><Relationship Id="rId5" Type="http://schemas.openxmlformats.org/officeDocument/2006/relationships/diagramColors" Target="../diagrams/colors187.xml"/><Relationship Id="rId4" Type="http://schemas.openxmlformats.org/officeDocument/2006/relationships/diagramQuickStyle" Target="../diagrams/quickStyle187.xml"/></Relationships>
</file>

<file path=ppt/slides/_rels/slide193.xml.rels><?xml version="1.0" encoding="UTF-8" standalone="yes"?>
<Relationships xmlns="http://schemas.openxmlformats.org/package/2006/relationships"><Relationship Id="rId3" Type="http://schemas.openxmlformats.org/officeDocument/2006/relationships/diagramLayout" Target="../diagrams/layout188.xml"/><Relationship Id="rId2" Type="http://schemas.openxmlformats.org/officeDocument/2006/relationships/diagramData" Target="../diagrams/data188.xml"/><Relationship Id="rId1" Type="http://schemas.openxmlformats.org/officeDocument/2006/relationships/slideLayout" Target="../slideLayouts/slideLayout2.xml"/><Relationship Id="rId6" Type="http://schemas.microsoft.com/office/2007/relationships/diagramDrawing" Target="../diagrams/drawing188.xml"/><Relationship Id="rId5" Type="http://schemas.openxmlformats.org/officeDocument/2006/relationships/diagramColors" Target="../diagrams/colors188.xml"/><Relationship Id="rId4" Type="http://schemas.openxmlformats.org/officeDocument/2006/relationships/diagramQuickStyle" Target="../diagrams/quickStyle188.xml"/></Relationships>
</file>

<file path=ppt/slides/_rels/slide194.xml.rels><?xml version="1.0" encoding="UTF-8" standalone="yes"?>
<Relationships xmlns="http://schemas.openxmlformats.org/package/2006/relationships"><Relationship Id="rId3" Type="http://schemas.openxmlformats.org/officeDocument/2006/relationships/diagramLayout" Target="../diagrams/layout189.xml"/><Relationship Id="rId2" Type="http://schemas.openxmlformats.org/officeDocument/2006/relationships/diagramData" Target="../diagrams/data189.xml"/><Relationship Id="rId1" Type="http://schemas.openxmlformats.org/officeDocument/2006/relationships/slideLayout" Target="../slideLayouts/slideLayout2.xml"/><Relationship Id="rId6" Type="http://schemas.microsoft.com/office/2007/relationships/diagramDrawing" Target="../diagrams/drawing189.xml"/><Relationship Id="rId5" Type="http://schemas.openxmlformats.org/officeDocument/2006/relationships/diagramColors" Target="../diagrams/colors189.xml"/><Relationship Id="rId4" Type="http://schemas.openxmlformats.org/officeDocument/2006/relationships/diagramQuickStyle" Target="../diagrams/quickStyle189.xml"/></Relationships>
</file>

<file path=ppt/slides/_rels/slide195.xml.rels><?xml version="1.0" encoding="UTF-8" standalone="yes"?>
<Relationships xmlns="http://schemas.openxmlformats.org/package/2006/relationships"><Relationship Id="rId3" Type="http://schemas.openxmlformats.org/officeDocument/2006/relationships/diagramLayout" Target="../diagrams/layout190.xml"/><Relationship Id="rId2" Type="http://schemas.openxmlformats.org/officeDocument/2006/relationships/diagramData" Target="../diagrams/data190.xml"/><Relationship Id="rId1" Type="http://schemas.openxmlformats.org/officeDocument/2006/relationships/slideLayout" Target="../slideLayouts/slideLayout2.xml"/><Relationship Id="rId6" Type="http://schemas.microsoft.com/office/2007/relationships/diagramDrawing" Target="../diagrams/drawing190.xml"/><Relationship Id="rId5" Type="http://schemas.openxmlformats.org/officeDocument/2006/relationships/diagramColors" Target="../diagrams/colors190.xml"/><Relationship Id="rId4" Type="http://schemas.openxmlformats.org/officeDocument/2006/relationships/diagramQuickStyle" Target="../diagrams/quickStyle190.xml"/></Relationships>
</file>

<file path=ppt/slides/_rels/slide196.xml.rels><?xml version="1.0" encoding="UTF-8" standalone="yes"?>
<Relationships xmlns="http://schemas.openxmlformats.org/package/2006/relationships"><Relationship Id="rId8" Type="http://schemas.openxmlformats.org/officeDocument/2006/relationships/hyperlink" Target="https://www.packtpub.com/en-in/product/sustainable-cloud-development-9781836208402?srsltid=AfmBOorIHabgajTdx26bfXv__f5l-nk-SYfWq3v16aaOb21ScWwMd3_U" TargetMode="External"/><Relationship Id="rId3" Type="http://schemas.openxmlformats.org/officeDocument/2006/relationships/diagramLayout" Target="../diagrams/layout191.xml"/><Relationship Id="rId7" Type="http://schemas.openxmlformats.org/officeDocument/2006/relationships/hyperlink" Target="https://devm.io/software-architecture/sustainable-software-architecture-technical-debt-160372-003" TargetMode="External"/><Relationship Id="rId2" Type="http://schemas.openxmlformats.org/officeDocument/2006/relationships/diagramData" Target="../diagrams/data191.xml"/><Relationship Id="rId1" Type="http://schemas.openxmlformats.org/officeDocument/2006/relationships/slideLayout" Target="../slideLayouts/slideLayout2.xml"/><Relationship Id="rId6" Type="http://schemas.microsoft.com/office/2007/relationships/diagramDrawing" Target="../diagrams/drawing191.xml"/><Relationship Id="rId5" Type="http://schemas.openxmlformats.org/officeDocument/2006/relationships/diagramColors" Target="../diagrams/colors191.xml"/><Relationship Id="rId4" Type="http://schemas.openxmlformats.org/officeDocument/2006/relationships/diagramQuickStyle" Target="../diagrams/quickStyle191.xml"/></Relationships>
</file>

<file path=ppt/slides/_rels/slide197.xml.rels><?xml version="1.0" encoding="UTF-8" standalone="yes"?>
<Relationships xmlns="http://schemas.openxmlformats.org/package/2006/relationships"><Relationship Id="rId8" Type="http://schemas.openxmlformats.org/officeDocument/2006/relationships/hyperlink" Target="https://learn.microsoft.com/en-us/azure/well-architected/what-is-well-architected-framework" TargetMode="External"/><Relationship Id="rId3" Type="http://schemas.openxmlformats.org/officeDocument/2006/relationships/diagramLayout" Target="../diagrams/layout192.xml"/><Relationship Id="rId7" Type="http://schemas.openxmlformats.org/officeDocument/2006/relationships/hyperlink" Target="https://aws.amazon.com/blogs/architecture/announcing-updates-to-the-aws-well-architected-framework-guidance/" TargetMode="External"/><Relationship Id="rId2" Type="http://schemas.openxmlformats.org/officeDocument/2006/relationships/diagramData" Target="../diagrams/data192.xml"/><Relationship Id="rId1" Type="http://schemas.openxmlformats.org/officeDocument/2006/relationships/slideLayout" Target="../slideLayouts/slideLayout2.xml"/><Relationship Id="rId6" Type="http://schemas.microsoft.com/office/2007/relationships/diagramDrawing" Target="../diagrams/drawing192.xml"/><Relationship Id="rId11" Type="http://schemas.openxmlformats.org/officeDocument/2006/relationships/hyperlink" Target="https://socadk.github.io/design-practice-repository/activities/DPR-SMART-NFR-Elicitation.html" TargetMode="External"/><Relationship Id="rId5" Type="http://schemas.openxmlformats.org/officeDocument/2006/relationships/diagramColors" Target="../diagrams/colors192.xml"/><Relationship Id="rId10" Type="http://schemas.openxmlformats.org/officeDocument/2006/relationships/hyperlink" Target="https://learn.microsoft.com/en-us/azure/cloud-adoption-framework/manage/considerations/criticality" TargetMode="External"/><Relationship Id="rId4" Type="http://schemas.openxmlformats.org/officeDocument/2006/relationships/diagramQuickStyle" Target="../diagrams/quickStyle192.xml"/><Relationship Id="rId9" Type="http://schemas.openxmlformats.org/officeDocument/2006/relationships/hyperlink" Target="https://techcommunity.microsoft.com/blog/azurearchitectureblog/optimizing-azure-kubernetes-service-aks-with-the-well-architected-framework/3352848" TargetMode="Externa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756803" y="2209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2411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491086117"/>
              </p:ext>
            </p:extLst>
          </p:nvPr>
        </p:nvGraphicFramePr>
        <p:xfrm>
          <a:off x="199100" y="304800"/>
          <a:ext cx="4982500" cy="18889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905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752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18596458"/>
              </p:ext>
            </p:extLst>
          </p:nvPr>
        </p:nvGraphicFramePr>
        <p:xfrm>
          <a:off x="275300" y="1"/>
          <a:ext cx="7192300" cy="2057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BC9E6E50-70F6-85D6-A0B8-63945C435386}"/>
              </a:ext>
            </a:extLst>
          </p:cNvPr>
          <p:cNvSpPr txBox="1">
            <a:spLocks/>
          </p:cNvSpPr>
          <p:nvPr/>
        </p:nvSpPr>
        <p:spPr>
          <a:xfrm>
            <a:off x="442863" y="2057400"/>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Design</a:t>
            </a:r>
            <a:r>
              <a:rPr lang="en-US" sz="2400" kern="0" spc="-220" dirty="0">
                <a:solidFill>
                  <a:schemeClr val="accent6"/>
                </a:solidFill>
              </a:rPr>
              <a:t> – Process of developing a product or service, considering the needs &amp; wants of users</a:t>
            </a:r>
          </a:p>
          <a:p>
            <a:pPr marL="12700" marR="5080"/>
            <a:endParaRPr lang="en-US" sz="2400" kern="0" spc="-220" dirty="0">
              <a:solidFill>
                <a:schemeClr val="accent6"/>
              </a:solidFill>
            </a:endParaRPr>
          </a:p>
          <a:p>
            <a:pPr marL="12700" marR="5080"/>
            <a:r>
              <a:rPr lang="en-US" sz="2400" kern="0" spc="-220" dirty="0">
                <a:solidFill>
                  <a:schemeClr val="accent2"/>
                </a:solidFill>
              </a:rPr>
              <a:t>Thinking</a:t>
            </a:r>
            <a:r>
              <a:rPr lang="en-US" sz="2400" kern="0" spc="-220" dirty="0">
                <a:solidFill>
                  <a:schemeClr val="accent6"/>
                </a:solidFill>
              </a:rPr>
              <a:t> – A mindset where users are kept in mind at each stage of development of  a product or service</a:t>
            </a:r>
          </a:p>
          <a:p>
            <a:pPr marL="12700" marR="5080"/>
            <a:endParaRPr lang="en-US" sz="2400" kern="0" spc="-220" dirty="0">
              <a:solidFill>
                <a:schemeClr val="accent6"/>
              </a:solidFill>
            </a:endParaRPr>
          </a:p>
          <a:p>
            <a:pPr marL="12700" marR="5080"/>
            <a:r>
              <a:rPr lang="en-US" sz="2400" kern="0" spc="-220" dirty="0">
                <a:solidFill>
                  <a:schemeClr val="accent6"/>
                </a:solidFill>
              </a:rPr>
              <a:t>In summary,  Design Thinking is human </a:t>
            </a:r>
            <a:r>
              <a:rPr lang="en-US" sz="2400" kern="0" spc="-220" dirty="0" err="1">
                <a:solidFill>
                  <a:schemeClr val="accent6"/>
                </a:solidFill>
              </a:rPr>
              <a:t>centrix</a:t>
            </a:r>
            <a:r>
              <a:rPr lang="en-US" sz="2400" kern="0" spc="-220" dirty="0">
                <a:solidFill>
                  <a:schemeClr val="accent6"/>
                </a:solidFill>
              </a:rPr>
              <a:t> approach to solve complex problems.</a:t>
            </a:r>
            <a:endParaRPr lang="en-US" sz="2400" kern="0" spc="-80" dirty="0">
              <a:solidFill>
                <a:schemeClr val="accent6"/>
              </a:solidFill>
            </a:endParaRPr>
          </a:p>
        </p:txBody>
      </p:sp>
    </p:spTree>
    <p:extLst>
      <p:ext uri="{BB962C8B-B14F-4D97-AF65-F5344CB8AC3E}">
        <p14:creationId xmlns:p14="http://schemas.microsoft.com/office/powerpoint/2010/main" val="3819043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905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752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113176351"/>
              </p:ext>
            </p:extLst>
          </p:nvPr>
        </p:nvGraphicFramePr>
        <p:xfrm>
          <a:off x="275300" y="1"/>
          <a:ext cx="7192300" cy="2057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BC9E6E50-70F6-85D6-A0B8-63945C435386}"/>
              </a:ext>
            </a:extLst>
          </p:cNvPr>
          <p:cNvSpPr txBox="1">
            <a:spLocks/>
          </p:cNvSpPr>
          <p:nvPr/>
        </p:nvSpPr>
        <p:spPr>
          <a:xfrm>
            <a:off x="442863" y="2057400"/>
            <a:ext cx="8624937" cy="33239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Complex Problems Examples – </a:t>
            </a:r>
          </a:p>
          <a:p>
            <a:pPr marL="469900" marR="5080" indent="-457200">
              <a:buAutoNum type="arabicParenR"/>
            </a:pPr>
            <a:r>
              <a:rPr lang="en-US" sz="2400" kern="0" spc="-220" dirty="0">
                <a:solidFill>
                  <a:schemeClr val="accent6"/>
                </a:solidFill>
              </a:rPr>
              <a:t>Improving Customer Satisfaction for Onboarding</a:t>
            </a:r>
          </a:p>
          <a:p>
            <a:pPr marL="469900" marR="5080" indent="-457200">
              <a:buAutoNum type="arabicParenR"/>
            </a:pPr>
            <a:endParaRPr lang="en-US" sz="2400" kern="0" spc="-220" dirty="0">
              <a:solidFill>
                <a:schemeClr val="accent6"/>
              </a:solidFill>
            </a:endParaRPr>
          </a:p>
          <a:p>
            <a:pPr marL="469900" marR="5080" indent="-457200">
              <a:buAutoNum type="arabicParenR"/>
            </a:pPr>
            <a:r>
              <a:rPr lang="en-US" sz="2400" kern="0" spc="-80" dirty="0">
                <a:solidFill>
                  <a:schemeClr val="accent6"/>
                </a:solidFill>
              </a:rPr>
              <a:t>Improving the adoption of Solar Energy in any country</a:t>
            </a:r>
          </a:p>
          <a:p>
            <a:pPr marL="469900" marR="5080" indent="-457200">
              <a:buAutoNum type="arabicParenR"/>
            </a:pPr>
            <a:endParaRPr lang="en-US" sz="2400" kern="0" spc="-80" dirty="0">
              <a:solidFill>
                <a:schemeClr val="accent6"/>
              </a:solidFill>
            </a:endParaRPr>
          </a:p>
          <a:p>
            <a:pPr marL="469900" marR="5080" indent="-457200">
              <a:buAutoNum type="arabicParenR"/>
            </a:pPr>
            <a:r>
              <a:rPr lang="en-US" sz="2400" kern="0" spc="-80" dirty="0">
                <a:solidFill>
                  <a:schemeClr val="accent6"/>
                </a:solidFill>
              </a:rPr>
              <a:t>Reducing the Attrition Rate in a Team to X%</a:t>
            </a:r>
          </a:p>
          <a:p>
            <a:pPr marL="469900" marR="5080" indent="-457200">
              <a:buAutoNum type="arabicParenR"/>
            </a:pPr>
            <a:endParaRPr lang="en-US" sz="2400" kern="0" spc="-80" dirty="0">
              <a:solidFill>
                <a:schemeClr val="accent6"/>
              </a:solidFill>
            </a:endParaRPr>
          </a:p>
          <a:p>
            <a:pPr marL="469900" marR="5080" indent="-457200">
              <a:buAutoNum type="arabicParenR"/>
            </a:pPr>
            <a:r>
              <a:rPr lang="en-US" sz="2400" kern="0" spc="-80" dirty="0">
                <a:solidFill>
                  <a:schemeClr val="accent6"/>
                </a:solidFill>
              </a:rPr>
              <a:t>Reducing the churn rate of customers in some retail platform</a:t>
            </a:r>
          </a:p>
        </p:txBody>
      </p:sp>
    </p:spTree>
    <p:extLst>
      <p:ext uri="{BB962C8B-B14F-4D97-AF65-F5344CB8AC3E}">
        <p14:creationId xmlns:p14="http://schemas.microsoft.com/office/powerpoint/2010/main" val="150971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2600" y="162221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2600" y="146981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43474184"/>
              </p:ext>
            </p:extLst>
          </p:nvPr>
        </p:nvGraphicFramePr>
        <p:xfrm>
          <a:off x="275300" y="1"/>
          <a:ext cx="7192300" cy="1600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No alt text provided for this image">
            <a:extLst>
              <a:ext uri="{FF2B5EF4-FFF2-40B4-BE49-F238E27FC236}">
                <a16:creationId xmlns:a16="http://schemas.microsoft.com/office/drawing/2014/main" id="{0A23A8F8-246C-4D1D-3602-33422F78A3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300" y="1905000"/>
            <a:ext cx="6191250" cy="3807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389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428797475"/>
              </p:ext>
            </p:extLst>
          </p:nvPr>
        </p:nvGraphicFramePr>
        <p:xfrm>
          <a:off x="275300" y="1"/>
          <a:ext cx="7192300" cy="1181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22122" y="1600200"/>
            <a:ext cx="8624937" cy="33239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Empathize</a:t>
            </a:r>
            <a:r>
              <a:rPr lang="en-US" sz="2400" kern="0" spc="-220" dirty="0">
                <a:solidFill>
                  <a:schemeClr val="accent6"/>
                </a:solidFill>
              </a:rPr>
              <a:t> – During this stage, we empathize with the users to understand the real problem(s).</a:t>
            </a:r>
          </a:p>
          <a:p>
            <a:pPr marL="12700" marR="5080"/>
            <a:endParaRPr lang="en-US" sz="2400" kern="0" spc="-220" dirty="0">
              <a:solidFill>
                <a:schemeClr val="accent6"/>
              </a:solidFill>
            </a:endParaRPr>
          </a:p>
          <a:p>
            <a:pPr marL="12700" marR="5080"/>
            <a:r>
              <a:rPr lang="en-US" sz="2400" kern="0" spc="-220" dirty="0">
                <a:solidFill>
                  <a:schemeClr val="accent2"/>
                </a:solidFill>
              </a:rPr>
              <a:t>Key Points</a:t>
            </a:r>
            <a:r>
              <a:rPr lang="en-US" sz="2400" kern="0" spc="-220" dirty="0">
                <a:solidFill>
                  <a:schemeClr val="accent6"/>
                </a:solidFill>
              </a:rPr>
              <a:t> – </a:t>
            </a:r>
          </a:p>
          <a:p>
            <a:pPr marL="12700" marR="5080"/>
            <a:r>
              <a:rPr lang="en-US" sz="2400" kern="0" spc="-80" dirty="0">
                <a:solidFill>
                  <a:schemeClr val="accent6"/>
                </a:solidFill>
              </a:rPr>
              <a:t>Focus to understand the user’s point of view</a:t>
            </a:r>
          </a:p>
          <a:p>
            <a:pPr marL="12700" marR="5080"/>
            <a:r>
              <a:rPr lang="en-US" sz="2400" kern="0" spc="-80" dirty="0">
                <a:solidFill>
                  <a:schemeClr val="accent6"/>
                </a:solidFill>
              </a:rPr>
              <a:t>Ask users how they interact with the product and service</a:t>
            </a:r>
          </a:p>
          <a:p>
            <a:pPr marL="12700" marR="5080"/>
            <a:r>
              <a:rPr lang="en-US" sz="2400" kern="0" spc="-80" dirty="0">
                <a:solidFill>
                  <a:schemeClr val="accent6"/>
                </a:solidFill>
              </a:rPr>
              <a:t>Engage with a diverse group of users(highly satisfied &amp; highly dissatisfied), Mainstream users </a:t>
            </a:r>
            <a:r>
              <a:rPr lang="en-US" sz="2400" kern="0" spc="-80" dirty="0" err="1">
                <a:solidFill>
                  <a:schemeClr val="accent6"/>
                </a:solidFill>
              </a:rPr>
              <a:t>etc</a:t>
            </a:r>
            <a:endParaRPr lang="en-US" sz="2400" kern="0" spc="-80" dirty="0">
              <a:solidFill>
                <a:schemeClr val="accent6"/>
              </a:solidFill>
            </a:endParaRPr>
          </a:p>
          <a:p>
            <a:pPr marL="12700" marR="5080"/>
            <a:r>
              <a:rPr lang="en-US" sz="2400" kern="0" spc="-80" dirty="0">
                <a:solidFill>
                  <a:schemeClr val="accent6"/>
                </a:solidFill>
              </a:rPr>
              <a:t>The focus is on divergent thinking(creating choices)</a:t>
            </a:r>
          </a:p>
        </p:txBody>
      </p:sp>
      <p:sp>
        <p:nvSpPr>
          <p:cNvPr id="3" name="object 4">
            <a:extLst>
              <a:ext uri="{FF2B5EF4-FFF2-40B4-BE49-F238E27FC236}">
                <a16:creationId xmlns:a16="http://schemas.microsoft.com/office/drawing/2014/main" id="{AB26959E-FE3A-E72D-2086-A3FC5CB8C98A}"/>
              </a:ext>
            </a:extLst>
          </p:cNvPr>
          <p:cNvSpPr/>
          <p:nvPr/>
        </p:nvSpPr>
        <p:spPr>
          <a:xfrm>
            <a:off x="1600200" y="13561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8670AB22-8350-41F1-569E-1EB6EE7EDBE6}"/>
              </a:ext>
            </a:extLst>
          </p:cNvPr>
          <p:cNvSpPr/>
          <p:nvPr/>
        </p:nvSpPr>
        <p:spPr>
          <a:xfrm>
            <a:off x="1600200" y="12037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Tree>
    <p:extLst>
      <p:ext uri="{BB962C8B-B14F-4D97-AF65-F5344CB8AC3E}">
        <p14:creationId xmlns:p14="http://schemas.microsoft.com/office/powerpoint/2010/main" val="2166352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375780835"/>
              </p:ext>
            </p:extLst>
          </p:nvPr>
        </p:nvGraphicFramePr>
        <p:xfrm>
          <a:off x="194897" y="-286067"/>
          <a:ext cx="7192300" cy="152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66663" y="1676400"/>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Define</a:t>
            </a:r>
            <a:r>
              <a:rPr lang="en-US" sz="2400" kern="0" spc="-220" dirty="0">
                <a:solidFill>
                  <a:schemeClr val="accent6"/>
                </a:solidFill>
              </a:rPr>
              <a:t> – During this stage, we define the problem statement by synthesizing all the observations we gathered during the Empathize phase.</a:t>
            </a:r>
          </a:p>
          <a:p>
            <a:pPr marL="12700" marR="5080"/>
            <a:endParaRPr lang="en-US" sz="2400" kern="0" spc="-220" dirty="0">
              <a:solidFill>
                <a:schemeClr val="accent6"/>
              </a:solidFill>
            </a:endParaRPr>
          </a:p>
          <a:p>
            <a:pPr marL="12700" marR="5080"/>
            <a:r>
              <a:rPr lang="en-US" sz="2400" kern="0" spc="-220" dirty="0">
                <a:solidFill>
                  <a:schemeClr val="accent2"/>
                </a:solidFill>
              </a:rPr>
              <a:t>Key Points</a:t>
            </a:r>
            <a:r>
              <a:rPr lang="en-US" sz="2400" kern="0" spc="-220" dirty="0">
                <a:solidFill>
                  <a:schemeClr val="accent6"/>
                </a:solidFill>
              </a:rPr>
              <a:t> – </a:t>
            </a:r>
          </a:p>
          <a:p>
            <a:pPr marL="12700" marR="5080"/>
            <a:r>
              <a:rPr lang="en-US" sz="2400" kern="0" spc="-80" dirty="0">
                <a:solidFill>
                  <a:schemeClr val="accent6"/>
                </a:solidFill>
              </a:rPr>
              <a:t>Prioritize the major issues &amp; frame the problem statement</a:t>
            </a:r>
          </a:p>
          <a:p>
            <a:pPr marL="12700" marR="5080"/>
            <a:r>
              <a:rPr lang="en-US" sz="2400" kern="0" spc="-80" dirty="0">
                <a:solidFill>
                  <a:schemeClr val="accent6"/>
                </a:solidFill>
              </a:rPr>
              <a:t>Focus on solving the selected &amp; most impactful issues instead of solving all in one single statement</a:t>
            </a:r>
          </a:p>
          <a:p>
            <a:pPr marL="12700" marR="5080"/>
            <a:r>
              <a:rPr lang="en-US" sz="2400" kern="0" spc="-80" dirty="0">
                <a:solidFill>
                  <a:schemeClr val="accent6"/>
                </a:solidFill>
              </a:rPr>
              <a:t>Focus on convergent thinking(making choices)</a:t>
            </a:r>
          </a:p>
          <a:p>
            <a:pPr marL="12700" marR="5080"/>
            <a:r>
              <a:rPr lang="en-US" sz="2400" kern="0" spc="-80" dirty="0">
                <a:solidFill>
                  <a:schemeClr val="accent6"/>
                </a:solidFill>
              </a:rPr>
              <a:t>The problem statement framed in this stage is also called “Point of View”</a:t>
            </a:r>
          </a:p>
        </p:txBody>
      </p:sp>
      <p:sp>
        <p:nvSpPr>
          <p:cNvPr id="3" name="object 4">
            <a:extLst>
              <a:ext uri="{FF2B5EF4-FFF2-40B4-BE49-F238E27FC236}">
                <a16:creationId xmlns:a16="http://schemas.microsoft.com/office/drawing/2014/main" id="{3AD45397-E410-63F8-64F4-38C6E00218E1}"/>
              </a:ext>
            </a:extLst>
          </p:cNvPr>
          <p:cNvSpPr/>
          <p:nvPr/>
        </p:nvSpPr>
        <p:spPr>
          <a:xfrm>
            <a:off x="1752600" y="144532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2A769072-07A7-C6C0-8C76-50F3995FA5F8}"/>
              </a:ext>
            </a:extLst>
          </p:cNvPr>
          <p:cNvSpPr/>
          <p:nvPr/>
        </p:nvSpPr>
        <p:spPr>
          <a:xfrm>
            <a:off x="1752600" y="129292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Tree>
    <p:extLst>
      <p:ext uri="{BB962C8B-B14F-4D97-AF65-F5344CB8AC3E}">
        <p14:creationId xmlns:p14="http://schemas.microsoft.com/office/powerpoint/2010/main" val="1664073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447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295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7096818"/>
              </p:ext>
            </p:extLst>
          </p:nvPr>
        </p:nvGraphicFramePr>
        <p:xfrm>
          <a:off x="194897" y="-76199"/>
          <a:ext cx="7192300" cy="152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66663" y="1676400"/>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Ideate</a:t>
            </a:r>
            <a:r>
              <a:rPr lang="en-US" sz="2400" kern="0" spc="-220" dirty="0">
                <a:solidFill>
                  <a:schemeClr val="accent6"/>
                </a:solidFill>
              </a:rPr>
              <a:t> – Brainstorming to come up with Solution </a:t>
            </a:r>
            <a:r>
              <a:rPr lang="en-US" sz="2400" kern="0" spc="-220" dirty="0" err="1">
                <a:solidFill>
                  <a:schemeClr val="accent6"/>
                </a:solidFill>
              </a:rPr>
              <a:t>Ideas.Gather</a:t>
            </a:r>
            <a:r>
              <a:rPr lang="en-US" sz="2400" kern="0" spc="-220" dirty="0">
                <a:solidFill>
                  <a:schemeClr val="accent6"/>
                </a:solidFill>
              </a:rPr>
              <a:t> as many solution ideas as possible and synthesize all of them for further brainstorming </a:t>
            </a:r>
          </a:p>
          <a:p>
            <a:pPr marL="12700" marR="5080"/>
            <a:endParaRPr lang="en-US" sz="2400" kern="0" spc="-220" dirty="0">
              <a:solidFill>
                <a:schemeClr val="accent6"/>
              </a:solidFill>
            </a:endParaRPr>
          </a:p>
          <a:p>
            <a:pPr marL="12700" marR="5080"/>
            <a:r>
              <a:rPr lang="en-US" sz="2400" kern="0" spc="-220" dirty="0">
                <a:solidFill>
                  <a:schemeClr val="accent2"/>
                </a:solidFill>
              </a:rPr>
              <a:t>Key Points</a:t>
            </a:r>
            <a:r>
              <a:rPr lang="en-US" sz="2400" kern="0" spc="-220" dirty="0">
                <a:solidFill>
                  <a:schemeClr val="accent6"/>
                </a:solidFill>
              </a:rPr>
              <a:t> – </a:t>
            </a:r>
          </a:p>
          <a:p>
            <a:pPr marL="12700" marR="5080"/>
            <a:r>
              <a:rPr lang="en-US" sz="2400" kern="0" spc="-80" dirty="0">
                <a:solidFill>
                  <a:schemeClr val="accent6"/>
                </a:solidFill>
              </a:rPr>
              <a:t>Let the ideas flow, do not interrupt even if the ideas are irrelevant, instead accumulate the feasible ideas &amp; build upon them</a:t>
            </a:r>
          </a:p>
          <a:p>
            <a:pPr marL="12700" marR="5080"/>
            <a:r>
              <a:rPr lang="en-US" sz="2400" kern="0" spc="-80" dirty="0">
                <a:solidFill>
                  <a:schemeClr val="accent6"/>
                </a:solidFill>
              </a:rPr>
              <a:t>Do both create choices by divergent thinking(coming up with as many ideas as possible) &amp; make choices through convergent thinking(concluding a few ideas)</a:t>
            </a:r>
          </a:p>
        </p:txBody>
      </p:sp>
    </p:spTree>
    <p:extLst>
      <p:ext uri="{BB962C8B-B14F-4D97-AF65-F5344CB8AC3E}">
        <p14:creationId xmlns:p14="http://schemas.microsoft.com/office/powerpoint/2010/main" val="91081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447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295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36502714"/>
              </p:ext>
            </p:extLst>
          </p:nvPr>
        </p:nvGraphicFramePr>
        <p:xfrm>
          <a:off x="194897" y="-54165"/>
          <a:ext cx="7192300" cy="152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66663" y="1676400"/>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Prototype</a:t>
            </a:r>
            <a:r>
              <a:rPr lang="en-US" sz="2400" kern="0" spc="-220" dirty="0">
                <a:solidFill>
                  <a:schemeClr val="accent6"/>
                </a:solidFill>
              </a:rPr>
              <a:t> – Develop a prototype of the ideas. Usually a quick prototype but capable enough to interact with users &amp; get their feedback. It’s more of Thinking with your hands. If a picture is worth of thousand words, a prototype is worth of thousand meetings.</a:t>
            </a:r>
          </a:p>
          <a:p>
            <a:pPr marL="12700" marR="5080"/>
            <a:endParaRPr lang="en-US" sz="2400" kern="0" spc="-220" dirty="0">
              <a:solidFill>
                <a:schemeClr val="accent6"/>
              </a:solidFill>
            </a:endParaRPr>
          </a:p>
          <a:p>
            <a:pPr marL="12700" marR="5080"/>
            <a:r>
              <a:rPr lang="en-US" sz="2400" kern="0" spc="-220" dirty="0">
                <a:solidFill>
                  <a:schemeClr val="accent2"/>
                </a:solidFill>
              </a:rPr>
              <a:t>Key Points</a:t>
            </a:r>
            <a:r>
              <a:rPr lang="en-US" sz="2400" kern="0" spc="-220" dirty="0">
                <a:solidFill>
                  <a:schemeClr val="accent6"/>
                </a:solidFill>
              </a:rPr>
              <a:t> – </a:t>
            </a:r>
          </a:p>
          <a:p>
            <a:pPr marL="12700" marR="5080"/>
            <a:r>
              <a:rPr lang="en-US" sz="2400" kern="0" spc="-80" dirty="0">
                <a:solidFill>
                  <a:schemeClr val="accent6"/>
                </a:solidFill>
              </a:rPr>
              <a:t>Do not try to develop the final product itself</a:t>
            </a:r>
          </a:p>
          <a:p>
            <a:pPr marL="12700" marR="5080"/>
            <a:r>
              <a:rPr lang="en-US" sz="2400" kern="0" spc="-80" dirty="0">
                <a:solidFill>
                  <a:schemeClr val="accent6"/>
                </a:solidFill>
              </a:rPr>
              <a:t>Objective here is to share it with users and get an early feedback</a:t>
            </a:r>
          </a:p>
          <a:p>
            <a:pPr marL="12700" marR="5080"/>
            <a:r>
              <a:rPr lang="en-US" sz="2400" kern="0" spc="-80" dirty="0">
                <a:solidFill>
                  <a:schemeClr val="accent6"/>
                </a:solidFill>
              </a:rPr>
              <a:t>Focus on aesthetics</a:t>
            </a:r>
          </a:p>
        </p:txBody>
      </p:sp>
    </p:spTree>
    <p:extLst>
      <p:ext uri="{BB962C8B-B14F-4D97-AF65-F5344CB8AC3E}">
        <p14:creationId xmlns:p14="http://schemas.microsoft.com/office/powerpoint/2010/main" val="337781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447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295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507531949"/>
              </p:ext>
            </p:extLst>
          </p:nvPr>
        </p:nvGraphicFramePr>
        <p:xfrm>
          <a:off x="194897" y="-304799"/>
          <a:ext cx="7192300" cy="152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66663" y="1676400"/>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Test</a:t>
            </a:r>
            <a:r>
              <a:rPr lang="en-US" sz="2400" kern="0" spc="-220" dirty="0">
                <a:solidFill>
                  <a:schemeClr val="accent6"/>
                </a:solidFill>
              </a:rPr>
              <a:t> – During this stage we share the prototype with the users and gather their feedback. This, helps in understanding if we are on the right track, or some correction is required. After getting the feedback we may need to go back to any of the first 4 stages.</a:t>
            </a:r>
          </a:p>
          <a:p>
            <a:pPr marL="12700" marR="5080"/>
            <a:endParaRPr lang="en-US" sz="2400" kern="0" spc="-220" dirty="0">
              <a:solidFill>
                <a:schemeClr val="accent6"/>
              </a:solidFill>
            </a:endParaRPr>
          </a:p>
          <a:p>
            <a:pPr marL="12700" marR="5080"/>
            <a:r>
              <a:rPr lang="en-US" sz="2400" kern="0" spc="-220" dirty="0">
                <a:solidFill>
                  <a:schemeClr val="accent2"/>
                </a:solidFill>
              </a:rPr>
              <a:t>Key Points</a:t>
            </a:r>
            <a:r>
              <a:rPr lang="en-US" sz="2400" kern="0" spc="-220" dirty="0">
                <a:solidFill>
                  <a:schemeClr val="accent6"/>
                </a:solidFill>
              </a:rPr>
              <a:t> – </a:t>
            </a:r>
          </a:p>
          <a:p>
            <a:pPr marL="12700" marR="5080"/>
            <a:r>
              <a:rPr lang="en-US" sz="2400" kern="0" spc="-80" dirty="0">
                <a:solidFill>
                  <a:schemeClr val="accent6"/>
                </a:solidFill>
              </a:rPr>
              <a:t>Test the users with all the users we interacted in the 1</a:t>
            </a:r>
            <a:r>
              <a:rPr lang="en-US" sz="2400" kern="0" spc="-80" baseline="30000" dirty="0">
                <a:solidFill>
                  <a:schemeClr val="accent6"/>
                </a:solidFill>
              </a:rPr>
              <a:t>st</a:t>
            </a:r>
            <a:r>
              <a:rPr lang="en-US" sz="2400" kern="0" spc="-80" dirty="0">
                <a:solidFill>
                  <a:schemeClr val="accent6"/>
                </a:solidFill>
              </a:rPr>
              <a:t> stage.</a:t>
            </a:r>
          </a:p>
          <a:p>
            <a:pPr marL="12700" marR="5080"/>
            <a:r>
              <a:rPr lang="en-US" sz="2400" kern="0" spc="-80" dirty="0">
                <a:solidFill>
                  <a:schemeClr val="accent6"/>
                </a:solidFill>
              </a:rPr>
              <a:t>Gather feedback to make adjustments &amp; even be ready to discard the idea</a:t>
            </a:r>
          </a:p>
          <a:p>
            <a:pPr marL="12700" marR="5080"/>
            <a:r>
              <a:rPr lang="en-US" sz="2400" kern="0" spc="-80" dirty="0">
                <a:solidFill>
                  <a:schemeClr val="accent6"/>
                </a:solidFill>
              </a:rPr>
              <a:t>Maintain a history of all the prototypes for future reference</a:t>
            </a:r>
          </a:p>
        </p:txBody>
      </p:sp>
    </p:spTree>
    <p:extLst>
      <p:ext uri="{BB962C8B-B14F-4D97-AF65-F5344CB8AC3E}">
        <p14:creationId xmlns:p14="http://schemas.microsoft.com/office/powerpoint/2010/main" val="787049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1BC22-1B18-BDEE-6C31-81208D921CF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D6F3619-7A68-0355-6324-B2BD7AC2EFB3}"/>
              </a:ext>
            </a:extLst>
          </p:cNvPr>
          <p:cNvSpPr/>
          <p:nvPr/>
        </p:nvSpPr>
        <p:spPr>
          <a:xfrm>
            <a:off x="1756802" y="70516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B4B751B-2B53-6C74-4430-9BB260299E23}"/>
              </a:ext>
            </a:extLst>
          </p:cNvPr>
          <p:cNvSpPr/>
          <p:nvPr/>
        </p:nvSpPr>
        <p:spPr>
          <a:xfrm>
            <a:off x="1756802" y="55937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7FD0D0F-562D-9DFB-2463-F5A9165D2314}"/>
              </a:ext>
            </a:extLst>
          </p:cNvPr>
          <p:cNvGraphicFramePr/>
          <p:nvPr/>
        </p:nvGraphicFramePr>
        <p:xfrm>
          <a:off x="304800" y="0"/>
          <a:ext cx="88392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descr="A group of questions on a table&#10;&#10;AI-generated content may be incorrect.">
            <a:extLst>
              <a:ext uri="{FF2B5EF4-FFF2-40B4-BE49-F238E27FC236}">
                <a16:creationId xmlns:a16="http://schemas.microsoft.com/office/drawing/2014/main" id="{6C80D26A-29F4-DDFE-D39A-EB63BDA8E7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723" y="850966"/>
            <a:ext cx="9093667" cy="2597228"/>
          </a:xfrm>
          <a:prstGeom prst="rect">
            <a:avLst/>
          </a:prstGeom>
        </p:spPr>
      </p:pic>
      <p:pic>
        <p:nvPicPr>
          <p:cNvPr id="13" name="Picture 12" descr="A group of questions on a screen&#10;&#10;AI-generated content may be incorrect.">
            <a:extLst>
              <a:ext uri="{FF2B5EF4-FFF2-40B4-BE49-F238E27FC236}">
                <a16:creationId xmlns:a16="http://schemas.microsoft.com/office/drawing/2014/main" id="{C7AF28C4-BE34-B495-EB7C-3C72764E26F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511" y="3448194"/>
            <a:ext cx="9119069" cy="2463273"/>
          </a:xfrm>
          <a:prstGeom prst="rect">
            <a:avLst/>
          </a:prstGeom>
        </p:spPr>
      </p:pic>
    </p:spTree>
    <p:extLst>
      <p:ext uri="{BB962C8B-B14F-4D97-AF65-F5344CB8AC3E}">
        <p14:creationId xmlns:p14="http://schemas.microsoft.com/office/powerpoint/2010/main" val="3303609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9DA3D-90D1-9452-47FB-009800C9A53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DC960F8-CAA1-EAE3-2C23-F415274CB12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158192C-3C5C-CCE2-87BD-9CE71DA5BB8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A79983-3C46-8DC1-9508-426248A9EF6B}"/>
              </a:ext>
            </a:extLst>
          </p:cNvPr>
          <p:cNvGraphicFramePr/>
          <p:nvPr>
            <p:extLst>
              <p:ext uri="{D42A27DB-BD31-4B8C-83A1-F6EECF244321}">
                <p14:modId xmlns:p14="http://schemas.microsoft.com/office/powerpoint/2010/main" val="1248177330"/>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A093303-8E53-4887-12E6-29CBEE15D3C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99BDDFE-B3DA-A092-CA7B-BCB44684CC85}"/>
              </a:ext>
            </a:extLst>
          </p:cNvPr>
          <p:cNvSpPr txBox="1">
            <a:spLocks/>
          </p:cNvSpPr>
          <p:nvPr/>
        </p:nvSpPr>
        <p:spPr>
          <a:xfrm>
            <a:off x="137369" y="685800"/>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70" kern="0" spc="-80" dirty="0">
                <a:solidFill>
                  <a:schemeClr val="accent2"/>
                </a:solidFill>
              </a:rPr>
              <a:t>1. Business Context &amp; Goals.</a:t>
            </a:r>
          </a:p>
          <a:p>
            <a:pPr marL="12700" marR="5080"/>
            <a:r>
              <a:rPr lang="en-US" sz="1670" kern="0" spc="-80" dirty="0">
                <a:solidFill>
                  <a:schemeClr val="accent2"/>
                </a:solidFill>
              </a:rPr>
              <a:t>🎯 Business Objectives.</a:t>
            </a:r>
          </a:p>
          <a:p>
            <a:pPr marL="12700" marR="5080"/>
            <a:r>
              <a:rPr lang="en-US" sz="1670" kern="0" spc="-80" dirty="0">
                <a:solidFill>
                  <a:schemeClr val="accent6"/>
                </a:solidFill>
              </a:rPr>
              <a:t>What are the core business goals or drivers for this initiative?</a:t>
            </a:r>
          </a:p>
          <a:p>
            <a:pPr marL="12700" marR="5080"/>
            <a:r>
              <a:rPr lang="en-US" sz="1670" kern="0" spc="-80" dirty="0">
                <a:solidFill>
                  <a:schemeClr val="accent6"/>
                </a:solidFill>
              </a:rPr>
              <a:t>What business outcomes are expected (e.g., cost savings, scalability, new capabilities)?</a:t>
            </a:r>
          </a:p>
          <a:p>
            <a:pPr marL="12700" marR="5080"/>
            <a:r>
              <a:rPr lang="en-US" sz="1670" kern="0" spc="-80" dirty="0">
                <a:solidFill>
                  <a:schemeClr val="accent6"/>
                </a:solidFill>
              </a:rPr>
              <a:t>How will success be measured (KPIs, OKRs)?</a:t>
            </a:r>
          </a:p>
          <a:p>
            <a:pPr marL="12700" marR="5080"/>
            <a:r>
              <a:rPr lang="en-US" sz="1670" kern="0" spc="-80" dirty="0">
                <a:solidFill>
                  <a:schemeClr val="accent6"/>
                </a:solidFill>
              </a:rPr>
              <a:t>What are the critical timelines or milestones?</a:t>
            </a:r>
          </a:p>
          <a:p>
            <a:pPr marL="12700" marR="5080"/>
            <a:r>
              <a:rPr lang="en-US" sz="1670" kern="0" spc="-80" dirty="0">
                <a:solidFill>
                  <a:schemeClr val="accent2"/>
                </a:solidFill>
              </a:rPr>
              <a:t>💼 Stakeholders.</a:t>
            </a:r>
          </a:p>
          <a:p>
            <a:pPr marL="12700" marR="5080"/>
            <a:r>
              <a:rPr lang="en-US" sz="1670" kern="0" spc="-80" dirty="0">
                <a:solidFill>
                  <a:schemeClr val="accent6"/>
                </a:solidFill>
              </a:rPr>
              <a:t>Who are the key stakeholders (business, IT, operations, compliance)?</a:t>
            </a:r>
          </a:p>
          <a:p>
            <a:pPr marL="12700" marR="5080"/>
            <a:r>
              <a:rPr lang="en-US" sz="1670" kern="0" spc="-80" dirty="0">
                <a:solidFill>
                  <a:schemeClr val="accent6"/>
                </a:solidFill>
              </a:rPr>
              <a:t>Who are the decision makers and approvers?</a:t>
            </a:r>
          </a:p>
          <a:p>
            <a:pPr marL="12700" marR="5080"/>
            <a:r>
              <a:rPr lang="en-US" sz="1670" kern="0" spc="-80" dirty="0">
                <a:solidFill>
                  <a:schemeClr val="accent6"/>
                </a:solidFill>
              </a:rPr>
              <a:t>Who are the end users or consumers of the solution?</a:t>
            </a:r>
          </a:p>
          <a:p>
            <a:pPr marL="12700" marR="5080"/>
            <a:r>
              <a:rPr lang="en-US" sz="1670" kern="0" spc="-80" dirty="0">
                <a:solidFill>
                  <a:schemeClr val="accent6"/>
                </a:solidFill>
              </a:rPr>
              <a:t>What are their pain points and expectations?</a:t>
            </a:r>
          </a:p>
          <a:p>
            <a:pPr marL="12700" marR="5080"/>
            <a:r>
              <a:rPr lang="en-US" sz="1670" kern="0" spc="-80" dirty="0">
                <a:solidFill>
                  <a:schemeClr val="accent2"/>
                </a:solidFill>
              </a:rPr>
              <a:t>🧩 2. Current State (As-Is) Architecture.</a:t>
            </a:r>
          </a:p>
          <a:p>
            <a:pPr marL="12700" marR="5080"/>
            <a:r>
              <a:rPr lang="en-US" sz="1670" kern="0" spc="-80" dirty="0">
                <a:solidFill>
                  <a:schemeClr val="accent2"/>
                </a:solidFill>
              </a:rPr>
              <a:t>🔍 Systems &amp; Integrations.</a:t>
            </a:r>
          </a:p>
          <a:p>
            <a:pPr marL="12700" marR="5080"/>
            <a:r>
              <a:rPr lang="en-US" sz="1670" kern="0" spc="-80" dirty="0">
                <a:solidFill>
                  <a:schemeClr val="accent6"/>
                </a:solidFill>
              </a:rPr>
              <a:t>What are the existing systems, services, and integrations involved?</a:t>
            </a:r>
          </a:p>
          <a:p>
            <a:pPr marL="12700" marR="5080"/>
            <a:r>
              <a:rPr lang="en-US" sz="1670" kern="0" spc="-80" dirty="0">
                <a:solidFill>
                  <a:schemeClr val="accent6"/>
                </a:solidFill>
              </a:rPr>
              <a:t>What are their interfaces (APIs, events, files, message queues)?</a:t>
            </a:r>
          </a:p>
          <a:p>
            <a:pPr marL="12700" marR="5080"/>
            <a:r>
              <a:rPr lang="en-US" sz="1670" kern="0" spc="-80" dirty="0">
                <a:solidFill>
                  <a:schemeClr val="accent6"/>
                </a:solidFill>
              </a:rPr>
              <a:t>What data flows currently exist between systems?</a:t>
            </a:r>
          </a:p>
          <a:p>
            <a:pPr marL="12700" marR="5080"/>
            <a:r>
              <a:rPr lang="en-US" sz="1670" kern="0" spc="-80" dirty="0">
                <a:solidFill>
                  <a:schemeClr val="accent2"/>
                </a:solidFill>
              </a:rPr>
              <a:t>⚙️ Technology Landscape.</a:t>
            </a:r>
          </a:p>
          <a:p>
            <a:pPr marL="12700" marR="5080"/>
            <a:r>
              <a:rPr lang="en-US" sz="1670" kern="0" spc="-80" dirty="0">
                <a:solidFill>
                  <a:schemeClr val="accent6"/>
                </a:solidFill>
              </a:rPr>
              <a:t>What technologies, languages, and frameworks are used today?</a:t>
            </a:r>
          </a:p>
          <a:p>
            <a:pPr marL="12700" marR="5080"/>
            <a:r>
              <a:rPr lang="en-US" sz="1670" kern="0" spc="-80" dirty="0">
                <a:solidFill>
                  <a:schemeClr val="accent6"/>
                </a:solidFill>
              </a:rPr>
              <a:t>What infrastructure is in place (cloud, on-prem, hybrid)?</a:t>
            </a:r>
          </a:p>
          <a:p>
            <a:pPr marL="12700" marR="5080"/>
            <a:r>
              <a:rPr lang="en-US" sz="1670" kern="0" spc="-80" dirty="0">
                <a:solidFill>
                  <a:schemeClr val="accent6"/>
                </a:solidFill>
              </a:rPr>
              <a:t>What are the dependencies and technical debt areas?</a:t>
            </a:r>
          </a:p>
        </p:txBody>
      </p:sp>
    </p:spTree>
    <p:extLst>
      <p:ext uri="{BB962C8B-B14F-4D97-AF65-F5344CB8AC3E}">
        <p14:creationId xmlns:p14="http://schemas.microsoft.com/office/powerpoint/2010/main" val="407121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DCB4A-6808-7A85-E290-82C5625DF9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A5DFD19-D177-1D82-0955-283802F524C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BA3B707-93D4-6311-E0F0-74DE847600E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843194C-A6B0-5916-502F-D4F7BB603D00}"/>
              </a:ext>
            </a:extLst>
          </p:cNvPr>
          <p:cNvGraphicFramePr/>
          <p:nvPr>
            <p:extLst>
              <p:ext uri="{D42A27DB-BD31-4B8C-83A1-F6EECF244321}">
                <p14:modId xmlns:p14="http://schemas.microsoft.com/office/powerpoint/2010/main" val="336511376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C374D03-1F5D-796F-24BF-39C62EEBA7E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971D389-5FEB-ACF1-7F99-F29C4F594C95}"/>
              </a:ext>
            </a:extLst>
          </p:cNvPr>
          <p:cNvSpPr txBox="1">
            <a:spLocks/>
          </p:cNvSpPr>
          <p:nvPr/>
        </p:nvSpPr>
        <p:spPr>
          <a:xfrm>
            <a:off x="137369" y="685800"/>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 Operational Metrics.</a:t>
            </a:r>
          </a:p>
          <a:p>
            <a:pPr marL="12700" marR="5080"/>
            <a:r>
              <a:rPr lang="en-US" sz="1800" kern="0" spc="-80" dirty="0">
                <a:solidFill>
                  <a:schemeClr val="accent6"/>
                </a:solidFill>
              </a:rPr>
              <a:t>What are the current performance, availability, and scalability metrics?</a:t>
            </a:r>
          </a:p>
          <a:p>
            <a:pPr marL="12700" marR="5080"/>
            <a:r>
              <a:rPr lang="en-US" sz="1800" kern="0" spc="-80" dirty="0">
                <a:solidFill>
                  <a:schemeClr val="accent6"/>
                </a:solidFill>
              </a:rPr>
              <a:t>How are monitoring and alerting handled today?</a:t>
            </a:r>
          </a:p>
          <a:p>
            <a:pPr marL="12700" marR="5080"/>
            <a:r>
              <a:rPr lang="en-US" sz="1800" kern="0" spc="-80" dirty="0">
                <a:solidFill>
                  <a:schemeClr val="accent6"/>
                </a:solidFill>
              </a:rPr>
              <a:t>What SLAs/SLOs/SLIs exist?</a:t>
            </a:r>
          </a:p>
          <a:p>
            <a:pPr marL="12700" marR="5080"/>
            <a:r>
              <a:rPr lang="en-US" sz="1800" kern="0" spc="-80" dirty="0">
                <a:solidFill>
                  <a:schemeClr val="accent2"/>
                </a:solidFill>
              </a:rPr>
              <a:t>🧱 3. Target State (To-Be) Vision.</a:t>
            </a:r>
          </a:p>
          <a:p>
            <a:pPr marL="12700" marR="5080"/>
            <a:r>
              <a:rPr lang="en-US" sz="1800" kern="0" spc="-80" dirty="0">
                <a:solidFill>
                  <a:schemeClr val="accent2"/>
                </a:solidFill>
              </a:rPr>
              <a:t>🧠 Strategic Direction.</a:t>
            </a:r>
          </a:p>
          <a:p>
            <a:pPr marL="12700" marR="5080"/>
            <a:r>
              <a:rPr lang="en-US" sz="1800" kern="0" spc="-80" dirty="0">
                <a:solidFill>
                  <a:schemeClr val="accent6"/>
                </a:solidFill>
              </a:rPr>
              <a:t>What is the target vision for the system or platform?</a:t>
            </a:r>
          </a:p>
          <a:p>
            <a:pPr marL="12700" marR="5080"/>
            <a:r>
              <a:rPr lang="en-US" sz="1800" kern="0" spc="-80" dirty="0">
                <a:solidFill>
                  <a:schemeClr val="accent6"/>
                </a:solidFill>
              </a:rPr>
              <a:t>What capabilities or features are required?</a:t>
            </a:r>
          </a:p>
          <a:p>
            <a:pPr marL="12700" marR="5080"/>
            <a:r>
              <a:rPr lang="en-US" sz="1800" kern="0" spc="-80" dirty="0">
                <a:solidFill>
                  <a:schemeClr val="accent6"/>
                </a:solidFill>
              </a:rPr>
              <a:t>What architectural qualities (scalability, modularity, portability) are desired?</a:t>
            </a:r>
          </a:p>
          <a:p>
            <a:pPr marL="12700" marR="5080"/>
            <a:r>
              <a:rPr lang="en-US" sz="1800" kern="0" spc="-80" dirty="0">
                <a:solidFill>
                  <a:schemeClr val="accent2"/>
                </a:solidFill>
              </a:rPr>
              <a:t>🧭 Non-Functional Requirements (NFRs).</a:t>
            </a:r>
          </a:p>
          <a:p>
            <a:pPr marL="12700" marR="5080"/>
            <a:r>
              <a:rPr lang="en-US" sz="1800" kern="0" spc="-80" dirty="0">
                <a:solidFill>
                  <a:schemeClr val="accent2"/>
                </a:solidFill>
              </a:rPr>
              <a:t>Category               Key Questions.</a:t>
            </a:r>
          </a:p>
          <a:p>
            <a:pPr marL="12700" marR="5080"/>
            <a:r>
              <a:rPr lang="en-US" sz="1800" kern="0" spc="-80" dirty="0">
                <a:solidFill>
                  <a:schemeClr val="accent6"/>
                </a:solidFill>
              </a:rPr>
              <a:t>Performance         Expected response times, throughput, latency?</a:t>
            </a:r>
          </a:p>
          <a:p>
            <a:pPr marL="12700" marR="5080"/>
            <a:r>
              <a:rPr lang="en-US" sz="1800" kern="0" spc="-80" dirty="0">
                <a:solidFill>
                  <a:schemeClr val="accent6"/>
                </a:solidFill>
              </a:rPr>
              <a:t>Scalability             Vertical/horizontal scaling needs? Auto-scaling?</a:t>
            </a:r>
          </a:p>
          <a:p>
            <a:pPr marL="12700" marR="5080"/>
            <a:r>
              <a:rPr lang="en-US" sz="1800" kern="0" spc="-80" dirty="0">
                <a:solidFill>
                  <a:schemeClr val="accent6"/>
                </a:solidFill>
              </a:rPr>
              <a:t>Availability           Required uptime, failover mechanisms?</a:t>
            </a:r>
          </a:p>
          <a:p>
            <a:pPr marL="12700" marR="5080"/>
            <a:r>
              <a:rPr lang="en-US" sz="1800" kern="0" spc="-80" dirty="0">
                <a:solidFill>
                  <a:schemeClr val="accent6"/>
                </a:solidFill>
              </a:rPr>
              <a:t>Security                 Authentication, authorization, encryption, compliance?</a:t>
            </a:r>
          </a:p>
          <a:p>
            <a:pPr marL="12700" marR="5080"/>
            <a:r>
              <a:rPr lang="en-US" sz="1800" kern="0" spc="-80" dirty="0">
                <a:solidFill>
                  <a:schemeClr val="accent6"/>
                </a:solidFill>
              </a:rPr>
              <a:t>Maintainability     How easily can the system evolve?</a:t>
            </a:r>
          </a:p>
          <a:p>
            <a:pPr marL="12700" marR="5080"/>
            <a:r>
              <a:rPr lang="en-US" sz="1800" kern="0" spc="-80" dirty="0">
                <a:solidFill>
                  <a:schemeClr val="accent6"/>
                </a:solidFill>
              </a:rPr>
              <a:t>Observability        Logging, tracing, metrics collection requirements?</a:t>
            </a:r>
          </a:p>
          <a:p>
            <a:pPr marL="12700" marR="5080"/>
            <a:r>
              <a:rPr lang="en-US" sz="1800" kern="0" spc="-80" dirty="0">
                <a:solidFill>
                  <a:schemeClr val="accent6"/>
                </a:solidFill>
              </a:rPr>
              <a:t>Cost Efficiency     Budget limits, cost-optimization constraints?</a:t>
            </a:r>
          </a:p>
          <a:p>
            <a:pPr marL="12700" marR="5080"/>
            <a:endParaRPr lang="en-IN" sz="1600" kern="0" spc="-80" dirty="0">
              <a:solidFill>
                <a:schemeClr val="accent6"/>
              </a:solidFill>
            </a:endParaRPr>
          </a:p>
        </p:txBody>
      </p:sp>
    </p:spTree>
    <p:extLst>
      <p:ext uri="{BB962C8B-B14F-4D97-AF65-F5344CB8AC3E}">
        <p14:creationId xmlns:p14="http://schemas.microsoft.com/office/powerpoint/2010/main" val="4036435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DC75C-AD95-2015-4FB5-DFD81A40ACD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9A9CEA8-5F17-AD9F-7211-F14A92B7799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6AE7C96-EF9C-07EC-2EE8-F068A52E08A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04AA749-C585-5ED6-F12E-B87DC5821209}"/>
              </a:ext>
            </a:extLst>
          </p:cNvPr>
          <p:cNvGraphicFramePr/>
          <p:nvPr>
            <p:extLst>
              <p:ext uri="{D42A27DB-BD31-4B8C-83A1-F6EECF244321}">
                <p14:modId xmlns:p14="http://schemas.microsoft.com/office/powerpoint/2010/main" val="81527982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00F4405-D8D1-FEF2-8C7C-9072B42F600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B18A3E1-55B4-B05C-3C2C-5865883CB624}"/>
              </a:ext>
            </a:extLst>
          </p:cNvPr>
          <p:cNvSpPr txBox="1">
            <a:spLocks/>
          </p:cNvSpPr>
          <p:nvPr/>
        </p:nvSpPr>
        <p:spPr>
          <a:xfrm>
            <a:off x="137369" y="685800"/>
            <a:ext cx="8624937" cy="56630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 4. Data &amp; Integration Discovery.</a:t>
            </a:r>
          </a:p>
          <a:p>
            <a:pPr marL="12700" marR="5080"/>
            <a:r>
              <a:rPr lang="en-US" sz="1600" kern="0" spc="-80" dirty="0">
                <a:solidFill>
                  <a:schemeClr val="accent2"/>
                </a:solidFill>
              </a:rPr>
              <a:t>📦 Data Landscape.</a:t>
            </a:r>
          </a:p>
          <a:p>
            <a:pPr marL="12700" marR="5080"/>
            <a:r>
              <a:rPr lang="en-US" sz="1600" kern="0" spc="-80" dirty="0">
                <a:solidFill>
                  <a:schemeClr val="accent6"/>
                </a:solidFill>
              </a:rPr>
              <a:t>What are the key data entities and their relationships?</a:t>
            </a:r>
          </a:p>
          <a:p>
            <a:pPr marL="12700" marR="5080"/>
            <a:r>
              <a:rPr lang="en-US" sz="1600" kern="0" spc="-80" dirty="0">
                <a:solidFill>
                  <a:schemeClr val="accent6"/>
                </a:solidFill>
              </a:rPr>
              <a:t>What is the volume, velocity, and variety of data?</a:t>
            </a:r>
          </a:p>
          <a:p>
            <a:pPr marL="12700" marR="5080"/>
            <a:r>
              <a:rPr lang="en-US" sz="1600" kern="0" spc="-80" dirty="0">
                <a:solidFill>
                  <a:schemeClr val="accent6"/>
                </a:solidFill>
              </a:rPr>
              <a:t>What data sources (internal, external, streaming) are used?</a:t>
            </a:r>
          </a:p>
          <a:p>
            <a:pPr marL="12700" marR="5080"/>
            <a:r>
              <a:rPr lang="en-US" sz="1600" kern="0" spc="-80" dirty="0">
                <a:solidFill>
                  <a:schemeClr val="accent6"/>
                </a:solidFill>
              </a:rPr>
              <a:t>What are the data quality and governance concerns?</a:t>
            </a:r>
          </a:p>
          <a:p>
            <a:pPr marL="12700" marR="5080"/>
            <a:r>
              <a:rPr lang="en-US" sz="1600" kern="0" spc="-80" dirty="0">
                <a:solidFill>
                  <a:schemeClr val="accent2"/>
                </a:solidFill>
              </a:rPr>
              <a:t>🔄 Integration Patterns.</a:t>
            </a:r>
          </a:p>
          <a:p>
            <a:pPr marL="12700" marR="5080"/>
            <a:r>
              <a:rPr lang="en-US" sz="1600" kern="0" spc="-80" dirty="0">
                <a:solidFill>
                  <a:schemeClr val="accent6"/>
                </a:solidFill>
              </a:rPr>
              <a:t>What integration mechanisms are required (APIs, events, ETL, messaging)?</a:t>
            </a:r>
          </a:p>
          <a:p>
            <a:pPr marL="12700" marR="5080"/>
            <a:r>
              <a:rPr lang="en-US" sz="1600" kern="0" spc="-80" dirty="0">
                <a:solidFill>
                  <a:schemeClr val="accent6"/>
                </a:solidFill>
              </a:rPr>
              <a:t>Is there a need for real-time vs batch processing?</a:t>
            </a:r>
          </a:p>
          <a:p>
            <a:pPr marL="12700" marR="5080"/>
            <a:r>
              <a:rPr lang="en-US" sz="1600" kern="0" spc="-80" dirty="0">
                <a:solidFill>
                  <a:schemeClr val="accent6"/>
                </a:solidFill>
              </a:rPr>
              <a:t>Are there legacy interfaces to modernize?</a:t>
            </a:r>
          </a:p>
          <a:p>
            <a:pPr marL="12700" marR="5080"/>
            <a:r>
              <a:rPr lang="en-US" sz="1600" kern="0" spc="-80" dirty="0">
                <a:solidFill>
                  <a:schemeClr val="accent2"/>
                </a:solidFill>
              </a:rPr>
              <a:t>☁️ 5. Infrastructure &amp; Deployment.</a:t>
            </a:r>
          </a:p>
          <a:p>
            <a:pPr marL="12700" marR="5080"/>
            <a:r>
              <a:rPr lang="en-US" sz="1600" kern="0" spc="-80" dirty="0">
                <a:solidFill>
                  <a:schemeClr val="accent2"/>
                </a:solidFill>
              </a:rPr>
              <a:t>🧱 Environment Discovery.</a:t>
            </a:r>
          </a:p>
          <a:p>
            <a:pPr marL="12700" marR="5080"/>
            <a:r>
              <a:rPr lang="en-US" sz="1600" kern="0" spc="-80" dirty="0">
                <a:solidFill>
                  <a:schemeClr val="accent6"/>
                </a:solidFill>
              </a:rPr>
              <a:t>Where will workloads run? (On-prem, Azure, AWS, GCP, Hybrid, Edge).</a:t>
            </a:r>
          </a:p>
          <a:p>
            <a:pPr marL="12700" marR="5080"/>
            <a:r>
              <a:rPr lang="en-US" sz="1600" kern="0" spc="-80" dirty="0">
                <a:solidFill>
                  <a:schemeClr val="accent6"/>
                </a:solidFill>
              </a:rPr>
              <a:t>What environments exist (Dev/Test/Prod)?</a:t>
            </a:r>
          </a:p>
          <a:p>
            <a:pPr marL="12700" marR="5080"/>
            <a:r>
              <a:rPr lang="en-US" sz="1600" kern="0" spc="-80" dirty="0">
                <a:solidFill>
                  <a:schemeClr val="accent6"/>
                </a:solidFill>
              </a:rPr>
              <a:t>How is infrastructure provisioned (manual, </a:t>
            </a:r>
            <a:r>
              <a:rPr lang="en-US" sz="1600" kern="0" spc="-80" dirty="0" err="1">
                <a:solidFill>
                  <a:schemeClr val="accent6"/>
                </a:solidFill>
              </a:rPr>
              <a:t>IaC</a:t>
            </a:r>
            <a:r>
              <a:rPr lang="en-US" sz="1600" kern="0" spc="-80" dirty="0">
                <a:solidFill>
                  <a:schemeClr val="accent6"/>
                </a:solidFill>
              </a:rPr>
              <a:t> – Terraform/Bicep)?</a:t>
            </a:r>
          </a:p>
          <a:p>
            <a:pPr marL="12700" marR="5080"/>
            <a:r>
              <a:rPr lang="en-US" sz="1600" kern="0" spc="-80" dirty="0">
                <a:solidFill>
                  <a:schemeClr val="accent6"/>
                </a:solidFill>
              </a:rPr>
              <a:t>What are the network and connectivity constraints?</a:t>
            </a:r>
          </a:p>
          <a:p>
            <a:pPr marL="12700" marR="5080"/>
            <a:r>
              <a:rPr lang="en-US" sz="1600" kern="0" spc="-80" dirty="0">
                <a:solidFill>
                  <a:schemeClr val="accent6"/>
                </a:solidFill>
              </a:rPr>
              <a:t>What compute, storage, and network resources are available?</a:t>
            </a:r>
          </a:p>
          <a:p>
            <a:pPr marL="12700" marR="5080"/>
            <a:r>
              <a:rPr lang="en-US" sz="1600" kern="0" spc="-80" dirty="0">
                <a:solidFill>
                  <a:schemeClr val="accent2"/>
                </a:solidFill>
              </a:rPr>
              <a:t>🚀 Deployment &amp; Operations.</a:t>
            </a:r>
          </a:p>
          <a:p>
            <a:pPr marL="12700" marR="5080"/>
            <a:r>
              <a:rPr lang="en-US" sz="1600" kern="0" spc="-80" dirty="0">
                <a:solidFill>
                  <a:schemeClr val="accent6"/>
                </a:solidFill>
              </a:rPr>
              <a:t>What is the CI/CD pipeline strategy?</a:t>
            </a:r>
          </a:p>
          <a:p>
            <a:pPr marL="12700" marR="5080"/>
            <a:r>
              <a:rPr lang="en-US" sz="1600" kern="0" spc="-80" dirty="0">
                <a:solidFill>
                  <a:schemeClr val="accent6"/>
                </a:solidFill>
              </a:rPr>
              <a:t>How are rollouts, rollbacks, and versioning handled?</a:t>
            </a:r>
          </a:p>
          <a:p>
            <a:pPr marL="12700" marR="5080"/>
            <a:r>
              <a:rPr lang="en-US" sz="1600" kern="0" spc="-80" dirty="0">
                <a:solidFill>
                  <a:schemeClr val="accent6"/>
                </a:solidFill>
              </a:rPr>
              <a:t>What’s the monitoring, logging, and alerting setup?</a:t>
            </a:r>
          </a:p>
          <a:p>
            <a:pPr marL="12700" marR="5080"/>
            <a:r>
              <a:rPr lang="en-US" sz="1600" kern="0" spc="-80" dirty="0">
                <a:solidFill>
                  <a:schemeClr val="accent6"/>
                </a:solidFill>
              </a:rPr>
              <a:t>Who handles incident response and SRE functions?</a:t>
            </a:r>
          </a:p>
          <a:p>
            <a:pPr marL="12700" marR="5080"/>
            <a:endParaRPr lang="en-IN" sz="1600" kern="0" spc="-80" dirty="0">
              <a:solidFill>
                <a:schemeClr val="accent6"/>
              </a:solidFill>
            </a:endParaRPr>
          </a:p>
        </p:txBody>
      </p:sp>
    </p:spTree>
    <p:extLst>
      <p:ext uri="{BB962C8B-B14F-4D97-AF65-F5344CB8AC3E}">
        <p14:creationId xmlns:p14="http://schemas.microsoft.com/office/powerpoint/2010/main" val="1100225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615CF-7B3D-A031-1155-041E86AC754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1471D53-8A67-04B4-2583-14EC356C282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5FB2B1-B1D2-AD1C-7C62-2C4077E6098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BF0B749-72B6-691F-2564-DB3C84009BE4}"/>
              </a:ext>
            </a:extLst>
          </p:cNvPr>
          <p:cNvGraphicFramePr/>
          <p:nvPr>
            <p:extLst>
              <p:ext uri="{D42A27DB-BD31-4B8C-83A1-F6EECF244321}">
                <p14:modId xmlns:p14="http://schemas.microsoft.com/office/powerpoint/2010/main" val="3371904448"/>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9BA155E-E20F-5F42-869E-C5AF3BBF206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CCE9CE-A9AA-3269-E71D-075E33FF2EC7}"/>
              </a:ext>
            </a:extLst>
          </p:cNvPr>
          <p:cNvSpPr txBox="1">
            <a:spLocks/>
          </p:cNvSpPr>
          <p:nvPr/>
        </p:nvSpPr>
        <p:spPr>
          <a:xfrm>
            <a:off x="137369" y="685800"/>
            <a:ext cx="8624937" cy="54784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 6. Security, Compliance &amp; Governance.</a:t>
            </a:r>
          </a:p>
          <a:p>
            <a:pPr marL="12700" marR="5080"/>
            <a:r>
              <a:rPr lang="en-US" sz="1700" kern="0" spc="-80" dirty="0">
                <a:solidFill>
                  <a:schemeClr val="accent2"/>
                </a:solidFill>
              </a:rPr>
              <a:t>🔒 Security.</a:t>
            </a:r>
          </a:p>
          <a:p>
            <a:pPr marL="12700" marR="5080"/>
            <a:r>
              <a:rPr lang="en-US" sz="1700" kern="0" spc="-80" dirty="0">
                <a:solidFill>
                  <a:schemeClr val="accent6"/>
                </a:solidFill>
              </a:rPr>
              <a:t>How is identity and access management (IAM) handled?</a:t>
            </a:r>
          </a:p>
          <a:p>
            <a:pPr marL="12700" marR="5080"/>
            <a:r>
              <a:rPr lang="en-US" sz="1700" kern="0" spc="-80" dirty="0">
                <a:solidFill>
                  <a:schemeClr val="accent6"/>
                </a:solidFill>
              </a:rPr>
              <a:t>Are there encryption requirements (at rest, in transit)?</a:t>
            </a:r>
          </a:p>
          <a:p>
            <a:pPr marL="12700" marR="5080"/>
            <a:r>
              <a:rPr lang="en-US" sz="1700" kern="0" spc="-80" dirty="0">
                <a:solidFill>
                  <a:schemeClr val="accent6"/>
                </a:solidFill>
              </a:rPr>
              <a:t>How are secrets managed?</a:t>
            </a:r>
          </a:p>
          <a:p>
            <a:pPr marL="12700" marR="5080"/>
            <a:r>
              <a:rPr lang="en-US" sz="1700" kern="0" spc="-80" dirty="0">
                <a:solidFill>
                  <a:schemeClr val="accent6"/>
                </a:solidFill>
              </a:rPr>
              <a:t>Any known vulnerabilities or threats?</a:t>
            </a:r>
          </a:p>
          <a:p>
            <a:pPr marL="12700" marR="5080"/>
            <a:r>
              <a:rPr lang="en-US" sz="1700" kern="0" spc="-80" dirty="0">
                <a:solidFill>
                  <a:schemeClr val="accent2"/>
                </a:solidFill>
              </a:rPr>
              <a:t>🧾 Compliance.</a:t>
            </a:r>
          </a:p>
          <a:p>
            <a:pPr marL="12700" marR="5080"/>
            <a:r>
              <a:rPr lang="en-US" sz="1700" kern="0" spc="-80" dirty="0">
                <a:solidFill>
                  <a:schemeClr val="accent6"/>
                </a:solidFill>
              </a:rPr>
              <a:t>What regulatory frameworks apply (GDPR, HIPAA, ISO, RBI, etc.)?</a:t>
            </a:r>
          </a:p>
          <a:p>
            <a:pPr marL="12700" marR="5080"/>
            <a:r>
              <a:rPr lang="en-US" sz="1700" kern="0" spc="-80" dirty="0">
                <a:solidFill>
                  <a:schemeClr val="accent6"/>
                </a:solidFill>
              </a:rPr>
              <a:t>What are the audit and logging requirements?</a:t>
            </a:r>
          </a:p>
          <a:p>
            <a:pPr marL="12700" marR="5080"/>
            <a:r>
              <a:rPr lang="en-US" sz="1700" kern="0" spc="-80" dirty="0">
                <a:solidFill>
                  <a:schemeClr val="accent6"/>
                </a:solidFill>
              </a:rPr>
              <a:t>Are there data residency or sovereignty constraints?</a:t>
            </a:r>
          </a:p>
          <a:p>
            <a:pPr marL="12700" marR="5080"/>
            <a:r>
              <a:rPr lang="en-US" sz="1700" kern="0" spc="-80" dirty="0">
                <a:solidFill>
                  <a:schemeClr val="accent2"/>
                </a:solidFill>
              </a:rPr>
              <a:t>🧠 7. People, Process &amp; Change Management.</a:t>
            </a:r>
          </a:p>
          <a:p>
            <a:pPr marL="12700" marR="5080"/>
            <a:r>
              <a:rPr lang="en-US" sz="1700" kern="0" spc="-80" dirty="0">
                <a:solidFill>
                  <a:schemeClr val="accent6"/>
                </a:solidFill>
              </a:rPr>
              <a:t>Who will own and maintain the solution post-deployment?</a:t>
            </a:r>
          </a:p>
          <a:p>
            <a:pPr marL="12700" marR="5080"/>
            <a:r>
              <a:rPr lang="en-US" sz="1700" kern="0" spc="-80" dirty="0">
                <a:solidFill>
                  <a:schemeClr val="accent6"/>
                </a:solidFill>
              </a:rPr>
              <a:t>What skills are available in-house vs. need upskilling?</a:t>
            </a:r>
          </a:p>
          <a:p>
            <a:pPr marL="12700" marR="5080"/>
            <a:r>
              <a:rPr lang="en-US" sz="1700" kern="0" spc="-80" dirty="0">
                <a:solidFill>
                  <a:schemeClr val="accent6"/>
                </a:solidFill>
              </a:rPr>
              <a:t>Are there existing DevOps/SRE or </a:t>
            </a:r>
            <a:r>
              <a:rPr lang="en-US" sz="1700" kern="0" spc="-80" dirty="0" err="1">
                <a:solidFill>
                  <a:schemeClr val="accent6"/>
                </a:solidFill>
              </a:rPr>
              <a:t>MLOps</a:t>
            </a:r>
            <a:r>
              <a:rPr lang="en-US" sz="1700" kern="0" spc="-80" dirty="0">
                <a:solidFill>
                  <a:schemeClr val="accent6"/>
                </a:solidFill>
              </a:rPr>
              <a:t> practices?</a:t>
            </a:r>
          </a:p>
          <a:p>
            <a:pPr marL="12700" marR="5080"/>
            <a:r>
              <a:rPr lang="en-US" sz="1700" kern="0" spc="-80" dirty="0">
                <a:solidFill>
                  <a:schemeClr val="accent6"/>
                </a:solidFill>
              </a:rPr>
              <a:t>What change management or training plans are required?</a:t>
            </a:r>
          </a:p>
          <a:p>
            <a:pPr marL="12700" marR="5080"/>
            <a:r>
              <a:rPr lang="en-US" sz="1700" kern="0" spc="-80" dirty="0">
                <a:solidFill>
                  <a:schemeClr val="accent2"/>
                </a:solidFill>
              </a:rPr>
              <a:t>📈 8. Risks, Constraints &amp; Assumptions.</a:t>
            </a:r>
          </a:p>
          <a:p>
            <a:pPr marL="12700" marR="5080"/>
            <a:r>
              <a:rPr lang="en-US" sz="1700" kern="0" spc="-80" dirty="0">
                <a:solidFill>
                  <a:schemeClr val="accent2"/>
                </a:solidFill>
              </a:rPr>
              <a:t>Category             Example.</a:t>
            </a:r>
          </a:p>
          <a:p>
            <a:pPr marL="12700" marR="5080"/>
            <a:r>
              <a:rPr lang="en-US" sz="1700" kern="0" spc="-80" dirty="0">
                <a:solidFill>
                  <a:schemeClr val="accent6"/>
                </a:solidFill>
              </a:rPr>
              <a:t>Risks                   Legacy dependency, integration complexity, unclear requirements.</a:t>
            </a:r>
          </a:p>
          <a:p>
            <a:pPr marL="12700" marR="5080"/>
            <a:r>
              <a:rPr lang="en-US" sz="1700" kern="0" spc="-80" dirty="0">
                <a:solidFill>
                  <a:schemeClr val="accent6"/>
                </a:solidFill>
              </a:rPr>
              <a:t>Constraints        Budget, licensing, regulatory, cloud choice.</a:t>
            </a:r>
          </a:p>
          <a:p>
            <a:pPr marL="12700" marR="5080"/>
            <a:r>
              <a:rPr lang="en-US" sz="1700" kern="0" spc="-80" dirty="0">
                <a:solidFill>
                  <a:schemeClr val="accent6"/>
                </a:solidFill>
              </a:rPr>
              <a:t>Assumptions     APIs available, data access permitted, team resources allocated.</a:t>
            </a:r>
          </a:p>
          <a:p>
            <a:pPr marL="12700" marR="5080"/>
            <a:endParaRPr lang="en-IN" sz="1600" kern="0" spc="-80" dirty="0">
              <a:solidFill>
                <a:schemeClr val="accent6"/>
              </a:solidFill>
            </a:endParaRPr>
          </a:p>
        </p:txBody>
      </p:sp>
    </p:spTree>
    <p:extLst>
      <p:ext uri="{BB962C8B-B14F-4D97-AF65-F5344CB8AC3E}">
        <p14:creationId xmlns:p14="http://schemas.microsoft.com/office/powerpoint/2010/main" val="2906937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0835C-8533-C09C-F17F-DCDF0F55D7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0EE7E59-AA8A-451C-E613-639CA795E14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021537-0BC7-DFD4-10AA-CDDD647649E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B8EE37B-688D-F71D-5000-29839B001495}"/>
              </a:ext>
            </a:extLst>
          </p:cNvPr>
          <p:cNvGraphicFramePr/>
          <p:nvPr>
            <p:extLst>
              <p:ext uri="{D42A27DB-BD31-4B8C-83A1-F6EECF244321}">
                <p14:modId xmlns:p14="http://schemas.microsoft.com/office/powerpoint/2010/main" val="365279577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B304389-F981-CD37-7E12-03F79C4A096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03C7FDA-4039-63C0-2C79-7AF7CCDD99C2}"/>
              </a:ext>
            </a:extLst>
          </p:cNvPr>
          <p:cNvSpPr txBox="1">
            <a:spLocks/>
          </p:cNvSpPr>
          <p:nvPr/>
        </p:nvSpPr>
        <p:spPr>
          <a:xfrm>
            <a:off x="137369" y="685800"/>
            <a:ext cx="8624937" cy="41857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r>
              <a:rPr lang="en-US" sz="1700" kern="0" spc="-80" dirty="0">
                <a:solidFill>
                  <a:schemeClr val="accent2"/>
                </a:solidFill>
              </a:rPr>
              <a:t>9. Architecture Decision Inputs.</a:t>
            </a:r>
          </a:p>
          <a:p>
            <a:pPr marL="12700" marR="5080"/>
            <a:r>
              <a:rPr lang="en-US" sz="1700" kern="0" spc="-80" dirty="0">
                <a:solidFill>
                  <a:schemeClr val="accent2"/>
                </a:solidFill>
              </a:rPr>
              <a:t>Prepare to capture Architecture Decision Records (ADRs) based on:</a:t>
            </a:r>
          </a:p>
          <a:p>
            <a:pPr marL="12700" marR="5080"/>
            <a:r>
              <a:rPr lang="en-US" sz="1700" kern="0" spc="-80" dirty="0">
                <a:solidFill>
                  <a:schemeClr val="accent6"/>
                </a:solidFill>
              </a:rPr>
              <a:t>Chosen architecture style (Microservices, Event-driven, Data Mesh, etc.).</a:t>
            </a:r>
          </a:p>
          <a:p>
            <a:pPr marL="12700" marR="5080"/>
            <a:r>
              <a:rPr lang="en-US" sz="1700" kern="0" spc="-80" dirty="0">
                <a:solidFill>
                  <a:schemeClr val="accent6"/>
                </a:solidFill>
              </a:rPr>
              <a:t>Key trade-offs (complexity vs flexibility, performance vs cost).</a:t>
            </a:r>
          </a:p>
          <a:p>
            <a:pPr marL="12700" marR="5080"/>
            <a:r>
              <a:rPr lang="en-US" sz="1700" kern="0" spc="-80" dirty="0">
                <a:solidFill>
                  <a:schemeClr val="accent6"/>
                </a:solidFill>
              </a:rPr>
              <a:t>Tooling &amp; framework selection rationale.</a:t>
            </a:r>
          </a:p>
          <a:p>
            <a:pPr marL="12700" marR="5080"/>
            <a:r>
              <a:rPr lang="en-US" sz="1700" kern="0" spc="-80" dirty="0">
                <a:solidFill>
                  <a:schemeClr val="accent6"/>
                </a:solidFill>
              </a:rPr>
              <a:t>Cloud or platform strategy (Azure, AWS, hybrid).</a:t>
            </a:r>
          </a:p>
          <a:p>
            <a:pPr marL="12700" marR="5080"/>
            <a:r>
              <a:rPr lang="en-US" sz="1700" kern="0" spc="-80" dirty="0">
                <a:solidFill>
                  <a:schemeClr val="accent2"/>
                </a:solidFill>
              </a:rPr>
              <a:t>🧩 10. Artifacts to Produce.</a:t>
            </a:r>
          </a:p>
          <a:p>
            <a:pPr marL="12700" marR="5080"/>
            <a:r>
              <a:rPr lang="en-US" sz="1700" kern="0" spc="-80" dirty="0">
                <a:solidFill>
                  <a:schemeClr val="accent2"/>
                </a:solidFill>
              </a:rPr>
              <a:t>During or after discovery, architects should aim to deliver:</a:t>
            </a:r>
          </a:p>
          <a:p>
            <a:pPr marL="12700" marR="5080"/>
            <a:r>
              <a:rPr lang="en-US" sz="1700" kern="0" spc="-80" dirty="0">
                <a:solidFill>
                  <a:schemeClr val="accent6"/>
                </a:solidFill>
              </a:rPr>
              <a:t>Current-State (As-Is) architecture diagram.</a:t>
            </a:r>
          </a:p>
          <a:p>
            <a:pPr marL="12700" marR="5080"/>
            <a:r>
              <a:rPr lang="en-US" sz="1700" kern="0" spc="-80" dirty="0">
                <a:solidFill>
                  <a:schemeClr val="accent6"/>
                </a:solidFill>
              </a:rPr>
              <a:t>Target-State (To-Be) architecture diagram.</a:t>
            </a:r>
          </a:p>
          <a:p>
            <a:pPr marL="12700" marR="5080"/>
            <a:r>
              <a:rPr lang="en-US" sz="1700" kern="0" spc="-80" dirty="0">
                <a:solidFill>
                  <a:schemeClr val="accent6"/>
                </a:solidFill>
              </a:rPr>
              <a:t>Strategy Diagram to transform from As-Is to To-Be</a:t>
            </a:r>
          </a:p>
          <a:p>
            <a:pPr marL="12700" marR="5080"/>
            <a:r>
              <a:rPr lang="en-US" sz="1700" kern="0" spc="-80" dirty="0">
                <a:solidFill>
                  <a:schemeClr val="accent6"/>
                </a:solidFill>
              </a:rPr>
              <a:t>Context and container views (C4 model).</a:t>
            </a:r>
          </a:p>
          <a:p>
            <a:pPr marL="12700" marR="5080"/>
            <a:r>
              <a:rPr lang="en-US" sz="1700" kern="0" spc="-80" dirty="0">
                <a:solidFill>
                  <a:schemeClr val="accent6"/>
                </a:solidFill>
              </a:rPr>
              <a:t>Integration/data flow diagrams.</a:t>
            </a:r>
          </a:p>
          <a:p>
            <a:pPr marL="12700" marR="5080"/>
            <a:r>
              <a:rPr lang="en-US" sz="1700" kern="0" spc="-80" dirty="0">
                <a:solidFill>
                  <a:schemeClr val="accent6"/>
                </a:solidFill>
              </a:rPr>
              <a:t>NFR matrix.</a:t>
            </a:r>
          </a:p>
          <a:p>
            <a:pPr marL="12700" marR="5080"/>
            <a:r>
              <a:rPr lang="en-US" sz="1700" kern="0" spc="-80" dirty="0">
                <a:solidFill>
                  <a:schemeClr val="accent6"/>
                </a:solidFill>
              </a:rPr>
              <a:t>Risk and mitigation log.</a:t>
            </a:r>
          </a:p>
          <a:p>
            <a:pPr marL="12700" marR="5080"/>
            <a:r>
              <a:rPr lang="en-US" sz="1700" kern="0" spc="-80" dirty="0">
                <a:solidFill>
                  <a:schemeClr val="accent6"/>
                </a:solidFill>
              </a:rPr>
              <a:t>Architecture Decision Records (ADRs)</a:t>
            </a:r>
            <a:endParaRPr lang="en-IN" sz="1700" kern="0" spc="-80" dirty="0">
              <a:solidFill>
                <a:schemeClr val="accent6"/>
              </a:solidFill>
            </a:endParaRPr>
          </a:p>
        </p:txBody>
      </p:sp>
    </p:spTree>
    <p:extLst>
      <p:ext uri="{BB962C8B-B14F-4D97-AF65-F5344CB8AC3E}">
        <p14:creationId xmlns:p14="http://schemas.microsoft.com/office/powerpoint/2010/main" val="1982141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731784771"/>
              </p:ext>
            </p:extLst>
          </p:nvPr>
        </p:nvGraphicFramePr>
        <p:xfrm>
          <a:off x="194897" y="-311105"/>
          <a:ext cx="7192300" cy="1282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04800" y="13716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Is some As-Is(/Current-State) Architecture/Design/Implementation available?</a:t>
            </a:r>
          </a:p>
          <a:p>
            <a:pPr marL="12700" marR="5080"/>
            <a:endParaRPr lang="en-US" sz="2000" kern="0" spc="-220" dirty="0">
              <a:solidFill>
                <a:schemeClr val="accent6"/>
              </a:solidFill>
            </a:endParaRPr>
          </a:p>
          <a:p>
            <a:pPr marL="12700" marR="5080"/>
            <a:r>
              <a:rPr lang="en-US" sz="2000" kern="0" spc="-220" dirty="0">
                <a:solidFill>
                  <a:schemeClr val="accent6"/>
                </a:solidFill>
              </a:rPr>
              <a:t>If yes, how things are done currently – the whole process.</a:t>
            </a:r>
          </a:p>
          <a:p>
            <a:pPr marL="12700" marR="5080"/>
            <a:endParaRPr lang="en-US" sz="2000" kern="0" spc="-220" dirty="0">
              <a:solidFill>
                <a:schemeClr val="accent6"/>
              </a:solidFill>
            </a:endParaRPr>
          </a:p>
          <a:p>
            <a:pPr marL="12700" marR="5080"/>
            <a:r>
              <a:rPr lang="en-US" sz="2000" kern="0" spc="-220" dirty="0">
                <a:solidFill>
                  <a:schemeClr val="accent6"/>
                </a:solidFill>
              </a:rPr>
              <a:t>Is there any To-Be(/Target) diagram? </a:t>
            </a:r>
          </a:p>
          <a:p>
            <a:pPr marL="12700" marR="5080"/>
            <a:endParaRPr lang="en-US" sz="2000" kern="0" spc="-220" dirty="0">
              <a:solidFill>
                <a:schemeClr val="accent6"/>
              </a:solidFill>
            </a:endParaRPr>
          </a:p>
          <a:p>
            <a:pPr marL="12700" marR="5080"/>
            <a:r>
              <a:rPr lang="en-US" sz="2000" kern="0" spc="-220" dirty="0">
                <a:solidFill>
                  <a:schemeClr val="accent6"/>
                </a:solidFill>
              </a:rPr>
              <a:t>If needed, ask why transforming from As-Is to To-Be? And why now?</a:t>
            </a:r>
          </a:p>
          <a:p>
            <a:pPr marL="12700" marR="5080"/>
            <a:endParaRPr lang="en-US" sz="2000" kern="0" spc="-220" dirty="0">
              <a:solidFill>
                <a:schemeClr val="accent6"/>
              </a:solidFill>
            </a:endParaRPr>
          </a:p>
          <a:p>
            <a:pPr marL="12700" marR="5080"/>
            <a:r>
              <a:rPr lang="en-US" sz="2000" kern="0" spc="-220" dirty="0">
                <a:solidFill>
                  <a:schemeClr val="accent6"/>
                </a:solidFill>
              </a:rPr>
              <a:t>Being Customer Centric rather than just Requirements Centric  i.e. if needed, modify the requirements for better customer satisfaction.</a:t>
            </a:r>
          </a:p>
          <a:p>
            <a:pPr marL="12700" marR="5080"/>
            <a:endParaRPr lang="en-US" sz="2000" kern="0" spc="-220" dirty="0">
              <a:solidFill>
                <a:schemeClr val="accent6"/>
              </a:solidFill>
            </a:endParaRPr>
          </a:p>
          <a:p>
            <a:pPr marL="12700" marR="5080"/>
            <a:r>
              <a:rPr lang="en-US" sz="2000" kern="0" spc="-220" dirty="0">
                <a:solidFill>
                  <a:schemeClr val="accent6"/>
                </a:solidFill>
              </a:rPr>
              <a:t>Proactively ask relevant queries in Requirements Analysis phase  &amp; envision (design) tasks which can turn out to be really very helpful to make the product/service better in the Product Engineering landscape.</a:t>
            </a:r>
          </a:p>
          <a:p>
            <a:pPr marL="12700" marR="5080"/>
            <a:endParaRPr lang="en-US" sz="2400" kern="0" spc="-80" dirty="0">
              <a:solidFill>
                <a:schemeClr val="accent6"/>
              </a:solidFill>
            </a:endParaRPr>
          </a:p>
        </p:txBody>
      </p:sp>
      <p:sp>
        <p:nvSpPr>
          <p:cNvPr id="3" name="object 4">
            <a:extLst>
              <a:ext uri="{FF2B5EF4-FFF2-40B4-BE49-F238E27FC236}">
                <a16:creationId xmlns:a16="http://schemas.microsoft.com/office/drawing/2014/main" id="{AA9CCAEE-3766-F0E4-5E82-9F8EB6CAEFB6}"/>
              </a:ext>
            </a:extLst>
          </p:cNvPr>
          <p:cNvSpPr/>
          <p:nvPr/>
        </p:nvSpPr>
        <p:spPr>
          <a:xfrm>
            <a:off x="1871620" y="113395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937EDB09-A356-4297-DD47-3F27FD65CABA}"/>
              </a:ext>
            </a:extLst>
          </p:cNvPr>
          <p:cNvSpPr/>
          <p:nvPr/>
        </p:nvSpPr>
        <p:spPr>
          <a:xfrm>
            <a:off x="1871620" y="98155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Tree>
    <p:extLst>
      <p:ext uri="{BB962C8B-B14F-4D97-AF65-F5344CB8AC3E}">
        <p14:creationId xmlns:p14="http://schemas.microsoft.com/office/powerpoint/2010/main" val="1968098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029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99831909"/>
              </p:ext>
            </p:extLst>
          </p:nvPr>
        </p:nvGraphicFramePr>
        <p:xfrm>
          <a:off x="76200" y="-60735"/>
          <a:ext cx="7192300" cy="11469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1295400"/>
            <a:ext cx="8624937" cy="46628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QPS/RPS/TPS(Queries/Requests/Transactions per second)</a:t>
            </a:r>
            <a:r>
              <a:rPr lang="en-US" sz="1800" kern="0" spc="-220" dirty="0">
                <a:solidFill>
                  <a:schemeClr val="accent6"/>
                </a:solidFill>
              </a:rPr>
              <a:t> – As thumb rule, assume(/start with) 1K QPS can be handled by a standard server (&amp; API(s) response time within 100ms in general).</a:t>
            </a:r>
          </a:p>
          <a:p>
            <a:pPr marL="12700" marR="5080"/>
            <a:endParaRPr lang="en-US" sz="1800" kern="0" spc="-220" dirty="0">
              <a:solidFill>
                <a:schemeClr val="accent6"/>
              </a:solidFill>
            </a:endParaRPr>
          </a:p>
          <a:p>
            <a:pPr marL="12700" marR="5080"/>
            <a:r>
              <a:rPr lang="en-US" sz="1800" kern="0" spc="-220" dirty="0">
                <a:solidFill>
                  <a:schemeClr val="accent2"/>
                </a:solidFill>
              </a:rPr>
              <a:t>Read/Write Ratio</a:t>
            </a:r>
            <a:r>
              <a:rPr lang="en-US" sz="1800" kern="0" spc="-220" dirty="0">
                <a:solidFill>
                  <a:schemeClr val="accent6"/>
                </a:solidFill>
              </a:rPr>
              <a:t> – Calculate the tentative/assumed Read/Write</a:t>
            </a:r>
          </a:p>
          <a:p>
            <a:pPr marL="12700" marR="5080"/>
            <a:r>
              <a:rPr lang="en-US" sz="1800" kern="0" spc="-220" dirty="0">
                <a:solidFill>
                  <a:schemeClr val="accent6"/>
                </a:solidFill>
              </a:rPr>
              <a:t>Ratio. This can be helpful in scaling the reads &amp; writes separately.</a:t>
            </a:r>
          </a:p>
          <a:p>
            <a:pPr marL="12700" marR="5080"/>
            <a:endParaRPr lang="en-US" sz="1800" kern="0" spc="-220" dirty="0">
              <a:solidFill>
                <a:schemeClr val="accent6"/>
              </a:solidFill>
            </a:endParaRPr>
          </a:p>
          <a:p>
            <a:pPr marL="12700" marR="5080"/>
            <a:r>
              <a:rPr lang="en-US" sz="1800" kern="0" spc="-220" dirty="0">
                <a:solidFill>
                  <a:schemeClr val="accent2"/>
                </a:solidFill>
              </a:rPr>
              <a:t>Infra Considerations -  </a:t>
            </a:r>
            <a:r>
              <a:rPr lang="en-US" sz="1800" kern="0" spc="-220" dirty="0">
                <a:solidFill>
                  <a:schemeClr val="accent6"/>
                </a:solidFill>
              </a:rPr>
              <a:t>Number of Servers/VMs needed &amp; CPU/Disk/RAM Size needed in each Server/</a:t>
            </a:r>
            <a:r>
              <a:rPr lang="en-US" sz="1800" kern="0" spc="-220" dirty="0" err="1">
                <a:solidFill>
                  <a:schemeClr val="accent6"/>
                </a:solidFill>
              </a:rPr>
              <a:t>Vm</a:t>
            </a:r>
            <a:r>
              <a:rPr lang="en-US" sz="1800" kern="0" spc="-220" dirty="0">
                <a:solidFill>
                  <a:schemeClr val="accent6"/>
                </a:solidFill>
              </a:rPr>
              <a:t>. Network Bandwidth considerations are also important here.</a:t>
            </a:r>
          </a:p>
          <a:p>
            <a:pPr marL="12700" marR="5080"/>
            <a:endParaRPr lang="en-US" sz="1800" kern="0" spc="-220" dirty="0">
              <a:solidFill>
                <a:schemeClr val="accent6"/>
              </a:solidFill>
            </a:endParaRPr>
          </a:p>
          <a:p>
            <a:pPr marL="12700" marR="5080"/>
            <a:r>
              <a:rPr lang="en-US" sz="1800" kern="0" spc="-220" dirty="0">
                <a:solidFill>
                  <a:schemeClr val="accent2"/>
                </a:solidFill>
              </a:rPr>
              <a:t>Storage Size</a:t>
            </a:r>
            <a:r>
              <a:rPr lang="en-US" sz="1800" kern="0" spc="-220" dirty="0">
                <a:solidFill>
                  <a:schemeClr val="accent6"/>
                </a:solidFill>
              </a:rPr>
              <a:t> – Evaluate the size of blobs, DBs </a:t>
            </a:r>
            <a:r>
              <a:rPr lang="en-US" sz="1800" kern="0" spc="-220" dirty="0" err="1">
                <a:solidFill>
                  <a:schemeClr val="accent6"/>
                </a:solidFill>
              </a:rPr>
              <a:t>etc</a:t>
            </a:r>
            <a:r>
              <a:rPr lang="en-US" sz="1800" kern="0" spc="-220" dirty="0">
                <a:solidFill>
                  <a:schemeClr val="accent6"/>
                </a:solidFill>
              </a:rPr>
              <a:t> needed.</a:t>
            </a:r>
          </a:p>
          <a:p>
            <a:pPr marL="12700" marR="5080"/>
            <a:endParaRPr lang="en-US" sz="1800" kern="0" spc="-220" dirty="0">
              <a:solidFill>
                <a:schemeClr val="accent6"/>
              </a:solidFill>
            </a:endParaRPr>
          </a:p>
          <a:p>
            <a:pPr marL="12700" marR="5080"/>
            <a:r>
              <a:rPr lang="en-US" sz="1800" kern="0" spc="-220" dirty="0">
                <a:solidFill>
                  <a:schemeClr val="accent2"/>
                </a:solidFill>
              </a:rPr>
              <a:t>YoY(Year on Year [including  Day 0,1…N]) Growth[for all the above] </a:t>
            </a:r>
            <a:r>
              <a:rPr lang="en-US" sz="1800" kern="0" spc="-220" dirty="0">
                <a:solidFill>
                  <a:schemeClr val="accent6"/>
                </a:solidFill>
              </a:rPr>
              <a:t>– Can be helpful in capacity planning for initial cloud assessment or full on-premise assessment</a:t>
            </a:r>
          </a:p>
          <a:p>
            <a:pPr marL="12700" marR="5080"/>
            <a:endParaRPr lang="en-US" sz="1800" kern="0" spc="-220" dirty="0">
              <a:solidFill>
                <a:schemeClr val="accent6"/>
              </a:solidFill>
            </a:endParaRPr>
          </a:p>
          <a:p>
            <a:pPr marL="12700" marR="5080"/>
            <a:r>
              <a:rPr lang="en-US" sz="1800" kern="0" spc="-220" dirty="0">
                <a:solidFill>
                  <a:schemeClr val="accent6"/>
                </a:solidFill>
              </a:rPr>
              <a:t>Also known as “Capacity Planning”/”Back of the Envelope” Calculations – </a:t>
            </a:r>
            <a:r>
              <a:rPr lang="en-IN" sz="1500" dirty="0" err="1">
                <a:hlinkClick r:id="rId7"/>
              </a:rPr>
              <a:t>ByteByteGo</a:t>
            </a:r>
            <a:r>
              <a:rPr lang="en-IN" sz="1500" dirty="0">
                <a:hlinkClick r:id="rId7"/>
              </a:rPr>
              <a:t> | Back Of the Envelope Estimation</a:t>
            </a:r>
            <a:endParaRPr lang="en-US" sz="2400" kern="0" spc="-80" dirty="0">
              <a:solidFill>
                <a:schemeClr val="accent6"/>
              </a:solidFill>
            </a:endParaRPr>
          </a:p>
        </p:txBody>
      </p:sp>
    </p:spTree>
    <p:extLst>
      <p:ext uri="{BB962C8B-B14F-4D97-AF65-F5344CB8AC3E}">
        <p14:creationId xmlns:p14="http://schemas.microsoft.com/office/powerpoint/2010/main" val="342675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334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908736320"/>
              </p:ext>
            </p:extLst>
          </p:nvPr>
        </p:nvGraphicFramePr>
        <p:xfrm>
          <a:off x="304800" y="76200"/>
          <a:ext cx="7192300" cy="14129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1411843"/>
            <a:ext cx="8624937" cy="51860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WBS(Work Breakdown Structure)</a:t>
            </a:r>
            <a:r>
              <a:rPr lang="en-US" sz="1400" kern="0" spc="-80" dirty="0">
                <a:solidFill>
                  <a:schemeClr val="accent6"/>
                </a:solidFill>
              </a:rPr>
              <a:t> – Used for normal User Stories in most agile projects. </a:t>
            </a:r>
            <a:r>
              <a:rPr lang="en-US" sz="1400" kern="0" spc="-80" dirty="0" err="1">
                <a:solidFill>
                  <a:schemeClr val="accent6"/>
                </a:solidFill>
              </a:rPr>
              <a:t>Infact</a:t>
            </a:r>
            <a:r>
              <a:rPr lang="en-US" sz="1400" kern="0" spc="-80" dirty="0">
                <a:solidFill>
                  <a:schemeClr val="accent6"/>
                </a:solidFill>
              </a:rPr>
              <a:t> when you do Story-Pointing, you are implicitly using WBS.</a:t>
            </a:r>
          </a:p>
          <a:p>
            <a:pPr marL="12700" marR="5080"/>
            <a:endParaRPr lang="en-US" sz="1400" kern="0" spc="-80" dirty="0">
              <a:solidFill>
                <a:schemeClr val="accent6"/>
              </a:solidFill>
            </a:endParaRPr>
          </a:p>
          <a:p>
            <a:pPr marL="12700" marR="5080"/>
            <a:r>
              <a:rPr lang="en-US" sz="1400" kern="0" spc="-80" dirty="0">
                <a:solidFill>
                  <a:schemeClr val="accent2"/>
                </a:solidFill>
              </a:rPr>
              <a:t>Use Case Estimation</a:t>
            </a:r>
            <a:r>
              <a:rPr lang="en-US" sz="1400" kern="0" spc="-80" dirty="0">
                <a:solidFill>
                  <a:schemeClr val="accent6"/>
                </a:solidFill>
              </a:rPr>
              <a:t> – Used for whole new or Enhancement projects. WBS can be used for each use case for better granularity.</a:t>
            </a:r>
          </a:p>
          <a:p>
            <a:pPr marL="12700" marR="5080"/>
            <a:endParaRPr lang="en-US" sz="1400" kern="0" spc="-80" dirty="0">
              <a:solidFill>
                <a:schemeClr val="accent6"/>
              </a:solidFill>
            </a:endParaRPr>
          </a:p>
          <a:p>
            <a:pPr marL="12700" marR="5080"/>
            <a:r>
              <a:rPr lang="en-US" sz="1400" kern="0" spc="-80" dirty="0">
                <a:solidFill>
                  <a:schemeClr val="accent2"/>
                </a:solidFill>
              </a:rPr>
              <a:t>Function Point Estimation</a:t>
            </a:r>
            <a:r>
              <a:rPr lang="en-US" sz="1400" kern="0" spc="-80" dirty="0">
                <a:solidFill>
                  <a:schemeClr val="accent6"/>
                </a:solidFill>
              </a:rPr>
              <a:t> – Used in some migration projects if source code of existing project is available.</a:t>
            </a:r>
          </a:p>
          <a:p>
            <a:pPr marL="12700" marR="5080"/>
            <a:r>
              <a:rPr lang="en-US" sz="1400" kern="0" spc="-80" dirty="0">
                <a:solidFill>
                  <a:schemeClr val="accent6"/>
                </a:solidFill>
              </a:rPr>
              <a:t>N.B. -&gt; If its some totally new concept/technology, do a PoC using Design Thinking approach and then give the overall estimate using WBS.</a:t>
            </a:r>
          </a:p>
          <a:p>
            <a:pPr marL="12700" marR="5080"/>
            <a:endParaRPr lang="en-US" sz="1400" kern="0" spc="-80" dirty="0">
              <a:solidFill>
                <a:schemeClr val="accent6"/>
              </a:solidFill>
            </a:endParaRPr>
          </a:p>
          <a:p>
            <a:pPr marL="12700" marR="5080"/>
            <a:r>
              <a:rPr lang="en-US" sz="1400" kern="0" spc="-80" dirty="0" err="1">
                <a:solidFill>
                  <a:schemeClr val="accent2"/>
                </a:solidFill>
              </a:rPr>
              <a:t>SAFe</a:t>
            </a:r>
            <a:r>
              <a:rPr lang="en-US" sz="1400" kern="0" spc="-80" dirty="0">
                <a:solidFill>
                  <a:schemeClr val="accent2"/>
                </a:solidFill>
              </a:rPr>
              <a:t> Estimation Techniques</a:t>
            </a:r>
            <a:r>
              <a:rPr lang="en-US" sz="1400" kern="0" spc="-80" dirty="0">
                <a:solidFill>
                  <a:schemeClr val="accent6"/>
                </a:solidFill>
              </a:rPr>
              <a:t> - </a:t>
            </a:r>
            <a:r>
              <a:rPr lang="en-US" sz="1500" dirty="0">
                <a:hlinkClick r:id="rId7"/>
              </a:rPr>
              <a:t>Estimation &amp; Prioritization : Agile &amp; </a:t>
            </a:r>
            <a:r>
              <a:rPr lang="en-US" sz="1500" dirty="0" err="1">
                <a:hlinkClick r:id="rId7"/>
              </a:rPr>
              <a:t>SAFe</a:t>
            </a:r>
            <a:r>
              <a:rPr lang="en-US" sz="1500" dirty="0">
                <a:hlinkClick r:id="rId7"/>
              </a:rPr>
              <a:t> Framework | LinkedIn</a:t>
            </a:r>
            <a:endParaRPr lang="en-US" sz="1500" kern="0" spc="-80" dirty="0">
              <a:solidFill>
                <a:schemeClr val="accent6"/>
              </a:solidFill>
            </a:endParaRPr>
          </a:p>
          <a:p>
            <a:pPr marL="12700" marR="5080"/>
            <a:endParaRPr lang="en-US" sz="1800" kern="0" spc="-80" dirty="0">
              <a:solidFill>
                <a:schemeClr val="accent6"/>
              </a:solidFill>
            </a:endParaRPr>
          </a:p>
          <a:p>
            <a:pPr marL="12700" marR="5080"/>
            <a:r>
              <a:rPr lang="en-US" sz="1400" kern="0" spc="-80" dirty="0">
                <a:solidFill>
                  <a:schemeClr val="accent6"/>
                </a:solidFill>
              </a:rPr>
              <a:t>Some Most Important “Common-Sense” points to keep in consideration while doing any estimate are(although common sense but sometimes we forget these the most) – </a:t>
            </a:r>
          </a:p>
          <a:p>
            <a:pPr marL="355600" marR="5080" indent="-342900">
              <a:buFontTx/>
              <a:buAutoNum type="arabicParenR"/>
            </a:pPr>
            <a:r>
              <a:rPr lang="en-US" sz="1400" kern="0" spc="-80" dirty="0">
                <a:solidFill>
                  <a:schemeClr val="accent6"/>
                </a:solidFill>
              </a:rPr>
              <a:t>Work Load(as per Granular Scoping &amp; Prioritization as per need of the hour), Complexity &amp; Uncertainty. </a:t>
            </a:r>
          </a:p>
          <a:p>
            <a:pPr marL="355600" marR="5080" indent="-342900">
              <a:buAutoNum type="arabicParenR"/>
            </a:pPr>
            <a:r>
              <a:rPr lang="en-US" sz="1400" kern="0" spc="-80" dirty="0">
                <a:solidFill>
                  <a:schemeClr val="accent6"/>
                </a:solidFill>
              </a:rPr>
              <a:t>Always consider 20-30% buffer on overall base estimates you give. It’s always better to commit less &amp; deliver more than vice versa. Check </a:t>
            </a:r>
            <a:r>
              <a:rPr lang="en-IN" sz="1500" dirty="0">
                <a:hlinkClick r:id="rId8"/>
              </a:rPr>
              <a:t>Arpit </a:t>
            </a:r>
            <a:r>
              <a:rPr lang="en-IN" sz="1500" dirty="0" err="1">
                <a:hlinkClick r:id="rId8"/>
              </a:rPr>
              <a:t>Bhayani’s</a:t>
            </a:r>
            <a:r>
              <a:rPr lang="en-IN" sz="1500" dirty="0">
                <a:hlinkClick r:id="rId8"/>
              </a:rPr>
              <a:t> Post on Estimation| LinkedIn</a:t>
            </a:r>
            <a:endParaRPr lang="en-US" sz="1500" kern="0" spc="-80" dirty="0">
              <a:solidFill>
                <a:schemeClr val="accent6"/>
              </a:solidFill>
            </a:endParaRPr>
          </a:p>
          <a:p>
            <a:pPr marL="355600" marR="5080" indent="-342900">
              <a:buAutoNum type="arabicParenR"/>
            </a:pPr>
            <a:r>
              <a:rPr lang="en-US" sz="1400" kern="0" spc="-80" dirty="0">
                <a:solidFill>
                  <a:schemeClr val="accent6"/>
                </a:solidFill>
              </a:rPr>
              <a:t>Team Capacity or Timelines may be needed to be increased/decreased as per need of the hour.</a:t>
            </a:r>
          </a:p>
          <a:p>
            <a:pPr marL="12700" marR="5080"/>
            <a:endParaRPr lang="en-US" sz="1800" kern="0" spc="-80" dirty="0">
              <a:solidFill>
                <a:schemeClr val="accent6"/>
              </a:solidFill>
            </a:endParaRPr>
          </a:p>
          <a:p>
            <a:pPr marL="355600" marR="5080" indent="-342900">
              <a:buAutoNum type="arabicParenR"/>
            </a:pPr>
            <a:endParaRPr lang="en-US" sz="1800" kern="0" spc="-80" dirty="0">
              <a:solidFill>
                <a:schemeClr val="accent6"/>
              </a:solidFill>
            </a:endParaRPr>
          </a:p>
        </p:txBody>
      </p:sp>
    </p:spTree>
    <p:extLst>
      <p:ext uri="{BB962C8B-B14F-4D97-AF65-F5344CB8AC3E}">
        <p14:creationId xmlns:p14="http://schemas.microsoft.com/office/powerpoint/2010/main" val="1691177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126594620"/>
              </p:ext>
            </p:extLst>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990600"/>
            <a:ext cx="8624937" cy="43704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UML </a:t>
            </a:r>
            <a:r>
              <a:rPr lang="en-US" sz="2400" kern="0" spc="-80" dirty="0">
                <a:solidFill>
                  <a:schemeClr val="accent6"/>
                </a:solidFill>
              </a:rPr>
              <a:t>– </a:t>
            </a:r>
          </a:p>
          <a:p>
            <a:pPr marL="12700" marR="5080"/>
            <a:r>
              <a:rPr lang="en-US" sz="2400" kern="0" spc="-80" dirty="0">
                <a:solidFill>
                  <a:schemeClr val="accent2"/>
                </a:solidFill>
              </a:rPr>
              <a:t>Use Case &amp; Activity Diagrams</a:t>
            </a:r>
            <a:r>
              <a:rPr lang="en-US" sz="2400" kern="0" spc="-80" dirty="0">
                <a:solidFill>
                  <a:schemeClr val="accent6"/>
                </a:solidFill>
              </a:rPr>
              <a:t> – </a:t>
            </a:r>
            <a:r>
              <a:rPr lang="en-US" sz="2000" kern="0" spc="-80" dirty="0">
                <a:solidFill>
                  <a:schemeClr val="accent6"/>
                </a:solidFill>
              </a:rPr>
              <a:t>Used for interaction between Dev team and BAs/</a:t>
            </a:r>
            <a:r>
              <a:rPr lang="en-US" sz="2000" kern="0" spc="-80" dirty="0" err="1">
                <a:solidFill>
                  <a:schemeClr val="accent6"/>
                </a:solidFill>
              </a:rPr>
              <a:t>POs.</a:t>
            </a:r>
            <a:r>
              <a:rPr lang="en-US" sz="2000" kern="0" spc="-80" dirty="0">
                <a:solidFill>
                  <a:schemeClr val="accent6"/>
                </a:solidFill>
              </a:rPr>
              <a:t> </a:t>
            </a:r>
          </a:p>
          <a:p>
            <a:pPr marL="12700" marR="5080"/>
            <a:r>
              <a:rPr lang="en-US" sz="1500" dirty="0">
                <a:hlinkClick r:id="rId7"/>
              </a:rPr>
              <a:t>Difference Between Use Case Diagram and Activity Diagram | Compare the Difference Between Similar Terms</a:t>
            </a:r>
            <a:endParaRPr lang="en-US" sz="1500" dirty="0"/>
          </a:p>
          <a:p>
            <a:pPr marL="12700" marR="5080"/>
            <a:endParaRPr lang="en-US" sz="2400" kern="0" spc="-80" dirty="0">
              <a:solidFill>
                <a:schemeClr val="accent6"/>
              </a:solidFill>
            </a:endParaRPr>
          </a:p>
          <a:p>
            <a:pPr marL="12700" marR="5080"/>
            <a:r>
              <a:rPr lang="en-US" sz="2400" kern="0" spc="-80" dirty="0">
                <a:solidFill>
                  <a:schemeClr val="accent2"/>
                </a:solidFill>
              </a:rPr>
              <a:t>Component Diagrams</a:t>
            </a:r>
            <a:r>
              <a:rPr lang="en-US" sz="2400" kern="0" spc="-80" dirty="0">
                <a:solidFill>
                  <a:schemeClr val="accent6"/>
                </a:solidFill>
              </a:rPr>
              <a:t> – </a:t>
            </a:r>
            <a:r>
              <a:rPr lang="en-US" sz="2000" kern="0" spc="-80" dirty="0">
                <a:solidFill>
                  <a:schemeClr val="accent6"/>
                </a:solidFill>
              </a:rPr>
              <a:t>To show how components/services interact with each other</a:t>
            </a:r>
          </a:p>
          <a:p>
            <a:pPr marL="12700" marR="5080"/>
            <a:r>
              <a:rPr lang="en-IN" sz="1500" dirty="0">
                <a:hlinkClick r:id="rId8"/>
              </a:rPr>
              <a:t>What is Component Diagram?</a:t>
            </a:r>
            <a:endParaRPr lang="en-IN" sz="1500" dirty="0"/>
          </a:p>
          <a:p>
            <a:pPr marL="12700" marR="5080"/>
            <a:endParaRPr lang="en-US" sz="1500" kern="0" spc="-80" dirty="0">
              <a:solidFill>
                <a:schemeClr val="accent6"/>
              </a:solidFill>
            </a:endParaRPr>
          </a:p>
          <a:p>
            <a:pPr marL="12700" marR="5080"/>
            <a:r>
              <a:rPr lang="en-US" sz="2400" kern="0" spc="-80" dirty="0">
                <a:solidFill>
                  <a:schemeClr val="accent2"/>
                </a:solidFill>
              </a:rPr>
              <a:t>Class Diagrams</a:t>
            </a:r>
            <a:r>
              <a:rPr lang="en-US" sz="2400" kern="0" spc="-80" dirty="0">
                <a:solidFill>
                  <a:schemeClr val="accent6"/>
                </a:solidFill>
              </a:rPr>
              <a:t> – </a:t>
            </a:r>
            <a:r>
              <a:rPr lang="en-US" sz="2000" kern="0" spc="-80" dirty="0">
                <a:solidFill>
                  <a:schemeClr val="accent6"/>
                </a:solidFill>
              </a:rPr>
              <a:t>To show how components/services are build using class(es)/interface(s).Can be helpful in Reverse Engineering as well. </a:t>
            </a:r>
          </a:p>
          <a:p>
            <a:pPr marL="12700" marR="5080"/>
            <a:r>
              <a:rPr lang="pt-BR" sz="1500" dirty="0">
                <a:hlinkClick r:id="rId9"/>
              </a:rPr>
              <a:t>UML Class Diagram Tutorial | Lucidchart</a:t>
            </a:r>
            <a:r>
              <a:rPr lang="en-US" sz="2000" kern="0" spc="-80" dirty="0">
                <a:solidFill>
                  <a:schemeClr val="accent6"/>
                </a:solidFill>
              </a:rPr>
              <a:t> </a:t>
            </a:r>
            <a:r>
              <a:rPr lang="en-US" sz="2400" kern="0" spc="-80" dirty="0">
                <a:solidFill>
                  <a:schemeClr val="accent6"/>
                </a:solidFill>
              </a:rPr>
              <a:t> </a:t>
            </a:r>
          </a:p>
        </p:txBody>
      </p:sp>
    </p:spTree>
    <p:extLst>
      <p:ext uri="{BB962C8B-B14F-4D97-AF65-F5344CB8AC3E}">
        <p14:creationId xmlns:p14="http://schemas.microsoft.com/office/powerpoint/2010/main" val="3299617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04800" y="949674"/>
            <a:ext cx="8624937" cy="427809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UML </a:t>
            </a:r>
            <a:r>
              <a:rPr lang="en-US" sz="2400" kern="0" spc="-80" dirty="0" err="1">
                <a:solidFill>
                  <a:schemeClr val="accent2"/>
                </a:solidFill>
              </a:rPr>
              <a:t>contd</a:t>
            </a:r>
            <a:r>
              <a:rPr lang="en-US" sz="2400" kern="0" spc="-80" dirty="0">
                <a:solidFill>
                  <a:schemeClr val="accent2"/>
                </a:solidFill>
              </a:rPr>
              <a:t>… </a:t>
            </a:r>
            <a:r>
              <a:rPr lang="en-US" sz="2400" kern="0" spc="-80" dirty="0">
                <a:solidFill>
                  <a:schemeClr val="accent6"/>
                </a:solidFill>
              </a:rPr>
              <a:t>– </a:t>
            </a:r>
          </a:p>
          <a:p>
            <a:pPr marL="12700" marR="5080"/>
            <a:r>
              <a:rPr lang="en-US" sz="2000" kern="0" spc="-80" dirty="0">
                <a:solidFill>
                  <a:schemeClr val="accent2"/>
                </a:solidFill>
              </a:rPr>
              <a:t>Sequence(&amp; Collaboration Diagrams)</a:t>
            </a:r>
            <a:r>
              <a:rPr lang="en-US" sz="2000" kern="0" spc="-80" dirty="0">
                <a:solidFill>
                  <a:schemeClr val="accent6"/>
                </a:solidFill>
              </a:rPr>
              <a:t> </a:t>
            </a:r>
            <a:r>
              <a:rPr lang="en-US" sz="2400" kern="0" spc="-80" dirty="0">
                <a:solidFill>
                  <a:schemeClr val="accent6"/>
                </a:solidFill>
              </a:rPr>
              <a:t>– </a:t>
            </a:r>
            <a:r>
              <a:rPr lang="en-US" sz="2000" kern="0" spc="-80" dirty="0">
                <a:solidFill>
                  <a:schemeClr val="accent6"/>
                </a:solidFill>
              </a:rPr>
              <a:t>Can be used to show interactions flow between classes/components/services. </a:t>
            </a:r>
          </a:p>
          <a:p>
            <a:pPr marL="12700" marR="5080"/>
            <a:r>
              <a:rPr lang="en-US" sz="1500" dirty="0">
                <a:hlinkClick r:id="rId7"/>
              </a:rPr>
              <a:t>Difference between Sequence diagram and Collaboration diagram – </a:t>
            </a:r>
            <a:r>
              <a:rPr lang="en-US" sz="1500" dirty="0" err="1">
                <a:hlinkClick r:id="rId7"/>
              </a:rPr>
              <a:t>GeeksforGeeks</a:t>
            </a:r>
            <a:endParaRPr lang="en-US" sz="1500" dirty="0"/>
          </a:p>
          <a:p>
            <a:pPr marL="12700" marR="5080"/>
            <a:endParaRPr lang="en-US" sz="2400" kern="0" spc="-80" dirty="0">
              <a:solidFill>
                <a:schemeClr val="accent2"/>
              </a:solidFill>
            </a:endParaRPr>
          </a:p>
          <a:p>
            <a:pPr marL="12700" marR="5080"/>
            <a:r>
              <a:rPr lang="en-US" sz="2000" kern="0" spc="-80" dirty="0">
                <a:solidFill>
                  <a:schemeClr val="accent2"/>
                </a:solidFill>
              </a:rPr>
              <a:t>Other Diagramming Models</a:t>
            </a:r>
            <a:r>
              <a:rPr lang="en-US" sz="2000" kern="0" spc="-80" dirty="0">
                <a:solidFill>
                  <a:schemeClr val="accent6"/>
                </a:solidFill>
              </a:rPr>
              <a:t> –</a:t>
            </a:r>
          </a:p>
          <a:p>
            <a:pPr marL="12700" marR="5080"/>
            <a:r>
              <a:rPr lang="en-US" sz="2000" kern="0" spc="-80" dirty="0">
                <a:solidFill>
                  <a:schemeClr val="accent2"/>
                </a:solidFill>
              </a:rPr>
              <a:t>C4 Model</a:t>
            </a:r>
            <a:r>
              <a:rPr lang="en-US" sz="2000" kern="0" spc="-80" dirty="0">
                <a:solidFill>
                  <a:schemeClr val="accent6"/>
                </a:solidFill>
              </a:rPr>
              <a:t> -</a:t>
            </a:r>
            <a:r>
              <a:rPr lang="en-US" sz="2800" kern="0" spc="-80" dirty="0">
                <a:solidFill>
                  <a:schemeClr val="accent6"/>
                </a:solidFill>
              </a:rPr>
              <a:t> </a:t>
            </a:r>
            <a:r>
              <a:rPr lang="en-US" sz="1500" dirty="0">
                <a:hlinkClick r:id="rId8"/>
              </a:rPr>
              <a:t>Visualize Your Software Architecture With The C4 Model</a:t>
            </a:r>
            <a:endParaRPr lang="en-US" sz="1500" dirty="0"/>
          </a:p>
          <a:p>
            <a:pPr marL="12700" marR="5080"/>
            <a:r>
              <a:rPr lang="en-US" sz="2000" kern="0" spc="-80" dirty="0">
                <a:solidFill>
                  <a:schemeClr val="accent2"/>
                </a:solidFill>
              </a:rPr>
              <a:t>BPMN</a:t>
            </a:r>
            <a:r>
              <a:rPr lang="en-US" sz="2000" kern="0" spc="-80" dirty="0">
                <a:solidFill>
                  <a:schemeClr val="accent6"/>
                </a:solidFill>
              </a:rPr>
              <a:t> -</a:t>
            </a:r>
            <a:r>
              <a:rPr lang="en-US" sz="2400" kern="0" spc="-80" dirty="0">
                <a:solidFill>
                  <a:schemeClr val="accent6"/>
                </a:solidFill>
              </a:rPr>
              <a:t> </a:t>
            </a:r>
            <a:r>
              <a:rPr lang="en-US" sz="1500" dirty="0">
                <a:hlinkClick r:id="rId9"/>
              </a:rPr>
              <a:t>BPMN Specification - Business Process Model and Notation</a:t>
            </a:r>
            <a:r>
              <a:rPr lang="en-US" sz="2000" kern="0" spc="-80" dirty="0">
                <a:solidFill>
                  <a:schemeClr val="accent6"/>
                </a:solidFill>
              </a:rPr>
              <a:t> </a:t>
            </a:r>
          </a:p>
          <a:p>
            <a:pPr marL="12700" marR="5080"/>
            <a:r>
              <a:rPr lang="en-US" sz="2000" kern="0" spc="-80" dirty="0" err="1">
                <a:solidFill>
                  <a:schemeClr val="accent2"/>
                </a:solidFill>
              </a:rPr>
              <a:t>Archimate</a:t>
            </a:r>
            <a:r>
              <a:rPr lang="en-US" sz="2000" kern="0" spc="-80" dirty="0">
                <a:solidFill>
                  <a:schemeClr val="accent6"/>
                </a:solidFill>
              </a:rPr>
              <a:t> -</a:t>
            </a:r>
            <a:r>
              <a:rPr lang="en-US" sz="2400" kern="0" spc="-80" dirty="0">
                <a:solidFill>
                  <a:schemeClr val="accent6"/>
                </a:solidFill>
              </a:rPr>
              <a:t> </a:t>
            </a:r>
            <a:r>
              <a:rPr lang="en-IN" sz="1500" dirty="0">
                <a:hlinkClick r:id="rId10"/>
              </a:rPr>
              <a:t>ArchiMate – Wikipedia</a:t>
            </a:r>
            <a:endParaRPr lang="en-IN" sz="1500" dirty="0"/>
          </a:p>
          <a:p>
            <a:pPr marL="12700" marR="5080"/>
            <a:endParaRPr lang="en-US" sz="1500" kern="0" spc="-80" dirty="0">
              <a:solidFill>
                <a:schemeClr val="accent6"/>
              </a:solidFill>
            </a:endParaRPr>
          </a:p>
          <a:p>
            <a:pPr marL="12700" marR="5080"/>
            <a:r>
              <a:rPr lang="en-US" sz="2000" kern="0" spc="-80" dirty="0">
                <a:solidFill>
                  <a:schemeClr val="accent6"/>
                </a:solidFill>
              </a:rPr>
              <a:t>N.B. – Use </a:t>
            </a:r>
            <a:r>
              <a:rPr lang="en-US" sz="2000" kern="0" spc="-80" dirty="0" err="1">
                <a:solidFill>
                  <a:schemeClr val="accent6"/>
                </a:solidFill>
              </a:rPr>
              <a:t>Colour</a:t>
            </a:r>
            <a:r>
              <a:rPr lang="en-US" sz="2000" kern="0" spc="-80" dirty="0">
                <a:solidFill>
                  <a:schemeClr val="accent6"/>
                </a:solidFill>
              </a:rPr>
              <a:t> Coding(border or full box) for Legends for Architectural Components like “New”, “Existing To Be used”, “Modified” or “To be </a:t>
            </a:r>
            <a:r>
              <a:rPr lang="en-US" sz="2000" kern="0" spc="-80" dirty="0" err="1">
                <a:solidFill>
                  <a:schemeClr val="accent6"/>
                </a:solidFill>
              </a:rPr>
              <a:t>Decomissioned</a:t>
            </a:r>
            <a:r>
              <a:rPr lang="en-US" sz="2000" kern="0" spc="-80" dirty="0">
                <a:solidFill>
                  <a:schemeClr val="accent6"/>
                </a:solidFill>
              </a:rPr>
              <a:t>”</a:t>
            </a:r>
            <a:endParaRPr lang="en-US" sz="2400" kern="0" spc="-80" dirty="0">
              <a:solidFill>
                <a:schemeClr val="accent6"/>
              </a:solidFill>
            </a:endParaRPr>
          </a:p>
        </p:txBody>
      </p:sp>
    </p:spTree>
    <p:extLst>
      <p:ext uri="{BB962C8B-B14F-4D97-AF65-F5344CB8AC3E}">
        <p14:creationId xmlns:p14="http://schemas.microsoft.com/office/powerpoint/2010/main" val="2645385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10668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Important Architecture Diagrams and Documentation</a:t>
            </a:r>
          </a:p>
          <a:p>
            <a:pPr marL="12700" marR="5080"/>
            <a:r>
              <a:rPr lang="en-US" sz="2400" kern="0" spc="-80" dirty="0">
                <a:solidFill>
                  <a:schemeClr val="accent2"/>
                </a:solidFill>
              </a:rPr>
              <a:t>Vision &amp; Strategy</a:t>
            </a:r>
            <a:r>
              <a:rPr lang="en-US" sz="2400" kern="0" spc="-80" dirty="0">
                <a:solidFill>
                  <a:schemeClr val="accent6"/>
                </a:solidFill>
              </a:rPr>
              <a:t> </a:t>
            </a:r>
            <a:r>
              <a:rPr lang="en-US" sz="2000" kern="0" spc="-80" dirty="0">
                <a:solidFill>
                  <a:schemeClr val="accent6"/>
                </a:solidFill>
              </a:rPr>
              <a:t>using Roadmaps/Milestones/</a:t>
            </a:r>
            <a:r>
              <a:rPr lang="en-US" sz="2000" kern="0" spc="-80" dirty="0" err="1">
                <a:solidFill>
                  <a:schemeClr val="accent6"/>
                </a:solidFill>
              </a:rPr>
              <a:t>TimeLines</a:t>
            </a:r>
            <a:endParaRPr lang="en-US" sz="2000" kern="0" spc="-80" dirty="0">
              <a:solidFill>
                <a:schemeClr val="accent6"/>
              </a:solidFill>
            </a:endParaRPr>
          </a:p>
          <a:p>
            <a:pPr marL="12700" marR="5080"/>
            <a:endParaRPr lang="en-US" sz="2000" kern="0" spc="-80" dirty="0">
              <a:solidFill>
                <a:schemeClr val="accent6"/>
              </a:solidFill>
            </a:endParaRPr>
          </a:p>
          <a:p>
            <a:pPr marL="12700" marR="5080"/>
            <a:r>
              <a:rPr lang="en-US" sz="2400" kern="0" spc="-80" dirty="0">
                <a:solidFill>
                  <a:schemeClr val="accent2"/>
                </a:solidFill>
              </a:rPr>
              <a:t>Enterprise Landscape</a:t>
            </a:r>
            <a:r>
              <a:rPr lang="en-US" sz="2400" kern="0" spc="-80" dirty="0">
                <a:solidFill>
                  <a:schemeClr val="accent6"/>
                </a:solidFill>
              </a:rPr>
              <a:t> – </a:t>
            </a:r>
            <a:r>
              <a:rPr lang="en-US" sz="2000" kern="0" spc="-80" dirty="0">
                <a:solidFill>
                  <a:schemeClr val="accent6"/>
                </a:solidFill>
              </a:rPr>
              <a:t>for overall high-level view of the entire Enterprise Landscape</a:t>
            </a:r>
          </a:p>
          <a:p>
            <a:pPr marL="12700" marR="5080"/>
            <a:endParaRPr lang="en-US" sz="2000" kern="0" spc="-80" dirty="0">
              <a:solidFill>
                <a:schemeClr val="accent6"/>
              </a:solidFill>
            </a:endParaRPr>
          </a:p>
          <a:p>
            <a:pPr marL="12700" marR="5080"/>
            <a:r>
              <a:rPr lang="en-US" sz="2400" kern="0" spc="-80" dirty="0">
                <a:solidFill>
                  <a:schemeClr val="accent2"/>
                </a:solidFill>
              </a:rPr>
              <a:t>Business Architecture</a:t>
            </a:r>
            <a:r>
              <a:rPr lang="en-US" sz="2400" kern="0" spc="-80" dirty="0">
                <a:solidFill>
                  <a:schemeClr val="accent6"/>
                </a:solidFill>
              </a:rPr>
              <a:t> – </a:t>
            </a:r>
            <a:r>
              <a:rPr lang="en-US" sz="2000" kern="0" spc="-80" dirty="0">
                <a:solidFill>
                  <a:schemeClr val="accent6"/>
                </a:solidFill>
              </a:rPr>
              <a:t>Shows the high-level Business Components &amp; flows/interactions between them</a:t>
            </a:r>
          </a:p>
          <a:p>
            <a:pPr marL="12700" marR="5080"/>
            <a:endParaRPr lang="en-US" sz="2000" kern="0" spc="-80" dirty="0">
              <a:solidFill>
                <a:schemeClr val="accent6"/>
              </a:solidFill>
            </a:endParaRPr>
          </a:p>
          <a:p>
            <a:pPr marL="12700" marR="5080"/>
            <a:r>
              <a:rPr lang="en-US" sz="2400" kern="0" spc="-80" dirty="0">
                <a:solidFill>
                  <a:schemeClr val="accent2"/>
                </a:solidFill>
              </a:rPr>
              <a:t>Application Architecture</a:t>
            </a:r>
            <a:r>
              <a:rPr lang="en-US" sz="2400" kern="0" spc="-80" dirty="0">
                <a:solidFill>
                  <a:schemeClr val="accent6"/>
                </a:solidFill>
              </a:rPr>
              <a:t> – </a:t>
            </a:r>
            <a:r>
              <a:rPr lang="en-US" sz="2000" kern="0" spc="-80" dirty="0">
                <a:solidFill>
                  <a:schemeClr val="accent6"/>
                </a:solidFill>
              </a:rPr>
              <a:t>Various components(showing clearly what technologies are used to build the app) and interactions between them in project(s). </a:t>
            </a:r>
          </a:p>
          <a:p>
            <a:pPr marL="12700" marR="5080"/>
            <a:endParaRPr lang="en-US" sz="2000" kern="0" spc="-80" dirty="0">
              <a:solidFill>
                <a:schemeClr val="accent6"/>
              </a:solidFill>
            </a:endParaRPr>
          </a:p>
          <a:p>
            <a:pPr marL="12700" marR="5080"/>
            <a:r>
              <a:rPr lang="en-US" sz="2000" kern="0" spc="-80" dirty="0">
                <a:solidFill>
                  <a:schemeClr val="accent2"/>
                </a:solidFill>
              </a:rPr>
              <a:t>Technology Architecture</a:t>
            </a:r>
            <a:r>
              <a:rPr lang="en-US" sz="2000" kern="0" spc="-80" dirty="0">
                <a:solidFill>
                  <a:schemeClr val="accent6"/>
                </a:solidFill>
              </a:rPr>
              <a:t> – Showing the Infra &amp; Deployment strategies</a:t>
            </a:r>
          </a:p>
          <a:p>
            <a:pPr marL="12700" marR="5080"/>
            <a:endParaRPr lang="en-US" sz="2000" kern="0" spc="-80" dirty="0">
              <a:solidFill>
                <a:schemeClr val="accent6"/>
              </a:solidFill>
            </a:endParaRPr>
          </a:p>
        </p:txBody>
      </p:sp>
    </p:spTree>
    <p:extLst>
      <p:ext uri="{BB962C8B-B14F-4D97-AF65-F5344CB8AC3E}">
        <p14:creationId xmlns:p14="http://schemas.microsoft.com/office/powerpoint/2010/main" val="208759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046838832"/>
              </p:ext>
            </p:extLst>
          </p:nvPr>
        </p:nvGraphicFramePr>
        <p:xfrm>
          <a:off x="304800" y="-38736"/>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910709"/>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Important Architecture Diagrams and Documentation </a:t>
            </a:r>
            <a:r>
              <a:rPr lang="en-US" sz="2400" kern="0" spc="-80" dirty="0" err="1">
                <a:solidFill>
                  <a:schemeClr val="accent2"/>
                </a:solidFill>
              </a:rPr>
              <a:t>contd</a:t>
            </a:r>
            <a:r>
              <a:rPr lang="en-US" sz="2400" kern="0" spc="-80" dirty="0">
                <a:solidFill>
                  <a:schemeClr val="accent2"/>
                </a:solidFill>
              </a:rPr>
              <a:t> …</a:t>
            </a:r>
          </a:p>
          <a:p>
            <a:pPr marL="12700" marR="5080"/>
            <a:r>
              <a:rPr lang="en-US" sz="2000" kern="0" spc="-80" dirty="0">
                <a:solidFill>
                  <a:schemeClr val="accent2"/>
                </a:solidFill>
              </a:rPr>
              <a:t>Integration Architecture</a:t>
            </a:r>
            <a:r>
              <a:rPr lang="en-US" sz="2400" kern="0" spc="-80" dirty="0">
                <a:solidFill>
                  <a:schemeClr val="accent2"/>
                </a:solidFill>
              </a:rPr>
              <a:t> </a:t>
            </a:r>
            <a:r>
              <a:rPr lang="en-US" sz="2400" kern="0" spc="-80" dirty="0">
                <a:solidFill>
                  <a:schemeClr val="accent6"/>
                </a:solidFill>
              </a:rPr>
              <a:t>– </a:t>
            </a:r>
            <a:r>
              <a:rPr lang="en-US" sz="1800" kern="0" spc="-80" dirty="0">
                <a:solidFill>
                  <a:schemeClr val="accent6"/>
                </a:solidFill>
              </a:rPr>
              <a:t>Showing the major internal/external integrations.</a:t>
            </a:r>
          </a:p>
          <a:p>
            <a:pPr marL="12700" marR="5080"/>
            <a:r>
              <a:rPr lang="en-US" sz="2000" kern="0" spc="-80" dirty="0">
                <a:solidFill>
                  <a:schemeClr val="accent2"/>
                </a:solidFill>
              </a:rPr>
              <a:t>DB Architecture</a:t>
            </a:r>
            <a:r>
              <a:rPr lang="en-US" sz="2400" kern="0" spc="-80" dirty="0">
                <a:solidFill>
                  <a:schemeClr val="accent2"/>
                </a:solidFill>
              </a:rPr>
              <a:t> </a:t>
            </a:r>
            <a:r>
              <a:rPr lang="en-US" sz="2400" kern="0" spc="-80" dirty="0">
                <a:solidFill>
                  <a:schemeClr val="accent6"/>
                </a:solidFill>
              </a:rPr>
              <a:t>– </a:t>
            </a:r>
            <a:r>
              <a:rPr lang="en-US" sz="1800" kern="0" spc="-80" dirty="0">
                <a:solidFill>
                  <a:schemeClr val="accent6"/>
                </a:solidFill>
              </a:rPr>
              <a:t>Showing the conceptual, logical &amp; physical DB models and ER diagrams &amp; the DB Tables metadata structure.</a:t>
            </a:r>
          </a:p>
          <a:p>
            <a:pPr marL="12700" marR="5080"/>
            <a:endParaRPr lang="en-US" sz="2000" kern="0" spc="-80" dirty="0">
              <a:solidFill>
                <a:schemeClr val="accent6"/>
              </a:solidFill>
            </a:endParaRPr>
          </a:p>
          <a:p>
            <a:pPr marL="12700" marR="5080"/>
            <a:r>
              <a:rPr lang="en-US" sz="1800" kern="0" spc="-80" dirty="0">
                <a:solidFill>
                  <a:schemeClr val="accent6"/>
                </a:solidFill>
              </a:rPr>
              <a:t>Also important is to document the NFRs(Non Functional Requirements), ADRs(Architecture Decision Records) &amp; AIRs(Architecture Improvement Logs). </a:t>
            </a:r>
            <a:r>
              <a:rPr lang="en-US" sz="1800" kern="0" spc="-80" dirty="0">
                <a:solidFill>
                  <a:schemeClr val="tx2">
                    <a:lumMod val="60000"/>
                    <a:lumOff val="40000"/>
                  </a:schemeClr>
                </a:solidFill>
              </a:rPr>
              <a:t>For ADRs &amp; AIRs, do check the gotchas associated with any (new) Technology tool.</a:t>
            </a:r>
          </a:p>
          <a:p>
            <a:pPr marL="12700" marR="5080"/>
            <a:r>
              <a:rPr lang="en-US" sz="2000" kern="0" spc="-80" dirty="0">
                <a:solidFill>
                  <a:schemeClr val="accent2"/>
                </a:solidFill>
              </a:rPr>
              <a:t>Other Stuffs to Document</a:t>
            </a:r>
            <a:r>
              <a:rPr lang="en-US" sz="2000" kern="0" spc="-80" dirty="0">
                <a:solidFill>
                  <a:schemeClr val="accent6"/>
                </a:solidFill>
              </a:rPr>
              <a:t> –</a:t>
            </a:r>
            <a:r>
              <a:rPr lang="en-US" sz="2400" kern="0" spc="-80" dirty="0">
                <a:solidFill>
                  <a:schemeClr val="accent6"/>
                </a:solidFill>
              </a:rPr>
              <a:t> </a:t>
            </a:r>
          </a:p>
          <a:p>
            <a:pPr marL="12700" marR="5080"/>
            <a:r>
              <a:rPr lang="en-US" sz="1800" kern="0" spc="-80" dirty="0">
                <a:solidFill>
                  <a:schemeClr val="accent6"/>
                </a:solidFill>
              </a:rPr>
              <a:t>Architecture Principles</a:t>
            </a:r>
          </a:p>
          <a:p>
            <a:pPr marL="12700" marR="5080"/>
            <a:r>
              <a:rPr lang="en-US" sz="1800" kern="0" spc="-80" dirty="0">
                <a:solidFill>
                  <a:schemeClr val="accent6"/>
                </a:solidFill>
              </a:rPr>
              <a:t>Governance Processes</a:t>
            </a:r>
          </a:p>
          <a:p>
            <a:pPr marL="12700" marR="5080"/>
            <a:r>
              <a:rPr lang="en-US" sz="1800" kern="0" spc="-80" dirty="0">
                <a:solidFill>
                  <a:schemeClr val="accent6"/>
                </a:solidFill>
              </a:rPr>
              <a:t>Development Architecture</a:t>
            </a:r>
          </a:p>
          <a:p>
            <a:pPr marL="12700" marR="5080"/>
            <a:r>
              <a:rPr lang="en-US" sz="1800" kern="0" spc="-80" dirty="0">
                <a:solidFill>
                  <a:schemeClr val="accent2"/>
                </a:solidFill>
              </a:rPr>
              <a:t>N.B. – In general, search/google/</a:t>
            </a:r>
            <a:r>
              <a:rPr lang="en-US" sz="1800" kern="0" spc="-80" dirty="0" err="1">
                <a:solidFill>
                  <a:schemeClr val="accent2"/>
                </a:solidFill>
              </a:rPr>
              <a:t>chatGPT</a:t>
            </a:r>
            <a:r>
              <a:rPr lang="en-US" sz="1800" kern="0" spc="-80" dirty="0">
                <a:solidFill>
                  <a:schemeClr val="accent2"/>
                </a:solidFill>
              </a:rPr>
              <a:t> for templates of the aforementioned docs &amp; refer them to prepare your own project specific template.</a:t>
            </a:r>
          </a:p>
        </p:txBody>
      </p:sp>
    </p:spTree>
    <p:extLst>
      <p:ext uri="{BB962C8B-B14F-4D97-AF65-F5344CB8AC3E}">
        <p14:creationId xmlns:p14="http://schemas.microsoft.com/office/powerpoint/2010/main" val="2015240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1066800"/>
            <a:ext cx="8624937" cy="15696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 Good Modelling compilation Resource – </a:t>
            </a:r>
          </a:p>
          <a:p>
            <a:pPr marL="12700" marR="5080"/>
            <a:r>
              <a:rPr lang="en-IN" sz="1500" dirty="0" err="1">
                <a:hlinkClick r:id="rId7"/>
              </a:rPr>
              <a:t>Modeling</a:t>
            </a:r>
            <a:r>
              <a:rPr lang="en-IN" sz="1500" dirty="0">
                <a:hlinkClick r:id="rId7"/>
              </a:rPr>
              <a:t> - Awesome Software Architecture</a:t>
            </a:r>
            <a:endParaRPr lang="en-IN" sz="1500" dirty="0"/>
          </a:p>
          <a:p>
            <a:pPr marL="12700" marR="5080"/>
            <a:endParaRPr lang="en-US" sz="1500" kern="0" spc="-80" dirty="0">
              <a:solidFill>
                <a:schemeClr val="accent6"/>
              </a:solidFill>
            </a:endParaRPr>
          </a:p>
          <a:p>
            <a:pPr marL="12700" marR="5080"/>
            <a:endParaRPr lang="en-US" sz="2400" kern="0" spc="-80" dirty="0">
              <a:solidFill>
                <a:schemeClr val="accent6"/>
              </a:solidFill>
            </a:endParaRPr>
          </a:p>
          <a:p>
            <a:pPr marL="12700" marR="5080"/>
            <a:endParaRPr lang="en-US" sz="2400" kern="0" spc="-80" dirty="0">
              <a:solidFill>
                <a:schemeClr val="accent6"/>
              </a:solidFill>
            </a:endParaRPr>
          </a:p>
        </p:txBody>
      </p:sp>
      <p:sp>
        <p:nvSpPr>
          <p:cNvPr id="7" name="object 2">
            <a:extLst>
              <a:ext uri="{FF2B5EF4-FFF2-40B4-BE49-F238E27FC236}">
                <a16:creationId xmlns:a16="http://schemas.microsoft.com/office/drawing/2014/main" id="{01192CCC-E239-75BD-56A7-3C039152FBAB}"/>
              </a:ext>
            </a:extLst>
          </p:cNvPr>
          <p:cNvSpPr txBox="1">
            <a:spLocks/>
          </p:cNvSpPr>
          <p:nvPr/>
        </p:nvSpPr>
        <p:spPr>
          <a:xfrm>
            <a:off x="358395" y="2071821"/>
            <a:ext cx="8624937" cy="35625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Software Architecture As Code Tools –</a:t>
            </a:r>
          </a:p>
          <a:p>
            <a:pPr marL="12700" marR="5080"/>
            <a:r>
              <a:rPr lang="en-US" sz="1500" dirty="0">
                <a:hlinkClick r:id="rId8"/>
              </a:rPr>
              <a:t>From Text to Models</a:t>
            </a:r>
            <a:endParaRPr lang="en-US" sz="1500" dirty="0"/>
          </a:p>
          <a:p>
            <a:pPr marL="12700" marR="5080"/>
            <a:r>
              <a:rPr lang="en-US" sz="1500" dirty="0">
                <a:hlinkClick r:id="rId9"/>
              </a:rPr>
              <a:t>Application Architecture as Code - The Architect Elevator</a:t>
            </a:r>
            <a:endParaRPr lang="en-US" sz="1500" dirty="0"/>
          </a:p>
          <a:p>
            <a:pPr marL="12700" marR="5080"/>
            <a:r>
              <a:rPr lang="en-US" sz="1500" dirty="0">
                <a:hlinkClick r:id="rId10"/>
              </a:rPr>
              <a:t>How to automate software-architecture, using architecture-as-code (</a:t>
            </a:r>
            <a:r>
              <a:rPr lang="en-US" sz="1500" dirty="0" err="1">
                <a:hlinkClick r:id="rId10"/>
              </a:rPr>
              <a:t>SAaC</a:t>
            </a:r>
            <a:r>
              <a:rPr lang="en-US" sz="1500" dirty="0">
                <a:hlinkClick r:id="rId10"/>
              </a:rPr>
              <a:t>) approach</a:t>
            </a:r>
            <a:endParaRPr lang="en-US" sz="1500" dirty="0"/>
          </a:p>
          <a:p>
            <a:pPr marL="12700" marR="5080"/>
            <a:r>
              <a:rPr lang="en-US" sz="1600" dirty="0">
                <a:hlinkClick r:id="rId11"/>
              </a:rPr>
              <a:t>Likec4</a:t>
            </a:r>
            <a:endParaRPr lang="en-US" sz="1600" dirty="0"/>
          </a:p>
          <a:p>
            <a:pPr marL="12700" marR="5080"/>
            <a:endParaRPr lang="en-US" sz="1500" kern="0" spc="-80" dirty="0">
              <a:solidFill>
                <a:schemeClr val="accent6"/>
              </a:solidFill>
            </a:endParaRPr>
          </a:p>
          <a:p>
            <a:pPr marL="12700" marR="5080"/>
            <a:r>
              <a:rPr lang="en-US" sz="2400" kern="0" spc="-80" dirty="0">
                <a:solidFill>
                  <a:schemeClr val="accent2"/>
                </a:solidFill>
              </a:rPr>
              <a:t>Reverse Engineering Tools – </a:t>
            </a:r>
          </a:p>
          <a:p>
            <a:pPr marL="12700" marR="5080"/>
            <a:r>
              <a:rPr lang="en-US" sz="1500" dirty="0">
                <a:hlinkClick r:id="rId12"/>
              </a:rPr>
              <a:t>UML - Are there good tools for C# reverse engineering? - Stack Overflow</a:t>
            </a:r>
            <a:endParaRPr lang="en-US" sz="1500" dirty="0"/>
          </a:p>
          <a:p>
            <a:pPr marL="12700" marR="5080"/>
            <a:r>
              <a:rPr lang="en-US" sz="1500" dirty="0">
                <a:hlinkClick r:id="rId13"/>
              </a:rPr>
              <a:t>Software Design Diagrams Using GitHub Copilot – YouTube</a:t>
            </a:r>
            <a:endParaRPr lang="en-US" sz="1500" dirty="0"/>
          </a:p>
          <a:p>
            <a:pPr marL="12700" marR="5080"/>
            <a:endParaRPr lang="en-US" sz="1050" dirty="0"/>
          </a:p>
          <a:p>
            <a:pPr marL="12700" marR="5080"/>
            <a:r>
              <a:rPr lang="en-US" sz="2400" kern="0" spc="-80" dirty="0">
                <a:solidFill>
                  <a:schemeClr val="accent2"/>
                </a:solidFill>
              </a:rPr>
              <a:t>Other Related Tools – </a:t>
            </a:r>
          </a:p>
          <a:p>
            <a:pPr marL="12700" marR="5080"/>
            <a:r>
              <a:rPr lang="en-IN" sz="1400" dirty="0">
                <a:hlinkClick r:id="rId14"/>
              </a:rPr>
              <a:t>Diagram to Code using Amazon Q | LinkedIn</a:t>
            </a:r>
            <a:endParaRPr lang="en-IN" sz="1400" dirty="0"/>
          </a:p>
          <a:p>
            <a:pPr marL="12700" marR="5080"/>
            <a:r>
              <a:rPr lang="en-US" sz="1400" dirty="0">
                <a:hlinkClick r:id="rId15"/>
              </a:rPr>
              <a:t>How to use GitHub Copilot? A Detailed, Comprehensive Guide 2025</a:t>
            </a:r>
            <a:endParaRPr lang="en-US" sz="2400" kern="0" spc="-80" dirty="0">
              <a:solidFill>
                <a:schemeClr val="accent2"/>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702978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914400"/>
            <a:ext cx="8624937" cy="60016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Some closing points w.r.t Documentation  - </a:t>
            </a:r>
          </a:p>
          <a:p>
            <a:pPr marL="355600" marR="5080" indent="-342900">
              <a:buAutoNum type="arabicParenR"/>
            </a:pPr>
            <a:r>
              <a:rPr lang="en-US" sz="1400" kern="0" spc="-80" dirty="0">
                <a:solidFill>
                  <a:schemeClr val="accent6"/>
                </a:solidFill>
              </a:rPr>
              <a:t>Analyze the as-is &amp; to-be system state e2e thoroughly from product requirements perspective. If needed, clarify all your queries/doubts, pro-actively. </a:t>
            </a:r>
          </a:p>
          <a:p>
            <a:pPr marL="355600" marR="5080" indent="-342900">
              <a:buAutoNum type="arabicParenR"/>
            </a:pPr>
            <a:r>
              <a:rPr lang="en-US" sz="1400" kern="0" spc="-80" dirty="0">
                <a:solidFill>
                  <a:schemeClr val="accent6"/>
                </a:solidFill>
              </a:rPr>
              <a:t>Document the Business Architecture in as detail as possible for both as-is &amp; to-be states based on 1 above (maybe using </a:t>
            </a:r>
            <a:r>
              <a:rPr lang="en-US" sz="1400" kern="0" spc="-80" dirty="0" err="1">
                <a:solidFill>
                  <a:schemeClr val="accent6"/>
                </a:solidFill>
              </a:rPr>
              <a:t>FlowCharts</a:t>
            </a:r>
            <a:r>
              <a:rPr lang="en-US" sz="1400" kern="0" spc="-80" dirty="0">
                <a:solidFill>
                  <a:schemeClr val="accent6"/>
                </a:solidFill>
              </a:rPr>
              <a:t>, State Diagrams, </a:t>
            </a:r>
            <a:r>
              <a:rPr lang="en-US" sz="1400" kern="0" spc="-80" dirty="0" err="1">
                <a:solidFill>
                  <a:schemeClr val="accent6"/>
                </a:solidFill>
              </a:rPr>
              <a:t>SwimLanes</a:t>
            </a:r>
            <a:r>
              <a:rPr lang="en-US" sz="1400" kern="0" spc="-80" dirty="0">
                <a:solidFill>
                  <a:schemeClr val="accent6"/>
                </a:solidFill>
              </a:rPr>
              <a:t>, Component/Sequence Diagrams etc.). Also check if the to-be processes can be made better, process-wise(maybe simpler or providing some tactical solution instead of strategic solution or providing additional capabilities).           </a:t>
            </a:r>
          </a:p>
          <a:p>
            <a:pPr marL="355600" marR="5080" indent="-342900">
              <a:buAutoNum type="arabicParenR"/>
            </a:pPr>
            <a:r>
              <a:rPr lang="en-US" sz="1400" kern="0" spc="-80" dirty="0">
                <a:solidFill>
                  <a:schemeClr val="accent6"/>
                </a:solidFill>
              </a:rPr>
              <a:t>Document the Application[including Integration] Architecture in as detail as possible(mainly for the to-be state) along-with associated NFRs(ideally both as-is &amp; to-be). Try to use technologies(old or emerging) that suits your contextual requirements &amp; not based on hype associated with some technology. Again, can use </a:t>
            </a:r>
            <a:r>
              <a:rPr lang="en-US" sz="1400" kern="0" spc="-80" dirty="0" err="1">
                <a:solidFill>
                  <a:schemeClr val="accent6"/>
                </a:solidFill>
              </a:rPr>
              <a:t>FlowCharts</a:t>
            </a:r>
            <a:r>
              <a:rPr lang="en-US" sz="1400" kern="0" spc="-80" dirty="0">
                <a:solidFill>
                  <a:schemeClr val="accent6"/>
                </a:solidFill>
              </a:rPr>
              <a:t>, State Diagrams, </a:t>
            </a:r>
            <a:r>
              <a:rPr lang="en-US" sz="1400" kern="0" spc="-80" dirty="0" err="1">
                <a:solidFill>
                  <a:schemeClr val="accent6"/>
                </a:solidFill>
              </a:rPr>
              <a:t>SwimLanes</a:t>
            </a:r>
            <a:r>
              <a:rPr lang="en-US" sz="1400" kern="0" spc="-80" dirty="0">
                <a:solidFill>
                  <a:schemeClr val="accent6"/>
                </a:solidFill>
              </a:rPr>
              <a:t>, </a:t>
            </a:r>
            <a:r>
              <a:rPr lang="en-US" sz="1400" kern="0" spc="-80" dirty="0" err="1">
                <a:solidFill>
                  <a:schemeClr val="accent6"/>
                </a:solidFill>
              </a:rPr>
              <a:t>Compoinent</a:t>
            </a:r>
            <a:r>
              <a:rPr lang="en-US" sz="1400" kern="0" spc="-80" dirty="0">
                <a:solidFill>
                  <a:schemeClr val="accent6"/>
                </a:solidFill>
              </a:rPr>
              <a:t>/Sequence Diagrams etc.</a:t>
            </a:r>
          </a:p>
          <a:p>
            <a:pPr marL="355600" marR="5080" indent="-342900">
              <a:buFontTx/>
              <a:buAutoNum type="arabicParenR"/>
            </a:pPr>
            <a:r>
              <a:rPr lang="en-US" sz="1400" kern="0" spc="-80" dirty="0">
                <a:solidFill>
                  <a:schemeClr val="accent6"/>
                </a:solidFill>
              </a:rPr>
              <a:t>Document the Infra(also called Technology) Architecture[including </a:t>
            </a:r>
            <a:r>
              <a:rPr lang="en-US" sz="1400" kern="0" spc="-80" dirty="0" err="1">
                <a:solidFill>
                  <a:schemeClr val="accent6"/>
                </a:solidFill>
              </a:rPr>
              <a:t>DevSecOps</a:t>
            </a:r>
            <a:r>
              <a:rPr lang="en-US" sz="1400" kern="0" spc="-80" dirty="0">
                <a:solidFill>
                  <a:schemeClr val="accent6"/>
                </a:solidFill>
              </a:rPr>
              <a:t> &amp; SRE]  in as detail as possible(mainly for the to-be state) along-with associated NFRs(ideally both as-is &amp; to-be with comparison if needed). Try to use technologies(old or emerging) that suits your contextual requirements &amp; not based on hype associated with some technology. Again, can use </a:t>
            </a:r>
            <a:r>
              <a:rPr lang="en-US" sz="1400" kern="0" spc="-80" dirty="0" err="1">
                <a:solidFill>
                  <a:schemeClr val="accent6"/>
                </a:solidFill>
              </a:rPr>
              <a:t>FlowCharts</a:t>
            </a:r>
            <a:r>
              <a:rPr lang="en-US" sz="1400" kern="0" spc="-80" dirty="0">
                <a:solidFill>
                  <a:schemeClr val="accent6"/>
                </a:solidFill>
              </a:rPr>
              <a:t>, State Diagrams, </a:t>
            </a:r>
            <a:r>
              <a:rPr lang="en-US" sz="1400" kern="0" spc="-80" dirty="0" err="1">
                <a:solidFill>
                  <a:schemeClr val="accent6"/>
                </a:solidFill>
              </a:rPr>
              <a:t>SwimLanes</a:t>
            </a:r>
            <a:r>
              <a:rPr lang="en-US" sz="1400" kern="0" spc="-80" dirty="0">
                <a:solidFill>
                  <a:schemeClr val="accent6"/>
                </a:solidFill>
              </a:rPr>
              <a:t>, Component/Sequence Diagrams etc.</a:t>
            </a:r>
          </a:p>
          <a:p>
            <a:pPr marL="355600" marR="5080" indent="-342900">
              <a:buFontTx/>
              <a:buAutoNum type="arabicParenR"/>
            </a:pPr>
            <a:r>
              <a:rPr lang="en-US" sz="1400" kern="0" spc="-80" dirty="0">
                <a:solidFill>
                  <a:schemeClr val="accent6"/>
                </a:solidFill>
              </a:rPr>
              <a:t>Document the Data Architecture[including Data Engineering &amp; Data Science needs with explicit Data Models{ER Diagrams &amp; DB Tables}], in as detail as possible(mainly for the to-be state) along-with associated NFRs(ideally both as-is &amp; to-be with comparison if needed). Try to use technologies(old or emerging – e.g. </a:t>
            </a:r>
            <a:r>
              <a:rPr lang="en-US" sz="1400" kern="0" spc="-80" dirty="0" err="1">
                <a:solidFill>
                  <a:schemeClr val="accent6"/>
                </a:solidFill>
              </a:rPr>
              <a:t>NoSql</a:t>
            </a:r>
            <a:r>
              <a:rPr lang="en-US" sz="1400" kern="0" spc="-80" dirty="0">
                <a:solidFill>
                  <a:schemeClr val="accent6"/>
                </a:solidFill>
              </a:rPr>
              <a:t>/RDBMS) that suits your contextual requirements.</a:t>
            </a:r>
          </a:p>
          <a:p>
            <a:pPr marL="355600" marR="5080" indent="-342900">
              <a:buFontTx/>
              <a:buAutoNum type="arabicParenR"/>
            </a:pPr>
            <a:r>
              <a:rPr lang="en-US" sz="1400" kern="0" spc="-80" dirty="0">
                <a:solidFill>
                  <a:schemeClr val="accent6"/>
                </a:solidFill>
              </a:rPr>
              <a:t>Maybe after all the above, document the ADRs &amp; AIRs. We may need AIRs since we might be going for some tactical solution &amp; thereby create technical debts.</a:t>
            </a:r>
          </a:p>
          <a:p>
            <a:pPr marL="355600" marR="5080" indent="-342900">
              <a:buAutoNum type="arabicParenR"/>
            </a:pPr>
            <a:endParaRPr lang="en-US" sz="1600" kern="0" spc="-80" dirty="0">
              <a:solidFill>
                <a:schemeClr val="accent6"/>
              </a:solidFill>
            </a:endParaRPr>
          </a:p>
          <a:p>
            <a:pPr marL="12700" marR="5080"/>
            <a:endParaRPr lang="en-US" sz="1800" kern="0" spc="-80" dirty="0">
              <a:solidFill>
                <a:schemeClr val="accent6"/>
              </a:solidFill>
            </a:endParaRPr>
          </a:p>
          <a:p>
            <a:pPr marL="12700" marR="5080"/>
            <a:endParaRPr lang="en-US" sz="2400" kern="0" spc="-80" dirty="0">
              <a:solidFill>
                <a:schemeClr val="accent6"/>
              </a:solidFill>
            </a:endParaRPr>
          </a:p>
        </p:txBody>
      </p:sp>
    </p:spTree>
    <p:extLst>
      <p:ext uri="{BB962C8B-B14F-4D97-AF65-F5344CB8AC3E}">
        <p14:creationId xmlns:p14="http://schemas.microsoft.com/office/powerpoint/2010/main" val="2207233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99DCF3-540F-8EA8-C0F3-7A8F4719178E}"/>
              </a:ext>
            </a:extLst>
          </p:cNvPr>
          <p:cNvSpPr txBox="1">
            <a:spLocks/>
          </p:cNvSpPr>
          <p:nvPr/>
        </p:nvSpPr>
        <p:spPr>
          <a:xfrm>
            <a:off x="354723" y="914400"/>
            <a:ext cx="8624937"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  -  </a:t>
            </a:r>
          </a:p>
          <a:p>
            <a:pPr marL="12700" marR="5080"/>
            <a:r>
              <a:rPr lang="en-IN" sz="2100" dirty="0">
                <a:hlinkClick r:id="rId7"/>
              </a:rPr>
              <a:t>Documenting Software Architectures - by Dr Milan Milanović</a:t>
            </a:r>
            <a:r>
              <a:rPr lang="en-US" sz="2100" kern="0" spc="-80" dirty="0">
                <a:solidFill>
                  <a:schemeClr val="accent2"/>
                </a:solidFill>
              </a:rPr>
              <a:t>    </a:t>
            </a:r>
          </a:p>
          <a:p>
            <a:pPr marL="12700" marR="5080"/>
            <a:r>
              <a:rPr lang="en-IN" sz="2100" dirty="0">
                <a:hlinkClick r:id="rId8"/>
              </a:rPr>
              <a:t>The Ultimate Guide To Software Architecture Documentation</a:t>
            </a:r>
            <a:endParaRPr lang="en-IN" sz="2100" dirty="0"/>
          </a:p>
          <a:p>
            <a:pPr marL="12700" marR="5080"/>
            <a:r>
              <a:rPr lang="en-IN" sz="2100" dirty="0">
                <a:hlinkClick r:id="rId9"/>
              </a:rPr>
              <a:t>Architecture-Document-Template</a:t>
            </a:r>
            <a:endParaRPr lang="en-IN" sz="2100" dirty="0"/>
          </a:p>
          <a:p>
            <a:pPr marL="12700" marR="5080"/>
            <a:r>
              <a:rPr lang="en-US" sz="2100" dirty="0">
                <a:hlinkClick r:id="rId10"/>
              </a:rPr>
              <a:t>High Level Design Template</a:t>
            </a:r>
          </a:p>
          <a:p>
            <a:pPr marL="12700" marR="5080"/>
            <a:r>
              <a:rPr lang="en-US" sz="2100" dirty="0" err="1">
                <a:hlinkClick r:id="rId10"/>
              </a:rPr>
              <a:t>WebMethods</a:t>
            </a:r>
            <a:r>
              <a:rPr lang="en-US" sz="2100" dirty="0">
                <a:hlinkClick r:id="rId10"/>
              </a:rPr>
              <a:t> - Software AG Tech Community &amp; Forums</a:t>
            </a:r>
            <a:endParaRPr lang="en-US" sz="2100" dirty="0"/>
          </a:p>
          <a:p>
            <a:pPr marL="12700" marR="5080"/>
            <a:r>
              <a:rPr lang="en-US" sz="2100" dirty="0">
                <a:hlinkClick r:id="rId11"/>
              </a:rPr>
              <a:t>Writing an effective End-to-End High-Level Design</a:t>
            </a:r>
            <a:endParaRPr lang="en-US" sz="2100" dirty="0"/>
          </a:p>
          <a:p>
            <a:pPr marL="12700" marR="5080"/>
            <a:r>
              <a:rPr lang="en-US" sz="2100" dirty="0">
                <a:hlinkClick r:id="rId12"/>
              </a:rPr>
              <a:t>System-Design-Templates-</a:t>
            </a:r>
            <a:r>
              <a:rPr lang="en-US" sz="2100" dirty="0" err="1">
                <a:hlinkClick r:id="rId12"/>
              </a:rPr>
              <a:t>Excalidraw</a:t>
            </a:r>
            <a:endParaRPr lang="en-US" sz="2100" dirty="0"/>
          </a:p>
          <a:p>
            <a:pPr marL="12700" marR="5080"/>
            <a:r>
              <a:rPr lang="en-US" sz="2100" dirty="0">
                <a:hlinkClick r:id="rId13"/>
              </a:rPr>
              <a:t>Free Software architecture review template | Confluence</a:t>
            </a:r>
            <a:endParaRPr lang="en-US" sz="2100" dirty="0"/>
          </a:p>
          <a:p>
            <a:pPr marL="12700" marR="5080"/>
            <a:r>
              <a:rPr lang="en-US" sz="2100" dirty="0">
                <a:hlinkClick r:id="rId14"/>
              </a:rPr>
              <a:t>Practical-Architecture</a:t>
            </a:r>
            <a:endParaRPr lang="en-US" sz="2100" dirty="0"/>
          </a:p>
          <a:p>
            <a:pPr marL="12700" marR="5080"/>
            <a:r>
              <a:rPr lang="en-US" sz="2100" dirty="0">
                <a:hlinkClick r:id="rId15"/>
              </a:rPr>
              <a:t>Architecture-Decision-Record</a:t>
            </a:r>
            <a:endParaRPr lang="en-US" sz="2100" dirty="0"/>
          </a:p>
          <a:p>
            <a:pPr marL="12700" marR="5080"/>
            <a:r>
              <a:rPr lang="en-US" sz="2100" dirty="0">
                <a:hlinkClick r:id="rId16"/>
              </a:rPr>
              <a:t>Enterprise Architecture: How to Design Models &amp; Diagrams</a:t>
            </a:r>
            <a:endParaRPr lang="en-US" sz="2100" dirty="0"/>
          </a:p>
          <a:p>
            <a:pPr marL="12700" marR="5080"/>
            <a:r>
              <a:rPr lang="en-IN" sz="2100" dirty="0">
                <a:hlinkClick r:id="rId17"/>
              </a:rPr>
              <a:t>Communication Patterns[Book]</a:t>
            </a:r>
            <a:endParaRPr lang="en-US" sz="2100" kern="0" spc="-80" dirty="0">
              <a:solidFill>
                <a:schemeClr val="accent2"/>
              </a:solidFill>
            </a:endParaRPr>
          </a:p>
          <a:p>
            <a:pPr marL="12700" marR="5080"/>
            <a:r>
              <a:rPr lang="en-IN" sz="2100" dirty="0">
                <a:hlinkClick r:id="rId18"/>
              </a:rPr>
              <a:t>Practical Model-Driven Enterprise Architecture</a:t>
            </a:r>
            <a:endParaRPr lang="en-IN" sz="2100" dirty="0"/>
          </a:p>
          <a:p>
            <a:pPr marL="12700" marR="5080"/>
            <a:r>
              <a:rPr lang="en-US" sz="2100" dirty="0">
                <a:hlinkClick r:id="rId19"/>
              </a:rPr>
              <a:t>Modeling Enterprise Architecture with TOGAF[Book]</a:t>
            </a:r>
            <a:endParaRPr lang="en-US" sz="2100" kern="0" spc="-80" dirty="0">
              <a:solidFill>
                <a:schemeClr val="accent6"/>
              </a:solidFill>
            </a:endParaRPr>
          </a:p>
          <a:p>
            <a:pPr marL="12700" marR="5080"/>
            <a:endParaRPr lang="en-US" sz="1800" kern="0" spc="-80" dirty="0">
              <a:solidFill>
                <a:schemeClr val="accent6"/>
              </a:solidFill>
            </a:endParaRPr>
          </a:p>
          <a:p>
            <a:pPr marL="12700" marR="5080"/>
            <a:endParaRPr lang="en-US" sz="2400" kern="0" spc="-80" dirty="0">
              <a:solidFill>
                <a:schemeClr val="accent6"/>
              </a:solidFill>
            </a:endParaRPr>
          </a:p>
        </p:txBody>
      </p:sp>
    </p:spTree>
    <p:extLst>
      <p:ext uri="{BB962C8B-B14F-4D97-AF65-F5344CB8AC3E}">
        <p14:creationId xmlns:p14="http://schemas.microsoft.com/office/powerpoint/2010/main" val="275422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61189477"/>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1095613"/>
            <a:ext cx="8624937" cy="25391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Architecture(/Design) Principles - </a:t>
            </a:r>
            <a:endParaRPr lang="en-US" sz="2400" kern="0" spc="-220" dirty="0">
              <a:solidFill>
                <a:schemeClr val="accent6"/>
              </a:solidFill>
              <a:hlinkClick r:id="rId7"/>
            </a:endParaRPr>
          </a:p>
          <a:p>
            <a:pPr marL="12700" marR="5080"/>
            <a:r>
              <a:rPr lang="en-US" sz="1500" dirty="0">
                <a:hlinkClick r:id="rId7"/>
              </a:rPr>
              <a:t>Architectural Design Principles - Awesome Software Architecture</a:t>
            </a:r>
            <a:r>
              <a:rPr lang="en-US" sz="1500" kern="0" spc="-220" dirty="0">
                <a:solidFill>
                  <a:schemeClr val="accent6"/>
                </a:solidFill>
              </a:rPr>
              <a:t> </a:t>
            </a:r>
          </a:p>
          <a:p>
            <a:pPr marL="12700" marR="5080"/>
            <a:endParaRPr lang="en-US" sz="2400" kern="0" spc="-220" dirty="0">
              <a:solidFill>
                <a:schemeClr val="accent6"/>
              </a:solidFill>
            </a:endParaRPr>
          </a:p>
          <a:p>
            <a:pPr marL="12700" marR="5080"/>
            <a:endParaRPr lang="en-US" sz="2400" kern="0" spc="-220" dirty="0">
              <a:solidFill>
                <a:schemeClr val="accent6"/>
              </a:solidFill>
            </a:endParaRPr>
          </a:p>
          <a:p>
            <a:pPr marL="12700" marR="5080"/>
            <a:r>
              <a:rPr lang="en-US" sz="2400" kern="0" spc="-80" dirty="0">
                <a:solidFill>
                  <a:schemeClr val="accent2"/>
                </a:solidFill>
              </a:rPr>
              <a:t>Reactive Design- </a:t>
            </a:r>
          </a:p>
          <a:p>
            <a:pPr marL="12700" marR="5080"/>
            <a:r>
              <a:rPr lang="en-US" sz="2400" kern="0" spc="-80" dirty="0">
                <a:solidFill>
                  <a:schemeClr val="accent2"/>
                </a:solidFill>
              </a:rPr>
              <a:t>  </a:t>
            </a:r>
            <a:r>
              <a:rPr lang="en-US" sz="1500" dirty="0">
                <a:hlinkClick r:id="rId8"/>
              </a:rPr>
              <a:t>Code repo for Functional and Reactive Domain Modeling</a:t>
            </a:r>
            <a:endParaRPr lang="en-US" sz="1500" dirty="0"/>
          </a:p>
          <a:p>
            <a:pPr marL="12700" marR="5080"/>
            <a:r>
              <a:rPr lang="en-US" sz="1500" kern="0" spc="-80" dirty="0">
                <a:solidFill>
                  <a:schemeClr val="accent2"/>
                </a:solidFill>
              </a:rPr>
              <a:t>   </a:t>
            </a:r>
            <a:r>
              <a:rPr lang="en-IN" sz="1500" dirty="0">
                <a:hlinkClick r:id="rId9"/>
              </a:rPr>
              <a:t>Reactive Design Patterns </a:t>
            </a:r>
            <a:r>
              <a:rPr lang="en-US" sz="1500" kern="0" spc="-80" dirty="0">
                <a:solidFill>
                  <a:schemeClr val="accent2"/>
                </a:solidFill>
              </a:rPr>
              <a:t> </a:t>
            </a:r>
          </a:p>
          <a:p>
            <a:pPr marL="12700" marR="5080"/>
            <a:r>
              <a:rPr lang="en-US" sz="1500" kern="0" spc="-80" dirty="0">
                <a:solidFill>
                  <a:schemeClr val="accent2"/>
                </a:solidFill>
              </a:rPr>
              <a:t>   </a:t>
            </a:r>
            <a:r>
              <a:rPr lang="en-US" sz="1500" dirty="0">
                <a:hlinkClick r:id="rId10"/>
              </a:rPr>
              <a:t>Reactive Messaging Patterns with the Actor Model</a:t>
            </a:r>
            <a:endParaRPr lang="en-US" sz="2000" kern="0" spc="-80" dirty="0">
              <a:solidFill>
                <a:schemeClr val="accent6"/>
              </a:solidFill>
            </a:endParaRPr>
          </a:p>
        </p:txBody>
      </p:sp>
    </p:spTree>
    <p:extLst>
      <p:ext uri="{BB962C8B-B14F-4D97-AF65-F5344CB8AC3E}">
        <p14:creationId xmlns:p14="http://schemas.microsoft.com/office/powerpoint/2010/main" val="20640485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10ADAC8-BBD2-11C3-47E4-6817457B3382}"/>
              </a:ext>
            </a:extLst>
          </p:cNvPr>
          <p:cNvSpPr txBox="1">
            <a:spLocks/>
          </p:cNvSpPr>
          <p:nvPr/>
        </p:nvSpPr>
        <p:spPr>
          <a:xfrm>
            <a:off x="381000" y="780395"/>
            <a:ext cx="8624937" cy="31547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Architecture(/Design) is mainly </a:t>
            </a:r>
            <a:r>
              <a:rPr lang="en-US" sz="1600" kern="0" spc="-80" dirty="0">
                <a:solidFill>
                  <a:schemeClr val="accent1"/>
                </a:solidFill>
              </a:rPr>
              <a:t>taking decisions </a:t>
            </a:r>
            <a:r>
              <a:rPr lang="en-US" sz="1600" kern="0" spc="-80" dirty="0">
                <a:solidFill>
                  <a:schemeClr val="accent6"/>
                </a:solidFill>
              </a:rPr>
              <a:t>based on trade-offs wherein the goal is to build the </a:t>
            </a:r>
            <a:r>
              <a:rPr lang="en-US" sz="1600" kern="0" spc="-80" dirty="0">
                <a:solidFill>
                  <a:schemeClr val="accent1"/>
                </a:solidFill>
              </a:rPr>
              <a:t>Least Worst Architecture(/Design)</a:t>
            </a:r>
            <a:r>
              <a:rPr lang="en-US" sz="1600" kern="0" spc="-80" dirty="0">
                <a:solidFill>
                  <a:schemeClr val="accent6"/>
                </a:solidFill>
              </a:rPr>
              <a:t>.</a:t>
            </a:r>
          </a:p>
          <a:p>
            <a:pPr marL="12700" marR="5080"/>
            <a:endParaRPr lang="en-US" sz="1600" kern="0" spc="-80" dirty="0">
              <a:solidFill>
                <a:schemeClr val="accent6"/>
              </a:solidFill>
            </a:endParaRPr>
          </a:p>
          <a:p>
            <a:pPr marL="12700" marR="5080"/>
            <a:r>
              <a:rPr lang="en-US" sz="1800" kern="0" spc="-80" dirty="0">
                <a:solidFill>
                  <a:schemeClr val="accent2"/>
                </a:solidFill>
              </a:rPr>
              <a:t>ATAM(Architecture Trade-Off Analysis Method) – </a:t>
            </a:r>
          </a:p>
          <a:p>
            <a:pPr marL="12700" marR="5080"/>
            <a:r>
              <a:rPr lang="en-IN" sz="1500" dirty="0">
                <a:hlinkClick r:id="rId7"/>
              </a:rPr>
              <a:t>Architecture </a:t>
            </a:r>
            <a:r>
              <a:rPr lang="en-IN" sz="1500" dirty="0" err="1">
                <a:hlinkClick r:id="rId7"/>
              </a:rPr>
              <a:t>Tradeoff</a:t>
            </a:r>
            <a:r>
              <a:rPr lang="en-IN" sz="1500" dirty="0">
                <a:hlinkClick r:id="rId7"/>
              </a:rPr>
              <a:t> Analysis Method (ATAM) - </a:t>
            </a:r>
            <a:r>
              <a:rPr lang="en-IN" sz="1500" dirty="0" err="1">
                <a:hlinkClick r:id="rId7"/>
              </a:rPr>
              <a:t>GeeksforGeeks</a:t>
            </a:r>
            <a:r>
              <a:rPr lang="en-US" sz="1500" kern="0" spc="-80" dirty="0">
                <a:solidFill>
                  <a:schemeClr val="accent2"/>
                </a:solidFill>
              </a:rPr>
              <a:t> </a:t>
            </a:r>
          </a:p>
          <a:p>
            <a:pPr marL="12700" marR="5080"/>
            <a:endParaRPr lang="en-US" sz="1800" kern="0" spc="-80" dirty="0">
              <a:solidFill>
                <a:schemeClr val="accent2"/>
              </a:solidFill>
            </a:endParaRPr>
          </a:p>
          <a:p>
            <a:pPr marL="12700" marR="5080"/>
            <a:r>
              <a:rPr lang="en-US" sz="1800" kern="0" spc="-80" dirty="0">
                <a:solidFill>
                  <a:schemeClr val="accent2"/>
                </a:solidFill>
              </a:rPr>
              <a:t>Architecture Trade-Off Examples – </a:t>
            </a:r>
          </a:p>
          <a:p>
            <a:pPr marL="12700" marR="5080"/>
            <a:r>
              <a:rPr lang="en-US" sz="1100" kern="0" spc="-80" dirty="0">
                <a:solidFill>
                  <a:schemeClr val="accent2"/>
                </a:solidFill>
              </a:rPr>
              <a:t> </a:t>
            </a:r>
            <a:r>
              <a:rPr lang="en-US" sz="1500" kern="0" spc="-80" dirty="0">
                <a:solidFill>
                  <a:schemeClr val="accent2"/>
                </a:solidFill>
              </a:rPr>
              <a:t> </a:t>
            </a:r>
            <a:r>
              <a:rPr lang="en-US" sz="1500" dirty="0">
                <a:hlinkClick r:id="rId8"/>
              </a:rPr>
              <a:t>How to make software architecture trade-off decisions | by Alex </a:t>
            </a:r>
            <a:r>
              <a:rPr lang="en-US" sz="1500" dirty="0" err="1">
                <a:hlinkClick r:id="rId8"/>
              </a:rPr>
              <a:t>Wauters</a:t>
            </a:r>
            <a:r>
              <a:rPr lang="en-US" sz="1500" dirty="0">
                <a:hlinkClick r:id="rId8"/>
              </a:rPr>
              <a:t> | Medium</a:t>
            </a:r>
            <a:endParaRPr lang="en-US" sz="1500" dirty="0"/>
          </a:p>
          <a:p>
            <a:pPr marL="12700" marR="5080"/>
            <a:r>
              <a:rPr lang="en-US" sz="1500" kern="0" spc="-80" dirty="0">
                <a:solidFill>
                  <a:schemeClr val="accent2"/>
                </a:solidFill>
              </a:rPr>
              <a:t>  </a:t>
            </a:r>
            <a:r>
              <a:rPr lang="en-US" sz="1500" dirty="0">
                <a:hlinkClick r:id="rId9"/>
              </a:rPr>
              <a:t>How do you evaluate and communicate the trade-offs of different architectural choices?</a:t>
            </a:r>
            <a:endParaRPr lang="en-US" sz="1500" dirty="0"/>
          </a:p>
          <a:p>
            <a:pPr marL="12700" marR="5080"/>
            <a:endParaRPr lang="en-US" sz="1800" kern="0" spc="-80" dirty="0">
              <a:solidFill>
                <a:schemeClr val="accent2"/>
              </a:solidFill>
            </a:endParaRPr>
          </a:p>
          <a:p>
            <a:pPr marL="12700" marR="5080"/>
            <a:endParaRPr lang="en-US" sz="1100" kern="0" spc="-80" dirty="0">
              <a:solidFill>
                <a:schemeClr val="accent2"/>
              </a:solidFill>
            </a:endParaRPr>
          </a:p>
          <a:p>
            <a:pPr marL="12700" marR="5080"/>
            <a:r>
              <a:rPr lang="en-US" sz="1400" kern="0" spc="-80" dirty="0">
                <a:solidFill>
                  <a:schemeClr val="accent2"/>
                </a:solidFill>
              </a:rPr>
              <a:t> </a:t>
            </a:r>
            <a:r>
              <a:rPr lang="en-US" sz="1200" kern="0" spc="-80" dirty="0">
                <a:solidFill>
                  <a:schemeClr val="accent2"/>
                </a:solidFill>
              </a:rPr>
              <a:t> </a:t>
            </a:r>
            <a:endParaRPr lang="en-IN" sz="1200" kern="0" spc="-80" dirty="0">
              <a:solidFill>
                <a:schemeClr val="accent2"/>
              </a:solidFill>
            </a:endParaRPr>
          </a:p>
        </p:txBody>
      </p:sp>
    </p:spTree>
    <p:extLst>
      <p:ext uri="{BB962C8B-B14F-4D97-AF65-F5344CB8AC3E}">
        <p14:creationId xmlns:p14="http://schemas.microsoft.com/office/powerpoint/2010/main" val="2252512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7E0BB-44A4-442D-90A7-1935526853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37C4CCB-03A8-7529-F5C8-D764709905E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D371F26-5FE6-FCAA-A4D1-2CEE5A8F53C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F5A79FD-A69E-7968-C868-FA170F265A3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0758D7C-CC11-5499-61A2-7123A9CE2ED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2623863-CB36-CCEB-BF92-4646ADD1857A}"/>
              </a:ext>
            </a:extLst>
          </p:cNvPr>
          <p:cNvSpPr txBox="1">
            <a:spLocks/>
          </p:cNvSpPr>
          <p:nvPr/>
        </p:nvSpPr>
        <p:spPr>
          <a:xfrm>
            <a:off x="381000" y="780395"/>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For Further Exploration –</a:t>
            </a:r>
          </a:p>
          <a:p>
            <a:pPr marL="12700" marR="5080"/>
            <a:r>
              <a:rPr lang="en-IN" sz="1700" dirty="0">
                <a:hlinkClick r:id="rId7"/>
              </a:rPr>
              <a:t>Fitness function-driven development | Thoughtworks</a:t>
            </a:r>
            <a:endParaRPr lang="en-IN" sz="1700" dirty="0"/>
          </a:p>
          <a:p>
            <a:pPr marL="12700" marR="5080"/>
            <a:r>
              <a:rPr lang="en-US" sz="1700" dirty="0">
                <a:hlinkClick r:id="rId8"/>
              </a:rPr>
              <a:t>Enforcing Software Architecture With Architecture Tests</a:t>
            </a:r>
            <a:endParaRPr lang="en-US" sz="1700" dirty="0"/>
          </a:p>
          <a:p>
            <a:pPr marL="12700" marR="5080"/>
            <a:r>
              <a:rPr lang="en-US" sz="1700" dirty="0">
                <a:hlinkClick r:id="rId9"/>
              </a:rPr>
              <a:t>Software Architecture: Foundations, Theory, and Practice </a:t>
            </a:r>
            <a:r>
              <a:rPr lang="en-US" sz="1700" dirty="0">
                <a:hlinkClick r:id="rId10"/>
              </a:rPr>
              <a:t>–</a:t>
            </a:r>
            <a:r>
              <a:rPr lang="en-US" sz="1700" dirty="0">
                <a:hlinkClick r:id="rId9"/>
              </a:rPr>
              <a:t> Resources</a:t>
            </a:r>
            <a:endParaRPr lang="en-US" sz="1700" dirty="0"/>
          </a:p>
          <a:p>
            <a:pPr marL="12700" marR="5080"/>
            <a:r>
              <a:rPr lang="en-US" sz="1700" dirty="0">
                <a:hlinkClick r:id="rId10"/>
              </a:rPr>
              <a:t>The Semantic Design Toolbox - Semantic Software Design [Book]</a:t>
            </a:r>
            <a:endParaRPr lang="en-US" sz="1700" dirty="0"/>
          </a:p>
          <a:p>
            <a:pPr marL="12700" marR="5080"/>
            <a:r>
              <a:rPr lang="en-US" sz="1700" dirty="0">
                <a:hlinkClick r:id="rId11"/>
              </a:rPr>
              <a:t>Design It!: From Programmer to Software Architect by Michael Keeling</a:t>
            </a:r>
            <a:endParaRPr lang="en-US" sz="1700" dirty="0"/>
          </a:p>
          <a:p>
            <a:pPr marL="12700" marR="5080"/>
            <a:r>
              <a:rPr lang="en-IN" sz="1700" dirty="0">
                <a:hlinkClick r:id="rId12"/>
              </a:rPr>
              <a:t>Building Evolutionary Architectures · GitHub</a:t>
            </a:r>
            <a:endParaRPr lang="en-IN" sz="1700" dirty="0"/>
          </a:p>
          <a:p>
            <a:pPr marL="12700" marR="5080"/>
            <a:r>
              <a:rPr lang="en-US" sz="1700" dirty="0">
                <a:hlinkClick r:id="rId13"/>
              </a:rPr>
              <a:t>Evolutionary-Architecture-by-example</a:t>
            </a:r>
            <a:endParaRPr lang="en-US" sz="1700" dirty="0"/>
          </a:p>
          <a:p>
            <a:pPr marL="12700" marR="5080"/>
            <a:r>
              <a:rPr lang="en-US" sz="1700" dirty="0">
                <a:hlinkClick r:id="rId14"/>
              </a:rPr>
              <a:t>Evolutionary Architectures. This is a summary of some interesting…</a:t>
            </a:r>
            <a:endParaRPr lang="en-US" sz="1700" dirty="0"/>
          </a:p>
          <a:p>
            <a:pPr marL="12700" marR="5080"/>
            <a:r>
              <a:rPr lang="en-US" sz="1700" dirty="0">
                <a:hlinkClick r:id="rId15"/>
              </a:rPr>
              <a:t>Geek read: Building Evolutionary Architectures 2nd edition</a:t>
            </a:r>
            <a:endParaRPr lang="en-US" sz="1700" dirty="0"/>
          </a:p>
          <a:p>
            <a:pPr marL="12700" marR="5080"/>
            <a:r>
              <a:rPr lang="en-US" sz="1700" dirty="0">
                <a:hlinkClick r:id="rId16"/>
              </a:rPr>
              <a:t>Notes on Building Evolutionary Architectures. | Irrational Exuberance</a:t>
            </a:r>
            <a:endParaRPr lang="en-US" sz="1700" dirty="0"/>
          </a:p>
          <a:p>
            <a:pPr marL="12700" marR="5080"/>
            <a:r>
              <a:rPr lang="en-IN" sz="1700" dirty="0">
                <a:hlinkClick r:id="rId17"/>
              </a:rPr>
              <a:t>Building Evolutionary Architectures</a:t>
            </a:r>
            <a:endParaRPr lang="en-IN" sz="1700" dirty="0"/>
          </a:p>
          <a:p>
            <a:pPr marL="12700" marR="5080"/>
            <a:r>
              <a:rPr lang="en-IN" sz="1700" dirty="0">
                <a:hlinkClick r:id="rId18"/>
              </a:rPr>
              <a:t>Software Architecture Metrics[Book]</a:t>
            </a:r>
            <a:endParaRPr lang="en-IN" sz="1700" dirty="0"/>
          </a:p>
          <a:p>
            <a:pPr marL="12700" marR="5080"/>
            <a:r>
              <a:rPr lang="en-US" sz="1700" dirty="0">
                <a:hlinkClick r:id="rId19"/>
              </a:rPr>
              <a:t>Solutions-Architect-metrics-</a:t>
            </a:r>
            <a:r>
              <a:rPr lang="en-US" sz="1700" dirty="0" err="1">
                <a:hlinkClick r:id="rId19"/>
              </a:rPr>
              <a:t>cheatsheet</a:t>
            </a:r>
            <a:endParaRPr lang="en-US" sz="1700" dirty="0"/>
          </a:p>
          <a:p>
            <a:pPr marL="12700" marR="5080"/>
            <a:r>
              <a:rPr lang="en-US" sz="1700" dirty="0">
                <a:hlinkClick r:id="rId20"/>
              </a:rPr>
              <a:t>Metrics For Software Architects and Designers</a:t>
            </a:r>
            <a:endParaRPr lang="en-US" sz="1700" dirty="0"/>
          </a:p>
          <a:p>
            <a:pPr marL="12700" marR="5080"/>
            <a:r>
              <a:rPr lang="en-IN" sz="1700" dirty="0">
                <a:hlinkClick r:id="rId21"/>
              </a:rPr>
              <a:t>Designing Software Architectures </a:t>
            </a:r>
            <a:r>
              <a:rPr lang="en-IN" sz="1700" dirty="0">
                <a:hlinkClick r:id="rId22"/>
              </a:rPr>
              <a:t>–</a:t>
            </a:r>
            <a:r>
              <a:rPr lang="en-IN" sz="1700" dirty="0">
                <a:hlinkClick r:id="rId21"/>
              </a:rPr>
              <a:t> notes</a:t>
            </a:r>
            <a:endParaRPr lang="en-IN" sz="1700" dirty="0"/>
          </a:p>
          <a:p>
            <a:pPr marL="12700" marR="5080"/>
            <a:r>
              <a:rPr lang="en-IN" sz="1700" dirty="0">
                <a:hlinkClick r:id="rId23"/>
              </a:rPr>
              <a:t>System Design </a:t>
            </a:r>
            <a:r>
              <a:rPr lang="en-IN" sz="1700" dirty="0" err="1">
                <a:hlinkClick r:id="rId23"/>
              </a:rPr>
              <a:t>TradeOff</a:t>
            </a:r>
            <a:r>
              <a:rPr lang="en-IN" sz="1700" dirty="0">
                <a:hlinkClick r:id="rId23"/>
              </a:rPr>
              <a:t> Series | LinkedIn</a:t>
            </a:r>
            <a:endParaRPr lang="en-US" sz="1700" kern="0" spc="-80" dirty="0">
              <a:solidFill>
                <a:schemeClr val="accent2"/>
              </a:solidFill>
            </a:endParaRPr>
          </a:p>
          <a:p>
            <a:pPr marL="12700" marR="5080"/>
            <a:endParaRPr lang="en-US" sz="1100" kern="0" spc="-80" dirty="0">
              <a:solidFill>
                <a:schemeClr val="accent2"/>
              </a:solidFill>
            </a:endParaRPr>
          </a:p>
          <a:p>
            <a:pPr marL="12700" marR="5080"/>
            <a:r>
              <a:rPr lang="en-US" sz="1400" kern="0" spc="-80" dirty="0">
                <a:solidFill>
                  <a:schemeClr val="accent2"/>
                </a:solidFill>
              </a:rPr>
              <a:t> </a:t>
            </a:r>
            <a:r>
              <a:rPr lang="en-US" sz="1200" kern="0" spc="-80" dirty="0">
                <a:solidFill>
                  <a:schemeClr val="accent2"/>
                </a:solidFill>
              </a:rPr>
              <a:t> </a:t>
            </a:r>
            <a:endParaRPr lang="en-IN" sz="1200" kern="0" spc="-80" dirty="0">
              <a:solidFill>
                <a:schemeClr val="accent2"/>
              </a:solidFill>
            </a:endParaRPr>
          </a:p>
        </p:txBody>
      </p:sp>
    </p:spTree>
    <p:extLst>
      <p:ext uri="{BB962C8B-B14F-4D97-AF65-F5344CB8AC3E}">
        <p14:creationId xmlns:p14="http://schemas.microsoft.com/office/powerpoint/2010/main" val="246230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FFC3-2BD3-AB43-09AB-168738357B8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CA62B29-CFAA-6ADF-5360-5E23B387AC87}"/>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45C0F84-A906-D723-69EE-BBDE9EB471E2}"/>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6F1AC55-FAC5-DB51-383B-42A24B452A89}"/>
              </a:ext>
            </a:extLst>
          </p:cNvPr>
          <p:cNvGraphicFramePr/>
          <p:nvPr>
            <p:extLst>
              <p:ext uri="{D42A27DB-BD31-4B8C-83A1-F6EECF244321}">
                <p14:modId xmlns:p14="http://schemas.microsoft.com/office/powerpoint/2010/main" val="263912142"/>
              </p:ext>
            </p:extLst>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65EF32BA-4918-37C3-392F-CBE3C77E2805}"/>
              </a:ext>
            </a:extLst>
          </p:cNvPr>
          <p:cNvSpPr txBox="1">
            <a:spLocks/>
          </p:cNvSpPr>
          <p:nvPr/>
        </p:nvSpPr>
        <p:spPr>
          <a:xfrm>
            <a:off x="313400" y="694301"/>
            <a:ext cx="8624937" cy="52783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What is TOGAF?</a:t>
            </a:r>
          </a:p>
          <a:p>
            <a:pPr marL="12700" marR="5080"/>
            <a:r>
              <a:rPr lang="en-US" sz="1300" kern="0" spc="-80" dirty="0">
                <a:solidFill>
                  <a:schemeClr val="accent6"/>
                </a:solidFill>
              </a:rPr>
              <a:t>TOGAF (The Open Group Architecture Framework) is a framework for designing, planning, implementing, and governing enterprise architecture. The heart of TOGAF is the ADM (Architecture Development Method) — a step-by-step, iterative process for developing and evolving enterprise architecture.</a:t>
            </a:r>
          </a:p>
          <a:p>
            <a:pPr marL="12700" marR="5080"/>
            <a:r>
              <a:rPr lang="en-US" sz="1300" kern="0" spc="-80" dirty="0">
                <a:solidFill>
                  <a:schemeClr val="accent2"/>
                </a:solidFill>
              </a:rPr>
              <a:t>ADM (Architecture Development Method) – Overview</a:t>
            </a:r>
          </a:p>
          <a:p>
            <a:pPr marL="12700" marR="5080"/>
            <a:r>
              <a:rPr lang="en-US" sz="1300" kern="0" spc="-80" dirty="0">
                <a:solidFill>
                  <a:schemeClr val="accent6"/>
                </a:solidFill>
              </a:rPr>
              <a:t>The ADM is a cycle that you repeat continuously. Each iteration can update one layer or the entire architecture.</a:t>
            </a:r>
          </a:p>
          <a:p>
            <a:pPr marL="12700" marR="5080"/>
            <a:r>
              <a:rPr lang="en-US" sz="1300" kern="0" spc="-80" dirty="0">
                <a:solidFill>
                  <a:schemeClr val="accent6"/>
                </a:solidFill>
              </a:rPr>
              <a:t>      Preliminary</a:t>
            </a:r>
          </a:p>
          <a:p>
            <a:pPr marL="12700" marR="5080"/>
            <a:r>
              <a:rPr lang="en-US" sz="1300" kern="0" spc="-80" dirty="0">
                <a:solidFill>
                  <a:schemeClr val="accent6"/>
                </a:solidFill>
              </a:rPr>
              <a:t>           ↓</a:t>
            </a:r>
          </a:p>
          <a:p>
            <a:pPr marL="12700" marR="5080"/>
            <a:r>
              <a:rPr lang="en-US" sz="1300" kern="0" spc="-80" dirty="0">
                <a:solidFill>
                  <a:schemeClr val="accent6"/>
                </a:solidFill>
              </a:rPr>
              <a:t>       A. Architecture Vision</a:t>
            </a:r>
          </a:p>
          <a:p>
            <a:pPr marL="12700" marR="5080"/>
            <a:r>
              <a:rPr lang="en-US" sz="1300" kern="0" spc="-80" dirty="0">
                <a:solidFill>
                  <a:schemeClr val="accent6"/>
                </a:solidFill>
              </a:rPr>
              <a:t>           ↓</a:t>
            </a:r>
          </a:p>
          <a:p>
            <a:pPr marL="12700" marR="5080"/>
            <a:r>
              <a:rPr lang="en-US" sz="1300" kern="0" spc="-80" dirty="0">
                <a:solidFill>
                  <a:schemeClr val="accent6"/>
                </a:solidFill>
              </a:rPr>
              <a:t>       B. Business Architecture</a:t>
            </a:r>
          </a:p>
          <a:p>
            <a:pPr marL="12700" marR="5080"/>
            <a:r>
              <a:rPr lang="en-US" sz="1300" kern="0" spc="-80" dirty="0">
                <a:solidFill>
                  <a:schemeClr val="accent6"/>
                </a:solidFill>
              </a:rPr>
              <a:t>           ↓</a:t>
            </a:r>
          </a:p>
          <a:p>
            <a:pPr marL="12700" marR="5080"/>
            <a:r>
              <a:rPr lang="en-US" sz="1300" kern="0" spc="-80" dirty="0">
                <a:solidFill>
                  <a:schemeClr val="accent6"/>
                </a:solidFill>
              </a:rPr>
              <a:t>       C. Information Systems Architecture</a:t>
            </a:r>
          </a:p>
          <a:p>
            <a:pPr marL="12700" marR="5080"/>
            <a:r>
              <a:rPr lang="en-US" sz="1300" kern="0" spc="-80" dirty="0">
                <a:solidFill>
                  <a:schemeClr val="accent6"/>
                </a:solidFill>
              </a:rPr>
              <a:t>             (Data + Application)</a:t>
            </a:r>
          </a:p>
          <a:p>
            <a:pPr marL="12700" marR="5080"/>
            <a:r>
              <a:rPr lang="en-US" sz="1300" kern="0" spc="-80" dirty="0">
                <a:solidFill>
                  <a:schemeClr val="accent6"/>
                </a:solidFill>
              </a:rPr>
              <a:t>           ↓</a:t>
            </a:r>
          </a:p>
          <a:p>
            <a:pPr marL="12700" marR="5080"/>
            <a:r>
              <a:rPr lang="en-US" sz="1300" kern="0" spc="-80" dirty="0">
                <a:solidFill>
                  <a:schemeClr val="accent6"/>
                </a:solidFill>
              </a:rPr>
              <a:t>       D. Technology Architecture</a:t>
            </a:r>
          </a:p>
          <a:p>
            <a:pPr marL="12700" marR="5080"/>
            <a:r>
              <a:rPr lang="en-US" sz="1300" kern="0" spc="-80" dirty="0">
                <a:solidFill>
                  <a:schemeClr val="accent6"/>
                </a:solidFill>
              </a:rPr>
              <a:t>           ↓</a:t>
            </a:r>
          </a:p>
          <a:p>
            <a:pPr marL="12700" marR="5080"/>
            <a:r>
              <a:rPr lang="en-US" sz="1300" kern="0" spc="-80" dirty="0">
                <a:solidFill>
                  <a:schemeClr val="accent6"/>
                </a:solidFill>
              </a:rPr>
              <a:t>       E. Opportunities &amp; Solutions</a:t>
            </a:r>
          </a:p>
          <a:p>
            <a:pPr marL="12700" marR="5080"/>
            <a:r>
              <a:rPr lang="en-US" sz="1300" kern="0" spc="-80" dirty="0">
                <a:solidFill>
                  <a:schemeClr val="accent6"/>
                </a:solidFill>
              </a:rPr>
              <a:t>           ↓</a:t>
            </a:r>
          </a:p>
          <a:p>
            <a:pPr marL="12700" marR="5080"/>
            <a:r>
              <a:rPr lang="en-US" sz="1300" kern="0" spc="-80" dirty="0">
                <a:solidFill>
                  <a:schemeClr val="accent6"/>
                </a:solidFill>
              </a:rPr>
              <a:t>       F. Migration Planning</a:t>
            </a:r>
          </a:p>
          <a:p>
            <a:pPr marL="12700" marR="5080"/>
            <a:r>
              <a:rPr lang="en-US" sz="1300" kern="0" spc="-80" dirty="0">
                <a:solidFill>
                  <a:schemeClr val="accent6"/>
                </a:solidFill>
              </a:rPr>
              <a:t>           ↓</a:t>
            </a:r>
          </a:p>
          <a:p>
            <a:pPr marL="12700" marR="5080"/>
            <a:r>
              <a:rPr lang="en-US" sz="1300" kern="0" spc="-80" dirty="0">
                <a:solidFill>
                  <a:schemeClr val="accent6"/>
                </a:solidFill>
              </a:rPr>
              <a:t>       G. Implementation Governance</a:t>
            </a:r>
          </a:p>
          <a:p>
            <a:pPr marL="12700" marR="5080"/>
            <a:r>
              <a:rPr lang="en-US" sz="1300" kern="0" spc="-80" dirty="0">
                <a:solidFill>
                  <a:schemeClr val="accent6"/>
                </a:solidFill>
              </a:rPr>
              <a:t>           ↓</a:t>
            </a:r>
          </a:p>
          <a:p>
            <a:pPr marL="12700" marR="5080"/>
            <a:r>
              <a:rPr lang="en-US" sz="1300" kern="0" spc="-80" dirty="0">
                <a:solidFill>
                  <a:schemeClr val="accent6"/>
                </a:solidFill>
              </a:rPr>
              <a:t>       H. Architecture Change Management</a:t>
            </a:r>
          </a:p>
          <a:p>
            <a:pPr marL="12700" marR="5080"/>
            <a:r>
              <a:rPr lang="en-US" sz="1300" kern="0" spc="-80" dirty="0">
                <a:solidFill>
                  <a:schemeClr val="accent6"/>
                </a:solidFill>
              </a:rPr>
              <a:t>           ↺ (back to A/B/C etc.)</a:t>
            </a:r>
          </a:p>
          <a:p>
            <a:pPr marL="12700" marR="5080"/>
            <a:r>
              <a:rPr lang="en-US" sz="1300" kern="0" spc="-80" dirty="0">
                <a:solidFill>
                  <a:schemeClr val="accent6"/>
                </a:solidFill>
              </a:rPr>
              <a:t>Additionally, the Requirements Management phase runs through all phases.</a:t>
            </a:r>
          </a:p>
        </p:txBody>
      </p:sp>
    </p:spTree>
    <p:extLst>
      <p:ext uri="{BB962C8B-B14F-4D97-AF65-F5344CB8AC3E}">
        <p14:creationId xmlns:p14="http://schemas.microsoft.com/office/powerpoint/2010/main" val="1046292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CED3F-829C-F391-7F77-C16F45D7247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ED76A3-428B-C420-81AB-0E79B797412A}"/>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EA5E1E-ABAF-7EB8-79FB-E2971323985C}"/>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E7CC427-8FD6-0236-00FE-8F223B470D3E}"/>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00F7B61A-B356-BA96-F22B-4D6601ADD5DC}"/>
              </a:ext>
            </a:extLst>
          </p:cNvPr>
          <p:cNvSpPr txBox="1">
            <a:spLocks/>
          </p:cNvSpPr>
          <p:nvPr/>
        </p:nvSpPr>
        <p:spPr>
          <a:xfrm>
            <a:off x="313400" y="694301"/>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Preliminary Phase – Prepare &amp; Set the Stage</a:t>
            </a:r>
          </a:p>
          <a:p>
            <a:pPr marL="12700" marR="5080"/>
            <a:r>
              <a:rPr lang="en-US" sz="1400" kern="0" spc="-80" dirty="0">
                <a:solidFill>
                  <a:schemeClr val="accent2"/>
                </a:solidFill>
              </a:rPr>
              <a:t>Purpose</a:t>
            </a:r>
          </a:p>
          <a:p>
            <a:pPr marL="12700" marR="5080"/>
            <a:r>
              <a:rPr lang="en-US" sz="1400" kern="0" spc="-80" dirty="0">
                <a:solidFill>
                  <a:schemeClr val="accent2"/>
                </a:solidFill>
              </a:rPr>
              <a:t>Define:</a:t>
            </a:r>
          </a:p>
          <a:p>
            <a:pPr marL="12700" marR="5080"/>
            <a:r>
              <a:rPr lang="en-US" sz="1400" kern="0" spc="-80" dirty="0">
                <a:solidFill>
                  <a:schemeClr val="accent6"/>
                </a:solidFill>
              </a:rPr>
              <a:t>Why we are doing architecture</a:t>
            </a:r>
          </a:p>
          <a:p>
            <a:pPr marL="12700" marR="5080"/>
            <a:r>
              <a:rPr lang="en-US" sz="1400" kern="0" spc="-80" dirty="0">
                <a:solidFill>
                  <a:schemeClr val="accent6"/>
                </a:solidFill>
              </a:rPr>
              <a:t>Scope of transformation</a:t>
            </a:r>
          </a:p>
          <a:p>
            <a:pPr marL="12700" marR="5080"/>
            <a:r>
              <a:rPr lang="en-US" sz="1400" kern="0" spc="-80" dirty="0">
                <a:solidFill>
                  <a:schemeClr val="accent6"/>
                </a:solidFill>
              </a:rPr>
              <a:t>Architecture principles</a:t>
            </a:r>
          </a:p>
          <a:p>
            <a:pPr marL="12700" marR="5080"/>
            <a:r>
              <a:rPr lang="en-US" sz="1400" kern="0" spc="-80" dirty="0">
                <a:solidFill>
                  <a:schemeClr val="accent6"/>
                </a:solidFill>
              </a:rPr>
              <a:t>Governance model</a:t>
            </a:r>
          </a:p>
          <a:p>
            <a:pPr marL="12700" marR="5080"/>
            <a:r>
              <a:rPr lang="en-US" sz="1400" kern="0" spc="-80" dirty="0">
                <a:solidFill>
                  <a:schemeClr val="accent6"/>
                </a:solidFill>
              </a:rPr>
              <a:t>Tools and repository</a:t>
            </a:r>
          </a:p>
          <a:p>
            <a:pPr marL="12700" marR="5080"/>
            <a:r>
              <a:rPr lang="en-US" sz="1400" kern="0" spc="-80" dirty="0">
                <a:solidFill>
                  <a:schemeClr val="accent2"/>
                </a:solidFill>
              </a:rPr>
              <a:t>Key Outputs</a:t>
            </a:r>
          </a:p>
          <a:p>
            <a:pPr marL="12700" marR="5080"/>
            <a:r>
              <a:rPr lang="en-US" sz="1400" kern="0" spc="-80" dirty="0">
                <a:solidFill>
                  <a:schemeClr val="accent6"/>
                </a:solidFill>
              </a:rPr>
              <a:t>Organizational context</a:t>
            </a:r>
          </a:p>
          <a:p>
            <a:pPr marL="12700" marR="5080"/>
            <a:r>
              <a:rPr lang="en-US" sz="1400" kern="0" spc="-80" dirty="0">
                <a:solidFill>
                  <a:schemeClr val="accent6"/>
                </a:solidFill>
              </a:rPr>
              <a:t>Architecture principles (e.g., reuse before buy before build)</a:t>
            </a:r>
          </a:p>
          <a:p>
            <a:pPr marL="12700" marR="5080"/>
            <a:r>
              <a:rPr lang="en-US" sz="1400" kern="0" spc="-80" dirty="0">
                <a:solidFill>
                  <a:schemeClr val="accent6"/>
                </a:solidFill>
              </a:rPr>
              <a:t>Architecture governance framework</a:t>
            </a:r>
          </a:p>
          <a:p>
            <a:pPr marL="12700" marR="5080"/>
            <a:r>
              <a:rPr lang="en-US" sz="1400" kern="0" spc="-80" dirty="0">
                <a:solidFill>
                  <a:schemeClr val="accent6"/>
                </a:solidFill>
              </a:rPr>
              <a:t>EA repository structure</a:t>
            </a:r>
          </a:p>
          <a:p>
            <a:pPr marL="12700" marR="5080"/>
            <a:r>
              <a:rPr lang="en-US" sz="1400" kern="0" spc="-80" dirty="0">
                <a:solidFill>
                  <a:schemeClr val="accent2"/>
                </a:solidFill>
              </a:rPr>
              <a:t>Phase A: Architecture Vision</a:t>
            </a:r>
          </a:p>
          <a:p>
            <a:pPr marL="12700" marR="5080"/>
            <a:r>
              <a:rPr lang="en-US" sz="1400" kern="0" spc="-80" dirty="0">
                <a:solidFill>
                  <a:schemeClr val="accent2"/>
                </a:solidFill>
              </a:rPr>
              <a:t>Purpose</a:t>
            </a:r>
          </a:p>
          <a:p>
            <a:pPr marL="12700" marR="5080"/>
            <a:r>
              <a:rPr lang="en-US" sz="1400" kern="0" spc="-80" dirty="0">
                <a:solidFill>
                  <a:schemeClr val="accent6"/>
                </a:solidFill>
              </a:rPr>
              <a:t>Create a high-level vision to:</a:t>
            </a:r>
          </a:p>
          <a:p>
            <a:pPr marL="12700" marR="5080"/>
            <a:r>
              <a:rPr lang="en-US" sz="1400" kern="0" spc="-80" dirty="0">
                <a:solidFill>
                  <a:schemeClr val="accent6"/>
                </a:solidFill>
              </a:rPr>
              <a:t>Align stakeholders</a:t>
            </a:r>
          </a:p>
          <a:p>
            <a:pPr marL="12700" marR="5080"/>
            <a:r>
              <a:rPr lang="en-US" sz="1400" kern="0" spc="-80" dirty="0">
                <a:solidFill>
                  <a:schemeClr val="accent6"/>
                </a:solidFill>
              </a:rPr>
              <a:t>Secure funding and approval</a:t>
            </a:r>
          </a:p>
          <a:p>
            <a:pPr marL="12700" marR="5080"/>
            <a:r>
              <a:rPr lang="en-US" sz="1400" kern="0" spc="-80" dirty="0">
                <a:solidFill>
                  <a:schemeClr val="accent6"/>
                </a:solidFill>
              </a:rPr>
              <a:t>Set initial scope and boundaries</a:t>
            </a:r>
          </a:p>
          <a:p>
            <a:pPr marL="12700" marR="5080"/>
            <a:r>
              <a:rPr lang="en-US" sz="1400" kern="0" spc="-80" dirty="0">
                <a:solidFill>
                  <a:schemeClr val="accent2"/>
                </a:solidFill>
              </a:rPr>
              <a:t>Activities</a:t>
            </a:r>
          </a:p>
          <a:p>
            <a:pPr marL="12700" marR="5080"/>
            <a:r>
              <a:rPr lang="en-US" sz="1400" kern="0" spc="-80" dirty="0">
                <a:solidFill>
                  <a:schemeClr val="accent6"/>
                </a:solidFill>
              </a:rPr>
              <a:t>Identify stakeholders</a:t>
            </a:r>
          </a:p>
          <a:p>
            <a:pPr marL="12700" marR="5080"/>
            <a:r>
              <a:rPr lang="en-US" sz="1400" kern="0" spc="-80" dirty="0">
                <a:solidFill>
                  <a:schemeClr val="accent6"/>
                </a:solidFill>
              </a:rPr>
              <a:t>Define business context and drivers</a:t>
            </a:r>
          </a:p>
          <a:p>
            <a:pPr marL="12700" marR="5080"/>
            <a:r>
              <a:rPr lang="en-US" sz="1400" kern="0" spc="-80" dirty="0">
                <a:solidFill>
                  <a:schemeClr val="accent6"/>
                </a:solidFill>
              </a:rPr>
              <a:t>Form a high-level Target Architecture (not detailed yet)</a:t>
            </a:r>
          </a:p>
          <a:p>
            <a:pPr marL="12700" marR="5080"/>
            <a:r>
              <a:rPr lang="en-US" sz="1400" kern="0" spc="-80" dirty="0">
                <a:solidFill>
                  <a:schemeClr val="accent6"/>
                </a:solidFill>
              </a:rPr>
              <a:t>Develop the Business Case</a:t>
            </a:r>
          </a:p>
          <a:p>
            <a:pPr marL="12700" marR="5080"/>
            <a:r>
              <a:rPr lang="en-US" sz="1400" kern="0" spc="-80" dirty="0">
                <a:solidFill>
                  <a:schemeClr val="accent6"/>
                </a:solidFill>
              </a:rPr>
              <a:t>Create Architecture Vision Document</a:t>
            </a:r>
          </a:p>
        </p:txBody>
      </p:sp>
    </p:spTree>
    <p:extLst>
      <p:ext uri="{BB962C8B-B14F-4D97-AF65-F5344CB8AC3E}">
        <p14:creationId xmlns:p14="http://schemas.microsoft.com/office/powerpoint/2010/main" val="41604583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C2B83-2B36-7498-E434-AC3553F194F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40F0D54-90D8-07DC-C648-ED22A939A2BF}"/>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33B5EB-BDB4-7F16-C6DF-3B700B29BFFD}"/>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0C98B5D-88FE-3886-8A66-8C628BFFFC34}"/>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406A249D-1984-351F-B288-0AF55AC8DE83}"/>
              </a:ext>
            </a:extLst>
          </p:cNvPr>
          <p:cNvSpPr txBox="1">
            <a:spLocks/>
          </p:cNvSpPr>
          <p:nvPr/>
        </p:nvSpPr>
        <p:spPr>
          <a:xfrm>
            <a:off x="313400" y="694301"/>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Outputs</a:t>
            </a:r>
          </a:p>
          <a:p>
            <a:pPr marL="12700" marR="5080"/>
            <a:r>
              <a:rPr lang="en-US" sz="1400" kern="0" spc="-80" dirty="0">
                <a:solidFill>
                  <a:schemeClr val="accent6"/>
                </a:solidFill>
              </a:rPr>
              <a:t>Statement of Architecture Work</a:t>
            </a:r>
          </a:p>
          <a:p>
            <a:pPr marL="12700" marR="5080"/>
            <a:r>
              <a:rPr lang="en-US" sz="1400" kern="0" spc="-80" dirty="0">
                <a:solidFill>
                  <a:schemeClr val="accent6"/>
                </a:solidFill>
              </a:rPr>
              <a:t>Architecture Vision (with high-level diagrams)</a:t>
            </a:r>
          </a:p>
          <a:p>
            <a:pPr marL="12700" marR="5080"/>
            <a:r>
              <a:rPr lang="en-US" sz="1400" kern="0" spc="-80" dirty="0">
                <a:solidFill>
                  <a:schemeClr val="accent6"/>
                </a:solidFill>
              </a:rPr>
              <a:t>Stakeholder maps and communication plan</a:t>
            </a:r>
          </a:p>
          <a:p>
            <a:pPr marL="12700" marR="5080"/>
            <a:r>
              <a:rPr lang="en-US" sz="1400" kern="0" spc="-80" dirty="0">
                <a:solidFill>
                  <a:schemeClr val="accent2"/>
                </a:solidFill>
              </a:rPr>
              <a:t>Phase B: Business Architecture</a:t>
            </a:r>
          </a:p>
          <a:p>
            <a:pPr marL="12700" marR="5080"/>
            <a:r>
              <a:rPr lang="en-US" sz="1400" kern="0" spc="-80" dirty="0">
                <a:solidFill>
                  <a:schemeClr val="accent2"/>
                </a:solidFill>
              </a:rPr>
              <a:t>Purpose</a:t>
            </a:r>
          </a:p>
          <a:p>
            <a:pPr marL="12700" marR="5080"/>
            <a:r>
              <a:rPr lang="en-US" sz="1400" kern="0" spc="-80" dirty="0">
                <a:solidFill>
                  <a:schemeClr val="accent6"/>
                </a:solidFill>
              </a:rPr>
              <a:t>Define the Target Business Architecture:</a:t>
            </a:r>
          </a:p>
          <a:p>
            <a:pPr marL="12700" marR="5080"/>
            <a:r>
              <a:rPr lang="en-US" sz="1400" kern="0" spc="-80" dirty="0">
                <a:solidFill>
                  <a:schemeClr val="accent6"/>
                </a:solidFill>
              </a:rPr>
              <a:t>Business capabilities</a:t>
            </a:r>
          </a:p>
          <a:p>
            <a:pPr marL="12700" marR="5080"/>
            <a:r>
              <a:rPr lang="en-US" sz="1400" kern="0" spc="-80" dirty="0">
                <a:solidFill>
                  <a:schemeClr val="accent2"/>
                </a:solidFill>
              </a:rPr>
              <a:t>Processes</a:t>
            </a:r>
          </a:p>
          <a:p>
            <a:pPr marL="12700" marR="5080"/>
            <a:r>
              <a:rPr lang="en-US" sz="1400" kern="0" spc="-80" dirty="0">
                <a:solidFill>
                  <a:schemeClr val="accent6"/>
                </a:solidFill>
              </a:rPr>
              <a:t>Organization structure</a:t>
            </a:r>
          </a:p>
          <a:p>
            <a:pPr marL="12700" marR="5080"/>
            <a:r>
              <a:rPr lang="en-US" sz="1400" kern="0" spc="-80" dirty="0">
                <a:solidFill>
                  <a:schemeClr val="accent6"/>
                </a:solidFill>
              </a:rPr>
              <a:t>Value streams</a:t>
            </a:r>
          </a:p>
          <a:p>
            <a:pPr marL="12700" marR="5080"/>
            <a:r>
              <a:rPr lang="en-US" sz="1400" kern="0" spc="-80" dirty="0">
                <a:solidFill>
                  <a:schemeClr val="accent6"/>
                </a:solidFill>
              </a:rPr>
              <a:t>Business rules</a:t>
            </a:r>
          </a:p>
          <a:p>
            <a:pPr marL="12700" marR="5080"/>
            <a:r>
              <a:rPr lang="en-US" sz="1400" kern="0" spc="-80" dirty="0">
                <a:solidFill>
                  <a:schemeClr val="accent2"/>
                </a:solidFill>
              </a:rPr>
              <a:t>Inputs</a:t>
            </a:r>
          </a:p>
          <a:p>
            <a:pPr marL="12700" marR="5080"/>
            <a:r>
              <a:rPr lang="en-US" sz="1400" kern="0" spc="-80" dirty="0">
                <a:solidFill>
                  <a:schemeClr val="accent6"/>
                </a:solidFill>
              </a:rPr>
              <a:t>Architecture Vision</a:t>
            </a:r>
          </a:p>
          <a:p>
            <a:pPr marL="12700" marR="5080"/>
            <a:r>
              <a:rPr lang="en-US" sz="1400" kern="0" spc="-80" dirty="0">
                <a:solidFill>
                  <a:schemeClr val="accent6"/>
                </a:solidFill>
              </a:rPr>
              <a:t>Business strategies</a:t>
            </a:r>
          </a:p>
          <a:p>
            <a:pPr marL="12700" marR="5080"/>
            <a:r>
              <a:rPr lang="en-US" sz="1400" kern="0" spc="-80" dirty="0">
                <a:solidFill>
                  <a:schemeClr val="accent2"/>
                </a:solidFill>
              </a:rPr>
              <a:t>Activitie</a:t>
            </a:r>
            <a:r>
              <a:rPr lang="en-US" sz="1400" kern="0" spc="-80" dirty="0">
                <a:solidFill>
                  <a:schemeClr val="accent6"/>
                </a:solidFill>
              </a:rPr>
              <a:t>s</a:t>
            </a:r>
          </a:p>
          <a:p>
            <a:pPr marL="12700" marR="5080"/>
            <a:r>
              <a:rPr lang="en-US" sz="1400" kern="0" spc="-80" dirty="0">
                <a:solidFill>
                  <a:schemeClr val="accent6"/>
                </a:solidFill>
              </a:rPr>
              <a:t>Baseline Business Architecture (current state As-Is)</a:t>
            </a:r>
          </a:p>
          <a:p>
            <a:pPr marL="12700" marR="5080"/>
            <a:r>
              <a:rPr lang="en-US" sz="1400" kern="0" spc="-80" dirty="0">
                <a:solidFill>
                  <a:schemeClr val="accent6"/>
                </a:solidFill>
              </a:rPr>
              <a:t>Target Business Architecture (future state To-Be)</a:t>
            </a:r>
          </a:p>
          <a:p>
            <a:pPr marL="12700" marR="5080"/>
            <a:r>
              <a:rPr lang="en-US" sz="1400" kern="0" spc="-80" dirty="0">
                <a:solidFill>
                  <a:schemeClr val="accent6"/>
                </a:solidFill>
              </a:rPr>
              <a:t>Identify gaps (Gap Analysis)</a:t>
            </a:r>
          </a:p>
          <a:p>
            <a:pPr marL="12700" marR="5080"/>
            <a:r>
              <a:rPr lang="en-US" sz="1400" kern="0" spc="-80" dirty="0">
                <a:solidFill>
                  <a:schemeClr val="accent2"/>
                </a:solidFill>
              </a:rPr>
              <a:t>Outputs</a:t>
            </a:r>
          </a:p>
          <a:p>
            <a:pPr marL="12700" marR="5080"/>
            <a:r>
              <a:rPr lang="en-US" sz="1400" kern="0" spc="-80" dirty="0">
                <a:solidFill>
                  <a:schemeClr val="accent6"/>
                </a:solidFill>
              </a:rPr>
              <a:t>Business Capability Model</a:t>
            </a:r>
          </a:p>
          <a:p>
            <a:pPr marL="12700" marR="5080"/>
            <a:r>
              <a:rPr lang="en-US" sz="1400" kern="0" spc="-80" dirty="0">
                <a:solidFill>
                  <a:schemeClr val="accent6"/>
                </a:solidFill>
              </a:rPr>
              <a:t>Value Stream Maps</a:t>
            </a:r>
          </a:p>
          <a:p>
            <a:pPr marL="12700" marR="5080"/>
            <a:r>
              <a:rPr lang="en-US" sz="1400" kern="0" spc="-80" dirty="0">
                <a:solidFill>
                  <a:schemeClr val="accent6"/>
                </a:solidFill>
              </a:rPr>
              <a:t>Business Process Models</a:t>
            </a:r>
          </a:p>
          <a:p>
            <a:pPr marL="12700" marR="5080"/>
            <a:r>
              <a:rPr lang="en-US" sz="1400" kern="0" spc="-80" dirty="0">
                <a:solidFill>
                  <a:schemeClr val="accent6"/>
                </a:solidFill>
              </a:rPr>
              <a:t>Business Domain/Data impact analysis</a:t>
            </a:r>
          </a:p>
        </p:txBody>
      </p:sp>
    </p:spTree>
    <p:extLst>
      <p:ext uri="{BB962C8B-B14F-4D97-AF65-F5344CB8AC3E}">
        <p14:creationId xmlns:p14="http://schemas.microsoft.com/office/powerpoint/2010/main" val="12009864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41A53-41EC-407B-7026-A1CE2F889D3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0B61D2-9DE3-F30E-EB8E-9486342785AF}"/>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EF5B268-983F-7955-B87F-2400A162729E}"/>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B25ED5-151F-9158-186E-BBE79BEDCAB8}"/>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81924F79-7405-F655-7F74-F66AB57D012F}"/>
              </a:ext>
            </a:extLst>
          </p:cNvPr>
          <p:cNvSpPr txBox="1">
            <a:spLocks/>
          </p:cNvSpPr>
          <p:nvPr/>
        </p:nvSpPr>
        <p:spPr>
          <a:xfrm>
            <a:off x="313400" y="694301"/>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Phase C: Information Systems Architectures</a:t>
            </a:r>
          </a:p>
          <a:p>
            <a:pPr marL="12700" marR="5080"/>
            <a:r>
              <a:rPr lang="en-US" sz="1400" kern="0" spc="-80" dirty="0">
                <a:solidFill>
                  <a:schemeClr val="accent2"/>
                </a:solidFill>
              </a:rPr>
              <a:t>Divided into:</a:t>
            </a:r>
          </a:p>
          <a:p>
            <a:pPr marL="12700" marR="5080"/>
            <a:r>
              <a:rPr lang="en-US" sz="1400" kern="0" spc="-80" dirty="0">
                <a:solidFill>
                  <a:schemeClr val="accent6"/>
                </a:solidFill>
              </a:rPr>
              <a:t>Data Architecture</a:t>
            </a:r>
          </a:p>
          <a:p>
            <a:pPr marL="12700" marR="5080"/>
            <a:r>
              <a:rPr lang="en-US" sz="1400" kern="0" spc="-80" dirty="0">
                <a:solidFill>
                  <a:schemeClr val="accent6"/>
                </a:solidFill>
              </a:rPr>
              <a:t>Application Architecture</a:t>
            </a:r>
          </a:p>
          <a:p>
            <a:pPr marL="12700" marR="5080"/>
            <a:r>
              <a:rPr lang="en-US" sz="1400" kern="0" spc="-80" dirty="0">
                <a:solidFill>
                  <a:schemeClr val="accent2"/>
                </a:solidFill>
              </a:rPr>
              <a:t>C1. Data Architecture</a:t>
            </a:r>
          </a:p>
          <a:p>
            <a:pPr marL="12700" marR="5080"/>
            <a:r>
              <a:rPr lang="en-US" sz="1400" kern="0" spc="-80" dirty="0">
                <a:solidFill>
                  <a:schemeClr val="accent2"/>
                </a:solidFill>
              </a:rPr>
              <a:t>Define:</a:t>
            </a:r>
          </a:p>
          <a:p>
            <a:pPr marL="12700" marR="5080"/>
            <a:r>
              <a:rPr lang="en-US" sz="1400" kern="0" spc="-80" dirty="0">
                <a:solidFill>
                  <a:schemeClr val="accent6"/>
                </a:solidFill>
              </a:rPr>
              <a:t>Data entities &amp; relationships</a:t>
            </a:r>
          </a:p>
          <a:p>
            <a:pPr marL="12700" marR="5080"/>
            <a:r>
              <a:rPr lang="en-US" sz="1400" kern="0" spc="-80" dirty="0">
                <a:solidFill>
                  <a:schemeClr val="accent6"/>
                </a:solidFill>
              </a:rPr>
              <a:t>Data ownership</a:t>
            </a:r>
          </a:p>
          <a:p>
            <a:pPr marL="12700" marR="5080"/>
            <a:r>
              <a:rPr lang="en-US" sz="1400" kern="0" spc="-80" dirty="0">
                <a:solidFill>
                  <a:schemeClr val="accent6"/>
                </a:solidFill>
              </a:rPr>
              <a:t>Data flows &amp; lifecycle</a:t>
            </a:r>
          </a:p>
          <a:p>
            <a:pPr marL="12700" marR="5080"/>
            <a:r>
              <a:rPr lang="en-US" sz="1400" kern="0" spc="-80" dirty="0">
                <a:solidFill>
                  <a:schemeClr val="accent6"/>
                </a:solidFill>
              </a:rPr>
              <a:t>Master data boundaries</a:t>
            </a:r>
          </a:p>
          <a:p>
            <a:pPr marL="12700" marR="5080"/>
            <a:r>
              <a:rPr lang="en-US" sz="1400" kern="0" spc="-80" dirty="0">
                <a:solidFill>
                  <a:schemeClr val="accent2"/>
                </a:solidFill>
              </a:rPr>
              <a:t>C2. Application Architecture</a:t>
            </a:r>
          </a:p>
          <a:p>
            <a:pPr marL="12700" marR="5080"/>
            <a:r>
              <a:rPr lang="en-US" sz="1400" kern="0" spc="-80" dirty="0">
                <a:solidFill>
                  <a:schemeClr val="accent2"/>
                </a:solidFill>
              </a:rPr>
              <a:t>Define:</a:t>
            </a:r>
          </a:p>
          <a:p>
            <a:pPr marL="12700" marR="5080"/>
            <a:r>
              <a:rPr lang="en-US" sz="1400" kern="0" spc="-80" dirty="0">
                <a:solidFill>
                  <a:schemeClr val="accent6"/>
                </a:solidFill>
              </a:rPr>
              <a:t>Application components &amp; services</a:t>
            </a:r>
          </a:p>
          <a:p>
            <a:pPr marL="12700" marR="5080"/>
            <a:r>
              <a:rPr lang="en-US" sz="1400" kern="0" spc="-80" dirty="0">
                <a:solidFill>
                  <a:schemeClr val="accent6"/>
                </a:solidFill>
              </a:rPr>
              <a:t>Integration patterns (e.g., API, ESB, events)</a:t>
            </a:r>
          </a:p>
          <a:p>
            <a:pPr marL="12700" marR="5080"/>
            <a:r>
              <a:rPr lang="en-US" sz="1400" kern="0" spc="-80" dirty="0">
                <a:solidFill>
                  <a:schemeClr val="accent6"/>
                </a:solidFill>
              </a:rPr>
              <a:t>Application-to-capability mapping</a:t>
            </a:r>
          </a:p>
          <a:p>
            <a:pPr marL="12700" marR="5080"/>
            <a:r>
              <a:rPr lang="en-US" sz="1400" kern="0" spc="-80" dirty="0">
                <a:solidFill>
                  <a:schemeClr val="accent2"/>
                </a:solidFill>
              </a:rPr>
              <a:t>Outputs (combined)</a:t>
            </a:r>
          </a:p>
          <a:p>
            <a:pPr marL="12700" marR="5080"/>
            <a:r>
              <a:rPr lang="en-US" sz="1400" kern="0" spc="-80" dirty="0">
                <a:solidFill>
                  <a:schemeClr val="accent6"/>
                </a:solidFill>
              </a:rPr>
              <a:t>Logical Data Model</a:t>
            </a:r>
          </a:p>
          <a:p>
            <a:pPr marL="12700" marR="5080"/>
            <a:r>
              <a:rPr lang="en-US" sz="1400" kern="0" spc="-80" dirty="0">
                <a:solidFill>
                  <a:schemeClr val="accent6"/>
                </a:solidFill>
              </a:rPr>
              <a:t>Application Interaction Diagram</a:t>
            </a:r>
          </a:p>
          <a:p>
            <a:pPr marL="12700" marR="5080"/>
            <a:r>
              <a:rPr lang="en-US" sz="1400" kern="0" spc="-80" dirty="0">
                <a:solidFill>
                  <a:schemeClr val="accent6"/>
                </a:solidFill>
              </a:rPr>
              <a:t>Data/Application Gap Analysis</a:t>
            </a:r>
          </a:p>
          <a:p>
            <a:pPr marL="12700" marR="5080"/>
            <a:r>
              <a:rPr lang="en-US" sz="1400" kern="0" spc="-80" dirty="0">
                <a:solidFill>
                  <a:schemeClr val="accent2"/>
                </a:solidFill>
              </a:rPr>
              <a:t>Phase D: Technology Architecture</a:t>
            </a:r>
          </a:p>
          <a:p>
            <a:pPr marL="12700" marR="5080"/>
            <a:r>
              <a:rPr lang="en-US" sz="1400" kern="0" spc="-80" dirty="0">
                <a:solidFill>
                  <a:schemeClr val="accent2"/>
                </a:solidFill>
              </a:rPr>
              <a:t>Purpose</a:t>
            </a:r>
          </a:p>
          <a:p>
            <a:pPr marL="12700" marR="5080"/>
            <a:r>
              <a:rPr lang="en-US" sz="1400" kern="0" spc="-80" dirty="0">
                <a:solidFill>
                  <a:schemeClr val="accent6"/>
                </a:solidFill>
              </a:rPr>
              <a:t>Define the technical platform needed to realize the applications &amp; data.</a:t>
            </a:r>
          </a:p>
          <a:p>
            <a:pPr marL="12700" marR="5080"/>
            <a:r>
              <a:rPr lang="en-US" sz="1400" kern="0" spc="-80" dirty="0">
                <a:solidFill>
                  <a:schemeClr val="accent2"/>
                </a:solidFill>
              </a:rPr>
              <a:t>This includes:</a:t>
            </a:r>
          </a:p>
          <a:p>
            <a:pPr marL="12700" marR="5080"/>
            <a:r>
              <a:rPr lang="en-US" sz="1400" kern="0" spc="-80" dirty="0">
                <a:solidFill>
                  <a:schemeClr val="accent6"/>
                </a:solidFill>
              </a:rPr>
              <a:t>Infrastructure</a:t>
            </a:r>
          </a:p>
          <a:p>
            <a:pPr marL="12700" marR="5080"/>
            <a:r>
              <a:rPr lang="en-US" sz="1400" kern="0" spc="-80" dirty="0">
                <a:solidFill>
                  <a:schemeClr val="accent6"/>
                </a:solidFill>
              </a:rPr>
              <a:t>Networking</a:t>
            </a:r>
          </a:p>
        </p:txBody>
      </p:sp>
    </p:spTree>
    <p:extLst>
      <p:ext uri="{BB962C8B-B14F-4D97-AF65-F5344CB8AC3E}">
        <p14:creationId xmlns:p14="http://schemas.microsoft.com/office/powerpoint/2010/main" val="9585608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17C5A-0656-BD3B-7985-FCFDF35C324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A6698F6-8B3A-6151-52ED-55FAF8765AC7}"/>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48D9366-453A-BAC7-70AD-1174A4D814EF}"/>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C5C0CF1-83A1-87F4-51B7-2979AA4B1C49}"/>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F757D3A-B153-FE45-2110-434631DD6557}"/>
              </a:ext>
            </a:extLst>
          </p:cNvPr>
          <p:cNvSpPr txBox="1">
            <a:spLocks/>
          </p:cNvSpPr>
          <p:nvPr/>
        </p:nvSpPr>
        <p:spPr>
          <a:xfrm>
            <a:off x="313400" y="694301"/>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Security</a:t>
            </a:r>
          </a:p>
          <a:p>
            <a:pPr marL="12700" marR="5080"/>
            <a:r>
              <a:rPr lang="en-US" sz="1400" kern="0" spc="-80" dirty="0">
                <a:solidFill>
                  <a:schemeClr val="accent6"/>
                </a:solidFill>
              </a:rPr>
              <a:t>Cloud Platforms (IaaS/PaaS)</a:t>
            </a:r>
          </a:p>
          <a:p>
            <a:pPr marL="12700" marR="5080"/>
            <a:r>
              <a:rPr lang="en-US" sz="1400" kern="0" spc="-80" dirty="0">
                <a:solidFill>
                  <a:schemeClr val="accent6"/>
                </a:solidFill>
              </a:rPr>
              <a:t>DevOps / CI/CD environments</a:t>
            </a:r>
          </a:p>
          <a:p>
            <a:pPr marL="12700" marR="5080"/>
            <a:r>
              <a:rPr lang="en-US" sz="1400" kern="0" spc="-80" dirty="0">
                <a:solidFill>
                  <a:schemeClr val="accent6"/>
                </a:solidFill>
              </a:rPr>
              <a:t>Runtime environments (EKS/AKS, App Service, VMs, Containers, etc.)</a:t>
            </a:r>
          </a:p>
          <a:p>
            <a:pPr marL="12700" marR="5080"/>
            <a:r>
              <a:rPr lang="en-US" sz="1400" kern="0" spc="-80" dirty="0">
                <a:solidFill>
                  <a:schemeClr val="accent2"/>
                </a:solidFill>
              </a:rPr>
              <a:t>Outputs</a:t>
            </a:r>
          </a:p>
          <a:p>
            <a:pPr marL="12700" marR="5080"/>
            <a:r>
              <a:rPr lang="en-US" sz="1400" kern="0" spc="-80" dirty="0">
                <a:solidFill>
                  <a:schemeClr val="accent6"/>
                </a:solidFill>
              </a:rPr>
              <a:t>Platform Reference Architecture</a:t>
            </a:r>
          </a:p>
          <a:p>
            <a:pPr marL="12700" marR="5080"/>
            <a:r>
              <a:rPr lang="en-US" sz="1400" kern="0" spc="-80" dirty="0">
                <a:solidFill>
                  <a:schemeClr val="accent6"/>
                </a:solidFill>
              </a:rPr>
              <a:t>Infrastructure designs (logical &gt; physical)</a:t>
            </a:r>
          </a:p>
          <a:p>
            <a:pPr marL="12700" marR="5080"/>
            <a:r>
              <a:rPr lang="en-US" sz="1400" kern="0" spc="-80" dirty="0">
                <a:solidFill>
                  <a:schemeClr val="accent6"/>
                </a:solidFill>
              </a:rPr>
              <a:t>Tech standards and policies</a:t>
            </a:r>
          </a:p>
          <a:p>
            <a:pPr marL="12700" marR="5080"/>
            <a:r>
              <a:rPr lang="en-US" sz="1400" kern="0" spc="-80" dirty="0">
                <a:solidFill>
                  <a:schemeClr val="accent2"/>
                </a:solidFill>
              </a:rPr>
              <a:t>Phase E: Opportunities &amp; Solutions</a:t>
            </a:r>
          </a:p>
          <a:p>
            <a:pPr marL="12700" marR="5080"/>
            <a:r>
              <a:rPr lang="en-US" sz="1400" kern="0" spc="-80" dirty="0">
                <a:solidFill>
                  <a:schemeClr val="accent2"/>
                </a:solidFill>
              </a:rPr>
              <a:t>Purpose</a:t>
            </a:r>
          </a:p>
          <a:p>
            <a:pPr marL="12700" marR="5080"/>
            <a:r>
              <a:rPr lang="en-US" sz="1400" kern="0" spc="-80" dirty="0">
                <a:solidFill>
                  <a:schemeClr val="accent6"/>
                </a:solidFill>
              </a:rPr>
              <a:t>Convert architectures into solution direction.</a:t>
            </a:r>
          </a:p>
          <a:p>
            <a:pPr marL="12700" marR="5080"/>
            <a:r>
              <a:rPr lang="en-US" sz="1400" kern="0" spc="-80" dirty="0">
                <a:solidFill>
                  <a:schemeClr val="accent2"/>
                </a:solidFill>
              </a:rPr>
              <a:t>Identify:</a:t>
            </a:r>
          </a:p>
          <a:p>
            <a:pPr marL="12700" marR="5080"/>
            <a:r>
              <a:rPr lang="en-US" sz="1400" kern="0" spc="-80" dirty="0">
                <a:solidFill>
                  <a:schemeClr val="accent6"/>
                </a:solidFill>
              </a:rPr>
              <a:t>Projects</a:t>
            </a:r>
          </a:p>
          <a:p>
            <a:pPr marL="12700" marR="5080"/>
            <a:r>
              <a:rPr lang="en-US" sz="1400" kern="0" spc="-80" dirty="0">
                <a:solidFill>
                  <a:schemeClr val="accent6"/>
                </a:solidFill>
              </a:rPr>
              <a:t>Work packages</a:t>
            </a:r>
          </a:p>
          <a:p>
            <a:pPr marL="12700" marR="5080"/>
            <a:r>
              <a:rPr lang="en-US" sz="1400" kern="0" spc="-80" dirty="0">
                <a:solidFill>
                  <a:schemeClr val="accent6"/>
                </a:solidFill>
              </a:rPr>
              <a:t>Reusable building blocks</a:t>
            </a:r>
          </a:p>
          <a:p>
            <a:pPr marL="12700" marR="5080"/>
            <a:r>
              <a:rPr lang="en-US" sz="1400" kern="0" spc="-80" dirty="0">
                <a:solidFill>
                  <a:schemeClr val="accent6"/>
                </a:solidFill>
              </a:rPr>
              <a:t>Technology enablers</a:t>
            </a:r>
          </a:p>
          <a:p>
            <a:pPr marL="12700" marR="5080"/>
            <a:r>
              <a:rPr lang="en-US" sz="1400" kern="0" spc="-80" dirty="0">
                <a:solidFill>
                  <a:schemeClr val="accent2"/>
                </a:solidFill>
              </a:rPr>
              <a:t>Outputs</a:t>
            </a:r>
          </a:p>
          <a:p>
            <a:pPr marL="12700" marR="5080"/>
            <a:r>
              <a:rPr lang="en-US" sz="1400" kern="0" spc="-80" dirty="0">
                <a:solidFill>
                  <a:schemeClr val="accent6"/>
                </a:solidFill>
              </a:rPr>
              <a:t>Solution Architecture Roadmap</a:t>
            </a:r>
          </a:p>
          <a:p>
            <a:pPr marL="12700" marR="5080"/>
            <a:r>
              <a:rPr lang="en-US" sz="1400" kern="0" spc="-80" dirty="0">
                <a:solidFill>
                  <a:schemeClr val="accent6"/>
                </a:solidFill>
              </a:rPr>
              <a:t>Work Package Definitions</a:t>
            </a:r>
          </a:p>
          <a:p>
            <a:pPr marL="12700" marR="5080"/>
            <a:r>
              <a:rPr lang="en-US" sz="1400" kern="0" spc="-80" dirty="0">
                <a:solidFill>
                  <a:schemeClr val="accent2"/>
                </a:solidFill>
              </a:rPr>
              <a:t>Phase F: Migration Planning</a:t>
            </a:r>
          </a:p>
          <a:p>
            <a:pPr marL="12700" marR="5080"/>
            <a:r>
              <a:rPr lang="en-US" sz="1400" kern="0" spc="-80" dirty="0">
                <a:solidFill>
                  <a:schemeClr val="accent2"/>
                </a:solidFill>
              </a:rPr>
              <a:t>Purpose</a:t>
            </a:r>
          </a:p>
          <a:p>
            <a:pPr marL="12700" marR="5080"/>
            <a:r>
              <a:rPr lang="en-US" sz="1400" kern="0" spc="-80" dirty="0">
                <a:solidFill>
                  <a:schemeClr val="accent6"/>
                </a:solidFill>
              </a:rPr>
              <a:t>Create a phased implementation roadmap based on:</a:t>
            </a:r>
          </a:p>
          <a:p>
            <a:pPr marL="12700" marR="5080"/>
            <a:r>
              <a:rPr lang="en-US" sz="1400" kern="0" spc="-80" dirty="0">
                <a:solidFill>
                  <a:schemeClr val="accent6"/>
                </a:solidFill>
              </a:rPr>
              <a:t>Business priorities</a:t>
            </a:r>
          </a:p>
          <a:p>
            <a:pPr marL="12700" marR="5080"/>
            <a:r>
              <a:rPr lang="en-US" sz="1400" kern="0" spc="-80" dirty="0">
                <a:solidFill>
                  <a:schemeClr val="accent6"/>
                </a:solidFill>
              </a:rPr>
              <a:t>Dependencies</a:t>
            </a:r>
          </a:p>
        </p:txBody>
      </p:sp>
    </p:spTree>
    <p:extLst>
      <p:ext uri="{BB962C8B-B14F-4D97-AF65-F5344CB8AC3E}">
        <p14:creationId xmlns:p14="http://schemas.microsoft.com/office/powerpoint/2010/main" val="8692333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27FE2-832C-3FF3-8070-FC880003995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1F9750F-E405-3DA6-9FAF-2C3EF6A5EA87}"/>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04140B-5F02-840F-C927-83A89112436F}"/>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F3A19FC-27A9-C301-61EF-1665E8DAD5BA}"/>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2E47DEC4-7C91-66A7-5D9A-C0DC83D9DD8E}"/>
              </a:ext>
            </a:extLst>
          </p:cNvPr>
          <p:cNvSpPr txBox="1">
            <a:spLocks/>
          </p:cNvSpPr>
          <p:nvPr/>
        </p:nvSpPr>
        <p:spPr>
          <a:xfrm>
            <a:off x="313400" y="694301"/>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Budget</a:t>
            </a:r>
          </a:p>
          <a:p>
            <a:pPr marL="12700" marR="5080"/>
            <a:r>
              <a:rPr lang="en-US" sz="1400" kern="0" spc="-80" dirty="0">
                <a:solidFill>
                  <a:schemeClr val="accent6"/>
                </a:solidFill>
              </a:rPr>
              <a:t>Risk</a:t>
            </a:r>
          </a:p>
          <a:p>
            <a:pPr marL="12700" marR="5080"/>
            <a:r>
              <a:rPr lang="en-US" sz="1400" kern="0" spc="-80" dirty="0">
                <a:solidFill>
                  <a:schemeClr val="accent2"/>
                </a:solidFill>
              </a:rPr>
              <a:t>Outputs</a:t>
            </a:r>
          </a:p>
          <a:p>
            <a:pPr marL="12700" marR="5080"/>
            <a:r>
              <a:rPr lang="en-US" sz="1400" kern="0" spc="-80" dirty="0">
                <a:solidFill>
                  <a:schemeClr val="accent6"/>
                </a:solidFill>
              </a:rPr>
              <a:t>Prioritized Migration Roadmap (e.g., Phase 1, Phase 2…)</a:t>
            </a:r>
          </a:p>
          <a:p>
            <a:pPr marL="12700" marR="5080"/>
            <a:r>
              <a:rPr lang="en-US" sz="1400" kern="0" spc="-80" dirty="0">
                <a:solidFill>
                  <a:schemeClr val="accent6"/>
                </a:solidFill>
              </a:rPr>
              <a:t>Implementation Plan aligned with PMO governance</a:t>
            </a:r>
          </a:p>
          <a:p>
            <a:pPr marL="12700" marR="5080"/>
            <a:r>
              <a:rPr lang="en-US" sz="1400" kern="0" spc="-80" dirty="0">
                <a:solidFill>
                  <a:schemeClr val="accent2"/>
                </a:solidFill>
              </a:rPr>
              <a:t>Phase G: Implementation Governance</a:t>
            </a:r>
          </a:p>
          <a:p>
            <a:pPr marL="12700" marR="5080"/>
            <a:r>
              <a:rPr lang="en-US" sz="1400" kern="0" spc="-80" dirty="0">
                <a:solidFill>
                  <a:schemeClr val="accent2"/>
                </a:solidFill>
              </a:rPr>
              <a:t>Purpose</a:t>
            </a:r>
          </a:p>
          <a:p>
            <a:pPr marL="12700" marR="5080"/>
            <a:r>
              <a:rPr lang="en-US" sz="1400" kern="0" spc="-80" dirty="0">
                <a:solidFill>
                  <a:schemeClr val="accent6"/>
                </a:solidFill>
              </a:rPr>
              <a:t>Ensure that implementation follows the architecture.</a:t>
            </a:r>
          </a:p>
          <a:p>
            <a:pPr marL="12700" marR="5080"/>
            <a:r>
              <a:rPr lang="en-US" sz="1400" kern="0" spc="-80" dirty="0">
                <a:solidFill>
                  <a:schemeClr val="accent2"/>
                </a:solidFill>
              </a:rPr>
              <a:t>Activities</a:t>
            </a:r>
          </a:p>
          <a:p>
            <a:pPr marL="12700" marR="5080"/>
            <a:r>
              <a:rPr lang="en-US" sz="1400" kern="0" spc="-80" dirty="0">
                <a:solidFill>
                  <a:schemeClr val="accent6"/>
                </a:solidFill>
              </a:rPr>
              <a:t>Architecture review boards</a:t>
            </a:r>
          </a:p>
          <a:p>
            <a:pPr marL="12700" marR="5080"/>
            <a:r>
              <a:rPr lang="en-US" sz="1400" kern="0" spc="-80" dirty="0">
                <a:solidFill>
                  <a:schemeClr val="accent6"/>
                </a:solidFill>
              </a:rPr>
              <a:t>Design approvals</a:t>
            </a:r>
          </a:p>
          <a:p>
            <a:pPr marL="12700" marR="5080"/>
            <a:r>
              <a:rPr lang="en-US" sz="1400" kern="0" spc="-80" dirty="0">
                <a:solidFill>
                  <a:schemeClr val="accent6"/>
                </a:solidFill>
              </a:rPr>
              <a:t>Solution alignment checks</a:t>
            </a:r>
          </a:p>
          <a:p>
            <a:pPr marL="12700" marR="5080"/>
            <a:r>
              <a:rPr lang="en-US" sz="1400" kern="0" spc="-80" dirty="0">
                <a:solidFill>
                  <a:schemeClr val="accent2"/>
                </a:solidFill>
              </a:rPr>
              <a:t>Outputs</a:t>
            </a:r>
          </a:p>
          <a:p>
            <a:pPr marL="12700" marR="5080"/>
            <a:r>
              <a:rPr lang="en-US" sz="1400" kern="0" spc="-80" dirty="0">
                <a:solidFill>
                  <a:schemeClr val="accent6"/>
                </a:solidFill>
              </a:rPr>
              <a:t>Compliance assessment reports</a:t>
            </a:r>
          </a:p>
          <a:p>
            <a:pPr marL="12700" marR="5080"/>
            <a:r>
              <a:rPr lang="en-US" sz="1400" kern="0" spc="-80" dirty="0">
                <a:solidFill>
                  <a:schemeClr val="accent6"/>
                </a:solidFill>
              </a:rPr>
              <a:t>Waivers / justification logs (when deviation required)</a:t>
            </a:r>
          </a:p>
          <a:p>
            <a:pPr marL="12700" marR="5080"/>
            <a:r>
              <a:rPr lang="en-US" sz="1400" kern="0" spc="-80" dirty="0">
                <a:solidFill>
                  <a:schemeClr val="accent2"/>
                </a:solidFill>
              </a:rPr>
              <a:t>Phase H: Architecture Change Management</a:t>
            </a:r>
          </a:p>
          <a:p>
            <a:pPr marL="12700" marR="5080"/>
            <a:r>
              <a:rPr lang="en-US" sz="1400" kern="0" spc="-80" dirty="0">
                <a:solidFill>
                  <a:schemeClr val="accent2"/>
                </a:solidFill>
              </a:rPr>
              <a:t>Purpose</a:t>
            </a:r>
          </a:p>
          <a:p>
            <a:pPr marL="12700" marR="5080"/>
            <a:r>
              <a:rPr lang="en-US" sz="1400" kern="0" spc="-80" dirty="0">
                <a:solidFill>
                  <a:schemeClr val="accent6"/>
                </a:solidFill>
              </a:rPr>
              <a:t>Keep architecture live and relevant.</a:t>
            </a:r>
          </a:p>
          <a:p>
            <a:pPr marL="12700" marR="5080"/>
            <a:r>
              <a:rPr lang="en-US" sz="1400" kern="0" spc="-80" dirty="0">
                <a:solidFill>
                  <a:schemeClr val="accent2"/>
                </a:solidFill>
              </a:rPr>
              <a:t>Actions</a:t>
            </a:r>
          </a:p>
          <a:p>
            <a:pPr marL="12700" marR="5080"/>
            <a:r>
              <a:rPr lang="en-US" sz="1400" kern="0" spc="-80" dirty="0">
                <a:solidFill>
                  <a:schemeClr val="accent6"/>
                </a:solidFill>
              </a:rPr>
              <a:t>Monitor changes in business, technology, regulations</a:t>
            </a:r>
          </a:p>
          <a:p>
            <a:pPr marL="12700" marR="5080"/>
            <a:r>
              <a:rPr lang="en-US" sz="1400" kern="0" spc="-80" dirty="0">
                <a:solidFill>
                  <a:schemeClr val="accent6"/>
                </a:solidFill>
              </a:rPr>
              <a:t>Decide whether to update architecture or start new ADM cycle</a:t>
            </a:r>
          </a:p>
          <a:p>
            <a:pPr marL="12700" marR="5080"/>
            <a:r>
              <a:rPr lang="en-US" sz="1400" kern="0" spc="-80" dirty="0">
                <a:solidFill>
                  <a:schemeClr val="accent2"/>
                </a:solidFill>
              </a:rPr>
              <a:t>Outputs</a:t>
            </a:r>
          </a:p>
          <a:p>
            <a:pPr marL="12700" marR="5080"/>
            <a:r>
              <a:rPr lang="en-US" sz="1400" kern="0" spc="-80" dirty="0">
                <a:solidFill>
                  <a:schemeClr val="accent6"/>
                </a:solidFill>
              </a:rPr>
              <a:t>Updated architecture repository</a:t>
            </a:r>
          </a:p>
          <a:p>
            <a:pPr marL="12700" marR="5080"/>
            <a:r>
              <a:rPr lang="en-US" sz="1400" kern="0" spc="-80" dirty="0">
                <a:solidFill>
                  <a:schemeClr val="accent6"/>
                </a:solidFill>
              </a:rPr>
              <a:t>Architecture Change Requests</a:t>
            </a:r>
          </a:p>
          <a:p>
            <a:pPr marL="12700" marR="5080"/>
            <a:r>
              <a:rPr lang="en-US" sz="1400" kern="0" spc="-80" dirty="0">
                <a:solidFill>
                  <a:schemeClr val="accent6"/>
                </a:solidFill>
              </a:rPr>
              <a:t>Requirements Management</a:t>
            </a:r>
          </a:p>
        </p:txBody>
      </p:sp>
    </p:spTree>
    <p:extLst>
      <p:ext uri="{BB962C8B-B14F-4D97-AF65-F5344CB8AC3E}">
        <p14:creationId xmlns:p14="http://schemas.microsoft.com/office/powerpoint/2010/main" val="2163923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757A3-CFD7-9B1E-EB56-4D4C55AF992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FD5B953-441C-2B87-6308-422B3DE8891E}"/>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54E5AA-72A3-6197-4331-2A1D5AA5BF0C}"/>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D0A28AD-B492-02D4-FDA6-F7BE49A28A5B}"/>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8A3A7A22-DEF4-68F0-A7CA-6EEEBBEA07D6}"/>
              </a:ext>
            </a:extLst>
          </p:cNvPr>
          <p:cNvSpPr txBox="1">
            <a:spLocks/>
          </p:cNvSpPr>
          <p:nvPr/>
        </p:nvSpPr>
        <p:spPr>
          <a:xfrm>
            <a:off x="313400" y="694301"/>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Operates across all phases:</a:t>
            </a:r>
          </a:p>
          <a:p>
            <a:pPr marL="12700" marR="5080"/>
            <a:r>
              <a:rPr lang="en-US" sz="1400" kern="0" spc="-80" dirty="0">
                <a:solidFill>
                  <a:schemeClr val="accent6"/>
                </a:solidFill>
              </a:rPr>
              <a:t>Collects, stores, traces, updates requirements</a:t>
            </a:r>
          </a:p>
          <a:p>
            <a:pPr marL="12700" marR="5080"/>
            <a:r>
              <a:rPr lang="en-US" sz="1400" kern="0" spc="-80" dirty="0">
                <a:solidFill>
                  <a:schemeClr val="accent6"/>
                </a:solidFill>
              </a:rPr>
              <a:t>Ensures traceability from strategy → architecture → implementation</a:t>
            </a:r>
          </a:p>
          <a:p>
            <a:pPr marL="12700" marR="5080"/>
            <a:r>
              <a:rPr lang="en-US" sz="1400" kern="0" spc="-80" dirty="0">
                <a:solidFill>
                  <a:schemeClr val="accent2"/>
                </a:solidFill>
              </a:rPr>
              <a:t>Artifacts (Documents) Produced Across ADM</a:t>
            </a:r>
          </a:p>
          <a:p>
            <a:pPr marL="12700" marR="5080"/>
            <a:r>
              <a:rPr lang="en-US" sz="1400" kern="0" spc="-80" dirty="0">
                <a:solidFill>
                  <a:schemeClr val="accent2"/>
                </a:solidFill>
              </a:rPr>
              <a:t>Phase	                    Key Deliverables</a:t>
            </a:r>
          </a:p>
          <a:p>
            <a:pPr marL="12700" marR="5080"/>
            <a:r>
              <a:rPr lang="en-US" sz="1400" kern="0" spc="-80" dirty="0">
                <a:solidFill>
                  <a:schemeClr val="accent6"/>
                </a:solidFill>
              </a:rPr>
              <a:t>Preliminary	Architecture Principles, Governance Model</a:t>
            </a:r>
          </a:p>
          <a:p>
            <a:pPr marL="12700" marR="5080"/>
            <a:r>
              <a:rPr lang="en-US" sz="1400" kern="0" spc="-80" dirty="0">
                <a:solidFill>
                  <a:schemeClr val="accent6"/>
                </a:solidFill>
              </a:rPr>
              <a:t>A: Vision	                    Architecture Vision, Statement of Work, Business Case</a:t>
            </a:r>
          </a:p>
          <a:p>
            <a:pPr marL="12700" marR="5080"/>
            <a:r>
              <a:rPr lang="en-US" sz="1400" kern="0" spc="-80" dirty="0">
                <a:solidFill>
                  <a:schemeClr val="accent6"/>
                </a:solidFill>
              </a:rPr>
              <a:t>B: Business	Capability Map, Value Streams, Business Process Models</a:t>
            </a:r>
          </a:p>
          <a:p>
            <a:pPr marL="12700" marR="5080"/>
            <a:r>
              <a:rPr lang="en-US" sz="1400" kern="0" spc="-80" dirty="0">
                <a:solidFill>
                  <a:schemeClr val="accent6"/>
                </a:solidFill>
              </a:rPr>
              <a:t>C: Data/App	Logical Data Model, Application Interaction Diagrams</a:t>
            </a:r>
          </a:p>
          <a:p>
            <a:pPr marL="12700" marR="5080"/>
            <a:r>
              <a:rPr lang="en-US" sz="1400" kern="0" spc="-80" dirty="0">
                <a:solidFill>
                  <a:schemeClr val="accent6"/>
                </a:solidFill>
              </a:rPr>
              <a:t>D: Technology	Platform Reference Architecture, Tech Standards</a:t>
            </a:r>
          </a:p>
          <a:p>
            <a:pPr marL="12700" marR="5080"/>
            <a:r>
              <a:rPr lang="en-US" sz="1400" kern="0" spc="-80" dirty="0">
                <a:solidFill>
                  <a:schemeClr val="accent6"/>
                </a:solidFill>
              </a:rPr>
              <a:t>E: Opportunities	Solution Building Blocks, Roadmap</a:t>
            </a:r>
          </a:p>
          <a:p>
            <a:pPr marL="12700" marR="5080"/>
            <a:r>
              <a:rPr lang="en-US" sz="1400" kern="0" spc="-80" dirty="0">
                <a:solidFill>
                  <a:schemeClr val="accent6"/>
                </a:solidFill>
              </a:rPr>
              <a:t>F: Migration	Migration Plan, Dependency Map</a:t>
            </a:r>
          </a:p>
          <a:p>
            <a:pPr marL="12700" marR="5080"/>
            <a:r>
              <a:rPr lang="en-US" sz="1400" kern="0" spc="-80" dirty="0">
                <a:solidFill>
                  <a:schemeClr val="accent6"/>
                </a:solidFill>
              </a:rPr>
              <a:t>G: Governance	Architecture Compliance Report</a:t>
            </a:r>
          </a:p>
          <a:p>
            <a:pPr marL="12700" marR="5080"/>
            <a:r>
              <a:rPr lang="en-US" sz="1400" kern="0" spc="-80" dirty="0">
                <a:solidFill>
                  <a:schemeClr val="accent2"/>
                </a:solidFill>
              </a:rPr>
              <a:t>H: Change	Change Request Log</a:t>
            </a:r>
          </a:p>
          <a:p>
            <a:pPr marL="12700" marR="5080"/>
            <a:r>
              <a:rPr lang="en-US" sz="1400" kern="0" spc="-80" dirty="0">
                <a:solidFill>
                  <a:schemeClr val="accent2"/>
                </a:solidFill>
              </a:rPr>
              <a:t>How Iteration Works</a:t>
            </a:r>
          </a:p>
          <a:p>
            <a:pPr marL="12700" marR="5080"/>
            <a:r>
              <a:rPr lang="en-US" sz="1400" kern="0" spc="-80" dirty="0">
                <a:solidFill>
                  <a:schemeClr val="accent6"/>
                </a:solidFill>
              </a:rPr>
              <a:t>TOGAF does not expect you to finish everything then move on.</a:t>
            </a:r>
          </a:p>
          <a:p>
            <a:pPr marL="12700" marR="5080"/>
            <a:r>
              <a:rPr lang="en-US" sz="1400" kern="0" spc="-80" dirty="0">
                <a:solidFill>
                  <a:schemeClr val="accent2"/>
                </a:solidFill>
              </a:rPr>
              <a:t>Each phase:</a:t>
            </a:r>
          </a:p>
          <a:p>
            <a:pPr marL="12700" marR="5080"/>
            <a:r>
              <a:rPr lang="en-US" sz="1400" kern="0" spc="-80" dirty="0">
                <a:solidFill>
                  <a:schemeClr val="accent6"/>
                </a:solidFill>
              </a:rPr>
              <a:t>Can be revisited</a:t>
            </a:r>
          </a:p>
          <a:p>
            <a:pPr marL="12700" marR="5080"/>
            <a:r>
              <a:rPr lang="en-US" sz="1400" kern="0" spc="-80" dirty="0">
                <a:solidFill>
                  <a:schemeClr val="accent6"/>
                </a:solidFill>
              </a:rPr>
              <a:t>Can be done in domain-specific cycles (e.g., only Application Architecture)</a:t>
            </a:r>
          </a:p>
          <a:p>
            <a:pPr marL="12700" marR="5080"/>
            <a:r>
              <a:rPr lang="en-US" sz="1400" kern="0" spc="-80" dirty="0">
                <a:solidFill>
                  <a:schemeClr val="accent6"/>
                </a:solidFill>
              </a:rPr>
              <a:t>Can be scaled (lightweight for small projects, detailed for large)</a:t>
            </a:r>
          </a:p>
          <a:p>
            <a:pPr marL="12700" marR="5080"/>
            <a:r>
              <a:rPr lang="en-US" sz="1400" kern="0" spc="-80" dirty="0">
                <a:solidFill>
                  <a:schemeClr val="accent2"/>
                </a:solidFill>
              </a:rPr>
              <a:t>In Simple Terms</a:t>
            </a:r>
          </a:p>
          <a:p>
            <a:pPr marL="12700" marR="5080"/>
            <a:r>
              <a:rPr lang="en-US" sz="1400" kern="0" spc="-80" dirty="0">
                <a:solidFill>
                  <a:schemeClr val="accent2"/>
                </a:solidFill>
              </a:rPr>
              <a:t>TOGAF Step	              Practical Meaning</a:t>
            </a:r>
          </a:p>
          <a:p>
            <a:pPr marL="12700" marR="5080"/>
            <a:r>
              <a:rPr lang="en-US" sz="1400" kern="0" spc="-80" dirty="0">
                <a:solidFill>
                  <a:schemeClr val="accent6"/>
                </a:solidFill>
              </a:rPr>
              <a:t>Vision	                                 Why are we doing this? What is the high-level target?</a:t>
            </a:r>
          </a:p>
          <a:p>
            <a:pPr marL="12700" marR="5080"/>
            <a:r>
              <a:rPr lang="en-US" sz="1400" kern="0" spc="-80" dirty="0">
                <a:solidFill>
                  <a:schemeClr val="accent6"/>
                </a:solidFill>
              </a:rPr>
              <a:t>Business Architecture	              What the business needs to do.</a:t>
            </a:r>
          </a:p>
          <a:p>
            <a:pPr marL="12700" marR="5080"/>
            <a:r>
              <a:rPr lang="en-US" sz="1400" kern="0" spc="-80" dirty="0">
                <a:solidFill>
                  <a:schemeClr val="accent6"/>
                </a:solidFill>
              </a:rPr>
              <a:t>Data + Application	              What systems and data are needed.</a:t>
            </a:r>
          </a:p>
        </p:txBody>
      </p:sp>
    </p:spTree>
    <p:extLst>
      <p:ext uri="{BB962C8B-B14F-4D97-AF65-F5344CB8AC3E}">
        <p14:creationId xmlns:p14="http://schemas.microsoft.com/office/powerpoint/2010/main" val="1124899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1A4D3-0FF9-C676-A26E-0AAC6A4F4B9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978700-3F1C-AD83-0BA9-5183C9A090BB}"/>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3CCC8D9-2D9B-CDC6-E714-C91873A3E758}"/>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CEDF428-C2DF-C9A9-D175-AA7F03779607}"/>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17A65E3B-847B-B17F-1975-94B7F6682DED}"/>
              </a:ext>
            </a:extLst>
          </p:cNvPr>
          <p:cNvSpPr txBox="1">
            <a:spLocks/>
          </p:cNvSpPr>
          <p:nvPr/>
        </p:nvSpPr>
        <p:spPr>
          <a:xfrm>
            <a:off x="313400" y="694301"/>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TOGAF Step	             Practical Meaning</a:t>
            </a:r>
          </a:p>
          <a:p>
            <a:pPr marL="12700" marR="5080"/>
            <a:r>
              <a:rPr lang="en-US" sz="1400" kern="0" spc="-80" dirty="0">
                <a:solidFill>
                  <a:schemeClr val="accent6"/>
                </a:solidFill>
              </a:rPr>
              <a:t>Technology	             Which platforms and tech we will use.</a:t>
            </a:r>
          </a:p>
          <a:p>
            <a:pPr marL="12700" marR="5080"/>
            <a:r>
              <a:rPr lang="en-US" sz="1400" kern="0" spc="-80" dirty="0">
                <a:solidFill>
                  <a:schemeClr val="accent6"/>
                </a:solidFill>
              </a:rPr>
              <a:t>Opportunities &amp; Solutions       How to translate architecture to executable solutions.</a:t>
            </a:r>
          </a:p>
          <a:p>
            <a:pPr marL="12700" marR="5080"/>
            <a:r>
              <a:rPr lang="en-US" sz="1400" kern="0" spc="-80" dirty="0">
                <a:solidFill>
                  <a:schemeClr val="accent6"/>
                </a:solidFill>
              </a:rPr>
              <a:t>Migration Planning	             When and in what order.</a:t>
            </a:r>
          </a:p>
          <a:p>
            <a:pPr marL="12700" marR="5080"/>
            <a:r>
              <a:rPr lang="en-US" sz="1400" kern="0" spc="-80" dirty="0">
                <a:solidFill>
                  <a:schemeClr val="accent6"/>
                </a:solidFill>
              </a:rPr>
              <a:t>Governance	             Ensure execution follows design.</a:t>
            </a:r>
          </a:p>
          <a:p>
            <a:pPr marL="12700" marR="5080"/>
            <a:r>
              <a:rPr lang="en-US" sz="1400" kern="0" spc="-80" dirty="0">
                <a:solidFill>
                  <a:schemeClr val="accent6"/>
                </a:solidFill>
              </a:rPr>
              <a:t>Change Management	             Keep architecture relevant over time. </a:t>
            </a:r>
          </a:p>
          <a:p>
            <a:pPr marL="12700" marR="5080"/>
            <a:endParaRPr lang="en-US" sz="1400" kern="0" spc="-80" dirty="0">
              <a:solidFill>
                <a:schemeClr val="accent6"/>
              </a:solidFill>
            </a:endParaRPr>
          </a:p>
          <a:p>
            <a:pPr marL="12700" marR="5080"/>
            <a:r>
              <a:rPr lang="en-US" sz="1400" kern="0" spc="-80" dirty="0">
                <a:solidFill>
                  <a:schemeClr val="accent2"/>
                </a:solidFill>
              </a:rPr>
              <a:t>Example - TOGAF EA Deliverables for BFSI Core Banking Modernization</a:t>
            </a:r>
          </a:p>
          <a:p>
            <a:pPr marL="12700" marR="5080"/>
            <a:r>
              <a:rPr lang="en-US" sz="1400" kern="0" spc="-80" dirty="0">
                <a:solidFill>
                  <a:schemeClr val="accent2"/>
                </a:solidFill>
              </a:rPr>
              <a:t>Phase A – Architecture Vision</a:t>
            </a:r>
          </a:p>
          <a:p>
            <a:pPr marL="12700" marR="5080"/>
            <a:r>
              <a:rPr lang="en-US" sz="1400" kern="0" spc="-80" dirty="0">
                <a:solidFill>
                  <a:schemeClr val="accent2"/>
                </a:solidFill>
              </a:rPr>
              <a:t>Objective: </a:t>
            </a:r>
            <a:r>
              <a:rPr lang="en-US" sz="1400" kern="0" spc="-80" dirty="0">
                <a:solidFill>
                  <a:schemeClr val="accent6"/>
                </a:solidFill>
              </a:rPr>
              <a:t>Define high-level target architecture, stakeholders, and business case.</a:t>
            </a:r>
          </a:p>
          <a:p>
            <a:pPr marL="12700" marR="5080"/>
            <a:r>
              <a:rPr lang="en-US" sz="1400" kern="0" spc="-80" dirty="0">
                <a:solidFill>
                  <a:schemeClr val="accent2"/>
                </a:solidFill>
              </a:rPr>
              <a:t>Key Artifacts:</a:t>
            </a:r>
          </a:p>
          <a:p>
            <a:pPr marL="12700" marR="5080"/>
            <a:r>
              <a:rPr lang="en-US" sz="1400" kern="0" spc="-80" dirty="0">
                <a:solidFill>
                  <a:schemeClr val="accent2"/>
                </a:solidFill>
              </a:rPr>
              <a:t>Architecture Vision Deck (PPTX) – includes:</a:t>
            </a:r>
          </a:p>
          <a:p>
            <a:pPr marL="12700" marR="5080"/>
            <a:r>
              <a:rPr lang="en-US" sz="1400" kern="0" spc="-80" dirty="0">
                <a:solidFill>
                  <a:schemeClr val="accent2"/>
                </a:solidFill>
              </a:rPr>
              <a:t>Business drivers: </a:t>
            </a:r>
            <a:r>
              <a:rPr lang="en-US" sz="1400" kern="0" spc="-80" dirty="0">
                <a:solidFill>
                  <a:schemeClr val="accent6"/>
                </a:solidFill>
              </a:rPr>
              <a:t>legacy monolith, slow product launches, regulatory pressure, digital channels</a:t>
            </a:r>
          </a:p>
          <a:p>
            <a:pPr marL="12700" marR="5080"/>
            <a:r>
              <a:rPr lang="en-US" sz="1400" kern="0" spc="-80" dirty="0">
                <a:solidFill>
                  <a:schemeClr val="accent2"/>
                </a:solidFill>
              </a:rPr>
              <a:t>Stakeholder map: </a:t>
            </a:r>
            <a:r>
              <a:rPr lang="en-US" sz="1400" kern="0" spc="-80" dirty="0">
                <a:solidFill>
                  <a:schemeClr val="accent6"/>
                </a:solidFill>
              </a:rPr>
              <a:t>CIO, CTO, Business Heads, Risk &amp; Compliance, PMO</a:t>
            </a:r>
          </a:p>
          <a:p>
            <a:pPr marL="12700" marR="5080"/>
            <a:r>
              <a:rPr lang="en-US" sz="1400" kern="0" spc="-80" dirty="0">
                <a:solidFill>
                  <a:schemeClr val="accent6"/>
                </a:solidFill>
              </a:rPr>
              <a:t>High-level Target Architecture Diagram (Cloud + Microservices + API layer)</a:t>
            </a:r>
          </a:p>
          <a:p>
            <a:pPr marL="12700" marR="5080"/>
            <a:r>
              <a:rPr lang="en-US" sz="1400" kern="0" spc="-80" dirty="0">
                <a:solidFill>
                  <a:schemeClr val="accent6"/>
                </a:solidFill>
              </a:rPr>
              <a:t>Business case &amp; KPIs (time-to-market, cost reduction, reliability)</a:t>
            </a:r>
          </a:p>
          <a:p>
            <a:pPr marL="12700" marR="5080"/>
            <a:r>
              <a:rPr lang="en-US" sz="1400" kern="0" spc="-80" dirty="0">
                <a:solidFill>
                  <a:schemeClr val="accent2"/>
                </a:solidFill>
              </a:rPr>
              <a:t>Phase B – Business Architecture</a:t>
            </a:r>
          </a:p>
          <a:p>
            <a:pPr marL="12700" marR="5080"/>
            <a:r>
              <a:rPr lang="en-US" sz="1400" kern="0" spc="-80" dirty="0">
                <a:solidFill>
                  <a:schemeClr val="accent2"/>
                </a:solidFill>
              </a:rPr>
              <a:t>Objective:</a:t>
            </a:r>
            <a:r>
              <a:rPr lang="en-US" sz="1400" kern="0" spc="-80" dirty="0">
                <a:solidFill>
                  <a:schemeClr val="accent6"/>
                </a:solidFill>
              </a:rPr>
              <a:t> Map current and target business capabilities.</a:t>
            </a:r>
          </a:p>
          <a:p>
            <a:pPr marL="12700" marR="5080"/>
            <a:r>
              <a:rPr lang="en-US" sz="1400" kern="0" spc="-80" dirty="0">
                <a:solidFill>
                  <a:schemeClr val="accent2"/>
                </a:solidFill>
              </a:rPr>
              <a:t>Artifacts:</a:t>
            </a:r>
          </a:p>
          <a:p>
            <a:pPr marL="12700" marR="5080"/>
            <a:r>
              <a:rPr lang="en-US" sz="1400" kern="0" spc="-80" dirty="0">
                <a:solidFill>
                  <a:schemeClr val="accent6"/>
                </a:solidFill>
              </a:rPr>
              <a:t>Business Capability Map (PPTX)</a:t>
            </a:r>
          </a:p>
          <a:p>
            <a:pPr marL="12700" marR="5080"/>
            <a:r>
              <a:rPr lang="en-US" sz="1400" kern="0" spc="-80" dirty="0">
                <a:solidFill>
                  <a:schemeClr val="accent2"/>
                </a:solidFill>
              </a:rPr>
              <a:t>Key domains: </a:t>
            </a:r>
            <a:r>
              <a:rPr lang="en-US" sz="1400" kern="0" spc="-80" dirty="0">
                <a:solidFill>
                  <a:schemeClr val="accent6"/>
                </a:solidFill>
              </a:rPr>
              <a:t>Retail Banking, Corporate Banking, Treasury, Risk, Compliance, Payments</a:t>
            </a:r>
          </a:p>
          <a:p>
            <a:pPr marL="12700" marR="5080"/>
            <a:r>
              <a:rPr lang="en-US" sz="1400" kern="0" spc="-80" dirty="0">
                <a:solidFill>
                  <a:schemeClr val="accent6"/>
                </a:solidFill>
              </a:rPr>
              <a:t>Highlight which capabilities are enhanced, migrated, or modernized</a:t>
            </a:r>
          </a:p>
          <a:p>
            <a:pPr marL="12700" marR="5080"/>
            <a:r>
              <a:rPr lang="en-US" sz="1400" kern="0" spc="-80" dirty="0">
                <a:solidFill>
                  <a:schemeClr val="accent6"/>
                </a:solidFill>
              </a:rPr>
              <a:t>Value Streams &amp; Process Models</a:t>
            </a:r>
          </a:p>
          <a:p>
            <a:pPr marL="12700" marR="5080"/>
            <a:r>
              <a:rPr lang="en-US" sz="1400" kern="0" spc="-80" dirty="0">
                <a:solidFill>
                  <a:schemeClr val="accent2"/>
                </a:solidFill>
              </a:rPr>
              <a:t>Example:</a:t>
            </a:r>
            <a:r>
              <a:rPr lang="en-US" sz="1400" kern="0" spc="-80" dirty="0">
                <a:solidFill>
                  <a:schemeClr val="accent6"/>
                </a:solidFill>
              </a:rPr>
              <a:t> Account Opening, Loan Origination, Transaction Processing</a:t>
            </a:r>
          </a:p>
        </p:txBody>
      </p:sp>
    </p:spTree>
    <p:extLst>
      <p:ext uri="{BB962C8B-B14F-4D97-AF65-F5344CB8AC3E}">
        <p14:creationId xmlns:p14="http://schemas.microsoft.com/office/powerpoint/2010/main" val="2302376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04909-193A-AD99-6C9C-2AA93C28E7B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3580F4E-D5CA-17F0-79BE-3B253A1D20FE}"/>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F10B3DE-3B1F-CA1C-AFA0-BFEDB6F518B7}"/>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11F8976-8558-99B3-473D-CD021F8477F1}"/>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6505E220-3269-A58F-EACF-C43006146921}"/>
              </a:ext>
            </a:extLst>
          </p:cNvPr>
          <p:cNvSpPr txBox="1">
            <a:spLocks/>
          </p:cNvSpPr>
          <p:nvPr/>
        </p:nvSpPr>
        <p:spPr>
          <a:xfrm>
            <a:off x="313400" y="694301"/>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Example - TOGAF EA Deliverables for BFSI Core Banking Modernization</a:t>
            </a:r>
          </a:p>
          <a:p>
            <a:pPr marL="12700" marR="5080"/>
            <a:r>
              <a:rPr lang="en-US" sz="1400" kern="0" spc="-80" dirty="0">
                <a:solidFill>
                  <a:schemeClr val="accent2"/>
                </a:solidFill>
              </a:rPr>
              <a:t>Business Gap Analysis</a:t>
            </a:r>
          </a:p>
          <a:p>
            <a:pPr marL="12700" marR="5080"/>
            <a:r>
              <a:rPr lang="en-US" sz="1400" kern="0" spc="-80" dirty="0">
                <a:solidFill>
                  <a:schemeClr val="accent6"/>
                </a:solidFill>
              </a:rPr>
              <a:t>Manual processes → automated microservices</a:t>
            </a:r>
          </a:p>
          <a:p>
            <a:pPr marL="12700" marR="5080"/>
            <a:r>
              <a:rPr lang="en-US" sz="1400" kern="0" spc="-80" dirty="0">
                <a:solidFill>
                  <a:schemeClr val="accent6"/>
                </a:solidFill>
              </a:rPr>
              <a:t>Siloed product lines → integrated product platform</a:t>
            </a:r>
          </a:p>
          <a:p>
            <a:pPr marL="12700" marR="5080"/>
            <a:r>
              <a:rPr lang="en-US" sz="1400" kern="0" spc="-80" dirty="0">
                <a:solidFill>
                  <a:schemeClr val="accent2"/>
                </a:solidFill>
              </a:rPr>
              <a:t>Phase C – Information Systems Architecture</a:t>
            </a:r>
          </a:p>
          <a:p>
            <a:pPr marL="12700" marR="5080"/>
            <a:r>
              <a:rPr lang="en-US" sz="1400" kern="0" spc="-80" dirty="0">
                <a:solidFill>
                  <a:schemeClr val="accent6"/>
                </a:solidFill>
              </a:rPr>
              <a:t>Data Architecture</a:t>
            </a:r>
          </a:p>
          <a:p>
            <a:pPr marL="12700" marR="5080"/>
            <a:r>
              <a:rPr lang="en-US" sz="1400" kern="0" spc="-80" dirty="0">
                <a:solidFill>
                  <a:schemeClr val="accent6"/>
                </a:solidFill>
              </a:rPr>
              <a:t>Canonical data model for Customer, Account, Transaction, Loan, Product, KYC</a:t>
            </a:r>
          </a:p>
          <a:p>
            <a:pPr marL="12700" marR="5080"/>
            <a:r>
              <a:rPr lang="en-US" sz="1400" kern="0" spc="-80" dirty="0">
                <a:solidFill>
                  <a:schemeClr val="accent6"/>
                </a:solidFill>
              </a:rPr>
              <a:t>Master Data Management boundaries</a:t>
            </a:r>
          </a:p>
          <a:p>
            <a:pPr marL="12700" marR="5080"/>
            <a:r>
              <a:rPr lang="en-US" sz="1400" kern="0" spc="-80" dirty="0">
                <a:solidFill>
                  <a:schemeClr val="accent6"/>
                </a:solidFill>
              </a:rPr>
              <a:t>Data flow diagrams showing source systems → microservices → reporting</a:t>
            </a:r>
          </a:p>
          <a:p>
            <a:pPr marL="12700" marR="5080"/>
            <a:r>
              <a:rPr lang="en-US" sz="1400" kern="0" spc="-80" dirty="0">
                <a:solidFill>
                  <a:schemeClr val="accent6"/>
                </a:solidFill>
              </a:rPr>
              <a:t>Application Architecture</a:t>
            </a:r>
          </a:p>
          <a:p>
            <a:pPr marL="12700" marR="5080"/>
            <a:r>
              <a:rPr lang="en-US" sz="1400" kern="0" spc="-80" dirty="0">
                <a:solidFill>
                  <a:schemeClr val="accent6"/>
                </a:solidFill>
              </a:rPr>
              <a:t>Domain-driven microservices mapped to business capabilities</a:t>
            </a:r>
          </a:p>
          <a:p>
            <a:pPr marL="12700" marR="5080"/>
            <a:r>
              <a:rPr lang="en-US" sz="1400" kern="0" spc="-80" dirty="0">
                <a:solidFill>
                  <a:schemeClr val="accent6"/>
                </a:solidFill>
              </a:rPr>
              <a:t>API Gateway for internal/external integration</a:t>
            </a:r>
          </a:p>
          <a:p>
            <a:pPr marL="12700" marR="5080"/>
            <a:r>
              <a:rPr lang="en-US" sz="1400" kern="0" spc="-80" dirty="0">
                <a:solidFill>
                  <a:schemeClr val="accent6"/>
                </a:solidFill>
              </a:rPr>
              <a:t>Event-driven architecture (Kafka, RabbitMQ)</a:t>
            </a:r>
          </a:p>
          <a:p>
            <a:pPr marL="12700" marR="5080"/>
            <a:r>
              <a:rPr lang="en-US" sz="1400" kern="0" spc="-80" dirty="0">
                <a:solidFill>
                  <a:schemeClr val="accent6"/>
                </a:solidFill>
              </a:rPr>
              <a:t>Integration with legacy core for phased migration</a:t>
            </a:r>
          </a:p>
          <a:p>
            <a:pPr marL="12700" marR="5080"/>
            <a:r>
              <a:rPr lang="en-US" sz="1400" kern="0" spc="-80" dirty="0">
                <a:solidFill>
                  <a:schemeClr val="accent2"/>
                </a:solidFill>
              </a:rPr>
              <a:t>Artifacts:</a:t>
            </a:r>
          </a:p>
          <a:p>
            <a:pPr marL="12700" marR="5080"/>
            <a:r>
              <a:rPr lang="en-US" sz="1400" kern="0" spc="-80" dirty="0">
                <a:solidFill>
                  <a:schemeClr val="accent6"/>
                </a:solidFill>
              </a:rPr>
              <a:t>Logical Data Model Diagram (PPTX)</a:t>
            </a:r>
          </a:p>
          <a:p>
            <a:pPr marL="12700" marR="5080"/>
            <a:r>
              <a:rPr lang="en-US" sz="1400" kern="0" spc="-80" dirty="0">
                <a:solidFill>
                  <a:schemeClr val="accent6"/>
                </a:solidFill>
              </a:rPr>
              <a:t>Application Interaction Diagram (PPTX)</a:t>
            </a:r>
          </a:p>
          <a:p>
            <a:pPr marL="12700" marR="5080"/>
            <a:r>
              <a:rPr lang="en-US" sz="1400" kern="0" spc="-80" dirty="0">
                <a:solidFill>
                  <a:schemeClr val="accent6"/>
                </a:solidFill>
              </a:rPr>
              <a:t>Gap Analysis Table (XLSX)</a:t>
            </a:r>
          </a:p>
          <a:p>
            <a:pPr marL="12700" marR="5080"/>
            <a:r>
              <a:rPr lang="en-US" sz="1400" kern="0" spc="-80" dirty="0">
                <a:solidFill>
                  <a:schemeClr val="accent2"/>
                </a:solidFill>
              </a:rPr>
              <a:t>Phase D – Technology Architecture</a:t>
            </a:r>
          </a:p>
          <a:p>
            <a:pPr marL="12700" marR="5080"/>
            <a:r>
              <a:rPr lang="en-US" sz="1400" kern="0" spc="-80" dirty="0">
                <a:solidFill>
                  <a:schemeClr val="accent2"/>
                </a:solidFill>
              </a:rPr>
              <a:t>Objective: </a:t>
            </a:r>
            <a:r>
              <a:rPr lang="en-US" sz="1400" kern="0" spc="-80" dirty="0">
                <a:solidFill>
                  <a:schemeClr val="accent6"/>
                </a:solidFill>
              </a:rPr>
              <a:t>Define platform to support microservices and hybrid cloud.</a:t>
            </a:r>
          </a:p>
          <a:p>
            <a:pPr marL="12700" marR="5080"/>
            <a:r>
              <a:rPr lang="en-US" sz="1400" kern="0" spc="-80" dirty="0">
                <a:solidFill>
                  <a:schemeClr val="accent2"/>
                </a:solidFill>
              </a:rPr>
              <a:t>Components:</a:t>
            </a:r>
          </a:p>
          <a:p>
            <a:pPr marL="12700" marR="5080"/>
            <a:r>
              <a:rPr lang="en-US" sz="1400" kern="0" spc="-80" dirty="0">
                <a:solidFill>
                  <a:schemeClr val="accent2"/>
                </a:solidFill>
              </a:rPr>
              <a:t>Hybrid cloud: </a:t>
            </a:r>
            <a:r>
              <a:rPr lang="en-US" sz="1400" kern="0" spc="-80" dirty="0">
                <a:solidFill>
                  <a:schemeClr val="accent6"/>
                </a:solidFill>
              </a:rPr>
              <a:t>On-prem DC + Azure/AWS for microservices</a:t>
            </a:r>
          </a:p>
          <a:p>
            <a:pPr marL="12700" marR="5080"/>
            <a:r>
              <a:rPr lang="en-US" sz="1400" kern="0" spc="-80" dirty="0">
                <a:solidFill>
                  <a:schemeClr val="accent6"/>
                </a:solidFill>
              </a:rPr>
              <a:t>Kubernetes (AKS/EKS) clusters for microservices</a:t>
            </a:r>
          </a:p>
          <a:p>
            <a:pPr marL="12700" marR="5080"/>
            <a:r>
              <a:rPr lang="en-US" sz="1400" kern="0" spc="-80" dirty="0">
                <a:solidFill>
                  <a:schemeClr val="accent6"/>
                </a:solidFill>
              </a:rPr>
              <a:t>CI/CD pipeline with Jenkins/GitHub Actions</a:t>
            </a:r>
          </a:p>
        </p:txBody>
      </p:sp>
    </p:spTree>
    <p:extLst>
      <p:ext uri="{BB962C8B-B14F-4D97-AF65-F5344CB8AC3E}">
        <p14:creationId xmlns:p14="http://schemas.microsoft.com/office/powerpoint/2010/main" val="36608634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A551D-FF61-F773-78BC-8EC845EB6DA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8855D4-15EA-7BB0-DBD9-954DE7C39C4B}"/>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8893102-E187-2E88-84D4-4D909FD0C4E0}"/>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F89CFC1-5F54-CF28-D722-00E8E583663B}"/>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81E425D-4C78-2DF4-E8A0-EC851F87CB0C}"/>
              </a:ext>
            </a:extLst>
          </p:cNvPr>
          <p:cNvSpPr txBox="1">
            <a:spLocks/>
          </p:cNvSpPr>
          <p:nvPr/>
        </p:nvSpPr>
        <p:spPr>
          <a:xfrm>
            <a:off x="313400" y="694301"/>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Example - TOGAF EA Deliverables for BFSI Core Banking Modernization</a:t>
            </a:r>
          </a:p>
          <a:p>
            <a:pPr marL="12700" marR="5080"/>
            <a:r>
              <a:rPr lang="en-US" sz="1400" kern="0" spc="-80" dirty="0">
                <a:solidFill>
                  <a:schemeClr val="accent6"/>
                </a:solidFill>
              </a:rPr>
              <a:t>Security, IAM, monitoring, disaster recovery</a:t>
            </a:r>
          </a:p>
          <a:p>
            <a:pPr marL="12700" marR="5080"/>
            <a:r>
              <a:rPr lang="en-US" sz="1400" kern="0" spc="-80" dirty="0">
                <a:solidFill>
                  <a:schemeClr val="accent2"/>
                </a:solidFill>
              </a:rPr>
              <a:t>Artifacts:</a:t>
            </a:r>
          </a:p>
          <a:p>
            <a:pPr marL="12700" marR="5080"/>
            <a:r>
              <a:rPr lang="en-US" sz="1400" kern="0" spc="-80" dirty="0">
                <a:solidFill>
                  <a:schemeClr val="accent6"/>
                </a:solidFill>
              </a:rPr>
              <a:t>Technology Reference Architecture Diagram (PPTX)</a:t>
            </a:r>
          </a:p>
          <a:p>
            <a:pPr marL="12700" marR="5080"/>
            <a:r>
              <a:rPr lang="en-US" sz="1400" kern="0" spc="-80" dirty="0">
                <a:solidFill>
                  <a:schemeClr val="accent6"/>
                </a:solidFill>
              </a:rPr>
              <a:t>Infrastructure Components Heatmap</a:t>
            </a:r>
          </a:p>
          <a:p>
            <a:pPr marL="12700" marR="5080"/>
            <a:r>
              <a:rPr lang="en-US" sz="1400" kern="0" spc="-80" dirty="0">
                <a:solidFill>
                  <a:schemeClr val="accent2"/>
                </a:solidFill>
              </a:rPr>
              <a:t>Phase E – Opportunities &amp; Solutions</a:t>
            </a:r>
          </a:p>
          <a:p>
            <a:pPr marL="12700" marR="5080"/>
            <a:r>
              <a:rPr lang="en-US" sz="1400" kern="0" spc="-80" dirty="0">
                <a:solidFill>
                  <a:schemeClr val="accent2"/>
                </a:solidFill>
              </a:rPr>
              <a:t>Objective: </a:t>
            </a:r>
            <a:r>
              <a:rPr lang="en-US" sz="1400" kern="0" spc="-80" dirty="0">
                <a:solidFill>
                  <a:schemeClr val="accent6"/>
                </a:solidFill>
              </a:rPr>
              <a:t>Map architectures to executable projects.</a:t>
            </a:r>
          </a:p>
          <a:p>
            <a:pPr marL="12700" marR="5080"/>
            <a:r>
              <a:rPr lang="en-US" sz="1400" kern="0" spc="-80" dirty="0">
                <a:solidFill>
                  <a:schemeClr val="accent2"/>
                </a:solidFill>
              </a:rPr>
              <a:t>Artifacts:</a:t>
            </a:r>
          </a:p>
          <a:p>
            <a:pPr marL="12700" marR="5080"/>
            <a:r>
              <a:rPr lang="en-US" sz="1400" kern="0" spc="-80" dirty="0">
                <a:solidFill>
                  <a:schemeClr val="accent6"/>
                </a:solidFill>
              </a:rPr>
              <a:t>Solution building blocks</a:t>
            </a:r>
          </a:p>
          <a:p>
            <a:pPr marL="12700" marR="5080"/>
            <a:r>
              <a:rPr lang="en-US" sz="1400" kern="0" spc="-80" dirty="0">
                <a:solidFill>
                  <a:schemeClr val="accent2"/>
                </a:solidFill>
              </a:rPr>
              <a:t>Work packages:</a:t>
            </a:r>
          </a:p>
          <a:p>
            <a:pPr marL="12700" marR="5080"/>
            <a:r>
              <a:rPr lang="en-US" sz="1400" kern="0" spc="-80" dirty="0">
                <a:solidFill>
                  <a:schemeClr val="accent6"/>
                </a:solidFill>
              </a:rPr>
              <a:t>Domain microservices development (Customer, Account, Transaction, Loan)</a:t>
            </a:r>
          </a:p>
          <a:p>
            <a:pPr marL="12700" marR="5080"/>
            <a:r>
              <a:rPr lang="en-US" sz="1400" kern="0" spc="-80" dirty="0">
                <a:solidFill>
                  <a:schemeClr val="accent6"/>
                </a:solidFill>
              </a:rPr>
              <a:t>API Gateway implementation</a:t>
            </a:r>
          </a:p>
          <a:p>
            <a:pPr marL="12700" marR="5080"/>
            <a:r>
              <a:rPr lang="en-US" sz="1400" kern="0" spc="-80" dirty="0">
                <a:solidFill>
                  <a:schemeClr val="accent6"/>
                </a:solidFill>
              </a:rPr>
              <a:t>Hybrid cloud platform provisioning</a:t>
            </a:r>
          </a:p>
          <a:p>
            <a:pPr marL="12700" marR="5080"/>
            <a:r>
              <a:rPr lang="en-US" sz="1400" kern="0" spc="-80" dirty="0">
                <a:solidFill>
                  <a:schemeClr val="accent6"/>
                </a:solidFill>
              </a:rPr>
              <a:t>Data migration &amp; MDM rollout</a:t>
            </a:r>
          </a:p>
          <a:p>
            <a:pPr marL="12700" marR="5080"/>
            <a:r>
              <a:rPr lang="en-US" sz="1400" kern="0" spc="-80" dirty="0">
                <a:solidFill>
                  <a:schemeClr val="accent6"/>
                </a:solidFill>
              </a:rPr>
              <a:t>Roadmap for each domain</a:t>
            </a:r>
          </a:p>
          <a:p>
            <a:pPr marL="12700" marR="5080"/>
            <a:r>
              <a:rPr lang="en-US" sz="1400" kern="0" spc="-80" dirty="0">
                <a:solidFill>
                  <a:schemeClr val="accent2"/>
                </a:solidFill>
              </a:rPr>
              <a:t>Phase F – Migration Planning</a:t>
            </a:r>
          </a:p>
          <a:p>
            <a:pPr marL="12700" marR="5080"/>
            <a:r>
              <a:rPr lang="en-US" sz="1400" kern="0" spc="-80" dirty="0">
                <a:solidFill>
                  <a:schemeClr val="accent2"/>
                </a:solidFill>
              </a:rPr>
              <a:t>Objective: </a:t>
            </a:r>
            <a:r>
              <a:rPr lang="en-US" sz="1400" kern="0" spc="-80" dirty="0">
                <a:solidFill>
                  <a:schemeClr val="accent6"/>
                </a:solidFill>
              </a:rPr>
              <a:t>Define phased implementation.</a:t>
            </a:r>
          </a:p>
          <a:p>
            <a:pPr marL="12700" marR="5080"/>
            <a:r>
              <a:rPr lang="en-US" sz="1400" kern="0" spc="-80" dirty="0">
                <a:solidFill>
                  <a:schemeClr val="accent2"/>
                </a:solidFill>
              </a:rPr>
              <a:t>Artifacts:</a:t>
            </a:r>
          </a:p>
          <a:p>
            <a:pPr marL="12700" marR="5080"/>
            <a:r>
              <a:rPr lang="en-US" sz="1400" kern="0" spc="-80" dirty="0">
                <a:solidFill>
                  <a:schemeClr val="accent6"/>
                </a:solidFill>
              </a:rPr>
              <a:t>Migration roadmap (XLSX)</a:t>
            </a:r>
          </a:p>
          <a:p>
            <a:pPr marL="12700" marR="5080"/>
            <a:r>
              <a:rPr lang="en-US" sz="1400" kern="0" spc="-80" dirty="0">
                <a:solidFill>
                  <a:schemeClr val="accent6"/>
                </a:solidFill>
              </a:rPr>
              <a:t>Phase 1: Customer &amp; Account services</a:t>
            </a:r>
          </a:p>
          <a:p>
            <a:pPr marL="12700" marR="5080"/>
            <a:r>
              <a:rPr lang="en-US" sz="1400" kern="0" spc="-80" dirty="0">
                <a:solidFill>
                  <a:schemeClr val="accent6"/>
                </a:solidFill>
              </a:rPr>
              <a:t>Phase 2: Loan &amp; Transaction services</a:t>
            </a:r>
          </a:p>
          <a:p>
            <a:pPr marL="12700" marR="5080"/>
            <a:r>
              <a:rPr lang="en-US" sz="1400" kern="0" spc="-80" dirty="0">
                <a:solidFill>
                  <a:schemeClr val="accent6"/>
                </a:solidFill>
              </a:rPr>
              <a:t>Phase 3: Payments &amp; Treasury services</a:t>
            </a:r>
          </a:p>
          <a:p>
            <a:pPr marL="12700" marR="5080"/>
            <a:r>
              <a:rPr lang="en-US" sz="1400" kern="0" spc="-80" dirty="0">
                <a:solidFill>
                  <a:schemeClr val="accent6"/>
                </a:solidFill>
              </a:rPr>
              <a:t>Dependencies, cost estimates, resource planning</a:t>
            </a:r>
          </a:p>
          <a:p>
            <a:pPr marL="12700" marR="5080"/>
            <a:r>
              <a:rPr lang="en-US" sz="1400" kern="0" spc="-80" dirty="0">
                <a:solidFill>
                  <a:schemeClr val="accent2"/>
                </a:solidFill>
              </a:rPr>
              <a:t>Phase G – Implementation Governance</a:t>
            </a:r>
          </a:p>
          <a:p>
            <a:pPr marL="12700" marR="5080"/>
            <a:r>
              <a:rPr lang="en-US" sz="1400" kern="0" spc="-80" dirty="0">
                <a:solidFill>
                  <a:schemeClr val="accent2"/>
                </a:solidFill>
              </a:rPr>
              <a:t>Objective:</a:t>
            </a:r>
            <a:r>
              <a:rPr lang="en-US" sz="1400" kern="0" spc="-80" dirty="0">
                <a:solidFill>
                  <a:schemeClr val="accent6"/>
                </a:solidFill>
              </a:rPr>
              <a:t> Ensure compliance with architecture.</a:t>
            </a:r>
          </a:p>
        </p:txBody>
      </p:sp>
    </p:spTree>
    <p:extLst>
      <p:ext uri="{BB962C8B-B14F-4D97-AF65-F5344CB8AC3E}">
        <p14:creationId xmlns:p14="http://schemas.microsoft.com/office/powerpoint/2010/main" val="1217197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D42DC-059E-BAAF-8046-9DCFA8825C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014FBDD-4277-4701-06CE-D364E3279D39}"/>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03EE82C-9245-4158-8657-A9DAEF0BDCC2}"/>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2C817F4-0E67-A66B-95E4-9B91E60811E4}"/>
              </a:ext>
            </a:extLst>
          </p:cNvPr>
          <p:cNvGraphicFramePr/>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0E210A32-090C-1402-EAEF-BD7FA4AD4945}"/>
              </a:ext>
            </a:extLst>
          </p:cNvPr>
          <p:cNvSpPr txBox="1">
            <a:spLocks/>
          </p:cNvSpPr>
          <p:nvPr/>
        </p:nvSpPr>
        <p:spPr>
          <a:xfrm>
            <a:off x="313400" y="694301"/>
            <a:ext cx="8624937" cy="36625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Example - TOGAF EA Deliverables for BFSI Core Banking Modernization</a:t>
            </a:r>
          </a:p>
          <a:p>
            <a:pPr marL="12700" marR="5080"/>
            <a:r>
              <a:rPr lang="en-US" sz="1400" kern="0" spc="-80" dirty="0">
                <a:solidFill>
                  <a:schemeClr val="accent2"/>
                </a:solidFill>
              </a:rPr>
              <a:t>Artifacts:</a:t>
            </a:r>
          </a:p>
          <a:p>
            <a:pPr marL="12700" marR="5080"/>
            <a:r>
              <a:rPr lang="en-US" sz="1400" kern="0" spc="-80" dirty="0">
                <a:solidFill>
                  <a:schemeClr val="accent6"/>
                </a:solidFill>
              </a:rPr>
              <a:t>Architecture compliance checklist</a:t>
            </a:r>
          </a:p>
          <a:p>
            <a:pPr marL="12700" marR="5080"/>
            <a:r>
              <a:rPr lang="en-US" sz="1400" kern="0" spc="-80" dirty="0">
                <a:solidFill>
                  <a:schemeClr val="accent6"/>
                </a:solidFill>
              </a:rPr>
              <a:t>Review board schedule</a:t>
            </a:r>
          </a:p>
          <a:p>
            <a:pPr marL="12700" marR="5080"/>
            <a:r>
              <a:rPr lang="en-US" sz="1400" kern="0" spc="-80" dirty="0">
                <a:solidFill>
                  <a:schemeClr val="accent6"/>
                </a:solidFill>
              </a:rPr>
              <a:t>Deviation approval templates</a:t>
            </a:r>
          </a:p>
          <a:p>
            <a:pPr marL="12700" marR="5080"/>
            <a:r>
              <a:rPr lang="en-US" sz="1400" kern="0" spc="-80" dirty="0">
                <a:solidFill>
                  <a:schemeClr val="accent2"/>
                </a:solidFill>
              </a:rPr>
              <a:t>Phase H – Architecture Change Management</a:t>
            </a:r>
          </a:p>
          <a:p>
            <a:pPr marL="12700" marR="5080"/>
            <a:r>
              <a:rPr lang="en-US" sz="1400" kern="0" spc="-80" dirty="0">
                <a:solidFill>
                  <a:schemeClr val="accent2"/>
                </a:solidFill>
              </a:rPr>
              <a:t>Objective: </a:t>
            </a:r>
            <a:r>
              <a:rPr lang="en-US" sz="1400" kern="0" spc="-80" dirty="0">
                <a:solidFill>
                  <a:schemeClr val="accent6"/>
                </a:solidFill>
              </a:rPr>
              <a:t>Ensure EA evolves with business.</a:t>
            </a:r>
          </a:p>
          <a:p>
            <a:pPr marL="12700" marR="5080"/>
            <a:r>
              <a:rPr lang="en-US" sz="1400" kern="0" spc="-80" dirty="0">
                <a:solidFill>
                  <a:schemeClr val="accent2"/>
                </a:solidFill>
              </a:rPr>
              <a:t>Artifacts:</a:t>
            </a:r>
          </a:p>
          <a:p>
            <a:pPr marL="12700" marR="5080"/>
            <a:r>
              <a:rPr lang="en-US" sz="1400" kern="0" spc="-80" dirty="0">
                <a:solidFill>
                  <a:schemeClr val="accent6"/>
                </a:solidFill>
              </a:rPr>
              <a:t>Change management log template (DOCX)</a:t>
            </a:r>
          </a:p>
          <a:p>
            <a:pPr marL="12700" marR="5080"/>
            <a:r>
              <a:rPr lang="en-US" sz="1400" kern="0" spc="-80" dirty="0">
                <a:solidFill>
                  <a:schemeClr val="accent6"/>
                </a:solidFill>
              </a:rPr>
              <a:t>Architecture update guidelines</a:t>
            </a:r>
          </a:p>
          <a:p>
            <a:pPr marL="12700" marR="5080"/>
            <a:r>
              <a:rPr lang="en-US" sz="1400" kern="0" spc="-80" dirty="0">
                <a:solidFill>
                  <a:schemeClr val="accent6"/>
                </a:solidFill>
              </a:rPr>
              <a:t>Periodic assessment metrics</a:t>
            </a:r>
          </a:p>
          <a:p>
            <a:pPr marL="12700" marR="5080"/>
            <a:r>
              <a:rPr lang="en-US" sz="1400" kern="0" spc="-80" dirty="0">
                <a:solidFill>
                  <a:schemeClr val="accent6"/>
                </a:solidFill>
              </a:rPr>
              <a:t>Requirements Management</a:t>
            </a:r>
          </a:p>
          <a:p>
            <a:pPr marL="12700" marR="5080"/>
            <a:r>
              <a:rPr lang="en-US" sz="1400" kern="0" spc="-80" dirty="0">
                <a:solidFill>
                  <a:schemeClr val="accent6"/>
                </a:solidFill>
              </a:rPr>
              <a:t>Central repository linking business drivers → capabilities → data → applications → technology → solutions</a:t>
            </a:r>
          </a:p>
          <a:p>
            <a:pPr marL="12700" marR="5080"/>
            <a:r>
              <a:rPr lang="en-US" sz="1400" kern="0" spc="-80" dirty="0">
                <a:solidFill>
                  <a:schemeClr val="accent6"/>
                </a:solidFill>
              </a:rPr>
              <a:t>Traceability ensured for audit &amp; regulatory compliance.</a:t>
            </a: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14961665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34C3E-3C7D-8891-E508-8888FE3CDD2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B59E37F-EFBD-64EC-0355-AD65A8E1C839}"/>
              </a:ext>
            </a:extLst>
          </p:cNvPr>
          <p:cNvSpPr/>
          <p:nvPr/>
        </p:nvSpPr>
        <p:spPr>
          <a:xfrm>
            <a:off x="1784686" y="43149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82794C-F2BC-7623-F46B-0A5D7A6EFD34}"/>
              </a:ext>
            </a:extLst>
          </p:cNvPr>
          <p:cNvSpPr/>
          <p:nvPr/>
        </p:nvSpPr>
        <p:spPr>
          <a:xfrm>
            <a:off x="1784686" y="5628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099E9BE-638C-0C7E-C293-24C903C7434F}"/>
              </a:ext>
            </a:extLst>
          </p:cNvPr>
          <p:cNvGraphicFramePr/>
          <p:nvPr>
            <p:extLst>
              <p:ext uri="{D42A27DB-BD31-4B8C-83A1-F6EECF244321}">
                <p14:modId xmlns:p14="http://schemas.microsoft.com/office/powerpoint/2010/main" val="3408768351"/>
              </p:ext>
            </p:extLst>
          </p:nvPr>
        </p:nvGraphicFramePr>
        <p:xfrm>
          <a:off x="275300" y="1"/>
          <a:ext cx="8792500" cy="419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1E1641EC-9BC1-924F-1691-4720CF22AD07}"/>
              </a:ext>
            </a:extLst>
          </p:cNvPr>
          <p:cNvSpPr txBox="1">
            <a:spLocks/>
          </p:cNvSpPr>
          <p:nvPr/>
        </p:nvSpPr>
        <p:spPr>
          <a:xfrm>
            <a:off x="282645" y="694301"/>
            <a:ext cx="8624937" cy="51475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For Further Exploration  -  </a:t>
            </a:r>
          </a:p>
          <a:p>
            <a:pPr marL="12700" marR="5080"/>
            <a:r>
              <a:rPr lang="en-US" sz="1700" dirty="0">
                <a:hlinkClick r:id="rId8"/>
              </a:rPr>
              <a:t>Day One as an Enterprise Architect | LinkedIn</a:t>
            </a:r>
            <a:endParaRPr lang="en-US" sz="1700" kern="0" spc="-80" dirty="0">
              <a:solidFill>
                <a:schemeClr val="accent2"/>
              </a:solidFill>
            </a:endParaRPr>
          </a:p>
          <a:p>
            <a:pPr marL="12700" marR="5080"/>
            <a:r>
              <a:rPr lang="en-US" sz="1700" dirty="0">
                <a:hlinkClick r:id="rId9"/>
              </a:rPr>
              <a:t>Standard 10.0 - Level 1 Enterprise Architect Course | Udemy</a:t>
            </a:r>
            <a:r>
              <a:rPr lang="en-US" sz="1700" dirty="0"/>
              <a:t> </a:t>
            </a:r>
          </a:p>
          <a:p>
            <a:pPr marL="12700" marR="5080"/>
            <a:r>
              <a:rPr lang="en-US" sz="1700" dirty="0">
                <a:hlinkClick r:id="rId10"/>
              </a:rPr>
              <a:t>Standard 9.2 - Part 2 Certified Enterprise Architect Course | Udemy</a:t>
            </a:r>
            <a:endParaRPr lang="en-US" sz="1700" dirty="0"/>
          </a:p>
          <a:p>
            <a:pPr marL="12700" marR="5080"/>
            <a:r>
              <a:rPr lang="en-US" sz="1700" dirty="0">
                <a:hlinkClick r:id="rId11"/>
              </a:rPr>
              <a:t>Enterprise Architecture Practitioner with TOGAF 10 Standard | Udemy</a:t>
            </a:r>
            <a:r>
              <a:rPr lang="en-US" sz="1700" dirty="0"/>
              <a:t> </a:t>
            </a:r>
          </a:p>
          <a:p>
            <a:pPr marL="12700" marR="5080"/>
            <a:r>
              <a:rPr lang="en-IN" sz="1700" dirty="0">
                <a:hlinkClick r:id="rId12"/>
              </a:rPr>
              <a:t>Practical Solution Architecture | Udemy</a:t>
            </a:r>
            <a:endParaRPr lang="en-IN" sz="1700" dirty="0"/>
          </a:p>
          <a:p>
            <a:pPr marL="12700" marR="5080"/>
            <a:r>
              <a:rPr lang="en-US" sz="1700" dirty="0">
                <a:hlinkClick r:id="rId13"/>
              </a:rPr>
              <a:t>The Practice of Enterprise Architecture (Part III) | Udemy</a:t>
            </a:r>
            <a:endParaRPr lang="en-US" sz="1700" dirty="0"/>
          </a:p>
          <a:p>
            <a:r>
              <a:rPr lang="en-US" sz="1700" dirty="0">
                <a:hlinkClick r:id="rId14"/>
              </a:rPr>
              <a:t>Enterprise Architecture by Example | Udemy</a:t>
            </a:r>
            <a:endParaRPr lang="en-US" sz="1700" dirty="0"/>
          </a:p>
          <a:p>
            <a:r>
              <a:rPr lang="en-US" sz="1700" dirty="0">
                <a:hlinkClick r:id="rId15"/>
              </a:rPr>
              <a:t>Enterprise Architecture Governance | The Definitive Guide | </a:t>
            </a:r>
            <a:r>
              <a:rPr lang="en-US" sz="1700" dirty="0" err="1">
                <a:hlinkClick r:id="rId15"/>
              </a:rPr>
              <a:t>LeanIX</a:t>
            </a:r>
            <a:endParaRPr lang="en-US" sz="1700" dirty="0"/>
          </a:p>
          <a:p>
            <a:r>
              <a:rPr lang="en-IN" sz="1700" dirty="0">
                <a:hlinkClick r:id="rId16"/>
              </a:rPr>
              <a:t>Enterprise Design Patterns Book — Enterprise Design Patterns</a:t>
            </a:r>
            <a:endParaRPr lang="en-IN" sz="1700" dirty="0"/>
          </a:p>
          <a:p>
            <a:r>
              <a:rPr lang="en-US" sz="1700" dirty="0">
                <a:hlinkClick r:id="rId17"/>
              </a:rPr>
              <a:t>Enterprise Architecture at Work</a:t>
            </a:r>
            <a:endParaRPr lang="en-US" sz="1700" dirty="0"/>
          </a:p>
          <a:p>
            <a:r>
              <a:rPr lang="en-IN" sz="1700" dirty="0">
                <a:hlinkClick r:id="rId18"/>
              </a:rPr>
              <a:t>TOGAF Skill Guide. When I started my TOGAF Learning…</a:t>
            </a:r>
            <a:endParaRPr lang="en-IN" sz="1700" dirty="0"/>
          </a:p>
          <a:p>
            <a:r>
              <a:rPr lang="en-US" sz="1700" dirty="0" err="1">
                <a:hlinkClick r:id="rId19"/>
              </a:rPr>
              <a:t>CloudGAF</a:t>
            </a:r>
            <a:r>
              <a:rPr lang="en-US" sz="1700" dirty="0">
                <a:hlinkClick r:id="rId19"/>
              </a:rPr>
              <a:t> - A Tailored TOGAF Framework for Cloud Adoption</a:t>
            </a:r>
            <a:endParaRPr lang="en-US" sz="1700" dirty="0"/>
          </a:p>
          <a:p>
            <a:r>
              <a:rPr lang="en-US" sz="1700" dirty="0">
                <a:hlinkClick r:id="rId20"/>
              </a:rPr>
              <a:t>Complex Enterprise Architecture: A New Adaptive Systems Approach</a:t>
            </a:r>
            <a:endParaRPr lang="en-US" sz="1700" dirty="0"/>
          </a:p>
          <a:p>
            <a:r>
              <a:rPr lang="en-IN" sz="1700" dirty="0" err="1">
                <a:hlinkClick r:id="rId21"/>
              </a:rPr>
              <a:t>EAWheel</a:t>
            </a:r>
            <a:endParaRPr lang="en-IN" sz="1700" dirty="0"/>
          </a:p>
          <a:p>
            <a:r>
              <a:rPr lang="en-US" sz="1700" dirty="0">
                <a:hlinkClick r:id="rId22"/>
              </a:rPr>
              <a:t>Fundamentals of Enterprise Architecture[Book]</a:t>
            </a:r>
            <a:endParaRPr lang="en-US" sz="1700" dirty="0"/>
          </a:p>
          <a:p>
            <a:r>
              <a:rPr lang="en-IN" sz="1700" dirty="0">
                <a:hlinkClick r:id="rId23"/>
              </a:rPr>
              <a:t>Free Enterprise Architecture Resources – </a:t>
            </a:r>
            <a:r>
              <a:rPr lang="en-IN" sz="1700" dirty="0" err="1">
                <a:hlinkClick r:id="rId23"/>
              </a:rPr>
              <a:t>Conexiam</a:t>
            </a:r>
            <a:r>
              <a:rPr lang="en-IN" sz="1700" dirty="0"/>
              <a:t> </a:t>
            </a:r>
          </a:p>
          <a:p>
            <a:r>
              <a:rPr lang="en-US" sz="1700" dirty="0">
                <a:hlinkClick r:id="rId24"/>
              </a:rPr>
              <a:t>Realize Enterprise Architecture with AWS and </a:t>
            </a:r>
            <a:r>
              <a:rPr lang="en-US" sz="1700" dirty="0" err="1">
                <a:hlinkClick r:id="rId24"/>
              </a:rPr>
              <a:t>SAFe</a:t>
            </a:r>
            <a:endParaRPr lang="en-US" sz="1700" dirty="0"/>
          </a:p>
          <a:p>
            <a:r>
              <a:rPr lang="en-IN" sz="1700" dirty="0">
                <a:hlinkClick r:id="rId25"/>
              </a:rPr>
              <a:t>Technology Strategy Patterns[Book]</a:t>
            </a:r>
            <a:endParaRPr lang="en-IN" sz="1700" dirty="0"/>
          </a:p>
          <a:p>
            <a:pPr marL="12700" marR="5080"/>
            <a:endParaRPr lang="en-US" sz="1150" kern="0" spc="-80" dirty="0">
              <a:solidFill>
                <a:schemeClr val="accent6"/>
              </a:solidFill>
            </a:endParaRPr>
          </a:p>
        </p:txBody>
      </p:sp>
    </p:spTree>
    <p:extLst>
      <p:ext uri="{BB962C8B-B14F-4D97-AF65-F5344CB8AC3E}">
        <p14:creationId xmlns:p14="http://schemas.microsoft.com/office/powerpoint/2010/main" val="25138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pic>
        <p:nvPicPr>
          <p:cNvPr id="1026" name="Picture 2">
            <a:extLst>
              <a:ext uri="{FF2B5EF4-FFF2-40B4-BE49-F238E27FC236}">
                <a16:creationId xmlns:a16="http://schemas.microsoft.com/office/drawing/2014/main" id="{87D2BB94-61CD-4B89-6E92-2F393F8507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199" y="838200"/>
            <a:ext cx="8396337" cy="4114800"/>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2BE392FD-A773-2249-0C48-A53E7BD034F6}"/>
              </a:ext>
            </a:extLst>
          </p:cNvPr>
          <p:cNvSpPr txBox="1">
            <a:spLocks/>
          </p:cNvSpPr>
          <p:nvPr/>
        </p:nvSpPr>
        <p:spPr>
          <a:xfrm>
            <a:off x="259531" y="5067161"/>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 – </a:t>
            </a:r>
          </a:p>
          <a:p>
            <a:pPr marL="12700" marR="5080"/>
            <a:r>
              <a:rPr lang="en-US" sz="1500" dirty="0">
                <a:hlinkClick r:id="rId8"/>
              </a:rPr>
              <a:t>Is ASP.NET MVC a framework, architecture, or a design pattern? </a:t>
            </a:r>
            <a:r>
              <a:rPr lang="en-US" sz="1500" dirty="0">
                <a:hlinkClick r:id="rId9"/>
              </a:rPr>
              <a:t>–</a:t>
            </a:r>
            <a:r>
              <a:rPr lang="en-US" sz="1500" dirty="0">
                <a:hlinkClick r:id="rId8"/>
              </a:rPr>
              <a:t> Quora</a:t>
            </a:r>
            <a:endParaRPr lang="en-US" sz="1500" dirty="0"/>
          </a:p>
          <a:p>
            <a:pPr marL="12700" marR="5080"/>
            <a:r>
              <a:rPr lang="en-IN" sz="1500" dirty="0">
                <a:hlinkClick r:id="rId9"/>
              </a:rPr>
              <a:t>Are Architectural Styles, Patterns &amp; Design Patterns Different | LinkedIn</a:t>
            </a:r>
            <a:endParaRPr lang="en-US" sz="1500" kern="0" spc="-80" dirty="0">
              <a:solidFill>
                <a:schemeClr val="accent6"/>
              </a:solidFill>
            </a:endParaRPr>
          </a:p>
        </p:txBody>
      </p:sp>
    </p:spTree>
    <p:extLst>
      <p:ext uri="{BB962C8B-B14F-4D97-AF65-F5344CB8AC3E}">
        <p14:creationId xmlns:p14="http://schemas.microsoft.com/office/powerpoint/2010/main" val="610263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(Modular/Distributed) Monolith Architecture – </a:t>
            </a:r>
          </a:p>
        </p:txBody>
      </p:sp>
      <p:pic>
        <p:nvPicPr>
          <p:cNvPr id="8194" name="Picture 2" descr="Monolith Architecture | by Chien Hoang | Chien's tech blogs">
            <a:extLst>
              <a:ext uri="{FF2B5EF4-FFF2-40B4-BE49-F238E27FC236}">
                <a16:creationId xmlns:a16="http://schemas.microsoft.com/office/drawing/2014/main" id="{6B1FB9AA-30EE-545A-37DA-B22B28EAAF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027113"/>
            <a:ext cx="9144000" cy="4245473"/>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47D59599-FF81-59EA-AC89-252258F49DA2}"/>
              </a:ext>
            </a:extLst>
          </p:cNvPr>
          <p:cNvSpPr txBox="1">
            <a:spLocks/>
          </p:cNvSpPr>
          <p:nvPr/>
        </p:nvSpPr>
        <p:spPr>
          <a:xfrm>
            <a:off x="137369" y="52578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kern="0" spc="-80" dirty="0">
                <a:solidFill>
                  <a:schemeClr val="accent2"/>
                </a:solidFill>
              </a:rPr>
              <a:t> </a:t>
            </a:r>
            <a:r>
              <a:rPr lang="en-US" sz="1500" dirty="0">
                <a:hlinkClick r:id="rId8"/>
              </a:rPr>
              <a:t>Modular Monolith - Awesome Software Architecture </a:t>
            </a:r>
            <a:r>
              <a:rPr lang="en-US" sz="1600" kern="0" spc="-80" dirty="0">
                <a:solidFill>
                  <a:schemeClr val="accent2"/>
                </a:solidFill>
                <a:hlinkClick r:id="rId8"/>
              </a:rPr>
              <a:t>/</a:t>
            </a:r>
            <a:r>
              <a:rPr lang="en-US" sz="1600" kern="0" spc="-80" dirty="0">
                <a:solidFill>
                  <a:schemeClr val="accent2"/>
                </a:solidFill>
              </a:rPr>
              <a:t> </a:t>
            </a:r>
          </a:p>
        </p:txBody>
      </p:sp>
    </p:spTree>
    <p:extLst>
      <p:ext uri="{BB962C8B-B14F-4D97-AF65-F5344CB8AC3E}">
        <p14:creationId xmlns:p14="http://schemas.microsoft.com/office/powerpoint/2010/main" val="6331192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Microservices Architecture – </a:t>
            </a:r>
          </a:p>
        </p:txBody>
      </p:sp>
      <p:pic>
        <p:nvPicPr>
          <p:cNvPr id="10244" name="Picture 4" descr="Microservices architecture on Google Cloud | Google Cloud Blog">
            <a:extLst>
              <a:ext uri="{FF2B5EF4-FFF2-40B4-BE49-F238E27FC236}">
                <a16:creationId xmlns:a16="http://schemas.microsoft.com/office/drawing/2014/main" id="{69CA7AFF-EC15-E698-A044-1EE7F62EEB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079082"/>
            <a:ext cx="9144000" cy="471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8668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DE1C0-8CEF-6C59-C9F8-A2BA0585812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116C060-BAA4-A1C4-EB2F-873A54A601A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2DAE36-24BA-F0BE-7209-6F5C8D7B603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A6ABF3E-8AE3-A5CB-535C-41E24830B64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5133D7-C455-3F7F-175F-BFE0947D5CB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3216752-B850-697F-95EC-38E2DB48C9F3}"/>
              </a:ext>
            </a:extLst>
          </p:cNvPr>
          <p:cNvSpPr txBox="1">
            <a:spLocks/>
          </p:cNvSpPr>
          <p:nvPr/>
        </p:nvSpPr>
        <p:spPr>
          <a:xfrm>
            <a:off x="137369" y="67101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Microservices Architecture – </a:t>
            </a:r>
          </a:p>
          <a:p>
            <a:pPr marL="12700" marR="5080"/>
            <a:r>
              <a:rPr lang="en-US" sz="2400" kern="0" spc="-80" dirty="0">
                <a:solidFill>
                  <a:schemeClr val="accent2"/>
                </a:solidFill>
              </a:rPr>
              <a:t>Reference Architecture - </a:t>
            </a:r>
          </a:p>
        </p:txBody>
      </p:sp>
      <p:pic>
        <p:nvPicPr>
          <p:cNvPr id="8" name="Picture 7">
            <a:extLst>
              <a:ext uri="{FF2B5EF4-FFF2-40B4-BE49-F238E27FC236}">
                <a16:creationId xmlns:a16="http://schemas.microsoft.com/office/drawing/2014/main" id="{1CDC749F-FEAF-8BCA-2BEC-980345239A0C}"/>
              </a:ext>
            </a:extLst>
          </p:cNvPr>
          <p:cNvPicPr>
            <a:picLocks noChangeAspect="1"/>
          </p:cNvPicPr>
          <p:nvPr/>
        </p:nvPicPr>
        <p:blipFill>
          <a:blip r:embed="rId7"/>
          <a:stretch>
            <a:fillRect/>
          </a:stretch>
        </p:blipFill>
        <p:spPr>
          <a:xfrm>
            <a:off x="0" y="1448413"/>
            <a:ext cx="9144000" cy="4495187"/>
          </a:xfrm>
          <a:prstGeom prst="rect">
            <a:avLst/>
          </a:prstGeom>
        </p:spPr>
      </p:pic>
    </p:spTree>
    <p:extLst>
      <p:ext uri="{BB962C8B-B14F-4D97-AF65-F5344CB8AC3E}">
        <p14:creationId xmlns:p14="http://schemas.microsoft.com/office/powerpoint/2010/main" val="5561193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099A7-413A-9CF3-1D34-72656DA541D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2BE636C-361A-036F-CA99-58B19D25B6F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49619CD-0B12-3497-9193-CA37D94DFDA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362C3D6-9DE5-53C5-F444-C5BCBD30BE4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DCDCBF72-4976-C065-78F6-E3848516BAA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F280CF0-4166-4A49-E2F3-D5DDE7E0DC53}"/>
              </a:ext>
            </a:extLst>
          </p:cNvPr>
          <p:cNvSpPr txBox="1">
            <a:spLocks/>
          </p:cNvSpPr>
          <p:nvPr/>
        </p:nvSpPr>
        <p:spPr>
          <a:xfrm>
            <a:off x="137369" y="67101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Microservices Architecture – </a:t>
            </a:r>
          </a:p>
          <a:p>
            <a:pPr marL="12700" marR="5080"/>
            <a:r>
              <a:rPr lang="en-US" sz="2400" kern="0" spc="-80" dirty="0">
                <a:solidFill>
                  <a:schemeClr val="accent2"/>
                </a:solidFill>
              </a:rPr>
              <a:t>(Typical Java Based) Technology Architecture - </a:t>
            </a:r>
          </a:p>
        </p:txBody>
      </p:sp>
      <p:pic>
        <p:nvPicPr>
          <p:cNvPr id="8" name="Picture 7">
            <a:extLst>
              <a:ext uri="{FF2B5EF4-FFF2-40B4-BE49-F238E27FC236}">
                <a16:creationId xmlns:a16="http://schemas.microsoft.com/office/drawing/2014/main" id="{D68724A5-C64E-6019-9D62-0535852F0473}"/>
              </a:ext>
            </a:extLst>
          </p:cNvPr>
          <p:cNvPicPr>
            <a:picLocks noChangeAspect="1"/>
          </p:cNvPicPr>
          <p:nvPr/>
        </p:nvPicPr>
        <p:blipFill>
          <a:blip r:embed="rId8"/>
          <a:stretch>
            <a:fillRect/>
          </a:stretch>
        </p:blipFill>
        <p:spPr>
          <a:xfrm>
            <a:off x="-30932" y="1365129"/>
            <a:ext cx="9144000" cy="3253309"/>
          </a:xfrm>
          <a:prstGeom prst="rect">
            <a:avLst/>
          </a:prstGeom>
        </p:spPr>
      </p:pic>
      <p:sp>
        <p:nvSpPr>
          <p:cNvPr id="7" name="object 2">
            <a:extLst>
              <a:ext uri="{FF2B5EF4-FFF2-40B4-BE49-F238E27FC236}">
                <a16:creationId xmlns:a16="http://schemas.microsoft.com/office/drawing/2014/main" id="{6A11736F-DC2D-C8FF-5368-064AD76144FF}"/>
              </a:ext>
            </a:extLst>
          </p:cNvPr>
          <p:cNvSpPr txBox="1">
            <a:spLocks/>
          </p:cNvSpPr>
          <p:nvPr/>
        </p:nvSpPr>
        <p:spPr>
          <a:xfrm>
            <a:off x="50212" y="4425133"/>
            <a:ext cx="8624937" cy="15542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100" dirty="0">
                <a:hlinkClick r:id="rId9"/>
              </a:rPr>
              <a:t>Perfect-Roadmap-To-Learn-Java-SpringBoot-In-2024: Roadmap To Learn Java </a:t>
            </a:r>
            <a:r>
              <a:rPr lang="en-IN" sz="1100" dirty="0" err="1">
                <a:hlinkClick r:id="rId9"/>
              </a:rPr>
              <a:t>Springboot</a:t>
            </a:r>
            <a:r>
              <a:rPr lang="en-IN" sz="1100" dirty="0">
                <a:hlinkClick r:id="rId9"/>
              </a:rPr>
              <a:t> in 2024</a:t>
            </a:r>
            <a:endParaRPr lang="en-IN" sz="1100" dirty="0"/>
          </a:p>
          <a:p>
            <a:pPr marL="12700" marR="5080"/>
            <a:r>
              <a:rPr lang="en-US" sz="1100" dirty="0">
                <a:hlinkClick r:id="rId10"/>
              </a:rPr>
              <a:t>Microservices-with-Spring-Boot-and-Spring-Cloud-Third-Edition: Microservices with Spring Boot and Spring Cloud</a:t>
            </a:r>
            <a:endParaRPr lang="en-US" sz="1100" dirty="0"/>
          </a:p>
          <a:p>
            <a:pPr marL="12700" marR="5080"/>
            <a:r>
              <a:rPr lang="en-US" sz="1100" dirty="0">
                <a:hlinkClick r:id="rId11"/>
              </a:rPr>
              <a:t>Practical-Microservices-Architectural-Patterns</a:t>
            </a:r>
          </a:p>
          <a:p>
            <a:pPr marL="12700" marR="5080"/>
            <a:r>
              <a:rPr lang="en-US" sz="1100" dirty="0">
                <a:hlinkClick r:id="rId11"/>
              </a:rPr>
              <a:t>Patterns' by </a:t>
            </a:r>
            <a:r>
              <a:rPr lang="en-US" sz="1100" dirty="0" err="1">
                <a:hlinkClick r:id="rId11"/>
              </a:rPr>
              <a:t>Binildas</a:t>
            </a:r>
            <a:r>
              <a:rPr lang="en-US" sz="1100" dirty="0">
                <a:hlinkClick r:id="rId11"/>
              </a:rPr>
              <a:t> </a:t>
            </a:r>
            <a:r>
              <a:rPr lang="en-US" sz="1100" dirty="0" err="1">
                <a:hlinkClick r:id="rId11"/>
              </a:rPr>
              <a:t>Christudas</a:t>
            </a:r>
            <a:endParaRPr lang="en-US" sz="1100" dirty="0"/>
          </a:p>
          <a:p>
            <a:pPr marL="12700" marR="5080"/>
            <a:r>
              <a:rPr lang="en-IN" sz="1100" dirty="0">
                <a:hlinkClick r:id="rId12"/>
              </a:rPr>
              <a:t>Architecture · </a:t>
            </a:r>
            <a:r>
              <a:rPr lang="en-IN" sz="1100" dirty="0" err="1">
                <a:hlinkClick r:id="rId12"/>
              </a:rPr>
              <a:t>OpenZipkin</a:t>
            </a:r>
            <a:endParaRPr lang="en-IN" sz="1100" dirty="0"/>
          </a:p>
          <a:p>
            <a:pPr marL="12700" marR="5080"/>
            <a:r>
              <a:rPr lang="en-US" sz="1100" dirty="0">
                <a:hlinkClick r:id="rId13"/>
              </a:rPr>
              <a:t>Service Discovery with Zookeeper</a:t>
            </a:r>
            <a:endParaRPr lang="en-US" sz="1100" dirty="0"/>
          </a:p>
          <a:p>
            <a:pPr marL="12700" marR="5080"/>
            <a:r>
              <a:rPr lang="en-US" sz="1100" dirty="0">
                <a:hlinkClick r:id="rId14"/>
              </a:rPr>
              <a:t>Service discovery in .NET - .NET | Microsoft Learn</a:t>
            </a:r>
            <a:endParaRPr lang="en-US" sz="1100" kern="0" spc="-80" dirty="0">
              <a:solidFill>
                <a:schemeClr val="accent2"/>
              </a:solidFill>
            </a:endParaRPr>
          </a:p>
        </p:txBody>
      </p:sp>
    </p:spTree>
    <p:extLst>
      <p:ext uri="{BB962C8B-B14F-4D97-AF65-F5344CB8AC3E}">
        <p14:creationId xmlns:p14="http://schemas.microsoft.com/office/powerpoint/2010/main" val="1992267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71014"/>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EDA(Event Driven Architecture) using Messaging –</a:t>
            </a:r>
          </a:p>
        </p:txBody>
      </p:sp>
      <p:pic>
        <p:nvPicPr>
          <p:cNvPr id="21506" name="Picture 2" descr="Communicating Between Microservices - DZone">
            <a:extLst>
              <a:ext uri="{FF2B5EF4-FFF2-40B4-BE49-F238E27FC236}">
                <a16:creationId xmlns:a16="http://schemas.microsoft.com/office/drawing/2014/main" id="{FDD4DEBC-C35D-66A5-5309-B7A80CD0F6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34" y="1025560"/>
            <a:ext cx="8624937" cy="3079075"/>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1B330A2D-BF5F-8CF4-B650-24603B0B4A3E}"/>
              </a:ext>
            </a:extLst>
          </p:cNvPr>
          <p:cNvSpPr txBox="1">
            <a:spLocks/>
          </p:cNvSpPr>
          <p:nvPr/>
        </p:nvSpPr>
        <p:spPr>
          <a:xfrm>
            <a:off x="152400" y="4227746"/>
            <a:ext cx="8624937" cy="17158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250" dirty="0">
                <a:hlinkClick r:id="rId8"/>
              </a:rPr>
              <a:t>Message Broker vs. Event Broker: When to Use Each One Of Them | </a:t>
            </a:r>
            <a:r>
              <a:rPr lang="en-US" sz="1250" dirty="0" err="1">
                <a:hlinkClick r:id="rId8"/>
              </a:rPr>
              <a:t>Riskified</a:t>
            </a:r>
            <a:r>
              <a:rPr lang="en-US" sz="1250" dirty="0">
                <a:hlinkClick r:id="rId8"/>
              </a:rPr>
              <a:t> Tech</a:t>
            </a:r>
            <a:r>
              <a:rPr lang="en-US" sz="1250" kern="0" spc="-80" dirty="0">
                <a:solidFill>
                  <a:schemeClr val="accent2"/>
                </a:solidFill>
              </a:rPr>
              <a:t>  </a:t>
            </a:r>
          </a:p>
          <a:p>
            <a:pPr marL="12700" marR="5080"/>
            <a:r>
              <a:rPr lang="en-IN" sz="1250" dirty="0" err="1">
                <a:hlinkClick r:id="rId9"/>
              </a:rPr>
              <a:t>Bytebytego</a:t>
            </a:r>
            <a:r>
              <a:rPr lang="en-IN" sz="1250" dirty="0">
                <a:hlinkClick r:id="rId9"/>
              </a:rPr>
              <a:t> on X: "IBM MQ -&gt; RabbitMQ -&gt; Kafka -&gt;Pulsar, </a:t>
            </a:r>
            <a:endParaRPr lang="en-IN" sz="1250" dirty="0"/>
          </a:p>
          <a:p>
            <a:pPr marL="12700" marR="5080"/>
            <a:r>
              <a:rPr lang="en-US" sz="1250" dirty="0">
                <a:hlinkClick r:id="rId10"/>
              </a:rPr>
              <a:t>Azure Service Bus messaging - queues, topics, and subscriptions - Azure Service Bus | Microsoft Learn</a:t>
            </a:r>
            <a:r>
              <a:rPr lang="en-US" sz="1250" kern="0" spc="-80" dirty="0">
                <a:solidFill>
                  <a:schemeClr val="accent2"/>
                </a:solidFill>
              </a:rPr>
              <a:t> </a:t>
            </a:r>
          </a:p>
          <a:p>
            <a:pPr marL="12700" marR="5080"/>
            <a:r>
              <a:rPr lang="en-US" sz="1250" dirty="0">
                <a:hlinkClick r:id="rId11"/>
              </a:rPr>
              <a:t>Best practices for improving performance using Azure Service Bus - Azure Service Bus | Microsoft Learn</a:t>
            </a:r>
            <a:endParaRPr lang="en-US" sz="1250" dirty="0"/>
          </a:p>
          <a:p>
            <a:pPr marL="12700" marR="5080"/>
            <a:r>
              <a:rPr lang="en-US" sz="1250" dirty="0">
                <a:hlinkClick r:id="rId12"/>
              </a:rPr>
              <a:t>Service Bus asynchronous messaging - Azure Service Bus | Microsoft Learn</a:t>
            </a:r>
            <a:endParaRPr lang="en-US" sz="1250" dirty="0"/>
          </a:p>
          <a:p>
            <a:pPr marL="12700" marR="5080"/>
            <a:r>
              <a:rPr lang="en-US" sz="1250" dirty="0">
                <a:hlinkClick r:id="rId13"/>
              </a:rPr>
              <a:t>AMQP 1.0 in Azure Service Bus and Event Hubs - Azure Service Bus | Microsoft Learn</a:t>
            </a:r>
            <a:endParaRPr lang="en-US" sz="1250" dirty="0"/>
          </a:p>
          <a:p>
            <a:pPr marL="12700" marR="5080"/>
            <a:r>
              <a:rPr lang="en-US" sz="1250" dirty="0">
                <a:hlinkClick r:id="rId14"/>
              </a:rPr>
              <a:t>AMQP 0-9-1 Model Explained | RabbitMQ</a:t>
            </a:r>
            <a:endParaRPr lang="en-US" sz="1250" kern="0" spc="-80" dirty="0">
              <a:solidFill>
                <a:schemeClr val="accent2"/>
              </a:solidFill>
            </a:endParaRPr>
          </a:p>
        </p:txBody>
      </p:sp>
      <p:sp>
        <p:nvSpPr>
          <p:cNvPr id="8" name="object 2">
            <a:extLst>
              <a:ext uri="{FF2B5EF4-FFF2-40B4-BE49-F238E27FC236}">
                <a16:creationId xmlns:a16="http://schemas.microsoft.com/office/drawing/2014/main" id="{6D6A65F8-6FA1-933B-CE1D-1309F823DCB2}"/>
              </a:ext>
            </a:extLst>
          </p:cNvPr>
          <p:cNvSpPr txBox="1">
            <a:spLocks/>
          </p:cNvSpPr>
          <p:nvPr/>
        </p:nvSpPr>
        <p:spPr>
          <a:xfrm>
            <a:off x="152400" y="4104635"/>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Erratum – Polish/Subscribe above is a typo mistake. Should be Publish/Subscribe.</a:t>
            </a:r>
          </a:p>
        </p:txBody>
      </p:sp>
    </p:spTree>
    <p:extLst>
      <p:ext uri="{BB962C8B-B14F-4D97-AF65-F5344CB8AC3E}">
        <p14:creationId xmlns:p14="http://schemas.microsoft.com/office/powerpoint/2010/main" val="12792314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71014"/>
            <a:ext cx="89915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EDA(Event Driven Architecture) using </a:t>
            </a:r>
            <a:r>
              <a:rPr lang="en-US" sz="2400" kern="0" spc="-80" dirty="0" err="1">
                <a:solidFill>
                  <a:schemeClr val="accent2"/>
                </a:solidFill>
              </a:rPr>
              <a:t>WebHooks</a:t>
            </a:r>
            <a:r>
              <a:rPr lang="en-US" sz="2400" kern="0" spc="-80" dirty="0">
                <a:solidFill>
                  <a:schemeClr val="accent2"/>
                </a:solidFill>
              </a:rPr>
              <a:t> &amp; </a:t>
            </a:r>
            <a:r>
              <a:rPr lang="en-US" sz="2400" kern="0" spc="-80" dirty="0" err="1">
                <a:solidFill>
                  <a:schemeClr val="accent2"/>
                </a:solidFill>
              </a:rPr>
              <a:t>WebSub</a:t>
            </a:r>
            <a:r>
              <a:rPr lang="en-US" sz="2400" kern="0" spc="-80" dirty="0">
                <a:solidFill>
                  <a:schemeClr val="accent2"/>
                </a:solidFill>
              </a:rPr>
              <a:t> –</a:t>
            </a:r>
          </a:p>
        </p:txBody>
      </p:sp>
      <p:sp>
        <p:nvSpPr>
          <p:cNvPr id="7" name="object 2">
            <a:extLst>
              <a:ext uri="{FF2B5EF4-FFF2-40B4-BE49-F238E27FC236}">
                <a16:creationId xmlns:a16="http://schemas.microsoft.com/office/drawing/2014/main" id="{1B330A2D-BF5F-8CF4-B650-24603B0B4A3E}"/>
              </a:ext>
            </a:extLst>
          </p:cNvPr>
          <p:cNvSpPr txBox="1">
            <a:spLocks/>
          </p:cNvSpPr>
          <p:nvPr/>
        </p:nvSpPr>
        <p:spPr>
          <a:xfrm>
            <a:off x="228600" y="5097214"/>
            <a:ext cx="8624937" cy="8463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600" kern="0" spc="-80" dirty="0">
                <a:solidFill>
                  <a:schemeClr val="accent2"/>
                </a:solidFill>
              </a:rPr>
              <a:t> </a:t>
            </a:r>
            <a:r>
              <a:rPr lang="en-IN" sz="1500" dirty="0">
                <a:hlinkClick r:id="rId7"/>
              </a:rPr>
              <a:t>Event-Driven APIs With Webhook and </a:t>
            </a:r>
            <a:r>
              <a:rPr lang="en-IN" sz="1500" dirty="0" err="1">
                <a:hlinkClick r:id="rId7"/>
              </a:rPr>
              <a:t>WebSub</a:t>
            </a:r>
            <a:endParaRPr lang="en-IN" sz="1500" dirty="0"/>
          </a:p>
          <a:p>
            <a:pPr marL="12700" marR="5080"/>
            <a:r>
              <a:rPr lang="en-US" sz="1500" dirty="0">
                <a:hlinkClick r:id="rId8"/>
              </a:rPr>
              <a:t>ASP.NET </a:t>
            </a:r>
            <a:r>
              <a:rPr lang="en-US" sz="1500" dirty="0" err="1">
                <a:hlinkClick r:id="rId8"/>
              </a:rPr>
              <a:t>WebHooks</a:t>
            </a:r>
            <a:r>
              <a:rPr lang="en-US" sz="1500" dirty="0">
                <a:hlinkClick r:id="rId8"/>
              </a:rPr>
              <a:t> Succinctly</a:t>
            </a:r>
            <a:endParaRPr lang="en-US" sz="1500" kern="0" spc="-80" dirty="0">
              <a:solidFill>
                <a:schemeClr val="accent2"/>
              </a:solidFill>
            </a:endParaRPr>
          </a:p>
        </p:txBody>
      </p:sp>
      <p:pic>
        <p:nvPicPr>
          <p:cNvPr id="1026" name="Picture 2">
            <a:extLst>
              <a:ext uri="{FF2B5EF4-FFF2-40B4-BE49-F238E27FC236}">
                <a16:creationId xmlns:a16="http://schemas.microsoft.com/office/drawing/2014/main" id="{50DDEE9E-B61C-F56B-B655-82D758CB76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1066799"/>
            <a:ext cx="9144000" cy="3145305"/>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BF34E919-7E20-37B4-34B6-53F676978B40}"/>
              </a:ext>
            </a:extLst>
          </p:cNvPr>
          <p:cNvSpPr txBox="1">
            <a:spLocks/>
          </p:cNvSpPr>
          <p:nvPr/>
        </p:nvSpPr>
        <p:spPr>
          <a:xfrm>
            <a:off x="259531" y="4212104"/>
            <a:ext cx="8624937" cy="9694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Notes-</a:t>
            </a:r>
          </a:p>
          <a:p>
            <a:pPr marL="12700" marR="5080"/>
            <a:r>
              <a:rPr lang="en-US" sz="1600" kern="0" spc="-80" dirty="0">
                <a:solidFill>
                  <a:schemeClr val="accent6">
                    <a:lumMod val="75000"/>
                  </a:schemeClr>
                </a:solidFill>
              </a:rPr>
              <a:t>Seems, most legacy/old MQ or Service bus based approaches can be replaced by </a:t>
            </a:r>
            <a:r>
              <a:rPr lang="en-US" sz="1600" kern="0" spc="-80" dirty="0" err="1">
                <a:solidFill>
                  <a:schemeClr val="accent6">
                    <a:lumMod val="75000"/>
                  </a:schemeClr>
                </a:solidFill>
              </a:rPr>
              <a:t>WebHooks</a:t>
            </a:r>
            <a:r>
              <a:rPr lang="en-US" sz="1600" kern="0" spc="-80" dirty="0">
                <a:solidFill>
                  <a:schemeClr val="accent6">
                    <a:lumMod val="75000"/>
                  </a:schemeClr>
                </a:solidFill>
              </a:rPr>
              <a:t> &amp; </a:t>
            </a:r>
            <a:r>
              <a:rPr lang="en-US" sz="1600" kern="0" spc="-80" dirty="0" err="1">
                <a:solidFill>
                  <a:schemeClr val="accent6">
                    <a:lumMod val="75000"/>
                  </a:schemeClr>
                </a:solidFill>
              </a:rPr>
              <a:t>WebSubs</a:t>
            </a:r>
            <a:r>
              <a:rPr lang="en-US" sz="1600" kern="0" spc="-80" dirty="0">
                <a:solidFill>
                  <a:schemeClr val="accent6">
                    <a:lumMod val="75000"/>
                  </a:schemeClr>
                </a:solidFill>
              </a:rPr>
              <a:t> respectively as part of App Modernization, to do most of the tasks in event driven way.</a:t>
            </a:r>
          </a:p>
        </p:txBody>
      </p:sp>
    </p:spTree>
    <p:extLst>
      <p:ext uri="{BB962C8B-B14F-4D97-AF65-F5344CB8AC3E}">
        <p14:creationId xmlns:p14="http://schemas.microsoft.com/office/powerpoint/2010/main" val="13905684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0999" y="110625"/>
          <a:ext cx="838130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31746" name="Picture 2" descr="Introduction to Message Routing - Enterprise Integration Patterns">
            <a:extLst>
              <a:ext uri="{FF2B5EF4-FFF2-40B4-BE49-F238E27FC236}">
                <a16:creationId xmlns:a16="http://schemas.microsoft.com/office/drawing/2014/main" id="{81B8F603-B29D-7B9F-13B8-C2C224E2B9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463" y="838200"/>
            <a:ext cx="8320137" cy="3951238"/>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2">
            <a:extLst>
              <a:ext uri="{FF2B5EF4-FFF2-40B4-BE49-F238E27FC236}">
                <a16:creationId xmlns:a16="http://schemas.microsoft.com/office/drawing/2014/main" id="{AF808C92-1EBD-C20B-9798-F73E7512FB78}"/>
              </a:ext>
            </a:extLst>
          </p:cNvPr>
          <p:cNvSpPr txBox="1">
            <a:spLocks/>
          </p:cNvSpPr>
          <p:nvPr/>
        </p:nvSpPr>
        <p:spPr>
          <a:xfrm>
            <a:off x="8263" y="4789438"/>
            <a:ext cx="8624937" cy="11541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a:t>
            </a:r>
            <a:endParaRPr lang="en-US" sz="2400" kern="0" spc="-80" dirty="0">
              <a:solidFill>
                <a:schemeClr val="accent2"/>
              </a:solidFill>
            </a:endParaRPr>
          </a:p>
          <a:p>
            <a:pPr marL="12700" marR="5080"/>
            <a:r>
              <a:rPr lang="en-IN" sz="1500" dirty="0">
                <a:hlinkClick r:id="rId8"/>
              </a:rPr>
              <a:t>Enterprise Integration Patterns</a:t>
            </a:r>
            <a:r>
              <a:rPr lang="en-US" sz="1500" kern="0" spc="-80" dirty="0">
                <a:solidFill>
                  <a:schemeClr val="accent2"/>
                </a:solidFill>
              </a:rPr>
              <a:t> </a:t>
            </a:r>
          </a:p>
          <a:p>
            <a:pPr marL="12700" marR="5080"/>
            <a:r>
              <a:rPr lang="en-US" sz="1500" dirty="0">
                <a:hlinkClick r:id="rId9"/>
              </a:rPr>
              <a:t>Choosing a Message Exchange Pattern - WCF | Microsoft Learn</a:t>
            </a:r>
            <a:r>
              <a:rPr lang="en-US" sz="1500" kern="0" spc="-80" dirty="0">
                <a:solidFill>
                  <a:schemeClr val="accent2"/>
                </a:solidFill>
              </a:rPr>
              <a:t>   </a:t>
            </a:r>
          </a:p>
          <a:p>
            <a:pPr marL="12700" marR="5080"/>
            <a:r>
              <a:rPr lang="en-IN" sz="1500" dirty="0">
                <a:hlinkClick r:id="rId10"/>
              </a:rPr>
              <a:t>Enterprise Integration Patterns on Azure - Introduction | pacodelacruz.io</a:t>
            </a:r>
            <a:endParaRPr lang="en-IN" sz="1500" dirty="0"/>
          </a:p>
          <a:p>
            <a:pPr marL="12700" marR="5080"/>
            <a:r>
              <a:rPr lang="en-US" sz="1500" dirty="0">
                <a:hlinkClick r:id="rId11"/>
              </a:rPr>
              <a:t>Implementing enterprise integration patterns with AWS messaging services</a:t>
            </a:r>
            <a:endParaRPr lang="en-US" sz="1500" kern="0" spc="-80" dirty="0">
              <a:solidFill>
                <a:schemeClr val="accent2"/>
              </a:solidFill>
            </a:endParaRPr>
          </a:p>
        </p:txBody>
      </p:sp>
    </p:spTree>
    <p:extLst>
      <p:ext uri="{BB962C8B-B14F-4D97-AF65-F5344CB8AC3E}">
        <p14:creationId xmlns:p14="http://schemas.microsoft.com/office/powerpoint/2010/main" val="21502679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0999" y="110625"/>
          <a:ext cx="838130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AF808C92-1EBD-C20B-9798-F73E7512FB78}"/>
              </a:ext>
            </a:extLst>
          </p:cNvPr>
          <p:cNvSpPr txBox="1">
            <a:spLocks/>
          </p:cNvSpPr>
          <p:nvPr/>
        </p:nvSpPr>
        <p:spPr>
          <a:xfrm>
            <a:off x="366663" y="838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iPaaS(Integration Platform as a Service)</a:t>
            </a:r>
            <a:r>
              <a:rPr lang="en-US" sz="1500" kern="0" spc="-80" dirty="0">
                <a:solidFill>
                  <a:schemeClr val="accent2"/>
                </a:solidFill>
              </a:rPr>
              <a:t> </a:t>
            </a:r>
            <a:r>
              <a:rPr lang="en-US" sz="2400" kern="0" spc="-80" dirty="0">
                <a:solidFill>
                  <a:schemeClr val="accent2"/>
                </a:solidFill>
              </a:rPr>
              <a:t>–</a:t>
            </a:r>
            <a:r>
              <a:rPr lang="en-US" sz="1600" kern="0" spc="-80" dirty="0">
                <a:solidFill>
                  <a:schemeClr val="accent2"/>
                </a:solidFill>
              </a:rPr>
              <a:t>  </a:t>
            </a:r>
          </a:p>
        </p:txBody>
      </p:sp>
      <p:sp>
        <p:nvSpPr>
          <p:cNvPr id="3" name="object 2">
            <a:extLst>
              <a:ext uri="{FF2B5EF4-FFF2-40B4-BE49-F238E27FC236}">
                <a16:creationId xmlns:a16="http://schemas.microsoft.com/office/drawing/2014/main" id="{85B16EC7-4DB2-C201-C469-2A4B688E9D41}"/>
              </a:ext>
            </a:extLst>
          </p:cNvPr>
          <p:cNvSpPr txBox="1">
            <a:spLocks/>
          </p:cNvSpPr>
          <p:nvPr/>
        </p:nvSpPr>
        <p:spPr>
          <a:xfrm>
            <a:off x="149998" y="5348955"/>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What is iPaaS? Guide to Integration Platform as a Service</a:t>
            </a:r>
            <a:endParaRPr lang="en-US" sz="1500" kern="0" spc="-80" dirty="0">
              <a:solidFill>
                <a:schemeClr val="accent2"/>
              </a:solidFill>
            </a:endParaRPr>
          </a:p>
        </p:txBody>
      </p:sp>
      <p:pic>
        <p:nvPicPr>
          <p:cNvPr id="10" name="Picture 9">
            <a:extLst>
              <a:ext uri="{FF2B5EF4-FFF2-40B4-BE49-F238E27FC236}">
                <a16:creationId xmlns:a16="http://schemas.microsoft.com/office/drawing/2014/main" id="{CBE65028-5A1C-8020-4F88-9AAC9AA71D58}"/>
              </a:ext>
            </a:extLst>
          </p:cNvPr>
          <p:cNvPicPr>
            <a:picLocks noChangeAspect="1"/>
          </p:cNvPicPr>
          <p:nvPr/>
        </p:nvPicPr>
        <p:blipFill>
          <a:blip r:embed="rId8"/>
          <a:stretch>
            <a:fillRect/>
          </a:stretch>
        </p:blipFill>
        <p:spPr>
          <a:xfrm>
            <a:off x="366662" y="1207532"/>
            <a:ext cx="8167737" cy="3669267"/>
          </a:xfrm>
          <a:prstGeom prst="rect">
            <a:avLst/>
          </a:prstGeom>
        </p:spPr>
      </p:pic>
    </p:spTree>
    <p:extLst>
      <p:ext uri="{BB962C8B-B14F-4D97-AF65-F5344CB8AC3E}">
        <p14:creationId xmlns:p14="http://schemas.microsoft.com/office/powerpoint/2010/main" val="10249112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pic>
        <p:nvPicPr>
          <p:cNvPr id="7" name="Picture 6">
            <a:extLst>
              <a:ext uri="{FF2B5EF4-FFF2-40B4-BE49-F238E27FC236}">
                <a16:creationId xmlns:a16="http://schemas.microsoft.com/office/drawing/2014/main" id="{06D116B2-6FAC-58AB-9231-42179F72312E}"/>
              </a:ext>
            </a:extLst>
          </p:cNvPr>
          <p:cNvPicPr>
            <a:picLocks noChangeAspect="1"/>
          </p:cNvPicPr>
          <p:nvPr/>
        </p:nvPicPr>
        <p:blipFill>
          <a:blip r:embed="rId7"/>
          <a:stretch>
            <a:fillRect/>
          </a:stretch>
        </p:blipFill>
        <p:spPr>
          <a:xfrm>
            <a:off x="0" y="781821"/>
            <a:ext cx="9144000" cy="5127354"/>
          </a:xfrm>
          <a:prstGeom prst="rect">
            <a:avLst/>
          </a:prstGeom>
        </p:spPr>
      </p:pic>
    </p:spTree>
    <p:extLst>
      <p:ext uri="{BB962C8B-B14F-4D97-AF65-F5344CB8AC3E}">
        <p14:creationId xmlns:p14="http://schemas.microsoft.com/office/powerpoint/2010/main" val="19574470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381000" y="685800"/>
            <a:ext cx="8624937" cy="578619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MVC vs MVP vs MVI vs MVVM vs VIPER </a:t>
            </a:r>
            <a:r>
              <a:rPr lang="en-US" sz="2400" kern="0" spc="-80" dirty="0" err="1">
                <a:solidFill>
                  <a:schemeClr val="accent2"/>
                </a:solidFill>
              </a:rPr>
              <a:t>contd</a:t>
            </a:r>
            <a:r>
              <a:rPr lang="en-US" sz="2400" kern="0" spc="-80" dirty="0">
                <a:solidFill>
                  <a:schemeClr val="accent2"/>
                </a:solidFill>
              </a:rPr>
              <a:t>… -</a:t>
            </a:r>
          </a:p>
          <a:p>
            <a:pPr marL="12700" marR="5080"/>
            <a:r>
              <a:rPr lang="en-IN" sz="1600" b="0" i="0" dirty="0">
                <a:effectLst/>
                <a:latin typeface="-apple-system"/>
              </a:rPr>
              <a:t> </a:t>
            </a:r>
            <a:r>
              <a:rPr lang="en-IN" sz="1600" kern="0" spc="-80" dirty="0">
                <a:solidFill>
                  <a:schemeClr val="accent6"/>
                </a:solidFill>
              </a:rPr>
              <a:t>𝗠𝗩𝗖 (𝗠𝗼𝗱𝗲𝗹-𝗩𝗶𝗲𝘄-𝗖𝗼𝗻𝘁𝗿𝗼𝗹𝗹𝗲𝗿): </a:t>
            </a:r>
          </a:p>
          <a:p>
            <a:pPr marL="12700" marR="5080"/>
            <a:r>
              <a:rPr lang="en-IN" sz="1600" kern="0" spc="-80" dirty="0">
                <a:solidFill>
                  <a:schemeClr val="accent6"/>
                </a:solidFill>
              </a:rPr>
              <a:t>  - Classic pattern separating code into three layers:    </a:t>
            </a:r>
          </a:p>
          <a:p>
            <a:pPr marL="12700" marR="5080"/>
            <a:r>
              <a:rPr lang="en-IN" sz="1600" kern="0" spc="-80" dirty="0">
                <a:solidFill>
                  <a:schemeClr val="accent6"/>
                </a:solidFill>
              </a:rPr>
              <a:t>  - 𝗠𝗼𝗱𝗲𝗹: Data and business logic     </a:t>
            </a:r>
          </a:p>
          <a:p>
            <a:pPr marL="12700" marR="5080"/>
            <a:r>
              <a:rPr lang="en-IN" sz="1600" kern="0" spc="-80" dirty="0">
                <a:solidFill>
                  <a:schemeClr val="accent6"/>
                </a:solidFill>
              </a:rPr>
              <a:t>  - 𝗩𝗶𝗲𝘄: Presentation of data to the user     </a:t>
            </a:r>
          </a:p>
          <a:p>
            <a:pPr marL="12700" marR="5080"/>
            <a:r>
              <a:rPr lang="en-IN" sz="1600" kern="0" spc="-80" dirty="0">
                <a:solidFill>
                  <a:schemeClr val="accent6"/>
                </a:solidFill>
              </a:rPr>
              <a:t>  - 𝗖𝗼𝗻𝘁𝗿𝗼𝗹𝗹𝗲𝗿: Handles user input and updates model/view - Simple and familiar,  but can lead to tightly coupled components in complex applications.</a:t>
            </a:r>
          </a:p>
          <a:p>
            <a:pPr marL="12700" marR="5080"/>
            <a:r>
              <a:rPr lang="en-IN" sz="1600" kern="0" spc="-80" dirty="0">
                <a:solidFill>
                  <a:schemeClr val="accent6"/>
                </a:solidFill>
              </a:rPr>
              <a:t>  </a:t>
            </a:r>
            <a:r>
              <a:rPr lang="en-IN" sz="1600" kern="0" spc="-80" dirty="0">
                <a:solidFill>
                  <a:schemeClr val="accent1"/>
                </a:solidFill>
              </a:rPr>
              <a:t> - Can be used for normal Web based MVC Apps(e.g. ASP.NET MVC)</a:t>
            </a:r>
          </a:p>
          <a:p>
            <a:pPr marL="12700" marR="5080"/>
            <a:endParaRPr lang="en-IN" sz="1600" kern="0" spc="-80" dirty="0">
              <a:solidFill>
                <a:schemeClr val="accent1"/>
              </a:solidFill>
            </a:endParaRPr>
          </a:p>
          <a:p>
            <a:pPr marL="12700" marR="5080"/>
            <a:r>
              <a:rPr lang="en-IN" sz="1600" kern="0" spc="-80" dirty="0">
                <a:solidFill>
                  <a:schemeClr val="accent6"/>
                </a:solidFill>
              </a:rPr>
              <a:t> 𝗠𝗩𝗣 (𝗠𝗼𝗱𝗲𝗹-𝗩𝗶𝗲𝘄-𝗣𝗿𝗲𝘀𝗲𝗻𝘁𝗲𝗿): </a:t>
            </a:r>
          </a:p>
          <a:p>
            <a:pPr marL="12700" marR="5080"/>
            <a:r>
              <a:rPr lang="en-IN" sz="1600" kern="0" spc="-80" dirty="0">
                <a:solidFill>
                  <a:schemeClr val="accent6"/>
                </a:solidFill>
              </a:rPr>
              <a:t>  - Introduces a Presenter to mediate between view and model.</a:t>
            </a:r>
          </a:p>
          <a:p>
            <a:pPr marL="12700" marR="5080"/>
            <a:r>
              <a:rPr lang="en-IN" sz="1600" kern="0" spc="-80" dirty="0">
                <a:solidFill>
                  <a:schemeClr val="accent6"/>
                </a:solidFill>
              </a:rPr>
              <a:t>  - Improves separation of concerns and testability. </a:t>
            </a:r>
          </a:p>
          <a:p>
            <a:pPr marL="12700" marR="5080"/>
            <a:r>
              <a:rPr lang="en-IN" sz="1600" kern="0" spc="-80" dirty="0">
                <a:solidFill>
                  <a:schemeClr val="accent6"/>
                </a:solidFill>
              </a:rPr>
              <a:t>  - Requires additional boilerplate code compared to MVC. </a:t>
            </a:r>
          </a:p>
          <a:p>
            <a:pPr marL="12700" marR="5080"/>
            <a:r>
              <a:rPr lang="en-IN" sz="1600" kern="0" spc="-80" dirty="0">
                <a:solidFill>
                  <a:schemeClr val="accent1"/>
                </a:solidFill>
              </a:rPr>
              <a:t>  - Can be used for </a:t>
            </a:r>
            <a:r>
              <a:rPr lang="en-IN" sz="1600" kern="0" spc="-80" dirty="0" err="1">
                <a:solidFill>
                  <a:schemeClr val="accent1"/>
                </a:solidFill>
              </a:rPr>
              <a:t>Winforms</a:t>
            </a:r>
            <a:r>
              <a:rPr lang="en-IN" sz="1600" kern="0" spc="-80" dirty="0">
                <a:solidFill>
                  <a:schemeClr val="accent1"/>
                </a:solidFill>
              </a:rPr>
              <a:t> based Apps</a:t>
            </a:r>
          </a:p>
          <a:p>
            <a:pPr marL="12700" marR="5080"/>
            <a:endParaRPr lang="en-IN" sz="1600" kern="0" spc="-80" dirty="0">
              <a:solidFill>
                <a:schemeClr val="accent1"/>
              </a:solidFill>
            </a:endParaRPr>
          </a:p>
          <a:p>
            <a:pPr marL="12700" marR="5080"/>
            <a:r>
              <a:rPr lang="en-IN" sz="1600" kern="0" spc="-80" dirty="0">
                <a:solidFill>
                  <a:schemeClr val="accent6"/>
                </a:solidFill>
              </a:rPr>
              <a:t> 𝗠𝗩𝗜 (𝗠𝗼𝗱𝗲𝗹-𝗩𝗶𝗲𝘄-𝗜𝗻𝘁𝗲𝗻𝘁): </a:t>
            </a:r>
          </a:p>
          <a:p>
            <a:pPr marL="12700" marR="5080"/>
            <a:r>
              <a:rPr lang="en-IN" sz="1600" kern="0" spc="-80" dirty="0">
                <a:solidFill>
                  <a:schemeClr val="accent6"/>
                </a:solidFill>
              </a:rPr>
              <a:t>  - Built for reactive programming. </a:t>
            </a:r>
          </a:p>
          <a:p>
            <a:pPr marL="12700" marR="5080"/>
            <a:r>
              <a:rPr lang="en-IN" sz="1600" kern="0" spc="-80" dirty="0">
                <a:solidFill>
                  <a:schemeClr val="accent6"/>
                </a:solidFill>
              </a:rPr>
              <a:t>  - View emits intents, handled by the model, updating state and view. </a:t>
            </a:r>
          </a:p>
          <a:p>
            <a:pPr marL="12700" marR="5080"/>
            <a:r>
              <a:rPr lang="en-IN" sz="1600" kern="0" spc="-80" dirty="0">
                <a:solidFill>
                  <a:schemeClr val="accent6"/>
                </a:solidFill>
              </a:rPr>
              <a:t>  - Promotes unidirectional data flow and simplifies UI logic. </a:t>
            </a:r>
          </a:p>
          <a:p>
            <a:pPr marL="12700" marR="5080"/>
            <a:r>
              <a:rPr lang="en-IN" sz="1600" kern="0" spc="-80" dirty="0">
                <a:solidFill>
                  <a:schemeClr val="accent6"/>
                </a:solidFill>
              </a:rPr>
              <a:t>  - May require a steeper learning curve. </a:t>
            </a:r>
          </a:p>
          <a:p>
            <a:pPr marL="12700" marR="5080"/>
            <a:r>
              <a:rPr lang="en-IN" sz="1600" kern="0" spc="-80" dirty="0">
                <a:solidFill>
                  <a:schemeClr val="accent1"/>
                </a:solidFill>
              </a:rPr>
              <a:t>  - Can be used for normal SPA based Web Apps</a:t>
            </a:r>
          </a:p>
          <a:p>
            <a:pPr marL="12700" marR="5080"/>
            <a:endParaRPr lang="en-IN" sz="1600" kern="0" spc="-80" dirty="0">
              <a:solidFill>
                <a:schemeClr val="accent6"/>
              </a:solidFill>
            </a:endParaRPr>
          </a:p>
          <a:p>
            <a:pPr marL="12700" marR="5080"/>
            <a:r>
              <a:rPr lang="en-IN" sz="1600" kern="0" spc="-80" dirty="0">
                <a:solidFill>
                  <a:schemeClr val="accent6"/>
                </a:solidFill>
              </a:rPr>
              <a:t> </a:t>
            </a:r>
            <a:endParaRPr lang="en-US" sz="1600" kern="0" spc="-80" dirty="0">
              <a:solidFill>
                <a:schemeClr val="accent6"/>
              </a:solidFill>
            </a:endParaRPr>
          </a:p>
        </p:txBody>
      </p:sp>
    </p:spTree>
    <p:extLst>
      <p:ext uri="{BB962C8B-B14F-4D97-AF65-F5344CB8AC3E}">
        <p14:creationId xmlns:p14="http://schemas.microsoft.com/office/powerpoint/2010/main" val="22962333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85800"/>
            <a:ext cx="8624937" cy="41857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MVC vs MVP vs MVI vs MVVM vs VIPER </a:t>
            </a:r>
            <a:r>
              <a:rPr lang="en-US" sz="2400" kern="0" spc="-80" dirty="0" err="1">
                <a:solidFill>
                  <a:schemeClr val="accent2"/>
                </a:solidFill>
              </a:rPr>
              <a:t>contd</a:t>
            </a:r>
            <a:r>
              <a:rPr lang="en-US" sz="2400" kern="0" spc="-80" dirty="0">
                <a:solidFill>
                  <a:schemeClr val="accent2"/>
                </a:solidFill>
              </a:rPr>
              <a:t>… -</a:t>
            </a:r>
          </a:p>
          <a:p>
            <a:pPr marL="12700" marR="5080"/>
            <a:r>
              <a:rPr lang="en-IN" sz="2400" kern="0" spc="-80" dirty="0">
                <a:solidFill>
                  <a:schemeClr val="accent6"/>
                </a:solidFill>
              </a:rPr>
              <a:t> </a:t>
            </a:r>
            <a:r>
              <a:rPr lang="en-IN" sz="1600" kern="0" spc="-80" dirty="0">
                <a:solidFill>
                  <a:schemeClr val="accent6"/>
                </a:solidFill>
              </a:rPr>
              <a:t>𝗠𝗩𝗩𝗠 (𝗠𝗼𝗱𝗲𝗹-𝗩𝗶𝗲𝘄-𝗩𝗶𝗲𝘄𝗠𝗼𝗱𝗲𝗹): </a:t>
            </a:r>
          </a:p>
          <a:p>
            <a:pPr marL="12700" marR="5080"/>
            <a:r>
              <a:rPr lang="en-IN" sz="1600" kern="0" spc="-80" dirty="0">
                <a:solidFill>
                  <a:schemeClr val="accent6"/>
                </a:solidFill>
              </a:rPr>
              <a:t>  - View binds to a </a:t>
            </a:r>
            <a:r>
              <a:rPr lang="en-IN" sz="1600" kern="0" spc="-80" dirty="0" err="1">
                <a:solidFill>
                  <a:schemeClr val="accent6"/>
                </a:solidFill>
              </a:rPr>
              <a:t>ViewModel</a:t>
            </a:r>
            <a:r>
              <a:rPr lang="en-IN" sz="1600" kern="0" spc="-80" dirty="0">
                <a:solidFill>
                  <a:schemeClr val="accent6"/>
                </a:solidFill>
              </a:rPr>
              <a:t> holding data and display logic. </a:t>
            </a:r>
          </a:p>
          <a:p>
            <a:pPr marL="12700" marR="5080"/>
            <a:r>
              <a:rPr lang="en-IN" sz="1600" kern="0" spc="-80" dirty="0">
                <a:solidFill>
                  <a:schemeClr val="accent6"/>
                </a:solidFill>
              </a:rPr>
              <a:t>  - </a:t>
            </a:r>
            <a:r>
              <a:rPr lang="en-IN" sz="1600" kern="0" spc="-80" dirty="0" err="1">
                <a:solidFill>
                  <a:schemeClr val="accent6"/>
                </a:solidFill>
              </a:rPr>
              <a:t>ViewModel</a:t>
            </a:r>
            <a:r>
              <a:rPr lang="en-IN" sz="1600" kern="0" spc="-80" dirty="0">
                <a:solidFill>
                  <a:schemeClr val="accent6"/>
                </a:solidFill>
              </a:rPr>
              <a:t> updates by the model, then updates the view. </a:t>
            </a:r>
          </a:p>
          <a:p>
            <a:pPr marL="12700" marR="5080"/>
            <a:r>
              <a:rPr lang="en-IN" sz="1600" kern="0" spc="-80" dirty="0">
                <a:solidFill>
                  <a:schemeClr val="accent6"/>
                </a:solidFill>
              </a:rPr>
              <a:t>  - Well-suited for reactive frameworks and complex UIs. </a:t>
            </a:r>
          </a:p>
          <a:p>
            <a:pPr marL="12700" marR="5080"/>
            <a:r>
              <a:rPr lang="en-IN" sz="1600" kern="0" spc="-80" dirty="0">
                <a:solidFill>
                  <a:schemeClr val="accent6"/>
                </a:solidFill>
              </a:rPr>
              <a:t>  - Requires additional </a:t>
            </a:r>
            <a:r>
              <a:rPr lang="en-IN" sz="1600" kern="0" spc="-80" dirty="0" err="1">
                <a:solidFill>
                  <a:schemeClr val="accent6"/>
                </a:solidFill>
              </a:rPr>
              <a:t>ViewModel</a:t>
            </a:r>
            <a:r>
              <a:rPr lang="en-IN" sz="1600" kern="0" spc="-80" dirty="0">
                <a:solidFill>
                  <a:schemeClr val="accent6"/>
                </a:solidFill>
              </a:rPr>
              <a:t> setup compared to MVP. </a:t>
            </a:r>
          </a:p>
          <a:p>
            <a:pPr marL="12700" marR="5080"/>
            <a:r>
              <a:rPr lang="en-IN" sz="1600" kern="0" spc="-80" dirty="0">
                <a:solidFill>
                  <a:schemeClr val="accent1"/>
                </a:solidFill>
              </a:rPr>
              <a:t>  - Can be used for WPF Apps &amp; Mobile Native Apps</a:t>
            </a:r>
          </a:p>
          <a:p>
            <a:pPr marL="12700" marR="5080"/>
            <a:endParaRPr lang="en-IN" sz="1600" kern="0" spc="-80" dirty="0">
              <a:solidFill>
                <a:schemeClr val="accent1"/>
              </a:solidFill>
            </a:endParaRPr>
          </a:p>
          <a:p>
            <a:pPr marL="12700" marR="5080"/>
            <a:r>
              <a:rPr lang="en-IN" sz="1600" b="0" i="0" dirty="0">
                <a:effectLst/>
                <a:latin typeface="-apple-system"/>
              </a:rPr>
              <a:t> </a:t>
            </a:r>
            <a:r>
              <a:rPr lang="en-IN" sz="1600" kern="0" spc="-80" dirty="0">
                <a:solidFill>
                  <a:schemeClr val="accent6"/>
                </a:solidFill>
              </a:rPr>
              <a:t> 𝗩𝗜𝗣𝗘𝗥 (𝗩𝗶𝗲𝘄, 𝗜𝗻𝘁𝗲𝗿𝗮𝗰𝘁𝗼𝗿, 𝗣𝗿𝗲𝘀𝗲𝗻𝘁𝗲𝗿, 𝗘𝗻𝘁𝗶𝘁𝘆, 𝗥𝗼𝘂𝘁𝗲𝗿): </a:t>
            </a:r>
          </a:p>
          <a:p>
            <a:pPr marL="12700" marR="5080"/>
            <a:r>
              <a:rPr lang="en-IN" sz="1600" kern="0" spc="-80" dirty="0">
                <a:solidFill>
                  <a:schemeClr val="accent6"/>
                </a:solidFill>
              </a:rPr>
              <a:t>   - Designed for large and complex applications. </a:t>
            </a:r>
          </a:p>
          <a:p>
            <a:pPr marL="12700" marR="5080"/>
            <a:r>
              <a:rPr lang="en-IN" sz="1600" kern="0" spc="-80" dirty="0">
                <a:solidFill>
                  <a:schemeClr val="accent6"/>
                </a:solidFill>
              </a:rPr>
              <a:t>   - Five layers: View, Interactor (business logic), Presenter (data preparation), Entity (data models), Router (data flow coordination). </a:t>
            </a:r>
          </a:p>
          <a:p>
            <a:pPr marL="12700" marR="5080"/>
            <a:r>
              <a:rPr lang="en-IN" sz="1600" kern="0" spc="-80" dirty="0">
                <a:solidFill>
                  <a:schemeClr val="accent6"/>
                </a:solidFill>
              </a:rPr>
              <a:t>   - Enhances modularity and maintainability for massive projects. </a:t>
            </a:r>
          </a:p>
          <a:p>
            <a:pPr marL="12700" marR="5080"/>
            <a:r>
              <a:rPr lang="en-IN" sz="1600" kern="0" spc="-80" dirty="0">
                <a:solidFill>
                  <a:schemeClr val="accent6"/>
                </a:solidFill>
              </a:rPr>
              <a:t>   - Requires meticulous planning and understanding due to its complexity.</a:t>
            </a:r>
          </a:p>
          <a:p>
            <a:pPr marL="12700" marR="5080"/>
            <a:r>
              <a:rPr lang="en-IN" sz="1600" kern="0" spc="-80" dirty="0">
                <a:solidFill>
                  <a:schemeClr val="accent1"/>
                </a:solidFill>
              </a:rPr>
              <a:t>   - Can be used for Real Time Web Apps(&amp; Mobile Native Apps &amp; Embedded Systems)</a:t>
            </a:r>
          </a:p>
          <a:p>
            <a:pPr marL="12700" marR="5080"/>
            <a:endParaRPr lang="en-IN" sz="1600" kern="0" spc="-80" dirty="0">
              <a:solidFill>
                <a:schemeClr val="accent1"/>
              </a:solidFill>
            </a:endParaRPr>
          </a:p>
        </p:txBody>
      </p:sp>
    </p:spTree>
    <p:extLst>
      <p:ext uri="{BB962C8B-B14F-4D97-AF65-F5344CB8AC3E}">
        <p14:creationId xmlns:p14="http://schemas.microsoft.com/office/powerpoint/2010/main" val="31658216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85800"/>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MVC vs MVP vs MVI vs MVVM vs VIPER </a:t>
            </a:r>
            <a:r>
              <a:rPr lang="en-US" sz="2400" kern="0" spc="-80" dirty="0" err="1">
                <a:solidFill>
                  <a:schemeClr val="accent2"/>
                </a:solidFill>
              </a:rPr>
              <a:t>contd</a:t>
            </a:r>
            <a:r>
              <a:rPr lang="en-US" sz="2400" kern="0" spc="-80" dirty="0">
                <a:solidFill>
                  <a:schemeClr val="accent2"/>
                </a:solidFill>
              </a:rPr>
              <a:t>… -</a:t>
            </a:r>
          </a:p>
          <a:p>
            <a:pPr marL="12700" marR="5080"/>
            <a:r>
              <a:rPr lang="en-IN" sz="2400" kern="0" spc="-80" dirty="0">
                <a:solidFill>
                  <a:schemeClr val="accent6"/>
                </a:solidFill>
              </a:rPr>
              <a:t> 𝗖𝗵𝗼𝗼𝘀𝗶𝗻𝗴 𝘁𝗵𝗲 𝗥𝗶𝗴𝗵𝘁 𝗣𝗮𝘁𝘁𝗲𝗿𝗻: </a:t>
            </a:r>
          </a:p>
          <a:p>
            <a:pPr marL="12700" marR="5080"/>
            <a:r>
              <a:rPr lang="en-IN" sz="1600" kern="0" spc="-80" dirty="0">
                <a:solidFill>
                  <a:schemeClr val="accent6"/>
                </a:solidFill>
              </a:rPr>
              <a:t>  The optimal pattern depends on various factors, including: </a:t>
            </a:r>
          </a:p>
          <a:p>
            <a:pPr marL="12700" marR="5080"/>
            <a:r>
              <a:rPr lang="en-IN" sz="1600" kern="0" spc="-80" dirty="0">
                <a:solidFill>
                  <a:schemeClr val="accent6"/>
                </a:solidFill>
              </a:rPr>
              <a:t>    - 𝗣𝗿𝗼𝗷𝗲𝗰𝘁 𝘀𝗶𝘇𝗲 𝗮𝗻𝗱 𝗰𝗼𝗺𝗽𝗹𝗲𝘅𝗶𝘁𝘆: MVC/MVP for simple apps, MVI/MVVM for reactive apps, VIPER for large projects. </a:t>
            </a:r>
          </a:p>
          <a:p>
            <a:pPr marL="12700" marR="5080"/>
            <a:r>
              <a:rPr lang="en-IN" sz="1600" kern="0" spc="-80" dirty="0">
                <a:solidFill>
                  <a:schemeClr val="accent6"/>
                </a:solidFill>
              </a:rPr>
              <a:t>    - 𝗧𝗲𝗮𝗺 𝗲𝘅𝗽𝗲𝗿𝗶𝗲𝗻𝗰𝗲: Choose a pattern familiar to your team to avoid learning curves.</a:t>
            </a:r>
          </a:p>
          <a:p>
            <a:pPr marL="12700" marR="5080"/>
            <a:r>
              <a:rPr lang="en-IN" sz="1600" kern="0" spc="-80" dirty="0">
                <a:solidFill>
                  <a:schemeClr val="accent6"/>
                </a:solidFill>
              </a:rPr>
              <a:t>    - 𝗣𝗲𝗿𝘀𝗼𝗻𝗮𝗹 𝗽𝗿𝗲𝗳𝗲𝗿𝗲𝗻𝗰𝗲: Experiment and find what works best for you and your team.</a:t>
            </a:r>
          </a:p>
          <a:p>
            <a:pPr marL="12700" marR="5080"/>
            <a:endParaRPr lang="en-IN" sz="1600" kern="0" spc="-80" dirty="0">
              <a:solidFill>
                <a:schemeClr val="accent6"/>
              </a:solidFill>
            </a:endParaRPr>
          </a:p>
        </p:txBody>
      </p:sp>
      <p:sp>
        <p:nvSpPr>
          <p:cNvPr id="7" name="object 2">
            <a:extLst>
              <a:ext uri="{FF2B5EF4-FFF2-40B4-BE49-F238E27FC236}">
                <a16:creationId xmlns:a16="http://schemas.microsoft.com/office/drawing/2014/main" id="{DF2FF321-84F5-A6AC-317B-D3A2AFACD421}"/>
              </a:ext>
            </a:extLst>
          </p:cNvPr>
          <p:cNvSpPr txBox="1">
            <a:spLocks/>
          </p:cNvSpPr>
          <p:nvPr/>
        </p:nvSpPr>
        <p:spPr>
          <a:xfrm>
            <a:off x="19280" y="4974104"/>
            <a:ext cx="8624937" cy="10002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For Further Exploration-</a:t>
            </a:r>
          </a:p>
          <a:p>
            <a:pPr marL="12700" marR="5080"/>
            <a:r>
              <a:rPr lang="en-US" sz="1600" dirty="0">
                <a:hlinkClick r:id="rId7"/>
              </a:rPr>
              <a:t>MVVM-pattern-.NET-MAUI</a:t>
            </a:r>
            <a:endParaRPr lang="en-US" sz="1600" dirty="0"/>
          </a:p>
          <a:p>
            <a:pPr marL="12700" marR="5080"/>
            <a:r>
              <a:rPr lang="en-US" sz="1600" dirty="0" err="1">
                <a:hlinkClick r:id="rId8"/>
              </a:rPr>
              <a:t>Swift_VIPER_Demo</a:t>
            </a:r>
            <a:r>
              <a:rPr lang="en-US" sz="1600" dirty="0">
                <a:hlinkClick r:id="rId8"/>
              </a:rPr>
              <a:t>: A Sample App Demoing the VIPER Architecture Pattern</a:t>
            </a:r>
            <a:endParaRPr lang="en-US" sz="1600" dirty="0"/>
          </a:p>
          <a:p>
            <a:pPr marL="12700" marR="5080"/>
            <a:r>
              <a:rPr lang="en-US" sz="1600" dirty="0">
                <a:hlinkClick r:id="rId9"/>
              </a:rPr>
              <a:t>The-Book-of-VIPER</a:t>
            </a:r>
            <a:endParaRPr lang="en-US" sz="1500" kern="0" spc="-80" dirty="0">
              <a:solidFill>
                <a:schemeClr val="accent2"/>
              </a:solidFill>
            </a:endParaRPr>
          </a:p>
        </p:txBody>
      </p:sp>
    </p:spTree>
    <p:extLst>
      <p:ext uri="{BB962C8B-B14F-4D97-AF65-F5344CB8AC3E}">
        <p14:creationId xmlns:p14="http://schemas.microsoft.com/office/powerpoint/2010/main" val="37664401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Hexagonal Architecture – </a:t>
            </a:r>
          </a:p>
        </p:txBody>
      </p:sp>
      <p:sp>
        <p:nvSpPr>
          <p:cNvPr id="9" name="object 2">
            <a:extLst>
              <a:ext uri="{FF2B5EF4-FFF2-40B4-BE49-F238E27FC236}">
                <a16:creationId xmlns:a16="http://schemas.microsoft.com/office/drawing/2014/main" id="{7C37DC4B-7FEE-2D46-4FCB-1E24A5C5706A}"/>
              </a:ext>
            </a:extLst>
          </p:cNvPr>
          <p:cNvSpPr txBox="1">
            <a:spLocks/>
          </p:cNvSpPr>
          <p:nvPr/>
        </p:nvSpPr>
        <p:spPr>
          <a:xfrm>
            <a:off x="137369" y="532804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Hexagonal Architecture - Awesome Software Architecture</a:t>
            </a:r>
            <a:r>
              <a:rPr lang="en-US" sz="1600" kern="0" spc="-80" dirty="0">
                <a:solidFill>
                  <a:schemeClr val="accent2"/>
                </a:solidFill>
              </a:rPr>
              <a:t>  </a:t>
            </a:r>
          </a:p>
        </p:txBody>
      </p:sp>
      <p:pic>
        <p:nvPicPr>
          <p:cNvPr id="1026" name="Picture 2">
            <a:extLst>
              <a:ext uri="{FF2B5EF4-FFF2-40B4-BE49-F238E27FC236}">
                <a16:creationId xmlns:a16="http://schemas.microsoft.com/office/drawing/2014/main" id="{643E1EBC-724D-B806-95EF-6427C20AA55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369" y="1040346"/>
            <a:ext cx="8778031" cy="42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664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10387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Onion Architecture –</a:t>
            </a:r>
          </a:p>
          <a:p>
            <a:pPr marL="12700" marR="5080"/>
            <a:r>
              <a:rPr lang="en-US" sz="1450" kern="0" spc="-80" dirty="0">
                <a:solidFill>
                  <a:schemeClr val="accent6"/>
                </a:solidFill>
              </a:rPr>
              <a:t>Onion Architecture adds layers to the core of Hexagonal Architecture with the rule that each layer can only depend on more central layers, and the most central layer – the domain model – only depends on itself. </a:t>
            </a:r>
          </a:p>
        </p:txBody>
      </p:sp>
      <p:sp>
        <p:nvSpPr>
          <p:cNvPr id="9" name="object 2">
            <a:extLst>
              <a:ext uri="{FF2B5EF4-FFF2-40B4-BE49-F238E27FC236}">
                <a16:creationId xmlns:a16="http://schemas.microsoft.com/office/drawing/2014/main" id="{7C37DC4B-7FEE-2D46-4FCB-1E24A5C5706A}"/>
              </a:ext>
            </a:extLst>
          </p:cNvPr>
          <p:cNvSpPr txBox="1">
            <a:spLocks/>
          </p:cNvSpPr>
          <p:nvPr/>
        </p:nvSpPr>
        <p:spPr>
          <a:xfrm>
            <a:off x="137369" y="53280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Onion Architecture - Awesome Software Architecture</a:t>
            </a:r>
            <a:endParaRPr lang="en-US" sz="1500" kern="0" spc="-80" dirty="0">
              <a:solidFill>
                <a:schemeClr val="accent2"/>
              </a:solidFill>
            </a:endParaRPr>
          </a:p>
        </p:txBody>
      </p:sp>
      <p:pic>
        <p:nvPicPr>
          <p:cNvPr id="4098" name="Picture 2" descr="Onion Architecture – @hgraca">
            <a:extLst>
              <a:ext uri="{FF2B5EF4-FFF2-40B4-BE49-F238E27FC236}">
                <a16:creationId xmlns:a16="http://schemas.microsoft.com/office/drawing/2014/main" id="{B0433093-D28A-294C-8ECF-EDB52534FFF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 y="2286000"/>
            <a:ext cx="7886700" cy="2986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19221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5924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Clean Architecture –</a:t>
            </a:r>
          </a:p>
          <a:p>
            <a:pPr marL="12700" marR="5080"/>
            <a:r>
              <a:rPr lang="en-US" sz="1450" kern="0" spc="-80" dirty="0">
                <a:solidFill>
                  <a:schemeClr val="accent6"/>
                </a:solidFill>
              </a:rPr>
              <a:t>Clean Architecture almost equates Onion Architecture with some equivalent alternate names.</a:t>
            </a:r>
          </a:p>
        </p:txBody>
      </p:sp>
      <p:pic>
        <p:nvPicPr>
          <p:cNvPr id="3074" name="Picture 2" descr="Choosing Between using Clean/Onion or Vertical Slice Architecture for  Enterprise Apps in .NET : r/dotnet">
            <a:extLst>
              <a:ext uri="{FF2B5EF4-FFF2-40B4-BE49-F238E27FC236}">
                <a16:creationId xmlns:a16="http://schemas.microsoft.com/office/drawing/2014/main" id="{A4294CBD-4BC9-DDCE-0AC6-9E9F17EEF2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369" y="1331500"/>
            <a:ext cx="7353300" cy="3697699"/>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2">
            <a:extLst>
              <a:ext uri="{FF2B5EF4-FFF2-40B4-BE49-F238E27FC236}">
                <a16:creationId xmlns:a16="http://schemas.microsoft.com/office/drawing/2014/main" id="{7C37DC4B-7FEE-2D46-4FCB-1E24A5C5706A}"/>
              </a:ext>
            </a:extLst>
          </p:cNvPr>
          <p:cNvSpPr txBox="1">
            <a:spLocks/>
          </p:cNvSpPr>
          <p:nvPr/>
        </p:nvSpPr>
        <p:spPr>
          <a:xfrm>
            <a:off x="138063" y="4881771"/>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Pragmatic Clean Architecture | Milan Jovanović</a:t>
            </a:r>
            <a:endParaRPr lang="en-US" sz="1500" dirty="0"/>
          </a:p>
          <a:p>
            <a:pPr marL="12700" marR="5080"/>
            <a:r>
              <a:rPr lang="en-US" sz="1500" dirty="0">
                <a:hlinkClick r:id="rId9"/>
              </a:rPr>
              <a:t>Clean Architecture - Awesome Software Architecture</a:t>
            </a:r>
            <a:endParaRPr lang="en-US" sz="1500" dirty="0"/>
          </a:p>
          <a:p>
            <a:pPr marL="12700" marR="5080"/>
            <a:r>
              <a:rPr lang="en-IN" sz="1500" dirty="0">
                <a:hlinkClick r:id="rId10"/>
              </a:rPr>
              <a:t>Hexagonal vs Onion vs Clean Architecture | LinkedIn</a:t>
            </a:r>
            <a:endParaRPr lang="en-US" sz="1500" kern="0" spc="-80" dirty="0">
              <a:solidFill>
                <a:schemeClr val="accent2"/>
              </a:solidFill>
            </a:endParaRPr>
          </a:p>
        </p:txBody>
      </p:sp>
    </p:spTree>
    <p:extLst>
      <p:ext uri="{BB962C8B-B14F-4D97-AF65-F5344CB8AC3E}">
        <p14:creationId xmlns:p14="http://schemas.microsoft.com/office/powerpoint/2010/main" val="32900833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Vertical Slice Architecture – </a:t>
            </a:r>
          </a:p>
        </p:txBody>
      </p:sp>
      <p:sp>
        <p:nvSpPr>
          <p:cNvPr id="9" name="object 2">
            <a:extLst>
              <a:ext uri="{FF2B5EF4-FFF2-40B4-BE49-F238E27FC236}">
                <a16:creationId xmlns:a16="http://schemas.microsoft.com/office/drawing/2014/main" id="{7C37DC4B-7FEE-2D46-4FCB-1E24A5C5706A}"/>
              </a:ext>
            </a:extLst>
          </p:cNvPr>
          <p:cNvSpPr txBox="1">
            <a:spLocks/>
          </p:cNvSpPr>
          <p:nvPr/>
        </p:nvSpPr>
        <p:spPr>
          <a:xfrm>
            <a:off x="137369" y="5105400"/>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7"/>
              </a:rPr>
              <a:t>Vertical Slice Architecture</a:t>
            </a:r>
            <a:endParaRPr lang="en-IN" sz="1500" dirty="0"/>
          </a:p>
          <a:p>
            <a:pPr marL="12700" marR="5080"/>
            <a:r>
              <a:rPr lang="en-US" sz="1500" dirty="0">
                <a:hlinkClick r:id="rId8"/>
              </a:rPr>
              <a:t>Vertical Slice Architecture - Awesome Software Architecture</a:t>
            </a:r>
            <a:endParaRPr lang="en-US" sz="1500" kern="0" spc="-80" dirty="0">
              <a:solidFill>
                <a:schemeClr val="accent2"/>
              </a:solidFill>
            </a:endParaRPr>
          </a:p>
        </p:txBody>
      </p:sp>
      <p:pic>
        <p:nvPicPr>
          <p:cNvPr id="6146" name="Picture 2" descr="Software Architecture – Part 4: Vertical-Slice Architecture | For the love  of challenges :)">
            <a:extLst>
              <a:ext uri="{FF2B5EF4-FFF2-40B4-BE49-F238E27FC236}">
                <a16:creationId xmlns:a16="http://schemas.microsoft.com/office/drawing/2014/main" id="{48722137-028F-7F54-3EE3-E603E6A5D41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0463" y="990600"/>
            <a:ext cx="8122017" cy="409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4344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85800"/>
            <a:ext cx="8624937" cy="54014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DDD(Domain Driven Design) Concepts –</a:t>
            </a:r>
            <a:br>
              <a:rPr lang="en-US" sz="2400" kern="0" spc="-80" dirty="0">
                <a:solidFill>
                  <a:schemeClr val="accent2"/>
                </a:solidFill>
              </a:rPr>
            </a:br>
            <a:r>
              <a:rPr lang="en-US" sz="1450" b="0" i="0" dirty="0">
                <a:effectLst/>
                <a:latin typeface="-apple-system"/>
              </a:rPr>
              <a:t>🔍 </a:t>
            </a:r>
            <a:r>
              <a:rPr lang="en-US" sz="1450" kern="0" spc="-80" dirty="0">
                <a:solidFill>
                  <a:schemeClr val="accent2"/>
                </a:solidFill>
              </a:rPr>
              <a:t>Understanding the Domain</a:t>
            </a:r>
            <a:r>
              <a:rPr lang="en-US" sz="1450" kern="0" spc="-80" dirty="0">
                <a:solidFill>
                  <a:schemeClr val="accent6"/>
                </a:solidFill>
              </a:rPr>
              <a:t>: At the heart of DDD is a deep dive into the business domain you're dealing with. It's all about comprehending the intricacies, rules, and intricacies of the problem space. </a:t>
            </a:r>
          </a:p>
          <a:p>
            <a:pPr marL="12700" marR="5080"/>
            <a:r>
              <a:rPr lang="en-US" sz="1450" kern="0" spc="-80" dirty="0">
                <a:solidFill>
                  <a:schemeClr val="accent6"/>
                </a:solidFill>
              </a:rPr>
              <a:t>🧩 </a:t>
            </a:r>
            <a:r>
              <a:rPr lang="en-US" sz="1450" kern="0" spc="-80" dirty="0">
                <a:solidFill>
                  <a:schemeClr val="accent2"/>
                </a:solidFill>
              </a:rPr>
              <a:t>Ubiquitous Language</a:t>
            </a:r>
            <a:r>
              <a:rPr lang="en-US" sz="1450" kern="0" spc="-80" dirty="0">
                <a:solidFill>
                  <a:schemeClr val="accent6"/>
                </a:solidFill>
              </a:rPr>
              <a:t>: DDD encourages the development of a common, shared language between developers and domain experts. This shared vocabulary ensures everyone is on the same page, fostering better collaboration. </a:t>
            </a:r>
          </a:p>
          <a:p>
            <a:pPr marL="12700" marR="5080"/>
            <a:r>
              <a:rPr lang="en-US" sz="1450" kern="0" spc="-80" dirty="0">
                <a:solidFill>
                  <a:schemeClr val="accent6"/>
                </a:solidFill>
              </a:rPr>
              <a:t>🏗️ </a:t>
            </a:r>
            <a:r>
              <a:rPr lang="en-US" sz="1450" kern="0" spc="-80" dirty="0">
                <a:solidFill>
                  <a:schemeClr val="accent2"/>
                </a:solidFill>
              </a:rPr>
              <a:t>Bounded Contexts</a:t>
            </a:r>
            <a:r>
              <a:rPr lang="en-US" sz="1450" kern="0" spc="-80" dirty="0">
                <a:solidFill>
                  <a:schemeClr val="accent6"/>
                </a:solidFill>
              </a:rPr>
              <a:t>: DDD suggests dividing complex systems into smaller, manageable "bounded contexts." These contexts have their own rules and definitions, providing a clean way to manage complexity. </a:t>
            </a:r>
          </a:p>
          <a:p>
            <a:pPr marL="12700" marR="5080"/>
            <a:r>
              <a:rPr lang="en-US" sz="1450" kern="0" spc="-80" dirty="0">
                <a:solidFill>
                  <a:schemeClr val="accent6"/>
                </a:solidFill>
              </a:rPr>
              <a:t>📦 </a:t>
            </a:r>
            <a:r>
              <a:rPr lang="en-US" sz="1450" kern="0" spc="-80" dirty="0">
                <a:solidFill>
                  <a:schemeClr val="accent2"/>
                </a:solidFill>
              </a:rPr>
              <a:t>Aggregates and Entities</a:t>
            </a:r>
            <a:r>
              <a:rPr lang="en-US" sz="1450" kern="0" spc="-80" dirty="0">
                <a:solidFill>
                  <a:schemeClr val="accent6"/>
                </a:solidFill>
              </a:rPr>
              <a:t>: DDD promotes modeling the domain using aggregates and entities, which encapsulate business rules and ensure data integrity. This helps create maintainable and understandable code. </a:t>
            </a:r>
          </a:p>
          <a:p>
            <a:pPr marL="12700" marR="5080"/>
            <a:r>
              <a:rPr lang="en-US" sz="1450" kern="0" spc="-80" dirty="0">
                <a:solidFill>
                  <a:schemeClr val="accent6"/>
                </a:solidFill>
              </a:rPr>
              <a:t>🛠️ </a:t>
            </a:r>
            <a:r>
              <a:rPr lang="en-US" sz="1450" kern="0" spc="-80" dirty="0">
                <a:solidFill>
                  <a:schemeClr val="accent2"/>
                </a:solidFill>
              </a:rPr>
              <a:t>Value Objects</a:t>
            </a:r>
            <a:r>
              <a:rPr lang="en-US" sz="1450" kern="0" spc="-80" dirty="0">
                <a:solidFill>
                  <a:schemeClr val="accent6"/>
                </a:solidFill>
              </a:rPr>
              <a:t>: Value objects, another DDD concept, represent immutable elements within the domain, such as currency, addresses, or date ranges. They promote simplicity and code reusability. </a:t>
            </a:r>
          </a:p>
          <a:p>
            <a:pPr marL="12700" marR="5080"/>
            <a:r>
              <a:rPr lang="en-US" sz="1450" kern="0" spc="-80" dirty="0">
                <a:solidFill>
                  <a:schemeClr val="accent6"/>
                </a:solidFill>
              </a:rPr>
              <a:t>🌌 </a:t>
            </a:r>
            <a:r>
              <a:rPr lang="en-US" sz="1450" kern="0" spc="-80" dirty="0">
                <a:solidFill>
                  <a:schemeClr val="accent2"/>
                </a:solidFill>
              </a:rPr>
              <a:t>Repositories</a:t>
            </a:r>
            <a:r>
              <a:rPr lang="en-US" sz="1450" kern="0" spc="-80" dirty="0">
                <a:solidFill>
                  <a:schemeClr val="accent6"/>
                </a:solidFill>
              </a:rPr>
              <a:t>: Repositories provide a way to access domain objects without exposing their underlying details. They are crucial for abstracting data access. </a:t>
            </a:r>
          </a:p>
          <a:p>
            <a:pPr marL="12700" marR="5080"/>
            <a:r>
              <a:rPr lang="en-US" sz="1450" kern="0" spc="-80" dirty="0">
                <a:solidFill>
                  <a:schemeClr val="accent6"/>
                </a:solidFill>
              </a:rPr>
              <a:t>🧬 </a:t>
            </a:r>
            <a:r>
              <a:rPr lang="en-US" sz="1450" kern="0" spc="-80" dirty="0">
                <a:solidFill>
                  <a:schemeClr val="accent2"/>
                </a:solidFill>
              </a:rPr>
              <a:t>Event-Driven Architecture:</a:t>
            </a:r>
            <a:r>
              <a:rPr lang="en-US" sz="1450" kern="0" spc="-80" dirty="0">
                <a:solidFill>
                  <a:schemeClr val="accent6"/>
                </a:solidFill>
              </a:rPr>
              <a:t> DDD aligns well with event-driven architectures, allowing systems to respond to domain events and changes. </a:t>
            </a:r>
          </a:p>
          <a:p>
            <a:pPr marL="12700" marR="5080"/>
            <a:endParaRPr lang="en-US" sz="1450" kern="0" spc="-80" dirty="0">
              <a:solidFill>
                <a:schemeClr val="accent6"/>
              </a:solidFill>
            </a:endParaRPr>
          </a:p>
          <a:p>
            <a:pPr marL="12700" marR="5080"/>
            <a:r>
              <a:rPr lang="en-US" sz="1500" kern="0" spc="-80" dirty="0">
                <a:solidFill>
                  <a:schemeClr val="accent2"/>
                </a:solidFill>
              </a:rPr>
              <a:t>For Further Exploration </a:t>
            </a:r>
            <a:r>
              <a:rPr lang="en-US" sz="1500" kern="0" spc="-80" dirty="0">
                <a:solidFill>
                  <a:schemeClr val="accent2"/>
                </a:solidFill>
                <a:hlinkClick r:id="rId7"/>
              </a:rPr>
              <a:t>–</a:t>
            </a:r>
            <a:r>
              <a:rPr lang="en-US" sz="1500" kern="0" spc="-80" dirty="0">
                <a:solidFill>
                  <a:schemeClr val="accent2"/>
                </a:solidFill>
              </a:rPr>
              <a:t> </a:t>
            </a:r>
          </a:p>
          <a:p>
            <a:pPr marL="12700" marR="5080"/>
            <a:r>
              <a:rPr lang="en-US" sz="1500" kern="0" spc="-80" dirty="0">
                <a:solidFill>
                  <a:schemeClr val="accent2"/>
                </a:solidFill>
              </a:rPr>
              <a:t> </a:t>
            </a:r>
            <a:r>
              <a:rPr lang="en-IN" sz="900" dirty="0">
                <a:hlinkClick r:id="rId8"/>
              </a:rPr>
              <a:t>Understanding Domain Objects, Entities, DTOs &amp; Models</a:t>
            </a:r>
            <a:endParaRPr lang="en-IN" sz="900" dirty="0"/>
          </a:p>
          <a:p>
            <a:pPr marL="12700" marR="5080"/>
            <a:r>
              <a:rPr lang="en-US" sz="900" kern="0" spc="-80" dirty="0">
                <a:solidFill>
                  <a:schemeClr val="accent2"/>
                </a:solidFill>
              </a:rPr>
              <a:t>  </a:t>
            </a:r>
            <a:r>
              <a:rPr lang="en-US" sz="900" dirty="0">
                <a:hlinkClick r:id="rId9"/>
              </a:rPr>
              <a:t>Domain Driven Design - Awesome Software Architecture</a:t>
            </a:r>
            <a:endParaRPr lang="en-US" sz="900" dirty="0"/>
          </a:p>
          <a:p>
            <a:pPr marL="12700" marR="5080"/>
            <a:r>
              <a:rPr lang="en-US" sz="900" kern="0" spc="-80" dirty="0">
                <a:solidFill>
                  <a:schemeClr val="accent2"/>
                </a:solidFill>
              </a:rPr>
              <a:t>  </a:t>
            </a:r>
            <a:r>
              <a:rPr lang="en-US" sz="900" dirty="0">
                <a:hlinkClick r:id="rId7"/>
              </a:rPr>
              <a:t>DDD-Based-Enterprise-Application-Framework: A Domain Driven Design Based Enterprise Application Framework</a:t>
            </a:r>
            <a:endParaRPr lang="en-US" sz="900" kern="0" spc="-80" dirty="0">
              <a:solidFill>
                <a:schemeClr val="accent2"/>
              </a:solidFill>
            </a:endParaRPr>
          </a:p>
          <a:p>
            <a:pPr marL="12700" marR="5080"/>
            <a:r>
              <a:rPr lang="en-US" sz="900" kern="0" spc="-80" dirty="0">
                <a:solidFill>
                  <a:schemeClr val="accent6"/>
                </a:solidFill>
              </a:rPr>
              <a:t>  </a:t>
            </a:r>
            <a:r>
              <a:rPr lang="en-US" sz="900" dirty="0">
                <a:hlinkClick r:id="rId10"/>
              </a:rPr>
              <a:t>Event Driven Architecture - Awesome Software Architecture</a:t>
            </a:r>
            <a:endParaRPr lang="en-US" sz="900" kern="0" spc="-80" dirty="0">
              <a:solidFill>
                <a:schemeClr val="accent6"/>
              </a:solidFill>
            </a:endParaRPr>
          </a:p>
        </p:txBody>
      </p:sp>
    </p:spTree>
    <p:extLst>
      <p:ext uri="{BB962C8B-B14F-4D97-AF65-F5344CB8AC3E}">
        <p14:creationId xmlns:p14="http://schemas.microsoft.com/office/powerpoint/2010/main" val="17693391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CQRS(Command Query Responsibility Segregation) - </a:t>
            </a:r>
            <a:endParaRPr lang="en-US" sz="1500" kern="0" spc="-80" dirty="0">
              <a:solidFill>
                <a:schemeClr val="accent2"/>
              </a:solidFill>
            </a:endParaRPr>
          </a:p>
        </p:txBody>
      </p:sp>
      <p:pic>
        <p:nvPicPr>
          <p:cNvPr id="1026" name="Picture 2" descr="Diagram showing a high level Simplified CQRS and DDD microservice.">
            <a:extLst>
              <a:ext uri="{FF2B5EF4-FFF2-40B4-BE49-F238E27FC236}">
                <a16:creationId xmlns:a16="http://schemas.microsoft.com/office/drawing/2014/main" id="{D2CBAE6F-8289-1A0A-4597-C2F3320080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101760"/>
            <a:ext cx="9144000" cy="4079840"/>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24ED3F65-21EF-EC62-DC6D-B04DD06731DD}"/>
              </a:ext>
            </a:extLst>
          </p:cNvPr>
          <p:cNvSpPr txBox="1">
            <a:spLocks/>
          </p:cNvSpPr>
          <p:nvPr/>
        </p:nvSpPr>
        <p:spPr>
          <a:xfrm>
            <a:off x="76200" y="5112603"/>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Applying simplified CQRS and DDD patterns in a microservice - .NET | Microsoft Learn</a:t>
            </a:r>
            <a:endParaRPr lang="en-US" sz="1500" dirty="0"/>
          </a:p>
          <a:p>
            <a:pPr marL="12700" marR="5080"/>
            <a:r>
              <a:rPr lang="en-IN" sz="1500" dirty="0">
                <a:hlinkClick r:id="rId9"/>
              </a:rPr>
              <a:t>CQRS - Awesome Software Architecture</a:t>
            </a:r>
            <a:endParaRPr lang="en-US" sz="1500" kern="0" spc="-80" dirty="0">
              <a:solidFill>
                <a:schemeClr val="accent2"/>
              </a:solidFill>
            </a:endParaRPr>
          </a:p>
        </p:txBody>
      </p:sp>
    </p:spTree>
    <p:extLst>
      <p:ext uri="{BB962C8B-B14F-4D97-AF65-F5344CB8AC3E}">
        <p14:creationId xmlns:p14="http://schemas.microsoft.com/office/powerpoint/2010/main" val="1522126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Event Storming vs Event Sourcing - </a:t>
            </a:r>
            <a:endParaRPr lang="en-US" sz="1500" kern="0" spc="-80" dirty="0">
              <a:solidFill>
                <a:schemeClr val="accent2"/>
              </a:solidFill>
            </a:endParaRPr>
          </a:p>
        </p:txBody>
      </p:sp>
      <p:pic>
        <p:nvPicPr>
          <p:cNvPr id="2052" name="Picture 4" descr="Event Sourcing vs Stream Processing: Progressing to Real-Time Streams">
            <a:extLst>
              <a:ext uri="{FF2B5EF4-FFF2-40B4-BE49-F238E27FC236}">
                <a16:creationId xmlns:a16="http://schemas.microsoft.com/office/drawing/2014/main" id="{2B24D483-F2BE-9B5D-1B82-92CFD2C6DA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010774"/>
            <a:ext cx="7620000" cy="4018426"/>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EE502F46-797E-EEA4-FA0F-25B7CCA3B55D}"/>
              </a:ext>
            </a:extLst>
          </p:cNvPr>
          <p:cNvSpPr txBox="1">
            <a:spLocks/>
          </p:cNvSpPr>
          <p:nvPr/>
        </p:nvSpPr>
        <p:spPr>
          <a:xfrm>
            <a:off x="137369" y="5029200"/>
            <a:ext cx="8624937" cy="8617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kern="0" spc="-80" dirty="0">
                <a:solidFill>
                  <a:schemeClr val="accent2"/>
                </a:solidFill>
              </a:rPr>
              <a:t> </a:t>
            </a:r>
            <a:r>
              <a:rPr lang="en-US" sz="1500" dirty="0">
                <a:hlinkClick r:id="rId8"/>
              </a:rPr>
              <a:t>Event Storming - Awesome Software Architecture</a:t>
            </a:r>
            <a:r>
              <a:rPr lang="en-US" sz="1500" kern="0" spc="-80" dirty="0">
                <a:solidFill>
                  <a:schemeClr val="accent2"/>
                </a:solidFill>
              </a:rPr>
              <a:t> </a:t>
            </a:r>
          </a:p>
          <a:p>
            <a:pPr marL="12700" marR="5080"/>
            <a:r>
              <a:rPr lang="en-US" sz="1500" kern="0" spc="-80" dirty="0">
                <a:solidFill>
                  <a:schemeClr val="accent2"/>
                </a:solidFill>
                <a:hlinkClick r:id="rId9"/>
              </a:rPr>
              <a:t> </a:t>
            </a:r>
            <a:r>
              <a:rPr lang="en-US" sz="1500" dirty="0">
                <a:hlinkClick r:id="rId9"/>
              </a:rPr>
              <a:t>Event Sourcing - Awesome Software Architecture</a:t>
            </a:r>
            <a:r>
              <a:rPr lang="en-US" sz="1600" kern="0" spc="-80" dirty="0">
                <a:solidFill>
                  <a:schemeClr val="accent2"/>
                </a:solidFill>
              </a:rPr>
              <a:t> </a:t>
            </a:r>
          </a:p>
        </p:txBody>
      </p:sp>
    </p:spTree>
    <p:extLst>
      <p:ext uri="{BB962C8B-B14F-4D97-AF65-F5344CB8AC3E}">
        <p14:creationId xmlns:p14="http://schemas.microsoft.com/office/powerpoint/2010/main" val="214304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854231" cy="25083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2400" kern="0" spc="-80" dirty="0">
                <a:solidFill>
                  <a:schemeClr val="accent2"/>
                </a:solidFill>
              </a:rPr>
              <a:t>For Further Exploration(some are legacy/old patterns though) – </a:t>
            </a:r>
          </a:p>
          <a:p>
            <a:pPr marL="12700" marR="5080"/>
            <a:r>
              <a:rPr lang="en-IN" sz="2400" kern="0" spc="-80" dirty="0">
                <a:solidFill>
                  <a:schemeClr val="accent2"/>
                </a:solidFill>
              </a:rPr>
              <a:t> </a:t>
            </a:r>
            <a:r>
              <a:rPr lang="en-US" sz="1500" dirty="0">
                <a:hlinkClick r:id="rId7"/>
              </a:rPr>
              <a:t>Catalog of Patterns of Enterprise Application Architecture</a:t>
            </a:r>
            <a:r>
              <a:rPr lang="en-IN" sz="1500" kern="0" spc="-80" dirty="0">
                <a:solidFill>
                  <a:schemeClr val="accent2"/>
                </a:solidFill>
              </a:rPr>
              <a:t> </a:t>
            </a:r>
          </a:p>
          <a:p>
            <a:pPr marL="12700" marR="5080"/>
            <a:endParaRPr lang="en-IN" sz="1500" kern="0" spc="-80" dirty="0">
              <a:solidFill>
                <a:schemeClr val="accent2"/>
              </a:solidFill>
            </a:endParaRPr>
          </a:p>
          <a:p>
            <a:pPr marL="12700" marR="5080"/>
            <a:r>
              <a:rPr lang="en-IN" sz="1500" kern="0" spc="-80" dirty="0">
                <a:solidFill>
                  <a:schemeClr val="accent2"/>
                </a:solidFill>
              </a:rPr>
              <a:t>  </a:t>
            </a:r>
            <a:r>
              <a:rPr lang="en-IN" sz="1500" dirty="0">
                <a:hlinkClick r:id="rId8"/>
              </a:rPr>
              <a:t>Martin Fowler: </a:t>
            </a:r>
            <a:r>
              <a:rPr lang="en-IN" sz="1500" dirty="0" err="1">
                <a:hlinkClick r:id="rId8"/>
              </a:rPr>
              <a:t>eaaDev</a:t>
            </a:r>
            <a:r>
              <a:rPr lang="en-IN" sz="1500" kern="0" spc="-80" dirty="0">
                <a:solidFill>
                  <a:schemeClr val="accent2"/>
                </a:solidFill>
              </a:rPr>
              <a:t> </a:t>
            </a:r>
          </a:p>
          <a:p>
            <a:pPr marL="12700" marR="5080"/>
            <a:endParaRPr lang="en-IN" sz="1500" kern="0" spc="-80" dirty="0">
              <a:solidFill>
                <a:schemeClr val="accent2"/>
              </a:solidFill>
            </a:endParaRPr>
          </a:p>
          <a:p>
            <a:pPr marL="12700" marR="5080"/>
            <a:r>
              <a:rPr lang="en-IN" sz="1500" kern="0" spc="-80" dirty="0">
                <a:solidFill>
                  <a:schemeClr val="accent2"/>
                </a:solidFill>
              </a:rPr>
              <a:t>  </a:t>
            </a:r>
            <a:r>
              <a:rPr lang="en-IN" sz="1500" dirty="0">
                <a:hlinkClick r:id="rId9"/>
              </a:rPr>
              <a:t>Core J2EE Patterns</a:t>
            </a:r>
            <a:endParaRPr lang="en-IN" sz="1500" dirty="0"/>
          </a:p>
          <a:p>
            <a:pPr marL="12700" marR="5080"/>
            <a:endParaRPr lang="en-IN" sz="1500" kern="0" spc="-80" dirty="0">
              <a:solidFill>
                <a:schemeClr val="accent2"/>
              </a:solidFill>
            </a:endParaRPr>
          </a:p>
          <a:p>
            <a:pPr marL="12700" marR="5080"/>
            <a:r>
              <a:rPr lang="en-IN" sz="1500" kern="0" spc="-80">
                <a:solidFill>
                  <a:schemeClr val="accent2"/>
                </a:solidFill>
              </a:rPr>
              <a:t>  </a:t>
            </a:r>
            <a:r>
              <a:rPr lang="en-IN" sz="1600">
                <a:hlinkClick r:id="rId10"/>
              </a:rPr>
              <a:t>.NET application architecture guides | .NET</a:t>
            </a:r>
            <a:r>
              <a:rPr lang="en-IN" sz="1600"/>
              <a:t> </a:t>
            </a:r>
            <a:endParaRPr lang="en-US" sz="1500" kern="0" spc="-80" dirty="0">
              <a:solidFill>
                <a:schemeClr val="accent2"/>
              </a:solidFill>
            </a:endParaRPr>
          </a:p>
        </p:txBody>
      </p:sp>
    </p:spTree>
    <p:extLst>
      <p:ext uri="{BB962C8B-B14F-4D97-AF65-F5344CB8AC3E}">
        <p14:creationId xmlns:p14="http://schemas.microsoft.com/office/powerpoint/2010/main" val="11731965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515628276"/>
              </p:ext>
            </p:extLst>
          </p:nvPr>
        </p:nvGraphicFramePr>
        <p:xfrm>
          <a:off x="380999" y="34425"/>
          <a:ext cx="84725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7D59599-FF81-59EA-AC89-252258F49DA2}"/>
              </a:ext>
            </a:extLst>
          </p:cNvPr>
          <p:cNvSpPr txBox="1">
            <a:spLocks/>
          </p:cNvSpPr>
          <p:nvPr/>
        </p:nvSpPr>
        <p:spPr>
          <a:xfrm>
            <a:off x="137369" y="4803085"/>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7"/>
              </a:rPr>
              <a:t>Microservices - Awesome Software Architecture</a:t>
            </a:r>
            <a:endParaRPr lang="en-IN" sz="1500" dirty="0"/>
          </a:p>
          <a:p>
            <a:pPr marL="12700" marR="5080"/>
            <a:r>
              <a:rPr lang="en-US" sz="1500" dirty="0">
                <a:hlinkClick r:id="rId8"/>
              </a:rPr>
              <a:t>Microservices vs APIs - Difference Between Modular Software Design Approaches - AWS</a:t>
            </a:r>
            <a:r>
              <a:rPr lang="en-US" sz="1500" kern="0" spc="-80" dirty="0">
                <a:solidFill>
                  <a:schemeClr val="accent2"/>
                </a:solidFill>
              </a:rPr>
              <a:t> </a:t>
            </a:r>
          </a:p>
          <a:p>
            <a:pPr marL="12700" marR="5080"/>
            <a:r>
              <a:rPr lang="en-US" sz="1500" dirty="0">
                <a:hlinkClick r:id="rId9"/>
              </a:rPr>
              <a:t>Microservices vs Service-Oriented Architecture by Mark Richards | Goodreads</a:t>
            </a:r>
            <a:endParaRPr lang="en-US" sz="1500" kern="0" spc="-80" dirty="0">
              <a:solidFill>
                <a:schemeClr val="accent2"/>
              </a:solidFill>
            </a:endParaRPr>
          </a:p>
        </p:txBody>
      </p:sp>
      <p:pic>
        <p:nvPicPr>
          <p:cNvPr id="10" name="Picture 9">
            <a:extLst>
              <a:ext uri="{FF2B5EF4-FFF2-40B4-BE49-F238E27FC236}">
                <a16:creationId xmlns:a16="http://schemas.microsoft.com/office/drawing/2014/main" id="{5F2C0B30-08EC-CE67-A445-2DD56DC6A608}"/>
              </a:ext>
            </a:extLst>
          </p:cNvPr>
          <p:cNvPicPr>
            <a:picLocks noChangeAspect="1"/>
          </p:cNvPicPr>
          <p:nvPr/>
        </p:nvPicPr>
        <p:blipFill>
          <a:blip r:embed="rId10"/>
          <a:stretch>
            <a:fillRect/>
          </a:stretch>
        </p:blipFill>
        <p:spPr>
          <a:xfrm>
            <a:off x="137369" y="838200"/>
            <a:ext cx="8716168" cy="3341177"/>
          </a:xfrm>
          <a:prstGeom prst="rect">
            <a:avLst/>
          </a:prstGeom>
        </p:spPr>
      </p:pic>
    </p:spTree>
    <p:extLst>
      <p:ext uri="{BB962C8B-B14F-4D97-AF65-F5344CB8AC3E}">
        <p14:creationId xmlns:p14="http://schemas.microsoft.com/office/powerpoint/2010/main" val="36969498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096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Styles – </a:t>
            </a:r>
            <a:endParaRPr lang="en-US" sz="2000" kern="0" spc="-80" dirty="0">
              <a:solidFill>
                <a:schemeClr val="accent6"/>
              </a:solidFill>
            </a:endParaRPr>
          </a:p>
        </p:txBody>
      </p:sp>
      <p:pic>
        <p:nvPicPr>
          <p:cNvPr id="12" name="Picture 11">
            <a:extLst>
              <a:ext uri="{FF2B5EF4-FFF2-40B4-BE49-F238E27FC236}">
                <a16:creationId xmlns:a16="http://schemas.microsoft.com/office/drawing/2014/main" id="{E6829A2F-CDBE-C240-260F-E8219AEC3B10}"/>
              </a:ext>
            </a:extLst>
          </p:cNvPr>
          <p:cNvPicPr>
            <a:picLocks noChangeAspect="1"/>
          </p:cNvPicPr>
          <p:nvPr/>
        </p:nvPicPr>
        <p:blipFill>
          <a:blip r:embed="rId2"/>
          <a:stretch>
            <a:fillRect/>
          </a:stretch>
        </p:blipFill>
        <p:spPr>
          <a:xfrm>
            <a:off x="0" y="953391"/>
            <a:ext cx="9144000" cy="4837809"/>
          </a:xfrm>
          <a:prstGeom prst="rect">
            <a:avLst/>
          </a:prstGeom>
        </p:spPr>
      </p:pic>
      <p:grpSp>
        <p:nvGrpSpPr>
          <p:cNvPr id="7" name="Group 6">
            <a:extLst>
              <a:ext uri="{FF2B5EF4-FFF2-40B4-BE49-F238E27FC236}">
                <a16:creationId xmlns:a16="http://schemas.microsoft.com/office/drawing/2014/main" id="{A510A04F-A463-E2D1-557F-8DCAF4799E90}"/>
              </a:ext>
            </a:extLst>
          </p:cNvPr>
          <p:cNvGrpSpPr/>
          <p:nvPr/>
        </p:nvGrpSpPr>
        <p:grpSpPr>
          <a:xfrm>
            <a:off x="152400" y="0"/>
            <a:ext cx="8472537" cy="433513"/>
            <a:chOff x="0" y="0"/>
            <a:chExt cx="8472537" cy="433513"/>
          </a:xfrm>
        </p:grpSpPr>
        <p:sp>
          <p:nvSpPr>
            <p:cNvPr id="9" name="Rectangle: Rounded Corners 8">
              <a:extLst>
                <a:ext uri="{FF2B5EF4-FFF2-40B4-BE49-F238E27FC236}">
                  <a16:creationId xmlns:a16="http://schemas.microsoft.com/office/drawing/2014/main" id="{D634618C-C184-5A97-9EF8-38D289D91B42}"/>
                </a:ext>
              </a:extLst>
            </p:cNvPr>
            <p:cNvSpPr/>
            <p:nvPr/>
          </p:nvSpPr>
          <p:spPr>
            <a:xfrm>
              <a:off x="0" y="0"/>
              <a:ext cx="8472537" cy="43351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266DAC13-C99D-2EAF-1734-399A82299FAA}"/>
                </a:ext>
              </a:extLst>
            </p:cNvPr>
            <p:cNvSpPr txBox="1"/>
            <p:nvPr/>
          </p:nvSpPr>
          <p:spPr>
            <a:xfrm>
              <a:off x="21162" y="21162"/>
              <a:ext cx="8430213" cy="391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p:txBody>
        </p:sp>
      </p:grpSp>
    </p:spTree>
    <p:extLst>
      <p:ext uri="{BB962C8B-B14F-4D97-AF65-F5344CB8AC3E}">
        <p14:creationId xmlns:p14="http://schemas.microsoft.com/office/powerpoint/2010/main" val="15196319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24DAA-E737-2017-E7C1-DBF52C03BE6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F389601-D794-A296-7849-2B36B2D5DD0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F1C2CBA-FEA0-45F2-5767-24C7DA758B1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60B4566-C4E1-D9A8-11B8-10DA4930561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26C34E2-C713-7D5D-94A6-DC3DF0F4D526}"/>
              </a:ext>
            </a:extLst>
          </p:cNvPr>
          <p:cNvSpPr txBox="1">
            <a:spLocks/>
          </p:cNvSpPr>
          <p:nvPr/>
        </p:nvSpPr>
        <p:spPr>
          <a:xfrm>
            <a:off x="211157" y="556172"/>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Styles – </a:t>
            </a:r>
            <a:endParaRPr lang="en-US" sz="2000" kern="0" spc="-80" dirty="0">
              <a:solidFill>
                <a:schemeClr val="accent6"/>
              </a:solidFill>
            </a:endParaRPr>
          </a:p>
        </p:txBody>
      </p:sp>
      <p:sp>
        <p:nvSpPr>
          <p:cNvPr id="8" name="object 2">
            <a:extLst>
              <a:ext uri="{FF2B5EF4-FFF2-40B4-BE49-F238E27FC236}">
                <a16:creationId xmlns:a16="http://schemas.microsoft.com/office/drawing/2014/main" id="{A339E548-A51C-D040-1809-A4230E5A86BA}"/>
              </a:ext>
            </a:extLst>
          </p:cNvPr>
          <p:cNvSpPr txBox="1">
            <a:spLocks/>
          </p:cNvSpPr>
          <p:nvPr/>
        </p:nvSpPr>
        <p:spPr>
          <a:xfrm>
            <a:off x="246043" y="875664"/>
            <a:ext cx="8624937" cy="52168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p>
          <a:p>
            <a:pPr marL="12700" marR="5080"/>
            <a:r>
              <a:rPr lang="en-US" sz="1800" dirty="0">
                <a:hlinkClick r:id="rId2"/>
              </a:rPr>
              <a:t>HTTP Requests, body vs param vs headers vs data - Stack Overflow</a:t>
            </a:r>
            <a:endParaRPr lang="en-US" sz="1800" kern="0" spc="-80" dirty="0">
              <a:solidFill>
                <a:schemeClr val="accent2"/>
              </a:solidFill>
            </a:endParaRPr>
          </a:p>
          <a:p>
            <a:pPr marL="12700" marR="5080"/>
            <a:r>
              <a:rPr lang="en-IN" sz="1800" dirty="0">
                <a:hlinkClick r:id="rId3"/>
              </a:rPr>
              <a:t>API Design Roadmap</a:t>
            </a:r>
            <a:endParaRPr lang="en-IN" sz="1800" dirty="0"/>
          </a:p>
          <a:p>
            <a:pPr marL="12700" marR="5080"/>
            <a:r>
              <a:rPr lang="en-IN" sz="1800" dirty="0">
                <a:hlinkClick r:id="rId4"/>
              </a:rPr>
              <a:t>Patterns for API Design</a:t>
            </a:r>
            <a:endParaRPr lang="en-IN" sz="1800" dirty="0"/>
          </a:p>
          <a:p>
            <a:pPr marL="12700" marR="5080"/>
            <a:r>
              <a:rPr lang="en-US" sz="1800" dirty="0">
                <a:hlinkClick r:id="rId5"/>
              </a:rPr>
              <a:t>Functional Error Handling in .NET With the Result Pattern</a:t>
            </a:r>
            <a:endParaRPr lang="en-US" sz="1800" dirty="0"/>
          </a:p>
          <a:p>
            <a:pPr marL="12700" marR="5080"/>
            <a:r>
              <a:rPr lang="en-IN" sz="1800" dirty="0">
                <a:hlinkClick r:id="rId6"/>
              </a:rPr>
              <a:t>Mastering API Architecture[Book]</a:t>
            </a:r>
            <a:endParaRPr lang="en-IN" sz="1800" dirty="0"/>
          </a:p>
          <a:p>
            <a:pPr marL="12700" marR="5080"/>
            <a:r>
              <a:rPr lang="en-US" sz="1800" dirty="0">
                <a:hlinkClick r:id="rId7"/>
              </a:rPr>
              <a:t>API Guidelines in the Wild | API Guidelines</a:t>
            </a:r>
            <a:endParaRPr lang="en-US" sz="1800" dirty="0"/>
          </a:p>
          <a:p>
            <a:pPr marL="12700" marR="5080"/>
            <a:r>
              <a:rPr lang="en-US" sz="1800" dirty="0">
                <a:hlinkClick r:id="rId8"/>
              </a:rPr>
              <a:t>REPR Pattern - For C# developers | </a:t>
            </a:r>
            <a:r>
              <a:rPr lang="en-US" sz="1800" dirty="0" err="1">
                <a:hlinkClick r:id="rId8"/>
              </a:rPr>
              <a:t>TheCodeMan</a:t>
            </a:r>
            <a:endParaRPr lang="en-IN" sz="1800" dirty="0"/>
          </a:p>
          <a:p>
            <a:pPr marL="12700" marR="5080"/>
            <a:r>
              <a:rPr lang="en-US" sz="1800" dirty="0">
                <a:hlinkClick r:id="rId9"/>
              </a:rPr>
              <a:t>Api-Design-Patterns-Notes</a:t>
            </a:r>
            <a:endParaRPr lang="en-US" sz="1800" dirty="0"/>
          </a:p>
          <a:p>
            <a:pPr marL="12700" marR="5080"/>
            <a:r>
              <a:rPr lang="en-IN" sz="1800" kern="0" spc="-80" dirty="0">
                <a:solidFill>
                  <a:schemeClr val="accent2"/>
                </a:solidFill>
                <a:hlinkClick r:id="rId10"/>
              </a:rPr>
              <a:t>Simone </a:t>
            </a:r>
            <a:r>
              <a:rPr lang="en-IN" sz="1800" kern="0" spc="-80" dirty="0" err="1">
                <a:solidFill>
                  <a:schemeClr val="accent2"/>
                </a:solidFill>
                <a:hlinkClick r:id="rId10"/>
              </a:rPr>
              <a:t>Chiaretta’s</a:t>
            </a:r>
            <a:r>
              <a:rPr lang="en-IN" sz="1800" kern="0" spc="-80" dirty="0">
                <a:solidFill>
                  <a:schemeClr val="accent2"/>
                </a:solidFill>
                <a:hlinkClick r:id="rId10"/>
              </a:rPr>
              <a:t> ASP.NET Books</a:t>
            </a:r>
            <a:r>
              <a:rPr lang="en-US" sz="1800" dirty="0">
                <a:hlinkClick r:id="rId10"/>
              </a:rPr>
              <a:t> | </a:t>
            </a:r>
            <a:r>
              <a:rPr lang="en-US" sz="1800" dirty="0" err="1">
                <a:hlinkClick r:id="rId10"/>
              </a:rPr>
              <a:t>Syncfusion</a:t>
            </a:r>
            <a:endParaRPr lang="en-US" sz="1800" kern="0" spc="-80" dirty="0">
              <a:solidFill>
                <a:schemeClr val="accent2"/>
              </a:solidFill>
            </a:endParaRPr>
          </a:p>
          <a:p>
            <a:pPr marL="12700" marR="5080"/>
            <a:r>
              <a:rPr lang="en-IN" sz="1800" dirty="0">
                <a:hlinkClick r:id="rId11"/>
              </a:rPr>
              <a:t>JSON Web Tokens - jwt.io</a:t>
            </a:r>
            <a:endParaRPr lang="en-US" sz="1800" kern="0" spc="-80" dirty="0">
              <a:solidFill>
                <a:schemeClr val="accent2"/>
              </a:solidFill>
            </a:endParaRPr>
          </a:p>
          <a:p>
            <a:pPr marL="12700" marR="5080"/>
            <a:r>
              <a:rPr lang="en-US" sz="1800" dirty="0">
                <a:hlinkClick r:id="rId12"/>
              </a:rPr>
              <a:t>Refit</a:t>
            </a:r>
            <a:endParaRPr lang="en-US" sz="1800" dirty="0"/>
          </a:p>
          <a:p>
            <a:pPr marL="12700" marR="5080"/>
            <a:r>
              <a:rPr lang="en-US" sz="1800" dirty="0">
                <a:hlinkClick r:id="rId13"/>
              </a:rPr>
              <a:t>Generate Refit interfaces from OpenAPI specifications using </a:t>
            </a:r>
            <a:r>
              <a:rPr lang="en-US" sz="1800" dirty="0" err="1">
                <a:hlinkClick r:id="rId13"/>
              </a:rPr>
              <a:t>Refitter</a:t>
            </a:r>
            <a:endParaRPr lang="en-US" sz="1800" dirty="0"/>
          </a:p>
          <a:p>
            <a:pPr marL="12700" marR="5080"/>
            <a:r>
              <a:rPr lang="en-US" sz="1800" dirty="0">
                <a:hlinkClick r:id="rId14"/>
              </a:rPr>
              <a:t>Refit Client using a dynamic base address - Stack Overflow</a:t>
            </a:r>
            <a:endParaRPr lang="en-US" sz="1800" kern="0" spc="-80" dirty="0">
              <a:solidFill>
                <a:schemeClr val="accent2"/>
              </a:solidFill>
            </a:endParaRPr>
          </a:p>
          <a:p>
            <a:pPr marL="12700" marR="5080"/>
            <a:r>
              <a:rPr lang="en-IN" sz="1800" dirty="0">
                <a:hlinkClick r:id="rId15"/>
              </a:rPr>
              <a:t>Richardson Maturity Model</a:t>
            </a:r>
            <a:endParaRPr lang="en-IN" sz="1800" dirty="0"/>
          </a:p>
          <a:p>
            <a:pPr marL="12700" marR="5080"/>
            <a:r>
              <a:rPr lang="en-US" sz="1800" dirty="0">
                <a:hlinkClick r:id="rId16"/>
              </a:rPr>
              <a:t>Implementing HATEOAS in ASP.NET Core Web API - Code Maze</a:t>
            </a:r>
            <a:endParaRPr lang="en-US" sz="1800" dirty="0"/>
          </a:p>
          <a:p>
            <a:pPr marL="12700" marR="5080"/>
            <a:r>
              <a:rPr lang="en-US" sz="1800" dirty="0">
                <a:hlinkClick r:id="rId17"/>
              </a:rPr>
              <a:t>Difference Between Streaming and Downloading</a:t>
            </a:r>
            <a:endParaRPr lang="en-US" sz="1800" dirty="0"/>
          </a:p>
          <a:p>
            <a:pPr marL="12700" marR="5080"/>
            <a:r>
              <a:rPr lang="en-US" sz="1800" dirty="0">
                <a:hlinkClick r:id="rId18"/>
              </a:rPr>
              <a:t>What is http multipart request? - Stack Overflow</a:t>
            </a:r>
            <a:endParaRPr lang="en-US" sz="1800" dirty="0"/>
          </a:p>
          <a:p>
            <a:pPr marL="12700" marR="5080"/>
            <a:endParaRPr lang="en-US" sz="1800" kern="0" spc="-80" dirty="0">
              <a:solidFill>
                <a:schemeClr val="accent2"/>
              </a:solidFill>
            </a:endParaRPr>
          </a:p>
        </p:txBody>
      </p:sp>
      <p:grpSp>
        <p:nvGrpSpPr>
          <p:cNvPr id="7" name="Group 6">
            <a:extLst>
              <a:ext uri="{FF2B5EF4-FFF2-40B4-BE49-F238E27FC236}">
                <a16:creationId xmlns:a16="http://schemas.microsoft.com/office/drawing/2014/main" id="{2C5C251E-6C7E-8E80-2A47-02F6D6B73655}"/>
              </a:ext>
            </a:extLst>
          </p:cNvPr>
          <p:cNvGrpSpPr/>
          <p:nvPr/>
        </p:nvGrpSpPr>
        <p:grpSpPr>
          <a:xfrm>
            <a:off x="152400" y="0"/>
            <a:ext cx="8472537" cy="433513"/>
            <a:chOff x="0" y="0"/>
            <a:chExt cx="8472537" cy="433513"/>
          </a:xfrm>
        </p:grpSpPr>
        <p:sp>
          <p:nvSpPr>
            <p:cNvPr id="9" name="Rectangle: Rounded Corners 8">
              <a:extLst>
                <a:ext uri="{FF2B5EF4-FFF2-40B4-BE49-F238E27FC236}">
                  <a16:creationId xmlns:a16="http://schemas.microsoft.com/office/drawing/2014/main" id="{791CD731-8C5E-C435-1F70-819A26CBD255}"/>
                </a:ext>
              </a:extLst>
            </p:cNvPr>
            <p:cNvSpPr/>
            <p:nvPr/>
          </p:nvSpPr>
          <p:spPr>
            <a:xfrm>
              <a:off x="0" y="0"/>
              <a:ext cx="8472537" cy="43351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E3361FC2-7033-C632-632E-72D199071C6C}"/>
                </a:ext>
              </a:extLst>
            </p:cNvPr>
            <p:cNvSpPr txBox="1"/>
            <p:nvPr/>
          </p:nvSpPr>
          <p:spPr>
            <a:xfrm>
              <a:off x="21162" y="21162"/>
              <a:ext cx="8430213" cy="391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p:txBody>
        </p:sp>
      </p:grpSp>
    </p:spTree>
    <p:extLst>
      <p:ext uri="{BB962C8B-B14F-4D97-AF65-F5344CB8AC3E}">
        <p14:creationId xmlns:p14="http://schemas.microsoft.com/office/powerpoint/2010/main" val="14870772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267E-2EF5-4E50-6B14-0CE0621C4CE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27D83DA-390D-E5B1-9EDF-521DDCB14D9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8F668E7-AE58-8029-7324-FCC986C2BB6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2F7FF2A-8C11-9127-93E3-7E30539192F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DCB0108-36F7-E08A-8FA0-C6A160299E79}"/>
              </a:ext>
            </a:extLst>
          </p:cNvPr>
          <p:cNvSpPr txBox="1">
            <a:spLocks/>
          </p:cNvSpPr>
          <p:nvPr/>
        </p:nvSpPr>
        <p:spPr>
          <a:xfrm>
            <a:off x="211157" y="556172"/>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Styles – </a:t>
            </a:r>
            <a:endParaRPr lang="en-US" sz="2000" kern="0" spc="-80" dirty="0">
              <a:solidFill>
                <a:schemeClr val="accent6"/>
              </a:solidFill>
            </a:endParaRPr>
          </a:p>
        </p:txBody>
      </p:sp>
      <p:sp>
        <p:nvSpPr>
          <p:cNvPr id="8" name="object 2">
            <a:extLst>
              <a:ext uri="{FF2B5EF4-FFF2-40B4-BE49-F238E27FC236}">
                <a16:creationId xmlns:a16="http://schemas.microsoft.com/office/drawing/2014/main" id="{3ECC8709-4729-0A3B-3D02-1876C6F51E95}"/>
              </a:ext>
            </a:extLst>
          </p:cNvPr>
          <p:cNvSpPr txBox="1">
            <a:spLocks/>
          </p:cNvSpPr>
          <p:nvPr/>
        </p:nvSpPr>
        <p:spPr>
          <a:xfrm>
            <a:off x="246043" y="875664"/>
            <a:ext cx="8624937" cy="43242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1500" kern="0" spc="-80" dirty="0" err="1">
                <a:solidFill>
                  <a:schemeClr val="accent2"/>
                </a:solidFill>
              </a:rPr>
              <a:t>contd</a:t>
            </a:r>
            <a:r>
              <a:rPr lang="en-US" sz="1500" kern="0" spc="-80" dirty="0">
                <a:solidFill>
                  <a:schemeClr val="accent2"/>
                </a:solidFill>
              </a:rPr>
              <a:t>… –</a:t>
            </a:r>
          </a:p>
          <a:p>
            <a:pPr marL="12700" marR="5080"/>
            <a:r>
              <a:rPr lang="en-US" sz="1600" dirty="0">
                <a:hlinkClick r:id="rId2"/>
              </a:rPr>
              <a:t>How to upload file to server with HTTP POST multipart/form-data</a:t>
            </a:r>
            <a:endParaRPr lang="en-US" sz="1600" dirty="0"/>
          </a:p>
          <a:p>
            <a:pPr marL="12700" marR="5080"/>
            <a:r>
              <a:rPr lang="en-US" sz="1600" dirty="0">
                <a:hlinkClick r:id="rId3"/>
              </a:rPr>
              <a:t>Multipart Downloading in C#? - Stack Overflow</a:t>
            </a:r>
            <a:endParaRPr lang="en-US" sz="1600" dirty="0"/>
          </a:p>
          <a:p>
            <a:pPr marL="12700" marR="5080"/>
            <a:r>
              <a:rPr lang="en-IN" sz="1800" dirty="0" err="1">
                <a:hlinkClick r:id="rId4"/>
              </a:rPr>
              <a:t>GraphQL</a:t>
            </a:r>
            <a:r>
              <a:rPr lang="en-IN" sz="1800" dirty="0">
                <a:hlinkClick r:id="rId4"/>
              </a:rPr>
              <a:t> Roadmap</a:t>
            </a:r>
            <a:endParaRPr lang="en-IN" sz="1800" dirty="0"/>
          </a:p>
          <a:p>
            <a:pPr marL="12700" marR="5080"/>
            <a:r>
              <a:rPr lang="en-US" sz="1800" dirty="0">
                <a:hlinkClick r:id="rId5"/>
              </a:rPr>
              <a:t>When to use </a:t>
            </a:r>
            <a:r>
              <a:rPr lang="en-US" sz="1800" dirty="0" err="1">
                <a:hlinkClick r:id="rId5"/>
              </a:rPr>
              <a:t>GraphQL</a:t>
            </a:r>
            <a:r>
              <a:rPr lang="en-US" sz="1800" dirty="0">
                <a:hlinkClick r:id="rId5"/>
              </a:rPr>
              <a:t>, </a:t>
            </a:r>
            <a:r>
              <a:rPr lang="en-US" sz="1800" dirty="0" err="1">
                <a:hlinkClick r:id="rId5"/>
              </a:rPr>
              <a:t>gRPC</a:t>
            </a:r>
            <a:r>
              <a:rPr lang="en-US" sz="1800" dirty="0">
                <a:hlinkClick r:id="rId5"/>
              </a:rPr>
              <a:t>, and REST?</a:t>
            </a:r>
            <a:endParaRPr lang="en-US" sz="1800" dirty="0"/>
          </a:p>
          <a:p>
            <a:pPr marL="12700" marR="5080"/>
            <a:r>
              <a:rPr lang="en-US" sz="1800" dirty="0">
                <a:hlinkClick r:id="rId6"/>
              </a:rPr>
              <a:t>Comparing </a:t>
            </a:r>
            <a:r>
              <a:rPr lang="en-US" sz="1800" dirty="0" err="1">
                <a:hlinkClick r:id="rId6"/>
              </a:rPr>
              <a:t>GraphQL</a:t>
            </a:r>
            <a:r>
              <a:rPr lang="en-US" sz="1800" dirty="0">
                <a:hlinkClick r:id="rId6"/>
              </a:rPr>
              <a:t> and OData: Which is Best and When</a:t>
            </a:r>
            <a:endParaRPr lang="en-US" sz="1800" dirty="0"/>
          </a:p>
          <a:p>
            <a:pPr marL="12700" marR="5080"/>
            <a:r>
              <a:rPr lang="en-IN" sz="1800" dirty="0" err="1">
                <a:hlinkClick r:id="rId7"/>
              </a:rPr>
              <a:t>GraphQL</a:t>
            </a:r>
            <a:r>
              <a:rPr lang="en-IN" sz="1800" dirty="0">
                <a:hlinkClick r:id="rId7"/>
              </a:rPr>
              <a:t> &amp; Under/Over Fetching Problems | LinkedIn</a:t>
            </a:r>
            <a:endParaRPr lang="en-IN" sz="1800" dirty="0"/>
          </a:p>
          <a:p>
            <a:pPr marL="12700" marR="5080"/>
            <a:r>
              <a:rPr lang="en-US" sz="1800" dirty="0">
                <a:hlinkClick r:id="rId8"/>
              </a:rPr>
              <a:t>Building Microservices Architecture Using </a:t>
            </a:r>
            <a:r>
              <a:rPr lang="en-US" sz="1800" dirty="0" err="1">
                <a:hlinkClick r:id="rId8"/>
              </a:rPr>
              <a:t>GraphQL</a:t>
            </a:r>
            <a:r>
              <a:rPr lang="en-US" sz="1800" dirty="0">
                <a:hlinkClick r:id="rId8"/>
              </a:rPr>
              <a:t> and ASP.NET 7 Core</a:t>
            </a:r>
            <a:endParaRPr lang="en-US" sz="1800" dirty="0"/>
          </a:p>
          <a:p>
            <a:pPr marL="12700" marR="5080"/>
            <a:r>
              <a:rPr lang="en-US" sz="1800" dirty="0">
                <a:hlinkClick r:id="rId9"/>
              </a:rPr>
              <a:t>Overview - Hot Chocolate v13 - </a:t>
            </a:r>
            <a:r>
              <a:rPr lang="en-US" sz="1800" dirty="0" err="1">
                <a:hlinkClick r:id="rId9"/>
              </a:rPr>
              <a:t>ChilliCream</a:t>
            </a:r>
            <a:r>
              <a:rPr lang="en-US" sz="1800" dirty="0">
                <a:hlinkClick r:id="rId9"/>
              </a:rPr>
              <a:t> </a:t>
            </a:r>
            <a:r>
              <a:rPr lang="en-US" sz="1800" dirty="0" err="1">
                <a:hlinkClick r:id="rId9"/>
              </a:rPr>
              <a:t>GraphQL</a:t>
            </a:r>
            <a:r>
              <a:rPr lang="en-US" sz="1800" dirty="0">
                <a:hlinkClick r:id="rId9"/>
              </a:rPr>
              <a:t> Platform</a:t>
            </a:r>
            <a:endParaRPr lang="en-US" sz="1800" dirty="0"/>
          </a:p>
          <a:p>
            <a:pPr marL="12700" marR="5080"/>
            <a:r>
              <a:rPr lang="en-IN" sz="1800" dirty="0">
                <a:hlinkClick r:id="rId10"/>
              </a:rPr>
              <a:t>Rest vs </a:t>
            </a:r>
            <a:r>
              <a:rPr lang="en-IN" sz="1800" dirty="0" err="1">
                <a:hlinkClick r:id="rId10"/>
              </a:rPr>
              <a:t>gRPC</a:t>
            </a:r>
            <a:r>
              <a:rPr lang="en-IN" sz="1800" dirty="0">
                <a:hlinkClick r:id="rId10"/>
              </a:rPr>
              <a:t> LinkedIn</a:t>
            </a:r>
            <a:endParaRPr lang="en-IN" sz="1800" dirty="0"/>
          </a:p>
          <a:p>
            <a:pPr marL="12700" marR="5080"/>
            <a:r>
              <a:rPr lang="en-US" sz="1800" dirty="0">
                <a:hlinkClick r:id="rId11"/>
              </a:rPr>
              <a:t>How to build </a:t>
            </a:r>
            <a:r>
              <a:rPr lang="en-US" sz="1800" dirty="0" err="1">
                <a:hlinkClick r:id="rId11"/>
              </a:rPr>
              <a:t>gRPC</a:t>
            </a:r>
            <a:r>
              <a:rPr lang="en-US" sz="1800" dirty="0">
                <a:hlinkClick r:id="rId11"/>
              </a:rPr>
              <a:t> applications in ASP.NET Core | InfoWorld</a:t>
            </a:r>
            <a:endParaRPr lang="en-US" sz="1800" dirty="0"/>
          </a:p>
          <a:p>
            <a:pPr marL="12700" marR="5080"/>
            <a:r>
              <a:rPr lang="en-US" sz="1800" dirty="0">
                <a:hlinkClick r:id="rId12"/>
              </a:rPr>
              <a:t>Microservices Communication in .NET Using </a:t>
            </a:r>
            <a:r>
              <a:rPr lang="en-US" sz="1800" dirty="0" err="1">
                <a:hlinkClick r:id="rId12"/>
              </a:rPr>
              <a:t>gRPC</a:t>
            </a:r>
            <a:endParaRPr lang="en-US" sz="1800" dirty="0"/>
          </a:p>
          <a:p>
            <a:pPr marL="12700" marR="5080"/>
            <a:r>
              <a:rPr lang="en-IN" sz="1800" dirty="0">
                <a:hlinkClick r:id="rId13"/>
              </a:rPr>
              <a:t>Enterprise API Management | Web Development | Print</a:t>
            </a:r>
            <a:endParaRPr lang="en-IN" sz="1800" dirty="0"/>
          </a:p>
          <a:p>
            <a:pPr marL="12700" marR="5080"/>
            <a:r>
              <a:rPr lang="en-US" sz="1800" dirty="0">
                <a:hlinkClick r:id="rId14"/>
              </a:rPr>
              <a:t>API Management: An Architect's Guide to Developing and Managing APIs for Your Organization | SpringerLink</a:t>
            </a:r>
            <a:endParaRPr lang="en-US" sz="1800" dirty="0"/>
          </a:p>
          <a:p>
            <a:pPr marL="12700" marR="5080"/>
            <a:r>
              <a:rPr lang="en-IN" sz="1800" dirty="0">
                <a:hlinkClick r:id="rId15"/>
              </a:rPr>
              <a:t>DFE-Digital/</a:t>
            </a:r>
            <a:r>
              <a:rPr lang="en-IN" sz="1800" dirty="0" err="1">
                <a:hlinkClick r:id="rId15"/>
              </a:rPr>
              <a:t>eapim</a:t>
            </a:r>
            <a:r>
              <a:rPr lang="en-IN" sz="1800" dirty="0">
                <a:hlinkClick r:id="rId15"/>
              </a:rPr>
              <a:t>-platform-</a:t>
            </a:r>
            <a:r>
              <a:rPr lang="en-IN" sz="1800" dirty="0" err="1">
                <a:hlinkClick r:id="rId15"/>
              </a:rPr>
              <a:t>api</a:t>
            </a:r>
            <a:endParaRPr lang="en-US" sz="1800" kern="0" spc="-80" dirty="0">
              <a:solidFill>
                <a:schemeClr val="accent2"/>
              </a:solidFill>
            </a:endParaRPr>
          </a:p>
        </p:txBody>
      </p:sp>
      <p:grpSp>
        <p:nvGrpSpPr>
          <p:cNvPr id="7" name="Group 6">
            <a:extLst>
              <a:ext uri="{FF2B5EF4-FFF2-40B4-BE49-F238E27FC236}">
                <a16:creationId xmlns:a16="http://schemas.microsoft.com/office/drawing/2014/main" id="{09AE930D-3CB0-8EF0-85E5-4E1EDCA61968}"/>
              </a:ext>
            </a:extLst>
          </p:cNvPr>
          <p:cNvGrpSpPr/>
          <p:nvPr/>
        </p:nvGrpSpPr>
        <p:grpSpPr>
          <a:xfrm>
            <a:off x="152400" y="0"/>
            <a:ext cx="8472537" cy="433513"/>
            <a:chOff x="0" y="0"/>
            <a:chExt cx="8472537" cy="433513"/>
          </a:xfrm>
        </p:grpSpPr>
        <p:sp>
          <p:nvSpPr>
            <p:cNvPr id="9" name="Rectangle: Rounded Corners 8">
              <a:extLst>
                <a:ext uri="{FF2B5EF4-FFF2-40B4-BE49-F238E27FC236}">
                  <a16:creationId xmlns:a16="http://schemas.microsoft.com/office/drawing/2014/main" id="{735F9D2F-2DAC-E743-C022-3E0B28C1124F}"/>
                </a:ext>
              </a:extLst>
            </p:cNvPr>
            <p:cNvSpPr/>
            <p:nvPr/>
          </p:nvSpPr>
          <p:spPr>
            <a:xfrm>
              <a:off x="0" y="0"/>
              <a:ext cx="8472537" cy="43351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F486FB78-44F4-2990-D3D2-8BEA65A24AA6}"/>
                </a:ext>
              </a:extLst>
            </p:cNvPr>
            <p:cNvSpPr txBox="1"/>
            <p:nvPr/>
          </p:nvSpPr>
          <p:spPr>
            <a:xfrm>
              <a:off x="21162" y="21162"/>
              <a:ext cx="8430213" cy="391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p:txBody>
        </p:sp>
      </p:grpSp>
    </p:spTree>
    <p:extLst>
      <p:ext uri="{BB962C8B-B14F-4D97-AF65-F5344CB8AC3E}">
        <p14:creationId xmlns:p14="http://schemas.microsoft.com/office/powerpoint/2010/main" val="13557954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12926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OpenAPI</a:t>
            </a:r>
            <a:r>
              <a:rPr lang="en-US" sz="2400" kern="0" spc="-80" dirty="0">
                <a:solidFill>
                  <a:schemeClr val="accent2"/>
                </a:solidFill>
              </a:rPr>
              <a:t> – </a:t>
            </a:r>
            <a:r>
              <a:rPr lang="en-US" sz="2000" kern="0" spc="-80" dirty="0">
                <a:solidFill>
                  <a:schemeClr val="accent6"/>
                </a:solidFill>
              </a:rPr>
              <a:t>You can write an </a:t>
            </a:r>
            <a:r>
              <a:rPr lang="en-US" sz="2000" kern="0" spc="-80" dirty="0" err="1">
                <a:solidFill>
                  <a:schemeClr val="accent6"/>
                </a:solidFill>
              </a:rPr>
              <a:t>OpenAPI</a:t>
            </a:r>
            <a:r>
              <a:rPr lang="en-US" sz="2000" kern="0" spc="-80" dirty="0">
                <a:solidFill>
                  <a:schemeClr val="accent6"/>
                </a:solidFill>
              </a:rPr>
              <a:t>(Swagger) specification &amp; generate the code in your choice of language. This is called </a:t>
            </a:r>
            <a:r>
              <a:rPr lang="en-US" sz="2000" kern="0" spc="-80" dirty="0">
                <a:solidFill>
                  <a:schemeClr val="accent1"/>
                </a:solidFill>
              </a:rPr>
              <a:t>Contract(/API) First Development</a:t>
            </a:r>
            <a:r>
              <a:rPr lang="en-US" sz="2000" kern="0" spc="-80" dirty="0">
                <a:solidFill>
                  <a:schemeClr val="accent6"/>
                </a:solidFill>
              </a:rPr>
              <a:t>. Things can be done other way around as well. </a:t>
            </a:r>
          </a:p>
        </p:txBody>
      </p:sp>
      <p:pic>
        <p:nvPicPr>
          <p:cNvPr id="11266" name="Picture 2" descr="API Development with Design-first Approach">
            <a:extLst>
              <a:ext uri="{FF2B5EF4-FFF2-40B4-BE49-F238E27FC236}">
                <a16:creationId xmlns:a16="http://schemas.microsoft.com/office/drawing/2014/main" id="{F74CD852-A02F-4FB1-970D-196CD53474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369" y="1963676"/>
            <a:ext cx="8457506" cy="2836924"/>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8540CFCD-AB35-7FFA-6EC9-59DFC6F0E366}"/>
              </a:ext>
            </a:extLst>
          </p:cNvPr>
          <p:cNvSpPr txBox="1">
            <a:spLocks/>
          </p:cNvSpPr>
          <p:nvPr/>
        </p:nvSpPr>
        <p:spPr>
          <a:xfrm>
            <a:off x="53653" y="4687669"/>
            <a:ext cx="8624937" cy="12926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000" dirty="0">
                <a:hlinkClick r:id="rId3"/>
              </a:rPr>
              <a:t>Contract-First API Development with </a:t>
            </a:r>
            <a:r>
              <a:rPr lang="en-US" sz="1000" dirty="0" err="1">
                <a:hlinkClick r:id="rId3"/>
              </a:rPr>
              <a:t>OpenAPI</a:t>
            </a:r>
            <a:r>
              <a:rPr lang="en-US" sz="1000" dirty="0">
                <a:hlinkClick r:id="rId3"/>
              </a:rPr>
              <a:t> Generator and </a:t>
            </a:r>
            <a:r>
              <a:rPr lang="en-US" sz="1000" dirty="0" err="1">
                <a:hlinkClick r:id="rId3"/>
              </a:rPr>
              <a:t>Connexion</a:t>
            </a:r>
            <a:r>
              <a:rPr lang="en-US" sz="1000" dirty="0">
                <a:hlinkClick r:id="rId3"/>
              </a:rPr>
              <a:t> | by </a:t>
            </a:r>
            <a:r>
              <a:rPr lang="en-US" sz="1000" dirty="0" err="1">
                <a:hlinkClick r:id="rId3"/>
              </a:rPr>
              <a:t>Anıl</a:t>
            </a:r>
            <a:r>
              <a:rPr lang="en-US" sz="1000" dirty="0">
                <a:hlinkClick r:id="rId3"/>
              </a:rPr>
              <a:t> Can </a:t>
            </a:r>
            <a:r>
              <a:rPr lang="en-US" sz="1000" dirty="0" err="1">
                <a:hlinkClick r:id="rId3"/>
              </a:rPr>
              <a:t>Aydın</a:t>
            </a:r>
            <a:r>
              <a:rPr lang="en-US" sz="1000" dirty="0">
                <a:hlinkClick r:id="rId3"/>
              </a:rPr>
              <a:t> | </a:t>
            </a:r>
            <a:r>
              <a:rPr lang="en-US" sz="1000" dirty="0" err="1">
                <a:hlinkClick r:id="rId3"/>
              </a:rPr>
              <a:t>Commencis</a:t>
            </a:r>
            <a:r>
              <a:rPr lang="en-US" sz="1000" dirty="0">
                <a:hlinkClick r:id="rId3"/>
              </a:rPr>
              <a:t> | Medium</a:t>
            </a:r>
            <a:endParaRPr lang="en-US" sz="1000" dirty="0"/>
          </a:p>
          <a:p>
            <a:pPr marL="12700" marR="5080"/>
            <a:r>
              <a:rPr lang="en-US" sz="1000" dirty="0" err="1">
                <a:hlinkClick r:id="rId4"/>
              </a:rPr>
              <a:t>OpenAPI.Tools</a:t>
            </a:r>
            <a:r>
              <a:rPr lang="en-US" sz="1000" dirty="0">
                <a:hlinkClick r:id="rId4"/>
              </a:rPr>
              <a:t> - an Open Source list of great tools for </a:t>
            </a:r>
            <a:r>
              <a:rPr lang="en-US" sz="1000" dirty="0" err="1">
                <a:hlinkClick r:id="rId4"/>
              </a:rPr>
              <a:t>OpenAPI</a:t>
            </a:r>
            <a:r>
              <a:rPr lang="en-US" sz="1000" dirty="0">
                <a:hlinkClick r:id="rId4"/>
              </a:rPr>
              <a:t>.</a:t>
            </a:r>
            <a:endParaRPr lang="en-US" sz="1000" dirty="0"/>
          </a:p>
          <a:p>
            <a:pPr marL="12700" marR="5080"/>
            <a:r>
              <a:rPr lang="en-IN" sz="1000" dirty="0">
                <a:hlinkClick r:id="rId5"/>
              </a:rPr>
              <a:t>Contract Testing in Action</a:t>
            </a:r>
            <a:endParaRPr lang="en-IN" sz="1000" dirty="0"/>
          </a:p>
          <a:p>
            <a:pPr marL="12700" marR="5080"/>
            <a:r>
              <a:rPr lang="en-US" sz="1000" dirty="0" err="1">
                <a:hlinkClick r:id="rId6"/>
              </a:rPr>
              <a:t>Swashbuckle.Examples</a:t>
            </a:r>
            <a:r>
              <a:rPr lang="en-US" sz="1000" dirty="0">
                <a:hlinkClick r:id="rId6"/>
              </a:rPr>
              <a:t>: Adds the [</a:t>
            </a:r>
            <a:r>
              <a:rPr lang="en-US" sz="1000" dirty="0" err="1">
                <a:hlinkClick r:id="rId6"/>
              </a:rPr>
              <a:t>SwaggerRequestExample</a:t>
            </a:r>
            <a:r>
              <a:rPr lang="en-US" sz="1000" dirty="0">
                <a:hlinkClick r:id="rId6"/>
              </a:rPr>
              <a:t>] and [</a:t>
            </a:r>
            <a:r>
              <a:rPr lang="en-US" sz="1000" dirty="0" err="1">
                <a:hlinkClick r:id="rId6"/>
              </a:rPr>
              <a:t>SwaggerResponseExample</a:t>
            </a:r>
            <a:r>
              <a:rPr lang="en-US" sz="1000" dirty="0">
                <a:hlinkClick r:id="rId6"/>
              </a:rPr>
              <a:t>] attributes to </a:t>
            </a:r>
            <a:r>
              <a:rPr lang="en-US" sz="1000" dirty="0" err="1">
                <a:hlinkClick r:id="rId6"/>
              </a:rPr>
              <a:t>Swashbuckle</a:t>
            </a:r>
            <a:endParaRPr lang="en-US" sz="1000" dirty="0"/>
          </a:p>
          <a:p>
            <a:pPr marL="12700" marR="5080"/>
            <a:r>
              <a:rPr lang="en-IN" sz="1000" dirty="0" err="1">
                <a:hlinkClick r:id="rId7"/>
              </a:rPr>
              <a:t>NSwag</a:t>
            </a:r>
            <a:r>
              <a:rPr lang="en-IN" sz="1000" dirty="0">
                <a:hlinkClick r:id="rId7"/>
              </a:rPr>
              <a:t>: The Swagger/OpenAPI toolchain for .NET, ASP.NET Core and TypeScript.</a:t>
            </a:r>
            <a:r>
              <a:rPr lang="en-US" sz="1000" kern="0" spc="-80" dirty="0">
                <a:solidFill>
                  <a:schemeClr val="accent2"/>
                </a:solidFill>
              </a:rPr>
              <a:t> </a:t>
            </a:r>
          </a:p>
          <a:p>
            <a:pPr marL="12700" marR="5080"/>
            <a:r>
              <a:rPr lang="en-US" sz="1000" dirty="0">
                <a:hlinkClick r:id="rId8"/>
              </a:rPr>
              <a:t>Documenting </a:t>
            </a:r>
            <a:r>
              <a:rPr lang="en-US" sz="1000" dirty="0" err="1">
                <a:hlinkClick r:id="rId8"/>
              </a:rPr>
              <a:t>GraphQL</a:t>
            </a:r>
            <a:r>
              <a:rPr lang="en-US" sz="1000" dirty="0">
                <a:hlinkClick r:id="rId8"/>
              </a:rPr>
              <a:t> APIs with Swagger - </a:t>
            </a:r>
            <a:r>
              <a:rPr lang="en-US" sz="1000" dirty="0" err="1">
                <a:hlinkClick r:id="rId8"/>
              </a:rPr>
              <a:t>GeeksforGeeks</a:t>
            </a:r>
            <a:endParaRPr lang="en-US" sz="1000" kern="0" spc="-80" dirty="0">
              <a:solidFill>
                <a:schemeClr val="accent2"/>
              </a:solidFill>
            </a:endParaRPr>
          </a:p>
        </p:txBody>
      </p:sp>
      <p:graphicFrame>
        <p:nvGraphicFramePr>
          <p:cNvPr id="7" name="Diagram 6">
            <a:extLst>
              <a:ext uri="{FF2B5EF4-FFF2-40B4-BE49-F238E27FC236}">
                <a16:creationId xmlns:a16="http://schemas.microsoft.com/office/drawing/2014/main" id="{9BD32B12-7A48-9312-BADE-EB2CDE155634}"/>
              </a:ext>
            </a:extLst>
          </p:cNvPr>
          <p:cNvGraphicFramePr/>
          <p:nvPr>
            <p:extLst>
              <p:ext uri="{D42A27DB-BD31-4B8C-83A1-F6EECF244321}">
                <p14:modId xmlns:p14="http://schemas.microsoft.com/office/powerpoint/2010/main" val="2378217203"/>
              </p:ext>
            </p:extLst>
          </p:nvPr>
        </p:nvGraphicFramePr>
        <p:xfrm>
          <a:off x="380999" y="34425"/>
          <a:ext cx="8472537" cy="49897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40535174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Evolution/Versioning(App Level using ASP.NET Web API) - </a:t>
            </a:r>
            <a:endParaRPr lang="en-US" sz="2000" kern="0" spc="-80" dirty="0">
              <a:solidFill>
                <a:schemeClr val="accent6"/>
              </a:solidFill>
            </a:endParaRPr>
          </a:p>
        </p:txBody>
      </p:sp>
      <p:pic>
        <p:nvPicPr>
          <p:cNvPr id="13314" name="Picture 2" descr="Different Methods of API Versioning &amp; Routing in ASP.Net Core">
            <a:extLst>
              <a:ext uri="{FF2B5EF4-FFF2-40B4-BE49-F238E27FC236}">
                <a16:creationId xmlns:a16="http://schemas.microsoft.com/office/drawing/2014/main" id="{3670A362-8CB8-35C2-EE0A-3A42B44755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83" y="1029817"/>
            <a:ext cx="8229600" cy="2856383"/>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359575C6-9D33-2173-B43B-65C82F516E06}"/>
              </a:ext>
            </a:extLst>
          </p:cNvPr>
          <p:cNvSpPr txBox="1">
            <a:spLocks/>
          </p:cNvSpPr>
          <p:nvPr/>
        </p:nvSpPr>
        <p:spPr>
          <a:xfrm>
            <a:off x="137369" y="4879479"/>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3"/>
              </a:rPr>
              <a:t>Different Methods of API Versioning &amp; Routing in </a:t>
            </a:r>
            <a:r>
              <a:rPr lang="en-US" sz="1500" dirty="0" err="1">
                <a:hlinkClick r:id="rId3"/>
              </a:rPr>
              <a:t>ASP.Net</a:t>
            </a:r>
            <a:r>
              <a:rPr lang="en-US" sz="1500" dirty="0">
                <a:hlinkClick r:id="rId3"/>
              </a:rPr>
              <a:t> Core - </a:t>
            </a:r>
            <a:r>
              <a:rPr lang="en-US" sz="1500" dirty="0" err="1">
                <a:hlinkClick r:id="rId3"/>
              </a:rPr>
              <a:t>TatvaSoft</a:t>
            </a:r>
            <a:r>
              <a:rPr lang="en-US" sz="1500" dirty="0">
                <a:hlinkClick r:id="rId3"/>
              </a:rPr>
              <a:t> Blog</a:t>
            </a:r>
            <a:endParaRPr lang="en-US" sz="1500" dirty="0"/>
          </a:p>
          <a:p>
            <a:pPr marL="12700" marR="5080"/>
            <a:r>
              <a:rPr lang="en-IN" sz="1500" dirty="0">
                <a:hlinkClick r:id="rId4"/>
              </a:rPr>
              <a:t>API Versioning Strategies | LinkedIn</a:t>
            </a:r>
            <a:endParaRPr lang="en-IN" sz="1500" dirty="0"/>
          </a:p>
          <a:p>
            <a:pPr marL="12700" marR="5080"/>
            <a:r>
              <a:rPr lang="en-US" sz="1500" dirty="0">
                <a:hlinkClick r:id="rId5"/>
              </a:rPr>
              <a:t>API Versioning Approach With AWS API Gateway</a:t>
            </a:r>
            <a:endParaRPr lang="en-US" sz="1500" kern="0" spc="-80" dirty="0">
              <a:solidFill>
                <a:schemeClr val="accent2"/>
              </a:solidFill>
            </a:endParaRPr>
          </a:p>
        </p:txBody>
      </p:sp>
      <p:graphicFrame>
        <p:nvGraphicFramePr>
          <p:cNvPr id="8" name="Diagram 7">
            <a:extLst>
              <a:ext uri="{FF2B5EF4-FFF2-40B4-BE49-F238E27FC236}">
                <a16:creationId xmlns:a16="http://schemas.microsoft.com/office/drawing/2014/main" id="{D3FF7F5E-9D10-E04E-26BC-94C5DAA48129}"/>
              </a:ext>
            </a:extLst>
          </p:cNvPr>
          <p:cNvGraphicFramePr/>
          <p:nvPr>
            <p:extLst>
              <p:ext uri="{D42A27DB-BD31-4B8C-83A1-F6EECF244321}">
                <p14:modId xmlns:p14="http://schemas.microsoft.com/office/powerpoint/2010/main" val="2378217203"/>
              </p:ext>
            </p:extLst>
          </p:nvPr>
        </p:nvGraphicFramePr>
        <p:xfrm>
          <a:off x="380999" y="34425"/>
          <a:ext cx="8472537" cy="49897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6" name="object 2">
            <a:extLst>
              <a:ext uri="{FF2B5EF4-FFF2-40B4-BE49-F238E27FC236}">
                <a16:creationId xmlns:a16="http://schemas.microsoft.com/office/drawing/2014/main" id="{1E168C45-F37F-0CCF-1FA4-52FCB5CA709A}"/>
              </a:ext>
            </a:extLst>
          </p:cNvPr>
          <p:cNvSpPr txBox="1">
            <a:spLocks/>
          </p:cNvSpPr>
          <p:nvPr/>
        </p:nvSpPr>
        <p:spPr>
          <a:xfrm>
            <a:off x="140123" y="3981272"/>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50" kern="0" spc="-80" dirty="0">
                <a:solidFill>
                  <a:schemeClr val="accent6"/>
                </a:solidFill>
              </a:rPr>
              <a:t>The #1 rule w.r.t API versioning is not to use versions in API until &amp; unless you really need </a:t>
            </a:r>
            <a:r>
              <a:rPr lang="en-US" sz="1450" kern="0" spc="-80" dirty="0" err="1">
                <a:solidFill>
                  <a:schemeClr val="accent6"/>
                </a:solidFill>
              </a:rPr>
              <a:t>it.In</a:t>
            </a:r>
            <a:r>
              <a:rPr lang="en-US" sz="1450" kern="0" spc="-80" dirty="0">
                <a:solidFill>
                  <a:schemeClr val="accent6"/>
                </a:solidFill>
              </a:rPr>
              <a:t> some projects there can be a mandate that the API should have v1(the default version) within the API even if they don’t </a:t>
            </a:r>
            <a:r>
              <a:rPr lang="en-US" sz="1450" kern="0" spc="-80" dirty="0" err="1">
                <a:solidFill>
                  <a:schemeClr val="accent6"/>
                </a:solidFill>
              </a:rPr>
              <a:t>forsee</a:t>
            </a:r>
            <a:r>
              <a:rPr lang="en-US" sz="1450" kern="0" spc="-80" dirty="0">
                <a:solidFill>
                  <a:schemeClr val="accent6"/>
                </a:solidFill>
              </a:rPr>
              <a:t> that going forward further API versions will be required. That’s also kind of a best practice since most APIs evolve.</a:t>
            </a:r>
          </a:p>
        </p:txBody>
      </p:sp>
    </p:spTree>
    <p:extLst>
      <p:ext uri="{BB962C8B-B14F-4D97-AF65-F5344CB8AC3E}">
        <p14:creationId xmlns:p14="http://schemas.microsoft.com/office/powerpoint/2010/main" val="28419967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7736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Evolution/Versioning(Schema Versioning) - </a:t>
            </a:r>
            <a:endParaRPr lang="en-US" sz="2000" kern="0" spc="-80" dirty="0">
              <a:solidFill>
                <a:schemeClr val="accent6"/>
              </a:solidFill>
            </a:endParaRPr>
          </a:p>
        </p:txBody>
      </p:sp>
      <p:pic>
        <p:nvPicPr>
          <p:cNvPr id="14338" name="Picture 2" descr="versioning db schema diagram">
            <a:extLst>
              <a:ext uri="{FF2B5EF4-FFF2-40B4-BE49-F238E27FC236}">
                <a16:creationId xmlns:a16="http://schemas.microsoft.com/office/drawing/2014/main" id="{E99C5993-0D81-FCC7-8821-3A637B1248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370" y="1154668"/>
            <a:ext cx="8716168" cy="478893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Diagram 6">
            <a:extLst>
              <a:ext uri="{FF2B5EF4-FFF2-40B4-BE49-F238E27FC236}">
                <a16:creationId xmlns:a16="http://schemas.microsoft.com/office/drawing/2014/main" id="{D872BD37-101E-D7CC-2D01-F4B8390A3D7A}"/>
              </a:ext>
            </a:extLst>
          </p:cNvPr>
          <p:cNvGraphicFramePr/>
          <p:nvPr>
            <p:extLst>
              <p:ext uri="{D42A27DB-BD31-4B8C-83A1-F6EECF244321}">
                <p14:modId xmlns:p14="http://schemas.microsoft.com/office/powerpoint/2010/main" val="2378217203"/>
              </p:ext>
            </p:extLst>
          </p:nvPr>
        </p:nvGraphicFramePr>
        <p:xfrm>
          <a:off x="380999" y="34425"/>
          <a:ext cx="8472537"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66403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Evolution/Versioning(Build Level) – </a:t>
            </a:r>
            <a:endParaRPr lang="en-US" sz="2000" kern="0" spc="-80" dirty="0">
              <a:solidFill>
                <a:schemeClr val="accent6"/>
              </a:solidFill>
            </a:endParaRPr>
          </a:p>
        </p:txBody>
      </p:sp>
      <p:pic>
        <p:nvPicPr>
          <p:cNvPr id="12290" name="Picture 2" descr="continuous integration - Microservices architecture versioning on periodic  releases - Stack Overflow">
            <a:extLst>
              <a:ext uri="{FF2B5EF4-FFF2-40B4-BE49-F238E27FC236}">
                <a16:creationId xmlns:a16="http://schemas.microsoft.com/office/drawing/2014/main" id="{FD6B889F-4951-9322-50FF-828154B108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8" y="1040346"/>
            <a:ext cx="8467725" cy="467465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Diagram 6">
            <a:extLst>
              <a:ext uri="{FF2B5EF4-FFF2-40B4-BE49-F238E27FC236}">
                <a16:creationId xmlns:a16="http://schemas.microsoft.com/office/drawing/2014/main" id="{678CD7A0-1F24-37AD-D28C-867B394C536A}"/>
              </a:ext>
            </a:extLst>
          </p:cNvPr>
          <p:cNvGraphicFramePr/>
          <p:nvPr>
            <p:extLst>
              <p:ext uri="{D42A27DB-BD31-4B8C-83A1-F6EECF244321}">
                <p14:modId xmlns:p14="http://schemas.microsoft.com/office/powerpoint/2010/main" val="2378217203"/>
              </p:ext>
            </p:extLst>
          </p:nvPr>
        </p:nvGraphicFramePr>
        <p:xfrm>
          <a:off x="380999" y="34425"/>
          <a:ext cx="8472537"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95965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Idempotency – </a:t>
            </a:r>
            <a:endParaRPr lang="en-US" sz="2000" kern="0" spc="-80" dirty="0">
              <a:solidFill>
                <a:schemeClr val="accent6"/>
              </a:solidFill>
            </a:endParaRPr>
          </a:p>
        </p:txBody>
      </p:sp>
      <p:pic>
        <p:nvPicPr>
          <p:cNvPr id="15364" name="Picture 4" descr="Idempotency in Scalable Distributed Architectures — Example | by Debasis  Das | Medium">
            <a:extLst>
              <a:ext uri="{FF2B5EF4-FFF2-40B4-BE49-F238E27FC236}">
                <a16:creationId xmlns:a16="http://schemas.microsoft.com/office/drawing/2014/main" id="{33423CCE-AB8A-2F0D-0BE7-4AB7FE565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8" y="1040346"/>
            <a:ext cx="8229602" cy="300137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Diagram 6">
            <a:extLst>
              <a:ext uri="{FF2B5EF4-FFF2-40B4-BE49-F238E27FC236}">
                <a16:creationId xmlns:a16="http://schemas.microsoft.com/office/drawing/2014/main" id="{A5B12884-E03A-339D-AE9B-D159FE67CA6E}"/>
              </a:ext>
            </a:extLst>
          </p:cNvPr>
          <p:cNvGraphicFramePr/>
          <p:nvPr>
            <p:extLst>
              <p:ext uri="{D42A27DB-BD31-4B8C-83A1-F6EECF244321}">
                <p14:modId xmlns:p14="http://schemas.microsoft.com/office/powerpoint/2010/main" val="2378217203"/>
              </p:ext>
            </p:extLst>
          </p:nvPr>
        </p:nvGraphicFramePr>
        <p:xfrm>
          <a:off x="380999" y="34425"/>
          <a:ext cx="8472537"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object 2">
            <a:extLst>
              <a:ext uri="{FF2B5EF4-FFF2-40B4-BE49-F238E27FC236}">
                <a16:creationId xmlns:a16="http://schemas.microsoft.com/office/drawing/2014/main" id="{8372BBD4-FB88-A0E9-3E45-E8C0E7E30C60}"/>
              </a:ext>
            </a:extLst>
          </p:cNvPr>
          <p:cNvSpPr txBox="1">
            <a:spLocks/>
          </p:cNvSpPr>
          <p:nvPr/>
        </p:nvSpPr>
        <p:spPr>
          <a:xfrm>
            <a:off x="190956" y="3581400"/>
            <a:ext cx="8624937" cy="136191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500" kern="0" spc="-80" dirty="0">
              <a:solidFill>
                <a:schemeClr val="accent2"/>
              </a:solidFill>
            </a:endParaRPr>
          </a:p>
          <a:p>
            <a:pPr marL="12700" marR="5080"/>
            <a:endParaRPr lang="en-US" sz="1500" kern="0" spc="-80" dirty="0">
              <a:solidFill>
                <a:schemeClr val="accent2"/>
              </a:solidFill>
            </a:endParaRPr>
          </a:p>
          <a:p>
            <a:pPr marL="12700" marR="5080"/>
            <a:r>
              <a:rPr lang="en-US" sz="1500" kern="0" spc="-80" dirty="0">
                <a:solidFill>
                  <a:schemeClr val="accent2"/>
                </a:solidFill>
              </a:rPr>
              <a:t>An example – </a:t>
            </a:r>
            <a:r>
              <a:rPr lang="en-US" sz="1450" kern="0" spc="-80" dirty="0">
                <a:solidFill>
                  <a:schemeClr val="accent6"/>
                </a:solidFill>
              </a:rPr>
              <a:t>Say a UI page button click calls an API. What if the user clicks the button twice? One solution can be to disable the button in the UI once clicked &amp; keeping the button disabled until &amp; unless the request completes. But then what if </a:t>
            </a:r>
            <a:r>
              <a:rPr lang="en-US" sz="1450" kern="0" spc="-80" dirty="0" err="1">
                <a:solidFill>
                  <a:schemeClr val="accent6"/>
                </a:solidFill>
              </a:rPr>
              <a:t>javascript</a:t>
            </a:r>
            <a:r>
              <a:rPr lang="en-US" sz="1450" kern="0" spc="-80" dirty="0">
                <a:solidFill>
                  <a:schemeClr val="accent6"/>
                </a:solidFill>
              </a:rPr>
              <a:t> is disabled? A better &amp; more robust solution is to have server side idempotency based handling </a:t>
            </a:r>
            <a:r>
              <a:rPr lang="en-US" sz="1450" kern="0" spc="-80" dirty="0" err="1">
                <a:solidFill>
                  <a:schemeClr val="accent6"/>
                </a:solidFill>
              </a:rPr>
              <a:t>alongwith</a:t>
            </a:r>
            <a:r>
              <a:rPr lang="en-US" sz="1450" kern="0" spc="-80" dirty="0">
                <a:solidFill>
                  <a:schemeClr val="accent6"/>
                </a:solidFill>
              </a:rPr>
              <a:t> the client side handling.</a:t>
            </a:r>
          </a:p>
        </p:txBody>
      </p:sp>
      <p:sp>
        <p:nvSpPr>
          <p:cNvPr id="8" name="object 2">
            <a:extLst>
              <a:ext uri="{FF2B5EF4-FFF2-40B4-BE49-F238E27FC236}">
                <a16:creationId xmlns:a16="http://schemas.microsoft.com/office/drawing/2014/main" id="{43019945-0B3A-7D49-6B0F-6F7476E7A8E7}"/>
              </a:ext>
            </a:extLst>
          </p:cNvPr>
          <p:cNvSpPr txBox="1">
            <a:spLocks/>
          </p:cNvSpPr>
          <p:nvPr/>
        </p:nvSpPr>
        <p:spPr>
          <a:xfrm>
            <a:off x="171676" y="4974104"/>
            <a:ext cx="8624937" cy="9694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p>
          <a:p>
            <a:pPr marL="12700" marR="5080"/>
            <a:r>
              <a:rPr lang="en-US" sz="1200" dirty="0">
                <a:hlinkClick r:id="rId8"/>
              </a:rPr>
              <a:t>Idempotence in HTTP Methods – Explained with CRUD Examples</a:t>
            </a:r>
            <a:endParaRPr lang="en-US" sz="1200" kern="0" spc="-80" dirty="0">
              <a:solidFill>
                <a:schemeClr val="accent2"/>
              </a:solidFill>
            </a:endParaRPr>
          </a:p>
          <a:p>
            <a:pPr marL="12700" marR="5080"/>
            <a:r>
              <a:rPr lang="en-IN" sz="1200" dirty="0">
                <a:hlinkClick r:id="rId9"/>
              </a:rPr>
              <a:t>Ways to Achieve Idempotency | LinkedIn</a:t>
            </a:r>
            <a:endParaRPr lang="en-IN" sz="1200" dirty="0"/>
          </a:p>
          <a:p>
            <a:pPr marL="12700" marR="5080"/>
            <a:r>
              <a:rPr lang="en-US" sz="1200" dirty="0">
                <a:hlinkClick r:id="rId10"/>
              </a:rPr>
              <a:t>Idempotency and ordering in event-driven systems</a:t>
            </a:r>
            <a:endParaRPr lang="en-US" sz="1200" dirty="0"/>
          </a:p>
          <a:p>
            <a:pPr marL="12700" marR="5080"/>
            <a:r>
              <a:rPr lang="en-US" sz="1200" dirty="0">
                <a:hlinkClick r:id="rId11"/>
              </a:rPr>
              <a:t>Azure Service Bus duplicate message detection - Azure Service Bus</a:t>
            </a:r>
            <a:endParaRPr lang="en-US" sz="1450" kern="0" spc="-80" dirty="0">
              <a:solidFill>
                <a:schemeClr val="accent6"/>
              </a:solidFill>
            </a:endParaRPr>
          </a:p>
        </p:txBody>
      </p:sp>
    </p:spTree>
    <p:extLst>
      <p:ext uri="{BB962C8B-B14F-4D97-AF65-F5344CB8AC3E}">
        <p14:creationId xmlns:p14="http://schemas.microsoft.com/office/powerpoint/2010/main" val="10299054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214263" y="7736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Application Multitenancy -  </a:t>
            </a:r>
            <a:endParaRPr lang="en-US" sz="2000" kern="0" spc="-80" dirty="0">
              <a:solidFill>
                <a:schemeClr val="accent6"/>
              </a:solidFill>
            </a:endParaRPr>
          </a:p>
        </p:txBody>
      </p:sp>
      <p:pic>
        <p:nvPicPr>
          <p:cNvPr id="17414" name="Picture 6" descr="Multi-tenant architecture with tenant-isolated components. | Download  Scientific Diagram">
            <a:extLst>
              <a:ext uri="{FF2B5EF4-FFF2-40B4-BE49-F238E27FC236}">
                <a16:creationId xmlns:a16="http://schemas.microsoft.com/office/drawing/2014/main" id="{36A175C5-A760-EDCE-0905-1004B5653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8472537" cy="3809999"/>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EA15E624-C79A-E56D-FD90-AD7DCE92E13D}"/>
              </a:ext>
            </a:extLst>
          </p:cNvPr>
          <p:cNvSpPr txBox="1">
            <a:spLocks/>
          </p:cNvSpPr>
          <p:nvPr/>
        </p:nvSpPr>
        <p:spPr>
          <a:xfrm>
            <a:off x="122975" y="4612466"/>
            <a:ext cx="8624937" cy="133113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500" kern="0" spc="-80" dirty="0">
              <a:solidFill>
                <a:schemeClr val="accent2"/>
              </a:solidFill>
            </a:endParaRPr>
          </a:p>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050" dirty="0">
                <a:hlinkClick r:id="rId3"/>
              </a:rPr>
              <a:t>Inevitability of Multi-Tenancy &amp; SAAS in Product Engineering | </a:t>
            </a:r>
            <a:r>
              <a:rPr lang="en-US" sz="1050" dirty="0" err="1">
                <a:hlinkClick r:id="rId3"/>
              </a:rPr>
              <a:t>prashanthpanduranga</a:t>
            </a:r>
            <a:r>
              <a:rPr lang="en-US" sz="1050" dirty="0"/>
              <a:t> </a:t>
            </a:r>
            <a:r>
              <a:rPr lang="en-US" sz="1600" kern="0" spc="-80" dirty="0">
                <a:solidFill>
                  <a:schemeClr val="accent2"/>
                </a:solidFill>
              </a:rPr>
              <a:t> </a:t>
            </a:r>
          </a:p>
          <a:p>
            <a:pPr marL="12700" marR="5080"/>
            <a:r>
              <a:rPr lang="en-US" sz="1050" dirty="0">
                <a:hlinkClick r:id="rId4"/>
              </a:rPr>
              <a:t>ASP.NET Multitenant Applications Succinctly</a:t>
            </a:r>
            <a:endParaRPr lang="en-US" sz="1050" dirty="0"/>
          </a:p>
          <a:p>
            <a:pPr marL="12700" marR="5080"/>
            <a:r>
              <a:rPr lang="en-US" sz="1050" dirty="0">
                <a:hlinkClick r:id="rId5"/>
              </a:rPr>
              <a:t>Building Multi-Tenant SaaS Architectures: Principles, Practices, and Patterns Using AWS</a:t>
            </a:r>
            <a:endParaRPr lang="en-US" sz="1050" dirty="0"/>
          </a:p>
          <a:p>
            <a:pPr marL="12700" marR="5080"/>
            <a:r>
              <a:rPr lang="en-IN" sz="1050" dirty="0">
                <a:hlinkClick r:id="rId6"/>
              </a:rPr>
              <a:t>Commercial-Marketplace-Client-</a:t>
            </a:r>
            <a:r>
              <a:rPr lang="en-IN" sz="1050" dirty="0" err="1">
                <a:hlinkClick r:id="rId6"/>
              </a:rPr>
              <a:t>Dotne</a:t>
            </a:r>
            <a:endParaRPr lang="en-US" sz="1600" kern="0" spc="-80" dirty="0">
              <a:solidFill>
                <a:schemeClr val="accent2"/>
              </a:solidFill>
            </a:endParaRPr>
          </a:p>
        </p:txBody>
      </p:sp>
      <p:grpSp>
        <p:nvGrpSpPr>
          <p:cNvPr id="7" name="Group 6">
            <a:extLst>
              <a:ext uri="{FF2B5EF4-FFF2-40B4-BE49-F238E27FC236}">
                <a16:creationId xmlns:a16="http://schemas.microsoft.com/office/drawing/2014/main" id="{1D4186EC-4003-6851-8C1C-DE7FC86F8EE1}"/>
              </a:ext>
            </a:extLst>
          </p:cNvPr>
          <p:cNvGrpSpPr/>
          <p:nvPr/>
        </p:nvGrpSpPr>
        <p:grpSpPr>
          <a:xfrm>
            <a:off x="304800" y="23687"/>
            <a:ext cx="8472537" cy="433513"/>
            <a:chOff x="0" y="0"/>
            <a:chExt cx="8472537" cy="433513"/>
          </a:xfrm>
        </p:grpSpPr>
        <p:sp>
          <p:nvSpPr>
            <p:cNvPr id="9" name="Rectangle: Rounded Corners 8">
              <a:extLst>
                <a:ext uri="{FF2B5EF4-FFF2-40B4-BE49-F238E27FC236}">
                  <a16:creationId xmlns:a16="http://schemas.microsoft.com/office/drawing/2014/main" id="{A9F05178-1638-B08C-2B64-5022F16F5896}"/>
                </a:ext>
              </a:extLst>
            </p:cNvPr>
            <p:cNvSpPr/>
            <p:nvPr/>
          </p:nvSpPr>
          <p:spPr>
            <a:xfrm>
              <a:off x="0" y="0"/>
              <a:ext cx="8472537" cy="43351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EC17163F-3170-F71C-28EA-CF48E9CF5C53}"/>
                </a:ext>
              </a:extLst>
            </p:cNvPr>
            <p:cNvSpPr txBox="1"/>
            <p:nvPr/>
          </p:nvSpPr>
          <p:spPr>
            <a:xfrm>
              <a:off x="21162" y="21162"/>
              <a:ext cx="8430213" cy="391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p:txBody>
        </p:sp>
      </p:grpSp>
    </p:spTree>
    <p:extLst>
      <p:ext uri="{BB962C8B-B14F-4D97-AF65-F5344CB8AC3E}">
        <p14:creationId xmlns:p14="http://schemas.microsoft.com/office/powerpoint/2010/main" val="34573280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Infrastructure Multitenancy(using K8s) -  </a:t>
            </a:r>
            <a:endParaRPr lang="en-US" sz="2000" kern="0" spc="-80" dirty="0">
              <a:solidFill>
                <a:schemeClr val="accent6"/>
              </a:solidFill>
            </a:endParaRPr>
          </a:p>
        </p:txBody>
      </p:sp>
      <p:sp>
        <p:nvSpPr>
          <p:cNvPr id="8" name="object 2">
            <a:extLst>
              <a:ext uri="{FF2B5EF4-FFF2-40B4-BE49-F238E27FC236}">
                <a16:creationId xmlns:a16="http://schemas.microsoft.com/office/drawing/2014/main" id="{EA15E624-C79A-E56D-FD90-AD7DCE92E13D}"/>
              </a:ext>
            </a:extLst>
          </p:cNvPr>
          <p:cNvSpPr txBox="1">
            <a:spLocks/>
          </p:cNvSpPr>
          <p:nvPr/>
        </p:nvSpPr>
        <p:spPr>
          <a:xfrm>
            <a:off x="228600" y="4881771"/>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2"/>
              </a:rPr>
              <a:t>Kubernetes Multi-tenancy Best Practices &amp; Architecture Model..(2/2) - Vamsi Talks Tech</a:t>
            </a:r>
            <a:endParaRPr lang="en-US" sz="1500" dirty="0"/>
          </a:p>
          <a:p>
            <a:pPr marL="12700" marR="5080"/>
            <a:r>
              <a:rPr lang="en-IN" sz="1500" dirty="0">
                <a:hlinkClick r:id="rId3"/>
              </a:rPr>
              <a:t>Multi-tenancy | Kubernetes</a:t>
            </a:r>
            <a:endParaRPr lang="en-IN" sz="1500" dirty="0"/>
          </a:p>
          <a:p>
            <a:pPr marL="12700" marR="5080"/>
            <a:r>
              <a:rPr lang="en-US" sz="1500" dirty="0">
                <a:hlinkClick r:id="rId4"/>
              </a:rPr>
              <a:t>Multi-tenancy in Kubernetes: implementation and optimization | CNCF</a:t>
            </a:r>
            <a:endParaRPr lang="en-US" sz="1500" kern="0" spc="-80" dirty="0">
              <a:solidFill>
                <a:schemeClr val="accent2"/>
              </a:solidFill>
            </a:endParaRPr>
          </a:p>
        </p:txBody>
      </p:sp>
      <p:pic>
        <p:nvPicPr>
          <p:cNvPr id="18436" name="Picture 4">
            <a:extLst>
              <a:ext uri="{FF2B5EF4-FFF2-40B4-BE49-F238E27FC236}">
                <a16:creationId xmlns:a16="http://schemas.microsoft.com/office/drawing/2014/main" id="{0B3DDC4B-61AA-00D8-7B65-58937D02D7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1079083"/>
            <a:ext cx="8396337" cy="349291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Rounded Corners 4">
            <a:extLst>
              <a:ext uri="{FF2B5EF4-FFF2-40B4-BE49-F238E27FC236}">
                <a16:creationId xmlns:a16="http://schemas.microsoft.com/office/drawing/2014/main" id="{8B3FBA2C-2929-0CC0-EE5E-3F5ECAF00429}"/>
              </a:ext>
            </a:extLst>
          </p:cNvPr>
          <p:cNvSpPr txBox="1"/>
          <p:nvPr/>
        </p:nvSpPr>
        <p:spPr>
          <a:xfrm>
            <a:off x="325962" y="44849"/>
            <a:ext cx="8430213" cy="391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p:txBody>
      </p:sp>
      <p:grpSp>
        <p:nvGrpSpPr>
          <p:cNvPr id="9" name="Group 8">
            <a:extLst>
              <a:ext uri="{FF2B5EF4-FFF2-40B4-BE49-F238E27FC236}">
                <a16:creationId xmlns:a16="http://schemas.microsoft.com/office/drawing/2014/main" id="{1FE043B7-ABA4-01E5-8111-0AB1E40100A1}"/>
              </a:ext>
            </a:extLst>
          </p:cNvPr>
          <p:cNvGrpSpPr/>
          <p:nvPr/>
        </p:nvGrpSpPr>
        <p:grpSpPr>
          <a:xfrm>
            <a:off x="304800" y="23687"/>
            <a:ext cx="8472537" cy="433513"/>
            <a:chOff x="0" y="0"/>
            <a:chExt cx="8472537" cy="433513"/>
          </a:xfrm>
        </p:grpSpPr>
        <p:sp>
          <p:nvSpPr>
            <p:cNvPr id="10" name="Rectangle: Rounded Corners 9">
              <a:extLst>
                <a:ext uri="{FF2B5EF4-FFF2-40B4-BE49-F238E27FC236}">
                  <a16:creationId xmlns:a16="http://schemas.microsoft.com/office/drawing/2014/main" id="{929DB29B-CCB6-99BE-FD95-418B1975DFA4}"/>
                </a:ext>
              </a:extLst>
            </p:cNvPr>
            <p:cNvSpPr/>
            <p:nvPr/>
          </p:nvSpPr>
          <p:spPr>
            <a:xfrm>
              <a:off x="0" y="0"/>
              <a:ext cx="8472537" cy="43351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E02D3F7D-6871-8969-3242-570004B1A95D}"/>
                </a:ext>
              </a:extLst>
            </p:cNvPr>
            <p:cNvSpPr txBox="1"/>
            <p:nvPr/>
          </p:nvSpPr>
          <p:spPr>
            <a:xfrm>
              <a:off x="21162" y="21162"/>
              <a:ext cx="8430213" cy="391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Microservices Architecture – A bit more in depth</a:t>
              </a:r>
            </a:p>
          </p:txBody>
        </p:sp>
      </p:grpSp>
    </p:spTree>
    <p:extLst>
      <p:ext uri="{BB962C8B-B14F-4D97-AF65-F5344CB8AC3E}">
        <p14:creationId xmlns:p14="http://schemas.microsoft.com/office/powerpoint/2010/main" val="11537393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236433795"/>
              </p:ext>
            </p:extLst>
          </p:nvPr>
        </p:nvGraphicFramePr>
        <p:xfrm>
          <a:off x="381000" y="34425"/>
          <a:ext cx="8624936"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37369" y="67101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Monolith to Microservices Migration – </a:t>
            </a:r>
            <a:endParaRPr lang="en-US" sz="2000" kern="0" spc="-80" dirty="0">
              <a:solidFill>
                <a:schemeClr val="accent6"/>
              </a:solidFill>
            </a:endParaRPr>
          </a:p>
        </p:txBody>
      </p:sp>
      <p:pic>
        <p:nvPicPr>
          <p:cNvPr id="16386" name="Picture 2" descr="Steps for Migrating from Monolith to Microservices">
            <a:extLst>
              <a:ext uri="{FF2B5EF4-FFF2-40B4-BE49-F238E27FC236}">
                <a16:creationId xmlns:a16="http://schemas.microsoft.com/office/drawing/2014/main" id="{F53F825D-178D-ED8E-DAA8-87296CAEE8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1371601"/>
            <a:ext cx="8305800" cy="3428999"/>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2C6693FA-415E-5238-EF65-BB01F556BF26}"/>
              </a:ext>
            </a:extLst>
          </p:cNvPr>
          <p:cNvSpPr txBox="1">
            <a:spLocks/>
          </p:cNvSpPr>
          <p:nvPr/>
        </p:nvSpPr>
        <p:spPr>
          <a:xfrm>
            <a:off x="137368" y="5078178"/>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Refactor a monolith into microservices  |  Cloud Architecture Center  |  Google Cloud</a:t>
            </a:r>
            <a:endParaRPr lang="en-US" sz="1500" kern="0" spc="-80" dirty="0">
              <a:solidFill>
                <a:schemeClr val="accent2"/>
              </a:solidFill>
            </a:endParaRPr>
          </a:p>
          <a:p>
            <a:pPr marL="12700" marR="5080"/>
            <a:r>
              <a:rPr lang="en-US" sz="1500" dirty="0">
                <a:hlinkClick r:id="rId9"/>
              </a:rPr>
              <a:t>Monolith to Microservices — Migration patters | by Priyal </a:t>
            </a:r>
            <a:r>
              <a:rPr lang="en-US" sz="1500" dirty="0" err="1">
                <a:hlinkClick r:id="rId9"/>
              </a:rPr>
              <a:t>Walpita</a:t>
            </a:r>
            <a:r>
              <a:rPr lang="en-US" sz="1500" dirty="0">
                <a:hlinkClick r:id="rId9"/>
              </a:rPr>
              <a:t> | Medium</a:t>
            </a:r>
            <a:endParaRPr lang="en-US" sz="1500" kern="0" spc="-80" dirty="0">
              <a:solidFill>
                <a:schemeClr val="accent2"/>
              </a:solidFill>
            </a:endParaRPr>
          </a:p>
        </p:txBody>
      </p:sp>
    </p:spTree>
    <p:extLst>
      <p:ext uri="{BB962C8B-B14F-4D97-AF65-F5344CB8AC3E}">
        <p14:creationId xmlns:p14="http://schemas.microsoft.com/office/powerpoint/2010/main" val="21761324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0999" y="110625"/>
          <a:ext cx="838130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32776" name="Picture 8" descr="Microservice Architecture and Design Patterns for Microservices | by  madhuka udantha | Medium">
            <a:extLst>
              <a:ext uri="{FF2B5EF4-FFF2-40B4-BE49-F238E27FC236}">
                <a16:creationId xmlns:a16="http://schemas.microsoft.com/office/drawing/2014/main" id="{FD19EBCB-3A62-CFC0-C082-F93B61E4F6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1143000"/>
            <a:ext cx="8534401" cy="4228464"/>
          </a:xfrm>
          <a:prstGeom prst="rect">
            <a:avLst/>
          </a:prstGeom>
          <a:noFill/>
          <a:extLst>
            <a:ext uri="{909E8E84-426E-40DD-AFC4-6F175D3DCCD1}">
              <a14:hiddenFill xmlns:a14="http://schemas.microsoft.com/office/drawing/2010/main">
                <a:solidFill>
                  <a:srgbClr val="FFFFFF"/>
                </a:solidFill>
              </a14:hiddenFill>
            </a:ext>
          </a:extLst>
        </p:spPr>
      </p:pic>
      <p:sp>
        <p:nvSpPr>
          <p:cNvPr id="13" name="object 2">
            <a:extLst>
              <a:ext uri="{FF2B5EF4-FFF2-40B4-BE49-F238E27FC236}">
                <a16:creationId xmlns:a16="http://schemas.microsoft.com/office/drawing/2014/main" id="{6ED63413-A022-8721-0141-A55D702FB7CA}"/>
              </a:ext>
            </a:extLst>
          </p:cNvPr>
          <p:cNvSpPr txBox="1">
            <a:spLocks/>
          </p:cNvSpPr>
          <p:nvPr/>
        </p:nvSpPr>
        <p:spPr>
          <a:xfrm>
            <a:off x="123727" y="5343436"/>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 Cloud Architecture Patterns </a:t>
            </a:r>
            <a:r>
              <a:rPr lang="en-US" sz="2400" kern="0" spc="-80" dirty="0">
                <a:solidFill>
                  <a:schemeClr val="accent2"/>
                </a:solidFill>
              </a:rPr>
              <a:t>–</a:t>
            </a:r>
          </a:p>
          <a:p>
            <a:pPr marL="12700" marR="5080"/>
            <a:r>
              <a:rPr lang="en-IN" sz="1500" dirty="0">
                <a:hlinkClick r:id="rId8"/>
              </a:rPr>
              <a:t>Cloud-design-patterns</a:t>
            </a:r>
            <a:endParaRPr lang="en-US" sz="1500" kern="0" spc="-80" dirty="0">
              <a:solidFill>
                <a:schemeClr val="accent2"/>
              </a:solidFill>
            </a:endParaRPr>
          </a:p>
        </p:txBody>
      </p:sp>
      <p:sp>
        <p:nvSpPr>
          <p:cNvPr id="8" name="object 2">
            <a:extLst>
              <a:ext uri="{FF2B5EF4-FFF2-40B4-BE49-F238E27FC236}">
                <a16:creationId xmlns:a16="http://schemas.microsoft.com/office/drawing/2014/main" id="{A5B7113F-9B20-7EA2-F9CA-BA92DE554742}"/>
              </a:ext>
            </a:extLst>
          </p:cNvPr>
          <p:cNvSpPr txBox="1">
            <a:spLocks/>
          </p:cNvSpPr>
          <p:nvPr/>
        </p:nvSpPr>
        <p:spPr>
          <a:xfrm>
            <a:off x="289769" y="7736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Microservices Architecture Patterns </a:t>
            </a:r>
            <a:r>
              <a:rPr lang="en-US" sz="2400" kern="0" spc="-80" dirty="0">
                <a:solidFill>
                  <a:schemeClr val="accent2"/>
                </a:solidFill>
              </a:rPr>
              <a:t>–</a:t>
            </a:r>
          </a:p>
        </p:txBody>
      </p:sp>
    </p:spTree>
    <p:extLst>
      <p:ext uri="{BB962C8B-B14F-4D97-AF65-F5344CB8AC3E}">
        <p14:creationId xmlns:p14="http://schemas.microsoft.com/office/powerpoint/2010/main" val="39958062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0999" y="110625"/>
          <a:ext cx="838130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3" name="object 2">
            <a:extLst>
              <a:ext uri="{FF2B5EF4-FFF2-40B4-BE49-F238E27FC236}">
                <a16:creationId xmlns:a16="http://schemas.microsoft.com/office/drawing/2014/main" id="{6ED63413-A022-8721-0141-A55D702FB7CA}"/>
              </a:ext>
            </a:extLst>
          </p:cNvPr>
          <p:cNvSpPr txBox="1">
            <a:spLocks/>
          </p:cNvSpPr>
          <p:nvPr/>
        </p:nvSpPr>
        <p:spPr>
          <a:xfrm>
            <a:off x="290463" y="781368"/>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 –</a:t>
            </a:r>
          </a:p>
          <a:p>
            <a:pPr marL="12700" marR="5080"/>
            <a:r>
              <a:rPr lang="en-IN" sz="1700" dirty="0">
                <a:hlinkClick r:id="rId7"/>
              </a:rPr>
              <a:t>A pattern language for microservices</a:t>
            </a:r>
            <a:r>
              <a:rPr lang="en-US" sz="1700" kern="0" spc="-80" dirty="0">
                <a:solidFill>
                  <a:schemeClr val="accent2"/>
                </a:solidFill>
              </a:rPr>
              <a:t>  </a:t>
            </a:r>
          </a:p>
          <a:p>
            <a:pPr marL="12700" marR="5080"/>
            <a:r>
              <a:rPr lang="en-IN" sz="1700" dirty="0">
                <a:hlinkClick r:id="rId8"/>
              </a:rPr>
              <a:t>SOA: Patterns</a:t>
            </a:r>
            <a:endParaRPr lang="en-US" sz="1700" kern="0" spc="-80" dirty="0">
              <a:solidFill>
                <a:schemeClr val="accent2"/>
              </a:solidFill>
            </a:endParaRPr>
          </a:p>
          <a:p>
            <a:pPr marL="12700" marR="5080"/>
            <a:r>
              <a:rPr lang="en-IN" sz="1700" dirty="0">
                <a:hlinkClick r:id="rId9"/>
              </a:rPr>
              <a:t>Microservices with Netflix OSS, Spring Boot, and non-JVM applications</a:t>
            </a:r>
            <a:endParaRPr lang="en-IN" sz="1700" dirty="0"/>
          </a:p>
          <a:p>
            <a:pPr marL="12700" marR="5080"/>
            <a:r>
              <a:rPr lang="en-US" sz="1700" dirty="0">
                <a:hlinkClick r:id="rId10"/>
              </a:rPr>
              <a:t>Ribbon</a:t>
            </a:r>
            <a:endParaRPr lang="en-US" sz="1700" dirty="0"/>
          </a:p>
          <a:p>
            <a:pPr marL="12700" marR="5080"/>
            <a:r>
              <a:rPr lang="en-IN" sz="1700" dirty="0">
                <a:hlinkClick r:id="rId11"/>
              </a:rPr>
              <a:t>Kubernetes Components | Kubernetes</a:t>
            </a:r>
            <a:endParaRPr lang="en-US" sz="1700" dirty="0"/>
          </a:p>
          <a:p>
            <a:pPr marL="12700" marR="5080"/>
            <a:r>
              <a:rPr lang="en-US" sz="1700" dirty="0">
                <a:hlinkClick r:id="rId12"/>
              </a:rPr>
              <a:t>Services, Load Balancing, and Networking | Kubernetes</a:t>
            </a:r>
            <a:endParaRPr lang="en-US" sz="1700" dirty="0"/>
          </a:p>
          <a:p>
            <a:pPr marL="12700" marR="5080"/>
            <a:r>
              <a:rPr lang="en-US" sz="1700" dirty="0">
                <a:hlinkClick r:id="rId13"/>
              </a:rPr>
              <a:t>Service Discovery in Microservices with C# and .NET | LinkedIn</a:t>
            </a:r>
            <a:endParaRPr lang="en-US" sz="1700" dirty="0"/>
          </a:p>
          <a:p>
            <a:pPr marL="12700" marR="5080"/>
            <a:r>
              <a:rPr lang="en-US" sz="1700" dirty="0">
                <a:hlinkClick r:id="rId14"/>
              </a:rPr>
              <a:t>.NET Microservices with </a:t>
            </a:r>
            <a:r>
              <a:rPr lang="en-US" sz="1700" dirty="0" err="1">
                <a:hlinkClick r:id="rId14"/>
              </a:rPr>
              <a:t>Steeltoe</a:t>
            </a:r>
            <a:r>
              <a:rPr lang="en-US" sz="1700" dirty="0">
                <a:hlinkClick r:id="rId14"/>
              </a:rPr>
              <a:t> | Microsoft Learn</a:t>
            </a:r>
            <a:endParaRPr lang="en-US" sz="1700" dirty="0"/>
          </a:p>
          <a:p>
            <a:pPr marL="12700" marR="5080"/>
            <a:r>
              <a:rPr lang="en-US" sz="1700" dirty="0">
                <a:hlinkClick r:id="rId15"/>
              </a:rPr>
              <a:t>Resilient Microservices with </a:t>
            </a:r>
            <a:r>
              <a:rPr lang="en-US" sz="1700" dirty="0" err="1">
                <a:hlinkClick r:id="rId15"/>
              </a:rPr>
              <a:t>Steeltoe</a:t>
            </a:r>
            <a:endParaRPr lang="en-US" sz="1700" kern="0" spc="-80" dirty="0">
              <a:solidFill>
                <a:schemeClr val="accent2"/>
              </a:solidFill>
            </a:endParaRPr>
          </a:p>
          <a:p>
            <a:pPr marL="12700" marR="5080"/>
            <a:r>
              <a:rPr lang="en-US" sz="1700" dirty="0">
                <a:hlinkClick r:id="rId16"/>
              </a:rPr>
              <a:t>What is a Service Mesh? | Definition from TechTarget</a:t>
            </a:r>
            <a:endParaRPr lang="en-US" sz="1700" dirty="0"/>
          </a:p>
          <a:p>
            <a:pPr marL="12700" marR="5080"/>
            <a:r>
              <a:rPr lang="en-US" sz="1700" dirty="0">
                <a:hlinkClick r:id="rId17"/>
              </a:rPr>
              <a:t>Microservice Service Discovery: Service Mesh vs API Gateway Explained</a:t>
            </a:r>
            <a:r>
              <a:rPr lang="en-US" sz="1700" kern="0" spc="-80" dirty="0">
                <a:solidFill>
                  <a:schemeClr val="accent2"/>
                </a:solidFill>
              </a:rPr>
              <a:t> </a:t>
            </a:r>
          </a:p>
          <a:p>
            <a:pPr marL="12700" marR="5080"/>
            <a:r>
              <a:rPr lang="en-US" sz="1700" dirty="0">
                <a:hlinkClick r:id="rId18"/>
              </a:rPr>
              <a:t>Fan-out/fan-in scenarios in Durable Functions - Azure | Microsoft Learn</a:t>
            </a:r>
            <a:r>
              <a:rPr lang="en-US" sz="1700" kern="0" spc="-80" dirty="0">
                <a:solidFill>
                  <a:schemeClr val="accent2"/>
                </a:solidFill>
              </a:rPr>
              <a:t> </a:t>
            </a:r>
          </a:p>
          <a:p>
            <a:pPr marL="12700" marR="5080"/>
            <a:r>
              <a:rPr lang="en-US" sz="1700" dirty="0">
                <a:hlinkClick r:id="rId19"/>
              </a:rPr>
              <a:t>Design Patterns for Cloud Native Applications[Book]</a:t>
            </a:r>
            <a:endParaRPr lang="en-US" sz="1700" dirty="0"/>
          </a:p>
          <a:p>
            <a:pPr marL="12700" marR="5080"/>
            <a:r>
              <a:rPr lang="en-IN" sz="1700" dirty="0">
                <a:hlinkClick r:id="rId20"/>
              </a:rPr>
              <a:t>Design Patterns used Across Various Software Layers | LinkedIn</a:t>
            </a:r>
            <a:endParaRPr lang="en-IN" sz="1700" dirty="0"/>
          </a:p>
          <a:p>
            <a:pPr marL="12700" marR="5080"/>
            <a:r>
              <a:rPr lang="en-US" sz="1700" dirty="0">
                <a:hlinkClick r:id="rId21"/>
              </a:rPr>
              <a:t>Cloud Native Architecture and Design: A Handbook for Modern Day Architecture and Design with Enterprise-Grade Examples | SpringerLink</a:t>
            </a:r>
            <a:endParaRPr lang="en-US" sz="1700" dirty="0"/>
          </a:p>
          <a:p>
            <a:pPr marL="12700" marR="5080"/>
            <a:r>
              <a:rPr lang="en-IN" sz="1700" dirty="0">
                <a:hlinkClick r:id="rId22"/>
              </a:rPr>
              <a:t>Microservices And Orchestration Lessons | LinkedIn</a:t>
            </a:r>
            <a:r>
              <a:rPr lang="en-US" sz="1700" dirty="0"/>
              <a:t> </a:t>
            </a:r>
            <a:endParaRPr lang="en-US" sz="1700" kern="0" spc="-80" dirty="0">
              <a:solidFill>
                <a:schemeClr val="accent2"/>
              </a:solidFill>
            </a:endParaRPr>
          </a:p>
        </p:txBody>
      </p:sp>
    </p:spTree>
    <p:extLst>
      <p:ext uri="{BB962C8B-B14F-4D97-AF65-F5344CB8AC3E}">
        <p14:creationId xmlns:p14="http://schemas.microsoft.com/office/powerpoint/2010/main" val="32976961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937736"/>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DNS – </a:t>
            </a:r>
          </a:p>
        </p:txBody>
      </p:sp>
      <p:pic>
        <p:nvPicPr>
          <p:cNvPr id="1026" name="Picture 2" descr="networking - How to access multiple servers with local DNS - Super User">
            <a:extLst>
              <a:ext uri="{FF2B5EF4-FFF2-40B4-BE49-F238E27FC236}">
                <a16:creationId xmlns:a16="http://schemas.microsoft.com/office/drawing/2014/main" id="{F29102EC-6240-AD6D-B518-9691BD39FA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1445340"/>
            <a:ext cx="8229600" cy="4193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4258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DNS –</a:t>
            </a:r>
          </a:p>
          <a:p>
            <a:pPr marL="12700" marR="5080"/>
            <a:r>
              <a:rPr lang="en-US" sz="2400" kern="0" spc="-80" dirty="0">
                <a:solidFill>
                  <a:schemeClr val="accent2"/>
                </a:solidFill>
              </a:rPr>
              <a:t>   Hierarchy -  </a:t>
            </a:r>
          </a:p>
        </p:txBody>
      </p:sp>
      <p:pic>
        <p:nvPicPr>
          <p:cNvPr id="7" name="Picture 6">
            <a:extLst>
              <a:ext uri="{FF2B5EF4-FFF2-40B4-BE49-F238E27FC236}">
                <a16:creationId xmlns:a16="http://schemas.microsoft.com/office/drawing/2014/main" id="{A7F142D3-F360-4378-E8A3-39B3AB118875}"/>
              </a:ext>
            </a:extLst>
          </p:cNvPr>
          <p:cNvPicPr>
            <a:picLocks noChangeAspect="1"/>
          </p:cNvPicPr>
          <p:nvPr/>
        </p:nvPicPr>
        <p:blipFill>
          <a:blip r:embed="rId7"/>
          <a:stretch>
            <a:fillRect/>
          </a:stretch>
        </p:blipFill>
        <p:spPr>
          <a:xfrm>
            <a:off x="361506" y="1695259"/>
            <a:ext cx="8630094" cy="3714941"/>
          </a:xfrm>
          <a:prstGeom prst="rect">
            <a:avLst/>
          </a:prstGeom>
        </p:spPr>
      </p:pic>
    </p:spTree>
    <p:extLst>
      <p:ext uri="{BB962C8B-B14F-4D97-AF65-F5344CB8AC3E}">
        <p14:creationId xmlns:p14="http://schemas.microsoft.com/office/powerpoint/2010/main" val="7001964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23094517"/>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937736"/>
            <a:ext cx="8624937" cy="40164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DNS - </a:t>
            </a:r>
          </a:p>
          <a:p>
            <a:pPr marL="12700" marR="5080"/>
            <a:r>
              <a:rPr lang="en-US" sz="2400" kern="0" spc="-80" dirty="0">
                <a:solidFill>
                  <a:schemeClr val="accent2"/>
                </a:solidFill>
              </a:rPr>
              <a:t>For Further Exploration – </a:t>
            </a:r>
          </a:p>
          <a:p>
            <a:pPr marL="12700" marR="5080"/>
            <a:endParaRPr lang="en-US" sz="2400" kern="0" spc="-80" dirty="0">
              <a:solidFill>
                <a:schemeClr val="accent2"/>
              </a:solidFill>
            </a:endParaRPr>
          </a:p>
          <a:p>
            <a:pPr marL="12700" marR="5080"/>
            <a:endParaRPr lang="en-US" sz="2400" kern="0" spc="-80" dirty="0">
              <a:solidFill>
                <a:schemeClr val="accent2"/>
              </a:solidFill>
            </a:endParaRPr>
          </a:p>
          <a:p>
            <a:pPr marL="12700" marR="5080"/>
            <a:r>
              <a:rPr lang="en-US" sz="2400" kern="0" spc="-80" dirty="0">
                <a:solidFill>
                  <a:schemeClr val="accent2"/>
                </a:solidFill>
              </a:rPr>
              <a:t>Local DNS </a:t>
            </a:r>
            <a:r>
              <a:rPr lang="en-US" sz="2400" kern="0" spc="-80" dirty="0">
                <a:solidFill>
                  <a:schemeClr val="accent6"/>
                </a:solidFill>
              </a:rPr>
              <a:t>– i.e. via Host File(</a:t>
            </a:r>
            <a:r>
              <a:rPr lang="en-US" sz="1500" dirty="0" err="1">
                <a:hlinkClick r:id="rId7"/>
              </a:rPr>
              <a:t>c#</a:t>
            </a:r>
            <a:r>
              <a:rPr lang="en-US" sz="1500" dirty="0">
                <a:hlinkClick r:id="rId7"/>
              </a:rPr>
              <a:t> - How do </a:t>
            </a:r>
            <a:r>
              <a:rPr lang="en-US" sz="1500" dirty="0" err="1">
                <a:hlinkClick r:id="rId7"/>
              </a:rPr>
              <a:t>i</a:t>
            </a:r>
            <a:r>
              <a:rPr lang="en-US" sz="1500" dirty="0">
                <a:hlinkClick r:id="rId7"/>
              </a:rPr>
              <a:t> change the hosts file in a windows program? - Stack Overflow</a:t>
            </a:r>
            <a:r>
              <a:rPr lang="en-US" sz="2400" kern="0" spc="-80" dirty="0">
                <a:solidFill>
                  <a:schemeClr val="accent6"/>
                </a:solidFill>
              </a:rPr>
              <a:t>) </a:t>
            </a:r>
          </a:p>
          <a:p>
            <a:pPr marL="12700" marR="5080"/>
            <a:endParaRPr lang="en-US" sz="2400" kern="0" spc="-80" dirty="0">
              <a:solidFill>
                <a:schemeClr val="accent6"/>
              </a:solidFill>
            </a:endParaRPr>
          </a:p>
          <a:p>
            <a:pPr marL="12700" marR="5080"/>
            <a:endParaRPr lang="en-US" sz="2400" kern="0" spc="-80" dirty="0">
              <a:solidFill>
                <a:schemeClr val="accent6"/>
              </a:solidFill>
            </a:endParaRPr>
          </a:p>
          <a:p>
            <a:pPr marL="12700" marR="5080"/>
            <a:r>
              <a:rPr lang="en-US" sz="2400" kern="0" spc="-80" dirty="0">
                <a:solidFill>
                  <a:schemeClr val="accent2"/>
                </a:solidFill>
              </a:rPr>
              <a:t>Hierarchical DNS(using physical servers)</a:t>
            </a:r>
            <a:r>
              <a:rPr lang="en-US" sz="2400" kern="0" spc="-80" dirty="0">
                <a:solidFill>
                  <a:schemeClr val="accent6"/>
                </a:solidFill>
              </a:rPr>
              <a:t> – </a:t>
            </a:r>
          </a:p>
          <a:p>
            <a:pPr marL="12700" marR="5080"/>
            <a:r>
              <a:rPr lang="en-US" sz="1500" dirty="0">
                <a:hlinkClick r:id="rId8"/>
              </a:rPr>
              <a:t>Introduction to Domain Name System (DNS)</a:t>
            </a:r>
            <a:endParaRPr lang="en-US" sz="1500" dirty="0"/>
          </a:p>
          <a:p>
            <a:pPr marL="12700" marR="5080"/>
            <a:r>
              <a:rPr lang="en-US" sz="1500" dirty="0">
                <a:hlinkClick r:id="rId9"/>
              </a:rPr>
              <a:t>How the Domain Name System Works</a:t>
            </a:r>
            <a:endParaRPr lang="en-US" sz="1500" dirty="0"/>
          </a:p>
          <a:p>
            <a:pPr marL="12700" marR="5080"/>
            <a:r>
              <a:rPr lang="en-IN" sz="1500" dirty="0">
                <a:hlinkClick r:id="rId10"/>
              </a:rPr>
              <a:t>DNS Resolution – How the internet find its way | LinkedIn</a:t>
            </a:r>
            <a:endParaRPr lang="en-US" sz="1500" kern="0" spc="-80" dirty="0">
              <a:solidFill>
                <a:schemeClr val="accent6"/>
              </a:solidFill>
            </a:endParaRPr>
          </a:p>
        </p:txBody>
      </p:sp>
    </p:spTree>
    <p:extLst>
      <p:ext uri="{BB962C8B-B14F-4D97-AF65-F5344CB8AC3E}">
        <p14:creationId xmlns:p14="http://schemas.microsoft.com/office/powerpoint/2010/main" val="31255935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937736"/>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Load Balancer–</a:t>
            </a:r>
          </a:p>
        </p:txBody>
      </p:sp>
      <p:pic>
        <p:nvPicPr>
          <p:cNvPr id="3074" name="Picture 2" descr="What is a Load Balancer? Definition &amp; FAQs | Avi Networks">
            <a:extLst>
              <a:ext uri="{FF2B5EF4-FFF2-40B4-BE49-F238E27FC236}">
                <a16:creationId xmlns:a16="http://schemas.microsoft.com/office/drawing/2014/main" id="{11A559D1-60C2-2A39-B896-69F0DDAA5FD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1307068"/>
            <a:ext cx="8534400" cy="4522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84387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799" y="914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Load Balancer (Types)– </a:t>
            </a:r>
          </a:p>
        </p:txBody>
      </p:sp>
      <p:graphicFrame>
        <p:nvGraphicFramePr>
          <p:cNvPr id="9" name="Table 8">
            <a:extLst>
              <a:ext uri="{FF2B5EF4-FFF2-40B4-BE49-F238E27FC236}">
                <a16:creationId xmlns:a16="http://schemas.microsoft.com/office/drawing/2014/main" id="{42E7B208-F977-C274-11E9-221C8927D82D}"/>
              </a:ext>
            </a:extLst>
          </p:cNvPr>
          <p:cNvGraphicFramePr>
            <a:graphicFrameLocks noGrp="1"/>
          </p:cNvGraphicFramePr>
          <p:nvPr>
            <p:extLst>
              <p:ext uri="{D42A27DB-BD31-4B8C-83A1-F6EECF244321}">
                <p14:modId xmlns:p14="http://schemas.microsoft.com/office/powerpoint/2010/main" val="3560156930"/>
              </p:ext>
            </p:extLst>
          </p:nvPr>
        </p:nvGraphicFramePr>
        <p:xfrm>
          <a:off x="304799" y="1295400"/>
          <a:ext cx="8624936" cy="4572000"/>
        </p:xfrm>
        <a:graphic>
          <a:graphicData uri="http://schemas.openxmlformats.org/drawingml/2006/table">
            <a:tbl>
              <a:tblPr firstRow="1" bandRow="1">
                <a:tableStyleId>{5C22544A-7EE6-4342-B048-85BDC9FD1C3A}</a:tableStyleId>
              </a:tblPr>
              <a:tblGrid>
                <a:gridCol w="2156234">
                  <a:extLst>
                    <a:ext uri="{9D8B030D-6E8A-4147-A177-3AD203B41FA5}">
                      <a16:colId xmlns:a16="http://schemas.microsoft.com/office/drawing/2014/main" val="3996933972"/>
                    </a:ext>
                  </a:extLst>
                </a:gridCol>
                <a:gridCol w="2156234">
                  <a:extLst>
                    <a:ext uri="{9D8B030D-6E8A-4147-A177-3AD203B41FA5}">
                      <a16:colId xmlns:a16="http://schemas.microsoft.com/office/drawing/2014/main" val="2345343663"/>
                    </a:ext>
                  </a:extLst>
                </a:gridCol>
                <a:gridCol w="2156234">
                  <a:extLst>
                    <a:ext uri="{9D8B030D-6E8A-4147-A177-3AD203B41FA5}">
                      <a16:colId xmlns:a16="http://schemas.microsoft.com/office/drawing/2014/main" val="1360033690"/>
                    </a:ext>
                  </a:extLst>
                </a:gridCol>
                <a:gridCol w="2156234">
                  <a:extLst>
                    <a:ext uri="{9D8B030D-6E8A-4147-A177-3AD203B41FA5}">
                      <a16:colId xmlns:a16="http://schemas.microsoft.com/office/drawing/2014/main" val="3188013751"/>
                    </a:ext>
                  </a:extLst>
                </a:gridCol>
              </a:tblGrid>
              <a:tr h="388540">
                <a:tc>
                  <a:txBody>
                    <a:bodyPr/>
                    <a:lstStyle/>
                    <a:p>
                      <a:r>
                        <a:rPr lang="en-US" dirty="0"/>
                        <a:t>LB Type</a:t>
                      </a:r>
                      <a:endParaRPr lang="en-IN" dirty="0"/>
                    </a:p>
                  </a:txBody>
                  <a:tcPr/>
                </a:tc>
                <a:tc>
                  <a:txBody>
                    <a:bodyPr/>
                    <a:lstStyle/>
                    <a:p>
                      <a:r>
                        <a:rPr lang="en-US" dirty="0"/>
                        <a:t>Layer(s)</a:t>
                      </a:r>
                      <a:endParaRPr lang="en-IN" dirty="0"/>
                    </a:p>
                  </a:txBody>
                  <a:tcPr/>
                </a:tc>
                <a:tc>
                  <a:txBody>
                    <a:bodyPr/>
                    <a:lstStyle/>
                    <a:p>
                      <a:pPr marL="0"/>
                      <a:r>
                        <a:rPr lang="en-US" b="1" dirty="0">
                          <a:solidFill>
                            <a:schemeClr val="lt1"/>
                          </a:solidFill>
                          <a:latin typeface="+mn-lt"/>
                          <a:ea typeface="+mn-ea"/>
                          <a:cs typeface="+mn-cs"/>
                        </a:rPr>
                        <a:t>Feature(s)</a:t>
                      </a:r>
                      <a:endParaRPr lang="en-IN" b="1" dirty="0">
                        <a:solidFill>
                          <a:schemeClr val="lt1"/>
                        </a:solidFill>
                        <a:latin typeface="+mn-lt"/>
                        <a:ea typeface="+mn-ea"/>
                        <a:cs typeface="+mn-cs"/>
                      </a:endParaRPr>
                    </a:p>
                  </a:txBody>
                  <a:tcPr/>
                </a:tc>
                <a:tc>
                  <a:txBody>
                    <a:bodyPr/>
                    <a:lstStyle/>
                    <a:p>
                      <a:r>
                        <a:rPr lang="en-US" dirty="0"/>
                        <a:t>Use Case(s)</a:t>
                      </a:r>
                      <a:endParaRPr lang="en-IN" dirty="0"/>
                    </a:p>
                  </a:txBody>
                  <a:tcPr/>
                </a:tc>
                <a:extLst>
                  <a:ext uri="{0D108BD9-81ED-4DB2-BD59-A6C34878D82A}">
                    <a16:rowId xmlns:a16="http://schemas.microsoft.com/office/drawing/2014/main" val="3051410204"/>
                  </a:ext>
                </a:extLst>
              </a:tr>
              <a:tr h="2011893">
                <a:tc>
                  <a:txBody>
                    <a:bodyPr/>
                    <a:lstStyle/>
                    <a:p>
                      <a:r>
                        <a:rPr lang="en-US" sz="1200" dirty="0"/>
                        <a:t>GLB(Global Load Balancer)</a:t>
                      </a:r>
                      <a:endParaRPr lang="en-IN" sz="1200" dirty="0"/>
                    </a:p>
                  </a:txBody>
                  <a:tcPr/>
                </a:tc>
                <a:tc>
                  <a:txBody>
                    <a:bodyPr/>
                    <a:lstStyle/>
                    <a:p>
                      <a:r>
                        <a:rPr lang="en-US" sz="1200" dirty="0"/>
                        <a:t>Layer 3</a:t>
                      </a:r>
                      <a:endParaRPr lang="en-IN" sz="1200" dirty="0"/>
                    </a:p>
                  </a:txBody>
                  <a:tcPr/>
                </a:tc>
                <a:tc>
                  <a:txBody>
                    <a:bodyPr/>
                    <a:lstStyle/>
                    <a:p>
                      <a:r>
                        <a:rPr lang="en-US" sz="1200" b="1" dirty="0"/>
                        <a:t>Multi-Region</a:t>
                      </a:r>
                      <a:r>
                        <a:rPr lang="en-US" sz="1200" dirty="0"/>
                        <a:t>: Allows for global load balancing across multiple Cloud Regions.</a:t>
                      </a:r>
                    </a:p>
                    <a:p>
                      <a:r>
                        <a:rPr lang="en-US" sz="1200" b="1" dirty="0"/>
                        <a:t>DNS-Based:</a:t>
                      </a:r>
                      <a:r>
                        <a:rPr lang="en-US" sz="1200" dirty="0"/>
                        <a:t> GLB primarily relies on DNS for routing decisions. </a:t>
                      </a:r>
                    </a:p>
                    <a:p>
                      <a:r>
                        <a:rPr lang="en-US" sz="1200" dirty="0"/>
                        <a:t>Failover and Latency-Based </a:t>
                      </a:r>
                      <a:r>
                        <a:rPr lang="en-US" sz="1200" b="1" dirty="0"/>
                        <a:t>Routing:</a:t>
                      </a:r>
                      <a:r>
                        <a:rPr lang="en-US" sz="1200" dirty="0"/>
                        <a:t> GLB solutions often use these techniques for resilience and performance optimization.</a:t>
                      </a:r>
                      <a:endParaRPr lang="en-IN" sz="1200" dirty="0"/>
                    </a:p>
                  </a:txBody>
                  <a:tcPr/>
                </a:tc>
                <a:tc>
                  <a:txBody>
                    <a:bodyPr/>
                    <a:lstStyle/>
                    <a:p>
                      <a:r>
                        <a:rPr lang="en-US" sz="1200" dirty="0"/>
                        <a:t>— GLB is used to distribute traffic across multiple Cloud Regions or data centers to achieve global redundancy and disaster recovery.</a:t>
                      </a:r>
                    </a:p>
                    <a:p>
                      <a:r>
                        <a:rPr lang="en-US" sz="1200" dirty="0"/>
                        <a:t>— It involves configuring DNS-based solutions with failover policies and latency-based routing to direct traffic to the nearest healthy endpoint.</a:t>
                      </a:r>
                      <a:endParaRPr lang="en-IN" sz="1200" dirty="0"/>
                    </a:p>
                  </a:txBody>
                  <a:tcPr/>
                </a:tc>
                <a:extLst>
                  <a:ext uri="{0D108BD9-81ED-4DB2-BD59-A6C34878D82A}">
                    <a16:rowId xmlns:a16="http://schemas.microsoft.com/office/drawing/2014/main" val="3613485041"/>
                  </a:ext>
                </a:extLst>
              </a:tr>
              <a:tr h="2171567">
                <a:tc>
                  <a:txBody>
                    <a:bodyPr/>
                    <a:lstStyle/>
                    <a:p>
                      <a:r>
                        <a:rPr lang="en-US" sz="1200" dirty="0"/>
                        <a:t>ALB(Application Load Balancer)</a:t>
                      </a:r>
                      <a:endParaRPr lang="en-IN" sz="1200" dirty="0"/>
                    </a:p>
                  </a:txBody>
                  <a:tcPr/>
                </a:tc>
                <a:tc>
                  <a:txBody>
                    <a:bodyPr/>
                    <a:lstStyle/>
                    <a:p>
                      <a:r>
                        <a:rPr lang="en-US" sz="1200" dirty="0"/>
                        <a:t>Layer 7</a:t>
                      </a:r>
                      <a:endParaRPr lang="en-IN" sz="1200" dirty="0"/>
                    </a:p>
                  </a:txBody>
                  <a:tcPr/>
                </a:tc>
                <a:tc>
                  <a:txBody>
                    <a:bodyPr/>
                    <a:lstStyle/>
                    <a:p>
                      <a:r>
                        <a:rPr lang="en-IN" sz="1000" b="1" dirty="0"/>
                        <a:t>SSL Termination:</a:t>
                      </a:r>
                      <a:r>
                        <a:rPr lang="en-IN" sz="1000" dirty="0"/>
                        <a:t> ALB can terminate SSL/TLS connections from clients, offloading SSL processing from backend servers.</a:t>
                      </a:r>
                    </a:p>
                    <a:p>
                      <a:r>
                        <a:rPr lang="en-IN" sz="1000" b="1" dirty="0"/>
                        <a:t>Health Checks:</a:t>
                      </a:r>
                      <a:r>
                        <a:rPr lang="en-IN" sz="1000" dirty="0"/>
                        <a:t> Supports health checks at the application layer.</a:t>
                      </a:r>
                    </a:p>
                    <a:p>
                      <a:r>
                        <a:rPr lang="en-IN" sz="1000" dirty="0"/>
                        <a:t>Sticky Sessions: Provides support for sticky sessions.</a:t>
                      </a:r>
                    </a:p>
                    <a:p>
                      <a:r>
                        <a:rPr lang="en-IN" sz="1000" b="1" dirty="0" err="1"/>
                        <a:t>WebSockets</a:t>
                      </a:r>
                      <a:r>
                        <a:rPr lang="en-IN" sz="1000" b="1" dirty="0"/>
                        <a:t>:</a:t>
                      </a:r>
                      <a:r>
                        <a:rPr lang="en-IN" sz="1000" dirty="0"/>
                        <a:t> Supports WebSocket traffic.</a:t>
                      </a:r>
                    </a:p>
                    <a:p>
                      <a:r>
                        <a:rPr lang="en-IN" sz="1000" b="1" dirty="0"/>
                        <a:t>HTTP/2: </a:t>
                      </a:r>
                      <a:r>
                        <a:rPr lang="en-IN" sz="1000" dirty="0"/>
                        <a:t>Supports HTTP/2, providing better performance for modern web applications.</a:t>
                      </a:r>
                    </a:p>
                  </a:txBody>
                  <a:tcPr/>
                </a:tc>
                <a:tc>
                  <a:txBody>
                    <a:bodyPr/>
                    <a:lstStyle/>
                    <a:p>
                      <a:r>
                        <a:rPr lang="en-US" sz="1000" dirty="0"/>
                        <a:t>— Best suited for routing HTTP and HTTPS traffic.</a:t>
                      </a:r>
                    </a:p>
                    <a:p>
                      <a:r>
                        <a:rPr lang="en-US" sz="1000" dirty="0"/>
                        <a:t>— Ideal for load balancing multiple applications or microservices on a single port, as it supports content-based routing and can route requests to different target groups based on URL paths or hostnames.</a:t>
                      </a:r>
                    </a:p>
                    <a:p>
                      <a:r>
                        <a:rPr lang="en-US" sz="1000" dirty="0"/>
                        <a:t>— Provides advanced features like host-based routing, path-based routing, and support for container-based applications.</a:t>
                      </a:r>
                      <a:endParaRPr lang="en-IN" sz="1000" dirty="0"/>
                    </a:p>
                  </a:txBody>
                  <a:tcPr/>
                </a:tc>
                <a:extLst>
                  <a:ext uri="{0D108BD9-81ED-4DB2-BD59-A6C34878D82A}">
                    <a16:rowId xmlns:a16="http://schemas.microsoft.com/office/drawing/2014/main" val="2780609936"/>
                  </a:ext>
                </a:extLst>
              </a:tr>
            </a:tbl>
          </a:graphicData>
        </a:graphic>
      </p:graphicFrame>
    </p:spTree>
    <p:extLst>
      <p:ext uri="{BB962C8B-B14F-4D97-AF65-F5344CB8AC3E}">
        <p14:creationId xmlns:p14="http://schemas.microsoft.com/office/powerpoint/2010/main" val="42723707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799" y="9906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Load Balancer (Types) </a:t>
            </a:r>
            <a:r>
              <a:rPr lang="en-US" sz="2400" kern="0" spc="-80" dirty="0" err="1">
                <a:solidFill>
                  <a:schemeClr val="accent2"/>
                </a:solidFill>
              </a:rPr>
              <a:t>contd</a:t>
            </a:r>
            <a:r>
              <a:rPr lang="en-US" sz="2400" kern="0" spc="-80" dirty="0">
                <a:solidFill>
                  <a:schemeClr val="accent2"/>
                </a:solidFill>
              </a:rPr>
              <a:t> …– </a:t>
            </a:r>
          </a:p>
        </p:txBody>
      </p:sp>
      <p:graphicFrame>
        <p:nvGraphicFramePr>
          <p:cNvPr id="2" name="Table 1">
            <a:extLst>
              <a:ext uri="{FF2B5EF4-FFF2-40B4-BE49-F238E27FC236}">
                <a16:creationId xmlns:a16="http://schemas.microsoft.com/office/drawing/2014/main" id="{2646A98A-9158-845D-0A06-7A8B40E2AC6A}"/>
              </a:ext>
            </a:extLst>
          </p:cNvPr>
          <p:cNvGraphicFramePr>
            <a:graphicFrameLocks noGrp="1"/>
          </p:cNvGraphicFramePr>
          <p:nvPr>
            <p:extLst>
              <p:ext uri="{D42A27DB-BD31-4B8C-83A1-F6EECF244321}">
                <p14:modId xmlns:p14="http://schemas.microsoft.com/office/powerpoint/2010/main" val="4122450099"/>
              </p:ext>
            </p:extLst>
          </p:nvPr>
        </p:nvGraphicFramePr>
        <p:xfrm>
          <a:off x="304800" y="1447800"/>
          <a:ext cx="8534400" cy="252984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621674751"/>
                    </a:ext>
                  </a:extLst>
                </a:gridCol>
                <a:gridCol w="2133600">
                  <a:extLst>
                    <a:ext uri="{9D8B030D-6E8A-4147-A177-3AD203B41FA5}">
                      <a16:colId xmlns:a16="http://schemas.microsoft.com/office/drawing/2014/main" val="1059645299"/>
                    </a:ext>
                  </a:extLst>
                </a:gridCol>
                <a:gridCol w="2133600">
                  <a:extLst>
                    <a:ext uri="{9D8B030D-6E8A-4147-A177-3AD203B41FA5}">
                      <a16:colId xmlns:a16="http://schemas.microsoft.com/office/drawing/2014/main" val="3490039623"/>
                    </a:ext>
                  </a:extLst>
                </a:gridCol>
                <a:gridCol w="2133600">
                  <a:extLst>
                    <a:ext uri="{9D8B030D-6E8A-4147-A177-3AD203B41FA5}">
                      <a16:colId xmlns:a16="http://schemas.microsoft.com/office/drawing/2014/main" val="128006741"/>
                    </a:ext>
                  </a:extLst>
                </a:gridCol>
              </a:tblGrid>
              <a:tr h="370840">
                <a:tc>
                  <a:txBody>
                    <a:bodyPr/>
                    <a:lstStyle/>
                    <a:p>
                      <a:r>
                        <a:rPr lang="en-US" dirty="0"/>
                        <a:t>LB Type</a:t>
                      </a:r>
                      <a:endParaRPr lang="en-IN" dirty="0"/>
                    </a:p>
                  </a:txBody>
                  <a:tcPr/>
                </a:tc>
                <a:tc>
                  <a:txBody>
                    <a:bodyPr/>
                    <a:lstStyle/>
                    <a:p>
                      <a:r>
                        <a:rPr lang="en-US" dirty="0"/>
                        <a:t>Layer(s)</a:t>
                      </a:r>
                      <a:endParaRPr lang="en-IN" dirty="0"/>
                    </a:p>
                  </a:txBody>
                  <a:tcPr/>
                </a:tc>
                <a:tc>
                  <a:txBody>
                    <a:bodyPr/>
                    <a:lstStyle/>
                    <a:p>
                      <a:r>
                        <a:rPr lang="en-US" b="1" dirty="0">
                          <a:solidFill>
                            <a:schemeClr val="lt1"/>
                          </a:solidFill>
                          <a:latin typeface="+mn-lt"/>
                          <a:ea typeface="+mn-ea"/>
                          <a:cs typeface="+mn-cs"/>
                        </a:rPr>
                        <a:t>Feature(s)</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Use Case(s)</a:t>
                      </a:r>
                      <a:endParaRPr lang="en-IN" dirty="0"/>
                    </a:p>
                    <a:p>
                      <a:endParaRPr lang="en-IN" dirty="0"/>
                    </a:p>
                  </a:txBody>
                  <a:tcPr/>
                </a:tc>
                <a:extLst>
                  <a:ext uri="{0D108BD9-81ED-4DB2-BD59-A6C34878D82A}">
                    <a16:rowId xmlns:a16="http://schemas.microsoft.com/office/drawing/2014/main" val="1526464570"/>
                  </a:ext>
                </a:extLst>
              </a:tr>
              <a:tr h="370840">
                <a:tc>
                  <a:txBody>
                    <a:bodyPr/>
                    <a:lstStyle/>
                    <a:p>
                      <a:r>
                        <a:rPr lang="en-US" sz="1000" dirty="0"/>
                        <a:t>NLB(Network Load Balancer)</a:t>
                      </a:r>
                      <a:endParaRPr lang="en-IN" sz="1000" dirty="0"/>
                    </a:p>
                  </a:txBody>
                  <a:tcPr/>
                </a:tc>
                <a:tc>
                  <a:txBody>
                    <a:bodyPr/>
                    <a:lstStyle/>
                    <a:p>
                      <a:r>
                        <a:rPr lang="en-US" sz="1000" dirty="0"/>
                        <a:t>Layer 4</a:t>
                      </a:r>
                      <a:endParaRPr lang="en-IN" sz="1000" dirty="0"/>
                    </a:p>
                  </a:txBody>
                  <a:tcPr/>
                </a:tc>
                <a:tc>
                  <a:txBody>
                    <a:bodyPr/>
                    <a:lstStyle/>
                    <a:p>
                      <a:r>
                        <a:rPr lang="en-US" sz="1200" b="1" dirty="0"/>
                        <a:t>High Throughput:</a:t>
                      </a:r>
                      <a:r>
                        <a:rPr lang="en-US" sz="1200" dirty="0"/>
                        <a:t> NLB is designed for high throughput and low-latency use cases.</a:t>
                      </a:r>
                    </a:p>
                    <a:p>
                      <a:r>
                        <a:rPr lang="en-US" sz="1200" b="1" dirty="0"/>
                        <a:t>TLS Termination:</a:t>
                      </a:r>
                      <a:r>
                        <a:rPr lang="en-US" sz="1200" dirty="0"/>
                        <a:t> NLB supports TLS termination, but it’s not as feature-rich as ALB in handling HTTPS traffic.</a:t>
                      </a:r>
                    </a:p>
                    <a:p>
                      <a:r>
                        <a:rPr lang="en-US" sz="1200" b="1" dirty="0"/>
                        <a:t>Health Checks:</a:t>
                      </a:r>
                      <a:r>
                        <a:rPr lang="en-US" sz="1200" dirty="0"/>
                        <a:t> Supports health checks at the transport layer.</a:t>
                      </a:r>
                      <a:endParaRPr lang="en-IN" sz="1200" dirty="0"/>
                    </a:p>
                  </a:txBody>
                  <a:tcPr/>
                </a:tc>
                <a:tc>
                  <a:txBody>
                    <a:bodyPr/>
                    <a:lstStyle/>
                    <a:p>
                      <a:r>
                        <a:rPr lang="en-US" sz="1000" b="0" dirty="0"/>
                        <a:t>— Ideal for handling TCP/UDP traffic, including custom protocols, non-HTTP protocols, and high-performance workloads.</a:t>
                      </a:r>
                    </a:p>
                    <a:p>
                      <a:r>
                        <a:rPr lang="en-US" sz="1000" b="0" dirty="0"/>
                        <a:t>— Commonly used for load balancing databases, gaming applications, and other services that rely on raw transport layer connections.</a:t>
                      </a:r>
                    </a:p>
                    <a:p>
                      <a:r>
                        <a:rPr lang="en-US" sz="1000" b="0" dirty="0"/>
                        <a:t>— Works well for scenarios where source IP preservation is important.</a:t>
                      </a:r>
                    </a:p>
                    <a:p>
                      <a:endParaRPr lang="en-IN" b="1" dirty="0"/>
                    </a:p>
                  </a:txBody>
                  <a:tcPr/>
                </a:tc>
                <a:extLst>
                  <a:ext uri="{0D108BD9-81ED-4DB2-BD59-A6C34878D82A}">
                    <a16:rowId xmlns:a16="http://schemas.microsoft.com/office/drawing/2014/main" val="1022102368"/>
                  </a:ext>
                </a:extLst>
              </a:tr>
            </a:tbl>
          </a:graphicData>
        </a:graphic>
      </p:graphicFrame>
    </p:spTree>
    <p:extLst>
      <p:ext uri="{BB962C8B-B14F-4D97-AF65-F5344CB8AC3E}">
        <p14:creationId xmlns:p14="http://schemas.microsoft.com/office/powerpoint/2010/main" val="27523532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799" y="9906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Forward Proxy vs Reverse Proxy (vs Load Balancer vs API Gateway)– </a:t>
            </a:r>
          </a:p>
        </p:txBody>
      </p:sp>
      <p:pic>
        <p:nvPicPr>
          <p:cNvPr id="8" name="Picture 7">
            <a:extLst>
              <a:ext uri="{FF2B5EF4-FFF2-40B4-BE49-F238E27FC236}">
                <a16:creationId xmlns:a16="http://schemas.microsoft.com/office/drawing/2014/main" id="{2FA8A402-25FC-4DD8-51B6-949B2F970C73}"/>
              </a:ext>
            </a:extLst>
          </p:cNvPr>
          <p:cNvPicPr>
            <a:picLocks noChangeAspect="1"/>
          </p:cNvPicPr>
          <p:nvPr/>
        </p:nvPicPr>
        <p:blipFill>
          <a:blip r:embed="rId7"/>
          <a:stretch>
            <a:fillRect/>
          </a:stretch>
        </p:blipFill>
        <p:spPr>
          <a:xfrm>
            <a:off x="418756" y="3860708"/>
            <a:ext cx="8566497" cy="981257"/>
          </a:xfrm>
          <a:prstGeom prst="rect">
            <a:avLst/>
          </a:prstGeom>
        </p:spPr>
      </p:pic>
      <p:pic>
        <p:nvPicPr>
          <p:cNvPr id="10" name="Picture 9">
            <a:extLst>
              <a:ext uri="{FF2B5EF4-FFF2-40B4-BE49-F238E27FC236}">
                <a16:creationId xmlns:a16="http://schemas.microsoft.com/office/drawing/2014/main" id="{FE752332-BFA8-C9FB-33D1-9ED0D629DEFE}"/>
              </a:ext>
            </a:extLst>
          </p:cNvPr>
          <p:cNvPicPr>
            <a:picLocks noChangeAspect="1"/>
          </p:cNvPicPr>
          <p:nvPr/>
        </p:nvPicPr>
        <p:blipFill>
          <a:blip r:embed="rId8"/>
          <a:stretch>
            <a:fillRect/>
          </a:stretch>
        </p:blipFill>
        <p:spPr>
          <a:xfrm>
            <a:off x="418757" y="1676401"/>
            <a:ext cx="8510980" cy="1143000"/>
          </a:xfrm>
          <a:prstGeom prst="rect">
            <a:avLst/>
          </a:prstGeom>
        </p:spPr>
      </p:pic>
      <p:pic>
        <p:nvPicPr>
          <p:cNvPr id="12" name="Picture 11">
            <a:extLst>
              <a:ext uri="{FF2B5EF4-FFF2-40B4-BE49-F238E27FC236}">
                <a16:creationId xmlns:a16="http://schemas.microsoft.com/office/drawing/2014/main" id="{936C052F-0713-B38F-C5AC-0C6682932A83}"/>
              </a:ext>
            </a:extLst>
          </p:cNvPr>
          <p:cNvPicPr>
            <a:picLocks noChangeAspect="1"/>
          </p:cNvPicPr>
          <p:nvPr/>
        </p:nvPicPr>
        <p:blipFill>
          <a:blip r:embed="rId9"/>
          <a:stretch>
            <a:fillRect/>
          </a:stretch>
        </p:blipFill>
        <p:spPr>
          <a:xfrm>
            <a:off x="425104" y="4886144"/>
            <a:ext cx="8566496" cy="981256"/>
          </a:xfrm>
          <a:prstGeom prst="rect">
            <a:avLst/>
          </a:prstGeom>
        </p:spPr>
      </p:pic>
      <p:pic>
        <p:nvPicPr>
          <p:cNvPr id="14" name="Picture 13">
            <a:extLst>
              <a:ext uri="{FF2B5EF4-FFF2-40B4-BE49-F238E27FC236}">
                <a16:creationId xmlns:a16="http://schemas.microsoft.com/office/drawing/2014/main" id="{8B5ED736-77CC-B170-F8E9-296131BC5BD8}"/>
              </a:ext>
            </a:extLst>
          </p:cNvPr>
          <p:cNvPicPr>
            <a:picLocks noChangeAspect="1"/>
          </p:cNvPicPr>
          <p:nvPr/>
        </p:nvPicPr>
        <p:blipFill>
          <a:blip r:embed="rId10"/>
          <a:stretch>
            <a:fillRect/>
          </a:stretch>
        </p:blipFill>
        <p:spPr>
          <a:xfrm>
            <a:off x="418756" y="2819402"/>
            <a:ext cx="8510979" cy="1041306"/>
          </a:xfrm>
          <a:prstGeom prst="rect">
            <a:avLst/>
          </a:prstGeom>
        </p:spPr>
      </p:pic>
    </p:spTree>
    <p:extLst>
      <p:ext uri="{BB962C8B-B14F-4D97-AF65-F5344CB8AC3E}">
        <p14:creationId xmlns:p14="http://schemas.microsoft.com/office/powerpoint/2010/main" val="9607176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914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Load Balancing Techniques – </a:t>
            </a:r>
          </a:p>
        </p:txBody>
      </p:sp>
      <p:sp>
        <p:nvSpPr>
          <p:cNvPr id="2" name="object 2">
            <a:extLst>
              <a:ext uri="{FF2B5EF4-FFF2-40B4-BE49-F238E27FC236}">
                <a16:creationId xmlns:a16="http://schemas.microsoft.com/office/drawing/2014/main" id="{31434F92-5814-A27B-56A1-560DF180DB59}"/>
              </a:ext>
            </a:extLst>
          </p:cNvPr>
          <p:cNvSpPr txBox="1">
            <a:spLocks/>
          </p:cNvSpPr>
          <p:nvPr/>
        </p:nvSpPr>
        <p:spPr>
          <a:xfrm>
            <a:off x="137369" y="5366388"/>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7"/>
              </a:rPr>
              <a:t>Top 12 Load Balancing Techniques to keep on your Radar | LinkedIn</a:t>
            </a:r>
            <a:endParaRPr lang="en-US" sz="1500" kern="0" spc="-80" dirty="0">
              <a:solidFill>
                <a:schemeClr val="accent2"/>
              </a:solidFill>
            </a:endParaRPr>
          </a:p>
        </p:txBody>
      </p:sp>
      <p:pic>
        <p:nvPicPr>
          <p:cNvPr id="8" name="Picture 7">
            <a:extLst>
              <a:ext uri="{FF2B5EF4-FFF2-40B4-BE49-F238E27FC236}">
                <a16:creationId xmlns:a16="http://schemas.microsoft.com/office/drawing/2014/main" id="{535E5E22-8B50-F3B3-483E-29797AB2AC8D}"/>
              </a:ext>
            </a:extLst>
          </p:cNvPr>
          <p:cNvPicPr>
            <a:picLocks noChangeAspect="1"/>
          </p:cNvPicPr>
          <p:nvPr/>
        </p:nvPicPr>
        <p:blipFill>
          <a:blip r:embed="rId8"/>
          <a:stretch>
            <a:fillRect/>
          </a:stretch>
        </p:blipFill>
        <p:spPr>
          <a:xfrm>
            <a:off x="253547" y="1301557"/>
            <a:ext cx="8814253" cy="4102295"/>
          </a:xfrm>
          <a:prstGeom prst="rect">
            <a:avLst/>
          </a:prstGeom>
        </p:spPr>
      </p:pic>
    </p:spTree>
    <p:extLst>
      <p:ext uri="{BB962C8B-B14F-4D97-AF65-F5344CB8AC3E}">
        <p14:creationId xmlns:p14="http://schemas.microsoft.com/office/powerpoint/2010/main" val="30514945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937736"/>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 – </a:t>
            </a:r>
          </a:p>
          <a:p>
            <a:pPr marL="12700" marR="5080"/>
            <a:r>
              <a:rPr lang="en-US" sz="2000" kern="0" spc="-80" dirty="0">
                <a:solidFill>
                  <a:schemeClr val="accent2"/>
                </a:solidFill>
              </a:rPr>
              <a:t>Load Balancers –</a:t>
            </a:r>
          </a:p>
          <a:p>
            <a:pPr marL="12700" marR="5080"/>
            <a:r>
              <a:rPr lang="en-IN" sz="1500" dirty="0">
                <a:hlinkClick r:id="rId7"/>
              </a:rPr>
              <a:t>Introduction to Load Balancers</a:t>
            </a:r>
            <a:endParaRPr lang="en-IN" sz="1500" dirty="0"/>
          </a:p>
          <a:p>
            <a:pPr marL="12700" marR="5080"/>
            <a:endParaRPr lang="en-US" sz="2400" kern="0" spc="-80" dirty="0">
              <a:solidFill>
                <a:schemeClr val="accent2"/>
              </a:solidFill>
            </a:endParaRPr>
          </a:p>
          <a:p>
            <a:pPr marL="12700" marR="5080"/>
            <a:r>
              <a:rPr lang="en-US" sz="2000" kern="0" spc="-80" dirty="0">
                <a:solidFill>
                  <a:schemeClr val="accent2"/>
                </a:solidFill>
              </a:rPr>
              <a:t>Load Balancer Types – </a:t>
            </a:r>
          </a:p>
          <a:p>
            <a:pPr marL="12700" marR="5080"/>
            <a:r>
              <a:rPr lang="en-US" sz="1500" dirty="0">
                <a:hlinkClick r:id="rId8"/>
              </a:rPr>
              <a:t>Load Balancer Choices | SystemsArchitect.io</a:t>
            </a:r>
            <a:endParaRPr lang="en-US" sz="1500" dirty="0"/>
          </a:p>
          <a:p>
            <a:pPr marL="12700" marR="5080"/>
            <a:r>
              <a:rPr lang="en-US" sz="2000" kern="0" spc="-80" dirty="0">
                <a:solidFill>
                  <a:schemeClr val="accent2"/>
                </a:solidFill>
              </a:rPr>
              <a:t> </a:t>
            </a:r>
          </a:p>
          <a:p>
            <a:pPr marL="12700" marR="5080"/>
            <a:r>
              <a:rPr lang="en-US" sz="2000" kern="0" spc="-80" dirty="0">
                <a:solidFill>
                  <a:schemeClr val="accent2"/>
                </a:solidFill>
              </a:rPr>
              <a:t>Load Balancer Sticky Session(/Session Affinity) – </a:t>
            </a:r>
          </a:p>
          <a:p>
            <a:pPr marL="12700" marR="5080"/>
            <a:r>
              <a:rPr lang="en-US" sz="1500" dirty="0">
                <a:hlinkClick r:id="rId9"/>
              </a:rPr>
              <a:t>What is Session Stickiness | Pros and Cons of Using Session Cookies | Imperva</a:t>
            </a:r>
            <a:endParaRPr lang="en-US" sz="1500" dirty="0"/>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r>
              <a:rPr lang="en-US" sz="2000" kern="0" spc="-80" dirty="0">
                <a:solidFill>
                  <a:schemeClr val="accent2"/>
                </a:solidFill>
              </a:rPr>
              <a:t>Forward Proxy &amp; Reverse Proxy –</a:t>
            </a:r>
            <a:r>
              <a:rPr lang="en-US" sz="2400" kern="0" spc="-80" dirty="0">
                <a:solidFill>
                  <a:schemeClr val="accent2"/>
                </a:solidFill>
              </a:rPr>
              <a:t> </a:t>
            </a:r>
          </a:p>
          <a:p>
            <a:pPr marL="12700" marR="5080"/>
            <a:r>
              <a:rPr lang="en-US" sz="1500" dirty="0">
                <a:hlinkClick r:id="rId10"/>
              </a:rPr>
              <a:t>Forward and Reverse Proxy in System Design </a:t>
            </a:r>
            <a:endParaRPr lang="en-US" sz="1500" dirty="0"/>
          </a:p>
          <a:p>
            <a:pPr marL="12700" marR="5080"/>
            <a:r>
              <a:rPr lang="en-US" sz="1500" dirty="0">
                <a:hlinkClick r:id="rId11"/>
              </a:rPr>
              <a:t>A Deep Dive into YARP and Ocelot: Your Gateway to API Gateways </a:t>
            </a:r>
            <a:r>
              <a:rPr lang="en-US" sz="1600" kern="0" spc="-80" dirty="0">
                <a:solidFill>
                  <a:schemeClr val="accent2"/>
                </a:solidFill>
              </a:rPr>
              <a:t>(e.g. can be used to build a Payment Gateway[PCI-DSS Compliant PCI Proxy])  </a:t>
            </a:r>
          </a:p>
          <a:p>
            <a:pPr marL="12700" marR="5080"/>
            <a:r>
              <a:rPr lang="en-US" sz="1600" dirty="0">
                <a:hlinkClick r:id="rId12"/>
              </a:rPr>
              <a:t>Service-Fabric-</a:t>
            </a:r>
            <a:r>
              <a:rPr lang="en-US" sz="1600" dirty="0" err="1">
                <a:hlinkClick r:id="rId12"/>
              </a:rPr>
              <a:t>Yarp</a:t>
            </a:r>
            <a:endParaRPr lang="en-US" sz="1600" dirty="0"/>
          </a:p>
          <a:p>
            <a:pPr marL="12700" marR="5080"/>
            <a:r>
              <a:rPr lang="en-US" sz="1500" dirty="0" err="1">
                <a:hlinkClick r:id="rId13"/>
              </a:rPr>
              <a:t>Zuul</a:t>
            </a:r>
            <a:endParaRPr lang="en-US" sz="1500" kern="0" spc="-80" dirty="0">
              <a:solidFill>
                <a:schemeClr val="accent2"/>
              </a:solidFill>
            </a:endParaRPr>
          </a:p>
        </p:txBody>
      </p:sp>
    </p:spTree>
    <p:extLst>
      <p:ext uri="{BB962C8B-B14F-4D97-AF65-F5344CB8AC3E}">
        <p14:creationId xmlns:p14="http://schemas.microsoft.com/office/powerpoint/2010/main" val="10861475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914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Transactions – </a:t>
            </a:r>
          </a:p>
        </p:txBody>
      </p:sp>
      <p:pic>
        <p:nvPicPr>
          <p:cNvPr id="1026" name="Picture 2">
            <a:extLst>
              <a:ext uri="{FF2B5EF4-FFF2-40B4-BE49-F238E27FC236}">
                <a16:creationId xmlns:a16="http://schemas.microsoft.com/office/drawing/2014/main" id="{080BE40B-88D8-CE47-CC0E-1DAA00B56B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83732"/>
            <a:ext cx="4572000" cy="46598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SE">
            <a:extLst>
              <a:ext uri="{FF2B5EF4-FFF2-40B4-BE49-F238E27FC236}">
                <a16:creationId xmlns:a16="http://schemas.microsoft.com/office/drawing/2014/main" id="{6AB8B2B2-FCD4-34F3-88A6-72167811FE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1283732"/>
            <a:ext cx="4572000" cy="4659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85480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10668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Transactions – </a:t>
            </a:r>
          </a:p>
          <a:p>
            <a:pPr marL="12700" marR="5080"/>
            <a:r>
              <a:rPr lang="en-US" sz="2400" kern="0" spc="-80" dirty="0">
                <a:solidFill>
                  <a:schemeClr val="accent2"/>
                </a:solidFill>
              </a:rPr>
              <a:t>  PACELC Theorem(extension of CAP Theorem)</a:t>
            </a:r>
            <a:r>
              <a:rPr lang="en-US" sz="2400" kern="0" spc="-80" dirty="0">
                <a:solidFill>
                  <a:schemeClr val="accent6"/>
                </a:solidFill>
              </a:rPr>
              <a:t> </a:t>
            </a:r>
            <a:r>
              <a:rPr lang="en-US" sz="2000" kern="0" spc="-80" dirty="0">
                <a:solidFill>
                  <a:schemeClr val="accent2"/>
                </a:solidFill>
              </a:rPr>
              <a:t>– </a:t>
            </a:r>
          </a:p>
        </p:txBody>
      </p:sp>
      <p:pic>
        <p:nvPicPr>
          <p:cNvPr id="11" name="Picture 10">
            <a:extLst>
              <a:ext uri="{FF2B5EF4-FFF2-40B4-BE49-F238E27FC236}">
                <a16:creationId xmlns:a16="http://schemas.microsoft.com/office/drawing/2014/main" id="{D38D18C5-C3A4-652D-0367-EF2C061907E8}"/>
              </a:ext>
            </a:extLst>
          </p:cNvPr>
          <p:cNvPicPr>
            <a:picLocks noChangeAspect="1"/>
          </p:cNvPicPr>
          <p:nvPr/>
        </p:nvPicPr>
        <p:blipFill>
          <a:blip r:embed="rId7"/>
          <a:stretch>
            <a:fillRect/>
          </a:stretch>
        </p:blipFill>
        <p:spPr>
          <a:xfrm>
            <a:off x="304800" y="1834947"/>
            <a:ext cx="8624937" cy="3956253"/>
          </a:xfrm>
          <a:prstGeom prst="rect">
            <a:avLst/>
          </a:prstGeom>
        </p:spPr>
      </p:pic>
    </p:spTree>
    <p:extLst>
      <p:ext uri="{BB962C8B-B14F-4D97-AF65-F5344CB8AC3E}">
        <p14:creationId xmlns:p14="http://schemas.microsoft.com/office/powerpoint/2010/main" val="42363615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7064"/>
          <a:ext cx="7192300" cy="5650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259531"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Transactions – </a:t>
            </a:r>
          </a:p>
          <a:p>
            <a:pPr marL="12700" marR="5080"/>
            <a:r>
              <a:rPr lang="en-US" sz="2400" kern="0" spc="-80" dirty="0">
                <a:solidFill>
                  <a:schemeClr val="accent2"/>
                </a:solidFill>
              </a:rPr>
              <a:t>  Synchronous Transaction using 2PC(/3PC) - </a:t>
            </a:r>
            <a:endParaRPr lang="en-US" sz="2400" kern="0" spc="-80" dirty="0">
              <a:solidFill>
                <a:schemeClr val="accent6"/>
              </a:solidFill>
            </a:endParaRPr>
          </a:p>
        </p:txBody>
      </p:sp>
      <p:pic>
        <p:nvPicPr>
          <p:cNvPr id="3074" name="Picture 2">
            <a:extLst>
              <a:ext uri="{FF2B5EF4-FFF2-40B4-BE49-F238E27FC236}">
                <a16:creationId xmlns:a16="http://schemas.microsoft.com/office/drawing/2014/main" id="{8B6507FC-B36F-E578-DE5E-DFFD1AD601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5800" y="1486536"/>
            <a:ext cx="4572000" cy="408773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18A9397-2AD1-B937-15F8-727D4842FD9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1486536"/>
            <a:ext cx="3886200" cy="408773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94CF6B6-EDC8-F214-CDA6-B9A518620B3F}"/>
              </a:ext>
            </a:extLst>
          </p:cNvPr>
          <p:cNvSpPr txBox="1"/>
          <p:nvPr/>
        </p:nvSpPr>
        <p:spPr>
          <a:xfrm>
            <a:off x="152400" y="5574268"/>
            <a:ext cx="8732068" cy="369332"/>
          </a:xfrm>
          <a:prstGeom prst="rect">
            <a:avLst/>
          </a:prstGeom>
          <a:noFill/>
        </p:spPr>
        <p:txBody>
          <a:bodyPr wrap="square">
            <a:spAutoFit/>
          </a:bodyPr>
          <a:lstStyle/>
          <a:p>
            <a:pPr marL="12700" marR="5080"/>
            <a:r>
              <a:rPr lang="en-US" sz="1800" kern="0" spc="-80" dirty="0">
                <a:solidFill>
                  <a:schemeClr val="accent6"/>
                </a:solidFill>
              </a:rPr>
              <a:t>An example here can be Same Bank Account Transfer.</a:t>
            </a:r>
          </a:p>
        </p:txBody>
      </p:sp>
    </p:spTree>
    <p:extLst>
      <p:ext uri="{BB962C8B-B14F-4D97-AF65-F5344CB8AC3E}">
        <p14:creationId xmlns:p14="http://schemas.microsoft.com/office/powerpoint/2010/main" val="28887748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7064"/>
          <a:ext cx="7192300" cy="5650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259531" y="7620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Transactions – </a:t>
            </a:r>
          </a:p>
          <a:p>
            <a:pPr marL="12700" marR="5080"/>
            <a:r>
              <a:rPr lang="en-US" sz="2000" kern="0" spc="-80" dirty="0">
                <a:solidFill>
                  <a:schemeClr val="accent2"/>
                </a:solidFill>
              </a:rPr>
              <a:t>  Asynchronous Transactions (</a:t>
            </a:r>
            <a:r>
              <a:rPr lang="en-US" sz="1800" kern="0" spc="-80" dirty="0">
                <a:solidFill>
                  <a:schemeClr val="accent2"/>
                </a:solidFill>
              </a:rPr>
              <a:t>Outbox[/Inbox] Pattern - Keep an audit of all egress[/ingress] transactional data in DB)-</a:t>
            </a:r>
          </a:p>
        </p:txBody>
      </p:sp>
      <p:pic>
        <p:nvPicPr>
          <p:cNvPr id="10244" name="Picture 4" descr="The Outbox Pattern in C# - DEV Community">
            <a:extLst>
              <a:ext uri="{FF2B5EF4-FFF2-40B4-BE49-F238E27FC236}">
                <a16:creationId xmlns:a16="http://schemas.microsoft.com/office/drawing/2014/main" id="{95ADBBD7-2434-3857-239F-6282CA1BEE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1823085"/>
            <a:ext cx="8305800" cy="3815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6693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7064"/>
          <a:ext cx="7192300" cy="5650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259531" y="7620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Transactions – </a:t>
            </a:r>
          </a:p>
          <a:p>
            <a:pPr marL="12700" marR="5080"/>
            <a:r>
              <a:rPr lang="en-US" sz="2000" kern="0" spc="-80" dirty="0">
                <a:solidFill>
                  <a:schemeClr val="accent2"/>
                </a:solidFill>
              </a:rPr>
              <a:t>  Asynchronous Transactions (Saga Pattern – Handling Cancelation or Failures using Compensating Transactions) - </a:t>
            </a:r>
            <a:endParaRPr lang="en-US" sz="2000" kern="0" spc="-80" dirty="0">
              <a:solidFill>
                <a:schemeClr val="accent6"/>
              </a:solidFill>
            </a:endParaRPr>
          </a:p>
        </p:txBody>
      </p:sp>
      <p:pic>
        <p:nvPicPr>
          <p:cNvPr id="2050" name="Picture 2" descr="&#10;        Saga pattern&#10;      ">
            <a:extLst>
              <a:ext uri="{FF2B5EF4-FFF2-40B4-BE49-F238E27FC236}">
                <a16:creationId xmlns:a16="http://schemas.microsoft.com/office/drawing/2014/main" id="{4B67F98C-A131-EDF0-3203-B6519029C1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532" y="1746885"/>
            <a:ext cx="8808268" cy="381738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87030F2-DCF4-62AB-8794-27748829B973}"/>
              </a:ext>
            </a:extLst>
          </p:cNvPr>
          <p:cNvSpPr txBox="1"/>
          <p:nvPr/>
        </p:nvSpPr>
        <p:spPr>
          <a:xfrm>
            <a:off x="167865" y="5564273"/>
            <a:ext cx="8808267" cy="369332"/>
          </a:xfrm>
          <a:prstGeom prst="rect">
            <a:avLst/>
          </a:prstGeom>
          <a:noFill/>
        </p:spPr>
        <p:txBody>
          <a:bodyPr wrap="square">
            <a:spAutoFit/>
          </a:bodyPr>
          <a:lstStyle/>
          <a:p>
            <a:pPr marL="12700" marR="5080"/>
            <a:r>
              <a:rPr lang="en-IN" sz="1800" kern="0" spc="-80" dirty="0">
                <a:solidFill>
                  <a:schemeClr val="accent6"/>
                </a:solidFill>
              </a:rPr>
              <a:t>An example where Saga Pattern can/should be used is Cross Bank Account Transfer</a:t>
            </a:r>
          </a:p>
        </p:txBody>
      </p:sp>
    </p:spTree>
    <p:extLst>
      <p:ext uri="{BB962C8B-B14F-4D97-AF65-F5344CB8AC3E}">
        <p14:creationId xmlns:p14="http://schemas.microsoft.com/office/powerpoint/2010/main" val="203715689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990600"/>
            <a:ext cx="8624937" cy="48167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Transactions – </a:t>
            </a:r>
          </a:p>
          <a:p>
            <a:pPr marL="12700" marR="5080"/>
            <a:r>
              <a:rPr lang="en-US" sz="2400" kern="0" spc="-80" dirty="0">
                <a:solidFill>
                  <a:schemeClr val="accent2"/>
                </a:solidFill>
              </a:rPr>
              <a:t>  For Further Exploration - </a:t>
            </a:r>
          </a:p>
          <a:p>
            <a:pPr marL="12700" marR="5080"/>
            <a:r>
              <a:rPr lang="en-US" sz="1800" kern="0" spc="-80" dirty="0">
                <a:solidFill>
                  <a:schemeClr val="accent2"/>
                </a:solidFill>
              </a:rPr>
              <a:t> </a:t>
            </a:r>
          </a:p>
          <a:p>
            <a:pPr marL="12700" marR="5080"/>
            <a:r>
              <a:rPr lang="en-US" sz="1600" kern="0" spc="-80" dirty="0">
                <a:solidFill>
                  <a:schemeClr val="accent2"/>
                </a:solidFill>
              </a:rPr>
              <a:t> </a:t>
            </a:r>
            <a:r>
              <a:rPr lang="en-US" sz="1700" kern="0" spc="-80" dirty="0">
                <a:solidFill>
                  <a:schemeClr val="accent2"/>
                </a:solidFill>
              </a:rPr>
              <a:t>ACID vs BASE – </a:t>
            </a:r>
          </a:p>
          <a:p>
            <a:pPr marL="12700" marR="5080"/>
            <a:r>
              <a:rPr lang="en-US" sz="1500" kern="0" spc="-80" dirty="0">
                <a:solidFill>
                  <a:schemeClr val="accent2"/>
                </a:solidFill>
              </a:rPr>
              <a:t> </a:t>
            </a:r>
            <a:r>
              <a:rPr lang="en-US" sz="1500" dirty="0">
                <a:hlinkClick r:id="rId8"/>
              </a:rPr>
              <a:t>What are the differences and similarities between ACID and BASE properties of database transactions?</a:t>
            </a:r>
            <a:endParaRPr lang="en-US" sz="1500" dirty="0"/>
          </a:p>
          <a:p>
            <a:pPr marL="12700" marR="5080"/>
            <a:r>
              <a:rPr lang="en-US" sz="1500" kern="0" spc="-80" dirty="0">
                <a:solidFill>
                  <a:schemeClr val="accent2"/>
                </a:solidFill>
              </a:rPr>
              <a:t> </a:t>
            </a:r>
            <a:r>
              <a:rPr lang="en-IN" sz="1500" dirty="0">
                <a:hlinkClick r:id="rId9"/>
              </a:rPr>
              <a:t>ACID vs BASE: Database transactions – System Design</a:t>
            </a:r>
            <a:endParaRPr lang="en-IN" sz="1500" dirty="0"/>
          </a:p>
          <a:p>
            <a:pPr marL="12700" marR="5080"/>
            <a:endParaRPr lang="en-US" sz="1700" kern="0" spc="-220" dirty="0">
              <a:solidFill>
                <a:schemeClr val="accent6"/>
              </a:solidFill>
            </a:endParaRPr>
          </a:p>
          <a:p>
            <a:pPr marL="12700" marR="5080"/>
            <a:endParaRPr lang="en-US" sz="1700" kern="0" spc="-220" dirty="0">
              <a:solidFill>
                <a:schemeClr val="accent6"/>
              </a:solidFill>
            </a:endParaRPr>
          </a:p>
          <a:p>
            <a:pPr marL="12700" marR="5080"/>
            <a:r>
              <a:rPr lang="en-US" sz="1700" kern="0" spc="-80" dirty="0">
                <a:solidFill>
                  <a:schemeClr val="accent2"/>
                </a:solidFill>
              </a:rPr>
              <a:t>  PACELC Theorem(extension of CAP Theorem)</a:t>
            </a:r>
            <a:r>
              <a:rPr lang="en-US" sz="1700" kern="0" spc="-80" dirty="0">
                <a:solidFill>
                  <a:schemeClr val="accent6"/>
                </a:solidFill>
              </a:rPr>
              <a:t> </a:t>
            </a:r>
            <a:r>
              <a:rPr lang="en-US" sz="1700" kern="0" spc="-80" dirty="0">
                <a:solidFill>
                  <a:schemeClr val="accent2"/>
                </a:solidFill>
              </a:rPr>
              <a:t>– </a:t>
            </a:r>
          </a:p>
          <a:p>
            <a:pPr marL="12700" marR="5080"/>
            <a:r>
              <a:rPr lang="en-US" sz="1700" kern="0" spc="-80" dirty="0">
                <a:solidFill>
                  <a:schemeClr val="accent2"/>
                </a:solidFill>
              </a:rPr>
              <a:t>  </a:t>
            </a:r>
            <a:r>
              <a:rPr lang="en-IN" sz="1500" dirty="0">
                <a:hlinkClick r:id="rId10"/>
              </a:rPr>
              <a:t>PACELC theorem – Wikipedia</a:t>
            </a:r>
            <a:endParaRPr lang="en-IN" sz="1500" dirty="0"/>
          </a:p>
          <a:p>
            <a:pPr marL="12700" marR="5080"/>
            <a:endParaRPr lang="en-US" sz="1700" kern="0" spc="-80" dirty="0">
              <a:solidFill>
                <a:schemeClr val="accent2"/>
              </a:solidFill>
            </a:endParaRPr>
          </a:p>
          <a:p>
            <a:pPr marL="12700" marR="5080"/>
            <a:endParaRPr lang="en-US" sz="1700" kern="0" spc="-80" dirty="0">
              <a:solidFill>
                <a:schemeClr val="accent2"/>
              </a:solidFill>
            </a:endParaRPr>
          </a:p>
          <a:p>
            <a:pPr marL="12700" marR="5080"/>
            <a:r>
              <a:rPr lang="en-US" sz="1700" kern="0" spc="-80" dirty="0">
                <a:solidFill>
                  <a:schemeClr val="accent2"/>
                </a:solidFill>
              </a:rPr>
              <a:t>  2PC/3PC Transactions – </a:t>
            </a:r>
          </a:p>
          <a:p>
            <a:pPr marL="12700" marR="5080"/>
            <a:r>
              <a:rPr lang="en-US" sz="1700" kern="0" spc="-80" dirty="0">
                <a:solidFill>
                  <a:schemeClr val="accent2"/>
                </a:solidFill>
              </a:rPr>
              <a:t>  </a:t>
            </a:r>
            <a:r>
              <a:rPr lang="en-US" sz="1500" dirty="0">
                <a:hlinkClick r:id="rId11"/>
              </a:rPr>
              <a:t>Dealing Distributed Transactions with 2PC, 3PC, Local Transaction Table with MQs</a:t>
            </a:r>
            <a:endParaRPr lang="en-US" sz="1500" dirty="0"/>
          </a:p>
          <a:p>
            <a:pPr marL="12700" marR="5080"/>
            <a:r>
              <a:rPr lang="en-US" sz="1500" dirty="0"/>
              <a:t>  </a:t>
            </a:r>
            <a:r>
              <a:rPr lang="en-US" sz="1500" dirty="0">
                <a:hlinkClick r:id="rId12"/>
              </a:rPr>
              <a:t>Flat &amp; Nested Distributed Transactions - </a:t>
            </a:r>
            <a:r>
              <a:rPr lang="en-US" sz="1500" dirty="0" err="1">
                <a:hlinkClick r:id="rId12"/>
              </a:rPr>
              <a:t>GeeksforGeeks</a:t>
            </a:r>
            <a:endParaRPr lang="en-US" sz="1500" dirty="0"/>
          </a:p>
          <a:p>
            <a:pPr marL="12700" marR="5080"/>
            <a:endParaRPr lang="en-US" sz="1700" kern="0" spc="-80" dirty="0">
              <a:solidFill>
                <a:schemeClr val="accent2"/>
              </a:solidFill>
            </a:endParaRPr>
          </a:p>
          <a:p>
            <a:pPr marL="12700" marR="5080"/>
            <a:r>
              <a:rPr lang="en-US" sz="1700" kern="0" spc="-80" dirty="0">
                <a:solidFill>
                  <a:schemeClr val="accent2"/>
                </a:solidFill>
              </a:rPr>
              <a:t>     </a:t>
            </a:r>
            <a:endParaRPr lang="en-US" sz="1500" kern="0" spc="-80" dirty="0">
              <a:solidFill>
                <a:schemeClr val="accent2"/>
              </a:solidFill>
            </a:endParaRPr>
          </a:p>
        </p:txBody>
      </p:sp>
    </p:spTree>
    <p:extLst>
      <p:ext uri="{BB962C8B-B14F-4D97-AF65-F5344CB8AC3E}">
        <p14:creationId xmlns:p14="http://schemas.microsoft.com/office/powerpoint/2010/main" val="41615123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7064"/>
          <a:ext cx="7192300" cy="5650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259531" y="913686"/>
            <a:ext cx="8624937" cy="52398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Transactions – </a:t>
            </a:r>
          </a:p>
          <a:p>
            <a:pPr marL="12700" marR="5080"/>
            <a:r>
              <a:rPr lang="en-US" sz="2000" kern="0" spc="-80" dirty="0">
                <a:solidFill>
                  <a:schemeClr val="accent2"/>
                </a:solidFill>
              </a:rPr>
              <a:t> For Further Exploration(</a:t>
            </a:r>
            <a:r>
              <a:rPr lang="en-US" sz="2000" kern="0" spc="-80" dirty="0" err="1">
                <a:solidFill>
                  <a:schemeClr val="accent2"/>
                </a:solidFill>
              </a:rPr>
              <a:t>contd</a:t>
            </a:r>
            <a:r>
              <a:rPr lang="en-US" sz="2000" kern="0" spc="-80" dirty="0">
                <a:solidFill>
                  <a:schemeClr val="accent2"/>
                </a:solidFill>
              </a:rPr>
              <a:t> … ) – </a:t>
            </a:r>
          </a:p>
          <a:p>
            <a:pPr marL="12700" marR="5080"/>
            <a:r>
              <a:rPr lang="en-US" sz="2000" kern="0" spc="-80" dirty="0">
                <a:solidFill>
                  <a:schemeClr val="accent2"/>
                </a:solidFill>
              </a:rPr>
              <a:t> </a:t>
            </a:r>
            <a:r>
              <a:rPr lang="en-US" sz="1800" kern="0" spc="-80" dirty="0">
                <a:solidFill>
                  <a:schemeClr val="accent2"/>
                </a:solidFill>
              </a:rPr>
              <a:t>An Example of Synchronous Transaction using 2PC/3PC(MS-DTC needs to be enabled for this in windows based machines)</a:t>
            </a:r>
            <a:r>
              <a:rPr lang="en-US" sz="1800" kern="0" spc="-80" dirty="0">
                <a:solidFill>
                  <a:schemeClr val="accent6"/>
                </a:solidFill>
              </a:rPr>
              <a:t> –</a:t>
            </a:r>
          </a:p>
          <a:p>
            <a:pPr marL="12700" marR="5080"/>
            <a:r>
              <a:rPr lang="en-IN" sz="1500" dirty="0">
                <a:hlinkClick r:id="rId7"/>
              </a:rPr>
              <a:t>DDD-Based-Enterprise-Application-Framework/Infrastructure/</a:t>
            </a:r>
            <a:r>
              <a:rPr lang="en-IN" sz="1500" dirty="0" err="1">
                <a:hlinkClick r:id="rId7"/>
              </a:rPr>
              <a:t>UnitOfWork</a:t>
            </a:r>
            <a:r>
              <a:rPr lang="en-IN" sz="1500" dirty="0">
                <a:hlinkClick r:id="rId7"/>
              </a:rPr>
              <a:t>/</a:t>
            </a:r>
            <a:r>
              <a:rPr lang="en-IN" sz="1500" dirty="0" err="1">
                <a:hlinkClick r:id="rId7"/>
              </a:rPr>
              <a:t>UnitOfWork.cs</a:t>
            </a:r>
            <a:r>
              <a:rPr lang="en-IN" sz="1500" dirty="0">
                <a:hlinkClick r:id="rId7"/>
              </a:rPr>
              <a:t> at master · sandipray63in/DDD-Based-Enterprise-Application-Framework · GitHub</a:t>
            </a:r>
            <a:r>
              <a:rPr lang="en-US" sz="2400" kern="0" spc="-80" dirty="0">
                <a:solidFill>
                  <a:schemeClr val="accent6"/>
                </a:solidFill>
              </a:rPr>
              <a:t> </a:t>
            </a:r>
            <a:r>
              <a:rPr lang="en-US" sz="1600" kern="0" spc="-80" dirty="0">
                <a:solidFill>
                  <a:schemeClr val="accent6"/>
                </a:solidFill>
              </a:rPr>
              <a:t>(check the commit and </a:t>
            </a:r>
            <a:r>
              <a:rPr lang="en-US" sz="1600" kern="0" spc="-80" dirty="0" err="1">
                <a:solidFill>
                  <a:schemeClr val="accent6"/>
                </a:solidFill>
              </a:rPr>
              <a:t>commitAsync</a:t>
            </a:r>
            <a:r>
              <a:rPr lang="en-US" sz="1600" kern="0" spc="-80" dirty="0">
                <a:solidFill>
                  <a:schemeClr val="accent6"/>
                </a:solidFill>
              </a:rPr>
              <a:t> methods). </a:t>
            </a:r>
          </a:p>
          <a:p>
            <a:pPr marL="12700" marR="5080"/>
            <a:r>
              <a:rPr lang="en-US" sz="1600" kern="0" spc="-80" dirty="0">
                <a:solidFill>
                  <a:schemeClr val="accent6"/>
                </a:solidFill>
              </a:rPr>
              <a:t>N.B. - Always wrap Synchronous Transactions using </a:t>
            </a:r>
            <a:r>
              <a:rPr lang="en-US" sz="1600" kern="0" spc="-80" dirty="0" err="1">
                <a:solidFill>
                  <a:schemeClr val="accent6"/>
                </a:solidFill>
              </a:rPr>
              <a:t>UnitOfWork</a:t>
            </a:r>
            <a:r>
              <a:rPr lang="en-US" sz="1600" kern="0" spc="-80" dirty="0">
                <a:solidFill>
                  <a:schemeClr val="accent6"/>
                </a:solidFill>
              </a:rPr>
              <a:t> Pattern.</a:t>
            </a:r>
          </a:p>
          <a:p>
            <a:pPr marL="12700" marR="5080"/>
            <a:endParaRPr lang="en-US" sz="1600" kern="0" spc="-80" dirty="0">
              <a:solidFill>
                <a:schemeClr val="accent6"/>
              </a:solidFill>
            </a:endParaRPr>
          </a:p>
          <a:p>
            <a:pPr marL="12700" marR="5080"/>
            <a:r>
              <a:rPr lang="en-US" sz="2000" kern="0" spc="-80" dirty="0">
                <a:solidFill>
                  <a:schemeClr val="accent2"/>
                </a:solidFill>
              </a:rPr>
              <a:t> </a:t>
            </a:r>
            <a:r>
              <a:rPr lang="en-US" sz="1800" kern="0" spc="-80" dirty="0">
                <a:solidFill>
                  <a:schemeClr val="accent2"/>
                </a:solidFill>
              </a:rPr>
              <a:t>Asynchronous Transactions using Outbox and Saga Pattern – </a:t>
            </a:r>
          </a:p>
          <a:p>
            <a:pPr marL="12700" marR="5080"/>
            <a:r>
              <a:rPr lang="en-US" sz="1600" kern="0" spc="-80" dirty="0">
                <a:solidFill>
                  <a:schemeClr val="accent6"/>
                </a:solidFill>
              </a:rPr>
              <a:t>  Outbox(&amp; Inbox) Pattern –</a:t>
            </a:r>
          </a:p>
          <a:p>
            <a:pPr marL="12700" marR="5080"/>
            <a:r>
              <a:rPr lang="en-US" sz="1500" kern="0" spc="-80" dirty="0">
                <a:solidFill>
                  <a:schemeClr val="accent6"/>
                </a:solidFill>
              </a:rPr>
              <a:t>   </a:t>
            </a:r>
            <a:r>
              <a:rPr lang="en-IN" sz="1500" dirty="0">
                <a:hlinkClick r:id="rId8"/>
              </a:rPr>
              <a:t>Pattern: Transactional outbox</a:t>
            </a:r>
            <a:r>
              <a:rPr lang="en-US" sz="1600" kern="0" spc="-80" dirty="0">
                <a:solidFill>
                  <a:schemeClr val="accent6"/>
                </a:solidFill>
              </a:rPr>
              <a:t> </a:t>
            </a:r>
          </a:p>
          <a:p>
            <a:pPr marL="12700" marR="5080"/>
            <a:r>
              <a:rPr lang="en-US" sz="1600" kern="0" spc="-80" dirty="0">
                <a:solidFill>
                  <a:schemeClr val="accent6"/>
                </a:solidFill>
              </a:rPr>
              <a:t>  Saga Pattern </a:t>
            </a:r>
          </a:p>
          <a:p>
            <a:pPr marL="12700" marR="5080"/>
            <a:r>
              <a:rPr lang="en-US" sz="1500" kern="0" spc="-80" dirty="0">
                <a:solidFill>
                  <a:schemeClr val="accent6"/>
                </a:solidFill>
              </a:rPr>
              <a:t>   </a:t>
            </a:r>
            <a:r>
              <a:rPr lang="en-IN" sz="1500" dirty="0">
                <a:hlinkClick r:id="rId9"/>
              </a:rPr>
              <a:t>Pattern: Saga</a:t>
            </a:r>
            <a:endParaRPr lang="en-IN" sz="1500" dirty="0"/>
          </a:p>
          <a:p>
            <a:pPr marL="12700" marR="5080"/>
            <a:r>
              <a:rPr lang="en-IN" sz="1500" dirty="0"/>
              <a:t>  </a:t>
            </a:r>
            <a:endParaRPr lang="en-IN" sz="1600" kern="0" spc="-80" dirty="0">
              <a:solidFill>
                <a:schemeClr val="accent6"/>
              </a:solidFill>
            </a:endParaRPr>
          </a:p>
          <a:p>
            <a:pPr marL="12700" marR="5080"/>
            <a:r>
              <a:rPr lang="en-US" sz="1800" kern="0" spc="-80" dirty="0">
                <a:solidFill>
                  <a:schemeClr val="accent2"/>
                </a:solidFill>
              </a:rPr>
              <a:t> Microservices Data Consistency </a:t>
            </a:r>
            <a:r>
              <a:rPr lang="en-US" sz="1600" kern="0" spc="-80" dirty="0">
                <a:solidFill>
                  <a:schemeClr val="accent2"/>
                </a:solidFill>
              </a:rPr>
              <a:t>- </a:t>
            </a:r>
            <a:r>
              <a:rPr lang="en-IN" sz="1500" dirty="0">
                <a:hlinkClick r:id="rId10"/>
              </a:rPr>
              <a:t>transaction-manager-for-microservices.pdf</a:t>
            </a:r>
            <a:endParaRPr lang="en-IN" sz="1500" dirty="0"/>
          </a:p>
          <a:p>
            <a:pPr marL="12700" marR="5080"/>
            <a:r>
              <a:rPr lang="en-IN" sz="1500" dirty="0"/>
              <a:t>   </a:t>
            </a:r>
          </a:p>
          <a:p>
            <a:pPr marL="12700" marR="5080"/>
            <a:r>
              <a:rPr lang="en-IN" sz="1500" dirty="0"/>
              <a:t>   </a:t>
            </a:r>
          </a:p>
          <a:p>
            <a:pPr marL="12700" marR="5080"/>
            <a:endParaRPr lang="en-IN" sz="1050" dirty="0"/>
          </a:p>
        </p:txBody>
      </p:sp>
    </p:spTree>
    <p:extLst>
      <p:ext uri="{BB962C8B-B14F-4D97-AF65-F5344CB8AC3E}">
        <p14:creationId xmlns:p14="http://schemas.microsoft.com/office/powerpoint/2010/main" val="41332650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7064"/>
          <a:ext cx="7192300" cy="5650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259531"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Back Pressure – </a:t>
            </a:r>
          </a:p>
        </p:txBody>
      </p:sp>
      <p:pic>
        <p:nvPicPr>
          <p:cNvPr id="12290" name="Picture 2" descr="Back-pressure patterns in practice">
            <a:extLst>
              <a:ext uri="{FF2B5EF4-FFF2-40B4-BE49-F238E27FC236}">
                <a16:creationId xmlns:a16="http://schemas.microsoft.com/office/drawing/2014/main" id="{83498285-BE83-CB36-F8C6-3CAA8E493D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1143000"/>
            <a:ext cx="8503468" cy="4038600"/>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18C0A533-0E07-8DBA-9A7A-7590531F9C37}"/>
              </a:ext>
            </a:extLst>
          </p:cNvPr>
          <p:cNvSpPr txBox="1">
            <a:spLocks/>
          </p:cNvSpPr>
          <p:nvPr/>
        </p:nvSpPr>
        <p:spPr>
          <a:xfrm>
            <a:off x="137369" y="5251847"/>
            <a:ext cx="8624937" cy="4770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a:t>
            </a:r>
            <a:endParaRPr lang="en-US" sz="2400" kern="0" spc="-80" dirty="0">
              <a:solidFill>
                <a:schemeClr val="accent2"/>
              </a:solidFill>
            </a:endParaRPr>
          </a:p>
          <a:p>
            <a:pPr marL="12700" marR="5080"/>
            <a:r>
              <a:rPr lang="en-US" sz="1500" kern="0" spc="-80" dirty="0">
                <a:solidFill>
                  <a:schemeClr val="accent6"/>
                </a:solidFill>
              </a:rPr>
              <a:t> </a:t>
            </a:r>
            <a:r>
              <a:rPr lang="en-IN" sz="1500" dirty="0">
                <a:hlinkClick r:id="rId8"/>
              </a:rPr>
              <a:t>Back-pressure patterns in practice</a:t>
            </a:r>
            <a:r>
              <a:rPr lang="en-US" sz="1400" kern="0" spc="-80" dirty="0">
                <a:solidFill>
                  <a:schemeClr val="accent6"/>
                </a:solidFill>
              </a:rPr>
              <a:t> </a:t>
            </a:r>
            <a:r>
              <a:rPr lang="en-US" sz="1600" kern="0" spc="-80" dirty="0">
                <a:solidFill>
                  <a:schemeClr val="accent2"/>
                </a:solidFill>
              </a:rPr>
              <a:t> </a:t>
            </a:r>
          </a:p>
        </p:txBody>
      </p:sp>
    </p:spTree>
    <p:extLst>
      <p:ext uri="{BB962C8B-B14F-4D97-AF65-F5344CB8AC3E}">
        <p14:creationId xmlns:p14="http://schemas.microsoft.com/office/powerpoint/2010/main" val="20424404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304800" y="937736"/>
            <a:ext cx="8624937" cy="42165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Management vs Control vs Data Plane –</a:t>
            </a:r>
          </a:p>
          <a:p>
            <a:pPr marL="12700" marR="5080"/>
            <a:r>
              <a:rPr lang="en-US" sz="2400" kern="0" spc="-80" dirty="0">
                <a:solidFill>
                  <a:schemeClr val="accent2"/>
                </a:solidFill>
              </a:rPr>
              <a:t> </a:t>
            </a:r>
            <a:r>
              <a:rPr lang="en-US" sz="2300" kern="0" spc="-80" dirty="0">
                <a:solidFill>
                  <a:schemeClr val="accent2"/>
                </a:solidFill>
              </a:rPr>
              <a:t>Management Plane – </a:t>
            </a:r>
            <a:r>
              <a:rPr lang="en-US" sz="2300" kern="0" spc="-80" dirty="0">
                <a:solidFill>
                  <a:schemeClr val="accent6"/>
                </a:solidFill>
              </a:rPr>
              <a:t>mainly used for high level controlling &amp; monitoring the Control plane below but in most systems Management Plane is merged into Control Plane &amp; called as Control Plane. </a:t>
            </a:r>
          </a:p>
          <a:p>
            <a:pPr marL="12700" marR="5080"/>
            <a:r>
              <a:rPr lang="en-US" sz="2300" kern="0" spc="-80" dirty="0">
                <a:solidFill>
                  <a:schemeClr val="accent2"/>
                </a:solidFill>
              </a:rPr>
              <a:t>  Control Plane </a:t>
            </a:r>
            <a:r>
              <a:rPr lang="en-US" sz="2300" kern="0" spc="-80" dirty="0">
                <a:solidFill>
                  <a:schemeClr val="accent6"/>
                </a:solidFill>
              </a:rPr>
              <a:t>- mainly used for Admin(/Write[/Read]) tasks </a:t>
            </a:r>
          </a:p>
          <a:p>
            <a:pPr marL="12700" marR="5080"/>
            <a:r>
              <a:rPr lang="en-US" sz="2300" kern="0" spc="-80" dirty="0">
                <a:solidFill>
                  <a:schemeClr val="accent2"/>
                </a:solidFill>
              </a:rPr>
              <a:t>  Data Plane - </a:t>
            </a:r>
            <a:r>
              <a:rPr lang="en-US" sz="2300" kern="0" spc="-80" dirty="0">
                <a:solidFill>
                  <a:schemeClr val="accent6"/>
                </a:solidFill>
              </a:rPr>
              <a:t>mainly used for app users Transactional(/Read[/Write]) tasks</a:t>
            </a:r>
          </a:p>
          <a:p>
            <a:pPr marL="12700" marR="5080"/>
            <a:endParaRPr lang="en-US" sz="1800" kern="0" spc="-80" dirty="0">
              <a:solidFill>
                <a:schemeClr val="accent6"/>
              </a:solidFill>
            </a:endParaRPr>
          </a:p>
          <a:p>
            <a:pPr marL="12700" marR="5080"/>
            <a:endParaRPr lang="en-US" sz="1800" kern="0" spc="-80" dirty="0">
              <a:solidFill>
                <a:schemeClr val="accent6"/>
              </a:solidFill>
            </a:endParaRPr>
          </a:p>
          <a:p>
            <a:pPr marL="12700" marR="5080"/>
            <a:r>
              <a:rPr lang="en-US" sz="1800" kern="0" spc="-80" dirty="0">
                <a:solidFill>
                  <a:schemeClr val="accent2"/>
                </a:solidFill>
              </a:rPr>
              <a:t>For Further Exploration- </a:t>
            </a:r>
          </a:p>
          <a:p>
            <a:pPr marL="12700" marR="5080"/>
            <a:r>
              <a:rPr lang="en-IN" sz="1700" dirty="0">
                <a:hlinkClick r:id="rId7"/>
              </a:rPr>
              <a:t>Control Plane and Data Plane Architecture – Daniel </a:t>
            </a:r>
            <a:r>
              <a:rPr lang="en-IN" sz="1700" dirty="0" err="1">
                <a:hlinkClick r:id="rId7"/>
              </a:rPr>
              <a:t>Donbavand</a:t>
            </a:r>
            <a:endParaRPr lang="en-IN" sz="1700" dirty="0"/>
          </a:p>
          <a:p>
            <a:pPr marL="12700" marR="5080"/>
            <a:r>
              <a:rPr lang="en-US" sz="1700" dirty="0">
                <a:hlinkClick r:id="rId8"/>
              </a:rPr>
              <a:t>Data, Control, Management: Three Planes, Different Altitudes - The New Stack</a:t>
            </a:r>
            <a:r>
              <a:rPr lang="en-US" sz="1700" kern="0" spc="-80" dirty="0">
                <a:solidFill>
                  <a:schemeClr val="accent6"/>
                </a:solidFill>
              </a:rPr>
              <a:t> </a:t>
            </a:r>
          </a:p>
        </p:txBody>
      </p:sp>
    </p:spTree>
    <p:extLst>
      <p:ext uri="{BB962C8B-B14F-4D97-AF65-F5344CB8AC3E}">
        <p14:creationId xmlns:p14="http://schemas.microsoft.com/office/powerpoint/2010/main" val="562804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137369" y="828101"/>
            <a:ext cx="8624937" cy="54476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For Further Exploration –</a:t>
            </a:r>
            <a:r>
              <a:rPr lang="en-US" sz="2400" kern="0" spc="-80" dirty="0">
                <a:solidFill>
                  <a:schemeClr val="accent2"/>
                </a:solidFill>
              </a:rPr>
              <a:t> </a:t>
            </a:r>
          </a:p>
          <a:p>
            <a:pPr marL="12700" marR="5080"/>
            <a:r>
              <a:rPr lang="en-US" sz="1500" dirty="0">
                <a:hlinkClick r:id="rId7"/>
              </a:rPr>
              <a:t>Fundamentals of Distributed Systems | </a:t>
            </a:r>
            <a:r>
              <a:rPr lang="en-US" sz="1500" dirty="0" err="1">
                <a:hlinkClick r:id="rId7"/>
              </a:rPr>
              <a:t>Baeldung</a:t>
            </a:r>
            <a:r>
              <a:rPr lang="en-US" sz="1500" dirty="0">
                <a:hlinkClick r:id="rId7"/>
              </a:rPr>
              <a:t> on Computer Science</a:t>
            </a:r>
            <a:r>
              <a:rPr lang="en-US" sz="1500" kern="0" spc="-80" dirty="0">
                <a:solidFill>
                  <a:schemeClr val="accent2"/>
                </a:solidFill>
              </a:rPr>
              <a:t> </a:t>
            </a:r>
          </a:p>
          <a:p>
            <a:pPr marL="12700" marR="5080"/>
            <a:r>
              <a:rPr lang="en-US" sz="1500" dirty="0">
                <a:hlinkClick r:id="rId8"/>
              </a:rPr>
              <a:t>A Thorough Introduction to Distributed Systems</a:t>
            </a:r>
            <a:endParaRPr lang="en-US" sz="1500" dirty="0"/>
          </a:p>
          <a:p>
            <a:pPr marL="12700" marR="5080"/>
            <a:r>
              <a:rPr lang="en-US" sz="1500" dirty="0">
                <a:hlinkClick r:id="rId9"/>
              </a:rPr>
              <a:t>What Are Distributed Systems? | Splunk</a:t>
            </a:r>
            <a:endParaRPr lang="en-US" sz="1500" dirty="0"/>
          </a:p>
          <a:p>
            <a:pPr marL="12700" marR="5080"/>
            <a:r>
              <a:rPr lang="en-US" sz="1500" dirty="0">
                <a:hlinkClick r:id="rId10"/>
              </a:rPr>
              <a:t>A Crash Course on Distributed Systems</a:t>
            </a:r>
            <a:endParaRPr lang="en-US" sz="1500" dirty="0"/>
          </a:p>
          <a:p>
            <a:r>
              <a:rPr lang="en-US" sz="1500" dirty="0">
                <a:hlinkClick r:id="rId11"/>
              </a:rPr>
              <a:t>Building-Modern-Distributed-Systems-with-Java</a:t>
            </a:r>
            <a:endParaRPr lang="en-US" sz="1500" dirty="0"/>
          </a:p>
          <a:p>
            <a:r>
              <a:rPr lang="en-US" sz="1500" dirty="0">
                <a:hlinkClick r:id="rId12"/>
              </a:rPr>
              <a:t>Designing Data-Intensive Applications (DDIA)</a:t>
            </a:r>
            <a:r>
              <a:rPr lang="en-US" sz="1500" dirty="0"/>
              <a:t> </a:t>
            </a:r>
          </a:p>
          <a:p>
            <a:r>
              <a:rPr lang="en-US" sz="1500" dirty="0">
                <a:hlinkClick r:id="rId13"/>
              </a:rPr>
              <a:t>Distributed Systems for practitioners - Behind the scenes – A curious mind</a:t>
            </a:r>
            <a:r>
              <a:rPr lang="en-US" sz="1500" dirty="0"/>
              <a:t> </a:t>
            </a:r>
          </a:p>
          <a:p>
            <a:r>
              <a:rPr lang="en-US" sz="1500" dirty="0">
                <a:hlinkClick r:id="rId14"/>
              </a:rPr>
              <a:t>Distributed Systems Labs and Framework</a:t>
            </a:r>
            <a:endParaRPr lang="en-US" sz="1500" dirty="0"/>
          </a:p>
          <a:p>
            <a:r>
              <a:rPr lang="en-IN" sz="1500" dirty="0">
                <a:hlinkClick r:id="rId15"/>
              </a:rPr>
              <a:t>Raspberry Pi Super Cluster | IoT &amp; Hardware | Print</a:t>
            </a:r>
            <a:endParaRPr lang="en-IN" sz="1500" dirty="0"/>
          </a:p>
          <a:p>
            <a:r>
              <a:rPr lang="en-US" sz="1500" dirty="0">
                <a:hlinkClick r:id="rId16"/>
              </a:rPr>
              <a:t>Hints for Distributed Systems Design</a:t>
            </a:r>
            <a:endParaRPr lang="en-US" sz="1500" dirty="0"/>
          </a:p>
          <a:p>
            <a:r>
              <a:rPr lang="en-US" sz="1500" dirty="0">
                <a:hlinkClick r:id="rId17"/>
              </a:rPr>
              <a:t>System-Design-Master-Plan</a:t>
            </a:r>
            <a:endParaRPr lang="en-US" sz="1500" dirty="0"/>
          </a:p>
          <a:p>
            <a:pPr marL="12700" marR="5080"/>
            <a:r>
              <a:rPr lang="en-IN" sz="1500" dirty="0">
                <a:hlinkClick r:id="rId18"/>
              </a:rPr>
              <a:t>System Design Blueprint: The Ultimate Guide</a:t>
            </a:r>
            <a:endParaRPr lang="en-IN" sz="1500" dirty="0"/>
          </a:p>
          <a:p>
            <a:pPr marL="12700" marR="5080"/>
            <a:r>
              <a:rPr lang="en-IN" sz="1500" dirty="0">
                <a:hlinkClick r:id="rId19"/>
              </a:rPr>
              <a:t>System Design PDFs - by Alex Xu - </a:t>
            </a:r>
            <a:r>
              <a:rPr lang="en-IN" sz="1500" dirty="0" err="1">
                <a:hlinkClick r:id="rId19"/>
              </a:rPr>
              <a:t>ByteByteGo</a:t>
            </a:r>
            <a:r>
              <a:rPr lang="en-IN" sz="1500" dirty="0">
                <a:hlinkClick r:id="rId19"/>
              </a:rPr>
              <a:t> Newsletter</a:t>
            </a:r>
            <a:endParaRPr lang="en-IN" sz="1500" dirty="0"/>
          </a:p>
          <a:p>
            <a:pPr marL="12700" marR="5080"/>
            <a:r>
              <a:rPr lang="en-IN" sz="1500" dirty="0">
                <a:hlinkClick r:id="rId20"/>
              </a:rPr>
              <a:t>Understanding Distributed Systems</a:t>
            </a:r>
            <a:endParaRPr lang="en-IN" sz="1500" dirty="0"/>
          </a:p>
          <a:p>
            <a:pPr marL="12700" marR="5080"/>
            <a:r>
              <a:rPr lang="en-US" sz="1500" dirty="0">
                <a:hlinkClick r:id="rId21"/>
              </a:rPr>
              <a:t>Think Distributed Systems - Dominik Tornow</a:t>
            </a:r>
            <a:endParaRPr lang="en-IN" sz="1500" dirty="0"/>
          </a:p>
          <a:p>
            <a:pPr marL="12700" marR="5080"/>
            <a:r>
              <a:rPr lang="en-US" sz="1500" dirty="0">
                <a:hlinkClick r:id="rId22"/>
              </a:rPr>
              <a:t>Amazon.com: Alex Xu: books, biography, latest update</a:t>
            </a:r>
            <a:endParaRPr lang="en-US" sz="1500" dirty="0"/>
          </a:p>
          <a:p>
            <a:pPr marL="12700" marR="5080"/>
            <a:r>
              <a:rPr lang="en-US" sz="1500" dirty="0">
                <a:hlinkClick r:id="rId23"/>
              </a:rPr>
              <a:t>System Design Interview by Alex Xu | Duri </a:t>
            </a:r>
            <a:r>
              <a:rPr lang="en-US" sz="1500" dirty="0" err="1">
                <a:hlinkClick r:id="rId23"/>
              </a:rPr>
              <a:t>Chitayat</a:t>
            </a:r>
            <a:endParaRPr lang="en-US" sz="1500" dirty="0"/>
          </a:p>
          <a:p>
            <a:pPr marL="12700" marR="5080"/>
            <a:r>
              <a:rPr lang="en-US" sz="1500" dirty="0">
                <a:hlinkClick r:id="rId24"/>
              </a:rPr>
              <a:t>System Design at Google</a:t>
            </a:r>
            <a:endParaRPr lang="en-US" sz="1500" dirty="0"/>
          </a:p>
          <a:p>
            <a:pPr marL="12700" marR="5080"/>
            <a:r>
              <a:rPr lang="en-IN" sz="1500" dirty="0">
                <a:hlinkClick r:id="rId25"/>
              </a:rPr>
              <a:t>System Design Roadmap</a:t>
            </a:r>
            <a:endParaRPr lang="en-US" sz="1500" dirty="0"/>
          </a:p>
          <a:p>
            <a:pPr marL="12700" marR="5080"/>
            <a:r>
              <a:rPr lang="en-IN" sz="1500" dirty="0">
                <a:hlinkClick r:id="rId26"/>
              </a:rPr>
              <a:t>System Design Resources | LinkedIn</a:t>
            </a:r>
            <a:endParaRPr lang="en-US" sz="1500" dirty="0"/>
          </a:p>
          <a:p>
            <a:pPr marL="12700" marR="5080"/>
            <a:r>
              <a:rPr lang="en-US" sz="1500" dirty="0">
                <a:hlinkClick r:id="rId27"/>
              </a:rPr>
              <a:t>Awesome-System-Design</a:t>
            </a:r>
            <a:endParaRPr lang="en-US" sz="1500" dirty="0"/>
          </a:p>
          <a:p>
            <a:pPr marL="12700" marR="5080"/>
            <a:endParaRPr lang="en-US" sz="1400" dirty="0"/>
          </a:p>
        </p:txBody>
      </p:sp>
    </p:spTree>
    <p:extLst>
      <p:ext uri="{BB962C8B-B14F-4D97-AF65-F5344CB8AC3E}">
        <p14:creationId xmlns:p14="http://schemas.microsoft.com/office/powerpoint/2010/main" val="4200007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165C0-E039-AADC-7755-40DC3A1A734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A777CC6-DE00-BAA0-A0DB-00F793BB661C}"/>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71701C7-6F70-E776-F463-F4AB71C89C7A}"/>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EDCB3E0-8382-17CF-0442-A26B858815B4}"/>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2B7B4C8-D4FF-BF00-20C8-8B3B9B0E2AC5}"/>
              </a:ext>
            </a:extLst>
          </p:cNvPr>
          <p:cNvSpPr txBox="1">
            <a:spLocks/>
          </p:cNvSpPr>
          <p:nvPr/>
        </p:nvSpPr>
        <p:spPr>
          <a:xfrm>
            <a:off x="228600" y="914400"/>
            <a:ext cx="8624937" cy="51321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a:t>
            </a:r>
            <a:r>
              <a:rPr lang="en-US" sz="2400" kern="0" spc="-80" dirty="0" err="1">
                <a:solidFill>
                  <a:schemeClr val="accent2"/>
                </a:solidFill>
              </a:rPr>
              <a:t>contd</a:t>
            </a:r>
            <a:r>
              <a:rPr lang="en-US" sz="2400" kern="0" spc="-80" dirty="0">
                <a:solidFill>
                  <a:schemeClr val="accent2"/>
                </a:solidFill>
              </a:rPr>
              <a:t>…) – </a:t>
            </a:r>
          </a:p>
          <a:p>
            <a:pPr marL="12700" marR="5080"/>
            <a:r>
              <a:rPr lang="en-IN" sz="1550" dirty="0">
                <a:hlinkClick r:id="rId7"/>
              </a:rPr>
              <a:t>System-Design: System Design for Web-Apps</a:t>
            </a:r>
            <a:endParaRPr lang="en-IN" sz="1550" dirty="0"/>
          </a:p>
          <a:p>
            <a:pPr marL="12700" marR="5080"/>
            <a:r>
              <a:rPr lang="en-US" sz="1550" dirty="0">
                <a:hlinkClick r:id="rId8"/>
              </a:rPr>
              <a:t>System-Design-Architecture</a:t>
            </a:r>
            <a:endParaRPr lang="en-US" sz="1550" dirty="0"/>
          </a:p>
          <a:p>
            <a:pPr marL="12700" marR="5080"/>
            <a:r>
              <a:rPr lang="en-US" sz="1550" dirty="0">
                <a:hlinkClick r:id="rId9"/>
              </a:rPr>
              <a:t>System Design on AWS[Book]</a:t>
            </a:r>
            <a:endParaRPr lang="en-US" sz="1550" dirty="0"/>
          </a:p>
          <a:p>
            <a:pPr marL="12700" marR="5080"/>
            <a:r>
              <a:rPr lang="en-IN" sz="1550" dirty="0">
                <a:hlinkClick r:id="rId10"/>
              </a:rPr>
              <a:t>Comprehensive List of System Design Problems | LinkedIn</a:t>
            </a:r>
            <a:endParaRPr lang="en-IN" sz="1550" dirty="0"/>
          </a:p>
          <a:p>
            <a:pPr marL="12700" marR="5080"/>
            <a:r>
              <a:rPr lang="en-IN" sz="1550" dirty="0">
                <a:hlinkClick r:id="rId11"/>
              </a:rPr>
              <a:t>Global State in Distributed Systems.pdf </a:t>
            </a:r>
            <a:endParaRPr lang="en-IN" sz="1550" dirty="0"/>
          </a:p>
          <a:p>
            <a:pPr marL="12700" marR="5080"/>
            <a:r>
              <a:rPr lang="en-US" sz="1550" dirty="0">
                <a:hlinkClick r:id="rId12"/>
              </a:rPr>
              <a:t>How to do distributed locking — Martin </a:t>
            </a:r>
            <a:r>
              <a:rPr lang="en-US" sz="1550" dirty="0" err="1">
                <a:hlinkClick r:id="rId12"/>
              </a:rPr>
              <a:t>Kleppmann’s</a:t>
            </a:r>
            <a:r>
              <a:rPr lang="en-US" sz="1550" dirty="0">
                <a:hlinkClick r:id="rId12"/>
              </a:rPr>
              <a:t> blog</a:t>
            </a:r>
            <a:endParaRPr lang="en-US" sz="1550" dirty="0"/>
          </a:p>
          <a:p>
            <a:pPr marL="12700" marR="5080"/>
            <a:r>
              <a:rPr lang="en-US" sz="1550" dirty="0">
                <a:hlinkClick r:id="rId13"/>
              </a:rPr>
              <a:t>Consistency Model in Distributed System - </a:t>
            </a:r>
            <a:r>
              <a:rPr lang="en-US" sz="1550" dirty="0" err="1">
                <a:hlinkClick r:id="rId13"/>
              </a:rPr>
              <a:t>GeeksforGeeks</a:t>
            </a:r>
            <a:endParaRPr lang="en-IN" sz="1550" dirty="0"/>
          </a:p>
          <a:p>
            <a:pPr marL="12700" marR="5080"/>
            <a:r>
              <a:rPr lang="en-IN" sz="1550" dirty="0">
                <a:hlinkClick r:id="rId14"/>
              </a:rPr>
              <a:t>Distributed Mutual Exclusion Algorithms </a:t>
            </a:r>
            <a:endParaRPr lang="en-IN" sz="1550" dirty="0"/>
          </a:p>
          <a:p>
            <a:pPr marL="12700" marR="5080"/>
            <a:r>
              <a:rPr lang="en-IN" sz="1550" dirty="0">
                <a:hlinkClick r:id="rId15"/>
              </a:rPr>
              <a:t>Distributed Recovery.pdf</a:t>
            </a:r>
            <a:endParaRPr lang="en-US" sz="1550" kern="0" spc="-80" dirty="0">
              <a:solidFill>
                <a:schemeClr val="accent2"/>
              </a:solidFill>
            </a:endParaRPr>
          </a:p>
          <a:p>
            <a:pPr marL="12700" marR="5080"/>
            <a:r>
              <a:rPr lang="en-US" sz="1550" dirty="0">
                <a:hlinkClick r:id="rId16"/>
              </a:rPr>
              <a:t>Design a Distributed Job Scheduler for Millions of Tasks in Daily Operations</a:t>
            </a:r>
            <a:endParaRPr lang="en-US" sz="1550" dirty="0"/>
          </a:p>
          <a:p>
            <a:pPr marL="12700" marR="5080"/>
            <a:r>
              <a:rPr lang="en-IN" sz="1550" dirty="0">
                <a:hlinkClick r:id="rId17"/>
              </a:rPr>
              <a:t>Thread (online communication) – Wikipedia</a:t>
            </a:r>
            <a:endParaRPr lang="en-IN" sz="1550" dirty="0"/>
          </a:p>
          <a:p>
            <a:pPr marL="12700" marR="5080"/>
            <a:r>
              <a:rPr lang="en-IN" sz="1550" dirty="0">
                <a:hlinkClick r:id="rId18"/>
              </a:rPr>
              <a:t>Message Threading</a:t>
            </a:r>
            <a:endParaRPr lang="en-IN" sz="1550" dirty="0"/>
          </a:p>
          <a:p>
            <a:pPr marL="12700" marR="5080"/>
            <a:r>
              <a:rPr lang="en-US" sz="1550" dirty="0">
                <a:hlinkClick r:id="rId19"/>
              </a:rPr>
              <a:t>Warming up dedicated IP addresses (standard) - Amazon Simple Email Service</a:t>
            </a:r>
            <a:endParaRPr lang="en-US" sz="1550" dirty="0"/>
          </a:p>
          <a:p>
            <a:pPr marL="12700" marR="5080"/>
            <a:r>
              <a:rPr lang="en-US" sz="1550" dirty="0">
                <a:hlinkClick r:id="rId20"/>
              </a:rPr>
              <a:t>UUID and </a:t>
            </a:r>
            <a:r>
              <a:rPr lang="en-US" sz="1550" dirty="0" err="1">
                <a:hlinkClick r:id="rId20"/>
              </a:rPr>
              <a:t>timeuuid</a:t>
            </a:r>
            <a:r>
              <a:rPr lang="en-US" sz="1550" dirty="0">
                <a:hlinkClick r:id="rId20"/>
              </a:rPr>
              <a:t> functions | CQL for Cassandra 3.0</a:t>
            </a:r>
            <a:endParaRPr lang="en-US" sz="1550" kern="0" spc="-80" dirty="0">
              <a:solidFill>
                <a:schemeClr val="accent2"/>
              </a:solidFill>
            </a:endParaRPr>
          </a:p>
          <a:p>
            <a:pPr marL="12700" marR="5080"/>
            <a:r>
              <a:rPr lang="en-US" sz="1550" dirty="0">
                <a:hlinkClick r:id="rId21"/>
              </a:rPr>
              <a:t>Writing: Differential Synchronization</a:t>
            </a:r>
            <a:endParaRPr lang="en-US" sz="1550" dirty="0"/>
          </a:p>
          <a:p>
            <a:pPr marL="12700" marR="5080"/>
            <a:r>
              <a:rPr lang="en-US" sz="1550" dirty="0">
                <a:hlinkClick r:id="rId22"/>
              </a:rPr>
              <a:t>Distributed File System (DFS) Architecture Components Explained</a:t>
            </a:r>
            <a:endParaRPr lang="en-US" sz="1550" dirty="0"/>
          </a:p>
          <a:p>
            <a:pPr marL="12700" marR="5080"/>
            <a:r>
              <a:rPr lang="en-US" sz="1550" dirty="0">
                <a:hlinkClick r:id="rId23"/>
              </a:rPr>
              <a:t>ARCHITECTING EXTREMELY LARGE SCALE WEB APPLICATIONS</a:t>
            </a:r>
            <a:endParaRPr lang="en-US" sz="1550" dirty="0"/>
          </a:p>
          <a:p>
            <a:pPr marL="12700" marR="5080"/>
            <a:r>
              <a:rPr lang="en-US" sz="1550" dirty="0">
                <a:hlinkClick r:id="rId24"/>
              </a:rPr>
              <a:t>Software Architecture, Cloud Computing, Multithreading, &amp; Advanced Java Courses</a:t>
            </a:r>
            <a:endParaRPr lang="en-US" sz="1550" dirty="0"/>
          </a:p>
          <a:p>
            <a:pPr marL="12700" marR="5080"/>
            <a:r>
              <a:rPr lang="en-IN" sz="1550" dirty="0">
                <a:hlinkClick r:id="rId25"/>
              </a:rPr>
              <a:t>Think Distributed Systems</a:t>
            </a:r>
            <a:endParaRPr lang="en-US" sz="1550" dirty="0"/>
          </a:p>
          <a:p>
            <a:pPr marL="12700" marR="5080"/>
            <a:endParaRPr lang="en-US" sz="1500" kern="0" spc="-80" dirty="0">
              <a:solidFill>
                <a:schemeClr val="accent2"/>
              </a:solidFill>
            </a:endParaRPr>
          </a:p>
        </p:txBody>
      </p:sp>
    </p:spTree>
    <p:extLst>
      <p:ext uri="{BB962C8B-B14F-4D97-AF65-F5344CB8AC3E}">
        <p14:creationId xmlns:p14="http://schemas.microsoft.com/office/powerpoint/2010/main" val="17336116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EBA59-2DCE-4C90-AF09-98865D59DB3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1541C69-C8A4-DBF2-A16C-B98969ABAC7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958A7E-28F5-5CBE-AA71-5C0011947BA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7A0CC9A-4D7E-2F95-CE36-D2AD6C58003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2D3D671-851F-0AF5-264B-589F1FE3818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FB4C2FC-D12D-4A41-E5FA-4F1E9F519913}"/>
              </a:ext>
            </a:extLst>
          </p:cNvPr>
          <p:cNvSpPr txBox="1">
            <a:spLocks/>
          </p:cNvSpPr>
          <p:nvPr/>
        </p:nvSpPr>
        <p:spPr>
          <a:xfrm>
            <a:off x="290463" y="762000"/>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Category	        Example Goals</a:t>
            </a:r>
          </a:p>
          <a:p>
            <a:pPr marL="12700" marR="5080"/>
            <a:r>
              <a:rPr lang="en-US" sz="2400" kern="0" spc="-80" dirty="0">
                <a:solidFill>
                  <a:schemeClr val="accent6"/>
                </a:solidFill>
              </a:rPr>
              <a:t>Performance       Response time, throughput, latency</a:t>
            </a:r>
          </a:p>
          <a:p>
            <a:pPr marL="12700" marR="5080"/>
            <a:r>
              <a:rPr lang="en-US" sz="2400" kern="0" spc="-80" dirty="0">
                <a:solidFill>
                  <a:schemeClr val="accent6"/>
                </a:solidFill>
              </a:rPr>
              <a:t>Scalability	        Ability to handle increasing load</a:t>
            </a:r>
          </a:p>
          <a:p>
            <a:pPr marL="12700" marR="5080"/>
            <a:r>
              <a:rPr lang="en-US" sz="2400" kern="0" spc="-80" dirty="0">
                <a:solidFill>
                  <a:schemeClr val="accent6"/>
                </a:solidFill>
              </a:rPr>
              <a:t>Availability	        System uptime, redundancy</a:t>
            </a:r>
          </a:p>
          <a:p>
            <a:pPr marL="12700" marR="5080"/>
            <a:r>
              <a:rPr lang="en-US" sz="2400" kern="0" spc="-80" dirty="0">
                <a:solidFill>
                  <a:schemeClr val="accent6"/>
                </a:solidFill>
              </a:rPr>
              <a:t>Reliability	        Error tolerance, failover recovery</a:t>
            </a:r>
          </a:p>
          <a:p>
            <a:pPr marL="12700" marR="5080"/>
            <a:r>
              <a:rPr lang="en-US" sz="2400" kern="0" spc="-80" dirty="0">
                <a:solidFill>
                  <a:schemeClr val="accent6"/>
                </a:solidFill>
              </a:rPr>
              <a:t>Security	        Encryption, authentication, authorization</a:t>
            </a:r>
          </a:p>
          <a:p>
            <a:pPr marL="12700" marR="5080"/>
            <a:r>
              <a:rPr lang="en-US" sz="2400" kern="0" spc="-80" dirty="0">
                <a:solidFill>
                  <a:schemeClr val="accent6"/>
                </a:solidFill>
              </a:rPr>
              <a:t>Usability	        Ease of use, accessibility</a:t>
            </a:r>
          </a:p>
          <a:p>
            <a:pPr marL="12700" marR="5080"/>
            <a:r>
              <a:rPr lang="en-US" sz="2400" kern="0" spc="-80" dirty="0">
                <a:solidFill>
                  <a:schemeClr val="accent6"/>
                </a:solidFill>
              </a:rPr>
              <a:t>Maintainability    Ease of updates, code quality</a:t>
            </a:r>
          </a:p>
          <a:p>
            <a:pPr marL="12700" marR="5080"/>
            <a:r>
              <a:rPr lang="en-US" sz="2400" kern="0" spc="-80" dirty="0">
                <a:solidFill>
                  <a:schemeClr val="accent6"/>
                </a:solidFill>
              </a:rPr>
              <a:t>Compliance	        Regulatory (GDPR, HIPAA, etc.)</a:t>
            </a:r>
          </a:p>
          <a:p>
            <a:pPr marL="12700" marR="5080"/>
            <a:r>
              <a:rPr lang="en-US" sz="2400" kern="0" spc="-80" dirty="0">
                <a:solidFill>
                  <a:schemeClr val="accent6"/>
                </a:solidFill>
              </a:rPr>
              <a:t>Portability	        Works across OS/cloud environments</a:t>
            </a:r>
          </a:p>
          <a:p>
            <a:pPr marL="12700" marR="5080"/>
            <a:r>
              <a:rPr lang="en-US" sz="2400" kern="0" spc="-80" dirty="0">
                <a:solidFill>
                  <a:schemeClr val="accent6"/>
                </a:solidFill>
              </a:rPr>
              <a:t>Observability      Monitoring, logging, tracing. </a:t>
            </a:r>
          </a:p>
        </p:txBody>
      </p:sp>
    </p:spTree>
    <p:extLst>
      <p:ext uri="{BB962C8B-B14F-4D97-AF65-F5344CB8AC3E}">
        <p14:creationId xmlns:p14="http://schemas.microsoft.com/office/powerpoint/2010/main" val="188198580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2FF0-4979-48ED-DFF0-F78B239B5F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9311AC2-BC15-952B-534C-C97ADD234A8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13EFA23-8E0D-D9C7-065A-F60270BAE23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95D8458-C948-BFEF-E3E0-B336180746D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EE55C06-DFE8-58DC-54E1-CA4427C1440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pic>
        <p:nvPicPr>
          <p:cNvPr id="9" name="Picture 8" descr="A white sheet with black text&#10;&#10;AI-generated content may be incorrect.">
            <a:extLst>
              <a:ext uri="{FF2B5EF4-FFF2-40B4-BE49-F238E27FC236}">
                <a16:creationId xmlns:a16="http://schemas.microsoft.com/office/drawing/2014/main" id="{BEA0E1DA-57D8-CB6D-B70D-51B41C4B3CB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354097"/>
            <a:ext cx="8915858" cy="4132303"/>
          </a:xfrm>
          <a:prstGeom prst="rect">
            <a:avLst/>
          </a:prstGeom>
        </p:spPr>
      </p:pic>
      <p:sp>
        <p:nvSpPr>
          <p:cNvPr id="10" name="object 2">
            <a:extLst>
              <a:ext uri="{FF2B5EF4-FFF2-40B4-BE49-F238E27FC236}">
                <a16:creationId xmlns:a16="http://schemas.microsoft.com/office/drawing/2014/main" id="{491A2B38-3B04-2C38-9AEC-62E2D7DBA539}"/>
              </a:ext>
            </a:extLst>
          </p:cNvPr>
          <p:cNvSpPr txBox="1">
            <a:spLocks/>
          </p:cNvSpPr>
          <p:nvPr/>
        </p:nvSpPr>
        <p:spPr>
          <a:xfrm>
            <a:off x="76200" y="7620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Common Structure of an NFR Matrix(Representative Example only and not any actual value from some actual prod App)</a:t>
            </a:r>
          </a:p>
        </p:txBody>
      </p:sp>
      <p:sp>
        <p:nvSpPr>
          <p:cNvPr id="3" name="object 2">
            <a:extLst>
              <a:ext uri="{FF2B5EF4-FFF2-40B4-BE49-F238E27FC236}">
                <a16:creationId xmlns:a16="http://schemas.microsoft.com/office/drawing/2014/main" id="{3E1124FF-99DF-D1BD-5CDC-505E525FEC47}"/>
              </a:ext>
            </a:extLst>
          </p:cNvPr>
          <p:cNvSpPr txBox="1">
            <a:spLocks/>
          </p:cNvSpPr>
          <p:nvPr/>
        </p:nvSpPr>
        <p:spPr>
          <a:xfrm>
            <a:off x="0" y="5473005"/>
            <a:ext cx="8624937" cy="4308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Correction:</a:t>
            </a:r>
            <a:r>
              <a:rPr lang="en-US" sz="1400" kern="0" spc="-80" dirty="0">
                <a:solidFill>
                  <a:schemeClr val="accent6"/>
                </a:solidFill>
              </a:rPr>
              <a:t> In the above slide, for row “Usability” and column “Validation/Test Method”, the value should be User Testing instead of </a:t>
            </a:r>
            <a:r>
              <a:rPr lang="en-US" sz="1400" kern="0" spc="-80" dirty="0" err="1">
                <a:solidFill>
                  <a:schemeClr val="accent6"/>
                </a:solidFill>
              </a:rPr>
              <a:t>Tme</a:t>
            </a:r>
            <a:r>
              <a:rPr lang="en-US" sz="1400" kern="0" spc="-80" dirty="0">
                <a:solidFill>
                  <a:schemeClr val="accent6"/>
                </a:solidFill>
              </a:rPr>
              <a:t>-to-setup. That’s </a:t>
            </a:r>
            <a:r>
              <a:rPr lang="en-US" sz="1400" kern="0" spc="-80">
                <a:solidFill>
                  <a:schemeClr val="accent6"/>
                </a:solidFill>
              </a:rPr>
              <a:t>a copy-paste </a:t>
            </a:r>
            <a:r>
              <a:rPr lang="en-US" sz="1400" kern="0" spc="-80" dirty="0">
                <a:solidFill>
                  <a:schemeClr val="accent6"/>
                </a:solidFill>
              </a:rPr>
              <a:t>error.</a:t>
            </a:r>
          </a:p>
        </p:txBody>
      </p:sp>
    </p:spTree>
    <p:extLst>
      <p:ext uri="{BB962C8B-B14F-4D97-AF65-F5344CB8AC3E}">
        <p14:creationId xmlns:p14="http://schemas.microsoft.com/office/powerpoint/2010/main" val="20318513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8B5DD-2558-88A1-CE01-37A3DF6AEB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5340C1-D760-8F87-B6E1-94209CB3F84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739DA84-5582-E1C1-5345-6D1AD893AD6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AE0603F-45E8-BA90-3EDD-4A6A0A860D9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7226CD6-E0E8-BD5F-3ED4-3E191CE63BB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0" name="object 2">
            <a:extLst>
              <a:ext uri="{FF2B5EF4-FFF2-40B4-BE49-F238E27FC236}">
                <a16:creationId xmlns:a16="http://schemas.microsoft.com/office/drawing/2014/main" id="{78A545D0-0CAC-690F-195B-198913EAEFD6}"/>
              </a:ext>
            </a:extLst>
          </p:cNvPr>
          <p:cNvSpPr txBox="1">
            <a:spLocks/>
          </p:cNvSpPr>
          <p:nvPr/>
        </p:nvSpPr>
        <p:spPr>
          <a:xfrm>
            <a:off x="76200" y="7620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Common Structure of an NFR Matrix(Representative Example only and not any actual value from some actual prod App)</a:t>
            </a:r>
          </a:p>
        </p:txBody>
      </p:sp>
      <p:pic>
        <p:nvPicPr>
          <p:cNvPr id="7" name="Picture 6">
            <a:extLst>
              <a:ext uri="{FF2B5EF4-FFF2-40B4-BE49-F238E27FC236}">
                <a16:creationId xmlns:a16="http://schemas.microsoft.com/office/drawing/2014/main" id="{2030FEDD-3911-F5F1-128F-279BE6B35F26}"/>
              </a:ext>
            </a:extLst>
          </p:cNvPr>
          <p:cNvPicPr>
            <a:picLocks noChangeAspect="1"/>
          </p:cNvPicPr>
          <p:nvPr/>
        </p:nvPicPr>
        <p:blipFill>
          <a:blip r:embed="rId7"/>
          <a:stretch>
            <a:fillRect/>
          </a:stretch>
        </p:blipFill>
        <p:spPr>
          <a:xfrm>
            <a:off x="76200" y="1354734"/>
            <a:ext cx="9144000" cy="2683866"/>
          </a:xfrm>
          <a:prstGeom prst="rect">
            <a:avLst/>
          </a:prstGeom>
        </p:spPr>
      </p:pic>
      <p:sp>
        <p:nvSpPr>
          <p:cNvPr id="8" name="object 2">
            <a:extLst>
              <a:ext uri="{FF2B5EF4-FFF2-40B4-BE49-F238E27FC236}">
                <a16:creationId xmlns:a16="http://schemas.microsoft.com/office/drawing/2014/main" id="{50C95680-FABF-F24A-B870-BA27F7946D58}"/>
              </a:ext>
            </a:extLst>
          </p:cNvPr>
          <p:cNvSpPr txBox="1">
            <a:spLocks/>
          </p:cNvSpPr>
          <p:nvPr/>
        </p:nvSpPr>
        <p:spPr>
          <a:xfrm>
            <a:off x="0" y="4246602"/>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For Further Exploration -  </a:t>
            </a:r>
          </a:p>
          <a:p>
            <a:pPr marL="12700" marR="5080"/>
            <a:r>
              <a:rPr lang="en-IN" sz="1800" dirty="0">
                <a:hlinkClick r:id="rId8"/>
              </a:rPr>
              <a:t>Non-functional requirement – Wikipedia</a:t>
            </a:r>
            <a:endParaRPr lang="en-IN" sz="1800" dirty="0"/>
          </a:p>
          <a:p>
            <a:pPr marL="12700" marR="5080"/>
            <a:r>
              <a:rPr lang="en-US" sz="1800" dirty="0">
                <a:hlinkClick r:id="rId9"/>
              </a:rPr>
              <a:t>REST API Development: Gentle checklist of NFRs</a:t>
            </a:r>
            <a:endParaRPr lang="en-US" sz="1800" kern="0" spc="-80" dirty="0">
              <a:solidFill>
                <a:schemeClr val="accent2"/>
              </a:solidFill>
            </a:endParaRPr>
          </a:p>
          <a:p>
            <a:pPr marL="12700" marR="5080"/>
            <a:r>
              <a:rPr lang="en-US" sz="1800" dirty="0">
                <a:hlinkClick r:id="rId10"/>
              </a:rPr>
              <a:t>Non Functional Requirement | My Love with SQL Server</a:t>
            </a:r>
            <a:r>
              <a:rPr lang="en-US" sz="1800" kern="0" spc="-80" dirty="0">
                <a:solidFill>
                  <a:schemeClr val="accent2"/>
                </a:solidFill>
              </a:rPr>
              <a:t> </a:t>
            </a:r>
          </a:p>
          <a:p>
            <a:pPr marL="12700" marR="5080"/>
            <a:r>
              <a:rPr lang="en-US" sz="1800" dirty="0">
                <a:hlinkClick r:id="rId11"/>
              </a:rPr>
              <a:t>Mastering Non-Functional Requirements | Programming | eBook</a:t>
            </a:r>
            <a:endParaRPr lang="en-US" sz="1800" dirty="0"/>
          </a:p>
        </p:txBody>
      </p:sp>
    </p:spTree>
    <p:extLst>
      <p:ext uri="{BB962C8B-B14F-4D97-AF65-F5344CB8AC3E}">
        <p14:creationId xmlns:p14="http://schemas.microsoft.com/office/powerpoint/2010/main" val="7330644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040601331"/>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28600" y="990600"/>
            <a:ext cx="8624937"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 </a:t>
            </a:r>
          </a:p>
          <a:p>
            <a:pPr marL="12700" marR="5080"/>
            <a:r>
              <a:rPr lang="en-US" sz="2400" kern="0" spc="-80" dirty="0">
                <a:solidFill>
                  <a:schemeClr val="accent2"/>
                </a:solidFill>
              </a:rPr>
              <a:t> Logs &amp; Profiling Tools – </a:t>
            </a:r>
          </a:p>
          <a:p>
            <a:pPr marL="12700" marR="5080"/>
            <a:r>
              <a:rPr lang="en-US" sz="2400" kern="0" spc="-80" dirty="0">
                <a:solidFill>
                  <a:schemeClr val="accent2"/>
                </a:solidFill>
              </a:rPr>
              <a:t>  1) Logs -  </a:t>
            </a:r>
            <a:r>
              <a:rPr lang="en-US" sz="2400" kern="0" spc="-80" dirty="0">
                <a:solidFill>
                  <a:schemeClr val="accent6"/>
                </a:solidFill>
              </a:rPr>
              <a:t>Always 1st check logs to find the root cause of the performance issue. Also, to increase the overall performance of the application, may-be you can opt for </a:t>
            </a:r>
            <a:r>
              <a:rPr lang="en-US" sz="2400" kern="0" spc="-80" dirty="0">
                <a:solidFill>
                  <a:schemeClr val="tx2">
                    <a:lumMod val="60000"/>
                    <a:lumOff val="40000"/>
                  </a:schemeClr>
                </a:solidFill>
              </a:rPr>
              <a:t>asynchronous logging</a:t>
            </a:r>
            <a:r>
              <a:rPr lang="en-US" sz="2400" kern="0" spc="-80" dirty="0">
                <a:solidFill>
                  <a:schemeClr val="accent6"/>
                </a:solidFill>
              </a:rPr>
              <a:t>.</a:t>
            </a:r>
          </a:p>
          <a:p>
            <a:pPr marL="12700" marR="5080"/>
            <a:endParaRPr lang="en-US" sz="2400" kern="0" spc="-80" dirty="0">
              <a:solidFill>
                <a:schemeClr val="accent6"/>
              </a:solidFill>
            </a:endParaRPr>
          </a:p>
          <a:p>
            <a:pPr marL="12700" marR="5080"/>
            <a:r>
              <a:rPr lang="en-US" sz="2400" kern="0" spc="-80" dirty="0">
                <a:solidFill>
                  <a:schemeClr val="accent6"/>
                </a:solidFill>
              </a:rPr>
              <a:t>  </a:t>
            </a:r>
            <a:r>
              <a:rPr lang="en-US" sz="2400" kern="0" spc="-80" dirty="0">
                <a:solidFill>
                  <a:schemeClr val="accent2"/>
                </a:solidFill>
              </a:rPr>
              <a:t>2) Profiling Tools – </a:t>
            </a:r>
            <a:r>
              <a:rPr lang="en-US" sz="2400" kern="0" spc="-80" dirty="0">
                <a:solidFill>
                  <a:schemeClr val="accent6"/>
                </a:solidFill>
              </a:rPr>
              <a:t>If via step 1 above, not able to find the root cause, run some profiling tools (e.g. ANTS Profiler[$$$]) &amp; find where is the issue &amp; what’s the cause of the issue. SQL Server has inbuilt profiler. Similar profilers(or profiling add-ons) are available in other DBs(including NoSQL DBs).</a:t>
            </a:r>
          </a:p>
          <a:p>
            <a:pPr marL="12700" marR="5080"/>
            <a:endParaRPr lang="en-US" sz="2400" kern="0" spc="-80" dirty="0">
              <a:solidFill>
                <a:schemeClr val="accent2"/>
              </a:solidFill>
            </a:endParaRPr>
          </a:p>
          <a:p>
            <a:pPr marL="12700" marR="5080"/>
            <a:r>
              <a:rPr lang="en-US" sz="2400" kern="0" spc="-80" dirty="0">
                <a:solidFill>
                  <a:schemeClr val="accent2"/>
                </a:solidFill>
              </a:rPr>
              <a:t>  </a:t>
            </a:r>
          </a:p>
        </p:txBody>
      </p:sp>
    </p:spTree>
    <p:extLst>
      <p:ext uri="{BB962C8B-B14F-4D97-AF65-F5344CB8AC3E}">
        <p14:creationId xmlns:p14="http://schemas.microsoft.com/office/powerpoint/2010/main" val="26895557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298807331"/>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28600" y="990600"/>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Resource Utilization &amp; ways to improve it</a:t>
            </a:r>
            <a:r>
              <a:rPr lang="en-US" sz="2400" kern="0" spc="-80" dirty="0">
                <a:solidFill>
                  <a:schemeClr val="accent6"/>
                </a:solidFill>
              </a:rPr>
              <a:t> – </a:t>
            </a:r>
            <a:r>
              <a:rPr lang="en-US" sz="2400" kern="0" spc="-80" dirty="0" err="1">
                <a:solidFill>
                  <a:schemeClr val="accent6"/>
                </a:solidFill>
              </a:rPr>
              <a:t>Ckecking</a:t>
            </a:r>
            <a:r>
              <a:rPr lang="en-US" sz="2400" kern="0" spc="-80" dirty="0">
                <a:solidFill>
                  <a:schemeClr val="accent6"/>
                </a:solidFill>
              </a:rPr>
              <a:t> if some resource(RAM, </a:t>
            </a:r>
            <a:r>
              <a:rPr lang="en-US" sz="2400" kern="0" spc="-80" dirty="0" err="1">
                <a:solidFill>
                  <a:schemeClr val="accent6"/>
                </a:solidFill>
              </a:rPr>
              <a:t>HardDisk</a:t>
            </a:r>
            <a:r>
              <a:rPr lang="en-US" sz="2400" kern="0" spc="-80" dirty="0">
                <a:solidFill>
                  <a:schemeClr val="accent6"/>
                </a:solidFill>
              </a:rPr>
              <a:t>, CPU or Network) is getting overutilized </a:t>
            </a:r>
            <a:r>
              <a:rPr lang="en-US" sz="2400" kern="0" spc="-80" dirty="0" err="1">
                <a:solidFill>
                  <a:schemeClr val="accent6"/>
                </a:solidFill>
              </a:rPr>
              <a:t>w.r.t.</a:t>
            </a:r>
            <a:r>
              <a:rPr lang="en-US" sz="2400" kern="0" spc="-80" dirty="0">
                <a:solidFill>
                  <a:schemeClr val="accent6"/>
                </a:solidFill>
              </a:rPr>
              <a:t> some metric beyond the threshold limit.</a:t>
            </a:r>
          </a:p>
          <a:p>
            <a:pPr marL="12700" marR="5080"/>
            <a:endParaRPr lang="en-US" sz="2400" kern="0" spc="-80" dirty="0">
              <a:solidFill>
                <a:schemeClr val="accent6"/>
              </a:solidFill>
            </a:endParaRPr>
          </a:p>
          <a:p>
            <a:pPr marL="12700" marR="5080"/>
            <a:r>
              <a:rPr lang="en-US" sz="2400" kern="0" spc="-80" dirty="0">
                <a:solidFill>
                  <a:schemeClr val="accent2"/>
                </a:solidFill>
              </a:rPr>
              <a:t>   RAM Optimization</a:t>
            </a:r>
            <a:r>
              <a:rPr lang="en-US" sz="2400" kern="0" spc="-80" dirty="0">
                <a:solidFill>
                  <a:schemeClr val="accent6"/>
                </a:solidFill>
              </a:rPr>
              <a:t> - </a:t>
            </a:r>
          </a:p>
          <a:p>
            <a:pPr marL="12700" marR="5080"/>
            <a:r>
              <a:rPr lang="en-US" sz="2400" kern="0" spc="-80" dirty="0">
                <a:solidFill>
                  <a:schemeClr val="accent2"/>
                </a:solidFill>
              </a:rPr>
              <a:t>   </a:t>
            </a:r>
            <a:r>
              <a:rPr lang="en-US" sz="2400" kern="0" spc="-80" dirty="0">
                <a:solidFill>
                  <a:schemeClr val="accent6"/>
                </a:solidFill>
              </a:rPr>
              <a:t>1) Garbage Collection Optimization – Refer Garbage Collection slide(s) of Programming Paradigms Training(mainly for memory leaks issues)</a:t>
            </a:r>
          </a:p>
          <a:p>
            <a:pPr marL="12700" marR="5080"/>
            <a:r>
              <a:rPr lang="en-US" sz="2400" kern="0" spc="-80" dirty="0">
                <a:solidFill>
                  <a:schemeClr val="accent6"/>
                </a:solidFill>
              </a:rPr>
              <a:t>   2) Use Chunking &amp; Streaming Techniques if needed(e.g. you face OOM[Out of Memory] Exception)[discussed in next slide]</a:t>
            </a:r>
          </a:p>
          <a:p>
            <a:pPr marL="12700" marR="5080"/>
            <a:r>
              <a:rPr lang="en-US" sz="2400" kern="0" spc="-80" dirty="0">
                <a:solidFill>
                  <a:schemeClr val="accent2"/>
                </a:solidFill>
              </a:rPr>
              <a:t>  </a:t>
            </a:r>
          </a:p>
        </p:txBody>
      </p:sp>
    </p:spTree>
    <p:extLst>
      <p:ext uri="{BB962C8B-B14F-4D97-AF65-F5344CB8AC3E}">
        <p14:creationId xmlns:p14="http://schemas.microsoft.com/office/powerpoint/2010/main" val="42619434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460465952"/>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913787"/>
            <a:ext cx="8624937" cy="447814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Resource Utilization &amp; ways to improve it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RAM Optimization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Chunking and Streaming - </a:t>
            </a:r>
            <a:r>
              <a:rPr lang="en-US" sz="2000" kern="0" spc="-80" dirty="0">
                <a:solidFill>
                  <a:schemeClr val="accent6"/>
                </a:solidFill>
              </a:rPr>
              <a:t>Let’s say you are given below requirements – </a:t>
            </a:r>
          </a:p>
          <a:p>
            <a:pPr marL="12700" marR="5080"/>
            <a:r>
              <a:rPr lang="en-US" sz="2000" kern="0" spc="-80" dirty="0">
                <a:solidFill>
                  <a:schemeClr val="accent6"/>
                </a:solidFill>
              </a:rPr>
              <a:t>Server “A” needing a 1TB file to be processed but having only 1GB RAM</a:t>
            </a:r>
          </a:p>
          <a:p>
            <a:pPr marL="12700" marR="5080"/>
            <a:r>
              <a:rPr lang="en-US" sz="2000" kern="0" spc="-80" dirty="0">
                <a:solidFill>
                  <a:schemeClr val="accent6"/>
                </a:solidFill>
              </a:rPr>
              <a:t>Another server “B” is there with &gt; 1TB </a:t>
            </a:r>
            <a:r>
              <a:rPr lang="en-US" sz="2000" kern="0" spc="-80" dirty="0" err="1">
                <a:solidFill>
                  <a:schemeClr val="accent6"/>
                </a:solidFill>
              </a:rPr>
              <a:t>HardDisk</a:t>
            </a:r>
            <a:r>
              <a:rPr lang="en-US" sz="2000" kern="0" spc="-80" dirty="0">
                <a:solidFill>
                  <a:schemeClr val="accent6"/>
                </a:solidFill>
              </a:rPr>
              <a:t> size</a:t>
            </a:r>
          </a:p>
          <a:p>
            <a:pPr marL="12700" marR="5080"/>
            <a:r>
              <a:rPr lang="en-US" sz="2000" kern="0" spc="-80" dirty="0">
                <a:solidFill>
                  <a:schemeClr val="accent6"/>
                </a:solidFill>
              </a:rPr>
              <a:t>How do you split the 1TB file in Server A into 1K 1GB files &amp; put them in server B using server A as the processing server?</a:t>
            </a:r>
          </a:p>
          <a:p>
            <a:pPr marL="12700" marR="5080"/>
            <a:r>
              <a:rPr lang="en-US" sz="2000" kern="0" spc="-80" dirty="0">
                <a:solidFill>
                  <a:schemeClr val="accent6"/>
                </a:solidFill>
              </a:rPr>
              <a:t>      Hint - </a:t>
            </a:r>
            <a:r>
              <a:rPr lang="en-US" sz="1500" dirty="0" err="1">
                <a:hlinkClick r:id="rId7"/>
              </a:rPr>
              <a:t>c#</a:t>
            </a:r>
            <a:r>
              <a:rPr lang="en-US" sz="1500" dirty="0">
                <a:hlinkClick r:id="rId7"/>
              </a:rPr>
              <a:t> - How to load large files with </a:t>
            </a:r>
            <a:r>
              <a:rPr lang="en-US" sz="1500" dirty="0" err="1">
                <a:hlinkClick r:id="rId7"/>
              </a:rPr>
              <a:t>StreamReader</a:t>
            </a:r>
            <a:r>
              <a:rPr lang="en-US" sz="1500" dirty="0">
                <a:hlinkClick r:id="rId7"/>
              </a:rPr>
              <a:t> in chunks? - Stack Overflow</a:t>
            </a:r>
            <a:endParaRPr lang="en-US" sz="1500" dirty="0"/>
          </a:p>
          <a:p>
            <a:pPr marL="12700" marR="5080"/>
            <a:r>
              <a:rPr lang="en-US" sz="2400" kern="0" spc="-80" dirty="0">
                <a:solidFill>
                  <a:schemeClr val="accent2"/>
                </a:solidFill>
              </a:rPr>
              <a:t>     For Further Exploration – </a:t>
            </a:r>
          </a:p>
          <a:p>
            <a:pPr marL="12700" marR="5080"/>
            <a:r>
              <a:rPr lang="en-US" sz="1600" kern="0" spc="-80" dirty="0">
                <a:solidFill>
                  <a:schemeClr val="accent6"/>
                </a:solidFill>
              </a:rPr>
              <a:t>        </a:t>
            </a:r>
            <a:r>
              <a:rPr lang="en-US" sz="1500" dirty="0">
                <a:hlinkClick r:id="rId8"/>
              </a:rPr>
              <a:t>What is http multipart request? - Stack Overflow</a:t>
            </a:r>
            <a:r>
              <a:rPr lang="en-US" sz="1500" kern="0" spc="-80" dirty="0">
                <a:solidFill>
                  <a:schemeClr val="accent6"/>
                </a:solidFill>
              </a:rPr>
              <a:t> </a:t>
            </a:r>
          </a:p>
          <a:p>
            <a:pPr marL="12700" marR="5080"/>
            <a:r>
              <a:rPr lang="en-US" sz="1500" kern="0" spc="-80" dirty="0">
                <a:solidFill>
                  <a:schemeClr val="accent6"/>
                </a:solidFill>
              </a:rPr>
              <a:t>         </a:t>
            </a:r>
            <a:r>
              <a:rPr lang="en-US" sz="1500" dirty="0" err="1">
                <a:hlinkClick r:id="rId9"/>
              </a:rPr>
              <a:t>c#</a:t>
            </a:r>
            <a:r>
              <a:rPr lang="en-US" sz="1500" dirty="0">
                <a:hlinkClick r:id="rId9"/>
              </a:rPr>
              <a:t> - How do I download a large file (via HTTP) in .NET? - Stack Overflow</a:t>
            </a:r>
            <a:endParaRPr lang="en-US" sz="1500" kern="0" spc="-80" dirty="0">
              <a:solidFill>
                <a:schemeClr val="accent6"/>
              </a:solidFill>
            </a:endParaRPr>
          </a:p>
        </p:txBody>
      </p:sp>
    </p:spTree>
    <p:extLst>
      <p:ext uri="{BB962C8B-B14F-4D97-AF65-F5344CB8AC3E}">
        <p14:creationId xmlns:p14="http://schemas.microsoft.com/office/powerpoint/2010/main" val="242025449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331841198"/>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28600" y="860822"/>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Resource Utilization</a:t>
            </a:r>
            <a:r>
              <a:rPr lang="en-US" sz="2400" kern="0" spc="-80" dirty="0">
                <a:solidFill>
                  <a:schemeClr val="accent6"/>
                </a:solidFill>
              </a:rPr>
              <a:t> </a:t>
            </a:r>
            <a:r>
              <a:rPr lang="en-US" sz="2400" kern="0" spc="-80" dirty="0" err="1">
                <a:solidFill>
                  <a:schemeClr val="accent2"/>
                </a:solidFill>
              </a:rPr>
              <a:t>contd</a:t>
            </a:r>
            <a:r>
              <a:rPr lang="en-US" sz="2400" kern="0" spc="-80" dirty="0">
                <a:solidFill>
                  <a:schemeClr val="accent2"/>
                </a:solidFill>
              </a:rPr>
              <a:t> … –</a:t>
            </a:r>
          </a:p>
          <a:p>
            <a:pPr marL="12700" marR="5080"/>
            <a:r>
              <a:rPr lang="en-US" sz="2400" kern="0" spc="-80" dirty="0">
                <a:solidFill>
                  <a:schemeClr val="accent2"/>
                </a:solidFill>
              </a:rPr>
              <a:t>   CPU Optimization -</a:t>
            </a:r>
            <a:r>
              <a:rPr lang="en-US" sz="2400" kern="0" spc="-80" dirty="0">
                <a:solidFill>
                  <a:schemeClr val="accent6"/>
                </a:solidFill>
              </a:rPr>
              <a:t> </a:t>
            </a:r>
          </a:p>
          <a:p>
            <a:pPr marL="12700" marR="5080"/>
            <a:r>
              <a:rPr lang="en-US" sz="2100" kern="0" spc="-80" dirty="0">
                <a:solidFill>
                  <a:schemeClr val="accent2"/>
                </a:solidFill>
              </a:rPr>
              <a:t>   </a:t>
            </a:r>
            <a:r>
              <a:rPr lang="en-US" sz="2100" kern="0" spc="-80" dirty="0">
                <a:solidFill>
                  <a:schemeClr val="accent6"/>
                </a:solidFill>
              </a:rPr>
              <a:t>  May get </a:t>
            </a:r>
            <a:r>
              <a:rPr lang="en-US" sz="2100" kern="0" spc="-80" dirty="0" err="1">
                <a:solidFill>
                  <a:schemeClr val="accent6"/>
                </a:solidFill>
              </a:rPr>
              <a:t>StackOverFlow</a:t>
            </a:r>
            <a:r>
              <a:rPr lang="en-US" sz="2100" kern="0" spc="-80" dirty="0">
                <a:solidFill>
                  <a:schemeClr val="accent6"/>
                </a:solidFill>
              </a:rPr>
              <a:t> Exception(sometime some irrelevant exception also shows up) if the CPU gets utilized too much. Mainly happens(in continuously running schedulers) due to </a:t>
            </a:r>
            <a:r>
              <a:rPr lang="en-US" sz="2100" kern="0" spc="-80" dirty="0">
                <a:solidFill>
                  <a:schemeClr val="tx2">
                    <a:lumMod val="60000"/>
                    <a:lumOff val="40000"/>
                  </a:schemeClr>
                </a:solidFill>
              </a:rPr>
              <a:t>tight loop issue</a:t>
            </a:r>
            <a:r>
              <a:rPr lang="en-US" sz="2100" kern="0" spc="-80" dirty="0">
                <a:solidFill>
                  <a:schemeClr val="accent6"/>
                </a:solidFill>
              </a:rPr>
              <a:t> wherein the CPU continuously runs the loop &amp; at some point reaches 100% utilization. To fix the issue, introduce a </a:t>
            </a:r>
            <a:r>
              <a:rPr lang="en-US" sz="2100" kern="0" spc="-80" dirty="0" err="1">
                <a:solidFill>
                  <a:schemeClr val="tx2">
                    <a:lumMod val="60000"/>
                    <a:lumOff val="40000"/>
                  </a:schemeClr>
                </a:solidFill>
              </a:rPr>
              <a:t>Thread.Sleep</a:t>
            </a:r>
            <a:r>
              <a:rPr lang="en-US" sz="2100" kern="0" spc="-80" dirty="0">
                <a:solidFill>
                  <a:schemeClr val="tx2">
                    <a:lumMod val="60000"/>
                    <a:lumOff val="40000"/>
                  </a:schemeClr>
                </a:solidFill>
              </a:rPr>
              <a:t>(1)</a:t>
            </a:r>
            <a:r>
              <a:rPr lang="en-US" sz="2100" kern="0" spc="-80" dirty="0">
                <a:solidFill>
                  <a:schemeClr val="accent6"/>
                </a:solidFill>
              </a:rPr>
              <a:t> within the loop at the end, to make the CPU relax for sometime.</a:t>
            </a:r>
          </a:p>
          <a:p>
            <a:pPr marL="12700" marR="5080"/>
            <a:r>
              <a:rPr lang="en-US" sz="2100" kern="0" spc="-80" dirty="0">
                <a:solidFill>
                  <a:schemeClr val="accent6"/>
                </a:solidFill>
              </a:rPr>
              <a:t>    And </a:t>
            </a:r>
            <a:r>
              <a:rPr lang="en-US" sz="2100" kern="0" spc="-80" dirty="0" err="1">
                <a:solidFill>
                  <a:schemeClr val="accent6"/>
                </a:solidFill>
              </a:rPr>
              <a:t>ofcourse</a:t>
            </a:r>
            <a:r>
              <a:rPr lang="en-US" sz="2100" kern="0" spc="-80" dirty="0">
                <a:solidFill>
                  <a:schemeClr val="accent6"/>
                </a:solidFill>
              </a:rPr>
              <a:t> Multi-Core Parallelism can be used to make computations fasters. Also, Multi-Threading techniques can be used to boost CPU Performance.</a:t>
            </a:r>
          </a:p>
          <a:p>
            <a:pPr marL="12700" marR="5080"/>
            <a:r>
              <a:rPr lang="en-US" sz="1500" dirty="0">
                <a:hlinkClick r:id="rId7"/>
              </a:rPr>
              <a:t>EP112: Top CPU Usage Reasons? - </a:t>
            </a:r>
            <a:r>
              <a:rPr lang="en-US" sz="1500" dirty="0" err="1">
                <a:hlinkClick r:id="rId7"/>
              </a:rPr>
              <a:t>ByteByteGo</a:t>
            </a:r>
            <a:r>
              <a:rPr lang="en-US" sz="1500" dirty="0">
                <a:hlinkClick r:id="rId7"/>
              </a:rPr>
              <a:t> Newsletter</a:t>
            </a:r>
            <a:endParaRPr lang="en-US" sz="1500" kern="0" spc="-80" dirty="0">
              <a:solidFill>
                <a:schemeClr val="accent6"/>
              </a:solidFill>
            </a:endParaRPr>
          </a:p>
          <a:p>
            <a:pPr marL="12700" marR="5080"/>
            <a:r>
              <a:rPr lang="en-US" sz="2400" kern="0" spc="-80" dirty="0">
                <a:solidFill>
                  <a:schemeClr val="accent2"/>
                </a:solidFill>
              </a:rPr>
              <a:t>  </a:t>
            </a:r>
          </a:p>
        </p:txBody>
      </p:sp>
    </p:spTree>
    <p:extLst>
      <p:ext uri="{BB962C8B-B14F-4D97-AF65-F5344CB8AC3E}">
        <p14:creationId xmlns:p14="http://schemas.microsoft.com/office/powerpoint/2010/main" val="28180545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268658126"/>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28600" y="990600"/>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200" kern="0" spc="-80" dirty="0">
                <a:solidFill>
                  <a:schemeClr val="accent2"/>
                </a:solidFill>
              </a:rPr>
              <a:t>Performance </a:t>
            </a:r>
            <a:r>
              <a:rPr lang="en-US" sz="2200" kern="0" spc="-80" dirty="0" err="1">
                <a:solidFill>
                  <a:schemeClr val="accent2"/>
                </a:solidFill>
              </a:rPr>
              <a:t>contd</a:t>
            </a:r>
            <a:r>
              <a:rPr lang="en-US" sz="2200" kern="0" spc="-80" dirty="0">
                <a:solidFill>
                  <a:schemeClr val="accent2"/>
                </a:solidFill>
              </a:rPr>
              <a:t> … – </a:t>
            </a:r>
          </a:p>
          <a:p>
            <a:pPr marL="12700" marR="5080"/>
            <a:r>
              <a:rPr lang="en-US" sz="2200" kern="0" spc="-80" dirty="0">
                <a:solidFill>
                  <a:schemeClr val="accent2"/>
                </a:solidFill>
              </a:rPr>
              <a:t> Resource Utilization</a:t>
            </a:r>
            <a:r>
              <a:rPr lang="en-US" sz="2200" kern="0" spc="-80" dirty="0">
                <a:solidFill>
                  <a:schemeClr val="accent6"/>
                </a:solidFill>
              </a:rPr>
              <a:t> </a:t>
            </a:r>
            <a:r>
              <a:rPr lang="en-US" sz="2200" kern="0" spc="-80" dirty="0" err="1">
                <a:solidFill>
                  <a:schemeClr val="accent2"/>
                </a:solidFill>
              </a:rPr>
              <a:t>contd</a:t>
            </a:r>
            <a:r>
              <a:rPr lang="en-US" sz="2200" kern="0" spc="-80" dirty="0">
                <a:solidFill>
                  <a:schemeClr val="accent2"/>
                </a:solidFill>
              </a:rPr>
              <a:t> … –</a:t>
            </a:r>
          </a:p>
          <a:p>
            <a:pPr marL="12700" marR="5080"/>
            <a:r>
              <a:rPr lang="en-US" sz="2200" kern="0" spc="-80" dirty="0">
                <a:solidFill>
                  <a:schemeClr val="accent6"/>
                </a:solidFill>
              </a:rPr>
              <a:t>   </a:t>
            </a:r>
            <a:r>
              <a:rPr lang="en-US" sz="2200" kern="0" spc="-80" dirty="0">
                <a:solidFill>
                  <a:schemeClr val="accent2"/>
                </a:solidFill>
              </a:rPr>
              <a:t>Network &amp; </a:t>
            </a:r>
            <a:r>
              <a:rPr lang="en-US" sz="2200" kern="0" spc="-80" dirty="0" err="1">
                <a:solidFill>
                  <a:schemeClr val="accent2"/>
                </a:solidFill>
              </a:rPr>
              <a:t>HardDisk</a:t>
            </a:r>
            <a:r>
              <a:rPr lang="en-US" sz="2200" kern="0" spc="-80" dirty="0">
                <a:solidFill>
                  <a:schemeClr val="accent2"/>
                </a:solidFill>
              </a:rPr>
              <a:t> (&amp; DB) IO Optimization</a:t>
            </a:r>
            <a:r>
              <a:rPr lang="en-US" sz="2200" kern="0" spc="-80" dirty="0">
                <a:solidFill>
                  <a:schemeClr val="accent6"/>
                </a:solidFill>
              </a:rPr>
              <a:t>- </a:t>
            </a:r>
          </a:p>
          <a:p>
            <a:pPr marL="12700" marR="5080"/>
            <a:r>
              <a:rPr lang="en-US" sz="2200" kern="0" spc="-80" dirty="0">
                <a:solidFill>
                  <a:schemeClr val="accent2"/>
                </a:solidFill>
              </a:rPr>
              <a:t>   </a:t>
            </a:r>
            <a:r>
              <a:rPr lang="en-US" sz="2200" kern="0" spc="-80" dirty="0">
                <a:solidFill>
                  <a:schemeClr val="accent6"/>
                </a:solidFill>
              </a:rPr>
              <a:t>  Use async/await(refer Async/Await slides of Programming Paradigms training)</a:t>
            </a:r>
          </a:p>
          <a:p>
            <a:pPr marL="12700" marR="5080"/>
            <a:r>
              <a:rPr lang="en-US" sz="2200" kern="0" spc="-80" dirty="0">
                <a:solidFill>
                  <a:schemeClr val="accent6"/>
                </a:solidFill>
              </a:rPr>
              <a:t>     Use Bulk Operations/Batch Processing wherever possible</a:t>
            </a:r>
          </a:p>
          <a:p>
            <a:pPr marL="12700" marR="5080"/>
            <a:r>
              <a:rPr lang="en-US" sz="2200" kern="0" spc="-80" dirty="0">
                <a:solidFill>
                  <a:schemeClr val="accent6"/>
                </a:solidFill>
              </a:rPr>
              <a:t>     If possible, use Parallel Async IO</a:t>
            </a:r>
          </a:p>
          <a:p>
            <a:pPr marL="12700" marR="5080"/>
            <a:r>
              <a:rPr lang="en-US" sz="2200" kern="0" spc="-80" dirty="0">
                <a:solidFill>
                  <a:schemeClr val="accent2"/>
                </a:solidFill>
              </a:rPr>
              <a:t>   Other Network &amp; </a:t>
            </a:r>
            <a:r>
              <a:rPr lang="en-US" sz="2200" kern="0" spc="-80" dirty="0" err="1">
                <a:solidFill>
                  <a:schemeClr val="accent2"/>
                </a:solidFill>
              </a:rPr>
              <a:t>HardDisk</a:t>
            </a:r>
            <a:r>
              <a:rPr lang="en-US" sz="2200" kern="0" spc="-80" dirty="0">
                <a:solidFill>
                  <a:schemeClr val="accent2"/>
                </a:solidFill>
              </a:rPr>
              <a:t>(&amp; DB) Optimization – </a:t>
            </a:r>
          </a:p>
          <a:p>
            <a:pPr marL="12700" marR="5080"/>
            <a:r>
              <a:rPr lang="en-US" sz="2200" kern="0" spc="-80" dirty="0">
                <a:solidFill>
                  <a:schemeClr val="accent2"/>
                </a:solidFill>
              </a:rPr>
              <a:t>      </a:t>
            </a:r>
            <a:r>
              <a:rPr lang="en-US" sz="2200" kern="0" spc="-80" dirty="0">
                <a:solidFill>
                  <a:schemeClr val="accent6"/>
                </a:solidFill>
              </a:rPr>
              <a:t>Other Network &amp; </a:t>
            </a:r>
            <a:r>
              <a:rPr lang="en-US" sz="2200" kern="0" spc="-80" dirty="0" err="1">
                <a:solidFill>
                  <a:schemeClr val="accent6"/>
                </a:solidFill>
              </a:rPr>
              <a:t>HardDisk</a:t>
            </a:r>
            <a:r>
              <a:rPr lang="en-US" sz="2200" kern="0" spc="-80" dirty="0">
                <a:solidFill>
                  <a:schemeClr val="accent6"/>
                </a:solidFill>
              </a:rPr>
              <a:t> performance issues(e.g. fragmentation </a:t>
            </a:r>
            <a:r>
              <a:rPr lang="en-US" sz="2200" kern="0" spc="-80" dirty="0" err="1">
                <a:solidFill>
                  <a:schemeClr val="accent6"/>
                </a:solidFill>
              </a:rPr>
              <a:t>etc</a:t>
            </a:r>
            <a:r>
              <a:rPr lang="en-US" sz="2200" kern="0" spc="-80" dirty="0">
                <a:solidFill>
                  <a:schemeClr val="accent6"/>
                </a:solidFill>
              </a:rPr>
              <a:t>) needs to be checked separately. Most of these other issues are concerns of Infra, DBA etc. teams though.</a:t>
            </a:r>
          </a:p>
          <a:p>
            <a:pPr marL="12700" marR="5080"/>
            <a:endParaRPr lang="en-US" sz="2200" kern="0" spc="-80" dirty="0">
              <a:solidFill>
                <a:schemeClr val="accent6"/>
              </a:solidFill>
            </a:endParaRPr>
          </a:p>
          <a:p>
            <a:pPr marL="12700" marR="5080"/>
            <a:r>
              <a:rPr lang="en-US" sz="2400" kern="0" spc="-80" dirty="0">
                <a:solidFill>
                  <a:schemeClr val="accent6"/>
                </a:solidFill>
              </a:rPr>
              <a:t> </a:t>
            </a:r>
          </a:p>
          <a:p>
            <a:pPr marL="12700" marR="5080"/>
            <a:r>
              <a:rPr lang="en-US" sz="2400" kern="0" spc="-80" dirty="0">
                <a:solidFill>
                  <a:schemeClr val="accent2"/>
                </a:solidFill>
              </a:rPr>
              <a:t>  </a:t>
            </a:r>
          </a:p>
        </p:txBody>
      </p:sp>
    </p:spTree>
    <p:extLst>
      <p:ext uri="{BB962C8B-B14F-4D97-AF65-F5344CB8AC3E}">
        <p14:creationId xmlns:p14="http://schemas.microsoft.com/office/powerpoint/2010/main" val="10048052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570721524"/>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913787"/>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Response Time –</a:t>
            </a:r>
            <a:r>
              <a:rPr lang="en-US" sz="2400" kern="0" spc="-80" dirty="0">
                <a:solidFill>
                  <a:schemeClr val="accent6"/>
                </a:solidFill>
              </a:rPr>
              <a:t> Time required to get the response from server since the request has been sent from the client </a:t>
            </a:r>
          </a:p>
          <a:p>
            <a:pPr marL="12700" marR="5080"/>
            <a:r>
              <a:rPr lang="en-US" sz="2400" kern="0" spc="-80" dirty="0">
                <a:solidFill>
                  <a:schemeClr val="accent2"/>
                </a:solidFill>
              </a:rPr>
              <a:t>      Ways to improve Response Time – </a:t>
            </a:r>
          </a:p>
          <a:p>
            <a:pPr marL="12700" marR="5080"/>
            <a:r>
              <a:rPr lang="en-US" sz="2400" kern="0" spc="-80" dirty="0">
                <a:solidFill>
                  <a:schemeClr val="accent2"/>
                </a:solidFill>
              </a:rPr>
              <a:t>       1) SQL Tuning</a:t>
            </a:r>
          </a:p>
          <a:p>
            <a:pPr marL="12700" marR="5080"/>
            <a:r>
              <a:rPr lang="en-US" sz="2400" kern="0" spc="-80" dirty="0">
                <a:solidFill>
                  <a:schemeClr val="accent2"/>
                </a:solidFill>
              </a:rPr>
              <a:t>           </a:t>
            </a:r>
            <a:r>
              <a:rPr lang="en-US" sz="2400" kern="0" spc="-80" dirty="0">
                <a:solidFill>
                  <a:schemeClr val="accent6"/>
                </a:solidFill>
              </a:rPr>
              <a:t>Always return specific columns in Select rather than using *</a:t>
            </a:r>
          </a:p>
          <a:p>
            <a:pPr marL="12700" marR="5080"/>
            <a:r>
              <a:rPr lang="en-US" sz="2400" kern="0" spc="-80" dirty="0">
                <a:solidFill>
                  <a:schemeClr val="accent2"/>
                </a:solidFill>
              </a:rPr>
              <a:t>           </a:t>
            </a:r>
            <a:r>
              <a:rPr lang="en-US" sz="2400" kern="0" spc="-80" dirty="0">
                <a:solidFill>
                  <a:schemeClr val="accent6"/>
                </a:solidFill>
              </a:rPr>
              <a:t>Try to get all relevant results in single shot using proper where clause(if needed use paging)</a:t>
            </a:r>
          </a:p>
          <a:p>
            <a:pPr marL="12700" marR="5080"/>
            <a:r>
              <a:rPr lang="en-US" sz="2400" kern="0" spc="-80" dirty="0">
                <a:solidFill>
                  <a:schemeClr val="accent6"/>
                </a:solidFill>
              </a:rPr>
              <a:t>           Check that proper indexes are applied in where clause and join clause columns.</a:t>
            </a:r>
          </a:p>
          <a:p>
            <a:pPr marL="12700" marR="5080"/>
            <a:r>
              <a:rPr lang="en-US" sz="2400" kern="0" spc="-80" dirty="0">
                <a:solidFill>
                  <a:schemeClr val="accent6"/>
                </a:solidFill>
              </a:rPr>
              <a:t>           Other </a:t>
            </a:r>
            <a:r>
              <a:rPr lang="en-US" sz="2400" kern="0" spc="-80" dirty="0" err="1">
                <a:solidFill>
                  <a:schemeClr val="accent6"/>
                </a:solidFill>
              </a:rPr>
              <a:t>Sql</a:t>
            </a:r>
            <a:r>
              <a:rPr lang="en-US" sz="2400" kern="0" spc="-80" dirty="0">
                <a:solidFill>
                  <a:schemeClr val="accent6"/>
                </a:solidFill>
              </a:rPr>
              <a:t> Tuning Techniques - </a:t>
            </a:r>
            <a:r>
              <a:rPr lang="en-IN" sz="1500" dirty="0">
                <a:hlinkClick r:id="rId7"/>
              </a:rPr>
              <a:t>SQL Performance Tuning - </a:t>
            </a:r>
            <a:r>
              <a:rPr lang="en-IN" sz="1500" dirty="0" err="1">
                <a:hlinkClick r:id="rId7"/>
              </a:rPr>
              <a:t>GeeksforGeeks</a:t>
            </a:r>
            <a:endParaRPr lang="en-US" sz="1500" kern="0" spc="-80" dirty="0">
              <a:solidFill>
                <a:schemeClr val="accent6"/>
              </a:solidFill>
            </a:endParaRPr>
          </a:p>
        </p:txBody>
      </p:sp>
    </p:spTree>
    <p:extLst>
      <p:ext uri="{BB962C8B-B14F-4D97-AF65-F5344CB8AC3E}">
        <p14:creationId xmlns:p14="http://schemas.microsoft.com/office/powerpoint/2010/main" val="340026699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911143182"/>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913787"/>
            <a:ext cx="8624937" cy="44473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Response Time  </a:t>
            </a:r>
            <a:r>
              <a:rPr lang="en-US" sz="2400" kern="0" spc="-80" dirty="0" err="1">
                <a:solidFill>
                  <a:schemeClr val="accent2"/>
                </a:solidFill>
              </a:rPr>
              <a:t>contd</a:t>
            </a:r>
            <a:r>
              <a:rPr lang="en-US" sz="2400" kern="0" spc="-80" dirty="0">
                <a:solidFill>
                  <a:schemeClr val="accent2"/>
                </a:solidFill>
              </a:rPr>
              <a:t> … –</a:t>
            </a:r>
            <a:r>
              <a:rPr lang="en-US" sz="2400" kern="0" spc="-80" dirty="0">
                <a:solidFill>
                  <a:schemeClr val="accent6"/>
                </a:solidFill>
              </a:rPr>
              <a:t> </a:t>
            </a:r>
          </a:p>
          <a:p>
            <a:pPr marL="12700" marR="5080"/>
            <a:r>
              <a:rPr lang="en-US" sz="2400" kern="0" spc="-80" dirty="0">
                <a:solidFill>
                  <a:schemeClr val="accent2"/>
                </a:solidFill>
              </a:rPr>
              <a:t>      Ways to improve Response Time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2) Server Side Tuning - </a:t>
            </a:r>
          </a:p>
          <a:p>
            <a:pPr marL="12700" marR="5080"/>
            <a:r>
              <a:rPr lang="en-US" sz="2400" kern="0" spc="-80" dirty="0">
                <a:solidFill>
                  <a:schemeClr val="accent2"/>
                </a:solidFill>
              </a:rPr>
              <a:t>             a) ORMs(Dapper &amp; EF) Tuning – </a:t>
            </a:r>
          </a:p>
          <a:p>
            <a:pPr marL="12700" marR="5080"/>
            <a:r>
              <a:rPr lang="en-US" sz="2400" kern="0" spc="-80" dirty="0">
                <a:solidFill>
                  <a:schemeClr val="accent2"/>
                </a:solidFill>
              </a:rPr>
              <a:t>           </a:t>
            </a:r>
            <a:r>
              <a:rPr lang="en-US" sz="1800" kern="0" spc="-80" dirty="0">
                <a:solidFill>
                  <a:schemeClr val="accent6"/>
                </a:solidFill>
              </a:rPr>
              <a:t>Dapper being a micro-</a:t>
            </a:r>
            <a:r>
              <a:rPr lang="en-US" sz="1800" kern="0" spc="-80" dirty="0" err="1">
                <a:solidFill>
                  <a:schemeClr val="accent6"/>
                </a:solidFill>
              </a:rPr>
              <a:t>orm</a:t>
            </a:r>
            <a:r>
              <a:rPr lang="en-US" sz="1800" kern="0" spc="-80" dirty="0">
                <a:solidFill>
                  <a:schemeClr val="accent6"/>
                </a:solidFill>
              </a:rPr>
              <a:t> &amp; uses mainly raw </a:t>
            </a:r>
            <a:r>
              <a:rPr lang="en-US" sz="1800" kern="0" spc="-80" dirty="0" err="1">
                <a:solidFill>
                  <a:schemeClr val="accent6"/>
                </a:solidFill>
              </a:rPr>
              <a:t>sql</a:t>
            </a:r>
            <a:r>
              <a:rPr lang="en-US" sz="1800" kern="0" spc="-80" dirty="0">
                <a:solidFill>
                  <a:schemeClr val="accent6"/>
                </a:solidFill>
              </a:rPr>
              <a:t>, nothing much is there to tune within Dapper itself &amp; most of the </a:t>
            </a:r>
            <a:r>
              <a:rPr lang="en-US" sz="1800" kern="0" spc="-80" dirty="0" err="1">
                <a:solidFill>
                  <a:schemeClr val="accent6"/>
                </a:solidFill>
              </a:rPr>
              <a:t>Sql</a:t>
            </a:r>
            <a:r>
              <a:rPr lang="en-US" sz="1800" kern="0" spc="-80" dirty="0">
                <a:solidFill>
                  <a:schemeClr val="accent6"/>
                </a:solidFill>
              </a:rPr>
              <a:t> Tuning techniques should do the trick.</a:t>
            </a:r>
          </a:p>
          <a:p>
            <a:pPr marL="12700" marR="5080"/>
            <a:endParaRPr lang="en-US" sz="1800" kern="0" spc="-80" dirty="0">
              <a:solidFill>
                <a:schemeClr val="accent6"/>
              </a:solidFill>
            </a:endParaRPr>
          </a:p>
          <a:p>
            <a:pPr marL="12700" marR="5080"/>
            <a:r>
              <a:rPr lang="en-US" sz="1800" kern="0" spc="-80" dirty="0">
                <a:solidFill>
                  <a:schemeClr val="accent6"/>
                </a:solidFill>
              </a:rPr>
              <a:t>               For EF Tuning, refer - </a:t>
            </a:r>
          </a:p>
          <a:p>
            <a:pPr marL="12700" marR="5080"/>
            <a:r>
              <a:rPr lang="en-US" sz="2400" kern="0" spc="-80" dirty="0">
                <a:solidFill>
                  <a:schemeClr val="accent2"/>
                </a:solidFill>
              </a:rPr>
              <a:t>             </a:t>
            </a:r>
            <a:r>
              <a:rPr lang="en-IN" sz="1500" dirty="0">
                <a:hlinkClick r:id="rId7"/>
              </a:rPr>
              <a:t>15+ Steps to improve EF Core Performance | LinkedIn</a:t>
            </a:r>
            <a:endParaRPr lang="en-US" sz="1500" kern="0" spc="-80" dirty="0">
              <a:solidFill>
                <a:schemeClr val="accent2"/>
              </a:solidFill>
            </a:endParaRPr>
          </a:p>
          <a:p>
            <a:pPr marL="12700" marR="5080"/>
            <a:r>
              <a:rPr lang="en-US" sz="1600" kern="0" spc="-80" dirty="0">
                <a:solidFill>
                  <a:schemeClr val="accent2"/>
                </a:solidFill>
              </a:rPr>
              <a:t>                 </a:t>
            </a:r>
            <a:r>
              <a:rPr lang="en-US" sz="1800" kern="0" spc="-80" dirty="0">
                <a:solidFill>
                  <a:schemeClr val="accent6"/>
                </a:solidFill>
              </a:rPr>
              <a:t>For ADO.NET refer – </a:t>
            </a:r>
          </a:p>
          <a:p>
            <a:pPr marL="12700" marR="5080"/>
            <a:r>
              <a:rPr lang="en-US" sz="1600" kern="0" spc="-80" dirty="0">
                <a:solidFill>
                  <a:schemeClr val="accent2"/>
                </a:solidFill>
              </a:rPr>
              <a:t>                    </a:t>
            </a:r>
            <a:r>
              <a:rPr lang="en-US" sz="1500" dirty="0" err="1">
                <a:hlinkClick r:id="rId8"/>
              </a:rPr>
              <a:t>.net</a:t>
            </a:r>
            <a:r>
              <a:rPr lang="en-US" sz="1500" dirty="0">
                <a:hlinkClick r:id="rId8"/>
              </a:rPr>
              <a:t> - C# - What are Some High Performance Best Practices/Tips for ADO.NET - Stack Overflow</a:t>
            </a:r>
            <a:endParaRPr lang="en-US" sz="1500" kern="0" spc="-80" dirty="0">
              <a:solidFill>
                <a:schemeClr val="accent6"/>
              </a:solidFill>
            </a:endParaRPr>
          </a:p>
        </p:txBody>
      </p:sp>
    </p:spTree>
    <p:extLst>
      <p:ext uri="{BB962C8B-B14F-4D97-AF65-F5344CB8AC3E}">
        <p14:creationId xmlns:p14="http://schemas.microsoft.com/office/powerpoint/2010/main" val="332388560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804175520"/>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913787"/>
            <a:ext cx="8624937" cy="50321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Response Time  </a:t>
            </a:r>
            <a:r>
              <a:rPr lang="en-US" sz="2400" kern="0" spc="-80" dirty="0" err="1">
                <a:solidFill>
                  <a:schemeClr val="accent2"/>
                </a:solidFill>
              </a:rPr>
              <a:t>contd</a:t>
            </a:r>
            <a:r>
              <a:rPr lang="en-US" sz="2400" kern="0" spc="-80" dirty="0">
                <a:solidFill>
                  <a:schemeClr val="accent2"/>
                </a:solidFill>
              </a:rPr>
              <a:t> … –</a:t>
            </a:r>
            <a:r>
              <a:rPr lang="en-US" sz="2400" kern="0" spc="-80" dirty="0">
                <a:solidFill>
                  <a:schemeClr val="accent6"/>
                </a:solidFill>
              </a:rPr>
              <a:t> </a:t>
            </a:r>
          </a:p>
          <a:p>
            <a:pPr marL="12700" marR="5080"/>
            <a:r>
              <a:rPr lang="en-US" sz="2400" kern="0" spc="-80" dirty="0">
                <a:solidFill>
                  <a:schemeClr val="accent2"/>
                </a:solidFill>
              </a:rPr>
              <a:t>      Ways to improve Response Time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2) Server Side Tuning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b) Caching – </a:t>
            </a:r>
          </a:p>
          <a:p>
            <a:pPr marL="12700" marR="5080"/>
            <a:r>
              <a:rPr lang="en-US" sz="2400" kern="0" spc="-80" dirty="0">
                <a:solidFill>
                  <a:schemeClr val="accent2"/>
                </a:solidFill>
              </a:rPr>
              <a:t>                </a:t>
            </a:r>
            <a:r>
              <a:rPr lang="en-US" sz="2400" kern="0" spc="-80" dirty="0">
                <a:solidFill>
                  <a:schemeClr val="accent6"/>
                </a:solidFill>
              </a:rPr>
              <a:t>Small one time write &amp; multiple read based application data can be cached in-memory but validate that it doesn’t throw OOM Exception.</a:t>
            </a:r>
          </a:p>
          <a:p>
            <a:pPr marL="12700" marR="5080"/>
            <a:r>
              <a:rPr lang="en-US" sz="2400" kern="0" spc="-80" dirty="0">
                <a:solidFill>
                  <a:schemeClr val="accent2"/>
                </a:solidFill>
              </a:rPr>
              <a:t>                </a:t>
            </a:r>
            <a:r>
              <a:rPr lang="en-US" sz="2400" kern="0" spc="-80" dirty="0">
                <a:solidFill>
                  <a:schemeClr val="accent6"/>
                </a:solidFill>
              </a:rPr>
              <a:t>Large Application data, Session data &amp; rarely-changing data can be cached using some Distributed Cache (Refer - </a:t>
            </a:r>
            <a:r>
              <a:rPr lang="en-US" sz="1500" dirty="0">
                <a:hlinkClick r:id="rId7"/>
              </a:rPr>
              <a:t>Redis OSS vs. Memcached - Difference Between In-Memory Data Stores – AWS</a:t>
            </a:r>
            <a:r>
              <a:rPr lang="en-US" sz="1500" dirty="0"/>
              <a:t>, </a:t>
            </a:r>
            <a:r>
              <a:rPr lang="en-US" sz="1500" dirty="0">
                <a:hlinkClick r:id="rId8"/>
              </a:rPr>
              <a:t>Choosing your node size - Amazon </a:t>
            </a:r>
            <a:r>
              <a:rPr lang="en-US" sz="1500" dirty="0" err="1">
                <a:hlinkClick r:id="rId8"/>
              </a:rPr>
              <a:t>ElastiCache</a:t>
            </a:r>
            <a:r>
              <a:rPr lang="en-US" sz="1500" dirty="0"/>
              <a:t> &amp; </a:t>
            </a:r>
            <a:r>
              <a:rPr lang="en-US" sz="1500" dirty="0">
                <a:hlinkClick r:id="rId9"/>
              </a:rPr>
              <a:t>Why </a:t>
            </a:r>
            <a:r>
              <a:rPr lang="en-US" sz="1500" dirty="0" err="1">
                <a:hlinkClick r:id="rId9"/>
              </a:rPr>
              <a:t>redis</a:t>
            </a:r>
            <a:r>
              <a:rPr lang="en-US" sz="1500" dirty="0">
                <a:hlinkClick r:id="rId9"/>
              </a:rPr>
              <a:t> cluster only have 16384 slots? - Stack Overflow</a:t>
            </a:r>
            <a:r>
              <a:rPr lang="en-US" sz="1500" kern="0" spc="-80" dirty="0">
                <a:solidFill>
                  <a:schemeClr val="accent2"/>
                </a:solidFill>
              </a:rPr>
              <a:t> </a:t>
            </a:r>
            <a:r>
              <a:rPr lang="en-US" sz="2400" kern="0" spc="-80" dirty="0">
                <a:solidFill>
                  <a:schemeClr val="accent6"/>
                </a:solidFill>
              </a:rPr>
              <a:t>for further exploration)</a:t>
            </a:r>
          </a:p>
          <a:p>
            <a:pPr marL="12700" marR="5080"/>
            <a:r>
              <a:rPr lang="en-US" sz="2400" kern="0" spc="-80" dirty="0">
                <a:solidFill>
                  <a:schemeClr val="accent2"/>
                </a:solidFill>
              </a:rPr>
              <a:t>           </a:t>
            </a:r>
            <a:endParaRPr lang="en-US" sz="2000" kern="0" spc="-80" dirty="0">
              <a:solidFill>
                <a:schemeClr val="accent6"/>
              </a:solidFill>
            </a:endParaRPr>
          </a:p>
        </p:txBody>
      </p:sp>
    </p:spTree>
    <p:extLst>
      <p:ext uri="{BB962C8B-B14F-4D97-AF65-F5344CB8AC3E}">
        <p14:creationId xmlns:p14="http://schemas.microsoft.com/office/powerpoint/2010/main" val="72683374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939089860"/>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913787"/>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Response Time  </a:t>
            </a:r>
            <a:r>
              <a:rPr lang="en-US" sz="2400" kern="0" spc="-80" dirty="0" err="1">
                <a:solidFill>
                  <a:schemeClr val="accent2"/>
                </a:solidFill>
              </a:rPr>
              <a:t>contd</a:t>
            </a:r>
            <a:r>
              <a:rPr lang="en-US" sz="2400" kern="0" spc="-80" dirty="0">
                <a:solidFill>
                  <a:schemeClr val="accent2"/>
                </a:solidFill>
              </a:rPr>
              <a:t> … –</a:t>
            </a:r>
            <a:r>
              <a:rPr lang="en-US" sz="2400" kern="0" spc="-80" dirty="0">
                <a:solidFill>
                  <a:schemeClr val="accent6"/>
                </a:solidFill>
              </a:rPr>
              <a:t> </a:t>
            </a:r>
          </a:p>
          <a:p>
            <a:pPr marL="12700" marR="5080"/>
            <a:r>
              <a:rPr lang="en-US" sz="2400" kern="0" spc="-80" dirty="0">
                <a:solidFill>
                  <a:schemeClr val="accent2"/>
                </a:solidFill>
              </a:rPr>
              <a:t>      Ways to improve Response Time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2) Server Side Tuning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b) Caching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a:t>
            </a:r>
            <a:r>
              <a:rPr lang="en-US" sz="2400" kern="0" spc="-80" dirty="0">
                <a:solidFill>
                  <a:schemeClr val="accent6"/>
                </a:solidFill>
              </a:rPr>
              <a:t>Caching Types –</a:t>
            </a:r>
          </a:p>
          <a:p>
            <a:pPr marL="12700" marR="5080"/>
            <a:r>
              <a:rPr lang="en-US" sz="2400" kern="0" spc="-80" dirty="0">
                <a:solidFill>
                  <a:schemeClr val="accent6"/>
                </a:solidFill>
              </a:rPr>
              <a:t>                  </a:t>
            </a:r>
            <a:r>
              <a:rPr lang="en-IN" sz="1400" dirty="0">
                <a:hlinkClick r:id="rId7"/>
              </a:rPr>
              <a:t>Types of Cache – </a:t>
            </a:r>
            <a:r>
              <a:rPr lang="en-IN" sz="1400" dirty="0" err="1">
                <a:hlinkClick r:id="rId7"/>
              </a:rPr>
              <a:t>GeeksforGeeks</a:t>
            </a:r>
            <a:endParaRPr lang="en-IN" sz="1400" dirty="0"/>
          </a:p>
          <a:p>
            <a:pPr marL="12700" marR="5080"/>
            <a:r>
              <a:rPr lang="en-US" sz="2400" kern="0" spc="-80" dirty="0">
                <a:solidFill>
                  <a:schemeClr val="accent2"/>
                </a:solidFill>
              </a:rPr>
              <a:t>                </a:t>
            </a:r>
            <a:r>
              <a:rPr lang="en-US" sz="2400" kern="0" spc="-80" dirty="0">
                <a:solidFill>
                  <a:schemeClr val="accent6"/>
                </a:solidFill>
              </a:rPr>
              <a:t> Caching Strategies –</a:t>
            </a:r>
          </a:p>
          <a:p>
            <a:pPr marL="12700" marR="5080"/>
            <a:r>
              <a:rPr lang="en-US" sz="2000" kern="0" spc="-80" dirty="0">
                <a:solidFill>
                  <a:schemeClr val="accent6"/>
                </a:solidFill>
              </a:rPr>
              <a:t>                      </a:t>
            </a:r>
            <a:r>
              <a:rPr lang="en-US" sz="1500" dirty="0">
                <a:hlinkClick r:id="rId8"/>
              </a:rPr>
              <a:t>Top caching strategies - by Alex Xu - </a:t>
            </a:r>
            <a:r>
              <a:rPr lang="en-US" sz="1500" dirty="0" err="1">
                <a:hlinkClick r:id="rId8"/>
              </a:rPr>
              <a:t>ByteByteGo</a:t>
            </a:r>
            <a:r>
              <a:rPr lang="en-US" sz="1500" dirty="0">
                <a:hlinkClick r:id="rId8"/>
              </a:rPr>
              <a:t> Newsletter</a:t>
            </a:r>
            <a:endParaRPr lang="en-US" sz="1500" dirty="0"/>
          </a:p>
          <a:p>
            <a:pPr marL="12700" marR="5080"/>
            <a:r>
              <a:rPr lang="en-US" sz="1500" kern="0" spc="-80" dirty="0">
                <a:solidFill>
                  <a:schemeClr val="accent6"/>
                </a:solidFill>
              </a:rPr>
              <a:t>                               </a:t>
            </a:r>
            <a:r>
              <a:rPr lang="en-IN" sz="1500" dirty="0">
                <a:hlinkClick r:id="rId9"/>
              </a:rPr>
              <a:t>Cache Strategies | Medium</a:t>
            </a:r>
            <a:endParaRPr lang="en-IN" sz="1500" dirty="0"/>
          </a:p>
          <a:p>
            <a:pPr marL="12700" marR="5080"/>
            <a:r>
              <a:rPr lang="en-US" sz="2400" kern="0" spc="-80" dirty="0">
                <a:solidFill>
                  <a:schemeClr val="accent6"/>
                </a:solidFill>
              </a:rPr>
              <a:t>                 Caching Eviction Strategies –</a:t>
            </a:r>
          </a:p>
          <a:p>
            <a:pPr marL="12700" marR="5080"/>
            <a:r>
              <a:rPr lang="en-US" sz="1500" kern="0" spc="-80" dirty="0">
                <a:solidFill>
                  <a:schemeClr val="accent6"/>
                </a:solidFill>
              </a:rPr>
              <a:t>                               </a:t>
            </a:r>
            <a:r>
              <a:rPr lang="en-IN" sz="1500" dirty="0">
                <a:hlinkClick r:id="rId10"/>
              </a:rPr>
              <a:t>Cache replacement policies – Wikipedia</a:t>
            </a:r>
            <a:endParaRPr lang="en-IN" sz="1500" dirty="0"/>
          </a:p>
          <a:p>
            <a:pPr marL="12700" marR="5080"/>
            <a:r>
              <a:rPr lang="en-IN" sz="1500" kern="0" spc="-80" dirty="0">
                <a:solidFill>
                  <a:schemeClr val="accent6"/>
                </a:solidFill>
              </a:rPr>
              <a:t>     </a:t>
            </a:r>
            <a:r>
              <a:rPr lang="en-US" sz="1500" kern="0" spc="-80" dirty="0">
                <a:solidFill>
                  <a:schemeClr val="accent2"/>
                </a:solidFill>
              </a:rPr>
              <a:t>For Further Exploration-</a:t>
            </a:r>
          </a:p>
          <a:p>
            <a:pPr marL="12700" marR="5080"/>
            <a:r>
              <a:rPr lang="en-US" sz="1500" kern="0" spc="-80" dirty="0">
                <a:solidFill>
                  <a:schemeClr val="accent6"/>
                </a:solidFill>
              </a:rPr>
              <a:t>     </a:t>
            </a:r>
            <a:r>
              <a:rPr lang="en-US" sz="1300" dirty="0">
                <a:hlinkClick r:id="rId11"/>
              </a:rPr>
              <a:t>Optimizing Distributed Cache for Read-Heavy vs. Write-Heavy Workloads with Docker</a:t>
            </a:r>
            <a:endParaRPr lang="en-US" sz="1300" dirty="0"/>
          </a:p>
          <a:p>
            <a:pPr marL="12700" marR="5080"/>
            <a:r>
              <a:rPr lang="en-US" sz="1300" kern="0" spc="-80" dirty="0">
                <a:solidFill>
                  <a:schemeClr val="accent2"/>
                </a:solidFill>
              </a:rPr>
              <a:t>      </a:t>
            </a:r>
            <a:r>
              <a:rPr lang="en-US" sz="1300" dirty="0" err="1">
                <a:hlinkClick r:id="rId12"/>
              </a:rPr>
              <a:t>HybridCache</a:t>
            </a:r>
            <a:r>
              <a:rPr lang="en-US" sz="1300" dirty="0">
                <a:hlinkClick r:id="rId12"/>
              </a:rPr>
              <a:t> in ASP.NET Core - New Caching Library</a:t>
            </a:r>
            <a:endParaRPr lang="en-US" sz="1300" kern="0" spc="-80" dirty="0">
              <a:solidFill>
                <a:schemeClr val="accent2"/>
              </a:solidFill>
            </a:endParaRPr>
          </a:p>
        </p:txBody>
      </p:sp>
    </p:spTree>
    <p:extLst>
      <p:ext uri="{BB962C8B-B14F-4D97-AF65-F5344CB8AC3E}">
        <p14:creationId xmlns:p14="http://schemas.microsoft.com/office/powerpoint/2010/main" val="294663335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0FEB2-E31F-4103-0114-49C730284D3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A5C2A87-2CFE-A082-9D90-0ABCF4E11F65}"/>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8CA0493-9103-2EEC-F598-8B72CEB7DB99}"/>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D2D5D5C-8B5E-0AE6-2548-536CF4F22649}"/>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FA04EF6-0F4E-8E18-81CA-33E8F6AAB161}"/>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779DDBD-88BB-7C64-6A72-F107A4CC9E1D}"/>
              </a:ext>
            </a:extLst>
          </p:cNvPr>
          <p:cNvSpPr txBox="1">
            <a:spLocks/>
          </p:cNvSpPr>
          <p:nvPr/>
        </p:nvSpPr>
        <p:spPr>
          <a:xfrm>
            <a:off x="304800" y="913787"/>
            <a:ext cx="8624937" cy="47859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Response Time  </a:t>
            </a:r>
            <a:r>
              <a:rPr lang="en-US" sz="2400" kern="0" spc="-80" dirty="0" err="1">
                <a:solidFill>
                  <a:schemeClr val="accent2"/>
                </a:solidFill>
              </a:rPr>
              <a:t>contd</a:t>
            </a:r>
            <a:r>
              <a:rPr lang="en-US" sz="2400" kern="0" spc="-80" dirty="0">
                <a:solidFill>
                  <a:schemeClr val="accent2"/>
                </a:solidFill>
              </a:rPr>
              <a:t> … –</a:t>
            </a:r>
            <a:r>
              <a:rPr lang="en-US" sz="2400" kern="0" spc="-80" dirty="0">
                <a:solidFill>
                  <a:schemeClr val="accent6"/>
                </a:solidFill>
              </a:rPr>
              <a:t> </a:t>
            </a:r>
          </a:p>
          <a:p>
            <a:pPr marL="12700" marR="5080"/>
            <a:r>
              <a:rPr lang="en-US" sz="2400" kern="0" spc="-80" dirty="0">
                <a:solidFill>
                  <a:schemeClr val="accent2"/>
                </a:solidFill>
              </a:rPr>
              <a:t>      Ways to improve Response Time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2) Server Side Tuning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c) Concurrency Handling– </a:t>
            </a:r>
          </a:p>
          <a:p>
            <a:pPr algn="l" fontAlgn="base"/>
            <a:r>
              <a:rPr lang="en-US" sz="2400" kern="0" spc="-80" dirty="0">
                <a:solidFill>
                  <a:schemeClr val="accent2"/>
                </a:solidFill>
              </a:rPr>
              <a:t>            </a:t>
            </a:r>
            <a:r>
              <a:rPr lang="en-US" sz="2000" kern="0" spc="-80" dirty="0">
                <a:solidFill>
                  <a:schemeClr val="accent2"/>
                </a:solidFill>
              </a:rPr>
              <a:t> </a:t>
            </a:r>
            <a:r>
              <a:rPr lang="en-US" sz="2000" kern="0" spc="-80" dirty="0">
                <a:solidFill>
                  <a:schemeClr val="accent6"/>
                </a:solidFill>
              </a:rPr>
              <a:t>If multiple requests do (read +) write(update/insert) the same record in some table in the DB, then concurrency issues as mentioned in </a:t>
            </a:r>
            <a:r>
              <a:rPr lang="en-US" sz="1500" dirty="0">
                <a:hlinkClick r:id="rId7"/>
              </a:rPr>
              <a:t>6 ways of doing locking in .NET (Pessimistic and optimistic)- </a:t>
            </a:r>
            <a:r>
              <a:rPr lang="en-US" sz="1500" dirty="0" err="1">
                <a:hlinkClick r:id="rId7"/>
              </a:rPr>
              <a:t>CodeProject</a:t>
            </a:r>
            <a:r>
              <a:rPr lang="en-US" sz="2000" kern="0" spc="-80" dirty="0">
                <a:solidFill>
                  <a:schemeClr val="accent6"/>
                </a:solidFill>
              </a:rPr>
              <a:t>  can happen. In general, solution to such problems is to use Optimistic or Pessimistic Concurrency handling techniques as per requirements(which are discussed in next 2 slides).Another technique can be to put the requests into some queue/buffer &amp; then process them sequentially(if possible in bulk to improve performance).</a:t>
            </a:r>
          </a:p>
          <a:p>
            <a:pPr algn="l" fontAlgn="base"/>
            <a:endParaRPr lang="en-US" sz="1500" kern="0" spc="-80" dirty="0">
              <a:solidFill>
                <a:schemeClr val="accent6"/>
              </a:solidFill>
            </a:endParaRPr>
          </a:p>
          <a:p>
            <a:pPr algn="l" fontAlgn="base"/>
            <a:r>
              <a:rPr lang="en-US" sz="1200" kern="0" spc="-80" dirty="0">
                <a:solidFill>
                  <a:schemeClr val="accent6"/>
                </a:solidFill>
              </a:rPr>
              <a:t>                 </a:t>
            </a:r>
          </a:p>
        </p:txBody>
      </p:sp>
    </p:spTree>
    <p:extLst>
      <p:ext uri="{BB962C8B-B14F-4D97-AF65-F5344CB8AC3E}">
        <p14:creationId xmlns:p14="http://schemas.microsoft.com/office/powerpoint/2010/main" val="248053993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89721504"/>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913787"/>
            <a:ext cx="8624937" cy="50629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Response Time  </a:t>
            </a:r>
            <a:r>
              <a:rPr lang="en-US" sz="2400" kern="0" spc="-80" dirty="0" err="1">
                <a:solidFill>
                  <a:schemeClr val="accent2"/>
                </a:solidFill>
              </a:rPr>
              <a:t>contd</a:t>
            </a:r>
            <a:r>
              <a:rPr lang="en-US" sz="2400" kern="0" spc="-80" dirty="0">
                <a:solidFill>
                  <a:schemeClr val="accent2"/>
                </a:solidFill>
              </a:rPr>
              <a:t> … –</a:t>
            </a:r>
            <a:r>
              <a:rPr lang="en-US" sz="2400" kern="0" spc="-80" dirty="0">
                <a:solidFill>
                  <a:schemeClr val="accent6"/>
                </a:solidFill>
              </a:rPr>
              <a:t> </a:t>
            </a:r>
          </a:p>
          <a:p>
            <a:pPr marL="12700" marR="5080"/>
            <a:r>
              <a:rPr lang="en-US" sz="2400" kern="0" spc="-80" dirty="0">
                <a:solidFill>
                  <a:schemeClr val="accent2"/>
                </a:solidFill>
              </a:rPr>
              <a:t>      Ways to improve Response Time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2) Server Side Tuning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c) Concurrency Handling(</a:t>
            </a:r>
            <a:r>
              <a:rPr lang="en-US" sz="2400" kern="0" spc="-80" dirty="0" err="1">
                <a:solidFill>
                  <a:schemeClr val="accent2"/>
                </a:solidFill>
              </a:rPr>
              <a:t>contd</a:t>
            </a:r>
            <a:r>
              <a:rPr lang="en-US" sz="2400" kern="0" spc="-80" dirty="0">
                <a:solidFill>
                  <a:schemeClr val="accent2"/>
                </a:solidFill>
              </a:rPr>
              <a:t>…) –</a:t>
            </a:r>
          </a:p>
          <a:p>
            <a:pPr algn="l" fontAlgn="base"/>
            <a:r>
              <a:rPr lang="en-US" sz="2000" kern="0" spc="-80" dirty="0">
                <a:solidFill>
                  <a:schemeClr val="accent2"/>
                </a:solidFill>
              </a:rPr>
              <a:t>                </a:t>
            </a:r>
            <a:r>
              <a:rPr lang="en-US" sz="2000" kern="0" spc="-80" dirty="0">
                <a:solidFill>
                  <a:schemeClr val="accent6"/>
                </a:solidFill>
              </a:rPr>
              <a:t> </a:t>
            </a:r>
            <a:r>
              <a:rPr lang="en-US" sz="2000" kern="0" spc="-80" dirty="0">
                <a:solidFill>
                  <a:schemeClr val="accent2"/>
                </a:solidFill>
              </a:rPr>
              <a:t>Optimistic Locking</a:t>
            </a:r>
            <a:r>
              <a:rPr lang="en-US" sz="2400" kern="0" spc="-80" dirty="0">
                <a:solidFill>
                  <a:schemeClr val="accent2"/>
                </a:solidFill>
              </a:rPr>
              <a:t> </a:t>
            </a:r>
            <a:r>
              <a:rPr lang="en-US" sz="2000" kern="0" spc="-80" dirty="0">
                <a:solidFill>
                  <a:schemeClr val="accent6"/>
                </a:solidFill>
              </a:rPr>
              <a:t>– </a:t>
            </a:r>
            <a:r>
              <a:rPr lang="en-US" sz="1500" kern="0" spc="-80" dirty="0">
                <a:solidFill>
                  <a:schemeClr val="accent6"/>
                </a:solidFill>
              </a:rPr>
              <a:t>a strategy where you read a record, take note of a version number (other methods to do this involve dates, timestamps or checksums/hashes) and check that the version hasn't changed before you write the record back. When you write the record back you filter the update on the version to make sure it's atomic. (i.e. hasn't been updated between when you check the version and write the record to the disk) and update the version in one </a:t>
            </a:r>
            <a:r>
              <a:rPr lang="en-US" sz="1500" kern="0" spc="-80" dirty="0" err="1">
                <a:solidFill>
                  <a:schemeClr val="accent6"/>
                </a:solidFill>
              </a:rPr>
              <a:t>hit.If</a:t>
            </a:r>
            <a:r>
              <a:rPr lang="en-US" sz="1500" kern="0" spc="-80" dirty="0">
                <a:solidFill>
                  <a:schemeClr val="accent6"/>
                </a:solidFill>
              </a:rPr>
              <a:t> the record is dirty (i.e. different version to yours) you abort the transaction and the user can re-start it.</a:t>
            </a:r>
          </a:p>
          <a:p>
            <a:pPr algn="l" fontAlgn="base"/>
            <a:r>
              <a:rPr lang="en-US" sz="1500" kern="0" spc="-80" dirty="0">
                <a:solidFill>
                  <a:schemeClr val="accent6"/>
                </a:solidFill>
              </a:rPr>
              <a:t>                       In general, we use the number of records fetched(as part of the [read +] write query e.g. checking max(</a:t>
            </a:r>
            <a:r>
              <a:rPr lang="en-US" sz="1500" kern="0" spc="-80" dirty="0" err="1">
                <a:solidFill>
                  <a:schemeClr val="accent6"/>
                </a:solidFill>
              </a:rPr>
              <a:t>VersionNumber</a:t>
            </a:r>
            <a:r>
              <a:rPr lang="en-US" sz="1500" kern="0" spc="-80" dirty="0">
                <a:solidFill>
                  <a:schemeClr val="accent6"/>
                </a:solidFill>
              </a:rPr>
              <a:t>) = current Version Number) or we check some exception raised or not(e.g. applying Retry + unique key constraint on [read +] write query) </a:t>
            </a:r>
          </a:p>
          <a:p>
            <a:pPr algn="l" fontAlgn="base"/>
            <a:r>
              <a:rPr lang="en-US" sz="1500" kern="0" spc="-80" dirty="0">
                <a:solidFill>
                  <a:schemeClr val="accent6"/>
                </a:solidFill>
              </a:rPr>
              <a:t>                        Versioning is the best approach since timestamp based approaches can have Server clock synchronization issues.</a:t>
            </a:r>
          </a:p>
          <a:p>
            <a:pPr algn="l" fontAlgn="base"/>
            <a:r>
              <a:rPr lang="en-US" sz="2000" kern="0" spc="-80" dirty="0">
                <a:solidFill>
                  <a:schemeClr val="accent6"/>
                </a:solidFill>
              </a:rPr>
              <a:t>   </a:t>
            </a:r>
          </a:p>
        </p:txBody>
      </p:sp>
    </p:spTree>
    <p:extLst>
      <p:ext uri="{BB962C8B-B14F-4D97-AF65-F5344CB8AC3E}">
        <p14:creationId xmlns:p14="http://schemas.microsoft.com/office/powerpoint/2010/main" val="29074352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163086495"/>
              </p:ext>
            </p:extLst>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913787"/>
            <a:ext cx="8624937" cy="56630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Response Time  </a:t>
            </a:r>
            <a:r>
              <a:rPr lang="en-US" sz="2400" kern="0" spc="-80" dirty="0" err="1">
                <a:solidFill>
                  <a:schemeClr val="accent2"/>
                </a:solidFill>
              </a:rPr>
              <a:t>contd</a:t>
            </a:r>
            <a:r>
              <a:rPr lang="en-US" sz="2400" kern="0" spc="-80" dirty="0">
                <a:solidFill>
                  <a:schemeClr val="accent2"/>
                </a:solidFill>
              </a:rPr>
              <a:t> … –</a:t>
            </a:r>
            <a:r>
              <a:rPr lang="en-US" sz="2400" kern="0" spc="-80" dirty="0">
                <a:solidFill>
                  <a:schemeClr val="accent6"/>
                </a:solidFill>
              </a:rPr>
              <a:t> </a:t>
            </a:r>
          </a:p>
          <a:p>
            <a:pPr marL="12700" marR="5080"/>
            <a:r>
              <a:rPr lang="en-US" sz="2400" kern="0" spc="-80" dirty="0">
                <a:solidFill>
                  <a:schemeClr val="accent2"/>
                </a:solidFill>
              </a:rPr>
              <a:t>      Ways to improve Response Time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2) Server Side Tuning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c) Concurrency Handling(</a:t>
            </a:r>
            <a:r>
              <a:rPr lang="en-US" sz="2400" kern="0" spc="-80" dirty="0" err="1">
                <a:solidFill>
                  <a:schemeClr val="accent2"/>
                </a:solidFill>
              </a:rPr>
              <a:t>contd</a:t>
            </a:r>
            <a:r>
              <a:rPr lang="en-US" sz="2400" kern="0" spc="-80" dirty="0">
                <a:solidFill>
                  <a:schemeClr val="accent2"/>
                </a:solidFill>
              </a:rPr>
              <a:t> …) – </a:t>
            </a:r>
          </a:p>
          <a:p>
            <a:pPr algn="l" fontAlgn="base"/>
            <a:r>
              <a:rPr lang="en-US" sz="2400" kern="0" spc="-80" dirty="0">
                <a:solidFill>
                  <a:schemeClr val="accent2"/>
                </a:solidFill>
              </a:rPr>
              <a:t>         </a:t>
            </a:r>
            <a:r>
              <a:rPr lang="en-US" sz="2000" kern="0" spc="-80" dirty="0">
                <a:solidFill>
                  <a:schemeClr val="accent2"/>
                </a:solidFill>
              </a:rPr>
              <a:t>       </a:t>
            </a:r>
            <a:r>
              <a:rPr lang="en-US" sz="2000" kern="0" spc="-80" dirty="0">
                <a:solidFill>
                  <a:schemeClr val="accent6"/>
                </a:solidFill>
              </a:rPr>
              <a:t> </a:t>
            </a:r>
            <a:r>
              <a:rPr lang="en-US" sz="2000" kern="0" spc="-80" dirty="0">
                <a:solidFill>
                  <a:schemeClr val="accent2"/>
                </a:solidFill>
              </a:rPr>
              <a:t>Pessimistic Locking </a:t>
            </a:r>
            <a:r>
              <a:rPr lang="en-US" sz="2000" kern="0" spc="-80" dirty="0">
                <a:solidFill>
                  <a:schemeClr val="accent6"/>
                </a:solidFill>
              </a:rPr>
              <a:t>– </a:t>
            </a:r>
            <a:r>
              <a:rPr lang="en-US" sz="1800" kern="0" spc="-80" dirty="0">
                <a:solidFill>
                  <a:schemeClr val="accent6"/>
                </a:solidFill>
              </a:rPr>
              <a:t>when you lock the record for your exclusive use until you have finished with it. It has much better integrity than optimistic locking but requires you to be careful with your application design to avoid </a:t>
            </a:r>
            <a:r>
              <a:rPr lang="en-US" sz="1800" kern="0" spc="-80" dirty="0" err="1">
                <a:solidFill>
                  <a:schemeClr val="accent6"/>
                </a:solidFill>
              </a:rPr>
              <a:t>DeadLocks</a:t>
            </a:r>
            <a:r>
              <a:rPr lang="en-US" sz="1800" kern="0" spc="-80" dirty="0">
                <a:solidFill>
                  <a:schemeClr val="accent6"/>
                </a:solidFill>
              </a:rPr>
              <a:t>. To use pessimistic locking you need either a direct connection to the database (as would typically be the case in a </a:t>
            </a:r>
            <a:r>
              <a:rPr lang="en-US" sz="1800" kern="0" spc="-80" dirty="0">
                <a:solidFill>
                  <a:schemeClr val="accent6"/>
                </a:solidFill>
                <a:hlinkClick r:id="rId7">
                  <a:extLst>
                    <a:ext uri="{A12FA001-AC4F-418D-AE19-62706E023703}">
                      <ahyp:hlinkClr xmlns:ahyp="http://schemas.microsoft.com/office/drawing/2018/hyperlinkcolor" val="tx"/>
                    </a:ext>
                  </a:extLst>
                </a:hlinkClick>
              </a:rPr>
              <a:t>two tier client server</a:t>
            </a:r>
            <a:r>
              <a:rPr lang="en-US" sz="1800" kern="0" spc="-80" dirty="0">
                <a:solidFill>
                  <a:schemeClr val="accent6"/>
                </a:solidFill>
              </a:rPr>
              <a:t> application) or an externally available transaction ID that can be used independently of the connection. In the latter case, you open the transaction with the </a:t>
            </a:r>
            <a:r>
              <a:rPr lang="en-US" sz="1800" kern="0" spc="-80" dirty="0" err="1">
                <a:solidFill>
                  <a:schemeClr val="accent6"/>
                </a:solidFill>
              </a:rPr>
              <a:t>TxID</a:t>
            </a:r>
            <a:r>
              <a:rPr lang="en-US" sz="1800" kern="0" spc="-80" dirty="0">
                <a:solidFill>
                  <a:schemeClr val="accent6"/>
                </a:solidFill>
              </a:rPr>
              <a:t> and then reconnect using that ID. The DBMS maintains the locks and allows you to pick the session back up through the </a:t>
            </a:r>
            <a:r>
              <a:rPr lang="en-US" sz="1800" kern="0" spc="-80" dirty="0" err="1">
                <a:solidFill>
                  <a:schemeClr val="accent6"/>
                </a:solidFill>
              </a:rPr>
              <a:t>TxID</a:t>
            </a:r>
            <a:r>
              <a:rPr lang="en-US" sz="1800" kern="0" spc="-80" dirty="0">
                <a:solidFill>
                  <a:schemeClr val="accent6"/>
                </a:solidFill>
              </a:rPr>
              <a:t>. </a:t>
            </a:r>
          </a:p>
          <a:p>
            <a:pPr algn="l" fontAlgn="base"/>
            <a:r>
              <a:rPr lang="en-US" sz="2000" kern="0" spc="-80" dirty="0">
                <a:solidFill>
                  <a:schemeClr val="accent6"/>
                </a:solidFill>
              </a:rPr>
              <a:t>                   For more details refer - </a:t>
            </a:r>
            <a:r>
              <a:rPr lang="en-US" sz="1500" dirty="0">
                <a:hlinkClick r:id="rId8"/>
              </a:rPr>
              <a:t>What's the difference between optimistic and pessimistic locking?</a:t>
            </a:r>
            <a:r>
              <a:rPr lang="en-US" sz="2000" kern="0" spc="-80" dirty="0">
                <a:solidFill>
                  <a:schemeClr val="accent6"/>
                </a:solidFill>
              </a:rPr>
              <a:t>          </a:t>
            </a:r>
          </a:p>
          <a:p>
            <a:pPr marL="12700" marR="5080"/>
            <a:r>
              <a:rPr lang="en-US" sz="2000" kern="0" spc="-80" dirty="0">
                <a:solidFill>
                  <a:schemeClr val="accent6"/>
                </a:solidFill>
              </a:rPr>
              <a:t>           </a:t>
            </a:r>
          </a:p>
          <a:p>
            <a:pPr marL="12700" marR="5080"/>
            <a:endParaRPr lang="en-US" sz="2000" kern="0" spc="-80" dirty="0">
              <a:solidFill>
                <a:schemeClr val="accent6"/>
              </a:solidFill>
            </a:endParaRPr>
          </a:p>
        </p:txBody>
      </p:sp>
    </p:spTree>
    <p:extLst>
      <p:ext uri="{BB962C8B-B14F-4D97-AF65-F5344CB8AC3E}">
        <p14:creationId xmlns:p14="http://schemas.microsoft.com/office/powerpoint/2010/main" val="6493574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B9B16-F285-A73C-6B75-4054C4497D0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DB531D0-2897-D576-6F04-63245DD0E3D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32D8A2-CB59-4893-DB4A-77518382C90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031BC4C-849E-0C2B-64C5-5CB3F292EA8A}"/>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BCF4684-EBCB-CA41-767F-636C292105B5}"/>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04B9E81-8905-3B05-51EC-980075B8566C}"/>
              </a:ext>
            </a:extLst>
          </p:cNvPr>
          <p:cNvSpPr txBox="1">
            <a:spLocks/>
          </p:cNvSpPr>
          <p:nvPr/>
        </p:nvSpPr>
        <p:spPr>
          <a:xfrm>
            <a:off x="304800" y="913787"/>
            <a:ext cx="8624937" cy="35086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Response Time  </a:t>
            </a:r>
            <a:r>
              <a:rPr lang="en-US" sz="2400" kern="0" spc="-80" dirty="0" err="1">
                <a:solidFill>
                  <a:schemeClr val="accent2"/>
                </a:solidFill>
              </a:rPr>
              <a:t>contd</a:t>
            </a:r>
            <a:r>
              <a:rPr lang="en-US" sz="2400" kern="0" spc="-80" dirty="0">
                <a:solidFill>
                  <a:schemeClr val="accent2"/>
                </a:solidFill>
              </a:rPr>
              <a:t> … –</a:t>
            </a:r>
            <a:r>
              <a:rPr lang="en-US" sz="2400" kern="0" spc="-80" dirty="0">
                <a:solidFill>
                  <a:schemeClr val="accent6"/>
                </a:solidFill>
              </a:rPr>
              <a:t> </a:t>
            </a:r>
          </a:p>
          <a:p>
            <a:pPr marL="12700" marR="5080"/>
            <a:r>
              <a:rPr lang="en-US" sz="2400" kern="0" spc="-80" dirty="0">
                <a:solidFill>
                  <a:schemeClr val="accent2"/>
                </a:solidFill>
              </a:rPr>
              <a:t>      Ways to improve Response Time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2) Server Side </a:t>
            </a:r>
            <a:r>
              <a:rPr lang="en-US" sz="2400" kern="0" spc="-80" dirty="0" err="1">
                <a:solidFill>
                  <a:schemeClr val="accent2"/>
                </a:solidFill>
              </a:rPr>
              <a:t>TunTransactioning</a:t>
            </a:r>
            <a:r>
              <a:rPr lang="en-US" sz="2400" kern="0" spc="-80" dirty="0">
                <a:solidFill>
                  <a:schemeClr val="accent2"/>
                </a:solidFill>
              </a:rPr>
              <a:t>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c) Concurrency Handling(</a:t>
            </a:r>
            <a:r>
              <a:rPr lang="en-US" sz="2400" kern="0" spc="-80" dirty="0" err="1">
                <a:solidFill>
                  <a:schemeClr val="accent2"/>
                </a:solidFill>
              </a:rPr>
              <a:t>contd</a:t>
            </a:r>
            <a:r>
              <a:rPr lang="en-US" sz="2400" kern="0" spc="-80" dirty="0">
                <a:solidFill>
                  <a:schemeClr val="accent2"/>
                </a:solidFill>
              </a:rPr>
              <a:t> …) – </a:t>
            </a:r>
          </a:p>
          <a:p>
            <a:pPr marL="12700" marR="5080"/>
            <a:endParaRPr lang="en-US" sz="2400" kern="0" spc="-80" dirty="0">
              <a:solidFill>
                <a:schemeClr val="accent2"/>
              </a:solidFill>
            </a:endParaRPr>
          </a:p>
          <a:p>
            <a:pPr algn="l" fontAlgn="base"/>
            <a:r>
              <a:rPr lang="en-US" sz="2400" kern="0" spc="-80" dirty="0">
                <a:solidFill>
                  <a:schemeClr val="accent2"/>
                </a:solidFill>
              </a:rPr>
              <a:t>For Further Exploration- </a:t>
            </a:r>
          </a:p>
          <a:p>
            <a:pPr algn="l" fontAlgn="base"/>
            <a:r>
              <a:rPr lang="en-US" sz="1500" dirty="0">
                <a:hlinkClick r:id="rId7"/>
              </a:rPr>
              <a:t>ADO.NET Entity Framework Interview Questions- </a:t>
            </a:r>
            <a:r>
              <a:rPr lang="en-US" sz="1500" dirty="0" err="1">
                <a:hlinkClick r:id="rId7"/>
              </a:rPr>
              <a:t>CodeProject</a:t>
            </a:r>
            <a:endParaRPr lang="en-US" sz="1500" dirty="0"/>
          </a:p>
          <a:p>
            <a:pPr algn="l" fontAlgn="base"/>
            <a:r>
              <a:rPr lang="en-US" sz="1500" dirty="0">
                <a:hlinkClick r:id="rId8"/>
              </a:rPr>
              <a:t>Handling Concurrency Conflicts - EF Core | Microsoft Learn</a:t>
            </a:r>
            <a:endParaRPr lang="en-US" sz="1500" dirty="0"/>
          </a:p>
          <a:p>
            <a:pPr algn="l" fontAlgn="base"/>
            <a:r>
              <a:rPr lang="en-IN" sz="1500" dirty="0">
                <a:hlinkClick r:id="rId9"/>
              </a:rPr>
              <a:t>Different Types of DB Locks | LinkedIn</a:t>
            </a:r>
            <a:endParaRPr lang="en-IN" sz="1500" dirty="0"/>
          </a:p>
          <a:p>
            <a:pPr algn="l" fontAlgn="base"/>
            <a:r>
              <a:rPr lang="en-US" sz="1500" dirty="0">
                <a:hlinkClick r:id="rId10"/>
              </a:rPr>
              <a:t>Concurrency Control Mechanisms in Distributed Systems | by Roopa </a:t>
            </a:r>
            <a:r>
              <a:rPr lang="en-US" sz="1500" dirty="0" err="1">
                <a:hlinkClick r:id="rId10"/>
              </a:rPr>
              <a:t>Kushtagi</a:t>
            </a:r>
            <a:r>
              <a:rPr lang="en-US" sz="1500" dirty="0">
                <a:hlinkClick r:id="rId10"/>
              </a:rPr>
              <a:t> | Medium</a:t>
            </a:r>
            <a:endParaRPr lang="en-US" sz="1500" kern="0" spc="-80" dirty="0">
              <a:solidFill>
                <a:schemeClr val="accent6"/>
              </a:solidFill>
            </a:endParaRPr>
          </a:p>
        </p:txBody>
      </p:sp>
    </p:spTree>
    <p:extLst>
      <p:ext uri="{BB962C8B-B14F-4D97-AF65-F5344CB8AC3E}">
        <p14:creationId xmlns:p14="http://schemas.microsoft.com/office/powerpoint/2010/main" val="220492377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913787"/>
            <a:ext cx="8624937" cy="15388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Performance </a:t>
            </a:r>
            <a:r>
              <a:rPr lang="en-US" sz="2000" kern="0" spc="-80" dirty="0" err="1">
                <a:solidFill>
                  <a:schemeClr val="accent2"/>
                </a:solidFill>
              </a:rPr>
              <a:t>contd</a:t>
            </a:r>
            <a:r>
              <a:rPr lang="en-US" sz="2000" kern="0" spc="-80" dirty="0">
                <a:solidFill>
                  <a:schemeClr val="accent2"/>
                </a:solidFill>
              </a:rPr>
              <a:t> … – </a:t>
            </a:r>
          </a:p>
          <a:p>
            <a:pPr marL="12700" marR="5080"/>
            <a:r>
              <a:rPr lang="en-US" sz="2000" kern="0" spc="-80" dirty="0">
                <a:solidFill>
                  <a:schemeClr val="accent2"/>
                </a:solidFill>
              </a:rPr>
              <a:t>    Response Time  </a:t>
            </a:r>
            <a:r>
              <a:rPr lang="en-US" sz="2000" kern="0" spc="-80" dirty="0" err="1">
                <a:solidFill>
                  <a:schemeClr val="accent2"/>
                </a:solidFill>
              </a:rPr>
              <a:t>contd</a:t>
            </a:r>
            <a:r>
              <a:rPr lang="en-US" sz="2000" kern="0" spc="-80" dirty="0">
                <a:solidFill>
                  <a:schemeClr val="accent2"/>
                </a:solidFill>
              </a:rPr>
              <a:t> … –</a:t>
            </a:r>
            <a:r>
              <a:rPr lang="en-US" sz="2000" kern="0" spc="-80" dirty="0">
                <a:solidFill>
                  <a:schemeClr val="accent6"/>
                </a:solidFill>
              </a:rPr>
              <a:t> </a:t>
            </a:r>
          </a:p>
          <a:p>
            <a:pPr marL="12700" marR="5080"/>
            <a:r>
              <a:rPr lang="en-US" sz="2000" kern="0" spc="-80" dirty="0">
                <a:solidFill>
                  <a:schemeClr val="accent2"/>
                </a:solidFill>
              </a:rPr>
              <a:t>      Ways to improve Response Time </a:t>
            </a:r>
            <a:r>
              <a:rPr lang="en-US" sz="2000" kern="0" spc="-80" dirty="0" err="1">
                <a:solidFill>
                  <a:schemeClr val="accent2"/>
                </a:solidFill>
              </a:rPr>
              <a:t>contd</a:t>
            </a:r>
            <a:r>
              <a:rPr lang="en-US" sz="2000" kern="0" spc="-80" dirty="0">
                <a:solidFill>
                  <a:schemeClr val="accent2"/>
                </a:solidFill>
              </a:rPr>
              <a:t> … – </a:t>
            </a:r>
          </a:p>
          <a:p>
            <a:pPr marL="12700" marR="5080"/>
            <a:r>
              <a:rPr lang="en-US" sz="2000" kern="0" spc="-80" dirty="0">
                <a:solidFill>
                  <a:schemeClr val="accent2"/>
                </a:solidFill>
              </a:rPr>
              <a:t>        2) Server Side Tuning </a:t>
            </a:r>
            <a:r>
              <a:rPr lang="en-US" sz="2000" kern="0" spc="-80" dirty="0" err="1">
                <a:solidFill>
                  <a:schemeClr val="accent2"/>
                </a:solidFill>
              </a:rPr>
              <a:t>contd</a:t>
            </a:r>
            <a:r>
              <a:rPr lang="en-US" sz="2000" kern="0" spc="-80" dirty="0">
                <a:solidFill>
                  <a:schemeClr val="accent2"/>
                </a:solidFill>
              </a:rPr>
              <a:t> … - </a:t>
            </a:r>
          </a:p>
          <a:p>
            <a:pPr marL="12700" marR="5080"/>
            <a:r>
              <a:rPr lang="en-US" sz="2000" kern="0" spc="-80" dirty="0">
                <a:solidFill>
                  <a:schemeClr val="accent2"/>
                </a:solidFill>
              </a:rPr>
              <a:t>            API Performance Improvement Techniques in General -</a:t>
            </a:r>
            <a:endParaRPr lang="en-US" sz="2000" kern="0" spc="-80" dirty="0">
              <a:solidFill>
                <a:schemeClr val="accent6"/>
              </a:solidFill>
            </a:endParaRPr>
          </a:p>
        </p:txBody>
      </p:sp>
      <p:pic>
        <p:nvPicPr>
          <p:cNvPr id="9" name="Picture 8">
            <a:extLst>
              <a:ext uri="{FF2B5EF4-FFF2-40B4-BE49-F238E27FC236}">
                <a16:creationId xmlns:a16="http://schemas.microsoft.com/office/drawing/2014/main" id="{7A4FD913-85C6-07CF-1732-4370AF9DBF0F}"/>
              </a:ext>
            </a:extLst>
          </p:cNvPr>
          <p:cNvPicPr>
            <a:picLocks noChangeAspect="1"/>
          </p:cNvPicPr>
          <p:nvPr/>
        </p:nvPicPr>
        <p:blipFill>
          <a:blip r:embed="rId7"/>
          <a:stretch>
            <a:fillRect/>
          </a:stretch>
        </p:blipFill>
        <p:spPr>
          <a:xfrm>
            <a:off x="23978" y="2468162"/>
            <a:ext cx="8915858" cy="3399237"/>
          </a:xfrm>
          <a:prstGeom prst="rect">
            <a:avLst/>
          </a:prstGeom>
        </p:spPr>
      </p:pic>
    </p:spTree>
    <p:extLst>
      <p:ext uri="{BB962C8B-B14F-4D97-AF65-F5344CB8AC3E}">
        <p14:creationId xmlns:p14="http://schemas.microsoft.com/office/powerpoint/2010/main" val="368507578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913745645"/>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685800"/>
            <a:ext cx="8624937" cy="563231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Response Time  </a:t>
            </a:r>
            <a:r>
              <a:rPr lang="en-US" sz="2400" kern="0" spc="-80" dirty="0" err="1">
                <a:solidFill>
                  <a:schemeClr val="accent2"/>
                </a:solidFill>
              </a:rPr>
              <a:t>contd</a:t>
            </a:r>
            <a:r>
              <a:rPr lang="en-US" sz="2400" kern="0" spc="-80" dirty="0">
                <a:solidFill>
                  <a:schemeClr val="accent2"/>
                </a:solidFill>
              </a:rPr>
              <a:t> … –</a:t>
            </a:r>
            <a:r>
              <a:rPr lang="en-US" sz="2400" kern="0" spc="-80" dirty="0">
                <a:solidFill>
                  <a:schemeClr val="accent6"/>
                </a:solidFill>
              </a:rPr>
              <a:t> </a:t>
            </a:r>
          </a:p>
          <a:p>
            <a:pPr marL="12700" marR="5080"/>
            <a:r>
              <a:rPr lang="en-US" sz="2400" kern="0" spc="-80" dirty="0">
                <a:solidFill>
                  <a:schemeClr val="accent2"/>
                </a:solidFill>
              </a:rPr>
              <a:t>      Ways to improve Response Time </a:t>
            </a:r>
            <a:r>
              <a:rPr lang="en-US" sz="2400" kern="0" spc="-80" dirty="0" err="1">
                <a:solidFill>
                  <a:schemeClr val="accent2"/>
                </a:solidFill>
              </a:rPr>
              <a:t>contd</a:t>
            </a:r>
            <a:r>
              <a:rPr lang="en-US" sz="2400" kern="0" spc="-80" dirty="0">
                <a:solidFill>
                  <a:schemeClr val="accent2"/>
                </a:solidFill>
              </a:rPr>
              <a:t> … – </a:t>
            </a:r>
          </a:p>
          <a:p>
            <a:pPr marL="12700" marR="5080"/>
            <a:r>
              <a:rPr lang="en-US" sz="2400" kern="0" spc="-80" dirty="0">
                <a:solidFill>
                  <a:schemeClr val="accent2"/>
                </a:solidFill>
              </a:rPr>
              <a:t>        2) Web UI Tuning – </a:t>
            </a:r>
          </a:p>
          <a:p>
            <a:pPr marL="12700" marR="5080"/>
            <a:r>
              <a:rPr lang="en-US" sz="1600" kern="0" spc="-80" dirty="0">
                <a:solidFill>
                  <a:schemeClr val="accent2"/>
                </a:solidFill>
              </a:rPr>
              <a:t>            </a:t>
            </a:r>
            <a:r>
              <a:rPr lang="en-US" sz="1600" kern="0" spc="-80" dirty="0">
                <a:solidFill>
                  <a:schemeClr val="accent6"/>
                </a:solidFill>
              </a:rPr>
              <a:t>Bundling &amp; Minification</a:t>
            </a:r>
          </a:p>
          <a:p>
            <a:pPr marL="12700" marR="5080"/>
            <a:r>
              <a:rPr lang="en-US" sz="1600" kern="0" spc="-80" dirty="0">
                <a:solidFill>
                  <a:schemeClr val="accent6"/>
                </a:solidFill>
              </a:rPr>
              <a:t>            Compression</a:t>
            </a:r>
          </a:p>
          <a:p>
            <a:pPr marL="12700" marR="5080"/>
            <a:r>
              <a:rPr lang="en-US" sz="1600" kern="0" spc="-80" dirty="0">
                <a:solidFill>
                  <a:schemeClr val="accent6"/>
                </a:solidFill>
              </a:rPr>
              <a:t>            Pre-Fetching</a:t>
            </a:r>
          </a:p>
          <a:p>
            <a:pPr marL="12700" marR="5080"/>
            <a:r>
              <a:rPr lang="en-US" sz="1600" kern="0" spc="-80" dirty="0">
                <a:solidFill>
                  <a:schemeClr val="accent6"/>
                </a:solidFill>
              </a:rPr>
              <a:t>            CDN</a:t>
            </a:r>
          </a:p>
          <a:p>
            <a:pPr marL="12700" marR="5080"/>
            <a:r>
              <a:rPr lang="en-US" sz="1600" kern="0" spc="-80" dirty="0">
                <a:solidFill>
                  <a:schemeClr val="accent6"/>
                </a:solidFill>
              </a:rPr>
              <a:t>            Http/Web Caching</a:t>
            </a:r>
          </a:p>
          <a:p>
            <a:pPr marL="12700" marR="5080"/>
            <a:r>
              <a:rPr lang="en-US" sz="1600" kern="0" spc="-80" dirty="0">
                <a:solidFill>
                  <a:schemeClr val="accent6"/>
                </a:solidFill>
              </a:rPr>
              <a:t>               Cache Control &amp; Expires</a:t>
            </a:r>
          </a:p>
          <a:p>
            <a:pPr marL="12700" marR="5080"/>
            <a:r>
              <a:rPr lang="en-US" sz="1600" kern="0" spc="-80" dirty="0">
                <a:solidFill>
                  <a:schemeClr val="accent6"/>
                </a:solidFill>
              </a:rPr>
              <a:t>               </a:t>
            </a:r>
            <a:r>
              <a:rPr lang="en-US" sz="1600" kern="0" spc="-80" dirty="0" err="1">
                <a:solidFill>
                  <a:schemeClr val="accent6"/>
                </a:solidFill>
              </a:rPr>
              <a:t>Etag</a:t>
            </a:r>
            <a:r>
              <a:rPr lang="en-US" sz="1600" kern="0" spc="-80" dirty="0">
                <a:solidFill>
                  <a:schemeClr val="accent6"/>
                </a:solidFill>
              </a:rPr>
              <a:t>/Last Modified</a:t>
            </a:r>
          </a:p>
          <a:p>
            <a:pPr marL="12700" marR="5080"/>
            <a:r>
              <a:rPr lang="en-US" sz="1400" kern="0" spc="-80" dirty="0">
                <a:solidFill>
                  <a:schemeClr val="accent6"/>
                </a:solidFill>
              </a:rPr>
              <a:t>                 </a:t>
            </a:r>
            <a:r>
              <a:rPr lang="en-US" sz="1500" kern="0" spc="-80" dirty="0">
                <a:solidFill>
                  <a:schemeClr val="accent6"/>
                </a:solidFill>
              </a:rPr>
              <a:t> </a:t>
            </a:r>
            <a:r>
              <a:rPr lang="en-US" sz="1500" dirty="0">
                <a:hlinkClick r:id="rId7"/>
              </a:rPr>
              <a:t>Which one to use : Expire Header, Last Modified Header or ETags - Stack Overflow</a:t>
            </a:r>
            <a:endParaRPr lang="en-US" sz="1500" dirty="0"/>
          </a:p>
          <a:p>
            <a:pPr marL="12700" marR="5080"/>
            <a:endParaRPr lang="en-US" sz="1500" dirty="0"/>
          </a:p>
          <a:p>
            <a:pPr marL="12700" marR="5080"/>
            <a:r>
              <a:rPr lang="en-US" sz="2000" kern="0" spc="-80" dirty="0">
                <a:solidFill>
                  <a:schemeClr val="accent6"/>
                </a:solidFill>
              </a:rPr>
              <a:t> </a:t>
            </a:r>
            <a:r>
              <a:rPr lang="en-US" sz="2000" kern="0" spc="-80" dirty="0">
                <a:solidFill>
                  <a:schemeClr val="accent2"/>
                </a:solidFill>
              </a:rPr>
              <a:t>For Further Exploration - </a:t>
            </a:r>
          </a:p>
          <a:p>
            <a:pPr marL="12700" marR="5080"/>
            <a:r>
              <a:rPr lang="en-US" sz="1200" kern="0" spc="-80" dirty="0">
                <a:solidFill>
                  <a:schemeClr val="accent6"/>
                </a:solidFill>
              </a:rPr>
              <a:t>   </a:t>
            </a:r>
            <a:r>
              <a:rPr lang="en-US" sz="1200" dirty="0">
                <a:hlinkClick r:id="rId8"/>
              </a:rPr>
              <a:t>Frontend Optimization - 9 Tips to Improve Web Performance – </a:t>
            </a:r>
            <a:r>
              <a:rPr lang="en-US" sz="1200" dirty="0" err="1">
                <a:hlinkClick r:id="rId8"/>
              </a:rPr>
              <a:t>KeyCDN</a:t>
            </a:r>
            <a:endParaRPr lang="en-US" sz="1200" dirty="0"/>
          </a:p>
          <a:p>
            <a:pPr marL="12700" marR="5080"/>
            <a:r>
              <a:rPr lang="en-US" sz="1200" kern="0" spc="-80" dirty="0">
                <a:solidFill>
                  <a:schemeClr val="accent6"/>
                </a:solidFill>
              </a:rPr>
              <a:t>   </a:t>
            </a:r>
            <a:r>
              <a:rPr lang="en-US" sz="1200" dirty="0">
                <a:hlinkClick r:id="rId9"/>
              </a:rPr>
              <a:t>Data Fetching Patterns in Single-Page Applications</a:t>
            </a:r>
            <a:endParaRPr lang="en-US" sz="1200" dirty="0"/>
          </a:p>
          <a:p>
            <a:pPr marL="12700" marR="5080"/>
            <a:r>
              <a:rPr lang="en-US" sz="1200" kern="0" spc="-80" dirty="0">
                <a:solidFill>
                  <a:schemeClr val="accent6"/>
                </a:solidFill>
              </a:rPr>
              <a:t>   </a:t>
            </a:r>
            <a:r>
              <a:rPr lang="en-IN" sz="1200" dirty="0">
                <a:hlinkClick r:id="rId10"/>
              </a:rPr>
              <a:t>API Pagination | Feed | LinkedIn</a:t>
            </a:r>
            <a:endParaRPr lang="en-IN" sz="1200" dirty="0"/>
          </a:p>
          <a:p>
            <a:pPr marL="12700" marR="5080"/>
            <a:r>
              <a:rPr lang="en-US" sz="1200" kern="0" spc="-80" dirty="0">
                <a:solidFill>
                  <a:schemeClr val="accent6"/>
                </a:solidFill>
              </a:rPr>
              <a:t>   </a:t>
            </a:r>
            <a:r>
              <a:rPr lang="en-IN" sz="1200" dirty="0">
                <a:hlinkClick r:id="rId11"/>
              </a:rPr>
              <a:t>Others saying slow but it’s fast for me| LinkedIn</a:t>
            </a:r>
            <a:endParaRPr lang="en-IN" sz="1200" dirty="0"/>
          </a:p>
          <a:p>
            <a:pPr marL="12700" marR="5080"/>
            <a:r>
              <a:rPr lang="en-US" sz="1200" kern="0" spc="-80" dirty="0">
                <a:solidFill>
                  <a:schemeClr val="accent6"/>
                </a:solidFill>
              </a:rPr>
              <a:t>   </a:t>
            </a:r>
            <a:r>
              <a:rPr lang="en-US" sz="1200" dirty="0">
                <a:hlinkClick r:id="rId12"/>
              </a:rPr>
              <a:t>ASP.NET-Core-1.0-High-Performance: ASP.NET Core 1.0 High Performance by </a:t>
            </a:r>
            <a:r>
              <a:rPr lang="en-US" sz="1200" dirty="0" err="1">
                <a:hlinkClick r:id="rId12"/>
              </a:rPr>
              <a:t>Packt</a:t>
            </a:r>
            <a:r>
              <a:rPr lang="en-US" sz="1200" dirty="0">
                <a:hlinkClick r:id="rId12"/>
              </a:rPr>
              <a:t> Publishing</a:t>
            </a:r>
            <a:endParaRPr lang="en-US" sz="1200" dirty="0"/>
          </a:p>
          <a:p>
            <a:pPr marL="12700" marR="5080"/>
            <a:r>
              <a:rPr lang="en-US" sz="1200" kern="0" spc="-80" dirty="0">
                <a:solidFill>
                  <a:schemeClr val="accent6"/>
                </a:solidFill>
              </a:rPr>
              <a:t>   </a:t>
            </a:r>
            <a:r>
              <a:rPr lang="en-US" sz="1200" dirty="0">
                <a:hlinkClick r:id="rId13"/>
              </a:rPr>
              <a:t>Best practices for improving performance using Azure Service Bus - Azure Service Bus | Microsoft Learn</a:t>
            </a:r>
            <a:endParaRPr lang="en-US" sz="1200" kern="0" spc="-80" dirty="0">
              <a:solidFill>
                <a:schemeClr val="accent6"/>
              </a:solidFill>
            </a:endParaRPr>
          </a:p>
          <a:p>
            <a:pPr marL="12700" marR="5080"/>
            <a:r>
              <a:rPr lang="en-US" sz="2400" kern="0" spc="-80" dirty="0">
                <a:solidFill>
                  <a:schemeClr val="accent2"/>
                </a:solidFill>
              </a:rPr>
              <a:t>            </a:t>
            </a:r>
          </a:p>
        </p:txBody>
      </p:sp>
    </p:spTree>
    <p:extLst>
      <p:ext uri="{BB962C8B-B14F-4D97-AF65-F5344CB8AC3E}">
        <p14:creationId xmlns:p14="http://schemas.microsoft.com/office/powerpoint/2010/main" val="313322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04800" y="0"/>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28600" y="990600"/>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 </a:t>
            </a:r>
          </a:p>
          <a:p>
            <a:pPr marL="12700" marR="5080"/>
            <a:r>
              <a:rPr lang="en-US" sz="2400" kern="0" spc="-80" dirty="0">
                <a:solidFill>
                  <a:schemeClr val="accent2"/>
                </a:solidFill>
              </a:rPr>
              <a:t> Some Important Statistics – </a:t>
            </a:r>
          </a:p>
          <a:p>
            <a:pPr marL="12700" marR="5080"/>
            <a:r>
              <a:rPr lang="en-US" sz="1600" kern="0" spc="-80" dirty="0">
                <a:solidFill>
                  <a:schemeClr val="accent2"/>
                </a:solidFill>
              </a:rPr>
              <a:t>  </a:t>
            </a:r>
            <a:r>
              <a:rPr lang="en-IN" sz="1500" kern="0" spc="-80" dirty="0">
                <a:solidFill>
                  <a:schemeClr val="accent2"/>
                </a:solidFill>
              </a:rPr>
              <a:t>Current &amp; Target loads – </a:t>
            </a:r>
          </a:p>
          <a:p>
            <a:pPr marL="12700" marR="5080"/>
            <a:r>
              <a:rPr lang="en-IN" sz="1500" kern="0" spc="-80" dirty="0">
                <a:solidFill>
                  <a:schemeClr val="accent6"/>
                </a:solidFill>
              </a:rPr>
              <a:t>   </a:t>
            </a:r>
            <a:r>
              <a:rPr lang="en-IN" sz="1500" kern="0" spc="-80" dirty="0" err="1">
                <a:solidFill>
                  <a:schemeClr val="accent6"/>
                </a:solidFill>
              </a:rPr>
              <a:t>Avg</a:t>
            </a:r>
            <a:r>
              <a:rPr lang="en-IN" sz="1500" kern="0" spc="-80" dirty="0">
                <a:solidFill>
                  <a:schemeClr val="accent6"/>
                </a:solidFill>
              </a:rPr>
              <a:t> transactions/day</a:t>
            </a:r>
          </a:p>
          <a:p>
            <a:pPr marL="12700" marR="5080"/>
            <a:r>
              <a:rPr lang="en-IN" sz="1500" kern="0" spc="-80" dirty="0">
                <a:solidFill>
                  <a:schemeClr val="accent6"/>
                </a:solidFill>
              </a:rPr>
              <a:t>   Typical hours transactions</a:t>
            </a:r>
          </a:p>
          <a:p>
            <a:pPr marL="12700" marR="5080"/>
            <a:r>
              <a:rPr lang="en-IN" sz="1500" kern="0" spc="-80" dirty="0">
                <a:solidFill>
                  <a:schemeClr val="accent6"/>
                </a:solidFill>
              </a:rPr>
              <a:t>   Peak hours transactions</a:t>
            </a:r>
          </a:p>
          <a:p>
            <a:pPr marL="12700" marR="5080"/>
            <a:r>
              <a:rPr lang="en-IN" sz="1500" kern="0" spc="-80" dirty="0">
                <a:solidFill>
                  <a:schemeClr val="accent6"/>
                </a:solidFill>
              </a:rPr>
              <a:t>   </a:t>
            </a:r>
            <a:r>
              <a:rPr lang="en-IN" sz="1500" kern="0" spc="-80" dirty="0" err="1">
                <a:solidFill>
                  <a:schemeClr val="accent6"/>
                </a:solidFill>
              </a:rPr>
              <a:t>Avg</a:t>
            </a:r>
            <a:r>
              <a:rPr lang="en-IN" sz="1500" kern="0" spc="-80" dirty="0">
                <a:solidFill>
                  <a:schemeClr val="accent6"/>
                </a:solidFill>
              </a:rPr>
              <a:t> Response time </a:t>
            </a:r>
          </a:p>
          <a:p>
            <a:pPr marL="12700" marR="5080"/>
            <a:r>
              <a:rPr lang="en-IN" sz="1500" kern="0" spc="-80" dirty="0">
                <a:solidFill>
                  <a:schemeClr val="accent6"/>
                </a:solidFill>
              </a:rPr>
              <a:t>   90 percentile response time</a:t>
            </a:r>
          </a:p>
          <a:p>
            <a:pPr marL="12700" marR="5080"/>
            <a:r>
              <a:rPr lang="en-IN" sz="1500" kern="0" spc="-80" dirty="0">
                <a:solidFill>
                  <a:schemeClr val="accent6"/>
                </a:solidFill>
              </a:rPr>
              <a:t>  </a:t>
            </a:r>
            <a:r>
              <a:rPr lang="en-IN" sz="1500" kern="0" spc="-80" dirty="0">
                <a:solidFill>
                  <a:schemeClr val="accent2"/>
                </a:solidFill>
              </a:rPr>
              <a:t>Inbound &amp; Outbound Batch Jobs</a:t>
            </a:r>
          </a:p>
          <a:p>
            <a:pPr marL="12700" marR="5080"/>
            <a:r>
              <a:rPr lang="en-IN" sz="1500" dirty="0">
                <a:latin typeface="UICTFontTextStyleBody"/>
                <a:ea typeface="Calibri" panose="020F0502020204030204" pitchFamily="34" charset="0"/>
                <a:cs typeface="Calibri" panose="020F0502020204030204" pitchFamily="34" charset="0"/>
              </a:rPr>
              <a:t>     </a:t>
            </a:r>
            <a:r>
              <a:rPr lang="en-IN" sz="1500" kern="0" spc="-80" dirty="0">
                <a:solidFill>
                  <a:schemeClr val="accent6"/>
                </a:solidFill>
                <a:latin typeface="UICTFontTextStyleBody"/>
                <a:ea typeface="Calibri" panose="020F0502020204030204" pitchFamily="34" charset="0"/>
                <a:cs typeface="Calibri" panose="020F0502020204030204" pitchFamily="34" charset="0"/>
              </a:rPr>
              <a:t>V</a:t>
            </a:r>
            <a:r>
              <a:rPr lang="en-IN" sz="1500" kern="0" spc="-80" dirty="0">
                <a:solidFill>
                  <a:schemeClr val="accent6"/>
                </a:solidFill>
              </a:rPr>
              <a:t>olume </a:t>
            </a:r>
          </a:p>
          <a:p>
            <a:pPr marL="12700" marR="5080"/>
            <a:r>
              <a:rPr lang="en-IN" sz="1500" kern="0" spc="-80" dirty="0">
                <a:solidFill>
                  <a:schemeClr val="accent6"/>
                </a:solidFill>
              </a:rPr>
              <a:t>    Duration</a:t>
            </a:r>
          </a:p>
          <a:p>
            <a:pPr marL="12700" marR="5080"/>
            <a:r>
              <a:rPr lang="en-IN" sz="1500" kern="0" spc="-80" dirty="0">
                <a:solidFill>
                  <a:schemeClr val="accent6"/>
                </a:solidFill>
              </a:rPr>
              <a:t>    Transactions/sec</a:t>
            </a:r>
          </a:p>
          <a:p>
            <a:pPr marL="12700" marR="5080"/>
            <a:endParaRPr lang="en-IN" sz="1500" kern="0" spc="-80" dirty="0">
              <a:solidFill>
                <a:schemeClr val="accent6"/>
              </a:solidFill>
            </a:endParaRPr>
          </a:p>
          <a:p>
            <a:pPr marL="12700" marR="5080"/>
            <a:endParaRPr lang="en-IN" sz="1500" kern="0" spc="-80" dirty="0">
              <a:solidFill>
                <a:schemeClr val="accent6"/>
              </a:solidFill>
            </a:endParaRPr>
          </a:p>
          <a:p>
            <a:pPr marL="12700" marR="5080"/>
            <a:endParaRPr lang="en-IN" sz="1500" kern="0" spc="-80" dirty="0">
              <a:solidFill>
                <a:schemeClr val="accent6"/>
              </a:solidFill>
            </a:endParaRPr>
          </a:p>
          <a:p>
            <a:pPr marL="12700" marR="5080"/>
            <a:r>
              <a:rPr lang="en-IN" sz="1600" kern="0" spc="-80" dirty="0">
                <a:solidFill>
                  <a:schemeClr val="accent2"/>
                </a:solidFill>
              </a:rPr>
              <a:t> For Further Exploration</a:t>
            </a:r>
            <a:endParaRPr lang="en-US" sz="1600" kern="0" spc="-80" dirty="0">
              <a:solidFill>
                <a:schemeClr val="accent2"/>
              </a:solidFill>
            </a:endParaRPr>
          </a:p>
          <a:p>
            <a:pPr marL="12700" marR="5080"/>
            <a:r>
              <a:rPr lang="en-US" sz="2000" dirty="0">
                <a:hlinkClick r:id="rId7"/>
              </a:rPr>
              <a:t>Benchmarking Message Queue Latency – Brave New Geek</a:t>
            </a:r>
            <a:r>
              <a:rPr lang="en-US" sz="2000" kern="0" spc="-80" dirty="0">
                <a:solidFill>
                  <a:schemeClr val="accent2"/>
                </a:solidFill>
              </a:rPr>
              <a:t> </a:t>
            </a:r>
          </a:p>
          <a:p>
            <a:pPr marL="12700" marR="5080"/>
            <a:r>
              <a:rPr lang="en-US" sz="1400" kern="0" spc="-80" dirty="0">
                <a:solidFill>
                  <a:schemeClr val="accent2"/>
                </a:solidFill>
              </a:rPr>
              <a:t> </a:t>
            </a:r>
          </a:p>
        </p:txBody>
      </p:sp>
    </p:spTree>
    <p:extLst>
      <p:ext uri="{BB962C8B-B14F-4D97-AF65-F5344CB8AC3E}">
        <p14:creationId xmlns:p14="http://schemas.microsoft.com/office/powerpoint/2010/main" val="229688333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2400" kern="0" spc="-80" dirty="0">
                <a:solidFill>
                  <a:schemeClr val="accent2"/>
                </a:solidFill>
              </a:rPr>
              <a:t>   Layer vs Tier – </a:t>
            </a:r>
          </a:p>
        </p:txBody>
      </p:sp>
      <p:pic>
        <p:nvPicPr>
          <p:cNvPr id="8" name="Picture 7">
            <a:extLst>
              <a:ext uri="{FF2B5EF4-FFF2-40B4-BE49-F238E27FC236}">
                <a16:creationId xmlns:a16="http://schemas.microsoft.com/office/drawing/2014/main" id="{6DEF562A-9398-1616-D5D9-E265B77BD155}"/>
              </a:ext>
            </a:extLst>
          </p:cNvPr>
          <p:cNvPicPr>
            <a:picLocks noChangeAspect="1"/>
          </p:cNvPicPr>
          <p:nvPr/>
        </p:nvPicPr>
        <p:blipFill>
          <a:blip r:embed="rId7"/>
          <a:stretch>
            <a:fillRect/>
          </a:stretch>
        </p:blipFill>
        <p:spPr>
          <a:xfrm>
            <a:off x="199800" y="1600200"/>
            <a:ext cx="8744399" cy="3721291"/>
          </a:xfrm>
          <a:prstGeom prst="rect">
            <a:avLst/>
          </a:prstGeom>
        </p:spPr>
      </p:pic>
    </p:spTree>
    <p:extLst>
      <p:ext uri="{BB962C8B-B14F-4D97-AF65-F5344CB8AC3E}">
        <p14:creationId xmlns:p14="http://schemas.microsoft.com/office/powerpoint/2010/main" val="86336697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2400" kern="0" spc="-80" dirty="0">
                <a:solidFill>
                  <a:schemeClr val="accent2"/>
                </a:solidFill>
              </a:rPr>
              <a:t>   Vertical vs Horizontal Scaling – </a:t>
            </a:r>
          </a:p>
        </p:txBody>
      </p:sp>
      <p:pic>
        <p:nvPicPr>
          <p:cNvPr id="9" name="Picture 8">
            <a:extLst>
              <a:ext uri="{FF2B5EF4-FFF2-40B4-BE49-F238E27FC236}">
                <a16:creationId xmlns:a16="http://schemas.microsoft.com/office/drawing/2014/main" id="{54AF0341-0816-07FD-42B5-F52CFF26FB0E}"/>
              </a:ext>
            </a:extLst>
          </p:cNvPr>
          <p:cNvPicPr>
            <a:picLocks noChangeAspect="1"/>
          </p:cNvPicPr>
          <p:nvPr/>
        </p:nvPicPr>
        <p:blipFill>
          <a:blip r:embed="rId7"/>
          <a:stretch>
            <a:fillRect/>
          </a:stretch>
        </p:blipFill>
        <p:spPr>
          <a:xfrm>
            <a:off x="381000" y="1546151"/>
            <a:ext cx="8305800" cy="4245049"/>
          </a:xfrm>
          <a:prstGeom prst="rect">
            <a:avLst/>
          </a:prstGeom>
        </p:spPr>
      </p:pic>
    </p:spTree>
    <p:extLst>
      <p:ext uri="{BB962C8B-B14F-4D97-AF65-F5344CB8AC3E}">
        <p14:creationId xmlns:p14="http://schemas.microsoft.com/office/powerpoint/2010/main" val="1080910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2400" kern="0" spc="-80" dirty="0">
                <a:solidFill>
                  <a:schemeClr val="accent2"/>
                </a:solidFill>
              </a:rPr>
              <a:t>  Scale Cube – </a:t>
            </a:r>
          </a:p>
        </p:txBody>
      </p:sp>
      <p:pic>
        <p:nvPicPr>
          <p:cNvPr id="15364" name="Picture 4" descr="The Scale Cube – Nandun Thilina Bandara">
            <a:extLst>
              <a:ext uri="{FF2B5EF4-FFF2-40B4-BE49-F238E27FC236}">
                <a16:creationId xmlns:a16="http://schemas.microsoft.com/office/drawing/2014/main" id="{71B4C2E3-F2E5-2FDA-309C-FD2013E24F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1562100"/>
            <a:ext cx="8229599" cy="4076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848741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762000"/>
            <a:ext cx="8624937" cy="34009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2400" kern="0" spc="-80" dirty="0">
                <a:solidFill>
                  <a:schemeClr val="accent2"/>
                </a:solidFill>
              </a:rPr>
              <a:t>   Layer vs Tier – </a:t>
            </a:r>
          </a:p>
          <a:p>
            <a:pPr marL="12700" marR="5080"/>
            <a:r>
              <a:rPr lang="en-US" sz="1500" kern="0" spc="-80" dirty="0">
                <a:solidFill>
                  <a:schemeClr val="accent2"/>
                </a:solidFill>
              </a:rPr>
              <a:t>     </a:t>
            </a:r>
            <a:r>
              <a:rPr lang="en-US" sz="1500" dirty="0">
                <a:hlinkClick r:id="rId7"/>
              </a:rPr>
              <a:t>What's the difference between a cake tier and a layer of cake? – My Baker</a:t>
            </a:r>
            <a:endParaRPr lang="en-US" sz="15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r>
              <a:rPr lang="en-US" sz="2400" kern="0" spc="-80" dirty="0">
                <a:solidFill>
                  <a:schemeClr val="accent2"/>
                </a:solidFill>
              </a:rPr>
              <a:t>   Horizontal vs Vertical Scaling – </a:t>
            </a:r>
          </a:p>
          <a:p>
            <a:pPr marL="12700" marR="5080"/>
            <a:r>
              <a:rPr lang="en-US" sz="1500" kern="0" spc="-80" dirty="0">
                <a:solidFill>
                  <a:schemeClr val="accent2"/>
                </a:solidFill>
              </a:rPr>
              <a:t>     </a:t>
            </a:r>
            <a:r>
              <a:rPr lang="en-IN" sz="1500" dirty="0">
                <a:hlinkClick r:id="rId8"/>
              </a:rPr>
              <a:t>Horizontal vs. Vertical Scaling: HPA, VPA &amp; Beyond | </a:t>
            </a:r>
            <a:r>
              <a:rPr lang="en-IN" sz="1500" dirty="0" err="1">
                <a:hlinkClick r:id="rId8"/>
              </a:rPr>
              <a:t>nOps</a:t>
            </a:r>
            <a:endParaRPr lang="en-US" sz="15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r>
              <a:rPr lang="en-US" sz="2400" kern="0" spc="-80" dirty="0">
                <a:solidFill>
                  <a:schemeClr val="accent2"/>
                </a:solidFill>
              </a:rPr>
              <a:t>   Scale Cube – </a:t>
            </a:r>
          </a:p>
          <a:p>
            <a:pPr marL="12700" marR="5080"/>
            <a:r>
              <a:rPr lang="en-US" sz="1500" kern="0" spc="-80" dirty="0">
                <a:solidFill>
                  <a:schemeClr val="accent2"/>
                </a:solidFill>
              </a:rPr>
              <a:t>    </a:t>
            </a:r>
            <a:r>
              <a:rPr lang="en-IN" sz="1500" dirty="0">
                <a:hlinkClick r:id="rId9"/>
              </a:rPr>
              <a:t>The Scale Cube</a:t>
            </a:r>
            <a:endParaRPr lang="en-US" sz="1500" kern="0" spc="-80" dirty="0">
              <a:solidFill>
                <a:schemeClr val="accent2"/>
              </a:solidFill>
            </a:endParaRPr>
          </a:p>
        </p:txBody>
      </p:sp>
    </p:spTree>
    <p:extLst>
      <p:ext uri="{BB962C8B-B14F-4D97-AF65-F5344CB8AC3E}">
        <p14:creationId xmlns:p14="http://schemas.microsoft.com/office/powerpoint/2010/main" val="217029420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2400" kern="0" spc="-80" dirty="0">
                <a:solidFill>
                  <a:schemeClr val="accent2"/>
                </a:solidFill>
              </a:rPr>
              <a:t>   Replication – </a:t>
            </a:r>
          </a:p>
        </p:txBody>
      </p:sp>
      <p:pic>
        <p:nvPicPr>
          <p:cNvPr id="17" name="Picture 16">
            <a:extLst>
              <a:ext uri="{FF2B5EF4-FFF2-40B4-BE49-F238E27FC236}">
                <a16:creationId xmlns:a16="http://schemas.microsoft.com/office/drawing/2014/main" id="{529E88E4-741C-576C-E09B-AFD84056C824}"/>
              </a:ext>
            </a:extLst>
          </p:cNvPr>
          <p:cNvPicPr>
            <a:picLocks noChangeAspect="1"/>
          </p:cNvPicPr>
          <p:nvPr/>
        </p:nvPicPr>
        <p:blipFill>
          <a:blip r:embed="rId7"/>
          <a:stretch>
            <a:fillRect/>
          </a:stretch>
        </p:blipFill>
        <p:spPr>
          <a:xfrm>
            <a:off x="304800" y="1524000"/>
            <a:ext cx="8624937" cy="4191000"/>
          </a:xfrm>
          <a:prstGeom prst="rect">
            <a:avLst/>
          </a:prstGeom>
        </p:spPr>
      </p:pic>
    </p:spTree>
    <p:extLst>
      <p:ext uri="{BB962C8B-B14F-4D97-AF65-F5344CB8AC3E}">
        <p14:creationId xmlns:p14="http://schemas.microsoft.com/office/powerpoint/2010/main" val="317343057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2400" kern="0" spc="-80" dirty="0">
                <a:solidFill>
                  <a:schemeClr val="accent2"/>
                </a:solidFill>
              </a:rPr>
              <a:t>   Web Stateful Replication – </a:t>
            </a:r>
          </a:p>
        </p:txBody>
      </p:sp>
      <p:pic>
        <p:nvPicPr>
          <p:cNvPr id="10" name="Picture 9">
            <a:extLst>
              <a:ext uri="{FF2B5EF4-FFF2-40B4-BE49-F238E27FC236}">
                <a16:creationId xmlns:a16="http://schemas.microsoft.com/office/drawing/2014/main" id="{1CF82766-372A-3F29-EF08-5EACB64306D7}"/>
              </a:ext>
            </a:extLst>
          </p:cNvPr>
          <p:cNvPicPr>
            <a:picLocks noChangeAspect="1"/>
          </p:cNvPicPr>
          <p:nvPr/>
        </p:nvPicPr>
        <p:blipFill>
          <a:blip r:embed="rId7"/>
          <a:stretch>
            <a:fillRect/>
          </a:stretch>
        </p:blipFill>
        <p:spPr>
          <a:xfrm>
            <a:off x="381000" y="1524000"/>
            <a:ext cx="8305799" cy="4191000"/>
          </a:xfrm>
          <a:prstGeom prst="rect">
            <a:avLst/>
          </a:prstGeom>
        </p:spPr>
      </p:pic>
    </p:spTree>
    <p:extLst>
      <p:ext uri="{BB962C8B-B14F-4D97-AF65-F5344CB8AC3E}">
        <p14:creationId xmlns:p14="http://schemas.microsoft.com/office/powerpoint/2010/main" val="301382267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2400" kern="0" spc="-80" dirty="0">
                <a:solidFill>
                  <a:schemeClr val="accent2"/>
                </a:solidFill>
              </a:rPr>
              <a:t>   Web/Service Stateless Replication – </a:t>
            </a:r>
          </a:p>
        </p:txBody>
      </p:sp>
      <p:pic>
        <p:nvPicPr>
          <p:cNvPr id="11" name="Picture 10">
            <a:extLst>
              <a:ext uri="{FF2B5EF4-FFF2-40B4-BE49-F238E27FC236}">
                <a16:creationId xmlns:a16="http://schemas.microsoft.com/office/drawing/2014/main" id="{711826C6-3270-3BDE-DC5D-76050EB66535}"/>
              </a:ext>
            </a:extLst>
          </p:cNvPr>
          <p:cNvPicPr>
            <a:picLocks noChangeAspect="1"/>
          </p:cNvPicPr>
          <p:nvPr/>
        </p:nvPicPr>
        <p:blipFill>
          <a:blip r:embed="rId7"/>
          <a:stretch>
            <a:fillRect/>
          </a:stretch>
        </p:blipFill>
        <p:spPr>
          <a:xfrm>
            <a:off x="381000" y="1524000"/>
            <a:ext cx="8305799" cy="4267200"/>
          </a:xfrm>
          <a:prstGeom prst="rect">
            <a:avLst/>
          </a:prstGeom>
        </p:spPr>
      </p:pic>
    </p:spTree>
    <p:extLst>
      <p:ext uri="{BB962C8B-B14F-4D97-AF65-F5344CB8AC3E}">
        <p14:creationId xmlns:p14="http://schemas.microsoft.com/office/powerpoint/2010/main" val="18093412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2400" kern="0" spc="-80" dirty="0">
                <a:solidFill>
                  <a:schemeClr val="accent2"/>
                </a:solidFill>
              </a:rPr>
              <a:t>   DB Replication – </a:t>
            </a:r>
          </a:p>
        </p:txBody>
      </p:sp>
      <p:pic>
        <p:nvPicPr>
          <p:cNvPr id="11" name="Picture 10">
            <a:extLst>
              <a:ext uri="{FF2B5EF4-FFF2-40B4-BE49-F238E27FC236}">
                <a16:creationId xmlns:a16="http://schemas.microsoft.com/office/drawing/2014/main" id="{435311F0-0EC9-DE29-971B-4049E74B01E7}"/>
              </a:ext>
            </a:extLst>
          </p:cNvPr>
          <p:cNvPicPr>
            <a:picLocks noChangeAspect="1"/>
          </p:cNvPicPr>
          <p:nvPr/>
        </p:nvPicPr>
        <p:blipFill>
          <a:blip r:embed="rId7"/>
          <a:stretch>
            <a:fillRect/>
          </a:stretch>
        </p:blipFill>
        <p:spPr>
          <a:xfrm>
            <a:off x="152400" y="1524000"/>
            <a:ext cx="8701137" cy="3962400"/>
          </a:xfrm>
          <a:prstGeom prst="rect">
            <a:avLst/>
          </a:prstGeom>
        </p:spPr>
      </p:pic>
    </p:spTree>
    <p:extLst>
      <p:ext uri="{BB962C8B-B14F-4D97-AF65-F5344CB8AC3E}">
        <p14:creationId xmlns:p14="http://schemas.microsoft.com/office/powerpoint/2010/main" val="393891408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2400" kern="0" spc="-80" dirty="0">
                <a:solidFill>
                  <a:schemeClr val="accent2"/>
                </a:solidFill>
              </a:rPr>
              <a:t>   DB Replication </a:t>
            </a:r>
            <a:r>
              <a:rPr lang="en-US" sz="2400" kern="0" spc="-80" dirty="0" err="1">
                <a:solidFill>
                  <a:schemeClr val="accent2"/>
                </a:solidFill>
              </a:rPr>
              <a:t>contd</a:t>
            </a:r>
            <a:r>
              <a:rPr lang="en-US" sz="2400" kern="0" spc="-80" dirty="0">
                <a:solidFill>
                  <a:schemeClr val="accent2"/>
                </a:solidFill>
              </a:rPr>
              <a:t> … – </a:t>
            </a:r>
          </a:p>
        </p:txBody>
      </p:sp>
      <p:pic>
        <p:nvPicPr>
          <p:cNvPr id="8" name="Picture 7">
            <a:extLst>
              <a:ext uri="{FF2B5EF4-FFF2-40B4-BE49-F238E27FC236}">
                <a16:creationId xmlns:a16="http://schemas.microsoft.com/office/drawing/2014/main" id="{AA74FD71-1BA4-EB23-3CD6-5E213AA3DA5B}"/>
              </a:ext>
            </a:extLst>
          </p:cNvPr>
          <p:cNvPicPr>
            <a:picLocks noChangeAspect="1"/>
          </p:cNvPicPr>
          <p:nvPr/>
        </p:nvPicPr>
        <p:blipFill>
          <a:blip r:embed="rId7"/>
          <a:stretch>
            <a:fillRect/>
          </a:stretch>
        </p:blipFill>
        <p:spPr>
          <a:xfrm>
            <a:off x="381000" y="1524000"/>
            <a:ext cx="8382000" cy="3705225"/>
          </a:xfrm>
          <a:prstGeom prst="rect">
            <a:avLst/>
          </a:prstGeom>
        </p:spPr>
      </p:pic>
    </p:spTree>
    <p:extLst>
      <p:ext uri="{BB962C8B-B14F-4D97-AF65-F5344CB8AC3E}">
        <p14:creationId xmlns:p14="http://schemas.microsoft.com/office/powerpoint/2010/main" val="315331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04800" y="762000"/>
            <a:ext cx="9067800"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2400" kern="0" spc="-80" dirty="0">
                <a:solidFill>
                  <a:schemeClr val="accent2"/>
                </a:solidFill>
              </a:rPr>
              <a:t>   Partitioning(needed for Distributed Stateful components </a:t>
            </a:r>
          </a:p>
          <a:p>
            <a:pPr marL="12700" marR="5080"/>
            <a:r>
              <a:rPr lang="en-US" sz="2400" kern="0" spc="-80" dirty="0">
                <a:solidFill>
                  <a:schemeClr val="accent2"/>
                </a:solidFill>
              </a:rPr>
              <a:t>   [DBs/MQs/Caches </a:t>
            </a:r>
            <a:r>
              <a:rPr lang="en-US" sz="2400" kern="0" spc="-80" dirty="0" err="1">
                <a:solidFill>
                  <a:schemeClr val="accent2"/>
                </a:solidFill>
              </a:rPr>
              <a:t>etc</a:t>
            </a:r>
            <a:r>
              <a:rPr lang="en-US" sz="2400" kern="0" spc="-80" dirty="0">
                <a:solidFill>
                  <a:schemeClr val="accent2"/>
                </a:solidFill>
              </a:rPr>
              <a:t>]) – </a:t>
            </a:r>
          </a:p>
        </p:txBody>
      </p:sp>
      <p:pic>
        <p:nvPicPr>
          <p:cNvPr id="9" name="Picture 8">
            <a:extLst>
              <a:ext uri="{FF2B5EF4-FFF2-40B4-BE49-F238E27FC236}">
                <a16:creationId xmlns:a16="http://schemas.microsoft.com/office/drawing/2014/main" id="{7BC767CD-61CA-9F80-FB25-24DBB1579905}"/>
              </a:ext>
            </a:extLst>
          </p:cNvPr>
          <p:cNvPicPr>
            <a:picLocks noChangeAspect="1"/>
          </p:cNvPicPr>
          <p:nvPr/>
        </p:nvPicPr>
        <p:blipFill>
          <a:blip r:embed="rId7"/>
          <a:stretch>
            <a:fillRect/>
          </a:stretch>
        </p:blipFill>
        <p:spPr>
          <a:xfrm>
            <a:off x="324080" y="1908732"/>
            <a:ext cx="8534400" cy="3265426"/>
          </a:xfrm>
          <a:prstGeom prst="rect">
            <a:avLst/>
          </a:prstGeom>
        </p:spPr>
      </p:pic>
      <p:sp>
        <p:nvSpPr>
          <p:cNvPr id="7" name="object 2">
            <a:extLst>
              <a:ext uri="{FF2B5EF4-FFF2-40B4-BE49-F238E27FC236}">
                <a16:creationId xmlns:a16="http://schemas.microsoft.com/office/drawing/2014/main" id="{BF3BCAB5-22DA-44A3-F0B6-14643EB78872}"/>
              </a:ext>
            </a:extLst>
          </p:cNvPr>
          <p:cNvSpPr txBox="1">
            <a:spLocks/>
          </p:cNvSpPr>
          <p:nvPr/>
        </p:nvSpPr>
        <p:spPr>
          <a:xfrm>
            <a:off x="278811" y="5049551"/>
            <a:ext cx="8624937" cy="8771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100" dirty="0">
                <a:hlinkClick r:id="rId8"/>
              </a:rPr>
              <a:t>Consistent Hashing Explained</a:t>
            </a:r>
            <a:endParaRPr lang="en-US" sz="1100" dirty="0"/>
          </a:p>
          <a:p>
            <a:pPr marL="12700" marR="5080"/>
            <a:r>
              <a:rPr lang="en-US" sz="1100" dirty="0">
                <a:hlinkClick r:id="rId9"/>
              </a:rPr>
              <a:t>The Ultimate Guide to Consistent Hashing | </a:t>
            </a:r>
            <a:r>
              <a:rPr lang="en-US" sz="1100" dirty="0" err="1">
                <a:hlinkClick r:id="rId9"/>
              </a:rPr>
              <a:t>Toptal</a:t>
            </a:r>
            <a:r>
              <a:rPr lang="en-US" sz="1100" dirty="0">
                <a:hlinkClick r:id="rId9"/>
              </a:rPr>
              <a:t>®</a:t>
            </a:r>
            <a:endParaRPr lang="en-US" sz="1100" dirty="0"/>
          </a:p>
          <a:p>
            <a:pPr marL="12700" marR="5080"/>
            <a:r>
              <a:rPr lang="en-US" sz="1100" dirty="0">
                <a:hlinkClick r:id="rId10"/>
              </a:rPr>
              <a:t>How data is distributed across a cluster (using virtual nodes)</a:t>
            </a:r>
            <a:endParaRPr lang="en-US" sz="1100" kern="0" spc="-80" dirty="0">
              <a:solidFill>
                <a:schemeClr val="accent2"/>
              </a:solidFill>
            </a:endParaRPr>
          </a:p>
        </p:txBody>
      </p:sp>
    </p:spTree>
    <p:extLst>
      <p:ext uri="{BB962C8B-B14F-4D97-AF65-F5344CB8AC3E}">
        <p14:creationId xmlns:p14="http://schemas.microsoft.com/office/powerpoint/2010/main" val="24219870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01058" y="572700"/>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1800" kern="0" spc="-80" dirty="0">
                <a:solidFill>
                  <a:schemeClr val="accent2"/>
                </a:solidFill>
              </a:rPr>
              <a:t>For Further Exploration(Replication [&amp; Partitioning]) –</a:t>
            </a:r>
            <a:r>
              <a:rPr lang="en-US" sz="2400" kern="0" spc="-80" dirty="0">
                <a:solidFill>
                  <a:schemeClr val="accent2"/>
                </a:solidFill>
              </a:rPr>
              <a:t> </a:t>
            </a:r>
          </a:p>
          <a:p>
            <a:pPr marL="12700" marR="5080"/>
            <a:r>
              <a:rPr lang="en-US" sz="1400" kern="0" spc="-80" dirty="0">
                <a:solidFill>
                  <a:schemeClr val="accent2"/>
                </a:solidFill>
              </a:rPr>
              <a:t>Distributed Events Ordering(Physical vs Logical vs Vector Clock) </a:t>
            </a:r>
          </a:p>
          <a:p>
            <a:pPr marL="12700" marR="5080"/>
            <a:r>
              <a:rPr lang="en-US" sz="1500" dirty="0">
                <a:hlinkClick r:id="rId8"/>
              </a:rPr>
              <a:t>Distributed Systems: Physical, Logical, and Vector Clocks</a:t>
            </a:r>
            <a:endParaRPr lang="en-US" sz="1500" dirty="0"/>
          </a:p>
          <a:p>
            <a:pPr marL="12700" marR="5080"/>
            <a:r>
              <a:rPr lang="en-IN" sz="1500" dirty="0">
                <a:hlinkClick r:id="rId9"/>
              </a:rPr>
              <a:t>Distributed Systems Clocks | LinkedIn</a:t>
            </a:r>
            <a:endParaRPr lang="en-IN" sz="1500" dirty="0"/>
          </a:p>
          <a:p>
            <a:pPr marL="12700" marR="5080"/>
            <a:r>
              <a:rPr lang="en-US" sz="1400" kern="0" spc="-80" dirty="0">
                <a:solidFill>
                  <a:schemeClr val="accent2"/>
                </a:solidFill>
              </a:rPr>
              <a:t>Leader Election – </a:t>
            </a:r>
          </a:p>
          <a:p>
            <a:pPr marL="12700" marR="5080"/>
            <a:r>
              <a:rPr lang="en-US" sz="1500" dirty="0">
                <a:hlinkClick r:id="rId10"/>
              </a:rPr>
              <a:t>Leader Election pattern - Azure Architecture Center | Microsoft Learn</a:t>
            </a:r>
            <a:r>
              <a:rPr lang="en-US" sz="1500" kern="0" spc="-80" dirty="0">
                <a:solidFill>
                  <a:schemeClr val="accent2"/>
                </a:solidFill>
              </a:rPr>
              <a:t>   </a:t>
            </a:r>
          </a:p>
          <a:p>
            <a:pPr marL="12700" marR="5080"/>
            <a:r>
              <a:rPr lang="en-US" sz="1500" dirty="0">
                <a:hlinkClick r:id="rId11"/>
              </a:rPr>
              <a:t>How does the leader election in Raft work?</a:t>
            </a:r>
            <a:endParaRPr lang="en-US" sz="1500" dirty="0"/>
          </a:p>
          <a:p>
            <a:pPr marL="12700" marR="5080"/>
            <a:r>
              <a:rPr lang="en-US" sz="1400" kern="0" spc="-80" dirty="0" err="1">
                <a:solidFill>
                  <a:schemeClr val="accent2"/>
                </a:solidFill>
              </a:rPr>
              <a:t>tate</a:t>
            </a:r>
            <a:r>
              <a:rPr lang="en-US" sz="1400" kern="0" spc="-80" dirty="0">
                <a:solidFill>
                  <a:schemeClr val="accent2"/>
                </a:solidFill>
              </a:rPr>
              <a:t> Machine Replication(PAXOS vs RAFT vs ZAB) - </a:t>
            </a:r>
          </a:p>
          <a:p>
            <a:pPr marL="12700" marR="5080"/>
            <a:r>
              <a:rPr lang="en-IN" sz="1500" dirty="0">
                <a:hlinkClick r:id="rId12"/>
              </a:rPr>
              <a:t>Paxos vs. Raft vs. ZAB</a:t>
            </a:r>
            <a:endParaRPr lang="en-IN" sz="1500" dirty="0"/>
          </a:p>
          <a:p>
            <a:pPr marL="12700" marR="5080"/>
            <a:r>
              <a:rPr lang="en-US" sz="1400" kern="0" spc="-80" dirty="0">
                <a:solidFill>
                  <a:schemeClr val="accent2"/>
                </a:solidFill>
              </a:rPr>
              <a:t>Chain Replication - </a:t>
            </a:r>
            <a:r>
              <a:rPr lang="en-US" sz="1500" dirty="0">
                <a:hlinkClick r:id="rId13"/>
              </a:rPr>
              <a:t>Chain replication : how to build an effective KV-storage (part 1/2)</a:t>
            </a:r>
            <a:endParaRPr lang="en-US" sz="1500" dirty="0"/>
          </a:p>
          <a:p>
            <a:pPr marL="12700" marR="5080"/>
            <a:r>
              <a:rPr lang="en-US" sz="1400" kern="0" spc="-80" dirty="0">
                <a:solidFill>
                  <a:schemeClr val="accent2"/>
                </a:solidFill>
              </a:rPr>
              <a:t>CRDTs(Conflict Free Replicated Data Types) - </a:t>
            </a:r>
            <a:r>
              <a:rPr lang="en-US" sz="1500" dirty="0">
                <a:hlinkClick r:id="rId14"/>
              </a:rPr>
              <a:t>A Look at CRDT</a:t>
            </a:r>
            <a:endParaRPr lang="en-US" sz="1500" dirty="0"/>
          </a:p>
          <a:p>
            <a:pPr marL="12700" marR="5080"/>
            <a:r>
              <a:rPr lang="en-US" sz="1400" kern="0" spc="-80" dirty="0">
                <a:solidFill>
                  <a:schemeClr val="accent2"/>
                </a:solidFill>
              </a:rPr>
              <a:t>Broadcast Protocols in Distributed Systems –  </a:t>
            </a:r>
          </a:p>
          <a:p>
            <a:pPr marL="12700" marR="5080"/>
            <a:r>
              <a:rPr lang="en-US" sz="1500" dirty="0">
                <a:hlinkClick r:id="rId15"/>
              </a:rPr>
              <a:t>Broadcast protocols in distributed computer control systems – ScienceDirect</a:t>
            </a:r>
            <a:endParaRPr lang="en-US" sz="1500" dirty="0"/>
          </a:p>
          <a:p>
            <a:pPr marL="12700" marR="5080"/>
            <a:r>
              <a:rPr lang="en-US" sz="1400" kern="0" spc="-80" dirty="0">
                <a:solidFill>
                  <a:schemeClr val="accent2"/>
                </a:solidFill>
              </a:rPr>
              <a:t>Dynamo Style Stores - </a:t>
            </a:r>
            <a:r>
              <a:rPr lang="en-US" sz="1500" dirty="0">
                <a:hlinkClick r:id="rId16"/>
              </a:rPr>
              <a:t>System Design Concepts: Dynamo</a:t>
            </a:r>
            <a:endParaRPr lang="en-US" sz="1500" dirty="0"/>
          </a:p>
          <a:p>
            <a:pPr marL="12700" marR="5080"/>
            <a:r>
              <a:rPr lang="en-US" sz="1400" kern="0" spc="-80" dirty="0">
                <a:solidFill>
                  <a:schemeClr val="accent2"/>
                </a:solidFill>
              </a:rPr>
              <a:t>Co-Ordination Avoidance &amp; CALM Theorem - </a:t>
            </a:r>
            <a:r>
              <a:rPr lang="en-US" sz="1500" dirty="0">
                <a:hlinkClick r:id="rId17"/>
              </a:rPr>
              <a:t>Avoiding Coordination Cost</a:t>
            </a:r>
            <a:endParaRPr lang="en-US" sz="1500" dirty="0"/>
          </a:p>
          <a:p>
            <a:pPr marL="12700" marR="5080"/>
            <a:r>
              <a:rPr lang="en-US" sz="1500" kern="0" spc="-80" dirty="0">
                <a:solidFill>
                  <a:schemeClr val="accent2"/>
                </a:solidFill>
              </a:rPr>
              <a:t>DB Sharding vs Partitioning - </a:t>
            </a:r>
            <a:r>
              <a:rPr lang="en-US" sz="1600" dirty="0">
                <a:hlinkClick r:id="rId18"/>
              </a:rPr>
              <a:t>Sharding vs Partitioning: Understanding Database Distribution Methods | </a:t>
            </a:r>
            <a:r>
              <a:rPr lang="en-US" sz="1600">
                <a:hlinkClick r:id="rId18"/>
              </a:rPr>
              <a:t>DataCamp</a:t>
            </a:r>
            <a:endParaRPr lang="en-US" sz="1500" kern="0" spc="-80" dirty="0">
              <a:solidFill>
                <a:schemeClr val="accent2"/>
              </a:solidFill>
            </a:endParaRPr>
          </a:p>
        </p:txBody>
      </p:sp>
    </p:spTree>
    <p:extLst>
      <p:ext uri="{BB962C8B-B14F-4D97-AF65-F5344CB8AC3E}">
        <p14:creationId xmlns:p14="http://schemas.microsoft.com/office/powerpoint/2010/main" val="41053442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1022390"/>
            <a:ext cx="8624937" cy="53245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Scalability –</a:t>
            </a:r>
          </a:p>
          <a:p>
            <a:pPr marL="12700" marR="5080"/>
            <a:r>
              <a:rPr lang="en-US" sz="1600" kern="0" spc="-80" dirty="0">
                <a:solidFill>
                  <a:schemeClr val="accent2"/>
                </a:solidFill>
              </a:rPr>
              <a:t>   </a:t>
            </a:r>
            <a:r>
              <a:rPr lang="en-US" sz="1200" kern="0" spc="-80" dirty="0">
                <a:solidFill>
                  <a:schemeClr val="accent2"/>
                </a:solidFill>
              </a:rPr>
              <a:t>Throughput – </a:t>
            </a:r>
            <a:r>
              <a:rPr lang="en-US" sz="1200" kern="0" spc="-80" dirty="0">
                <a:solidFill>
                  <a:schemeClr val="accent6"/>
                </a:solidFill>
              </a:rPr>
              <a:t>Number of requests(/transactions) served by a (Web/App/DB) server.</a:t>
            </a:r>
          </a:p>
          <a:p>
            <a:pPr marL="12700" marR="5080"/>
            <a:r>
              <a:rPr lang="en-US" sz="1200" kern="0" spc="-80" dirty="0">
                <a:solidFill>
                  <a:schemeClr val="accent2"/>
                </a:solidFill>
              </a:rPr>
              <a:t>    Ways to Improve Throughput</a:t>
            </a:r>
            <a:r>
              <a:rPr lang="en-US" sz="1200" kern="0" spc="-80" dirty="0">
                <a:solidFill>
                  <a:schemeClr val="accent6"/>
                </a:solidFill>
              </a:rPr>
              <a:t> – </a:t>
            </a:r>
          </a:p>
          <a:p>
            <a:pPr marL="12700" marR="5080"/>
            <a:r>
              <a:rPr lang="en-US" sz="1200" kern="0" spc="-80" dirty="0">
                <a:solidFill>
                  <a:schemeClr val="accent6"/>
                </a:solidFill>
              </a:rPr>
              <a:t>    1) Load Balancers &amp; Horizontal Scaling</a:t>
            </a:r>
          </a:p>
          <a:p>
            <a:pPr marL="12700" marR="5080"/>
            <a:r>
              <a:rPr lang="en-US" sz="1200" kern="0" spc="-80" dirty="0">
                <a:solidFill>
                  <a:schemeClr val="accent6"/>
                </a:solidFill>
              </a:rPr>
              <a:t>    2) Asynchronous Processing (mainly to increase write throughput)</a:t>
            </a:r>
          </a:p>
          <a:p>
            <a:pPr marL="12700" marR="5080"/>
            <a:r>
              <a:rPr lang="en-US" sz="1200" kern="0" spc="-80" dirty="0">
                <a:solidFill>
                  <a:schemeClr val="accent6"/>
                </a:solidFill>
              </a:rPr>
              <a:t>    3) Use Partitioning to increase Write Throughput while use Replication to increase Read Throughput</a:t>
            </a:r>
          </a:p>
          <a:p>
            <a:pPr marL="12700" marR="5080"/>
            <a:r>
              <a:rPr lang="en-US" sz="1200" kern="0" spc="-80" dirty="0">
                <a:solidFill>
                  <a:schemeClr val="accent6"/>
                </a:solidFill>
              </a:rPr>
              <a:t>      </a:t>
            </a:r>
            <a:r>
              <a:rPr lang="en-US" sz="1200" kern="0" spc="-80" dirty="0">
                <a:solidFill>
                  <a:schemeClr val="accent2"/>
                </a:solidFill>
              </a:rPr>
              <a:t>Auto-Elastic Scalability Techniques(Reactive Techniques are Rule Based &amp; State of the Art Proactive Techniques are ML based) – </a:t>
            </a:r>
          </a:p>
          <a:p>
            <a:pPr marL="12700" marR="5080"/>
            <a:r>
              <a:rPr lang="en-US" sz="1200" kern="0" spc="-80" dirty="0">
                <a:solidFill>
                  <a:schemeClr val="accent2"/>
                </a:solidFill>
              </a:rPr>
              <a:t>  </a:t>
            </a:r>
            <a:r>
              <a:rPr lang="en-IN" sz="1200" dirty="0">
                <a:hlinkClick r:id="rId7"/>
              </a:rPr>
              <a:t>autoscaling_survey.pdf</a:t>
            </a:r>
            <a:endParaRPr lang="en-US" sz="1200" kern="0" spc="-80" dirty="0">
              <a:solidFill>
                <a:schemeClr val="accent2"/>
              </a:solidFill>
            </a:endParaRPr>
          </a:p>
          <a:p>
            <a:pPr marL="12700" marR="5080"/>
            <a:r>
              <a:rPr lang="en-US" sz="1400" kern="0" spc="-80" dirty="0">
                <a:solidFill>
                  <a:schemeClr val="accent2"/>
                </a:solidFill>
              </a:rPr>
              <a:t>       For Further Exploration – </a:t>
            </a:r>
          </a:p>
          <a:p>
            <a:pPr marL="12700" marR="5080"/>
            <a:r>
              <a:rPr lang="en-US" sz="1000" kern="0" spc="-80" dirty="0">
                <a:solidFill>
                  <a:schemeClr val="accent2"/>
                </a:solidFill>
              </a:rPr>
              <a:t>  </a:t>
            </a:r>
            <a:r>
              <a:rPr lang="en-IN" sz="1000" dirty="0">
                <a:hlinkClick r:id="rId8"/>
              </a:rPr>
              <a:t>8 Must Strategies for System Scaling | Feed | LinkedIn</a:t>
            </a:r>
            <a:endParaRPr lang="en-IN" sz="1000" dirty="0"/>
          </a:p>
          <a:p>
            <a:pPr marL="12700" marR="5080"/>
            <a:r>
              <a:rPr lang="en-IN" sz="1000" dirty="0"/>
              <a:t>  </a:t>
            </a:r>
            <a:r>
              <a:rPr lang="en-IN" sz="1000" dirty="0">
                <a:hlinkClick r:id="rId9"/>
              </a:rPr>
              <a:t>7 Must Strategies for DB Scaling | LinkedIn</a:t>
            </a:r>
            <a:endParaRPr lang="en-IN" sz="1000" dirty="0"/>
          </a:p>
          <a:p>
            <a:pPr marL="12700" marR="5080"/>
            <a:r>
              <a:rPr lang="en-IN" sz="1000" dirty="0"/>
              <a:t>  </a:t>
            </a:r>
            <a:r>
              <a:rPr lang="en-US" sz="1000" dirty="0">
                <a:hlinkClick r:id="rId10"/>
              </a:rPr>
              <a:t>Art of Scalability</a:t>
            </a:r>
            <a:endParaRPr lang="en-US" sz="1000" dirty="0"/>
          </a:p>
          <a:p>
            <a:pPr marL="12700" marR="5080"/>
            <a:r>
              <a:rPr lang="en-US" sz="1000" dirty="0"/>
              <a:t>  </a:t>
            </a:r>
            <a:r>
              <a:rPr lang="en-US" sz="1000" dirty="0">
                <a:hlinkClick r:id="rId11"/>
              </a:rPr>
              <a:t>The Art of Capacity Planning, 2nd Edition [Book]</a:t>
            </a:r>
            <a:endParaRPr lang="en-US" sz="1000" dirty="0"/>
          </a:p>
          <a:p>
            <a:pPr marL="12700" marR="5080"/>
            <a:r>
              <a:rPr lang="en-US" sz="1000" dirty="0"/>
              <a:t>  </a:t>
            </a:r>
            <a:r>
              <a:rPr lang="en-IN" sz="1000" dirty="0">
                <a:hlinkClick r:id="rId12"/>
              </a:rPr>
              <a:t>Scalability Rules: 50 Principles for Scaling Web Sites eBook</a:t>
            </a:r>
            <a:endParaRPr lang="en-IN" sz="1000" dirty="0"/>
          </a:p>
          <a:p>
            <a:pPr marL="12700" marR="5080"/>
            <a:r>
              <a:rPr lang="en-IN" sz="1000" dirty="0"/>
              <a:t>  </a:t>
            </a:r>
            <a:r>
              <a:rPr lang="en-US" sz="1000" dirty="0">
                <a:hlinkClick r:id="rId13"/>
              </a:rPr>
              <a:t>Web Operations: Keeping the Data On Time eBook</a:t>
            </a:r>
            <a:endParaRPr lang="en-US" sz="1000" dirty="0"/>
          </a:p>
          <a:p>
            <a:pPr marL="12700" marR="5080"/>
            <a:r>
              <a:rPr lang="en-IN" sz="1000" dirty="0"/>
              <a:t>  </a:t>
            </a:r>
            <a:r>
              <a:rPr lang="en-US" sz="1000" dirty="0">
                <a:hlinkClick r:id="rId14"/>
              </a:rPr>
              <a:t>Scaling Pods and Nodes in K8s | Build Intelligent Apps On Azure</a:t>
            </a:r>
            <a:endParaRPr lang="en-US" sz="1000" dirty="0"/>
          </a:p>
          <a:p>
            <a:pPr marL="12700" marR="5080"/>
            <a:r>
              <a:rPr lang="en-US" sz="1000" dirty="0"/>
              <a:t>  </a:t>
            </a:r>
            <a:r>
              <a:rPr lang="en-IN" sz="1000" dirty="0">
                <a:hlinkClick r:id="rId15"/>
              </a:rPr>
              <a:t>Scale applications in Azure Kubernetes Services (AKS) - Azure Kubernetes Service | Microsoft Learn</a:t>
            </a:r>
            <a:endParaRPr lang="en-IN" sz="1000" dirty="0"/>
          </a:p>
          <a:p>
            <a:pPr marL="12700" marR="5080"/>
            <a:r>
              <a:rPr lang="en-IN" sz="1000" dirty="0"/>
              <a:t>  </a:t>
            </a:r>
            <a:r>
              <a:rPr lang="en-US" sz="1000" dirty="0">
                <a:hlinkClick r:id="rId16"/>
              </a:rPr>
              <a:t>Performance and scaling best practices for small to medium workloads in Azure Kubernetes Service (AKS)</a:t>
            </a:r>
            <a:endParaRPr lang="en-US" sz="1000" dirty="0"/>
          </a:p>
          <a:p>
            <a:pPr marL="12700" marR="5080"/>
            <a:r>
              <a:rPr lang="en-US" sz="1000" dirty="0"/>
              <a:t>  </a:t>
            </a:r>
            <a:r>
              <a:rPr lang="en-US" sz="1000" dirty="0">
                <a:hlinkClick r:id="rId17"/>
              </a:rPr>
              <a:t>Azure Service Bus - Automatically update messaging units - Azure Service Bus | Microsoft Learn</a:t>
            </a:r>
            <a:endParaRPr lang="en-US" sz="1000" dirty="0"/>
          </a:p>
          <a:p>
            <a:pPr marL="12700" marR="5080"/>
            <a:r>
              <a:rPr lang="en-US" sz="1000" dirty="0"/>
              <a:t>  </a:t>
            </a:r>
            <a:r>
              <a:rPr lang="en-US" sz="1000" dirty="0">
                <a:hlinkClick r:id="rId18"/>
              </a:rPr>
              <a:t>Microsoft Azure Service Bus quotas and limits - Azure Service Bus | Microsoft Learn</a:t>
            </a:r>
            <a:r>
              <a:rPr lang="en-US" sz="1000" dirty="0"/>
              <a:t>(</a:t>
            </a:r>
            <a:r>
              <a:rPr lang="en-US" sz="1200" kern="0" spc="-80" dirty="0">
                <a:solidFill>
                  <a:schemeClr val="accent6"/>
                </a:solidFill>
              </a:rPr>
              <a:t>an Azure SB topic/queue/subscription doesn’t allow more than 5K concurrent requests and so  topics/queues/subscriptions might have to be [auto]scaled if &gt; 5K concurrent requests needed to be supported or some sort of chunking/batching needs to be there from the publisher end[</a:t>
            </a:r>
            <a:r>
              <a:rPr lang="en-US" sz="1200" dirty="0">
                <a:hlinkClick r:id="rId19"/>
              </a:rPr>
              <a:t>Sending Large Batches to Azure Service Bus | Mikhail </a:t>
            </a:r>
            <a:r>
              <a:rPr lang="en-US" sz="1200" dirty="0" err="1">
                <a:hlinkClick r:id="rId19"/>
              </a:rPr>
              <a:t>Shilkov</a:t>
            </a:r>
            <a:r>
              <a:rPr lang="en-US" sz="1200" dirty="0"/>
              <a:t> – </a:t>
            </a:r>
            <a:r>
              <a:rPr lang="en-US" sz="1200" kern="0" spc="-80" dirty="0">
                <a:solidFill>
                  <a:schemeClr val="accent6"/>
                </a:solidFill>
              </a:rPr>
              <a:t>seems even a batch request is considered as a single request but need to test this]).Sometimes Batching can solve timeout issues as well.</a:t>
            </a:r>
          </a:p>
          <a:p>
            <a:pPr marL="12700" marR="5080"/>
            <a:r>
              <a:rPr lang="en-US" sz="1000" dirty="0"/>
              <a:t>  </a:t>
            </a:r>
            <a:r>
              <a:rPr lang="en-IN" sz="1000" dirty="0">
                <a:hlinkClick r:id="rId20"/>
              </a:rPr>
              <a:t>Kubernetes Event-driven Autoscaling (KEDA) - Azure Kubernetes Service | Microsoft Learn</a:t>
            </a:r>
            <a:r>
              <a:rPr lang="en-US" sz="1000" dirty="0"/>
              <a:t> </a:t>
            </a:r>
            <a:r>
              <a:rPr lang="en-US" sz="1000" kern="0" spc="-80" dirty="0">
                <a:solidFill>
                  <a:schemeClr val="accent2"/>
                </a:solidFill>
              </a:rPr>
              <a:t>       </a:t>
            </a:r>
          </a:p>
          <a:p>
            <a:pPr marL="12700" marR="5080"/>
            <a:r>
              <a:rPr lang="en-US" sz="1000" kern="0" spc="-80" dirty="0">
                <a:solidFill>
                  <a:schemeClr val="accent2"/>
                </a:solidFill>
              </a:rPr>
              <a:t>   </a:t>
            </a:r>
            <a:r>
              <a:rPr lang="en-US" sz="1000" dirty="0" err="1">
                <a:hlinkClick r:id="rId21"/>
              </a:rPr>
              <a:t>KEDA_Related_Query_Answered_By_ChatGPT</a:t>
            </a:r>
            <a:r>
              <a:rPr lang="en-US" sz="1000" dirty="0">
                <a:hlinkClick r:id="rId21"/>
              </a:rPr>
              <a:t> · GitHub</a:t>
            </a:r>
            <a:endParaRPr lang="en-US" sz="1000" kern="0" spc="-80" dirty="0">
              <a:solidFill>
                <a:schemeClr val="accent2"/>
              </a:solidFill>
            </a:endParaRPr>
          </a:p>
          <a:p>
            <a:pPr marL="12700" marR="5080"/>
            <a:r>
              <a:rPr lang="en-US" sz="900" kern="0" spc="-80" dirty="0">
                <a:solidFill>
                  <a:schemeClr val="accent2"/>
                </a:solidFill>
              </a:rPr>
              <a:t>  </a:t>
            </a:r>
          </a:p>
          <a:p>
            <a:pPr marL="12700" marR="5080"/>
            <a:r>
              <a:rPr lang="en-US" sz="900" kern="0" spc="-80" dirty="0">
                <a:solidFill>
                  <a:schemeClr val="accent2"/>
                </a:solidFill>
              </a:rPr>
              <a:t>    </a:t>
            </a:r>
          </a:p>
        </p:txBody>
      </p:sp>
    </p:spTree>
    <p:extLst>
      <p:ext uri="{BB962C8B-B14F-4D97-AF65-F5344CB8AC3E}">
        <p14:creationId xmlns:p14="http://schemas.microsoft.com/office/powerpoint/2010/main" val="401040532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1600" kern="0" spc="-80" dirty="0">
                <a:solidFill>
                  <a:schemeClr val="accent2"/>
                </a:solidFill>
              </a:rPr>
              <a:t>  </a:t>
            </a:r>
            <a:r>
              <a:rPr lang="en-US" sz="1400" kern="0" spc="-80" dirty="0">
                <a:solidFill>
                  <a:schemeClr val="accent2"/>
                </a:solidFill>
              </a:rPr>
              <a:t>Total System Availability/Reliability – How to measure? </a:t>
            </a:r>
          </a:p>
          <a:p>
            <a:pPr marL="12700" marR="5080"/>
            <a:r>
              <a:rPr lang="en-US" sz="1400" kern="0" spc="-80" dirty="0">
                <a:solidFill>
                  <a:schemeClr val="accent2"/>
                </a:solidFill>
              </a:rPr>
              <a:t>   </a:t>
            </a:r>
            <a:r>
              <a:rPr lang="en-IN" sz="1400" dirty="0">
                <a:hlinkClick r:id="rId7"/>
              </a:rPr>
              <a:t>System Reliability and Availability</a:t>
            </a:r>
            <a:endParaRPr lang="en-IN" sz="1400" dirty="0"/>
          </a:p>
          <a:p>
            <a:pPr marL="12700" marR="5080"/>
            <a:r>
              <a:rPr lang="en-IN" sz="1400" dirty="0"/>
              <a:t>   </a:t>
            </a:r>
            <a:r>
              <a:rPr lang="en-US" sz="1400" dirty="0">
                <a:hlinkClick r:id="rId8"/>
              </a:rPr>
              <a:t>Calculating Total System Availability</a:t>
            </a:r>
            <a:endParaRPr lang="en-US" sz="1400" dirty="0"/>
          </a:p>
          <a:p>
            <a:pPr marL="12700" marR="5080"/>
            <a:r>
              <a:rPr lang="en-US" sz="1400" kern="0" spc="-80" dirty="0">
                <a:solidFill>
                  <a:schemeClr val="accent2"/>
                </a:solidFill>
              </a:rPr>
              <a:t>    </a:t>
            </a:r>
            <a:r>
              <a:rPr lang="en-US" sz="1400" dirty="0">
                <a:hlinkClick r:id="rId9"/>
              </a:rPr>
              <a:t>How to Calculate System Availability: Definition and Measurement</a:t>
            </a:r>
            <a:endParaRPr lang="en-US" sz="1400" kern="0" spc="-80" dirty="0">
              <a:solidFill>
                <a:schemeClr val="accent2"/>
              </a:solidFill>
            </a:endParaRPr>
          </a:p>
          <a:p>
            <a:pPr marL="12700" marR="5080"/>
            <a:r>
              <a:rPr lang="en-US" sz="1400" kern="0" spc="-80" dirty="0">
                <a:solidFill>
                  <a:srgbClr val="FF0000"/>
                </a:solidFill>
              </a:rPr>
              <a:t>   </a:t>
            </a:r>
            <a:r>
              <a:rPr lang="en-US" sz="1400" kern="0" spc="-80" dirty="0">
                <a:solidFill>
                  <a:schemeClr val="accent2"/>
                </a:solidFill>
              </a:rPr>
              <a:t>Health Checks - </a:t>
            </a:r>
            <a:r>
              <a:rPr lang="en-US" sz="1400" kern="0" spc="-80" dirty="0">
                <a:solidFill>
                  <a:schemeClr val="accent6"/>
                </a:solidFill>
              </a:rPr>
              <a:t>/health(/error) endpoints using </a:t>
            </a:r>
            <a:r>
              <a:rPr lang="en-US" sz="1400" kern="0" spc="-80" dirty="0" err="1">
                <a:solidFill>
                  <a:schemeClr val="accent6"/>
                </a:solidFill>
              </a:rPr>
              <a:t>httpHead</a:t>
            </a:r>
            <a:r>
              <a:rPr lang="en-US" sz="1400" kern="0" spc="-80" dirty="0">
                <a:solidFill>
                  <a:schemeClr val="accent6"/>
                </a:solidFill>
              </a:rPr>
              <a:t>(/</a:t>
            </a:r>
            <a:r>
              <a:rPr lang="en-US" sz="1400" kern="0" spc="-80" dirty="0" err="1">
                <a:solidFill>
                  <a:schemeClr val="accent6"/>
                </a:solidFill>
              </a:rPr>
              <a:t>httpGet</a:t>
            </a:r>
            <a:r>
              <a:rPr lang="en-US" sz="1400" kern="0" spc="-80" dirty="0">
                <a:solidFill>
                  <a:schemeClr val="accent6"/>
                </a:solidFill>
              </a:rPr>
              <a:t>) verbs. AP/</a:t>
            </a:r>
            <a:r>
              <a:rPr lang="en-US" sz="1400" kern="0" spc="-80" dirty="0" err="1">
                <a:solidFill>
                  <a:schemeClr val="accent6"/>
                </a:solidFill>
              </a:rPr>
              <a:t>BackgroundServices</a:t>
            </a:r>
            <a:r>
              <a:rPr lang="en-US" sz="1400" kern="0" spc="-80" dirty="0">
                <a:solidFill>
                  <a:schemeClr val="accent6"/>
                </a:solidFill>
              </a:rPr>
              <a:t> Health checks can be strong indicator of API/</a:t>
            </a:r>
            <a:r>
              <a:rPr lang="en-US" sz="1400" kern="0" spc="-80" dirty="0" err="1">
                <a:solidFill>
                  <a:schemeClr val="accent6"/>
                </a:solidFill>
              </a:rPr>
              <a:t>BackgroundServices</a:t>
            </a:r>
            <a:r>
              <a:rPr lang="en-US" sz="1400" kern="0" spc="-80" dirty="0">
                <a:solidFill>
                  <a:schemeClr val="accent6"/>
                </a:solidFill>
              </a:rPr>
              <a:t> Availability since Availability can be calculated as ratio of successful health checks to the total number of health checks performed over a specific period. Although MTTD + MTTR +  MTTF can give a much better picture about Availability but its not a trivial task to calculate MTTD, MTTR &amp; MTTF from health checks.(check next 2 slides)  </a:t>
            </a:r>
          </a:p>
          <a:p>
            <a:pPr marL="12700" marR="5080"/>
            <a:r>
              <a:rPr lang="en-US" sz="1400" kern="0" spc="-80" dirty="0">
                <a:solidFill>
                  <a:schemeClr val="accent6"/>
                </a:solidFill>
              </a:rPr>
              <a:t>   </a:t>
            </a:r>
            <a:r>
              <a:rPr lang="en-US" sz="1400" kern="0" spc="-80" dirty="0">
                <a:solidFill>
                  <a:schemeClr val="accent2"/>
                </a:solidFill>
              </a:rPr>
              <a:t>Liveness vs Readiness –</a:t>
            </a:r>
          </a:p>
          <a:p>
            <a:pPr algn="l" fontAlgn="base"/>
            <a:r>
              <a:rPr lang="en-US" sz="1400" kern="0" spc="-80" dirty="0">
                <a:solidFill>
                  <a:schemeClr val="accent2"/>
                </a:solidFill>
              </a:rPr>
              <a:t>Liveness</a:t>
            </a:r>
            <a:r>
              <a:rPr lang="en-US" sz="1400" kern="0" spc="-80" dirty="0">
                <a:solidFill>
                  <a:schemeClr val="accent6"/>
                </a:solidFill>
              </a:rPr>
              <a:t>: Used to check if the app is available and alive.</a:t>
            </a:r>
          </a:p>
          <a:p>
            <a:pPr algn="l" fontAlgn="base"/>
            <a:r>
              <a:rPr lang="en-US" sz="1400" kern="0" spc="-80" dirty="0">
                <a:solidFill>
                  <a:schemeClr val="accent2"/>
                </a:solidFill>
              </a:rPr>
              <a:t>Readiness</a:t>
            </a:r>
            <a:r>
              <a:rPr lang="en-US" sz="1400" kern="0" spc="-80" dirty="0">
                <a:solidFill>
                  <a:schemeClr val="accent6"/>
                </a:solidFill>
              </a:rPr>
              <a:t>: Used to check if the application is ready to be used and serve the traffic.</a:t>
            </a:r>
          </a:p>
          <a:p>
            <a:pPr algn="l" fontAlgn="base"/>
            <a:r>
              <a:rPr lang="en-US" sz="1400" kern="0" spc="-80" dirty="0">
                <a:solidFill>
                  <a:schemeClr val="accent6"/>
                </a:solidFill>
              </a:rPr>
              <a:t>    Normally the readiness check is only performed when an application has just been started, to make sure the load balancer or orchestrator can start directing the traffic. After the Application becomes ready, only then liveness check is performed. Typically, while a </a:t>
            </a:r>
            <a:r>
              <a:rPr lang="en-US" sz="1400" kern="0" spc="-80" dirty="0">
                <a:solidFill>
                  <a:schemeClr val="tx2">
                    <a:lumMod val="60000"/>
                    <a:lumOff val="40000"/>
                  </a:schemeClr>
                </a:solidFill>
              </a:rPr>
              <a:t>Liveness</a:t>
            </a:r>
            <a:r>
              <a:rPr lang="en-US" sz="1400" kern="0" spc="-80" dirty="0">
                <a:solidFill>
                  <a:schemeClr val="accent6"/>
                </a:solidFill>
              </a:rPr>
              <a:t> probe would return </a:t>
            </a:r>
            <a:r>
              <a:rPr lang="en-US" sz="1400" kern="0" spc="-80" dirty="0">
                <a:solidFill>
                  <a:schemeClr val="tx2">
                    <a:lumMod val="60000"/>
                    <a:lumOff val="40000"/>
                  </a:schemeClr>
                </a:solidFill>
              </a:rPr>
              <a:t>Healthy or </a:t>
            </a:r>
            <a:r>
              <a:rPr lang="en-US" sz="1400" kern="0" spc="-80" dirty="0" err="1">
                <a:solidFill>
                  <a:schemeClr val="tx2">
                    <a:lumMod val="60000"/>
                    <a:lumOff val="40000"/>
                  </a:schemeClr>
                </a:solidFill>
              </a:rPr>
              <a:t>UnHealthy</a:t>
            </a:r>
            <a:r>
              <a:rPr lang="en-US" sz="1400" kern="0" spc="-80" dirty="0">
                <a:solidFill>
                  <a:schemeClr val="accent6"/>
                </a:solidFill>
              </a:rPr>
              <a:t>, the </a:t>
            </a:r>
            <a:r>
              <a:rPr lang="en-US" sz="1400" kern="0" spc="-80" dirty="0">
                <a:solidFill>
                  <a:schemeClr val="tx2">
                    <a:lumMod val="60000"/>
                    <a:lumOff val="40000"/>
                  </a:schemeClr>
                </a:solidFill>
              </a:rPr>
              <a:t>Readiness</a:t>
            </a:r>
            <a:r>
              <a:rPr lang="en-US" sz="1400" kern="0" spc="-80" dirty="0">
                <a:solidFill>
                  <a:schemeClr val="accent6"/>
                </a:solidFill>
              </a:rPr>
              <a:t> probe could return </a:t>
            </a:r>
            <a:r>
              <a:rPr lang="en-US" sz="1400" kern="0" spc="-80" dirty="0">
                <a:solidFill>
                  <a:schemeClr val="tx2">
                    <a:lumMod val="60000"/>
                    <a:lumOff val="40000"/>
                  </a:schemeClr>
                </a:solidFill>
              </a:rPr>
              <a:t>Degraded</a:t>
            </a:r>
            <a:r>
              <a:rPr lang="en-US" sz="1400" kern="0" spc="-80" dirty="0">
                <a:solidFill>
                  <a:schemeClr val="accent6"/>
                </a:solidFill>
              </a:rPr>
              <a:t> if the application is not ready to process requests yet.</a:t>
            </a:r>
          </a:p>
          <a:p>
            <a:pPr algn="l" fontAlgn="base"/>
            <a:r>
              <a:rPr lang="en-US" sz="1400" kern="0" spc="-80" dirty="0">
                <a:solidFill>
                  <a:schemeClr val="accent2"/>
                </a:solidFill>
              </a:rPr>
              <a:t>For Further Exploration – </a:t>
            </a:r>
          </a:p>
          <a:p>
            <a:pPr marL="12700" marR="5080"/>
            <a:r>
              <a:rPr lang="en-US" sz="1400" kern="0" spc="-80" dirty="0">
                <a:solidFill>
                  <a:schemeClr val="accent2"/>
                </a:solidFill>
              </a:rPr>
              <a:t>   </a:t>
            </a:r>
            <a:r>
              <a:rPr lang="en-US" sz="1400" dirty="0">
                <a:hlinkClick r:id="rId10"/>
              </a:rPr>
              <a:t>Health checks with ASP.NET Core and Kubernetes - David Guida</a:t>
            </a:r>
            <a:endParaRPr lang="en-US" sz="1400" kern="0" spc="-80" dirty="0">
              <a:solidFill>
                <a:schemeClr val="accent2"/>
              </a:solidFill>
            </a:endParaRPr>
          </a:p>
          <a:p>
            <a:pPr marL="12700" marR="5080"/>
            <a:r>
              <a:rPr lang="en-US" sz="1400" kern="0" spc="-80" dirty="0">
                <a:solidFill>
                  <a:schemeClr val="accent2"/>
                </a:solidFill>
              </a:rPr>
              <a:t>   </a:t>
            </a:r>
            <a:r>
              <a:rPr lang="en-US" sz="1400" dirty="0">
                <a:hlinkClick r:id="rId11"/>
              </a:rPr>
              <a:t>High availability for multitier AKS applications - Azure Architecture Center | Microsoft Learn</a:t>
            </a:r>
            <a:r>
              <a:rPr lang="en-US" sz="1400" kern="0" spc="-80" dirty="0">
                <a:solidFill>
                  <a:schemeClr val="accent6"/>
                </a:solidFill>
              </a:rPr>
              <a:t>   </a:t>
            </a:r>
          </a:p>
          <a:p>
            <a:pPr marL="12700" marR="5080"/>
            <a:r>
              <a:rPr lang="en-US" sz="1400" kern="0" spc="-80" dirty="0">
                <a:solidFill>
                  <a:schemeClr val="accent6"/>
                </a:solidFill>
              </a:rPr>
              <a:t>   </a:t>
            </a:r>
            <a:r>
              <a:rPr lang="en-IN" sz="1400" dirty="0">
                <a:hlinkClick r:id="rId12"/>
              </a:rPr>
              <a:t>Erasure Coding Demystified – YouTube</a:t>
            </a:r>
            <a:endParaRPr lang="en-IN" sz="1400" dirty="0"/>
          </a:p>
          <a:p>
            <a:pPr marL="12700" marR="5080"/>
            <a:r>
              <a:rPr lang="en-IN" sz="1400" kern="0" spc="-80" dirty="0">
                <a:solidFill>
                  <a:schemeClr val="accent6"/>
                </a:solidFill>
              </a:rPr>
              <a:t>   </a:t>
            </a:r>
            <a:r>
              <a:rPr lang="en-US" sz="1400" dirty="0">
                <a:hlinkClick r:id="rId13"/>
              </a:rPr>
              <a:t>Performing a health check in .NET Core Worker Service - Stack Overflow</a:t>
            </a:r>
            <a:endParaRPr lang="en-US" sz="1400" kern="0" spc="-80" dirty="0">
              <a:solidFill>
                <a:schemeClr val="accent6"/>
              </a:solidFill>
            </a:endParaRPr>
          </a:p>
        </p:txBody>
      </p:sp>
    </p:spTree>
    <p:extLst>
      <p:ext uri="{BB962C8B-B14F-4D97-AF65-F5344CB8AC3E}">
        <p14:creationId xmlns:p14="http://schemas.microsoft.com/office/powerpoint/2010/main" val="16419251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2BEE1-6BB7-770B-FF1D-7932C4E16A7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34B8E2B-DA4B-7B2A-8A55-131A084E151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8540E60-AA47-4C11-113B-EA61F205C5B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B84CE9C-F9FB-84D1-2D24-5C04A351BD4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8BCA715-C7EB-B574-3EE2-7438758D265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A028FAF-DB8D-7387-D4A3-0219BA53A0F6}"/>
              </a:ext>
            </a:extLst>
          </p:cNvPr>
          <p:cNvSpPr txBox="1">
            <a:spLocks/>
          </p:cNvSpPr>
          <p:nvPr/>
        </p:nvSpPr>
        <p:spPr>
          <a:xfrm>
            <a:off x="228599" y="656037"/>
            <a:ext cx="8624937" cy="54053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1600" kern="0" spc="-80" dirty="0">
                <a:solidFill>
                  <a:schemeClr val="accent2"/>
                </a:solidFill>
              </a:rPr>
              <a:t>  Calculating MTTD, MTTR &amp; MTTF from Health checks -  </a:t>
            </a:r>
          </a:p>
          <a:p>
            <a:pPr fontAlgn="ctr"/>
            <a:r>
              <a:rPr lang="en-US" sz="1575" kern="0" spc="-80" dirty="0">
                <a:solidFill>
                  <a:schemeClr val="accent6"/>
                </a:solidFill>
              </a:rPr>
              <a:t>It is possible to calculate MTTD, MTTR, and MTTF using data from health checks. These metrics are all derived from tracking the time between events related to system failures and their resolution. Health checks can provide the necessary data points for these calculations. </a:t>
            </a:r>
          </a:p>
          <a:p>
            <a:r>
              <a:rPr lang="en-US" sz="1575" kern="0" spc="-80" dirty="0">
                <a:solidFill>
                  <a:schemeClr val="accent6"/>
                </a:solidFill>
              </a:rPr>
              <a:t>Explanation:</a:t>
            </a:r>
          </a:p>
          <a:p>
            <a:r>
              <a:rPr lang="en-US" sz="1575" kern="0" spc="-80" dirty="0">
                <a:solidFill>
                  <a:schemeClr val="accent6"/>
                </a:solidFill>
                <a:hlinkClick r:id="rId7">
                  <a:extLst>
                    <a:ext uri="{A12FA001-AC4F-418D-AE19-62706E023703}">
                      <ahyp:hlinkClr xmlns:ahyp="http://schemas.microsoft.com/office/drawing/2018/hyperlinkcolor" val="tx"/>
                    </a:ext>
                  </a:extLst>
                </a:hlinkClick>
              </a:rPr>
              <a:t>MTTD (Mean Time to Detect)</a:t>
            </a:r>
            <a:r>
              <a:rPr lang="en-US" sz="1575" kern="0" spc="-80" dirty="0">
                <a:solidFill>
                  <a:schemeClr val="accent6"/>
                </a:solidFill>
              </a:rPr>
              <a:t>:</a:t>
            </a:r>
          </a:p>
          <a:p>
            <a:pPr fontAlgn="ctr"/>
            <a:r>
              <a:rPr lang="en-US" sz="1575" kern="0" spc="-80" dirty="0">
                <a:solidFill>
                  <a:schemeClr val="accent6"/>
                </a:solidFill>
              </a:rPr>
              <a:t>Health checks can be configured to monitor system health and trigger alerts when issues arise. By logging the time of the issue detection (from the health check alert) and the time of the actual incident occurrence (if it can be determined), you can calculate the time it took to detect the issue (MTTD). </a:t>
            </a:r>
          </a:p>
          <a:p>
            <a:r>
              <a:rPr lang="en-US" sz="1575" kern="0" spc="-80" dirty="0">
                <a:solidFill>
                  <a:schemeClr val="accent6"/>
                </a:solidFill>
                <a:hlinkClick r:id="rId8">
                  <a:extLst>
                    <a:ext uri="{A12FA001-AC4F-418D-AE19-62706E023703}">
                      <ahyp:hlinkClr xmlns:ahyp="http://schemas.microsoft.com/office/drawing/2018/hyperlinkcolor" val="tx"/>
                    </a:ext>
                  </a:extLst>
                </a:hlinkClick>
              </a:rPr>
              <a:t>MTTR (Mean Time to Repair/Resolution)</a:t>
            </a:r>
            <a:r>
              <a:rPr lang="en-US" sz="1575" kern="0" spc="-80" dirty="0">
                <a:solidFill>
                  <a:schemeClr val="accent6"/>
                </a:solidFill>
              </a:rPr>
              <a:t>:</a:t>
            </a:r>
          </a:p>
          <a:p>
            <a:pPr fontAlgn="ctr"/>
            <a:r>
              <a:rPr lang="en-US" sz="1575" kern="0" spc="-80" dirty="0">
                <a:solidFill>
                  <a:schemeClr val="accent6"/>
                </a:solidFill>
              </a:rPr>
              <a:t>Health checks can also be part of the resolution process. They can be used to verify when a system or service has been restored to a healthy state after an issue is resolved. By measuring the time from detection to resolution (including any repair or remediation actions) based on health check data, you can calculate MTTR. </a:t>
            </a:r>
          </a:p>
          <a:p>
            <a:r>
              <a:rPr lang="en-US" sz="1575" kern="0" spc="-80" dirty="0">
                <a:solidFill>
                  <a:schemeClr val="accent6"/>
                </a:solidFill>
                <a:hlinkClick r:id="rId9">
                  <a:extLst>
                    <a:ext uri="{A12FA001-AC4F-418D-AE19-62706E023703}">
                      <ahyp:hlinkClr xmlns:ahyp="http://schemas.microsoft.com/office/drawing/2018/hyperlinkcolor" val="tx"/>
                    </a:ext>
                  </a:extLst>
                </a:hlinkClick>
              </a:rPr>
              <a:t>MTTF (Mean Time to Failure)</a:t>
            </a:r>
            <a:r>
              <a:rPr lang="en-US" sz="1575" kern="0" spc="-80" dirty="0">
                <a:solidFill>
                  <a:schemeClr val="accent6"/>
                </a:solidFill>
              </a:rPr>
              <a:t>:</a:t>
            </a:r>
          </a:p>
          <a:p>
            <a:pPr fontAlgn="ctr"/>
            <a:r>
              <a:rPr lang="en-US" sz="1575" kern="0" spc="-80" dirty="0">
                <a:solidFill>
                  <a:schemeClr val="accent6"/>
                </a:solidFill>
              </a:rPr>
              <a:t>This metric is typically used for non-repairable systems, but health checks can be used to track the time until a system or component reaches a point where it needs to be replaced. By monitoring the system's health and logging the time of failures, you can determine the average time to failure for that component. </a:t>
            </a: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353377858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2ED94-5550-11D9-743F-7A104C358E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854AA64-8BCB-842C-0B89-9AEE627FCC3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78C5B8-9C5C-1B31-6ED5-69AEFAFB823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5B956ED-04BA-6ADE-622C-493938765BF7}"/>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DEC2C35-21C6-DD8B-94B0-22B420837D7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CDB6A95-3F7D-02D3-6B3E-3B10E6253AD8}"/>
              </a:ext>
            </a:extLst>
          </p:cNvPr>
          <p:cNvSpPr txBox="1">
            <a:spLocks/>
          </p:cNvSpPr>
          <p:nvPr/>
        </p:nvSpPr>
        <p:spPr>
          <a:xfrm>
            <a:off x="292640" y="697468"/>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1600" kern="0" spc="-80" dirty="0">
                <a:solidFill>
                  <a:schemeClr val="accent2"/>
                </a:solidFill>
              </a:rPr>
              <a:t>  Calculating MTTD, MTTR &amp; MTTF from Health checks </a:t>
            </a:r>
            <a:r>
              <a:rPr lang="en-US" sz="1600" kern="0" spc="-80" dirty="0" err="1">
                <a:solidFill>
                  <a:schemeClr val="accent2"/>
                </a:solidFill>
              </a:rPr>
              <a:t>contd</a:t>
            </a:r>
            <a:r>
              <a:rPr lang="en-US" sz="1600" kern="0" spc="-80" dirty="0">
                <a:solidFill>
                  <a:schemeClr val="accent2"/>
                </a:solidFill>
              </a:rPr>
              <a:t>… - </a:t>
            </a:r>
          </a:p>
          <a:p>
            <a:r>
              <a:rPr lang="en-US" sz="1800" kern="0" spc="-80" dirty="0">
                <a:solidFill>
                  <a:schemeClr val="accent6"/>
                </a:solidFill>
              </a:rPr>
              <a:t>How Health Checks Enable the Calculations:</a:t>
            </a:r>
          </a:p>
          <a:p>
            <a:r>
              <a:rPr lang="en-US" sz="1800" kern="0" spc="-80" dirty="0">
                <a:solidFill>
                  <a:schemeClr val="accent6"/>
                </a:solidFill>
              </a:rPr>
              <a:t>Automated Detection:</a:t>
            </a:r>
          </a:p>
          <a:p>
            <a:pPr fontAlgn="ctr"/>
            <a:r>
              <a:rPr lang="en-US" sz="1800" kern="0" spc="-80" dirty="0">
                <a:solidFill>
                  <a:schemeClr val="accent6"/>
                </a:solidFill>
              </a:rPr>
              <a:t>Health checks automate the detection of issues, providing a timestamp for when the problem was recognized. </a:t>
            </a:r>
          </a:p>
          <a:p>
            <a:r>
              <a:rPr lang="en-US" sz="1800" kern="0" spc="-80" dirty="0">
                <a:solidFill>
                  <a:schemeClr val="accent6"/>
                </a:solidFill>
              </a:rPr>
              <a:t>Automated Verification:</a:t>
            </a:r>
          </a:p>
          <a:p>
            <a:pPr fontAlgn="ctr"/>
            <a:r>
              <a:rPr lang="en-US" sz="1800" kern="0" spc="-80" dirty="0">
                <a:solidFill>
                  <a:schemeClr val="accent6"/>
                </a:solidFill>
              </a:rPr>
              <a:t>Health checks can also automatically verify if a problem has been resolved, providing a timestamp for the resolution. </a:t>
            </a:r>
          </a:p>
          <a:p>
            <a:r>
              <a:rPr lang="en-US" sz="1800" kern="0" spc="-80" dirty="0">
                <a:solidFill>
                  <a:schemeClr val="accent6"/>
                </a:solidFill>
              </a:rPr>
              <a:t>Data Logging:</a:t>
            </a:r>
          </a:p>
          <a:p>
            <a:pPr fontAlgn="ctr"/>
            <a:r>
              <a:rPr lang="en-US" sz="1800" kern="0" spc="-80" dirty="0">
                <a:solidFill>
                  <a:schemeClr val="accent6"/>
                </a:solidFill>
              </a:rPr>
              <a:t>By logging all health check data, including timestamps of incidents and resolutions, you have the necessary data points for calculating MTTD, MTTR, and MTTF. </a:t>
            </a:r>
          </a:p>
          <a:p>
            <a:r>
              <a:rPr lang="en-US" sz="1800" kern="0" spc="-80" dirty="0">
                <a:solidFill>
                  <a:schemeClr val="accent6"/>
                </a:solidFill>
              </a:rPr>
              <a:t>In essence, health checks serve as a reliable source of data for tracking the key metrics of incident management and system reliability. </a:t>
            </a: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85038727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a:t>
            </a:r>
            <a:r>
              <a:rPr lang="en-US" sz="2000" kern="0" spc="-80" dirty="0">
                <a:solidFill>
                  <a:schemeClr val="accent6"/>
                </a:solidFill>
              </a:rPr>
              <a:t>Redundancy is introduced in a system to avoid Single Point of </a:t>
            </a:r>
          </a:p>
          <a:p>
            <a:pPr marL="12700" marR="5080"/>
            <a:r>
              <a:rPr lang="en-US" sz="2000" kern="0" spc="-80" dirty="0">
                <a:solidFill>
                  <a:schemeClr val="accent6"/>
                </a:solidFill>
              </a:rPr>
              <a:t>    Failure.</a:t>
            </a:r>
          </a:p>
          <a:p>
            <a:pPr marL="12700" marR="5080"/>
            <a:r>
              <a:rPr lang="en-US" sz="2400" kern="0" spc="-80" dirty="0">
                <a:solidFill>
                  <a:schemeClr val="accent2"/>
                </a:solidFill>
              </a:rPr>
              <a:t>  </a:t>
            </a:r>
          </a:p>
          <a:p>
            <a:pPr marL="12700" marR="5080"/>
            <a:r>
              <a:rPr lang="en-US" sz="2400" kern="0" spc="-80" dirty="0">
                <a:solidFill>
                  <a:schemeClr val="accent2"/>
                </a:solidFill>
              </a:rPr>
              <a:t>   Redundancy Types – </a:t>
            </a:r>
            <a:endParaRPr lang="en-US" sz="2000" kern="0" spc="-80" dirty="0">
              <a:solidFill>
                <a:schemeClr val="accent2"/>
              </a:solidFill>
            </a:endParaRPr>
          </a:p>
          <a:p>
            <a:pPr marL="12700" marR="5080"/>
            <a:r>
              <a:rPr lang="en-US" sz="2000" kern="0" spc="-80" dirty="0">
                <a:solidFill>
                  <a:schemeClr val="accent2"/>
                </a:solidFill>
              </a:rPr>
              <a:t>    </a:t>
            </a:r>
            <a:r>
              <a:rPr lang="en-US" sz="2000" kern="0" spc="-80" dirty="0">
                <a:solidFill>
                  <a:schemeClr val="accent6">
                    <a:lumMod val="75000"/>
                  </a:schemeClr>
                </a:solidFill>
              </a:rPr>
              <a:t>Active Redundancy</a:t>
            </a:r>
          </a:p>
          <a:p>
            <a:pPr marL="12700" marR="5080"/>
            <a:r>
              <a:rPr lang="en-US" sz="2000" kern="0" spc="-80" dirty="0">
                <a:solidFill>
                  <a:schemeClr val="accent6"/>
                </a:solidFill>
              </a:rPr>
              <a:t>     All nodes do the processing</a:t>
            </a:r>
          </a:p>
          <a:p>
            <a:pPr marL="12700" marR="5080"/>
            <a:r>
              <a:rPr lang="en-US" sz="2000" kern="0" spc="-80" dirty="0">
                <a:solidFill>
                  <a:schemeClr val="accent6"/>
                </a:solidFill>
              </a:rPr>
              <a:t>     Ideal for Highest Availability</a:t>
            </a:r>
          </a:p>
          <a:p>
            <a:pPr marL="12700" marR="5080"/>
            <a:r>
              <a:rPr lang="en-US" sz="2000" kern="0" spc="-80" dirty="0">
                <a:solidFill>
                  <a:schemeClr val="accent6"/>
                </a:solidFill>
              </a:rPr>
              <a:t>    </a:t>
            </a:r>
          </a:p>
          <a:p>
            <a:pPr marL="12700" marR="5080"/>
            <a:r>
              <a:rPr lang="en-US" sz="2000" kern="0" spc="-80" dirty="0">
                <a:solidFill>
                  <a:schemeClr val="accent6"/>
                </a:solidFill>
              </a:rPr>
              <a:t>    </a:t>
            </a:r>
            <a:r>
              <a:rPr lang="en-US" sz="2000" kern="0" spc="-80" dirty="0">
                <a:solidFill>
                  <a:schemeClr val="accent6">
                    <a:lumMod val="75000"/>
                  </a:schemeClr>
                </a:solidFill>
              </a:rPr>
              <a:t>Passive Redundancy</a:t>
            </a:r>
          </a:p>
          <a:p>
            <a:pPr marL="12700" marR="5080"/>
            <a:r>
              <a:rPr lang="en-US" sz="2000" kern="0" spc="-80" dirty="0">
                <a:solidFill>
                  <a:schemeClr val="accent6"/>
                </a:solidFill>
              </a:rPr>
              <a:t>     Only Active nodes do the processing</a:t>
            </a:r>
          </a:p>
          <a:p>
            <a:pPr marL="12700" marR="5080"/>
            <a:r>
              <a:rPr lang="en-US" sz="2000" kern="0" spc="-80" dirty="0">
                <a:solidFill>
                  <a:schemeClr val="accent6"/>
                </a:solidFill>
              </a:rPr>
              <a:t>     Ideal for quick Recovery</a:t>
            </a:r>
          </a:p>
          <a:p>
            <a:pPr marL="12700" marR="5080"/>
            <a:r>
              <a:rPr lang="en-US" sz="2000" kern="0" spc="-80" dirty="0">
                <a:solidFill>
                  <a:schemeClr val="accent6"/>
                </a:solidFill>
              </a:rPr>
              <a:t>   </a:t>
            </a:r>
          </a:p>
          <a:p>
            <a:pPr marL="12700" marR="5080"/>
            <a:r>
              <a:rPr lang="en-US" sz="2000" kern="0" spc="-80" dirty="0">
                <a:solidFill>
                  <a:schemeClr val="accent6"/>
                </a:solidFill>
              </a:rPr>
              <a:t>    </a:t>
            </a:r>
            <a:r>
              <a:rPr lang="en-US" sz="2000" kern="0" spc="-80" dirty="0">
                <a:solidFill>
                  <a:schemeClr val="accent6">
                    <a:lumMod val="75000"/>
                  </a:schemeClr>
                </a:solidFill>
              </a:rPr>
              <a:t>Cold Redundancy</a:t>
            </a:r>
          </a:p>
          <a:p>
            <a:pPr marL="12700" marR="5080"/>
            <a:r>
              <a:rPr lang="en-US" sz="2000" kern="0" spc="-80" dirty="0">
                <a:solidFill>
                  <a:schemeClr val="accent6"/>
                </a:solidFill>
              </a:rPr>
              <a:t>      Spare Nodes are brought up only on failover</a:t>
            </a:r>
          </a:p>
          <a:p>
            <a:pPr marL="12700" marR="5080"/>
            <a:r>
              <a:rPr lang="en-US" sz="2000" kern="0" spc="-80" dirty="0">
                <a:solidFill>
                  <a:schemeClr val="accent6"/>
                </a:solidFill>
              </a:rPr>
              <a:t>      Not for High Availability. Good for things like </a:t>
            </a:r>
            <a:r>
              <a:rPr lang="en-US" sz="2000" kern="0" spc="-80" dirty="0" err="1">
                <a:solidFill>
                  <a:schemeClr val="accent6"/>
                </a:solidFill>
              </a:rPr>
              <a:t>BackUp</a:t>
            </a:r>
            <a:r>
              <a:rPr lang="en-US" sz="2000" kern="0" spc="-80" dirty="0">
                <a:solidFill>
                  <a:schemeClr val="accent6"/>
                </a:solidFill>
              </a:rPr>
              <a:t> etc. </a:t>
            </a:r>
          </a:p>
        </p:txBody>
      </p:sp>
    </p:spTree>
    <p:extLst>
      <p:ext uri="{BB962C8B-B14F-4D97-AF65-F5344CB8AC3E}">
        <p14:creationId xmlns:p14="http://schemas.microsoft.com/office/powerpoint/2010/main" val="343562224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54168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a:t>
            </a:r>
            <a:r>
              <a:rPr lang="en-US" sz="2000" kern="0" spc="-80" dirty="0">
                <a:solidFill>
                  <a:schemeClr val="accent6">
                    <a:lumMod val="75000"/>
                  </a:schemeClr>
                </a:solidFill>
              </a:rPr>
              <a:t>Stateless Components Redundancy(</a:t>
            </a:r>
            <a:r>
              <a:rPr lang="en-US" sz="2000" kern="0" spc="-80" dirty="0" err="1">
                <a:solidFill>
                  <a:schemeClr val="accent6">
                    <a:lumMod val="75000"/>
                  </a:schemeClr>
                </a:solidFill>
              </a:rPr>
              <a:t>SlCR</a:t>
            </a:r>
            <a:r>
              <a:rPr lang="en-US" sz="2000" kern="0" spc="-80" dirty="0">
                <a:solidFill>
                  <a:schemeClr val="accent6">
                    <a:lumMod val="75000"/>
                  </a:schemeClr>
                </a:solidFill>
              </a:rPr>
              <a:t>) – </a:t>
            </a:r>
          </a:p>
          <a:p>
            <a:pPr marL="12700" marR="5080"/>
            <a:r>
              <a:rPr lang="en-US" sz="2000" kern="0" spc="-80" dirty="0">
                <a:solidFill>
                  <a:schemeClr val="accent6">
                    <a:lumMod val="75000"/>
                  </a:schemeClr>
                </a:solidFill>
              </a:rPr>
              <a:t>    </a:t>
            </a:r>
            <a:r>
              <a:rPr lang="en-US" sz="2000" kern="0" spc="-80" dirty="0">
                <a:solidFill>
                  <a:schemeClr val="accent6"/>
                </a:solidFill>
              </a:rPr>
              <a:t>- APIs/Services are in general stateless components</a:t>
            </a:r>
          </a:p>
          <a:p>
            <a:pPr marL="12700" marR="5080"/>
            <a:r>
              <a:rPr lang="en-US" sz="2000" kern="0" spc="-80" dirty="0">
                <a:solidFill>
                  <a:schemeClr val="accent6"/>
                </a:solidFill>
              </a:rPr>
              <a:t>    - Similar to Stateless Replication</a:t>
            </a:r>
          </a:p>
          <a:p>
            <a:pPr marL="12700" marR="5080"/>
            <a:r>
              <a:rPr lang="en-US" sz="2000" kern="0" spc="-80" dirty="0">
                <a:solidFill>
                  <a:schemeClr val="accent6"/>
                </a:solidFill>
              </a:rPr>
              <a:t>    - But need to have servers for availability requirements on top of </a:t>
            </a:r>
          </a:p>
          <a:p>
            <a:pPr marL="12700" marR="5080"/>
            <a:r>
              <a:rPr lang="en-US" sz="2000" kern="0" spc="-80" dirty="0">
                <a:solidFill>
                  <a:schemeClr val="accent6"/>
                </a:solidFill>
              </a:rPr>
              <a:t>      scalability requirements.</a:t>
            </a:r>
          </a:p>
          <a:p>
            <a:pPr marL="12700" marR="5080"/>
            <a:r>
              <a:rPr lang="en-US" sz="2000" kern="0" spc="-80" dirty="0">
                <a:solidFill>
                  <a:schemeClr val="accent6"/>
                </a:solidFill>
              </a:rPr>
              <a:t>    - Kind of Active - Active always</a:t>
            </a:r>
          </a:p>
          <a:p>
            <a:pPr marL="12700" marR="5080"/>
            <a:r>
              <a:rPr lang="en-US" sz="2000" kern="0" spc="-80" dirty="0">
                <a:solidFill>
                  <a:schemeClr val="accent6"/>
                </a:solidFill>
              </a:rPr>
              <a:t>    </a:t>
            </a:r>
          </a:p>
          <a:p>
            <a:pPr marL="12700" marR="5080"/>
            <a:r>
              <a:rPr lang="en-US" sz="2000" kern="0" spc="-80" dirty="0">
                <a:solidFill>
                  <a:schemeClr val="accent6"/>
                </a:solidFill>
              </a:rPr>
              <a:t>   </a:t>
            </a:r>
            <a:r>
              <a:rPr lang="en-US" sz="2000" kern="0" spc="-80" dirty="0">
                <a:solidFill>
                  <a:schemeClr val="accent6">
                    <a:lumMod val="75000"/>
                  </a:schemeClr>
                </a:solidFill>
              </a:rPr>
              <a:t>Stateful Components Redundancy(</a:t>
            </a:r>
            <a:r>
              <a:rPr lang="en-US" sz="2000" kern="0" spc="-80" dirty="0" err="1">
                <a:solidFill>
                  <a:schemeClr val="accent6">
                    <a:lumMod val="75000"/>
                  </a:schemeClr>
                </a:solidFill>
              </a:rPr>
              <a:t>SfCR</a:t>
            </a:r>
            <a:r>
              <a:rPr lang="en-US" sz="2000" kern="0" spc="-80" dirty="0">
                <a:solidFill>
                  <a:schemeClr val="accent6">
                    <a:lumMod val="75000"/>
                  </a:schemeClr>
                </a:solidFill>
              </a:rPr>
              <a:t>) – </a:t>
            </a:r>
          </a:p>
          <a:p>
            <a:pPr marL="12700" marR="5080"/>
            <a:r>
              <a:rPr lang="en-US" sz="2000" kern="0" spc="-80" dirty="0">
                <a:solidFill>
                  <a:schemeClr val="accent6"/>
                </a:solidFill>
              </a:rPr>
              <a:t>     - DBs, Cache, MQs, Static Content Servers are stateful components.</a:t>
            </a:r>
          </a:p>
          <a:p>
            <a:pPr marL="12700" marR="5080"/>
            <a:r>
              <a:rPr lang="en-US" sz="2000" kern="0" spc="-80" dirty="0">
                <a:solidFill>
                  <a:schemeClr val="accent6"/>
                </a:solidFill>
              </a:rPr>
              <a:t>     - Again, similar to Stateful Replication</a:t>
            </a:r>
          </a:p>
          <a:p>
            <a:pPr marL="12700" marR="5080"/>
            <a:r>
              <a:rPr lang="en-US" sz="2000" kern="0" spc="-80" dirty="0">
                <a:solidFill>
                  <a:schemeClr val="accent6"/>
                </a:solidFill>
              </a:rPr>
              <a:t>     - In case of DBs, the redundant server is more of a Backup rather </a:t>
            </a:r>
          </a:p>
          <a:p>
            <a:pPr marL="12700" marR="5080"/>
            <a:r>
              <a:rPr lang="en-US" sz="2000" kern="0" spc="-80" dirty="0">
                <a:solidFill>
                  <a:schemeClr val="accent6"/>
                </a:solidFill>
              </a:rPr>
              <a:t>       than a replica &amp; Master Slave Architecture is mainly used(mainly  </a:t>
            </a:r>
          </a:p>
          <a:p>
            <a:pPr marL="12700" marR="5080"/>
            <a:r>
              <a:rPr lang="en-US" sz="2000" kern="0" spc="-80" dirty="0">
                <a:solidFill>
                  <a:schemeClr val="accent6"/>
                </a:solidFill>
              </a:rPr>
              <a:t>       async).</a:t>
            </a:r>
          </a:p>
          <a:p>
            <a:pPr marL="12700" marR="5080"/>
            <a:r>
              <a:rPr lang="en-US" sz="2000" kern="0" spc="-80" dirty="0">
                <a:solidFill>
                  <a:schemeClr val="accent6"/>
                </a:solidFill>
              </a:rPr>
              <a:t>     - For other stateful components, mainly Master-Master Architecture </a:t>
            </a:r>
          </a:p>
          <a:p>
            <a:pPr marL="12700" marR="5080"/>
            <a:r>
              <a:rPr lang="en-US" sz="2000" kern="0" spc="-80" dirty="0">
                <a:solidFill>
                  <a:schemeClr val="accent6"/>
                </a:solidFill>
              </a:rPr>
              <a:t>       is used(mainly in async mode)</a:t>
            </a:r>
          </a:p>
          <a:p>
            <a:pPr marL="12700" marR="5080"/>
            <a:endParaRPr lang="en-US" sz="2400" kern="0" spc="-80" dirty="0">
              <a:solidFill>
                <a:schemeClr val="accent2"/>
              </a:solidFill>
            </a:endParaRPr>
          </a:p>
        </p:txBody>
      </p:sp>
    </p:spTree>
    <p:extLst>
      <p:ext uri="{BB962C8B-B14F-4D97-AF65-F5344CB8AC3E}">
        <p14:creationId xmlns:p14="http://schemas.microsoft.com/office/powerpoint/2010/main" val="247122525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a:t>
            </a:r>
          </a:p>
          <a:p>
            <a:pPr marL="12700" marR="5080"/>
            <a:r>
              <a:rPr lang="en-US" sz="2400" kern="0" spc="-80" dirty="0">
                <a:solidFill>
                  <a:schemeClr val="accent2"/>
                </a:solidFill>
              </a:rPr>
              <a:t>  Correlation(Correlated Redundancy)</a:t>
            </a:r>
          </a:p>
          <a:p>
            <a:pPr marL="12700" marR="5080"/>
            <a:r>
              <a:rPr lang="en-US" sz="2400" kern="0" spc="-80" dirty="0">
                <a:solidFill>
                  <a:schemeClr val="accent2"/>
                </a:solidFill>
              </a:rPr>
              <a:t>   </a:t>
            </a:r>
            <a:r>
              <a:rPr lang="en-US" sz="2400" kern="0" spc="-80" dirty="0">
                <a:solidFill>
                  <a:schemeClr val="accent6"/>
                </a:solidFill>
              </a:rPr>
              <a:t>If I have 2 machines at the same place &amp; there has been some power failure then both the machines will go down since the failure of both is due to the same reason(i.e. the failure reason is correlated).So we should plan for correlated redundancy situations as well and that’s one of the main reasons why most of the Cloud Providers divide their cloud into Regions, Zones, Data Centers &amp; other levels of granularity.</a:t>
            </a:r>
          </a:p>
        </p:txBody>
      </p:sp>
    </p:spTree>
    <p:extLst>
      <p:ext uri="{BB962C8B-B14F-4D97-AF65-F5344CB8AC3E}">
        <p14:creationId xmlns:p14="http://schemas.microsoft.com/office/powerpoint/2010/main" val="15509606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a:t>
            </a:r>
            <a:r>
              <a:rPr lang="en-US" sz="1800" kern="0" spc="-80" dirty="0">
                <a:solidFill>
                  <a:schemeClr val="accent2"/>
                </a:solidFill>
              </a:rPr>
              <a:t>Fault Detection using Ping &amp; Heartbeat – </a:t>
            </a:r>
          </a:p>
          <a:p>
            <a:pPr marL="12700" marR="5080"/>
            <a:r>
              <a:rPr lang="en-US" sz="2400" kern="0" spc="-80" dirty="0">
                <a:solidFill>
                  <a:schemeClr val="accent2"/>
                </a:solidFill>
              </a:rPr>
              <a:t>   </a:t>
            </a:r>
            <a:r>
              <a:rPr lang="en-US" sz="1800" kern="0" spc="-80" dirty="0">
                <a:solidFill>
                  <a:schemeClr val="accent2"/>
                </a:solidFill>
              </a:rPr>
              <a:t>Ping – </a:t>
            </a:r>
            <a:r>
              <a:rPr lang="en-US" sz="1800" kern="0" spc="-80" dirty="0">
                <a:solidFill>
                  <a:schemeClr val="accent6"/>
                </a:solidFill>
              </a:rPr>
              <a:t>Ping the nodes continuously(say 1 sec interval) &amp; check that they send the response back within certain time else assume that the node is dead.</a:t>
            </a:r>
          </a:p>
          <a:p>
            <a:pPr marL="12700" marR="5080"/>
            <a:r>
              <a:rPr lang="en-US" sz="1800" kern="0" spc="-80" dirty="0">
                <a:solidFill>
                  <a:schemeClr val="accent6">
                    <a:lumMod val="75000"/>
                  </a:schemeClr>
                </a:solidFill>
              </a:rPr>
              <a:t>    </a:t>
            </a:r>
            <a:r>
              <a:rPr lang="en-US" sz="1800" kern="0" spc="-80" dirty="0">
                <a:solidFill>
                  <a:schemeClr val="accent2"/>
                </a:solidFill>
              </a:rPr>
              <a:t>Heartbeat</a:t>
            </a:r>
            <a:r>
              <a:rPr lang="en-US" sz="1800" kern="0" spc="-80" dirty="0">
                <a:solidFill>
                  <a:schemeClr val="accent6">
                    <a:lumMod val="75000"/>
                  </a:schemeClr>
                </a:solidFill>
              </a:rPr>
              <a:t> – </a:t>
            </a:r>
            <a:r>
              <a:rPr lang="en-US" sz="1800" kern="0" spc="-80" dirty="0">
                <a:solidFill>
                  <a:schemeClr val="accent6"/>
                </a:solidFill>
              </a:rPr>
              <a:t>Each node sends some heartbeat about itself to some centralized monitoring component &amp; if some node has not sent heartbeat beyond a threshold limit then consider that as dead.</a:t>
            </a:r>
          </a:p>
          <a:p>
            <a:pPr marL="12700" marR="5080"/>
            <a:endParaRPr lang="en-US" sz="1800" kern="0" spc="-80" dirty="0">
              <a:solidFill>
                <a:schemeClr val="accent6"/>
              </a:solidFill>
            </a:endParaRPr>
          </a:p>
          <a:p>
            <a:pPr marL="12700" marR="5080"/>
            <a:endParaRPr lang="en-US" sz="1800" kern="0" spc="-80" dirty="0">
              <a:solidFill>
                <a:schemeClr val="accent6"/>
              </a:solidFill>
            </a:endParaRPr>
          </a:p>
          <a:p>
            <a:pPr marL="12700" marR="5080"/>
            <a:endParaRPr lang="en-US" sz="1800" kern="0" spc="-80" dirty="0">
              <a:solidFill>
                <a:schemeClr val="accent6"/>
              </a:solidFill>
            </a:endParaRPr>
          </a:p>
          <a:p>
            <a:pPr marL="12700" marR="5080"/>
            <a:r>
              <a:rPr lang="en-US" sz="1800" kern="0" spc="-80" dirty="0">
                <a:solidFill>
                  <a:schemeClr val="accent6"/>
                </a:solidFill>
              </a:rPr>
              <a:t>   </a:t>
            </a:r>
            <a:r>
              <a:rPr lang="en-US" sz="1800" kern="0" spc="-80" dirty="0">
                <a:solidFill>
                  <a:schemeClr val="accent2"/>
                </a:solidFill>
              </a:rPr>
              <a:t>Fault Isolation Techniques – </a:t>
            </a:r>
          </a:p>
          <a:p>
            <a:pPr marL="12700" marR="5080"/>
            <a:r>
              <a:rPr lang="en-US" sz="1800" kern="0" spc="-80" dirty="0">
                <a:solidFill>
                  <a:schemeClr val="accent2"/>
                </a:solidFill>
              </a:rPr>
              <a:t>      Bulkhead Pattern - </a:t>
            </a:r>
            <a:r>
              <a:rPr lang="en-US" sz="1500" dirty="0">
                <a:hlinkClick r:id="rId7"/>
              </a:rPr>
              <a:t>Bulkhead pattern - Azure Architecture Center | Microsoft Learn</a:t>
            </a:r>
            <a:endParaRPr lang="en-US" sz="1500" dirty="0"/>
          </a:p>
          <a:p>
            <a:pPr marL="12700" marR="5080"/>
            <a:r>
              <a:rPr lang="en-US" sz="1800" kern="0" spc="-80" dirty="0">
                <a:solidFill>
                  <a:schemeClr val="accent2"/>
                </a:solidFill>
              </a:rPr>
              <a:t>      Shuffle Sharding - </a:t>
            </a:r>
            <a:r>
              <a:rPr lang="en-US" sz="1500" dirty="0">
                <a:hlinkClick r:id="rId8"/>
              </a:rPr>
              <a:t>Shuffle Sharding: Massive and Magical Fault Isolation</a:t>
            </a:r>
            <a:endParaRPr lang="en-US" sz="1500" dirty="0"/>
          </a:p>
          <a:p>
            <a:pPr marL="12700" marR="5080"/>
            <a:r>
              <a:rPr lang="en-US" sz="1800" kern="0" spc="-80" dirty="0">
                <a:solidFill>
                  <a:schemeClr val="accent2"/>
                </a:solidFill>
              </a:rPr>
              <a:t>      Cell Based Architecture –  </a:t>
            </a:r>
            <a:r>
              <a:rPr lang="en-US" sz="1500" dirty="0">
                <a:hlinkClick r:id="rId9"/>
              </a:rPr>
              <a:t>Reducing the Scope of Impact with Cell-Based Architecture - Reducing the Scope of Impact with Cell-Based Architecture</a:t>
            </a:r>
            <a:endParaRPr lang="en-US" sz="1500" kern="0" spc="-80" dirty="0">
              <a:solidFill>
                <a:schemeClr val="accent2"/>
              </a:solidFill>
            </a:endParaRPr>
          </a:p>
        </p:txBody>
      </p:sp>
    </p:spTree>
    <p:extLst>
      <p:ext uri="{BB962C8B-B14F-4D97-AF65-F5344CB8AC3E}">
        <p14:creationId xmlns:p14="http://schemas.microsoft.com/office/powerpoint/2010/main" val="310041179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Stateful Failover – </a:t>
            </a:r>
          </a:p>
          <a:p>
            <a:pPr marL="12700" marR="5080"/>
            <a:r>
              <a:rPr lang="en-US" sz="2400" kern="0" spc="-80" dirty="0">
                <a:solidFill>
                  <a:schemeClr val="accent2"/>
                </a:solidFill>
              </a:rPr>
              <a:t>    </a:t>
            </a:r>
            <a:r>
              <a:rPr lang="en-US" sz="2400" kern="0" spc="-80" dirty="0">
                <a:solidFill>
                  <a:schemeClr val="accent6"/>
                </a:solidFill>
              </a:rPr>
              <a:t>Mainly done using a registry(similar to how a DNS works) or Floating/Virtual IP(which gets assigned to the Standby on Primary node failure &amp; sync needs to be there between the nodes). Virtual IP way is shown as below - </a:t>
            </a:r>
          </a:p>
        </p:txBody>
      </p:sp>
      <p:pic>
        <p:nvPicPr>
          <p:cNvPr id="1026" name="Picture 2" descr="Floating IP pattern for HA between active–standby stateful servers -  Real-Time Communication on AWS">
            <a:extLst>
              <a:ext uri="{FF2B5EF4-FFF2-40B4-BE49-F238E27FC236}">
                <a16:creationId xmlns:a16="http://schemas.microsoft.com/office/drawing/2014/main" id="{74D9896C-325D-24D8-CF9A-E4E9007835C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1100" y="2847976"/>
            <a:ext cx="4991100" cy="306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52728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000" kern="0" spc="-80" dirty="0">
                <a:solidFill>
                  <a:schemeClr val="accent2"/>
                </a:solidFill>
              </a:rPr>
              <a:t>   Self Healing(3 Levels) – </a:t>
            </a:r>
          </a:p>
          <a:p>
            <a:pPr marL="12700" marR="5080"/>
            <a:r>
              <a:rPr lang="en-US" sz="2400" kern="0" spc="-80" dirty="0">
                <a:solidFill>
                  <a:schemeClr val="accent2"/>
                </a:solidFill>
              </a:rPr>
              <a:t>    </a:t>
            </a:r>
            <a:r>
              <a:rPr lang="en-US" sz="1700" kern="0" spc="-80" dirty="0">
                <a:solidFill>
                  <a:schemeClr val="accent2"/>
                </a:solidFill>
              </a:rPr>
              <a:t>System Level - </a:t>
            </a:r>
            <a:r>
              <a:rPr lang="en-US" sz="1700" kern="0" spc="-80" dirty="0">
                <a:solidFill>
                  <a:schemeClr val="accent6"/>
                </a:solidFill>
              </a:rPr>
              <a:t>The most common system level errors include process failures (often resolved by redeploying or restarting) and throughput issues (often resolved by scaling and descaling). Self-healing systems conduct health checks on different components and automatically attempt fixes (such as redeploying) to recover to their desired states.</a:t>
            </a:r>
          </a:p>
          <a:p>
            <a:pPr marL="12700" marR="5080"/>
            <a:r>
              <a:rPr lang="en-US" sz="1700" kern="0" spc="-80" dirty="0">
                <a:solidFill>
                  <a:schemeClr val="accent6"/>
                </a:solidFill>
              </a:rPr>
              <a:t>     </a:t>
            </a:r>
            <a:r>
              <a:rPr lang="en-US" sz="1700" kern="0" spc="-80" dirty="0">
                <a:solidFill>
                  <a:schemeClr val="accent2"/>
                </a:solidFill>
              </a:rPr>
              <a:t>Application Level - </a:t>
            </a:r>
            <a:r>
              <a:rPr lang="en-US" sz="1700" kern="0" spc="-80" dirty="0">
                <a:solidFill>
                  <a:schemeClr val="accent6"/>
                </a:solidFill>
              </a:rPr>
              <a:t>Self-healing applications incorporate design elements that resolve problems. For example, applications that use </a:t>
            </a:r>
            <a:r>
              <a:rPr lang="en-US" sz="1700" kern="0" spc="-80" dirty="0" err="1">
                <a:solidFill>
                  <a:schemeClr val="accent6"/>
                </a:solidFill>
                <a:hlinkClick r:id="rId7">
                  <a:extLst>
                    <a:ext uri="{A12FA001-AC4F-418D-AE19-62706E023703}">
                      <ahyp:hlinkClr xmlns:ahyp="http://schemas.microsoft.com/office/drawing/2018/hyperlinkcolor" val="tx"/>
                    </a:ext>
                  </a:extLst>
                </a:hlinkClick>
              </a:rPr>
              <a:t>Akka</a:t>
            </a:r>
            <a:r>
              <a:rPr lang="en-US" sz="1700" kern="0" spc="-80" dirty="0">
                <a:solidFill>
                  <a:schemeClr val="accent6"/>
                </a:solidFill>
              </a:rPr>
              <a:t>, arrange elements in a hierarchy and assign an actor’s problems to its supervisor. Although </a:t>
            </a:r>
            <a:r>
              <a:rPr lang="en-US" sz="1700" kern="0" spc="-80" dirty="0" err="1">
                <a:solidFill>
                  <a:schemeClr val="accent6"/>
                </a:solidFill>
              </a:rPr>
              <a:t>DapR</a:t>
            </a:r>
            <a:r>
              <a:rPr lang="en-US" sz="1700" kern="0" spc="-80" dirty="0">
                <a:solidFill>
                  <a:schemeClr val="accent6"/>
                </a:solidFill>
              </a:rPr>
              <a:t> has an in-built (virtual) actor model but it doesn’t support traditional Hierarchy Actor model like that of Akka.NET(which </a:t>
            </a:r>
            <a:r>
              <a:rPr lang="en-US" sz="1700" kern="0" spc="-80" dirty="0" err="1">
                <a:solidFill>
                  <a:schemeClr val="accent6"/>
                </a:solidFill>
              </a:rPr>
              <a:t>alongwith</a:t>
            </a:r>
            <a:r>
              <a:rPr lang="en-US" sz="1700" kern="0" spc="-80" dirty="0">
                <a:solidFill>
                  <a:schemeClr val="accent6"/>
                </a:solidFill>
              </a:rPr>
              <a:t> supporting local Hierarchies, also supports Cluster model). </a:t>
            </a:r>
            <a:endParaRPr lang="en-US" sz="1700" kern="0" spc="-80" dirty="0">
              <a:solidFill>
                <a:schemeClr val="tx2">
                  <a:lumMod val="60000"/>
                  <a:lumOff val="40000"/>
                </a:schemeClr>
              </a:solidFill>
            </a:endParaRPr>
          </a:p>
          <a:p>
            <a:pPr marL="12700" marR="5080"/>
            <a:r>
              <a:rPr lang="en-US" sz="1400" kern="0" spc="-80" dirty="0">
                <a:solidFill>
                  <a:schemeClr val="tx2">
                    <a:lumMod val="60000"/>
                    <a:lumOff val="40000"/>
                  </a:schemeClr>
                </a:solidFill>
              </a:rPr>
              <a:t>     </a:t>
            </a:r>
            <a:r>
              <a:rPr lang="en-US" sz="1500" kern="0" spc="-80" dirty="0">
                <a:solidFill>
                  <a:schemeClr val="tx2">
                    <a:lumMod val="60000"/>
                    <a:lumOff val="40000"/>
                  </a:schemeClr>
                </a:solidFill>
              </a:rPr>
              <a:t> </a:t>
            </a:r>
            <a:r>
              <a:rPr lang="en-US" sz="1500" dirty="0">
                <a:hlinkClick r:id="rId8"/>
              </a:rPr>
              <a:t>How Actors Recover from Failure | </a:t>
            </a:r>
            <a:r>
              <a:rPr lang="en-US" sz="1500" dirty="0" err="1">
                <a:hlinkClick r:id="rId8"/>
              </a:rPr>
              <a:t>Petabridge</a:t>
            </a:r>
            <a:endParaRPr lang="en-US" sz="1500" kern="0" spc="-80" dirty="0">
              <a:solidFill>
                <a:schemeClr val="tx2">
                  <a:lumMod val="60000"/>
                  <a:lumOff val="40000"/>
                </a:schemeClr>
              </a:solidFill>
            </a:endParaRPr>
          </a:p>
          <a:p>
            <a:pPr marL="12700" marR="5080"/>
            <a:r>
              <a:rPr lang="en-US" sz="1500" kern="0" spc="-80" dirty="0">
                <a:solidFill>
                  <a:schemeClr val="tx2">
                    <a:lumMod val="60000"/>
                    <a:lumOff val="40000"/>
                  </a:schemeClr>
                </a:solidFill>
              </a:rPr>
              <a:t>      </a:t>
            </a:r>
            <a:r>
              <a:rPr lang="en-US" sz="1500" dirty="0">
                <a:hlinkClick r:id="rId9"/>
              </a:rPr>
              <a:t>Meet the Top Akka.NET Design Patterns | </a:t>
            </a:r>
            <a:r>
              <a:rPr lang="en-US" sz="1500" dirty="0" err="1">
                <a:hlinkClick r:id="rId9"/>
              </a:rPr>
              <a:t>Petabridge</a:t>
            </a:r>
            <a:endParaRPr lang="en-US" sz="1500" dirty="0"/>
          </a:p>
          <a:p>
            <a:pPr marL="12700" marR="5080"/>
            <a:r>
              <a:rPr lang="en-US" sz="1700" kern="0" spc="-80" dirty="0">
                <a:solidFill>
                  <a:schemeClr val="tx2">
                    <a:lumMod val="60000"/>
                    <a:lumOff val="40000"/>
                  </a:schemeClr>
                </a:solidFill>
              </a:rPr>
              <a:t>        </a:t>
            </a:r>
            <a:r>
              <a:rPr lang="en-US" sz="1700" kern="0" spc="-80" dirty="0">
                <a:solidFill>
                  <a:schemeClr val="accent2"/>
                </a:solidFill>
              </a:rPr>
              <a:t>But do we really need App Level Self Healing? </a:t>
            </a:r>
            <a:r>
              <a:rPr lang="en-US" sz="1700" kern="0" spc="-80" dirty="0">
                <a:solidFill>
                  <a:schemeClr val="tx2">
                    <a:lumMod val="60000"/>
                    <a:lumOff val="40000"/>
                  </a:schemeClr>
                </a:solidFill>
              </a:rPr>
              <a:t>Seems K8s (&amp; Service Mesh) based Clustering &amp; System Level Self Healing is sufficient for most real world apps. If real App level healing is needed, then that can be done using something similar to Presence Detection Services approaches used in Chat/IoT Systems.</a:t>
            </a:r>
            <a:endParaRPr lang="en-US" sz="1700" kern="0" spc="-80" dirty="0">
              <a:solidFill>
                <a:schemeClr val="accent6"/>
              </a:solidFill>
            </a:endParaRPr>
          </a:p>
        </p:txBody>
      </p:sp>
    </p:spTree>
    <p:extLst>
      <p:ext uri="{BB962C8B-B14F-4D97-AF65-F5344CB8AC3E}">
        <p14:creationId xmlns:p14="http://schemas.microsoft.com/office/powerpoint/2010/main" val="49719576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000" kern="0" spc="-80" dirty="0">
                <a:solidFill>
                  <a:schemeClr val="accent2"/>
                </a:solidFill>
              </a:rPr>
              <a:t>   Self Healing(3 Levels) </a:t>
            </a:r>
            <a:r>
              <a:rPr lang="en-US" sz="2000" kern="0" spc="-80" dirty="0" err="1">
                <a:solidFill>
                  <a:schemeClr val="accent2"/>
                </a:solidFill>
              </a:rPr>
              <a:t>contd</a:t>
            </a:r>
            <a:r>
              <a:rPr lang="en-US" sz="2000" kern="0" spc="-80" dirty="0">
                <a:solidFill>
                  <a:schemeClr val="accent2"/>
                </a:solidFill>
              </a:rPr>
              <a:t> … – </a:t>
            </a:r>
          </a:p>
          <a:p>
            <a:pPr marL="12700" marR="5080"/>
            <a:r>
              <a:rPr lang="en-US" sz="1800" kern="0" spc="-80" dirty="0">
                <a:solidFill>
                  <a:schemeClr val="accent2"/>
                </a:solidFill>
              </a:rPr>
              <a:t>    Hardware Level - </a:t>
            </a:r>
            <a:r>
              <a:rPr lang="en-US" sz="1800" kern="0" spc="-80" dirty="0">
                <a:solidFill>
                  <a:schemeClr val="accent6"/>
                </a:solidFill>
              </a:rPr>
              <a:t>True hardware level self-healing (for example, a machine that can heal failed memory or repair a broken hard disk) does not exist. It’s still in the sci-fi realm and is leading to a newfound appreciation for biology, spurring fresh interest in </a:t>
            </a:r>
            <a:r>
              <a:rPr lang="en-US" sz="1800" kern="0" spc="-80" dirty="0">
                <a:solidFill>
                  <a:schemeClr val="tx2">
                    <a:lumMod val="60000"/>
                    <a:lumOff val="40000"/>
                  </a:schemeClr>
                </a:solidFill>
              </a:rPr>
              <a:t>biological computing(check </a:t>
            </a:r>
            <a:r>
              <a:rPr lang="en-US" sz="1800" dirty="0">
                <a:hlinkClick r:id="rId7"/>
              </a:rPr>
              <a:t>IISc scientists develop brain-inspired analog computing platform</a:t>
            </a:r>
            <a:r>
              <a:rPr lang="en-US" sz="1800" kern="0" spc="-80" dirty="0">
                <a:solidFill>
                  <a:schemeClr val="tx2">
                    <a:lumMod val="60000"/>
                    <a:lumOff val="40000"/>
                  </a:schemeClr>
                </a:solidFill>
              </a:rPr>
              <a:t>)</a:t>
            </a:r>
            <a:r>
              <a:rPr lang="en-US" sz="1800" kern="0" spc="-80" dirty="0">
                <a:solidFill>
                  <a:schemeClr val="accent6"/>
                </a:solidFill>
              </a:rPr>
              <a:t>.</a:t>
            </a:r>
          </a:p>
          <a:p>
            <a:pPr marL="12700" marR="5080"/>
            <a:r>
              <a:rPr lang="en-US" sz="1800" kern="0" spc="-80" dirty="0">
                <a:solidFill>
                  <a:schemeClr val="accent6"/>
                </a:solidFill>
              </a:rPr>
              <a:t>   </a:t>
            </a:r>
            <a:r>
              <a:rPr lang="en-US" sz="1800" kern="0" spc="-80" dirty="0">
                <a:solidFill>
                  <a:schemeClr val="accent2"/>
                </a:solidFill>
              </a:rPr>
              <a:t>SPOF(Single Point of Failure) –</a:t>
            </a:r>
          </a:p>
          <a:p>
            <a:pPr marL="12700" marR="5080"/>
            <a:r>
              <a:rPr lang="en-US" sz="1800" kern="0" spc="-80" dirty="0">
                <a:solidFill>
                  <a:schemeClr val="accent2"/>
                </a:solidFill>
              </a:rPr>
              <a:t>       Handling SPOF – </a:t>
            </a:r>
          </a:p>
          <a:p>
            <a:pPr marL="12700" marR="5080"/>
            <a:r>
              <a:rPr lang="en-US" sz="1800" kern="0" spc="-80" dirty="0">
                <a:solidFill>
                  <a:schemeClr val="accent6"/>
                </a:solidFill>
              </a:rPr>
              <a:t>       1) A worker in a cluster can become a master using Leader Election Algo.</a:t>
            </a:r>
          </a:p>
          <a:p>
            <a:pPr marL="12700" marR="5080"/>
            <a:r>
              <a:rPr lang="en-US" sz="1800" kern="0" spc="-80" dirty="0">
                <a:solidFill>
                  <a:schemeClr val="accent6"/>
                </a:solidFill>
              </a:rPr>
              <a:t>       2) If possible, have multiple SPOF resources communicate with each other via P2P Networking.</a:t>
            </a:r>
          </a:p>
          <a:p>
            <a:pPr marL="12700" marR="5080"/>
            <a:r>
              <a:rPr lang="en-US" sz="1800" kern="0" spc="-80" dirty="0">
                <a:solidFill>
                  <a:schemeClr val="accent6"/>
                </a:solidFill>
              </a:rPr>
              <a:t>       3) Use vertically scaled SPOF resources</a:t>
            </a:r>
          </a:p>
          <a:p>
            <a:pPr marL="12700" marR="5080"/>
            <a:r>
              <a:rPr lang="en-US" sz="1800" kern="0" spc="-80" dirty="0">
                <a:solidFill>
                  <a:schemeClr val="accent2"/>
                </a:solidFill>
              </a:rPr>
              <a:t>  For Further Exploration(mainly Global System Design Considerations) – </a:t>
            </a:r>
          </a:p>
          <a:p>
            <a:pPr marL="12700" marR="5080"/>
            <a:r>
              <a:rPr lang="en-US" sz="1500" dirty="0">
                <a:hlinkClick r:id="rId8"/>
              </a:rPr>
              <a:t>What are the biggest challenges of designing a global system architecture?</a:t>
            </a:r>
            <a:endParaRPr lang="en-US" sz="1500" dirty="0"/>
          </a:p>
          <a:p>
            <a:pPr marL="12700" marR="5080"/>
            <a:r>
              <a:rPr lang="en-US" sz="1500" dirty="0">
                <a:hlinkClick r:id="rId9"/>
              </a:rPr>
              <a:t>Localization Checklist: Top Tips and Tools</a:t>
            </a:r>
            <a:endParaRPr lang="en-US" sz="1500" dirty="0"/>
          </a:p>
          <a:p>
            <a:pPr marL="12700" marR="5080"/>
            <a:r>
              <a:rPr lang="en-IN" sz="1500" dirty="0">
                <a:hlinkClick r:id="rId10"/>
              </a:rPr>
              <a:t>Availability Regions and Zones for AWS, Azure &amp; GCP – BMC Software | Blogs</a:t>
            </a:r>
            <a:endParaRPr lang="en-IN" sz="1500" dirty="0"/>
          </a:p>
          <a:p>
            <a:pPr marL="12700" marR="5080"/>
            <a:r>
              <a:rPr lang="en-IN" sz="1500" dirty="0">
                <a:hlinkClick r:id="rId11"/>
              </a:rPr>
              <a:t>AWS Global Cloud Infrastructure: Regions, Zones &amp; More – BMC Software | Blogs</a:t>
            </a:r>
            <a:endParaRPr lang="en-IN" sz="1500" dirty="0"/>
          </a:p>
          <a:p>
            <a:pPr marL="12700" marR="5080"/>
            <a:r>
              <a:rPr lang="en-US" sz="1500" dirty="0">
                <a:hlinkClick r:id="rId12"/>
              </a:rPr>
              <a:t>Azure Global Infrastructure Cheat Sheet</a:t>
            </a:r>
            <a:endParaRPr lang="en-US" sz="1500" kern="0" spc="-80" dirty="0">
              <a:solidFill>
                <a:schemeClr val="accent2"/>
              </a:solidFill>
            </a:endParaRPr>
          </a:p>
        </p:txBody>
      </p:sp>
    </p:spTree>
    <p:extLst>
      <p:ext uri="{BB962C8B-B14F-4D97-AF65-F5344CB8AC3E}">
        <p14:creationId xmlns:p14="http://schemas.microsoft.com/office/powerpoint/2010/main" val="323427256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59093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Resiliency Patterns – </a:t>
            </a:r>
          </a:p>
          <a:p>
            <a:pPr marL="12700" marR="5080"/>
            <a:r>
              <a:rPr lang="en-US" sz="2400" kern="0" spc="-80" dirty="0">
                <a:solidFill>
                  <a:schemeClr val="accent2"/>
                </a:solidFill>
              </a:rPr>
              <a:t>   Timeout</a:t>
            </a:r>
            <a:r>
              <a:rPr lang="en-US" sz="2400" kern="0" spc="-80" dirty="0">
                <a:solidFill>
                  <a:schemeClr val="accent6"/>
                </a:solidFill>
              </a:rPr>
              <a:t> – This is the simplest one. You make request to some external API and wait for it to send the response &amp; if you don’t get the response within some specified threshold limit, handle this as per requirements.</a:t>
            </a:r>
          </a:p>
          <a:p>
            <a:pPr marL="12700" marR="5080"/>
            <a:r>
              <a:rPr lang="en-US" sz="2400" kern="0" spc="-80" dirty="0">
                <a:solidFill>
                  <a:schemeClr val="accent6"/>
                </a:solidFill>
              </a:rPr>
              <a:t>       </a:t>
            </a:r>
            <a:r>
              <a:rPr lang="en-US" sz="2400" kern="0" spc="-80" dirty="0">
                <a:solidFill>
                  <a:schemeClr val="tx2">
                    <a:lumMod val="60000"/>
                    <a:lumOff val="40000"/>
                  </a:schemeClr>
                </a:solidFill>
              </a:rPr>
              <a:t>COTS/Cloud Products with inbuilt non-configurable timeouts (maybe beyond certain limit) can create issues[Discussion].</a:t>
            </a:r>
            <a:endParaRPr lang="en-US" sz="2400" kern="0" spc="-80" dirty="0">
              <a:solidFill>
                <a:schemeClr val="accent6"/>
              </a:solidFill>
            </a:endParaRPr>
          </a:p>
          <a:p>
            <a:pPr marL="12700" marR="5080"/>
            <a:r>
              <a:rPr lang="en-US" sz="2400" kern="0" spc="-80" dirty="0">
                <a:solidFill>
                  <a:schemeClr val="accent6"/>
                </a:solidFill>
              </a:rPr>
              <a:t>    </a:t>
            </a:r>
            <a:r>
              <a:rPr lang="en-US" sz="2400" kern="0" spc="-80" dirty="0">
                <a:solidFill>
                  <a:schemeClr val="accent2"/>
                </a:solidFill>
              </a:rPr>
              <a:t>Retry(for transient failures) – </a:t>
            </a:r>
          </a:p>
          <a:p>
            <a:pPr marL="12700" marR="5080"/>
            <a:r>
              <a:rPr lang="en-US" sz="2400" kern="0" spc="-80" dirty="0">
                <a:solidFill>
                  <a:schemeClr val="accent6"/>
                </a:solidFill>
              </a:rPr>
              <a:t>      </a:t>
            </a:r>
            <a:r>
              <a:rPr lang="en-US" sz="2400" kern="0" spc="-80" dirty="0">
                <a:solidFill>
                  <a:schemeClr val="accent2"/>
                </a:solidFill>
              </a:rPr>
              <a:t>Normal</a:t>
            </a:r>
            <a:r>
              <a:rPr lang="en-US" sz="2400" kern="0" spc="-80" dirty="0">
                <a:solidFill>
                  <a:schemeClr val="accent6"/>
                </a:solidFill>
              </a:rPr>
              <a:t> – the number of retries can be configured. But problem with just configuring number of retries is that if N clients are calling some API with retries, the API can get overloaded with requests.</a:t>
            </a:r>
          </a:p>
          <a:p>
            <a:pPr marL="12700" marR="5080"/>
            <a:r>
              <a:rPr lang="en-US" sz="2400" kern="0" spc="-80" dirty="0">
                <a:solidFill>
                  <a:schemeClr val="accent2"/>
                </a:solidFill>
              </a:rPr>
              <a:t>       </a:t>
            </a:r>
          </a:p>
          <a:p>
            <a:pPr marL="12700" marR="5080"/>
            <a:r>
              <a:rPr lang="en-US" sz="2400" kern="0" spc="-80" dirty="0">
                <a:solidFill>
                  <a:schemeClr val="accent2"/>
                </a:solidFill>
              </a:rPr>
              <a:t>   </a:t>
            </a:r>
            <a:endParaRPr lang="en-US" sz="1600" kern="0" spc="-80" dirty="0">
              <a:solidFill>
                <a:schemeClr val="accent6"/>
              </a:solidFill>
            </a:endParaRPr>
          </a:p>
        </p:txBody>
      </p:sp>
    </p:spTree>
    <p:extLst>
      <p:ext uri="{BB962C8B-B14F-4D97-AF65-F5344CB8AC3E}">
        <p14:creationId xmlns:p14="http://schemas.microsoft.com/office/powerpoint/2010/main" val="341358061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550920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Resiliency Patterns – </a:t>
            </a:r>
          </a:p>
          <a:p>
            <a:pPr marL="12700" marR="5080"/>
            <a:r>
              <a:rPr lang="en-US" sz="2400" kern="0" spc="-80" dirty="0">
                <a:solidFill>
                  <a:schemeClr val="accent2"/>
                </a:solidFill>
              </a:rPr>
              <a:t>   Retry(for transient failures) </a:t>
            </a:r>
            <a:r>
              <a:rPr lang="en-US" sz="2400" kern="0" spc="-80" dirty="0" err="1">
                <a:solidFill>
                  <a:schemeClr val="accent2"/>
                </a:solidFill>
              </a:rPr>
              <a:t>contd</a:t>
            </a:r>
            <a:r>
              <a:rPr lang="en-US" sz="2400" kern="0" spc="-80" dirty="0">
                <a:solidFill>
                  <a:schemeClr val="accent2"/>
                </a:solidFill>
              </a:rPr>
              <a:t> …– </a:t>
            </a:r>
          </a:p>
          <a:p>
            <a:pPr marL="12700" marR="5080"/>
            <a:r>
              <a:rPr lang="en-US" sz="2400" kern="0" spc="-80" dirty="0">
                <a:solidFill>
                  <a:schemeClr val="accent6"/>
                </a:solidFill>
              </a:rPr>
              <a:t>      </a:t>
            </a:r>
            <a:r>
              <a:rPr lang="en-US" sz="2400" kern="0" spc="-80" dirty="0">
                <a:solidFill>
                  <a:schemeClr val="accent2"/>
                </a:solidFill>
              </a:rPr>
              <a:t>Exponential </a:t>
            </a:r>
            <a:r>
              <a:rPr lang="en-US" sz="2400" kern="0" spc="-80" dirty="0" err="1">
                <a:solidFill>
                  <a:schemeClr val="accent2"/>
                </a:solidFill>
              </a:rPr>
              <a:t>BackOff</a:t>
            </a:r>
            <a:r>
              <a:rPr lang="en-US" sz="2400" kern="0" spc="-80" dirty="0">
                <a:solidFill>
                  <a:schemeClr val="accent6"/>
                </a:solidFill>
              </a:rPr>
              <a:t> – increasing the time between individual retries(e.g. 2secs, 4 secs, 8 secs, 16 secs…).But again this can lead a client sometimes to wait too long.</a:t>
            </a:r>
          </a:p>
          <a:p>
            <a:pPr marL="12700" marR="5080"/>
            <a:r>
              <a:rPr lang="en-US" sz="2400" kern="0" spc="-80" dirty="0">
                <a:solidFill>
                  <a:schemeClr val="accent6"/>
                </a:solidFill>
              </a:rPr>
              <a:t>      </a:t>
            </a:r>
            <a:r>
              <a:rPr lang="en-US" sz="2400" kern="0" spc="-80" dirty="0">
                <a:solidFill>
                  <a:schemeClr val="accent2"/>
                </a:solidFill>
              </a:rPr>
              <a:t>Capped Exponential Backoff </a:t>
            </a:r>
            <a:r>
              <a:rPr lang="en-US" sz="2400" kern="0" spc="-80" dirty="0">
                <a:solidFill>
                  <a:schemeClr val="accent6"/>
                </a:solidFill>
              </a:rPr>
              <a:t>– Set a max </a:t>
            </a:r>
            <a:r>
              <a:rPr lang="en-US" sz="2400" kern="0" spc="-80" dirty="0" err="1">
                <a:solidFill>
                  <a:schemeClr val="accent6"/>
                </a:solidFill>
              </a:rPr>
              <a:t>Threshhold</a:t>
            </a:r>
            <a:r>
              <a:rPr lang="en-US" sz="2400" kern="0" spc="-80" dirty="0">
                <a:solidFill>
                  <a:schemeClr val="accent6"/>
                </a:solidFill>
              </a:rPr>
              <a:t> value on the Exponential backoff value.</a:t>
            </a:r>
          </a:p>
          <a:p>
            <a:pPr marL="12700" marR="5080"/>
            <a:r>
              <a:rPr lang="en-US" sz="2400" kern="0" spc="-80" dirty="0">
                <a:solidFill>
                  <a:schemeClr val="accent6"/>
                </a:solidFill>
              </a:rPr>
              <a:t>       </a:t>
            </a:r>
            <a:r>
              <a:rPr lang="en-US" sz="2400" kern="0" spc="-80" dirty="0">
                <a:solidFill>
                  <a:schemeClr val="accent2"/>
                </a:solidFill>
              </a:rPr>
              <a:t>Jitter</a:t>
            </a:r>
            <a:r>
              <a:rPr lang="en-US" sz="2400" kern="0" spc="-80" dirty="0">
                <a:solidFill>
                  <a:schemeClr val="accent6"/>
                </a:solidFill>
              </a:rPr>
              <a:t> – A random amount of time between each retry to prevent large bursts by spreading out the arrival rate.</a:t>
            </a:r>
          </a:p>
          <a:p>
            <a:pPr marL="12700" marR="5080"/>
            <a:r>
              <a:rPr lang="en-US" sz="2400" kern="0" spc="-80" dirty="0">
                <a:solidFill>
                  <a:schemeClr val="accent2"/>
                </a:solidFill>
              </a:rPr>
              <a:t>For Further Exploration</a:t>
            </a:r>
            <a:endParaRPr lang="en-US" sz="2400" kern="0" spc="-80" dirty="0">
              <a:solidFill>
                <a:schemeClr val="accent6"/>
              </a:solidFill>
            </a:endParaRPr>
          </a:p>
          <a:p>
            <a:pPr marL="12700" marR="5080"/>
            <a:r>
              <a:rPr lang="en-US" sz="1500" kern="0" spc="-80" dirty="0">
                <a:solidFill>
                  <a:schemeClr val="accent6"/>
                </a:solidFill>
              </a:rPr>
              <a:t> </a:t>
            </a:r>
            <a:r>
              <a:rPr lang="en-US" sz="1500" dirty="0">
                <a:hlinkClick r:id="rId7"/>
              </a:rPr>
              <a:t>Timeouts, retries and backoff with jitter</a:t>
            </a:r>
            <a:r>
              <a:rPr lang="en-US" sz="2400" kern="0" spc="-80" dirty="0">
                <a:solidFill>
                  <a:schemeClr val="accent2"/>
                </a:solidFill>
              </a:rPr>
              <a:t> </a:t>
            </a:r>
          </a:p>
          <a:p>
            <a:pPr marL="12700" marR="5080"/>
            <a:r>
              <a:rPr lang="en-US" sz="2400" kern="0" spc="-80" dirty="0">
                <a:solidFill>
                  <a:schemeClr val="accent2"/>
                </a:solidFill>
              </a:rPr>
              <a:t> </a:t>
            </a:r>
            <a:r>
              <a:rPr lang="en-US" sz="1500" dirty="0">
                <a:hlinkClick r:id="rId8"/>
              </a:rPr>
              <a:t>Resilient .NET Application with Polly Resilience Pipelines</a:t>
            </a:r>
            <a:endParaRPr lang="en-US" sz="1500" dirty="0"/>
          </a:p>
          <a:p>
            <a:pPr marL="12700" marR="5080"/>
            <a:r>
              <a:rPr lang="en-US" sz="1500" dirty="0"/>
              <a:t>  </a:t>
            </a:r>
            <a:r>
              <a:rPr lang="en-US" sz="1500" dirty="0">
                <a:hlinkClick r:id="rId9"/>
              </a:rPr>
              <a:t>Building resilient cloud services with .NET 8 - .NET Blog</a:t>
            </a:r>
            <a:r>
              <a:rPr lang="en-US" sz="1500" kern="0" spc="-80" dirty="0">
                <a:solidFill>
                  <a:schemeClr val="accent2"/>
                </a:solidFill>
              </a:rPr>
              <a:t>  </a:t>
            </a:r>
          </a:p>
          <a:p>
            <a:pPr marL="12700" marR="5080"/>
            <a:r>
              <a:rPr lang="en-US" sz="1500" kern="0" spc="-80" dirty="0">
                <a:solidFill>
                  <a:schemeClr val="accent2"/>
                </a:solidFill>
              </a:rPr>
              <a:t>  </a:t>
            </a:r>
            <a:r>
              <a:rPr lang="en-US" sz="1600" dirty="0">
                <a:hlinkClick r:id="rId10"/>
              </a:rPr>
              <a:t>Build resilient HTTP apps: Key development patterns - .NET | Microsoft Learn</a:t>
            </a:r>
            <a:endParaRPr lang="en-US" sz="1500" kern="0" spc="-80" dirty="0">
              <a:solidFill>
                <a:schemeClr val="accent2"/>
              </a:solidFill>
            </a:endParaRPr>
          </a:p>
          <a:p>
            <a:pPr marL="12700" marR="5080"/>
            <a:r>
              <a:rPr lang="en-US" sz="1500" kern="0" spc="-80" dirty="0">
                <a:solidFill>
                  <a:schemeClr val="accent2"/>
                </a:solidFill>
              </a:rPr>
              <a:t>   </a:t>
            </a:r>
            <a:endParaRPr lang="en-US" sz="1500" kern="0" spc="-80" dirty="0">
              <a:solidFill>
                <a:schemeClr val="accent6"/>
              </a:solidFill>
            </a:endParaRPr>
          </a:p>
        </p:txBody>
      </p:sp>
    </p:spTree>
    <p:extLst>
      <p:ext uri="{BB962C8B-B14F-4D97-AF65-F5344CB8AC3E}">
        <p14:creationId xmlns:p14="http://schemas.microsoft.com/office/powerpoint/2010/main" val="110599038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Resiliency Patterns – </a:t>
            </a:r>
          </a:p>
          <a:p>
            <a:pPr marL="12700" marR="5080"/>
            <a:r>
              <a:rPr lang="en-US" sz="2400" kern="0" spc="-80" dirty="0">
                <a:solidFill>
                  <a:schemeClr val="accent2"/>
                </a:solidFill>
              </a:rPr>
              <a:t>   Circuit Breaker –    </a:t>
            </a:r>
          </a:p>
        </p:txBody>
      </p:sp>
      <p:pic>
        <p:nvPicPr>
          <p:cNvPr id="1026" name="Picture 2" descr="Circuit Breaker states">
            <a:extLst>
              <a:ext uri="{FF2B5EF4-FFF2-40B4-BE49-F238E27FC236}">
                <a16:creationId xmlns:a16="http://schemas.microsoft.com/office/drawing/2014/main" id="{2DCC28EC-1787-22DC-A289-9BB5384BDE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1828800"/>
            <a:ext cx="8305799" cy="3352799"/>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38174B95-2736-8079-E33E-A680F8CC0E2E}"/>
              </a:ext>
            </a:extLst>
          </p:cNvPr>
          <p:cNvSpPr txBox="1">
            <a:spLocks/>
          </p:cNvSpPr>
          <p:nvPr/>
        </p:nvSpPr>
        <p:spPr>
          <a:xfrm>
            <a:off x="228600" y="5432121"/>
            <a:ext cx="8624937" cy="4770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a:t>
            </a:r>
            <a:endParaRPr lang="en-US" sz="1500" kern="0" spc="-80" dirty="0">
              <a:solidFill>
                <a:schemeClr val="accent2"/>
              </a:solidFill>
            </a:endParaRPr>
          </a:p>
          <a:p>
            <a:pPr marL="12700" marR="5080"/>
            <a:r>
              <a:rPr lang="en-US" sz="1500" kern="0" spc="-80" dirty="0">
                <a:solidFill>
                  <a:schemeClr val="accent2"/>
                </a:solidFill>
              </a:rPr>
              <a:t> </a:t>
            </a:r>
            <a:r>
              <a:rPr lang="en-US" sz="1500" dirty="0">
                <a:hlinkClick r:id="rId8"/>
              </a:rPr>
              <a:t>Circuit Breaker pattern - Azure Architecture Center | Microsoft Learn</a:t>
            </a:r>
            <a:endParaRPr lang="en-US" sz="1500" kern="0" spc="-80" dirty="0">
              <a:solidFill>
                <a:schemeClr val="accent6"/>
              </a:solidFill>
            </a:endParaRPr>
          </a:p>
        </p:txBody>
      </p:sp>
    </p:spTree>
    <p:extLst>
      <p:ext uri="{BB962C8B-B14F-4D97-AF65-F5344CB8AC3E}">
        <p14:creationId xmlns:p14="http://schemas.microsoft.com/office/powerpoint/2010/main" val="9051809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Resiliency Patterns </a:t>
            </a:r>
            <a:r>
              <a:rPr lang="en-US" sz="2400" kern="0" spc="-80" dirty="0" err="1">
                <a:solidFill>
                  <a:schemeClr val="accent2"/>
                </a:solidFill>
              </a:rPr>
              <a:t>contd</a:t>
            </a:r>
            <a:r>
              <a:rPr lang="en-US" sz="2400" kern="0" spc="-80" dirty="0">
                <a:solidFill>
                  <a:schemeClr val="accent2"/>
                </a:solidFill>
              </a:rPr>
              <a:t> … – </a:t>
            </a:r>
          </a:p>
          <a:p>
            <a:pPr marL="12700" marR="5080"/>
            <a:r>
              <a:rPr lang="en-US" sz="1800" kern="0" spc="-80" dirty="0">
                <a:solidFill>
                  <a:schemeClr val="accent2"/>
                </a:solidFill>
              </a:rPr>
              <a:t>    </a:t>
            </a:r>
            <a:r>
              <a:rPr lang="en-US" sz="1800" kern="0" spc="-80" dirty="0">
                <a:solidFill>
                  <a:schemeClr val="accent6"/>
                </a:solidFill>
              </a:rPr>
              <a:t>A small framework related to all the Resiliency Patterns based on OOP/FP principles- </a:t>
            </a:r>
            <a:r>
              <a:rPr lang="en-US" sz="2000" kern="0" spc="-80" dirty="0">
                <a:solidFill>
                  <a:schemeClr val="accent6"/>
                </a:solidFill>
              </a:rPr>
              <a:t> </a:t>
            </a:r>
          </a:p>
          <a:p>
            <a:pPr marL="12700" marR="5080"/>
            <a:r>
              <a:rPr lang="en-US" sz="2000" kern="0" spc="-80" dirty="0">
                <a:solidFill>
                  <a:schemeClr val="accent6"/>
                </a:solidFill>
              </a:rPr>
              <a:t> </a:t>
            </a:r>
            <a:r>
              <a:rPr lang="en-IN" sz="1200" dirty="0">
                <a:hlinkClick r:id="rId7"/>
              </a:rPr>
              <a:t>DDD-Based-Enterprise-Application-Framework/Infrastructure/</a:t>
            </a:r>
            <a:r>
              <a:rPr lang="en-IN" sz="1200" dirty="0" err="1">
                <a:hlinkClick r:id="rId7"/>
              </a:rPr>
              <a:t>ExceptionHandling</a:t>
            </a:r>
            <a:r>
              <a:rPr lang="en-IN" sz="1200" dirty="0">
                <a:hlinkClick r:id="rId7"/>
              </a:rPr>
              <a:t> at master · sandipray63in/DDD-Based-Enterprise-Application-Framework · GitHub</a:t>
            </a:r>
            <a:r>
              <a:rPr lang="en-US" sz="1600" kern="0" spc="-80" dirty="0">
                <a:solidFill>
                  <a:schemeClr val="accent6"/>
                </a:solidFill>
              </a:rPr>
              <a:t> </a:t>
            </a:r>
          </a:p>
          <a:p>
            <a:pPr marL="12700" marR="5080"/>
            <a:r>
              <a:rPr lang="en-US" sz="2400" kern="0" spc="-80" dirty="0">
                <a:solidFill>
                  <a:schemeClr val="accent2"/>
                </a:solidFill>
              </a:rPr>
              <a:t>   </a:t>
            </a:r>
          </a:p>
          <a:p>
            <a:pPr marL="12700" marR="5080"/>
            <a:r>
              <a:rPr lang="en-US" sz="2400" kern="0" spc="-80" dirty="0">
                <a:solidFill>
                  <a:schemeClr val="accent2"/>
                </a:solidFill>
              </a:rPr>
              <a:t>    </a:t>
            </a:r>
            <a:r>
              <a:rPr lang="en-US" sz="1800" kern="0" spc="-80" dirty="0">
                <a:solidFill>
                  <a:schemeClr val="accent6"/>
                </a:solidFill>
              </a:rPr>
              <a:t>A more generic approach to the above framework probably would be to consolidate the (most important) Resiliency Patterns in the following order(using C# Task Continuation) </a:t>
            </a:r>
          </a:p>
          <a:p>
            <a:pPr marL="12700" marR="5080"/>
            <a:r>
              <a:rPr lang="en-US" sz="1800" kern="0" spc="-80" dirty="0">
                <a:solidFill>
                  <a:schemeClr val="accent6"/>
                </a:solidFill>
              </a:rPr>
              <a:t>   Timeout</a:t>
            </a:r>
          </a:p>
          <a:p>
            <a:pPr marL="12700" marR="5080"/>
            <a:r>
              <a:rPr lang="en-US" sz="1800" kern="0" spc="-80" dirty="0">
                <a:solidFill>
                  <a:schemeClr val="accent6"/>
                </a:solidFill>
              </a:rPr>
              <a:t>   Retry(with Jitter)</a:t>
            </a:r>
          </a:p>
          <a:p>
            <a:pPr marL="12700" marR="5080"/>
            <a:r>
              <a:rPr lang="en-US" sz="1800" kern="0" spc="-80" dirty="0">
                <a:solidFill>
                  <a:schemeClr val="accent6"/>
                </a:solidFill>
              </a:rPr>
              <a:t>   Circuit Breaker</a:t>
            </a:r>
          </a:p>
          <a:p>
            <a:pPr marL="12700" marR="5080"/>
            <a:endParaRPr lang="en-US" sz="1800" kern="0" spc="-80" dirty="0">
              <a:solidFill>
                <a:schemeClr val="accent6"/>
              </a:solidFill>
            </a:endParaRPr>
          </a:p>
          <a:p>
            <a:pPr marL="12700" marR="5080"/>
            <a:r>
              <a:rPr lang="en-US" sz="2000" kern="0" spc="-80" dirty="0">
                <a:solidFill>
                  <a:schemeClr val="accent2"/>
                </a:solidFill>
              </a:rPr>
              <a:t>For Further Exploration(Dead/Poison Letter queues also provide resiliency ultimately) – </a:t>
            </a:r>
          </a:p>
          <a:p>
            <a:pPr marL="12700" marR="5080"/>
            <a:r>
              <a:rPr lang="en-US" sz="1500" dirty="0">
                <a:hlinkClick r:id="rId8"/>
              </a:rPr>
              <a:t>Dead Letter Queue and Poison Queues - Stack Overflow</a:t>
            </a:r>
            <a:r>
              <a:rPr lang="en-US" sz="2400" kern="0" spc="-80" dirty="0">
                <a:solidFill>
                  <a:schemeClr val="accent2"/>
                </a:solidFill>
              </a:rPr>
              <a:t>     </a:t>
            </a:r>
            <a:endParaRPr lang="en-US" sz="1600" kern="0" spc="-80" dirty="0">
              <a:solidFill>
                <a:schemeClr val="accent6"/>
              </a:solidFill>
            </a:endParaRPr>
          </a:p>
        </p:txBody>
      </p:sp>
    </p:spTree>
    <p:extLst>
      <p:ext uri="{BB962C8B-B14F-4D97-AF65-F5344CB8AC3E}">
        <p14:creationId xmlns:p14="http://schemas.microsoft.com/office/powerpoint/2010/main" val="66769744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5DEDC-C2AF-F10A-C494-7EE8D3F4D55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AFA563-CC1C-25E5-FF8A-27CCB6FAB2D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B2E33D1-4222-B1A1-92BC-C260FD77D7C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8FD76C6-A7C2-FE7D-AB55-F697F39C334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0AAE982-3816-9F8F-F71C-63359133E1C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5B568A0-EF7C-1623-20B3-466AB5CC88BE}"/>
              </a:ext>
            </a:extLst>
          </p:cNvPr>
          <p:cNvSpPr txBox="1">
            <a:spLocks/>
          </p:cNvSpPr>
          <p:nvPr/>
        </p:nvSpPr>
        <p:spPr>
          <a:xfrm>
            <a:off x="292640" y="697468"/>
            <a:ext cx="8624937" cy="51860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Self Healing Techniques</a:t>
            </a:r>
          </a:p>
          <a:p>
            <a:pPr marL="12700" marR="5080"/>
            <a:r>
              <a:rPr lang="en-US" sz="1700" kern="0" spc="-80" dirty="0">
                <a:solidFill>
                  <a:schemeClr val="accent2"/>
                </a:solidFill>
              </a:rPr>
              <a:t>Key Self-Healing Techniques:</a:t>
            </a:r>
          </a:p>
          <a:p>
            <a:pPr marL="12700" marR="5080"/>
            <a:r>
              <a:rPr lang="en-US" sz="1700" kern="0" spc="-80" dirty="0">
                <a:solidFill>
                  <a:schemeClr val="accent2"/>
                </a:solidFill>
              </a:rPr>
              <a:t>Automatic restarts: </a:t>
            </a:r>
            <a:r>
              <a:rPr lang="en-US" sz="1700" kern="0" spc="-80" dirty="0">
                <a:solidFill>
                  <a:schemeClr val="accent6"/>
                </a:solidFill>
              </a:rPr>
              <a:t>The simplest form of self-healing, where a service is automatically restarted if it becomes unresponsive or crashes. This is effective for transient issues that a simple reboot can fix.</a:t>
            </a:r>
            <a:r>
              <a:rPr lang="en-US" sz="1600" kern="0" spc="-80" dirty="0">
                <a:solidFill>
                  <a:schemeClr val="accent6"/>
                </a:solidFill>
              </a:rPr>
              <a:t> The system executes pre-programmed corrective actions, such as restarting a service, reallocating resources, or patching a bug.</a:t>
            </a:r>
            <a:br>
              <a:rPr lang="en-US" sz="1600" kern="0" spc="-80" dirty="0">
                <a:solidFill>
                  <a:schemeClr val="accent6"/>
                </a:solidFill>
              </a:rPr>
            </a:br>
            <a:r>
              <a:rPr lang="en-US" sz="1700" kern="0" spc="-80" dirty="0">
                <a:solidFill>
                  <a:schemeClr val="accent2"/>
                </a:solidFill>
              </a:rPr>
              <a:t>Retry Policies: </a:t>
            </a:r>
            <a:r>
              <a:rPr lang="en-US" sz="1700" kern="0" spc="-80" dirty="0">
                <a:solidFill>
                  <a:schemeClr val="accent6"/>
                </a:solidFill>
              </a:rPr>
              <a:t>Automatically re-attempt failed API calls, as some issues are transient and can be resolved with a single retry. An effective retry pattern uses exponential backoff, waiting progressively longer before each retry to avoid overwhelming a failing service.</a:t>
            </a:r>
            <a:br>
              <a:rPr lang="en-US" sz="1700" kern="0" spc="-80" dirty="0">
                <a:solidFill>
                  <a:schemeClr val="accent6"/>
                </a:solidFill>
              </a:rPr>
            </a:br>
            <a:r>
              <a:rPr lang="en-US" sz="1700" kern="0" spc="-80" dirty="0">
                <a:solidFill>
                  <a:schemeClr val="accent2"/>
                </a:solidFill>
              </a:rPr>
              <a:t>Circuit Breakers:</a:t>
            </a:r>
            <a:r>
              <a:rPr lang="en-US" sz="1700" kern="0" spc="-80" dirty="0">
                <a:solidFill>
                  <a:schemeClr val="accent6"/>
                </a:solidFill>
              </a:rPr>
              <a:t> Monitor service calls and, upon detecting repeated failures, temporarily halt requests to a failing service, allowing it to recover and preventing cascading failures. Prevents a background service from repeatedly trying to access a failing dependency. After a set number of failures, the circuit "opens" and prevents further calls to that dependency, protecting both services.</a:t>
            </a:r>
          </a:p>
          <a:p>
            <a:pPr marL="12700" marR="5080"/>
            <a:r>
              <a:rPr lang="en-US" sz="1700" kern="0" spc="-80" dirty="0">
                <a:solidFill>
                  <a:schemeClr val="accent2"/>
                </a:solidFill>
              </a:rPr>
              <a:t>Fallback Mechanisms: </a:t>
            </a:r>
            <a:r>
              <a:rPr lang="en-US" sz="1700" kern="0" spc="-80" dirty="0">
                <a:solidFill>
                  <a:schemeClr val="accent6"/>
                </a:solidFill>
              </a:rPr>
              <a:t>Implement a system to switch to a backup model or service when the primary service is down, ensuring users remain unaffected.</a:t>
            </a:r>
            <a:br>
              <a:rPr lang="en-US" sz="1700" kern="0" spc="-80" dirty="0">
                <a:solidFill>
                  <a:schemeClr val="accent6"/>
                </a:solidFill>
              </a:rPr>
            </a:br>
            <a:r>
              <a:rPr lang="en-US" sz="1800" kern="0" spc="-80" dirty="0">
                <a:solidFill>
                  <a:schemeClr val="accent6"/>
                </a:solidFill>
              </a:rPr>
              <a:t>    </a:t>
            </a:r>
          </a:p>
        </p:txBody>
      </p:sp>
    </p:spTree>
    <p:extLst>
      <p:ext uri="{BB962C8B-B14F-4D97-AF65-F5344CB8AC3E}">
        <p14:creationId xmlns:p14="http://schemas.microsoft.com/office/powerpoint/2010/main" val="214300761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4CFA9-EBDE-17A7-10BB-43A3DBC1D72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53F52D6-C4EA-4F04-5BB2-89EBD96C1F3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10B29A0-32F2-5600-ABE7-CF419D543E9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716F3EE-536B-51A0-8BAB-9177142864E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6857570-CF9E-D509-48B1-437A15A0F0C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692403E-3507-7383-719D-CF18C79D5332}"/>
              </a:ext>
            </a:extLst>
          </p:cNvPr>
          <p:cNvSpPr txBox="1">
            <a:spLocks/>
          </p:cNvSpPr>
          <p:nvPr/>
        </p:nvSpPr>
        <p:spPr>
          <a:xfrm>
            <a:off x="292640" y="697468"/>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Self Healing Techniques</a:t>
            </a:r>
          </a:p>
          <a:p>
            <a:pPr marL="12700" marR="5080"/>
            <a:r>
              <a:rPr lang="en-US" sz="1800" kern="0" spc="-80" dirty="0">
                <a:solidFill>
                  <a:schemeClr val="accent2"/>
                </a:solidFill>
              </a:rPr>
              <a:t>Health Checks:</a:t>
            </a:r>
            <a:r>
              <a:rPr lang="en-US" sz="1800" kern="0" spc="-80" dirty="0">
                <a:solidFill>
                  <a:schemeClr val="accent6"/>
                </a:solidFill>
              </a:rPr>
              <a:t> Services expose health endpoints that are periodically checked by a health monitor. If a health check fails, the monitoring tool can trigger a restart or removal of the unhealthy service instance. Continuously monitor the API's performance and stability, providing real-time alerts when issues arise.</a:t>
            </a:r>
            <a:br>
              <a:rPr lang="en-US" sz="1800" kern="0" spc="-80" dirty="0">
                <a:solidFill>
                  <a:schemeClr val="accent6"/>
                </a:solidFill>
              </a:rPr>
            </a:br>
            <a:r>
              <a:rPr lang="en-US" sz="1800" kern="0" spc="-80" dirty="0">
                <a:solidFill>
                  <a:schemeClr val="accent2"/>
                </a:solidFill>
              </a:rPr>
              <a:t>Automated Error Handling &amp; Transformation: </a:t>
            </a:r>
            <a:r>
              <a:rPr lang="en-US" sz="1800" kern="0" spc="-80" dirty="0">
                <a:solidFill>
                  <a:schemeClr val="accent6"/>
                </a:solidFill>
              </a:rPr>
              <a:t>Use AI or rule-based systems to automatically adapt to changes, such as when a data schema mismatches, by applying safe transformations or opening a ticket with a data snapshot.</a:t>
            </a:r>
            <a:br>
              <a:rPr lang="en-US" sz="1800" kern="0" spc="-80" dirty="0">
                <a:solidFill>
                  <a:schemeClr val="accent6"/>
                </a:solidFill>
              </a:rPr>
            </a:br>
            <a:r>
              <a:rPr lang="en-US" sz="1800" kern="0" spc="-80" dirty="0">
                <a:solidFill>
                  <a:schemeClr val="accent2"/>
                </a:solidFill>
              </a:rPr>
              <a:t>Real-time Monitoring and Alerting:</a:t>
            </a:r>
            <a:r>
              <a:rPr lang="en-US" sz="1800" kern="0" spc="-80" dirty="0">
                <a:solidFill>
                  <a:schemeClr val="accent6"/>
                </a:solidFill>
              </a:rPr>
              <a:t> Receive immediate notifications about service issues and automatically fix them, contributing to a more responsive system. Continuous tracking of system metrics (e.g., CPU usage, memory, network latency, error rates) to detect anomalies or potential issues.</a:t>
            </a:r>
            <a:br>
              <a:rPr lang="en-US" sz="1800" kern="0" spc="-80" dirty="0">
                <a:solidFill>
                  <a:schemeClr val="accent6"/>
                </a:solidFill>
              </a:rPr>
            </a:br>
            <a:r>
              <a:rPr lang="en-US" sz="1800" kern="0" spc="-80" dirty="0">
                <a:solidFill>
                  <a:schemeClr val="accent2"/>
                </a:solidFill>
              </a:rPr>
              <a:t>Adaptive Load Shedding: </a:t>
            </a:r>
            <a:r>
              <a:rPr lang="en-US" sz="1800" kern="0" spc="-80" dirty="0">
                <a:solidFill>
                  <a:schemeClr val="accent6"/>
                </a:solidFill>
              </a:rPr>
              <a:t>Use techniques like token buckets to manage load and shed excess traffic during periods of high demand or failure.</a:t>
            </a:r>
            <a:br>
              <a:rPr lang="en-US" sz="1800" kern="0" spc="-80" dirty="0">
                <a:solidFill>
                  <a:schemeClr val="accent6"/>
                </a:solidFill>
              </a:rPr>
            </a:br>
            <a:r>
              <a:rPr lang="en-US" sz="1800" kern="0" spc="-80" dirty="0">
                <a:solidFill>
                  <a:schemeClr val="accent2"/>
                </a:solidFill>
              </a:rPr>
              <a:t>Auto-Rollback: </a:t>
            </a:r>
            <a:r>
              <a:rPr lang="en-US" sz="1800" kern="0" spc="-80" dirty="0">
                <a:solidFill>
                  <a:schemeClr val="accent6"/>
                </a:solidFill>
              </a:rPr>
              <a:t>Automatically roll back a new feature or deployment if it correlates with a spike in errors or negative performance indicators.</a:t>
            </a:r>
          </a:p>
        </p:txBody>
      </p:sp>
    </p:spTree>
    <p:extLst>
      <p:ext uri="{BB962C8B-B14F-4D97-AF65-F5344CB8AC3E}">
        <p14:creationId xmlns:p14="http://schemas.microsoft.com/office/powerpoint/2010/main" val="259659848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6508B-74DB-E0C0-4DEC-436E6D27147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DC01D62-659E-E50B-17B3-CF2C89EEC2E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EBC3290-586D-29AE-3532-3731621B231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76E9804-1D75-5C9A-BEF8-0C01A1FDD40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7A13AE7-2A26-A9F4-4576-E3A2516514D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233E51C-2126-DC8F-194F-CCAA6DED8058}"/>
              </a:ext>
            </a:extLst>
          </p:cNvPr>
          <p:cNvSpPr txBox="1">
            <a:spLocks/>
          </p:cNvSpPr>
          <p:nvPr/>
        </p:nvSpPr>
        <p:spPr>
          <a:xfrm>
            <a:off x="292640" y="697468"/>
            <a:ext cx="8624937" cy="54476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Self Healing Techniques</a:t>
            </a:r>
          </a:p>
          <a:p>
            <a:pPr marL="12700" marR="5080"/>
            <a:r>
              <a:rPr lang="en-US" sz="1800" kern="0" spc="-80" dirty="0">
                <a:solidFill>
                  <a:schemeClr val="accent2"/>
                </a:solidFill>
              </a:rPr>
              <a:t>Queue-based work processing:</a:t>
            </a:r>
            <a:r>
              <a:rPr lang="en-US" sz="1800" kern="0" spc="-80" dirty="0">
                <a:solidFill>
                  <a:schemeClr val="accent6"/>
                </a:solidFill>
              </a:rPr>
              <a:t> Instead of direct communication, background services can pull tasks from a queue. If a service instance fails, the task returns to the queue and can be picked up by another, healthy instance, preventing data loss. </a:t>
            </a:r>
          </a:p>
          <a:p>
            <a:pPr marL="12700" marR="5080"/>
            <a:r>
              <a:rPr lang="en-US" sz="1800" kern="0" spc="-80" dirty="0">
                <a:solidFill>
                  <a:schemeClr val="accent2"/>
                </a:solidFill>
              </a:rPr>
              <a:t>Recovery: </a:t>
            </a:r>
            <a:r>
              <a:rPr lang="en-US" sz="1800" kern="0" spc="-80" dirty="0">
                <a:solidFill>
                  <a:schemeClr val="accent6"/>
                </a:solidFill>
              </a:rPr>
              <a:t>The API continues to operate, potentially with reduced functionality or by serving stale data from a cache, while the underlying issue is resolved.</a:t>
            </a:r>
            <a:br>
              <a:rPr lang="en-US" sz="1800" kern="0" spc="-80" dirty="0">
                <a:solidFill>
                  <a:schemeClr val="accent6"/>
                </a:solidFill>
              </a:rPr>
            </a:br>
            <a:r>
              <a:rPr lang="en-US" sz="1800" kern="0" spc="-80" dirty="0">
                <a:solidFill>
                  <a:schemeClr val="accent2"/>
                </a:solidFill>
              </a:rPr>
              <a:t>Anomaly detection: </a:t>
            </a:r>
            <a:r>
              <a:rPr lang="en-US" sz="1800" kern="0" spc="-80" dirty="0">
                <a:solidFill>
                  <a:schemeClr val="accent6"/>
                </a:solidFill>
              </a:rPr>
              <a:t>Uses predefined thresholds, baselines, or AI/machine learning to identify performance deviations and potential failures before they</a:t>
            </a:r>
          </a:p>
          <a:p>
            <a:pPr marL="12700" marR="5080"/>
            <a:r>
              <a:rPr lang="en-US" sz="1800" kern="0" spc="-80" dirty="0">
                <a:solidFill>
                  <a:schemeClr val="accent6"/>
                </a:solidFill>
              </a:rPr>
              <a:t>escalate into an outage.</a:t>
            </a:r>
            <a:br>
              <a:rPr lang="en-US" sz="1800" kern="0" spc="-80" dirty="0">
                <a:solidFill>
                  <a:schemeClr val="accent6"/>
                </a:solidFill>
              </a:rPr>
            </a:br>
            <a:r>
              <a:rPr lang="en-US" sz="1800" kern="0" spc="-80" dirty="0">
                <a:solidFill>
                  <a:schemeClr val="accent2"/>
                </a:solidFill>
              </a:rPr>
              <a:t>Root cause analysis: </a:t>
            </a:r>
            <a:r>
              <a:rPr lang="en-US" sz="1800" kern="0" spc="-80" dirty="0">
                <a:solidFill>
                  <a:schemeClr val="accent6"/>
                </a:solidFill>
              </a:rPr>
              <a:t>A diagnostic engine that analyzes monitoring data and logs to pinpoint the underlying cause of a detected problem.                                                  </a:t>
            </a:r>
          </a:p>
          <a:p>
            <a:pPr marL="12700" marR="5080"/>
            <a:endParaRPr lang="en-US" sz="1800" kern="0" spc="-80" dirty="0">
              <a:solidFill>
                <a:schemeClr val="accent6"/>
              </a:solidFill>
            </a:endParaRPr>
          </a:p>
          <a:p>
            <a:pPr marL="12700" marR="5080"/>
            <a:r>
              <a:rPr lang="en-US" sz="1800" kern="0" spc="-80" dirty="0">
                <a:solidFill>
                  <a:schemeClr val="accent2"/>
                </a:solidFill>
              </a:rPr>
              <a:t>Infrastructure-level techniques:</a:t>
            </a:r>
            <a:br>
              <a:rPr lang="en-US" sz="1800" kern="0" spc="-80" dirty="0">
                <a:solidFill>
                  <a:schemeClr val="accent2"/>
                </a:solidFill>
              </a:rPr>
            </a:br>
            <a:r>
              <a:rPr lang="en-US" sz="1800" kern="0" spc="-80" dirty="0">
                <a:solidFill>
                  <a:schemeClr val="accent2"/>
                </a:solidFill>
              </a:rPr>
              <a:t>Container orchestration (e.g., Kubernetes):</a:t>
            </a:r>
            <a:r>
              <a:rPr lang="en-US" sz="1800" kern="0" spc="-80" dirty="0">
                <a:solidFill>
                  <a:schemeClr val="accent6"/>
                </a:solidFill>
              </a:rPr>
              <a:t> For services deployed in containers, orchestrators like Kubernetes automatically handle self-healing. They monitor container health and automatically restart or replace any that fail to meet their</a:t>
            </a:r>
          </a:p>
          <a:p>
            <a:pPr marL="12700" marR="5080"/>
            <a:endParaRPr lang="en-US" sz="1800" kern="0" spc="-80" dirty="0">
              <a:solidFill>
                <a:schemeClr val="accent6"/>
              </a:solidFill>
            </a:endParaRPr>
          </a:p>
        </p:txBody>
      </p:sp>
    </p:spTree>
    <p:extLst>
      <p:ext uri="{BB962C8B-B14F-4D97-AF65-F5344CB8AC3E}">
        <p14:creationId xmlns:p14="http://schemas.microsoft.com/office/powerpoint/2010/main" val="283231056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FF8F5-E8AC-A5D4-7A33-C6CEE4B005B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1F1C6B0-BAF1-E0CC-0F1E-C875F9EB672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916A1A2-99A2-DB1A-48AF-FEF1A68D4AB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F6E6993-58E1-B68C-16CE-333660BF074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0568876-E174-899B-13D6-0A63AF59583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8D4FDFD-55B4-9CEF-605A-48D031DCC03F}"/>
              </a:ext>
            </a:extLst>
          </p:cNvPr>
          <p:cNvSpPr txBox="1">
            <a:spLocks/>
          </p:cNvSpPr>
          <p:nvPr/>
        </p:nvSpPr>
        <p:spPr>
          <a:xfrm>
            <a:off x="137369" y="666432"/>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Self Healing Techniques</a:t>
            </a:r>
          </a:p>
          <a:p>
            <a:pPr marL="12700" marR="5080"/>
            <a:r>
              <a:rPr lang="en-US" sz="1800" kern="0" spc="-80" dirty="0">
                <a:solidFill>
                  <a:schemeClr val="accent6"/>
                </a:solidFill>
              </a:rPr>
              <a:t>health checks.</a:t>
            </a:r>
          </a:p>
          <a:p>
            <a:pPr marL="12700" marR="5080"/>
            <a:r>
              <a:rPr lang="en-US" sz="1800" kern="0" spc="-80" dirty="0">
                <a:solidFill>
                  <a:schemeClr val="accent2"/>
                </a:solidFill>
              </a:rPr>
              <a:t>Deployment automation:</a:t>
            </a:r>
            <a:r>
              <a:rPr lang="en-US" sz="1800" kern="0" spc="-80" dirty="0">
                <a:solidFill>
                  <a:schemeClr val="accent6"/>
                </a:solidFill>
              </a:rPr>
              <a:t> An automated and self-healing deployment pipeline can revert a new release if it fails a set of automated health checks, preventing a bad update from reaching production.</a:t>
            </a:r>
          </a:p>
          <a:p>
            <a:pPr marL="12700" marR="5080"/>
            <a:r>
              <a:rPr lang="en-US" sz="1800" kern="0" spc="-80" dirty="0">
                <a:solidFill>
                  <a:schemeClr val="accent2"/>
                </a:solidFill>
              </a:rPr>
              <a:t>Redundancy and failover:</a:t>
            </a:r>
            <a:r>
              <a:rPr lang="en-US" sz="1800" kern="0" spc="-80" dirty="0">
                <a:solidFill>
                  <a:schemeClr val="accent6"/>
                </a:solidFill>
              </a:rPr>
              <a:t> Critical services are duplicated to ensure that if one component fails, another can take over its function immediately. This includes redundant storage, databases, and compute resources.</a:t>
            </a:r>
            <a:br>
              <a:rPr lang="en-US" sz="1800" kern="0" spc="-80" dirty="0">
                <a:solidFill>
                  <a:schemeClr val="accent6"/>
                </a:solidFill>
              </a:rPr>
            </a:br>
            <a:r>
              <a:rPr lang="en-US" sz="1800" kern="0" spc="-80" dirty="0">
                <a:solidFill>
                  <a:schemeClr val="accent2"/>
                </a:solidFill>
              </a:rPr>
              <a:t>Automated scaling: </a:t>
            </a:r>
            <a:r>
              <a:rPr lang="en-US" sz="1800" kern="0" spc="-80" dirty="0">
                <a:solidFill>
                  <a:schemeClr val="accent6"/>
                </a:solidFill>
              </a:rPr>
              <a:t>When a service experiences high load that could cause a performance degradation or failure, auto-scaling mechanisms can automatically provision additional resources to handle the demand.</a:t>
            </a:r>
            <a:br>
              <a:rPr lang="en-US" sz="1800" kern="0" spc="-80" dirty="0">
                <a:solidFill>
                  <a:schemeClr val="accent6"/>
                </a:solidFill>
              </a:rPr>
            </a:br>
            <a:r>
              <a:rPr lang="en-US" sz="1800" kern="0" spc="-80" dirty="0">
                <a:solidFill>
                  <a:schemeClr val="accent2"/>
                </a:solidFill>
              </a:rPr>
              <a:t>Feedback loop: </a:t>
            </a:r>
            <a:r>
              <a:rPr lang="en-US" sz="1800" kern="0" spc="-80" dirty="0">
                <a:solidFill>
                  <a:schemeClr val="accent6"/>
                </a:solidFill>
              </a:rPr>
              <a:t>After a resolution, the system logs and analyzes the event to learn and improve its future responses.</a:t>
            </a:r>
          </a:p>
          <a:p>
            <a:pPr marL="12700" marR="5080"/>
            <a:r>
              <a:rPr lang="en-US" sz="1800" kern="0" spc="-80" dirty="0">
                <a:solidFill>
                  <a:schemeClr val="accent2"/>
                </a:solidFill>
              </a:rPr>
              <a:t>Advanced techniques with AI.</a:t>
            </a:r>
          </a:p>
          <a:p>
            <a:pPr marL="12700" marR="5080"/>
            <a:r>
              <a:rPr lang="en-US" sz="1800" kern="0" spc="-80" dirty="0">
                <a:solidFill>
                  <a:schemeClr val="accent2"/>
                </a:solidFill>
              </a:rPr>
              <a:t>Predictive maintenance:</a:t>
            </a:r>
            <a:r>
              <a:rPr lang="en-US" sz="1800" kern="0" spc="-80" dirty="0">
                <a:solidFill>
                  <a:schemeClr val="accent6"/>
                </a:solidFill>
              </a:rPr>
              <a:t> Systems learn from past errors, and AI and machine learning can be used to improve future detection and correction capabilities.</a:t>
            </a:r>
          </a:p>
          <a:p>
            <a:pPr marL="12700" marR="5080"/>
            <a:r>
              <a:rPr lang="en-US" sz="1800" kern="0" spc="-80" dirty="0">
                <a:solidFill>
                  <a:schemeClr val="accent6"/>
                </a:solidFill>
              </a:rPr>
              <a:t>AI and machine learning analyze historical data to predict potential failures</a:t>
            </a:r>
          </a:p>
        </p:txBody>
      </p:sp>
    </p:spTree>
    <p:extLst>
      <p:ext uri="{BB962C8B-B14F-4D97-AF65-F5344CB8AC3E}">
        <p14:creationId xmlns:p14="http://schemas.microsoft.com/office/powerpoint/2010/main" val="328627936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8003-2383-D0FD-5048-F0D2E3FD1D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3651447-6DB2-1F7B-BF61-DC3A759AE18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32DC565-D2CA-AF97-29F9-4275FBCE27E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6597A8E-FF3F-6E4B-ED4B-D03D4B538D1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5FFA8A0-A772-C560-B638-F7D32AED793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861148C-066A-FF26-544D-BC178978D607}"/>
              </a:ext>
            </a:extLst>
          </p:cNvPr>
          <p:cNvSpPr txBox="1">
            <a:spLocks/>
          </p:cNvSpPr>
          <p:nvPr/>
        </p:nvSpPr>
        <p:spPr>
          <a:xfrm>
            <a:off x="292640" y="697468"/>
            <a:ext cx="8624937" cy="58169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Self Healing Techniques</a:t>
            </a:r>
          </a:p>
          <a:p>
            <a:pPr marL="12700" marR="5080"/>
            <a:r>
              <a:rPr lang="en-US" sz="1800" kern="0" spc="-80" dirty="0">
                <a:solidFill>
                  <a:schemeClr val="accent6"/>
                </a:solidFill>
              </a:rPr>
              <a:t>before they occur. For example, the system could identify that a particular</a:t>
            </a:r>
          </a:p>
          <a:p>
            <a:pPr marL="12700" marR="5080"/>
            <a:r>
              <a:rPr lang="en-US" sz="1800" kern="0" spc="-80" dirty="0">
                <a:solidFill>
                  <a:schemeClr val="accent6"/>
                </a:solidFill>
              </a:rPr>
              <a:t>service often fails after its memory usage crosses a certain threshold and proactively restart it.</a:t>
            </a:r>
            <a:br>
              <a:rPr lang="en-US" sz="1800" kern="0" spc="-80" dirty="0">
                <a:solidFill>
                  <a:schemeClr val="accent6"/>
                </a:solidFill>
              </a:rPr>
            </a:br>
            <a:r>
              <a:rPr lang="en-US" sz="1800" kern="0" spc="-80" dirty="0">
                <a:solidFill>
                  <a:schemeClr val="accent2"/>
                </a:solidFill>
              </a:rPr>
              <a:t>Autonomous remediation:</a:t>
            </a:r>
            <a:r>
              <a:rPr lang="en-US" sz="1800" kern="0" spc="-80" dirty="0">
                <a:solidFill>
                  <a:schemeClr val="accent6"/>
                </a:solidFill>
              </a:rPr>
              <a:t> With an AI-driven system, the background service can make autonomous decisions about the best course of action rather than relying on predefined rules. This enables more complex problem-solving without human intervention.</a:t>
            </a:r>
          </a:p>
          <a:p>
            <a:pPr marL="12700" marR="5080"/>
            <a:endParaRPr lang="en-US" sz="1800" kern="0" spc="-80" dirty="0">
              <a:solidFill>
                <a:schemeClr val="accent6"/>
              </a:solidFill>
            </a:endParaRPr>
          </a:p>
          <a:p>
            <a:pPr marL="12700" marR="5080"/>
            <a:r>
              <a:rPr lang="en-US" sz="1800" kern="0" spc="-80" dirty="0">
                <a:solidFill>
                  <a:schemeClr val="accent2"/>
                </a:solidFill>
              </a:rPr>
              <a:t>How They Work Together:</a:t>
            </a:r>
            <a:br>
              <a:rPr lang="en-US" sz="1800" kern="0" spc="-80" dirty="0">
                <a:solidFill>
                  <a:schemeClr val="accent6"/>
                </a:solidFill>
              </a:rPr>
            </a:br>
            <a:r>
              <a:rPr lang="en-US" sz="1800" kern="0" spc="-80" dirty="0">
                <a:solidFill>
                  <a:schemeClr val="accent6"/>
                </a:solidFill>
              </a:rPr>
              <a:t>These techniques are often combined in a layered approach to create a resilient system:</a:t>
            </a:r>
            <a:br>
              <a:rPr lang="en-US" sz="1800" kern="0" spc="-80" dirty="0">
                <a:solidFill>
                  <a:schemeClr val="accent6"/>
                </a:solidFill>
              </a:rPr>
            </a:br>
            <a:r>
              <a:rPr lang="en-US" sz="1800" kern="0" spc="-80" dirty="0">
                <a:solidFill>
                  <a:schemeClr val="accent2"/>
                </a:solidFill>
              </a:rPr>
              <a:t>Detection:</a:t>
            </a:r>
            <a:r>
              <a:rPr lang="en-US" sz="1800" kern="0" spc="-80" dirty="0">
                <a:solidFill>
                  <a:schemeClr val="accent6"/>
                </a:solidFill>
              </a:rPr>
              <a:t> Health checks and monitoring systems detect a problem.</a:t>
            </a:r>
            <a:br>
              <a:rPr lang="en-US" sz="1800" kern="0" spc="-80" dirty="0">
                <a:solidFill>
                  <a:schemeClr val="accent6"/>
                </a:solidFill>
              </a:rPr>
            </a:br>
            <a:r>
              <a:rPr lang="en-US" sz="1800" kern="0" spc="-80" dirty="0">
                <a:solidFill>
                  <a:schemeClr val="accent2"/>
                </a:solidFill>
              </a:rPr>
              <a:t>Isolation: </a:t>
            </a:r>
            <a:r>
              <a:rPr lang="en-US" sz="1800" kern="0" spc="-80" dirty="0">
                <a:solidFill>
                  <a:schemeClr val="accent6"/>
                </a:solidFill>
              </a:rPr>
              <a:t>A circuit breaker might be triggered to stop requests to the affected service, preventing further issues.</a:t>
            </a:r>
            <a:br>
              <a:rPr lang="en-US" sz="1800" kern="0" spc="-80" dirty="0">
                <a:solidFill>
                  <a:schemeClr val="accent6"/>
                </a:solidFill>
              </a:rPr>
            </a:br>
            <a:r>
              <a:rPr lang="en-US" sz="1800" kern="0" spc="-80" dirty="0">
                <a:solidFill>
                  <a:schemeClr val="accent2"/>
                </a:solidFill>
              </a:rPr>
              <a:t>Response:</a:t>
            </a:r>
            <a:r>
              <a:rPr lang="en-US" sz="1800" kern="0" spc="-80" dirty="0">
                <a:solidFill>
                  <a:schemeClr val="accent6"/>
                </a:solidFill>
              </a:rPr>
              <a:t> A retry mechanism attempts to re-establish a connection, a fallback mechanism might take over, or a simpler logic is used.</a:t>
            </a:r>
            <a:br>
              <a:rPr lang="en-US" sz="1800" kern="0" spc="-80" dirty="0">
                <a:solidFill>
                  <a:schemeClr val="accent6"/>
                </a:solidFill>
              </a:rPr>
            </a:br>
            <a:endParaRPr lang="en-US" sz="1800" kern="0" spc="-80" dirty="0">
              <a:solidFill>
                <a:schemeClr val="accent6"/>
              </a:solidFill>
            </a:endParaRPr>
          </a:p>
          <a:p>
            <a:pPr marL="12700" marR="5080"/>
            <a:endParaRPr lang="en-US" sz="2400" kern="0" spc="-80" dirty="0">
              <a:solidFill>
                <a:schemeClr val="accent2"/>
              </a:solidFill>
            </a:endParaRPr>
          </a:p>
        </p:txBody>
      </p:sp>
    </p:spTree>
    <p:extLst>
      <p:ext uri="{BB962C8B-B14F-4D97-AF65-F5344CB8AC3E}">
        <p14:creationId xmlns:p14="http://schemas.microsoft.com/office/powerpoint/2010/main" val="252601736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6753B-48EF-1C9D-C0A4-5C2FC2EBA68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52A506-4907-A44D-45DA-7D4564DABC0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B8356CE-F93C-41DC-5BB5-944DA2C6BFC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7C900F6-982D-00D1-00B9-0B2891BA825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6BD0830-9149-9B8F-58F9-E6328BC0D55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A0EF8CC-1E3C-22B2-21B7-315CB05347D2}"/>
              </a:ext>
            </a:extLst>
          </p:cNvPr>
          <p:cNvSpPr txBox="1">
            <a:spLocks/>
          </p:cNvSpPr>
          <p:nvPr/>
        </p:nvSpPr>
        <p:spPr>
          <a:xfrm>
            <a:off x="292640" y="697468"/>
            <a:ext cx="8624937" cy="32316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Availability/Reliability &amp; Resiliency –</a:t>
            </a:r>
          </a:p>
          <a:p>
            <a:pPr marL="12700" marR="5080"/>
            <a:r>
              <a:rPr lang="en-US" sz="2400" kern="0" spc="-80" dirty="0">
                <a:solidFill>
                  <a:schemeClr val="accent2"/>
                </a:solidFill>
              </a:rPr>
              <a:t>   Self Healing Techniques</a:t>
            </a:r>
          </a:p>
          <a:p>
            <a:pPr marL="12700" marR="5080"/>
            <a:r>
              <a:rPr lang="en-US" sz="1800" kern="0" spc="-80" dirty="0">
                <a:solidFill>
                  <a:schemeClr val="accent2"/>
                </a:solidFill>
              </a:rPr>
              <a:t>Benefits:</a:t>
            </a:r>
            <a:br>
              <a:rPr lang="en-US" sz="1800" kern="0" spc="-80" dirty="0">
                <a:solidFill>
                  <a:schemeClr val="accent6"/>
                </a:solidFill>
              </a:rPr>
            </a:br>
            <a:r>
              <a:rPr lang="en-US" sz="1800" kern="0" spc="-80" dirty="0">
                <a:solidFill>
                  <a:schemeClr val="accent2"/>
                </a:solidFill>
              </a:rPr>
              <a:t>Increased Reliability: </a:t>
            </a:r>
            <a:r>
              <a:rPr lang="en-US" sz="1800" kern="0" spc="-80" dirty="0">
                <a:solidFill>
                  <a:schemeClr val="accent6"/>
                </a:solidFill>
              </a:rPr>
              <a:t>APIs become more robust and less prone to downtime.</a:t>
            </a:r>
            <a:br>
              <a:rPr lang="en-US" sz="1800" kern="0" spc="-80" dirty="0">
                <a:solidFill>
                  <a:schemeClr val="accent6"/>
                </a:solidFill>
              </a:rPr>
            </a:br>
            <a:r>
              <a:rPr lang="en-US" sz="1800" kern="0" spc="-80" dirty="0">
                <a:solidFill>
                  <a:schemeClr val="accent2"/>
                </a:solidFill>
              </a:rPr>
              <a:t>Reduced Maintenance:</a:t>
            </a:r>
            <a:r>
              <a:rPr lang="en-US" sz="1800" kern="0" spc="-80" dirty="0">
                <a:solidFill>
                  <a:schemeClr val="accent6"/>
                </a:solidFill>
              </a:rPr>
              <a:t> Automated recovery reduces the need for manual intervention, saving time and effort.</a:t>
            </a:r>
            <a:br>
              <a:rPr lang="en-US" sz="1800" kern="0" spc="-80" dirty="0">
                <a:solidFill>
                  <a:schemeClr val="accent6"/>
                </a:solidFill>
              </a:rPr>
            </a:br>
            <a:r>
              <a:rPr lang="en-US" sz="1800" kern="0" spc="-80" dirty="0">
                <a:solidFill>
                  <a:schemeClr val="accent2"/>
                </a:solidFill>
              </a:rPr>
              <a:t>Improved User Experience: </a:t>
            </a:r>
            <a:r>
              <a:rPr lang="en-US" sz="1800" kern="0" spc="-80" dirty="0">
                <a:solidFill>
                  <a:schemeClr val="accent6"/>
                </a:solidFill>
              </a:rPr>
              <a:t>Users experience a more seamless and responsive service, even when underlying problems occur.</a:t>
            </a:r>
            <a:br>
              <a:rPr lang="en-US" sz="1800" kern="0" spc="-80" dirty="0">
                <a:solidFill>
                  <a:schemeClr val="accent6"/>
                </a:solidFill>
              </a:rPr>
            </a:br>
            <a:r>
              <a:rPr lang="en-US" sz="1800" kern="0" spc="-80" dirty="0">
                <a:solidFill>
                  <a:schemeClr val="accent2"/>
                </a:solidFill>
              </a:rPr>
              <a:t>Faster Issue Resolution: </a:t>
            </a:r>
            <a:r>
              <a:rPr lang="en-US" sz="1800" kern="0" spc="-80" dirty="0">
                <a:solidFill>
                  <a:schemeClr val="accent6"/>
                </a:solidFill>
              </a:rPr>
              <a:t>Problems are identified and fixed quickly, minimizing their impact on the system.</a:t>
            </a:r>
          </a:p>
          <a:p>
            <a:pPr marL="12700" marR="5080"/>
            <a:r>
              <a:rPr lang="en-US" sz="1800" kern="0" spc="-80" dirty="0">
                <a:solidFill>
                  <a:schemeClr val="accent6"/>
                </a:solidFill>
              </a:rPr>
              <a:t>    </a:t>
            </a:r>
          </a:p>
        </p:txBody>
      </p:sp>
    </p:spTree>
    <p:extLst>
      <p:ext uri="{BB962C8B-B14F-4D97-AF65-F5344CB8AC3E}">
        <p14:creationId xmlns:p14="http://schemas.microsoft.com/office/powerpoint/2010/main" val="274461473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3BE1A-A182-EEF8-13C1-92C46E59BAE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259F3EC-E5AB-F3BB-5CD1-EB4E23BD59A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F570660-89FF-3EC0-3659-5070F239B61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FC80912-BAC8-4A0C-2C8B-08477F845C1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8948889-98B1-6043-DDCE-3C2DFCF78AF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EC52D67-7C35-EE5F-DBD9-11A16CD9E5BC}"/>
              </a:ext>
            </a:extLst>
          </p:cNvPr>
          <p:cNvSpPr txBox="1">
            <a:spLocks/>
          </p:cNvSpPr>
          <p:nvPr/>
        </p:nvSpPr>
        <p:spPr>
          <a:xfrm>
            <a:off x="292640" y="697468"/>
            <a:ext cx="8624937" cy="574003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Network Availability &amp; Scalability -   </a:t>
            </a:r>
          </a:p>
          <a:p>
            <a:pPr marL="12700" marR="5080"/>
            <a:r>
              <a:rPr lang="en-US" sz="1400" kern="0" spc="-80" dirty="0">
                <a:solidFill>
                  <a:schemeClr val="accent6"/>
                </a:solidFill>
              </a:rPr>
              <a:t>Network availability is a measure of how well a network can respond to performance and connectivity demands, while network scalability is a network's ability to handle increased amounts of change:</a:t>
            </a:r>
          </a:p>
          <a:p>
            <a:pPr marL="12700" marR="5080"/>
            <a:r>
              <a:rPr lang="en-US" sz="1400" kern="0" spc="-80" dirty="0">
                <a:solidFill>
                  <a:schemeClr val="accent2"/>
                </a:solidFill>
              </a:rPr>
              <a:t>Network availability</a:t>
            </a:r>
          </a:p>
          <a:p>
            <a:pPr marL="12700" marR="5080"/>
            <a:r>
              <a:rPr lang="en-US" sz="1400" kern="0" spc="-80" dirty="0">
                <a:solidFill>
                  <a:schemeClr val="accent6"/>
                </a:solidFill>
              </a:rPr>
              <a:t>Also known as network uptime, this is a measure of how well a network can respond to performance and connectivity demands. A common goal for organizations is to achieve five nines (99.999%) of availability. </a:t>
            </a:r>
          </a:p>
          <a:p>
            <a:pPr marL="12700" marR="5080"/>
            <a:r>
              <a:rPr lang="en-US" sz="1400" kern="0" spc="-80" dirty="0">
                <a:solidFill>
                  <a:schemeClr val="accent2"/>
                </a:solidFill>
              </a:rPr>
              <a:t>Network scalability</a:t>
            </a:r>
          </a:p>
          <a:p>
            <a:pPr marL="12700" marR="5080"/>
            <a:r>
              <a:rPr lang="en-US" sz="1400" kern="0" spc="-80" dirty="0">
                <a:solidFill>
                  <a:schemeClr val="accent6"/>
                </a:solidFill>
              </a:rPr>
              <a:t>A scalable network can efficiently manage increased amounts of users, devices, or data, while maintaining stable and reliable performance. </a:t>
            </a:r>
          </a:p>
          <a:p>
            <a:pPr marL="12700" marR="5080"/>
            <a:r>
              <a:rPr lang="en-US" sz="1400" kern="0" spc="-80" dirty="0">
                <a:solidFill>
                  <a:schemeClr val="accent6"/>
                </a:solidFill>
              </a:rPr>
              <a:t>Here are some strategies for ensuring network availability and reliability:</a:t>
            </a:r>
          </a:p>
          <a:p>
            <a:pPr marL="12700" marR="5080"/>
            <a:r>
              <a:rPr lang="en-US" sz="1400" kern="0" spc="-80" dirty="0">
                <a:solidFill>
                  <a:schemeClr val="accent6"/>
                </a:solidFill>
              </a:rPr>
              <a:t>Design redundancy into the network architecture</a:t>
            </a:r>
          </a:p>
          <a:p>
            <a:pPr marL="12700" marR="5080"/>
            <a:r>
              <a:rPr lang="en-US" sz="1400" kern="0" spc="-80" dirty="0">
                <a:solidFill>
                  <a:schemeClr val="accent6"/>
                </a:solidFill>
              </a:rPr>
              <a:t>Monitor performance</a:t>
            </a:r>
          </a:p>
          <a:p>
            <a:pPr marL="12700" marR="5080"/>
            <a:r>
              <a:rPr lang="en-US" sz="1400" kern="0" spc="-80" dirty="0">
                <a:solidFill>
                  <a:schemeClr val="accent6"/>
                </a:solidFill>
              </a:rPr>
              <a:t>Implement security</a:t>
            </a:r>
          </a:p>
          <a:p>
            <a:pPr marL="12700" marR="5080"/>
            <a:r>
              <a:rPr lang="en-US" sz="1400" kern="0" spc="-80" dirty="0">
                <a:solidFill>
                  <a:schemeClr val="accent6"/>
                </a:solidFill>
              </a:rPr>
              <a:t>Update and patch</a:t>
            </a:r>
          </a:p>
          <a:p>
            <a:pPr marL="12700" marR="5080"/>
            <a:r>
              <a:rPr lang="en-US" sz="1400" kern="0" spc="-80" dirty="0">
                <a:solidFill>
                  <a:schemeClr val="accent6"/>
                </a:solidFill>
              </a:rPr>
              <a:t>Test and backup</a:t>
            </a:r>
          </a:p>
          <a:p>
            <a:pPr marL="12700" marR="5080"/>
            <a:r>
              <a:rPr lang="en-US" sz="1400" kern="0" spc="-80" dirty="0">
                <a:solidFill>
                  <a:schemeClr val="accent6"/>
                </a:solidFill>
              </a:rPr>
              <a:t>Train and document </a:t>
            </a:r>
          </a:p>
          <a:p>
            <a:pPr marL="12700" marR="5080"/>
            <a:r>
              <a:rPr lang="en-US" sz="1400" kern="0" spc="-80" dirty="0">
                <a:solidFill>
                  <a:schemeClr val="accent6"/>
                </a:solidFill>
              </a:rPr>
              <a:t>Load balancing can also improve a network's availability, scalability, security, and performance by directing and controlling internet traffic between application servers and their clients</a:t>
            </a:r>
          </a:p>
          <a:p>
            <a:pPr marL="12700" marR="5080"/>
            <a:endParaRPr lang="en-US" sz="1400" kern="0" spc="-80" dirty="0">
              <a:solidFill>
                <a:schemeClr val="accent6"/>
              </a:solidFill>
            </a:endParaRPr>
          </a:p>
          <a:p>
            <a:pPr marL="12700" marR="5080"/>
            <a:r>
              <a:rPr lang="en-US" sz="1400" kern="0" spc="-80" dirty="0">
                <a:solidFill>
                  <a:schemeClr val="accent2"/>
                </a:solidFill>
              </a:rPr>
              <a:t>For Further Exploration- </a:t>
            </a:r>
          </a:p>
          <a:p>
            <a:pPr marL="12700" marR="5080"/>
            <a:r>
              <a:rPr lang="en-US" sz="1500" dirty="0">
                <a:hlinkClick r:id="rId7"/>
              </a:rPr>
              <a:t>What Is Network Scalability? How to Optimize for Growth | Nile</a:t>
            </a:r>
            <a:endParaRPr lang="en-US" sz="1500" dirty="0"/>
          </a:p>
          <a:p>
            <a:pPr marL="12700" marR="5080"/>
            <a:r>
              <a:rPr lang="en-US" sz="1500" dirty="0">
                <a:hlinkClick r:id="rId8"/>
              </a:rPr>
              <a:t>What is Network Availability? - IT Glossary | SolarWinds </a:t>
            </a:r>
            <a:endParaRPr lang="en-US" sz="1500" dirty="0"/>
          </a:p>
          <a:p>
            <a:pPr marL="12700" marR="5080"/>
            <a:r>
              <a:rPr lang="en-US" sz="1500" dirty="0">
                <a:hlinkClick r:id="rId9"/>
              </a:rPr>
              <a:t>What Is Network Availability? | F5</a:t>
            </a:r>
            <a:endParaRPr lang="en-US" sz="1500" kern="0" spc="-80" dirty="0">
              <a:solidFill>
                <a:schemeClr val="accent6"/>
              </a:solidFill>
            </a:endParaRPr>
          </a:p>
          <a:p>
            <a:pPr marL="12700" marR="5080"/>
            <a:r>
              <a:rPr lang="en-US" sz="2400" kern="0" spc="-80" dirty="0">
                <a:solidFill>
                  <a:schemeClr val="accent2"/>
                </a:solidFill>
              </a:rPr>
              <a:t>     </a:t>
            </a:r>
            <a:endParaRPr lang="en-US" sz="1600" kern="0" spc="-80" dirty="0">
              <a:solidFill>
                <a:schemeClr val="accent6"/>
              </a:solidFill>
            </a:endParaRPr>
          </a:p>
        </p:txBody>
      </p:sp>
    </p:spTree>
    <p:extLst>
      <p:ext uri="{BB962C8B-B14F-4D97-AF65-F5344CB8AC3E}">
        <p14:creationId xmlns:p14="http://schemas.microsoft.com/office/powerpoint/2010/main" val="2377671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vs Privacy – </a:t>
            </a:r>
          </a:p>
          <a:p>
            <a:pPr marL="12700" marR="5080"/>
            <a:r>
              <a:rPr lang="en-US" sz="2400" kern="0" spc="-80" dirty="0">
                <a:solidFill>
                  <a:schemeClr val="accent2"/>
                </a:solidFill>
              </a:rPr>
              <a:t>  </a:t>
            </a:r>
            <a:r>
              <a:rPr lang="en-US" sz="2400" kern="0" spc="-80" dirty="0">
                <a:solidFill>
                  <a:schemeClr val="accent6"/>
                </a:solidFill>
              </a:rPr>
              <a:t>Security controls “who” can access the data, whereas, Privacy is more about “when’’ and “what” type of data can be accessed. “You can’t have privacy without security, but you can have security without privacy.”</a:t>
            </a:r>
          </a:p>
          <a:p>
            <a:pPr marL="12700" marR="5080"/>
            <a:r>
              <a:rPr lang="en-US" sz="2400" kern="0" spc="-80" dirty="0">
                <a:solidFill>
                  <a:schemeClr val="accent6"/>
                </a:solidFill>
              </a:rPr>
              <a:t>   For example, we’re all familiar with the term “Login Authentication and Authorization”. Here, authentication is about who can access the data, so it’s a matter of security. Authorization is all about what, when, and how much of the data is accessible to that specific user, so it’s a matter of privacy.</a:t>
            </a:r>
          </a:p>
        </p:txBody>
      </p:sp>
    </p:spTree>
    <p:extLst>
      <p:ext uri="{BB962C8B-B14F-4D97-AF65-F5344CB8AC3E}">
        <p14:creationId xmlns:p14="http://schemas.microsoft.com/office/powerpoint/2010/main" val="175322243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2640" y="697468"/>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vs Privacy </a:t>
            </a:r>
            <a:r>
              <a:rPr lang="en-US" sz="2400" kern="0" spc="-80" dirty="0" err="1">
                <a:solidFill>
                  <a:schemeClr val="accent2"/>
                </a:solidFill>
              </a:rPr>
              <a:t>contd</a:t>
            </a:r>
            <a:r>
              <a:rPr lang="en-US" sz="2400" kern="0" spc="-80" dirty="0">
                <a:solidFill>
                  <a:schemeClr val="accent2"/>
                </a:solidFill>
              </a:rPr>
              <a:t>… – </a:t>
            </a:r>
          </a:p>
        </p:txBody>
      </p:sp>
      <p:pic>
        <p:nvPicPr>
          <p:cNvPr id="1026" name="Picture 2" descr="Data security vs data privacy">
            <a:extLst>
              <a:ext uri="{FF2B5EF4-FFF2-40B4-BE49-F238E27FC236}">
                <a16:creationId xmlns:a16="http://schemas.microsoft.com/office/drawing/2014/main" id="{D8B257BC-A9E4-AD85-5700-6D0A893CB2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524000"/>
            <a:ext cx="9144000" cy="37221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F2EFBF3-7789-0D50-53AC-83912909B224}"/>
              </a:ext>
            </a:extLst>
          </p:cNvPr>
          <p:cNvSpPr txBox="1"/>
          <p:nvPr/>
        </p:nvSpPr>
        <p:spPr>
          <a:xfrm>
            <a:off x="76199" y="5297269"/>
            <a:ext cx="8841377" cy="646331"/>
          </a:xfrm>
          <a:prstGeom prst="rect">
            <a:avLst/>
          </a:prstGeom>
          <a:noFill/>
        </p:spPr>
        <p:txBody>
          <a:bodyPr wrap="square">
            <a:spAutoFit/>
          </a:bodyPr>
          <a:lstStyle/>
          <a:p>
            <a:r>
              <a:rPr lang="en-US" sz="1800" kern="0" spc="-80" dirty="0">
                <a:solidFill>
                  <a:schemeClr val="accent2"/>
                </a:solidFill>
              </a:rPr>
              <a:t> For Further Exploration –</a:t>
            </a:r>
          </a:p>
          <a:p>
            <a:r>
              <a:rPr lang="en-IN" dirty="0">
                <a:hlinkClick r:id="rId8"/>
              </a:rPr>
              <a:t>Privacy-</a:t>
            </a:r>
            <a:r>
              <a:rPr lang="en-IN" dirty="0" err="1">
                <a:hlinkClick r:id="rId8"/>
              </a:rPr>
              <a:t>nhancing</a:t>
            </a:r>
            <a:r>
              <a:rPr lang="en-IN" dirty="0">
                <a:hlinkClick r:id="rId8"/>
              </a:rPr>
              <a:t> technologies - Wikipedia</a:t>
            </a:r>
            <a:endParaRPr lang="en-IN" dirty="0"/>
          </a:p>
        </p:txBody>
      </p:sp>
    </p:spTree>
    <p:extLst>
      <p:ext uri="{BB962C8B-B14F-4D97-AF65-F5344CB8AC3E}">
        <p14:creationId xmlns:p14="http://schemas.microsoft.com/office/powerpoint/2010/main" val="334649328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670203"/>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Principles – </a:t>
            </a:r>
          </a:p>
          <a:p>
            <a:pPr marL="12700" marR="5080"/>
            <a:r>
              <a:rPr lang="en-US" sz="2400" kern="0" spc="-80" dirty="0">
                <a:solidFill>
                  <a:schemeClr val="accent2"/>
                </a:solidFill>
              </a:rPr>
              <a:t>    Secure SDLC –</a:t>
            </a:r>
            <a:r>
              <a:rPr lang="en-US" sz="2400" kern="0" spc="-80" dirty="0">
                <a:solidFill>
                  <a:schemeClr val="accent6"/>
                </a:solidFill>
              </a:rPr>
              <a:t> </a:t>
            </a:r>
            <a:r>
              <a:rPr lang="en-US" sz="2400" kern="0" spc="-80" dirty="0">
                <a:solidFill>
                  <a:schemeClr val="accent2"/>
                </a:solidFill>
              </a:rPr>
              <a:t> </a:t>
            </a:r>
          </a:p>
        </p:txBody>
      </p:sp>
      <p:sp>
        <p:nvSpPr>
          <p:cNvPr id="8" name="object 2">
            <a:extLst>
              <a:ext uri="{FF2B5EF4-FFF2-40B4-BE49-F238E27FC236}">
                <a16:creationId xmlns:a16="http://schemas.microsoft.com/office/drawing/2014/main" id="{96D5876E-51E9-1E9A-5339-93A30018D455}"/>
              </a:ext>
            </a:extLst>
          </p:cNvPr>
          <p:cNvSpPr txBox="1">
            <a:spLocks/>
          </p:cNvSpPr>
          <p:nvPr/>
        </p:nvSpPr>
        <p:spPr>
          <a:xfrm>
            <a:off x="76200" y="4189274"/>
            <a:ext cx="8624937" cy="17543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Secure Software Development Life Cycle Explained | Black Duck Blog</a:t>
            </a:r>
            <a:endParaRPr lang="en-US" sz="1500" dirty="0"/>
          </a:p>
          <a:p>
            <a:pPr marL="12700" marR="5080"/>
            <a:r>
              <a:rPr lang="en-US" sz="1500" dirty="0">
                <a:hlinkClick r:id="rId8"/>
              </a:rPr>
              <a:t>What the Sec is </a:t>
            </a:r>
            <a:r>
              <a:rPr lang="en-US" sz="1500" dirty="0" err="1">
                <a:hlinkClick r:id="rId8"/>
              </a:rPr>
              <a:t>DevSecOps</a:t>
            </a:r>
            <a:r>
              <a:rPr lang="en-US" sz="1500" dirty="0">
                <a:hlinkClick r:id="rId8"/>
              </a:rPr>
              <a:t>? | </a:t>
            </a:r>
            <a:r>
              <a:rPr lang="en-US" sz="1500" dirty="0" err="1">
                <a:hlinkClick r:id="rId8"/>
              </a:rPr>
              <a:t>Accelera</a:t>
            </a:r>
            <a:endParaRPr lang="en-US" sz="1500" dirty="0"/>
          </a:p>
          <a:p>
            <a:pPr marL="12700" marR="5080"/>
            <a:r>
              <a:rPr lang="en-US" sz="1500" kern="0" spc="-80" dirty="0">
                <a:solidFill>
                  <a:schemeClr val="accent6"/>
                </a:solidFill>
              </a:rPr>
              <a:t>N.B. – </a:t>
            </a:r>
            <a:r>
              <a:rPr lang="en-US" sz="1500" kern="0" spc="-80" dirty="0" err="1">
                <a:solidFill>
                  <a:schemeClr val="accent6"/>
                </a:solidFill>
              </a:rPr>
              <a:t>DevSecOps</a:t>
            </a:r>
            <a:r>
              <a:rPr lang="en-US" sz="1500" kern="0" spc="-80" dirty="0">
                <a:solidFill>
                  <a:schemeClr val="accent6"/>
                </a:solidFill>
              </a:rPr>
              <a:t> pertains to securing every component in the DevOps pipeline including </a:t>
            </a:r>
            <a:r>
              <a:rPr lang="en-US" sz="1500" kern="0" spc="-80" dirty="0" err="1">
                <a:solidFill>
                  <a:schemeClr val="accent6"/>
                </a:solidFill>
              </a:rPr>
              <a:t>IaC</a:t>
            </a:r>
            <a:r>
              <a:rPr lang="en-US" sz="1500" kern="0" spc="-80" dirty="0">
                <a:solidFill>
                  <a:schemeClr val="accent6"/>
                </a:solidFill>
              </a:rPr>
              <a:t>, </a:t>
            </a:r>
            <a:r>
              <a:rPr lang="en-US" sz="1500" kern="0" spc="-80" dirty="0" err="1">
                <a:solidFill>
                  <a:schemeClr val="accent6"/>
                </a:solidFill>
              </a:rPr>
              <a:t>CaC</a:t>
            </a:r>
            <a:r>
              <a:rPr lang="en-US" sz="1500" kern="0" spc="-80" dirty="0">
                <a:solidFill>
                  <a:schemeClr val="accent6"/>
                </a:solidFill>
              </a:rPr>
              <a:t>, the pipeline itself, configs, Docker, K8s </a:t>
            </a:r>
            <a:r>
              <a:rPr lang="en-US" sz="1500" kern="0" spc="-80" dirty="0" err="1">
                <a:solidFill>
                  <a:schemeClr val="accent6"/>
                </a:solidFill>
              </a:rPr>
              <a:t>etc</a:t>
            </a:r>
            <a:r>
              <a:rPr lang="en-US" sz="1500" kern="0" spc="-80" dirty="0">
                <a:solidFill>
                  <a:schemeClr val="accent6"/>
                </a:solidFill>
              </a:rPr>
              <a:t> and running SAST/DAST/SCA </a:t>
            </a:r>
            <a:r>
              <a:rPr lang="en-US" sz="1500" kern="0" spc="-80" dirty="0" err="1">
                <a:solidFill>
                  <a:schemeClr val="accent6"/>
                </a:solidFill>
              </a:rPr>
              <a:t>etc</a:t>
            </a:r>
            <a:r>
              <a:rPr lang="en-US" sz="1500" kern="0" spc="-80" dirty="0">
                <a:solidFill>
                  <a:schemeClr val="accent6"/>
                </a:solidFill>
              </a:rPr>
              <a:t> tools (&amp; relevant reporting with integration with Jira) from the pipeline itself to identify security loopholes in app code as well.  </a:t>
            </a:r>
            <a:r>
              <a:rPr lang="en-US" sz="1500" kern="0" spc="-80" dirty="0">
                <a:solidFill>
                  <a:schemeClr val="accent2"/>
                </a:solidFill>
              </a:rPr>
              <a:t> </a:t>
            </a:r>
          </a:p>
        </p:txBody>
      </p:sp>
      <p:pic>
        <p:nvPicPr>
          <p:cNvPr id="1026" name="Picture 2" descr="Secure SDLC: A Look at the Secure Software Development Life Cycle">
            <a:extLst>
              <a:ext uri="{FF2B5EF4-FFF2-40B4-BE49-F238E27FC236}">
                <a16:creationId xmlns:a16="http://schemas.microsoft.com/office/drawing/2014/main" id="{0A8A2A78-DB8E-383D-AB9E-C584B29BCB7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1733550"/>
            <a:ext cx="9067800"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42939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670203"/>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Security Principles – </a:t>
            </a:r>
          </a:p>
          <a:p>
            <a:pPr marL="12700" marR="5080"/>
            <a:r>
              <a:rPr lang="en-US" sz="2400" kern="0" spc="-80" dirty="0">
                <a:solidFill>
                  <a:schemeClr val="accent2"/>
                </a:solidFill>
              </a:rPr>
              <a:t>    Zero Trust - </a:t>
            </a:r>
          </a:p>
          <a:p>
            <a:pPr algn="l"/>
            <a:r>
              <a:rPr lang="en-US" sz="1700" kern="0" spc="-80" dirty="0">
                <a:solidFill>
                  <a:schemeClr val="accent2"/>
                </a:solidFill>
              </a:rPr>
              <a:t>       </a:t>
            </a:r>
            <a:r>
              <a:rPr lang="en-US" sz="1800" kern="0" spc="-80" dirty="0">
                <a:solidFill>
                  <a:schemeClr val="accent6"/>
                </a:solidFill>
              </a:rPr>
              <a:t>Zero Trust doesn’t mean that you should not trust an app at all but it only means that you should trust it only after proper validation/verification of the system.</a:t>
            </a:r>
          </a:p>
          <a:p>
            <a:pPr algn="l"/>
            <a:endParaRPr lang="en-US" sz="1600" kern="0" spc="-80" dirty="0">
              <a:solidFill>
                <a:schemeClr val="accent6"/>
              </a:solidFill>
            </a:endParaRPr>
          </a:p>
          <a:p>
            <a:pPr algn="l"/>
            <a:r>
              <a:rPr lang="en-US" sz="1600" kern="0" spc="-80" dirty="0">
                <a:solidFill>
                  <a:schemeClr val="accent6"/>
                </a:solidFill>
              </a:rPr>
              <a:t>      </a:t>
            </a:r>
          </a:p>
          <a:p>
            <a:pPr algn="l"/>
            <a:endParaRPr lang="en-US" sz="1600" kern="0" spc="-80" dirty="0">
              <a:solidFill>
                <a:schemeClr val="accent6"/>
              </a:solidFill>
            </a:endParaRPr>
          </a:p>
          <a:p>
            <a:pPr algn="l"/>
            <a:endParaRPr lang="en-US" sz="1600" kern="0" spc="-80" dirty="0">
              <a:solidFill>
                <a:schemeClr val="accent6"/>
              </a:solidFill>
            </a:endParaRPr>
          </a:p>
          <a:p>
            <a:pPr algn="l"/>
            <a:endParaRPr lang="en-US" sz="1600" kern="0" spc="-80" dirty="0">
              <a:solidFill>
                <a:schemeClr val="accent6"/>
              </a:solidFill>
            </a:endParaRPr>
          </a:p>
          <a:p>
            <a:pPr algn="l"/>
            <a:endParaRPr lang="en-US" sz="1600" kern="0" spc="-80" dirty="0">
              <a:solidFill>
                <a:schemeClr val="accent6"/>
              </a:solidFill>
            </a:endParaRPr>
          </a:p>
          <a:p>
            <a:pPr algn="l"/>
            <a:endParaRPr lang="en-US" sz="1600" kern="0" spc="-80" dirty="0">
              <a:solidFill>
                <a:schemeClr val="accent6"/>
              </a:solidFill>
            </a:endParaRPr>
          </a:p>
          <a:p>
            <a:pPr algn="l"/>
            <a:endParaRPr lang="en-US" sz="1600" kern="0" spc="-80" dirty="0">
              <a:solidFill>
                <a:schemeClr val="accent6"/>
              </a:solidFill>
            </a:endParaRPr>
          </a:p>
          <a:p>
            <a:pPr algn="l"/>
            <a:endParaRPr lang="en-US" sz="1600" kern="0" spc="-80" dirty="0">
              <a:solidFill>
                <a:schemeClr val="accent6"/>
              </a:solidFill>
            </a:endParaRPr>
          </a:p>
          <a:p>
            <a:pPr algn="l"/>
            <a:r>
              <a:rPr lang="en-US" sz="1600" kern="0" spc="-80" dirty="0">
                <a:solidFill>
                  <a:schemeClr val="accent6"/>
                </a:solidFill>
              </a:rPr>
              <a:t>    For Further Exploration</a:t>
            </a:r>
          </a:p>
          <a:p>
            <a:pPr algn="l"/>
            <a:r>
              <a:rPr lang="en-US" sz="1600" kern="0" spc="-80" dirty="0">
                <a:solidFill>
                  <a:schemeClr val="accent6"/>
                </a:solidFill>
              </a:rPr>
              <a:t>      </a:t>
            </a:r>
            <a:r>
              <a:rPr lang="en-US" sz="1500" dirty="0">
                <a:hlinkClick r:id="rId7"/>
              </a:rPr>
              <a:t>What is Zero Trust Security? Principles of the Zero Trust Model | CrowdStrike</a:t>
            </a:r>
            <a:endParaRPr lang="en-US" sz="1500" dirty="0"/>
          </a:p>
          <a:p>
            <a:pPr algn="l"/>
            <a:r>
              <a:rPr lang="en-US" sz="1500" kern="0" spc="-80" dirty="0">
                <a:solidFill>
                  <a:schemeClr val="accent6"/>
                </a:solidFill>
              </a:rPr>
              <a:t>      </a:t>
            </a:r>
            <a:r>
              <a:rPr lang="en-US" sz="1500" dirty="0">
                <a:hlinkClick r:id="rId8"/>
              </a:rPr>
              <a:t>Zero Trust Model - Modern Security Architecture | Microsoft Security</a:t>
            </a:r>
            <a:endParaRPr lang="en-US" sz="1500" dirty="0"/>
          </a:p>
          <a:p>
            <a:pPr algn="l"/>
            <a:r>
              <a:rPr lang="en-US" sz="1500" kern="0" spc="-80" dirty="0">
                <a:solidFill>
                  <a:schemeClr val="accent6"/>
                </a:solidFill>
              </a:rPr>
              <a:t>      </a:t>
            </a:r>
            <a:r>
              <a:rPr lang="en-US" sz="1500" dirty="0">
                <a:hlinkClick r:id="rId9"/>
              </a:rPr>
              <a:t>Zero Trust Security - a Cautious move | LinkedIn</a:t>
            </a:r>
            <a:endParaRPr lang="en-US" sz="1500" kern="0" spc="-80" dirty="0">
              <a:solidFill>
                <a:schemeClr val="accent6"/>
              </a:solidFill>
            </a:endParaRPr>
          </a:p>
        </p:txBody>
      </p:sp>
      <p:pic>
        <p:nvPicPr>
          <p:cNvPr id="8" name="Picture 7">
            <a:extLst>
              <a:ext uri="{FF2B5EF4-FFF2-40B4-BE49-F238E27FC236}">
                <a16:creationId xmlns:a16="http://schemas.microsoft.com/office/drawing/2014/main" id="{9BAF189A-4B77-12A5-0FF1-0D99771DFE81}"/>
              </a:ext>
            </a:extLst>
          </p:cNvPr>
          <p:cNvPicPr>
            <a:picLocks noChangeAspect="1"/>
          </p:cNvPicPr>
          <p:nvPr/>
        </p:nvPicPr>
        <p:blipFill>
          <a:blip r:embed="rId10"/>
          <a:stretch>
            <a:fillRect/>
          </a:stretch>
        </p:blipFill>
        <p:spPr>
          <a:xfrm>
            <a:off x="609600" y="2667000"/>
            <a:ext cx="8077200" cy="2133600"/>
          </a:xfrm>
          <a:prstGeom prst="rect">
            <a:avLst/>
          </a:prstGeom>
        </p:spPr>
      </p:pic>
    </p:spTree>
    <p:extLst>
      <p:ext uri="{BB962C8B-B14F-4D97-AF65-F5344CB8AC3E}">
        <p14:creationId xmlns:p14="http://schemas.microsoft.com/office/powerpoint/2010/main" val="101734765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670203"/>
            <a:ext cx="8624937"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CIA Triad – </a:t>
            </a:r>
          </a:p>
          <a:p>
            <a:pPr marL="12700" marR="5080"/>
            <a:r>
              <a:rPr lang="en-US" sz="2400" kern="0" spc="-80" dirty="0">
                <a:solidFill>
                  <a:schemeClr val="accent2"/>
                </a:solidFill>
              </a:rPr>
              <a:t>    Confidentiality – </a:t>
            </a:r>
            <a:r>
              <a:rPr lang="en-US" sz="2400" kern="0" spc="-80" dirty="0">
                <a:solidFill>
                  <a:schemeClr val="accent6"/>
                </a:solidFill>
              </a:rPr>
              <a:t>No hacker should be able to </a:t>
            </a:r>
            <a:r>
              <a:rPr lang="en-US" sz="2400" kern="0" spc="-80" dirty="0">
                <a:solidFill>
                  <a:schemeClr val="tx2">
                    <a:lumMod val="60000"/>
                    <a:lumOff val="40000"/>
                  </a:schemeClr>
                </a:solidFill>
              </a:rPr>
              <a:t>understand</a:t>
            </a:r>
            <a:r>
              <a:rPr lang="en-US" sz="2400" kern="0" spc="-80" dirty="0">
                <a:solidFill>
                  <a:schemeClr val="accent6"/>
                </a:solidFill>
              </a:rPr>
              <a:t> the data at rest or in transit. Usually Symmetric/Asymmetric Encryption used for the same.</a:t>
            </a:r>
          </a:p>
          <a:p>
            <a:pPr marL="12700" marR="5080"/>
            <a:endParaRPr lang="en-US" sz="2400" kern="0" spc="-80" dirty="0">
              <a:solidFill>
                <a:schemeClr val="accent6"/>
              </a:solidFill>
            </a:endParaRPr>
          </a:p>
          <a:p>
            <a:pPr marL="12700" marR="5080"/>
            <a:r>
              <a:rPr lang="en-US" sz="2400" kern="0" spc="-80" dirty="0">
                <a:solidFill>
                  <a:schemeClr val="accent6"/>
                </a:solidFill>
              </a:rPr>
              <a:t>    </a:t>
            </a:r>
            <a:r>
              <a:rPr lang="en-US" sz="2400" kern="0" spc="-80" dirty="0">
                <a:solidFill>
                  <a:schemeClr val="accent2"/>
                </a:solidFill>
              </a:rPr>
              <a:t>Integrity – </a:t>
            </a:r>
            <a:r>
              <a:rPr lang="en-US" sz="2400" kern="0" spc="-80" dirty="0">
                <a:solidFill>
                  <a:schemeClr val="accent6"/>
                </a:solidFill>
              </a:rPr>
              <a:t>No hacker should be able to </a:t>
            </a:r>
            <a:r>
              <a:rPr lang="en-US" sz="2400" kern="0" spc="-80" dirty="0">
                <a:solidFill>
                  <a:schemeClr val="tx2">
                    <a:lumMod val="60000"/>
                    <a:lumOff val="40000"/>
                  </a:schemeClr>
                </a:solidFill>
              </a:rPr>
              <a:t>tamper</a:t>
            </a:r>
            <a:r>
              <a:rPr lang="en-US" sz="2400" kern="0" spc="-80" dirty="0">
                <a:solidFill>
                  <a:schemeClr val="accent6"/>
                </a:solidFill>
              </a:rPr>
              <a:t> the (encrypted) data (especially in transit) as well. Done using some Hashing Algo.</a:t>
            </a:r>
          </a:p>
          <a:p>
            <a:pPr marL="12700" marR="5080"/>
            <a:endParaRPr lang="en-US" sz="2400" kern="0" spc="-80" dirty="0">
              <a:solidFill>
                <a:schemeClr val="accent6"/>
              </a:solidFill>
            </a:endParaRPr>
          </a:p>
          <a:p>
            <a:pPr marL="12700" marR="5080"/>
            <a:r>
              <a:rPr lang="en-US" sz="2400" kern="0" spc="-80" dirty="0">
                <a:solidFill>
                  <a:schemeClr val="accent6"/>
                </a:solidFill>
              </a:rPr>
              <a:t>    </a:t>
            </a:r>
            <a:r>
              <a:rPr lang="en-US" sz="2400" kern="0" spc="-80" dirty="0">
                <a:solidFill>
                  <a:schemeClr val="accent2"/>
                </a:solidFill>
              </a:rPr>
              <a:t>Availability – </a:t>
            </a:r>
            <a:r>
              <a:rPr lang="en-US" sz="2400" kern="0" spc="-80" dirty="0">
                <a:solidFill>
                  <a:schemeClr val="accent6"/>
                </a:solidFill>
              </a:rPr>
              <a:t>The system/app should be available to whom(Authentication) &amp; how much it should be available(Authorization)</a:t>
            </a:r>
          </a:p>
          <a:p>
            <a:pPr marL="12700" marR="5080"/>
            <a:endParaRPr lang="en-US" sz="2400" kern="0" spc="-80" dirty="0">
              <a:solidFill>
                <a:schemeClr val="accent6"/>
              </a:solidFill>
            </a:endParaRPr>
          </a:p>
          <a:p>
            <a:pPr marL="12700" marR="5080"/>
            <a:r>
              <a:rPr lang="en-US" sz="2400" kern="0" spc="-80" dirty="0">
                <a:solidFill>
                  <a:schemeClr val="accent2"/>
                </a:solidFill>
              </a:rPr>
              <a:t> </a:t>
            </a:r>
          </a:p>
        </p:txBody>
      </p:sp>
    </p:spTree>
    <p:extLst>
      <p:ext uri="{BB962C8B-B14F-4D97-AF65-F5344CB8AC3E}">
        <p14:creationId xmlns:p14="http://schemas.microsoft.com/office/powerpoint/2010/main" val="175715764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670203"/>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“C” And “I” of CIA Triad(Example of Handshaking in SSL) –  </a:t>
            </a:r>
          </a:p>
        </p:txBody>
      </p:sp>
      <p:pic>
        <p:nvPicPr>
          <p:cNvPr id="8" name="Picture 7" descr="A screenshot of a diagram&#10;&#10;Description automatically generated">
            <a:extLst>
              <a:ext uri="{FF2B5EF4-FFF2-40B4-BE49-F238E27FC236}">
                <a16:creationId xmlns:a16="http://schemas.microsoft.com/office/drawing/2014/main" id="{EB5435BD-8C26-5BBF-B80F-ECD3D4A1E3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1706" y="1451729"/>
            <a:ext cx="8520588" cy="4095274"/>
          </a:xfrm>
          <a:prstGeom prst="rect">
            <a:avLst/>
          </a:prstGeom>
        </p:spPr>
      </p:pic>
      <p:sp>
        <p:nvSpPr>
          <p:cNvPr id="7" name="object 2">
            <a:extLst>
              <a:ext uri="{FF2B5EF4-FFF2-40B4-BE49-F238E27FC236}">
                <a16:creationId xmlns:a16="http://schemas.microsoft.com/office/drawing/2014/main" id="{7BA24F63-7DB2-F989-BE50-92126E457CF2}"/>
              </a:ext>
            </a:extLst>
          </p:cNvPr>
          <p:cNvSpPr txBox="1">
            <a:spLocks/>
          </p:cNvSpPr>
          <p:nvPr/>
        </p:nvSpPr>
        <p:spPr>
          <a:xfrm>
            <a:off x="366663" y="5638800"/>
            <a:ext cx="8624937" cy="27699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6"/>
                </a:solidFill>
              </a:rPr>
              <a:t>Erratum – </a:t>
            </a:r>
            <a:r>
              <a:rPr lang="en-US" sz="1800" kern="0" spc="-80" dirty="0" err="1">
                <a:solidFill>
                  <a:schemeClr val="accent6"/>
                </a:solidFill>
              </a:rPr>
              <a:t>Dataa</a:t>
            </a:r>
            <a:r>
              <a:rPr lang="en-US" sz="1800" kern="0" spc="-80" dirty="0">
                <a:solidFill>
                  <a:schemeClr val="accent6"/>
                </a:solidFill>
              </a:rPr>
              <a:t> is a typo mistake above. Should be Data.</a:t>
            </a:r>
          </a:p>
        </p:txBody>
      </p:sp>
    </p:spTree>
    <p:extLst>
      <p:ext uri="{BB962C8B-B14F-4D97-AF65-F5344CB8AC3E}">
        <p14:creationId xmlns:p14="http://schemas.microsoft.com/office/powerpoint/2010/main" val="254621315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670203"/>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“C” &amp; “I” of “CIA” Triad using </a:t>
            </a:r>
            <a:r>
              <a:rPr lang="en-US" sz="2400" kern="0" spc="-80" dirty="0" err="1">
                <a:solidFill>
                  <a:schemeClr val="accent2"/>
                </a:solidFill>
              </a:rPr>
              <a:t>mTLS</a:t>
            </a:r>
            <a:r>
              <a:rPr lang="en-US" sz="2400" kern="0" spc="-80" dirty="0">
                <a:solidFill>
                  <a:schemeClr val="accent2"/>
                </a:solidFill>
              </a:rPr>
              <a:t>–  </a:t>
            </a:r>
          </a:p>
        </p:txBody>
      </p:sp>
      <p:pic>
        <p:nvPicPr>
          <p:cNvPr id="1026" name="Picture 2" descr="TLS Different Encryption Methods">
            <a:extLst>
              <a:ext uri="{FF2B5EF4-FFF2-40B4-BE49-F238E27FC236}">
                <a16:creationId xmlns:a16="http://schemas.microsoft.com/office/drawing/2014/main" id="{F50F0603-C6C0-AE3D-0D2A-5638DF6E1D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32" y="1374892"/>
            <a:ext cx="9144000" cy="344328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3FBDF0E-D364-C11C-646B-608769CAB63A}"/>
              </a:ext>
            </a:extLst>
          </p:cNvPr>
          <p:cNvSpPr txBox="1"/>
          <p:nvPr/>
        </p:nvSpPr>
        <p:spPr>
          <a:xfrm>
            <a:off x="-30932" y="4534733"/>
            <a:ext cx="8839200" cy="1477328"/>
          </a:xfrm>
          <a:prstGeom prst="rect">
            <a:avLst/>
          </a:prstGeom>
          <a:noFill/>
        </p:spPr>
        <p:txBody>
          <a:bodyPr wrap="square">
            <a:spAutoFit/>
          </a:bodyPr>
          <a:lstStyle/>
          <a:p>
            <a:pPr marL="12700" marR="5080"/>
            <a:r>
              <a:rPr lang="en-US" sz="1800" kern="0" spc="-80" dirty="0">
                <a:solidFill>
                  <a:schemeClr val="accent2"/>
                </a:solidFill>
              </a:rPr>
              <a:t>For Further Exploration – </a:t>
            </a:r>
          </a:p>
          <a:p>
            <a:pPr marL="12700" marR="5080"/>
            <a:r>
              <a:rPr lang="en-US" kern="0" spc="-80" dirty="0">
                <a:solidFill>
                  <a:schemeClr val="accent2"/>
                </a:solidFill>
              </a:rPr>
              <a:t>  </a:t>
            </a:r>
            <a:r>
              <a:rPr lang="en-IN" dirty="0">
                <a:hlinkClick r:id="rId8"/>
              </a:rPr>
              <a:t>What Is </a:t>
            </a:r>
            <a:r>
              <a:rPr lang="en-IN" dirty="0" err="1">
                <a:hlinkClick r:id="rId8"/>
              </a:rPr>
              <a:t>mTLS</a:t>
            </a:r>
            <a:r>
              <a:rPr lang="en-IN" dirty="0">
                <a:hlinkClick r:id="rId8"/>
              </a:rPr>
              <a:t>?</a:t>
            </a:r>
            <a:endParaRPr lang="en-IN" dirty="0"/>
          </a:p>
          <a:p>
            <a:pPr marL="12700" marR="5080"/>
            <a:r>
              <a:rPr lang="en-US" kern="0" spc="-80" dirty="0">
                <a:solidFill>
                  <a:schemeClr val="accent2"/>
                </a:solidFill>
              </a:rPr>
              <a:t>  </a:t>
            </a:r>
            <a:r>
              <a:rPr lang="en-US" dirty="0">
                <a:hlinkClick r:id="rId9"/>
              </a:rPr>
              <a:t>SSL vs TLS - Difference Between Communication Protocols </a:t>
            </a:r>
            <a:r>
              <a:rPr lang="en-US" dirty="0">
                <a:hlinkClick r:id="rId10"/>
              </a:rPr>
              <a:t>–</a:t>
            </a:r>
            <a:r>
              <a:rPr lang="en-US" dirty="0">
                <a:hlinkClick r:id="rId9"/>
              </a:rPr>
              <a:t> AWS</a:t>
            </a:r>
            <a:r>
              <a:rPr lang="en-US" dirty="0"/>
              <a:t> </a:t>
            </a:r>
            <a:r>
              <a:rPr lang="en-US" kern="0" spc="-80" dirty="0">
                <a:solidFill>
                  <a:schemeClr val="accent2"/>
                </a:solidFill>
                <a:hlinkClick r:id="rId10"/>
              </a:rPr>
              <a:t>   </a:t>
            </a:r>
            <a:endParaRPr lang="en-US" kern="0" spc="-80" dirty="0">
              <a:solidFill>
                <a:schemeClr val="accent2"/>
              </a:solidFill>
            </a:endParaRPr>
          </a:p>
          <a:p>
            <a:pPr marL="12700" marR="5080"/>
            <a:r>
              <a:rPr lang="en-US" kern="0" spc="-80" dirty="0">
                <a:solidFill>
                  <a:schemeClr val="accent2"/>
                </a:solidFill>
                <a:hlinkClick r:id="rId10"/>
              </a:rPr>
              <a:t>  </a:t>
            </a:r>
            <a:r>
              <a:rPr lang="en-IN" dirty="0">
                <a:hlinkClick r:id="rId10"/>
              </a:rPr>
              <a:t>GrokkingBitcoin-Ch02-Hash-Functions-and-ignatures.adoc</a:t>
            </a:r>
          </a:p>
          <a:p>
            <a:pPr marL="12700" marR="5080"/>
            <a:r>
              <a:rPr lang="en-IN" kern="0" spc="-80" dirty="0">
                <a:solidFill>
                  <a:schemeClr val="accent2"/>
                </a:solidFill>
                <a:hlinkClick r:id="rId10"/>
              </a:rPr>
              <a:t>  </a:t>
            </a:r>
            <a:r>
              <a:rPr lang="en-US" dirty="0">
                <a:hlinkClick r:id="rId11"/>
              </a:rPr>
              <a:t>Implementing </a:t>
            </a:r>
            <a:r>
              <a:rPr lang="en-US" dirty="0" err="1">
                <a:hlinkClick r:id="rId11"/>
              </a:rPr>
              <a:t>mTLS</a:t>
            </a:r>
            <a:r>
              <a:rPr lang="en-US" dirty="0">
                <a:hlinkClick r:id="rId11"/>
              </a:rPr>
              <a:t> Between Two Apps Using ASP.NET - Microsoft Q&amp;A</a:t>
            </a:r>
            <a:endParaRPr lang="en-US" kern="0" spc="-80" dirty="0">
              <a:solidFill>
                <a:schemeClr val="accent2"/>
              </a:solidFill>
              <a:hlinkClick r:id="rId10"/>
            </a:endParaRPr>
          </a:p>
        </p:txBody>
      </p:sp>
    </p:spTree>
    <p:extLst>
      <p:ext uri="{BB962C8B-B14F-4D97-AF65-F5344CB8AC3E}">
        <p14:creationId xmlns:p14="http://schemas.microsoft.com/office/powerpoint/2010/main" val="51705689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767477"/>
            <a:ext cx="8624937" cy="18466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 of “CIA” Triad using OAuth - </a:t>
            </a:r>
          </a:p>
          <a:p>
            <a:pPr marL="12700" marR="5080"/>
            <a:r>
              <a:rPr lang="en-US" sz="2400" kern="0" spc="-80" dirty="0">
                <a:solidFill>
                  <a:schemeClr val="accent2"/>
                </a:solidFill>
              </a:rPr>
              <a:t>     Auth Code Grant Type – </a:t>
            </a:r>
          </a:p>
          <a:p>
            <a:pPr marL="12700" marR="5080"/>
            <a:endParaRPr lang="en-US" sz="2400" kern="0" spc="-80" dirty="0">
              <a:solidFill>
                <a:schemeClr val="accent6"/>
              </a:solidFill>
            </a:endParaRPr>
          </a:p>
          <a:p>
            <a:pPr marL="12700" marR="5080"/>
            <a:endParaRPr lang="en-US" sz="2400" kern="0" spc="-80" dirty="0">
              <a:solidFill>
                <a:schemeClr val="accent2"/>
              </a:solidFill>
            </a:endParaRPr>
          </a:p>
        </p:txBody>
      </p:sp>
      <p:pic>
        <p:nvPicPr>
          <p:cNvPr id="10" name="Picture 9">
            <a:extLst>
              <a:ext uri="{FF2B5EF4-FFF2-40B4-BE49-F238E27FC236}">
                <a16:creationId xmlns:a16="http://schemas.microsoft.com/office/drawing/2014/main" id="{27DBE7DF-E6F9-DF97-47A9-E30460D388D1}"/>
              </a:ext>
            </a:extLst>
          </p:cNvPr>
          <p:cNvPicPr>
            <a:picLocks noChangeAspect="1"/>
          </p:cNvPicPr>
          <p:nvPr/>
        </p:nvPicPr>
        <p:blipFill>
          <a:blip r:embed="rId7"/>
          <a:stretch>
            <a:fillRect/>
          </a:stretch>
        </p:blipFill>
        <p:spPr>
          <a:xfrm>
            <a:off x="237309" y="1905000"/>
            <a:ext cx="8669382" cy="3721236"/>
          </a:xfrm>
          <a:prstGeom prst="rect">
            <a:avLst/>
          </a:prstGeom>
        </p:spPr>
      </p:pic>
    </p:spTree>
    <p:extLst>
      <p:ext uri="{BB962C8B-B14F-4D97-AF65-F5344CB8AC3E}">
        <p14:creationId xmlns:p14="http://schemas.microsoft.com/office/powerpoint/2010/main" val="51433287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767477"/>
            <a:ext cx="8624937" cy="17543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 of “CIA” Triad using OAuth -  </a:t>
            </a:r>
          </a:p>
          <a:p>
            <a:pPr marL="12700" marR="5080"/>
            <a:r>
              <a:rPr lang="en-US" sz="2400" kern="0" spc="-80" dirty="0">
                <a:solidFill>
                  <a:schemeClr val="accent2"/>
                </a:solidFill>
              </a:rPr>
              <a:t>    Client Credentials Grant Type –</a:t>
            </a:r>
            <a:r>
              <a:rPr lang="en-US" sz="2400" kern="0" spc="-80" dirty="0">
                <a:solidFill>
                  <a:schemeClr val="accent6"/>
                </a:solidFill>
              </a:rPr>
              <a:t>       </a:t>
            </a:r>
          </a:p>
          <a:p>
            <a:pPr marL="12700" marR="5080"/>
            <a:endParaRPr lang="en-US" sz="2400" kern="0" spc="-80" dirty="0">
              <a:solidFill>
                <a:schemeClr val="accent6"/>
              </a:solidFill>
            </a:endParaRPr>
          </a:p>
          <a:p>
            <a:pPr marL="12700" marR="5080"/>
            <a:endParaRPr lang="en-US" sz="1800" kern="0" spc="-80" dirty="0">
              <a:solidFill>
                <a:schemeClr val="accent2"/>
              </a:solidFill>
            </a:endParaRPr>
          </a:p>
        </p:txBody>
      </p:sp>
      <p:pic>
        <p:nvPicPr>
          <p:cNvPr id="8" name="Picture 7">
            <a:extLst>
              <a:ext uri="{FF2B5EF4-FFF2-40B4-BE49-F238E27FC236}">
                <a16:creationId xmlns:a16="http://schemas.microsoft.com/office/drawing/2014/main" id="{908E93D2-A4F5-CD11-CC8C-29E61E271CA0}"/>
              </a:ext>
            </a:extLst>
          </p:cNvPr>
          <p:cNvPicPr>
            <a:picLocks noChangeAspect="1"/>
          </p:cNvPicPr>
          <p:nvPr/>
        </p:nvPicPr>
        <p:blipFill>
          <a:blip r:embed="rId7"/>
          <a:stretch>
            <a:fillRect/>
          </a:stretch>
        </p:blipFill>
        <p:spPr>
          <a:xfrm>
            <a:off x="0" y="1905000"/>
            <a:ext cx="9144000" cy="4267200"/>
          </a:xfrm>
          <a:prstGeom prst="rect">
            <a:avLst/>
          </a:prstGeom>
        </p:spPr>
      </p:pic>
    </p:spTree>
    <p:extLst>
      <p:ext uri="{BB962C8B-B14F-4D97-AF65-F5344CB8AC3E}">
        <p14:creationId xmlns:p14="http://schemas.microsoft.com/office/powerpoint/2010/main" val="239369062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767477"/>
            <a:ext cx="8624937" cy="17543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 of “CIA” Triad using OAuth -  </a:t>
            </a:r>
          </a:p>
          <a:p>
            <a:pPr marL="12700" marR="5080"/>
            <a:r>
              <a:rPr lang="en-US" sz="2400" kern="0" spc="-80" dirty="0">
                <a:solidFill>
                  <a:schemeClr val="accent2"/>
                </a:solidFill>
              </a:rPr>
              <a:t>    Resource Owner Credentials Grant Type –</a:t>
            </a:r>
            <a:r>
              <a:rPr lang="en-US" sz="2400" kern="0" spc="-80" dirty="0">
                <a:solidFill>
                  <a:schemeClr val="accent6"/>
                </a:solidFill>
              </a:rPr>
              <a:t>       </a:t>
            </a:r>
          </a:p>
          <a:p>
            <a:pPr marL="12700" marR="5080"/>
            <a:endParaRPr lang="en-US" sz="2400" kern="0" spc="-80" dirty="0">
              <a:solidFill>
                <a:schemeClr val="accent6"/>
              </a:solidFill>
            </a:endParaRPr>
          </a:p>
          <a:p>
            <a:pPr marL="12700" marR="5080"/>
            <a:endParaRPr lang="en-US" sz="1800" kern="0" spc="-80" dirty="0">
              <a:solidFill>
                <a:schemeClr val="accent2"/>
              </a:solidFill>
            </a:endParaRPr>
          </a:p>
        </p:txBody>
      </p:sp>
      <p:pic>
        <p:nvPicPr>
          <p:cNvPr id="9" name="Picture 8">
            <a:extLst>
              <a:ext uri="{FF2B5EF4-FFF2-40B4-BE49-F238E27FC236}">
                <a16:creationId xmlns:a16="http://schemas.microsoft.com/office/drawing/2014/main" id="{FCEEB288-B313-4E88-98B2-92ABC2AE7F01}"/>
              </a:ext>
            </a:extLst>
          </p:cNvPr>
          <p:cNvPicPr>
            <a:picLocks noChangeAspect="1"/>
          </p:cNvPicPr>
          <p:nvPr/>
        </p:nvPicPr>
        <p:blipFill>
          <a:blip r:embed="rId7"/>
          <a:stretch>
            <a:fillRect/>
          </a:stretch>
        </p:blipFill>
        <p:spPr>
          <a:xfrm>
            <a:off x="0" y="1904999"/>
            <a:ext cx="9144000" cy="4004175"/>
          </a:xfrm>
          <a:prstGeom prst="rect">
            <a:avLst/>
          </a:prstGeom>
        </p:spPr>
      </p:pic>
    </p:spTree>
    <p:extLst>
      <p:ext uri="{BB962C8B-B14F-4D97-AF65-F5344CB8AC3E}">
        <p14:creationId xmlns:p14="http://schemas.microsoft.com/office/powerpoint/2010/main" val="45117482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767477"/>
            <a:ext cx="8624937" cy="17543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 of “CIA” Triad using OAuth -  </a:t>
            </a:r>
          </a:p>
          <a:p>
            <a:pPr marL="12700" marR="5080"/>
            <a:r>
              <a:rPr lang="en-US" sz="2400" kern="0" spc="-80" dirty="0">
                <a:solidFill>
                  <a:schemeClr val="accent2"/>
                </a:solidFill>
              </a:rPr>
              <a:t>    Refresh Token Grant Type –</a:t>
            </a:r>
            <a:r>
              <a:rPr lang="en-US" sz="2400" kern="0" spc="-80" dirty="0">
                <a:solidFill>
                  <a:schemeClr val="accent6"/>
                </a:solidFill>
              </a:rPr>
              <a:t>       </a:t>
            </a:r>
          </a:p>
          <a:p>
            <a:pPr marL="12700" marR="5080"/>
            <a:endParaRPr lang="en-US" sz="2400" kern="0" spc="-80" dirty="0">
              <a:solidFill>
                <a:schemeClr val="accent6"/>
              </a:solidFill>
            </a:endParaRPr>
          </a:p>
          <a:p>
            <a:pPr marL="12700" marR="5080"/>
            <a:endParaRPr lang="en-US" sz="1800" kern="0" spc="-80" dirty="0">
              <a:solidFill>
                <a:schemeClr val="accent2"/>
              </a:solidFill>
            </a:endParaRPr>
          </a:p>
        </p:txBody>
      </p:sp>
      <p:pic>
        <p:nvPicPr>
          <p:cNvPr id="9" name="Picture 8">
            <a:extLst>
              <a:ext uri="{FF2B5EF4-FFF2-40B4-BE49-F238E27FC236}">
                <a16:creationId xmlns:a16="http://schemas.microsoft.com/office/drawing/2014/main" id="{FCEEB288-B313-4E88-98B2-92ABC2AE7F01}"/>
              </a:ext>
            </a:extLst>
          </p:cNvPr>
          <p:cNvPicPr>
            <a:picLocks noChangeAspect="1"/>
          </p:cNvPicPr>
          <p:nvPr/>
        </p:nvPicPr>
        <p:blipFill>
          <a:blip r:embed="rId7"/>
          <a:stretch>
            <a:fillRect/>
          </a:stretch>
        </p:blipFill>
        <p:spPr>
          <a:xfrm>
            <a:off x="0" y="1904999"/>
            <a:ext cx="9144000" cy="4004175"/>
          </a:xfrm>
          <a:prstGeom prst="rect">
            <a:avLst/>
          </a:prstGeom>
        </p:spPr>
      </p:pic>
    </p:spTree>
    <p:extLst>
      <p:ext uri="{BB962C8B-B14F-4D97-AF65-F5344CB8AC3E}">
        <p14:creationId xmlns:p14="http://schemas.microsoft.com/office/powerpoint/2010/main" val="198203579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767477"/>
            <a:ext cx="8624937" cy="17543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 of “CIA” Triad using OAuth -  </a:t>
            </a:r>
          </a:p>
          <a:p>
            <a:pPr marL="12700" marR="5080"/>
            <a:r>
              <a:rPr lang="en-US" sz="2400" kern="0" spc="-80" dirty="0">
                <a:solidFill>
                  <a:schemeClr val="accent2"/>
                </a:solidFill>
              </a:rPr>
              <a:t>    Implicit Grant Type –</a:t>
            </a:r>
            <a:r>
              <a:rPr lang="en-US" sz="2400" kern="0" spc="-80" dirty="0">
                <a:solidFill>
                  <a:schemeClr val="accent6"/>
                </a:solidFill>
              </a:rPr>
              <a:t>       </a:t>
            </a:r>
          </a:p>
          <a:p>
            <a:pPr marL="12700" marR="5080"/>
            <a:endParaRPr lang="en-US" sz="2400" kern="0" spc="-80" dirty="0">
              <a:solidFill>
                <a:schemeClr val="accent6"/>
              </a:solidFill>
            </a:endParaRPr>
          </a:p>
          <a:p>
            <a:pPr marL="12700" marR="5080"/>
            <a:endParaRPr lang="en-US" sz="1800" kern="0" spc="-80" dirty="0">
              <a:solidFill>
                <a:schemeClr val="accent2"/>
              </a:solidFill>
            </a:endParaRPr>
          </a:p>
        </p:txBody>
      </p:sp>
      <p:pic>
        <p:nvPicPr>
          <p:cNvPr id="1026" name="Picture 2">
            <a:extLst>
              <a:ext uri="{FF2B5EF4-FFF2-40B4-BE49-F238E27FC236}">
                <a16:creationId xmlns:a16="http://schemas.microsoft.com/office/drawing/2014/main" id="{64913A4A-C9FF-91F9-3C6E-A2E302A298A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828799"/>
            <a:ext cx="9144000" cy="408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81547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767477"/>
            <a:ext cx="8624937" cy="17543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 of “CIA” Triad using OAuth -  </a:t>
            </a:r>
          </a:p>
          <a:p>
            <a:pPr marL="12700" marR="5080"/>
            <a:r>
              <a:rPr lang="en-US" sz="2400" kern="0" spc="-80" dirty="0">
                <a:solidFill>
                  <a:schemeClr val="accent2"/>
                </a:solidFill>
              </a:rPr>
              <a:t>    Device Flow Grant Type –</a:t>
            </a:r>
            <a:r>
              <a:rPr lang="en-US" sz="2400" kern="0" spc="-80" dirty="0">
                <a:solidFill>
                  <a:schemeClr val="accent6"/>
                </a:solidFill>
              </a:rPr>
              <a:t>       </a:t>
            </a:r>
          </a:p>
          <a:p>
            <a:pPr marL="12700" marR="5080"/>
            <a:endParaRPr lang="en-US" sz="2400" kern="0" spc="-80" dirty="0">
              <a:solidFill>
                <a:schemeClr val="accent6"/>
              </a:solidFill>
            </a:endParaRPr>
          </a:p>
          <a:p>
            <a:pPr marL="12700" marR="5080"/>
            <a:endParaRPr lang="en-US" sz="1800" kern="0" spc="-80" dirty="0">
              <a:solidFill>
                <a:schemeClr val="accent2"/>
              </a:solidFill>
            </a:endParaRPr>
          </a:p>
        </p:txBody>
      </p:sp>
      <p:pic>
        <p:nvPicPr>
          <p:cNvPr id="2050" name="Picture 2">
            <a:extLst>
              <a:ext uri="{FF2B5EF4-FFF2-40B4-BE49-F238E27FC236}">
                <a16:creationId xmlns:a16="http://schemas.microsoft.com/office/drawing/2014/main" id="{98490278-F4D4-0322-2961-30B59F246B2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904999"/>
            <a:ext cx="9144000" cy="400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90091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767477"/>
            <a:ext cx="8624937" cy="54168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 of CIA Triad using OIDC - </a:t>
            </a:r>
          </a:p>
          <a:p>
            <a:pPr marL="12700" marR="5080"/>
            <a:r>
              <a:rPr lang="en-US" sz="1600" kern="0" spc="-80" dirty="0">
                <a:solidFill>
                  <a:schemeClr val="accent2"/>
                </a:solidFill>
              </a:rPr>
              <a:t>    </a:t>
            </a:r>
            <a:r>
              <a:rPr lang="en-US" sz="1600" kern="0" spc="-80" dirty="0">
                <a:solidFill>
                  <a:schemeClr val="accent6"/>
                </a:solidFill>
              </a:rPr>
              <a:t>OpenID Connect is an extension of OAuth2 that adds an identity layer to the authorization framework. It allows a client to verify the identity of the user and </a:t>
            </a:r>
            <a:r>
              <a:rPr lang="en-US" sz="1600" kern="0" spc="-80" dirty="0">
                <a:solidFill>
                  <a:schemeClr val="tx2"/>
                </a:solidFill>
              </a:rPr>
              <a:t>obtain basic profile information</a:t>
            </a:r>
            <a:r>
              <a:rPr lang="en-US" sz="1600" kern="0" spc="-80" dirty="0">
                <a:solidFill>
                  <a:schemeClr val="accent6"/>
                </a:solidFill>
              </a:rPr>
              <a:t>. The user logs in to an identity provider (such as Google or Facebook) using OpenID Connect, and the identity provider returns an </a:t>
            </a:r>
            <a:r>
              <a:rPr lang="en-US" sz="1600" kern="0" spc="-80" dirty="0">
                <a:solidFill>
                  <a:schemeClr val="tx2"/>
                </a:solidFill>
              </a:rPr>
              <a:t>ID token</a:t>
            </a:r>
            <a:r>
              <a:rPr lang="en-US" sz="1600" kern="0" spc="-80" dirty="0">
                <a:solidFill>
                  <a:schemeClr val="accent6"/>
                </a:solidFill>
              </a:rPr>
              <a:t> to the client. The ID token is a JSON Web Token (JWT) that contains information about the user, such as their name, email, and picture. The client can also request an access token and a refresh token from the identity provider, which can be used to access other resources.</a:t>
            </a:r>
          </a:p>
          <a:p>
            <a:pPr marL="12700" marR="5080"/>
            <a:endParaRPr lang="en-US" sz="1600" kern="0" spc="-80" dirty="0">
              <a:solidFill>
                <a:schemeClr val="accent6"/>
              </a:solidFill>
            </a:endParaRPr>
          </a:p>
          <a:p>
            <a:pPr marL="12700" marR="5080"/>
            <a:r>
              <a:rPr lang="en-US" sz="1600" kern="0" spc="-80" dirty="0">
                <a:solidFill>
                  <a:schemeClr val="accent6"/>
                </a:solidFill>
              </a:rPr>
              <a:t>     OAuth2 is only concerned with </a:t>
            </a:r>
            <a:r>
              <a:rPr lang="en-US" sz="1600" kern="0" spc="-80" dirty="0">
                <a:solidFill>
                  <a:schemeClr val="tx2"/>
                </a:solidFill>
              </a:rPr>
              <a:t>standard client credentials based authorization</a:t>
            </a:r>
            <a:r>
              <a:rPr lang="en-US" sz="1600" kern="0" spc="-80" dirty="0">
                <a:solidFill>
                  <a:schemeClr val="accent6"/>
                </a:solidFill>
              </a:rPr>
              <a:t>, while OpenID Connect is </a:t>
            </a:r>
            <a:r>
              <a:rPr lang="en-US" sz="1600" kern="0" spc="-80" dirty="0">
                <a:solidFill>
                  <a:schemeClr val="tx2"/>
                </a:solidFill>
              </a:rPr>
              <a:t>also</a:t>
            </a:r>
            <a:r>
              <a:rPr lang="en-US" sz="1600" kern="0" spc="-80" dirty="0">
                <a:solidFill>
                  <a:schemeClr val="accent6"/>
                </a:solidFill>
              </a:rPr>
              <a:t> concerned with authentication(</a:t>
            </a:r>
            <a:r>
              <a:rPr lang="en-US" sz="1600" kern="0" spc="-80" dirty="0" err="1">
                <a:solidFill>
                  <a:schemeClr val="tx2"/>
                </a:solidFill>
              </a:rPr>
              <a:t>alongwith</a:t>
            </a:r>
            <a:r>
              <a:rPr lang="en-US" sz="1600" kern="0" spc="-80" dirty="0">
                <a:solidFill>
                  <a:schemeClr val="tx2"/>
                </a:solidFill>
              </a:rPr>
              <a:t> the OpenID specific </a:t>
            </a:r>
            <a:r>
              <a:rPr lang="en-US" sz="1600" kern="0" spc="-80" dirty="0" err="1">
                <a:solidFill>
                  <a:schemeClr val="tx2"/>
                </a:solidFill>
              </a:rPr>
              <a:t>AuthZ</a:t>
            </a:r>
            <a:r>
              <a:rPr lang="en-US" sz="1600" kern="0" spc="-80" dirty="0">
                <a:solidFill>
                  <a:schemeClr val="tx2"/>
                </a:solidFill>
              </a:rPr>
              <a:t> Roles/permissions</a:t>
            </a:r>
            <a:r>
              <a:rPr lang="en-US" sz="1600" kern="0" spc="-80" dirty="0">
                <a:solidFill>
                  <a:schemeClr val="accent6"/>
                </a:solidFill>
              </a:rPr>
              <a:t>). </a:t>
            </a:r>
            <a:r>
              <a:rPr lang="en-US" sz="1600" kern="0" spc="-80" dirty="0">
                <a:solidFill>
                  <a:schemeClr val="tx2"/>
                </a:solidFill>
              </a:rPr>
              <a:t>OAuth2 does not provide a standard way to obtain user information, while OpenID Connect does.</a:t>
            </a:r>
            <a:r>
              <a:rPr lang="en-US" sz="1600" kern="0" spc="-80" dirty="0">
                <a:solidFill>
                  <a:schemeClr val="accent6"/>
                </a:solidFill>
              </a:rPr>
              <a:t> </a:t>
            </a:r>
            <a:r>
              <a:rPr lang="en-US" sz="1600" kern="0" spc="-80" dirty="0">
                <a:solidFill>
                  <a:schemeClr val="tx2"/>
                </a:solidFill>
              </a:rPr>
              <a:t>OAuth2 relies on access tokens, which are opaque strings that can only be validated by the resource server, while OpenID Connect relies on ID tokens, which are self-contained and can be validated by the client.</a:t>
            </a:r>
            <a:r>
              <a:rPr lang="en-US" sz="1600" kern="0" spc="-80" dirty="0">
                <a:solidFill>
                  <a:schemeClr val="accent6"/>
                </a:solidFill>
              </a:rPr>
              <a:t> OAuth2 is more flexible and can be used for various types of applications, while OpenID Connect is more specific and </a:t>
            </a:r>
            <a:r>
              <a:rPr lang="en-US" sz="1600" kern="0" spc="-80" dirty="0">
                <a:solidFill>
                  <a:schemeClr val="tx2"/>
                </a:solidFill>
              </a:rPr>
              <a:t>can be used for single sign-on (SSO) or social login or any federation service.</a:t>
            </a:r>
          </a:p>
          <a:p>
            <a:pPr marL="12700" marR="5080"/>
            <a:r>
              <a:rPr lang="en-US" sz="1500" kern="0" spc="-80" dirty="0">
                <a:solidFill>
                  <a:schemeClr val="tx2"/>
                </a:solidFill>
              </a:rPr>
              <a:t> </a:t>
            </a:r>
            <a:r>
              <a:rPr lang="en-US" sz="1500" dirty="0">
                <a:hlinkClick r:id="rId7"/>
              </a:rPr>
              <a:t>How to validate an OpenID Connect ID token · Blog · Connect2id</a:t>
            </a:r>
            <a:r>
              <a:rPr lang="en-US" sz="1600" kern="0" spc="-80" dirty="0">
                <a:solidFill>
                  <a:schemeClr val="tx2"/>
                </a:solidFill>
              </a:rPr>
              <a:t> </a:t>
            </a:r>
          </a:p>
          <a:p>
            <a:pPr marL="12700" marR="5080"/>
            <a:endParaRPr lang="en-US" sz="1600" kern="0" spc="-80" dirty="0">
              <a:solidFill>
                <a:schemeClr val="accent6"/>
              </a:solidFill>
            </a:endParaRPr>
          </a:p>
        </p:txBody>
      </p:sp>
    </p:spTree>
    <p:extLst>
      <p:ext uri="{BB962C8B-B14F-4D97-AF65-F5344CB8AC3E}">
        <p14:creationId xmlns:p14="http://schemas.microsoft.com/office/powerpoint/2010/main" val="384147004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63606053"/>
              </p:ext>
            </p:extLst>
          </p:nvPr>
        </p:nvGraphicFramePr>
        <p:xfrm>
          <a:off x="380999" y="110625"/>
          <a:ext cx="838130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AF808C92-1EBD-C20B-9798-F73E7512FB78}"/>
              </a:ext>
            </a:extLst>
          </p:cNvPr>
          <p:cNvSpPr txBox="1">
            <a:spLocks/>
          </p:cNvSpPr>
          <p:nvPr/>
        </p:nvSpPr>
        <p:spPr>
          <a:xfrm>
            <a:off x="366663" y="8382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Security -   </a:t>
            </a:r>
          </a:p>
          <a:p>
            <a:pPr marL="12700" marR="5080"/>
            <a:r>
              <a:rPr lang="en-US" sz="2000" kern="0" spc="-80" dirty="0">
                <a:solidFill>
                  <a:schemeClr val="accent2"/>
                </a:solidFill>
              </a:rPr>
              <a:t>  Web SSO</a:t>
            </a:r>
            <a:r>
              <a:rPr lang="en-US" sz="1500" kern="0" spc="-80" dirty="0">
                <a:solidFill>
                  <a:schemeClr val="accent2"/>
                </a:solidFill>
              </a:rPr>
              <a:t> </a:t>
            </a:r>
            <a:r>
              <a:rPr lang="en-US" sz="2400" kern="0" spc="-80" dirty="0">
                <a:solidFill>
                  <a:schemeClr val="accent2"/>
                </a:solidFill>
              </a:rPr>
              <a:t>–</a:t>
            </a:r>
            <a:r>
              <a:rPr lang="en-US" sz="1600" kern="0" spc="-80" dirty="0">
                <a:solidFill>
                  <a:schemeClr val="accent2"/>
                </a:solidFill>
              </a:rPr>
              <a:t>  </a:t>
            </a:r>
          </a:p>
        </p:txBody>
      </p:sp>
      <p:pic>
        <p:nvPicPr>
          <p:cNvPr id="1026" name="Picture 2" descr="authentication - Web SSO with external or partner applications - Stack  Overflow">
            <a:extLst>
              <a:ext uri="{FF2B5EF4-FFF2-40B4-BE49-F238E27FC236}">
                <a16:creationId xmlns:a16="http://schemas.microsoft.com/office/drawing/2014/main" id="{963B0D14-F7C1-3459-C196-8A98D363F6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738" y="1576863"/>
            <a:ext cx="8518525" cy="2769276"/>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E3E2117D-A8E2-B312-EC9D-97F5D8AAEA69}"/>
              </a:ext>
            </a:extLst>
          </p:cNvPr>
          <p:cNvSpPr txBox="1">
            <a:spLocks/>
          </p:cNvSpPr>
          <p:nvPr/>
        </p:nvSpPr>
        <p:spPr>
          <a:xfrm>
            <a:off x="113275" y="4389328"/>
            <a:ext cx="8624937" cy="15542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Web SSO can be used for UI based Integration of nested/cross app pages with separate domains within the same organization or with external partners.</a:t>
            </a:r>
          </a:p>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Web SSO with external or partner applications - Stack Overflow</a:t>
            </a:r>
            <a:r>
              <a:rPr lang="en-US" sz="1500" kern="0" spc="-80" dirty="0">
                <a:solidFill>
                  <a:schemeClr val="accent2"/>
                </a:solidFill>
              </a:rPr>
              <a:t> </a:t>
            </a:r>
          </a:p>
          <a:p>
            <a:pPr marL="12700" marR="5080"/>
            <a:r>
              <a:rPr lang="en-US" sz="1500" dirty="0">
                <a:hlinkClick r:id="rId9"/>
              </a:rPr>
              <a:t>How does Single Sign-On (SSO) work? - by Dr Milan </a:t>
            </a:r>
            <a:r>
              <a:rPr lang="en-US" sz="1500" dirty="0" err="1">
                <a:hlinkClick r:id="rId9"/>
              </a:rPr>
              <a:t>Milanović</a:t>
            </a:r>
            <a:r>
              <a:rPr lang="en-US" sz="1500" kern="0" spc="-80" dirty="0">
                <a:solidFill>
                  <a:schemeClr val="accent2"/>
                </a:solidFill>
              </a:rPr>
              <a:t> </a:t>
            </a:r>
          </a:p>
          <a:p>
            <a:pPr marL="12700" marR="5080"/>
            <a:r>
              <a:rPr lang="en-IN" sz="1500" dirty="0">
                <a:hlinkClick r:id="rId10"/>
              </a:rPr>
              <a:t>SSO Explained| LinkedIn</a:t>
            </a:r>
            <a:endParaRPr lang="en-IN" sz="1500" dirty="0"/>
          </a:p>
        </p:txBody>
      </p:sp>
    </p:spTree>
    <p:extLst>
      <p:ext uri="{BB962C8B-B14F-4D97-AF65-F5344CB8AC3E}">
        <p14:creationId xmlns:p14="http://schemas.microsoft.com/office/powerpoint/2010/main" val="188223259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767477"/>
            <a:ext cx="8624937" cy="39687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Advanced Users Management using Okta - Account Linking vs Org2Org - </a:t>
            </a:r>
          </a:p>
          <a:p>
            <a:pPr marL="12700" marR="5080"/>
            <a:r>
              <a:rPr lang="en-US" sz="1400" kern="0" spc="-80" dirty="0">
                <a:solidFill>
                  <a:schemeClr val="accent2"/>
                </a:solidFill>
              </a:rPr>
              <a:t>    </a:t>
            </a:r>
            <a:r>
              <a:rPr lang="en-US" sz="1430" kern="0" spc="-80" dirty="0">
                <a:solidFill>
                  <a:schemeClr val="accent6"/>
                </a:solidFill>
              </a:rPr>
              <a:t>Account linking &amp; Org2Org are both Okta features that can be used to connect organizations:  </a:t>
            </a:r>
          </a:p>
          <a:p>
            <a:pPr marL="12700" marR="5080"/>
            <a:r>
              <a:rPr lang="en-US" sz="1430" kern="0" spc="-80">
                <a:solidFill>
                  <a:srgbClr val="C00000"/>
                </a:solidFill>
              </a:rPr>
              <a:t>(Partner) Account </a:t>
            </a:r>
            <a:r>
              <a:rPr lang="en-US" sz="1430" kern="0" spc="-80" dirty="0">
                <a:solidFill>
                  <a:srgbClr val="C00000"/>
                </a:solidFill>
              </a:rPr>
              <a:t>linking</a:t>
            </a:r>
            <a:br>
              <a:rPr lang="en-US" sz="1430" kern="0" spc="-80" dirty="0">
                <a:solidFill>
                  <a:schemeClr val="accent6"/>
                </a:solidFill>
              </a:rPr>
            </a:br>
            <a:r>
              <a:rPr lang="en-US" sz="1430" kern="0" spc="-80" dirty="0">
                <a:solidFill>
                  <a:schemeClr val="accent6"/>
                </a:solidFill>
              </a:rPr>
              <a:t>Allows users to sign in to an app using multiple identity providers, and Okta links all of those profiles to a single Okta user. For example, if a user signs in to an app using a different identity provider than they used for registration, account linking can establish that the user owns both identities. This allows the user to sign in from either account. Account linking is configured at the identity provider level. </a:t>
            </a:r>
            <a:br>
              <a:rPr lang="en-US" sz="1430" kern="0" spc="-80" dirty="0">
                <a:solidFill>
                  <a:schemeClr val="accent6"/>
                </a:solidFill>
              </a:rPr>
            </a:br>
            <a:r>
              <a:rPr lang="en-US" sz="1430" kern="0" spc="-80" dirty="0">
                <a:solidFill>
                  <a:srgbClr val="C00000"/>
                </a:solidFill>
              </a:rPr>
              <a:t>Org2Org</a:t>
            </a:r>
            <a:r>
              <a:rPr lang="en-US" sz="1430" kern="0" spc="-80" dirty="0">
                <a:solidFill>
                  <a:schemeClr val="accent6"/>
                </a:solidFill>
              </a:rPr>
              <a:t>    </a:t>
            </a:r>
            <a:br>
              <a:rPr lang="en-US" sz="1430" kern="0" spc="-80" dirty="0">
                <a:solidFill>
                  <a:schemeClr val="accent6"/>
                </a:solidFill>
              </a:rPr>
            </a:br>
            <a:r>
              <a:rPr lang="en-US" sz="1430" kern="0" spc="-80" dirty="0">
                <a:solidFill>
                  <a:schemeClr val="accent6"/>
                </a:solidFill>
              </a:rPr>
              <a:t>Connects multiple source organizations to a single target organization, allowing the source organizations to push users to the target organization. It's designed for a hub and spoke configuration, where the source organizations are the spokes and the target organization is the hub. Org2Org supports Okta's IdP-initiated SSO and JIT (Just In Time) Provisioning features. When configuring the SAML IdP in the hub organization, it's recommended to disable account linking if possible.</a:t>
            </a:r>
          </a:p>
        </p:txBody>
      </p:sp>
      <p:sp>
        <p:nvSpPr>
          <p:cNvPr id="9" name="TextBox 8">
            <a:extLst>
              <a:ext uri="{FF2B5EF4-FFF2-40B4-BE49-F238E27FC236}">
                <a16:creationId xmlns:a16="http://schemas.microsoft.com/office/drawing/2014/main" id="{919024F5-4281-0D8A-6DB7-F55236C5F5C6}"/>
              </a:ext>
            </a:extLst>
          </p:cNvPr>
          <p:cNvSpPr txBox="1"/>
          <p:nvPr/>
        </p:nvSpPr>
        <p:spPr>
          <a:xfrm>
            <a:off x="92279" y="4609237"/>
            <a:ext cx="8839200" cy="1754326"/>
          </a:xfrm>
          <a:prstGeom prst="rect">
            <a:avLst/>
          </a:prstGeom>
          <a:noFill/>
        </p:spPr>
        <p:txBody>
          <a:bodyPr wrap="square">
            <a:spAutoFit/>
          </a:bodyPr>
          <a:lstStyle/>
          <a:p>
            <a:pPr marL="12700" marR="5080"/>
            <a:r>
              <a:rPr lang="en-US" sz="1800" kern="0" spc="-80" dirty="0">
                <a:solidFill>
                  <a:schemeClr val="accent2"/>
                </a:solidFill>
              </a:rPr>
              <a:t>For Further Exploration – </a:t>
            </a:r>
          </a:p>
          <a:p>
            <a:pPr marL="12700" marR="5080"/>
            <a:r>
              <a:rPr lang="en-US" kern="0" spc="-80" dirty="0">
                <a:solidFill>
                  <a:schemeClr val="accent2"/>
                </a:solidFill>
              </a:rPr>
              <a:t>  </a:t>
            </a:r>
            <a:r>
              <a:rPr lang="en-IN" dirty="0">
                <a:hlinkClick r:id="rId7"/>
              </a:rPr>
              <a:t>User Account Linking</a:t>
            </a:r>
            <a:endParaRPr lang="en-IN" dirty="0"/>
          </a:p>
          <a:p>
            <a:pPr marL="12700" marR="5080"/>
            <a:r>
              <a:rPr lang="en-US" sz="1800" kern="0" spc="-80" dirty="0">
                <a:solidFill>
                  <a:schemeClr val="accent2"/>
                </a:solidFill>
              </a:rPr>
              <a:t>  </a:t>
            </a:r>
            <a:r>
              <a:rPr lang="en-IN" dirty="0">
                <a:hlinkClick r:id="rId8"/>
              </a:rPr>
              <a:t>Auth0 Organizations</a:t>
            </a:r>
            <a:r>
              <a:rPr lang="en-US" kern="0" spc="-80" dirty="0">
                <a:solidFill>
                  <a:schemeClr val="accent2"/>
                </a:solidFill>
              </a:rPr>
              <a:t>  </a:t>
            </a:r>
          </a:p>
          <a:p>
            <a:pPr marL="12700" marR="5080"/>
            <a:r>
              <a:rPr lang="en-US" kern="0" spc="-80" dirty="0">
                <a:solidFill>
                  <a:schemeClr val="accent2"/>
                </a:solidFill>
              </a:rPr>
              <a:t>  </a:t>
            </a:r>
            <a:r>
              <a:rPr lang="en-US" sz="1800" dirty="0">
                <a:hlinkClick r:id="rId9"/>
              </a:rPr>
              <a:t>Account Linking and SSO - Auth0 Community</a:t>
            </a:r>
            <a:r>
              <a:rPr lang="en-US" sz="1800" kern="0" spc="-80" dirty="0">
                <a:solidFill>
                  <a:schemeClr val="accent2"/>
                </a:solidFill>
              </a:rPr>
              <a:t> </a:t>
            </a:r>
            <a:r>
              <a:rPr lang="en-US" sz="1800" kern="0" spc="-80" dirty="0">
                <a:solidFill>
                  <a:schemeClr val="accent6"/>
                </a:solidFill>
              </a:rPr>
              <a:t>(Account Linking is more at data level while SSO is more at application level) </a:t>
            </a:r>
          </a:p>
          <a:p>
            <a:pPr marL="12700" marR="5080"/>
            <a:r>
              <a:rPr lang="en-US" kern="0" spc="-80" dirty="0">
                <a:solidFill>
                  <a:schemeClr val="accent2"/>
                </a:solidFill>
              </a:rPr>
              <a:t> </a:t>
            </a:r>
            <a:endParaRPr lang="en-US" sz="1800" kern="0" spc="-80" dirty="0">
              <a:solidFill>
                <a:schemeClr val="accent2"/>
              </a:solidFill>
            </a:endParaRPr>
          </a:p>
        </p:txBody>
      </p:sp>
    </p:spTree>
    <p:extLst>
      <p:ext uri="{BB962C8B-B14F-4D97-AF65-F5344CB8AC3E}">
        <p14:creationId xmlns:p14="http://schemas.microsoft.com/office/powerpoint/2010/main" val="371172488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973BB-2E65-562F-8FD0-E53CAD7CE98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200A0F6-2B49-1BC0-17FE-B9FDB1E2F38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2EA764-0CEC-63B4-9742-08B50324A2C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93686FF-FB19-45DB-C6EE-EA2D0DE6953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30265A9-7CC9-6206-27A5-C3632F4637A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A4C40A5-8FDB-ED8F-0875-4BDFDCB0EE2D}"/>
              </a:ext>
            </a:extLst>
          </p:cNvPr>
          <p:cNvSpPr txBox="1">
            <a:spLocks/>
          </p:cNvSpPr>
          <p:nvPr/>
        </p:nvSpPr>
        <p:spPr>
          <a:xfrm>
            <a:off x="281754" y="767477"/>
            <a:ext cx="8624937" cy="54168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AuthN and </a:t>
            </a:r>
            <a:r>
              <a:rPr lang="en-US" sz="2400" kern="0" spc="-80" dirty="0" err="1">
                <a:solidFill>
                  <a:schemeClr val="accent2"/>
                </a:solidFill>
              </a:rPr>
              <a:t>AuthZ</a:t>
            </a:r>
            <a:r>
              <a:rPr lang="en-US" sz="2400" kern="0" spc="-80" dirty="0">
                <a:solidFill>
                  <a:schemeClr val="accent2"/>
                </a:solidFill>
              </a:rPr>
              <a:t> Providers</a:t>
            </a:r>
          </a:p>
          <a:p>
            <a:pPr marL="12700" marR="5080"/>
            <a:r>
              <a:rPr lang="en-US" sz="1600" kern="0" spc="-80" dirty="0">
                <a:solidFill>
                  <a:schemeClr val="accent6"/>
                </a:solidFill>
              </a:rPr>
              <a:t>AuthN (Authentication) providers verify a user's identity, while </a:t>
            </a:r>
            <a:r>
              <a:rPr lang="en-US" sz="1600" kern="0" spc="-80" dirty="0" err="1">
                <a:solidFill>
                  <a:schemeClr val="accent6"/>
                </a:solidFill>
              </a:rPr>
              <a:t>AuthZ</a:t>
            </a:r>
            <a:r>
              <a:rPr lang="en-US" sz="1600" kern="0" spc="-80" dirty="0">
                <a:solidFill>
                  <a:schemeClr val="accent6"/>
                </a:solidFill>
              </a:rPr>
              <a:t> (Authorization) providers determine what authenticated users are allowed to do. Popular AuthN providers include Auth0, Microsoft Entra ID, and </a:t>
            </a:r>
            <a:r>
              <a:rPr lang="en-US" sz="1600" kern="0" spc="-80" dirty="0" err="1">
                <a:solidFill>
                  <a:schemeClr val="accent6"/>
                </a:solidFill>
              </a:rPr>
              <a:t>Keycloak</a:t>
            </a:r>
            <a:r>
              <a:rPr lang="en-US" sz="1600" kern="0" spc="-80" dirty="0">
                <a:solidFill>
                  <a:schemeClr val="accent6"/>
                </a:solidFill>
              </a:rPr>
              <a:t>, which handle tasks like password validation or SSO. </a:t>
            </a:r>
            <a:r>
              <a:rPr lang="en-US" sz="1600" kern="0" spc="-80" dirty="0" err="1">
                <a:solidFill>
                  <a:schemeClr val="accent6"/>
                </a:solidFill>
              </a:rPr>
              <a:t>AuthZ</a:t>
            </a:r>
            <a:r>
              <a:rPr lang="en-US" sz="1600" kern="0" spc="-80" dirty="0">
                <a:solidFill>
                  <a:schemeClr val="accent6"/>
                </a:solidFill>
              </a:rPr>
              <a:t> providers often use models like Role-Based Access Control (RBAC) and might include systems like the Open Policy Agent (OPA) or </a:t>
            </a:r>
            <a:r>
              <a:rPr lang="en-US" sz="1600" kern="0" spc="-80" dirty="0" err="1">
                <a:solidFill>
                  <a:schemeClr val="accent6"/>
                </a:solidFill>
              </a:rPr>
              <a:t>OpenFGA</a:t>
            </a:r>
            <a:r>
              <a:rPr lang="en-US" sz="1600" kern="0" spc="-80" dirty="0">
                <a:solidFill>
                  <a:schemeClr val="accent6"/>
                </a:solidFill>
              </a:rPr>
              <a:t> to enforce permissions based on policies.</a:t>
            </a:r>
            <a:br>
              <a:rPr lang="en-US" sz="1600" kern="0" spc="-80" dirty="0">
                <a:solidFill>
                  <a:schemeClr val="accent6"/>
                </a:solidFill>
              </a:rPr>
            </a:br>
            <a:r>
              <a:rPr lang="en-US" sz="1600" kern="0" spc="-80" dirty="0">
                <a:solidFill>
                  <a:schemeClr val="accent2"/>
                </a:solidFill>
              </a:rPr>
              <a:t>AuthN (Authentication) Providers.</a:t>
            </a:r>
            <a:br>
              <a:rPr lang="en-US" sz="1600" kern="0" spc="-80" dirty="0">
                <a:solidFill>
                  <a:schemeClr val="accent6"/>
                </a:solidFill>
              </a:rPr>
            </a:br>
            <a:r>
              <a:rPr lang="en-US" sz="1600" kern="0" spc="-80" dirty="0">
                <a:solidFill>
                  <a:schemeClr val="accent6"/>
                </a:solidFill>
              </a:rPr>
              <a:t>These services focus on proving a user's identity.</a:t>
            </a:r>
            <a:br>
              <a:rPr lang="en-US" sz="1600" kern="0" spc="-80" dirty="0">
                <a:solidFill>
                  <a:schemeClr val="accent6"/>
                </a:solidFill>
              </a:rPr>
            </a:br>
            <a:r>
              <a:rPr lang="en-US" sz="1600" kern="0" spc="-80" dirty="0">
                <a:solidFill>
                  <a:schemeClr val="accent2"/>
                </a:solidFill>
              </a:rPr>
              <a:t>Purpose:</a:t>
            </a:r>
            <a:r>
              <a:rPr lang="en-US" sz="1600" kern="0" spc="-80" dirty="0">
                <a:solidFill>
                  <a:schemeClr val="accent6"/>
                </a:solidFill>
              </a:rPr>
              <a:t> To confirm that a user is who they claim to be.</a:t>
            </a:r>
            <a:br>
              <a:rPr lang="en-US" sz="1600" kern="0" spc="-80" dirty="0">
                <a:solidFill>
                  <a:schemeClr val="accent6"/>
                </a:solidFill>
              </a:rPr>
            </a:br>
            <a:r>
              <a:rPr lang="en-US" sz="1600" kern="0" spc="-80" dirty="0">
                <a:solidFill>
                  <a:schemeClr val="accent2"/>
                </a:solidFill>
              </a:rPr>
              <a:t>Methods:</a:t>
            </a:r>
            <a:r>
              <a:rPr lang="en-US" sz="1600" kern="0" spc="-80" dirty="0">
                <a:solidFill>
                  <a:schemeClr val="accent6"/>
                </a:solidFill>
              </a:rPr>
              <a:t> Often involves username and password, multi-factor authentication (MFA), biometrics, or tokens.</a:t>
            </a:r>
            <a:br>
              <a:rPr lang="en-US" sz="1600" kern="0" spc="-80" dirty="0">
                <a:solidFill>
                  <a:schemeClr val="accent6"/>
                </a:solidFill>
              </a:rPr>
            </a:br>
            <a:r>
              <a:rPr lang="en-US" sz="1600" kern="0" spc="-80" dirty="0">
                <a:solidFill>
                  <a:schemeClr val="accent2"/>
                </a:solidFill>
              </a:rPr>
              <a:t>Common Providers:</a:t>
            </a:r>
            <a:br>
              <a:rPr lang="en-US" sz="1600" kern="0" spc="-80" dirty="0">
                <a:solidFill>
                  <a:schemeClr val="accent6"/>
                </a:solidFill>
              </a:rPr>
            </a:br>
            <a:r>
              <a:rPr lang="en-US" sz="1600" kern="0" spc="-80" dirty="0">
                <a:solidFill>
                  <a:schemeClr val="accent2"/>
                </a:solidFill>
              </a:rPr>
              <a:t>Auth0:</a:t>
            </a:r>
            <a:r>
              <a:rPr lang="en-US" sz="1600" kern="0" spc="-80" dirty="0">
                <a:solidFill>
                  <a:schemeClr val="accent6"/>
                </a:solidFill>
              </a:rPr>
              <a:t> A popular platform offering authentication services and single sign-on (SSO).</a:t>
            </a:r>
            <a:br>
              <a:rPr lang="en-US" sz="1600" kern="0" spc="-80" dirty="0">
                <a:solidFill>
                  <a:schemeClr val="accent6"/>
                </a:solidFill>
              </a:rPr>
            </a:br>
            <a:r>
              <a:rPr lang="en-US" sz="1600" kern="0" spc="-80" dirty="0">
                <a:solidFill>
                  <a:schemeClr val="accent2"/>
                </a:solidFill>
              </a:rPr>
              <a:t>Microsoft Entra ID (formerly Azure AD):</a:t>
            </a:r>
            <a:r>
              <a:rPr lang="en-US" sz="1600" kern="0" spc="-80" dirty="0">
                <a:solidFill>
                  <a:schemeClr val="accent6"/>
                </a:solidFill>
              </a:rPr>
              <a:t> A comprehensive identity and access management service.</a:t>
            </a:r>
            <a:br>
              <a:rPr lang="en-US" sz="1600" kern="0" spc="-80" dirty="0">
                <a:solidFill>
                  <a:schemeClr val="accent6"/>
                </a:solidFill>
              </a:rPr>
            </a:br>
            <a:r>
              <a:rPr lang="en-US" sz="1600" kern="0" spc="-80" dirty="0" err="1">
                <a:solidFill>
                  <a:schemeClr val="accent2"/>
                </a:solidFill>
              </a:rPr>
              <a:t>Keycloak</a:t>
            </a:r>
            <a:r>
              <a:rPr lang="en-US" sz="1600" kern="0" spc="-80" dirty="0">
                <a:solidFill>
                  <a:schemeClr val="accent2"/>
                </a:solidFill>
              </a:rPr>
              <a:t>:</a:t>
            </a:r>
            <a:r>
              <a:rPr lang="en-US" sz="1600" kern="0" spc="-80" dirty="0">
                <a:solidFill>
                  <a:schemeClr val="accent6"/>
                </a:solidFill>
              </a:rPr>
              <a:t> An open-source identity and access management solution with SSO and user management features.</a:t>
            </a:r>
            <a:br>
              <a:rPr lang="en-US" sz="1600" kern="0" spc="-80" dirty="0">
                <a:solidFill>
                  <a:schemeClr val="accent6"/>
                </a:solidFill>
              </a:rPr>
            </a:br>
            <a:r>
              <a:rPr lang="en-US" sz="1600" kern="0" spc="-80" dirty="0">
                <a:solidFill>
                  <a:schemeClr val="accent2"/>
                </a:solidFill>
              </a:rPr>
              <a:t>Firebase Auth:</a:t>
            </a:r>
            <a:r>
              <a:rPr lang="en-US" sz="1600" kern="0" spc="-80" dirty="0">
                <a:solidFill>
                  <a:schemeClr val="accent6"/>
                </a:solidFill>
              </a:rPr>
              <a:t> Provides authentication services for web and mobile applications.</a:t>
            </a:r>
            <a:br>
              <a:rPr lang="en-US" sz="1600" kern="0" spc="-80" dirty="0">
                <a:solidFill>
                  <a:schemeClr val="accent6"/>
                </a:solidFill>
              </a:rPr>
            </a:br>
            <a:endParaRPr lang="en-US" sz="1600" kern="0" spc="-80" dirty="0">
              <a:solidFill>
                <a:schemeClr val="accent2"/>
              </a:solidFill>
            </a:endParaRPr>
          </a:p>
        </p:txBody>
      </p:sp>
    </p:spTree>
    <p:extLst>
      <p:ext uri="{BB962C8B-B14F-4D97-AF65-F5344CB8AC3E}">
        <p14:creationId xmlns:p14="http://schemas.microsoft.com/office/powerpoint/2010/main" val="95988160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1DCD9-04D8-C936-0BA4-B655D17BE91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6C30C5F-1729-20F1-83C4-10FA7EE0C71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D84BD94-AA86-C539-A393-A60155C91C7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90BB34C-F7B3-7C4A-ED52-4BF4ABAD5E3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DCAF85C-4799-88D0-5948-9DF2BB38BF0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C8EB733-0D11-1EA9-077C-8F9487F1D008}"/>
              </a:ext>
            </a:extLst>
          </p:cNvPr>
          <p:cNvSpPr txBox="1">
            <a:spLocks/>
          </p:cNvSpPr>
          <p:nvPr/>
        </p:nvSpPr>
        <p:spPr>
          <a:xfrm>
            <a:off x="235945" y="741802"/>
            <a:ext cx="8624937" cy="572464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AuthN and </a:t>
            </a:r>
            <a:r>
              <a:rPr lang="en-US" sz="2400" kern="0" spc="-80" dirty="0" err="1">
                <a:solidFill>
                  <a:schemeClr val="accent2"/>
                </a:solidFill>
              </a:rPr>
              <a:t>AuthZ</a:t>
            </a:r>
            <a:r>
              <a:rPr lang="en-US" sz="2400" kern="0" spc="-80" dirty="0">
                <a:solidFill>
                  <a:schemeClr val="accent2"/>
                </a:solidFill>
              </a:rPr>
              <a:t> Providers</a:t>
            </a:r>
          </a:p>
          <a:p>
            <a:pPr marL="12700" marR="5080"/>
            <a:r>
              <a:rPr lang="en-US" sz="1500" kern="0" spc="-80" dirty="0" err="1">
                <a:solidFill>
                  <a:schemeClr val="accent2"/>
                </a:solidFill>
              </a:rPr>
              <a:t>AuthZ</a:t>
            </a:r>
            <a:r>
              <a:rPr lang="en-US" sz="1500" kern="0" spc="-80" dirty="0">
                <a:solidFill>
                  <a:schemeClr val="accent2"/>
                </a:solidFill>
              </a:rPr>
              <a:t> (Authorization) Providers.</a:t>
            </a:r>
            <a:br>
              <a:rPr lang="en-US" sz="1500" kern="0" spc="-80" dirty="0">
                <a:solidFill>
                  <a:schemeClr val="accent6"/>
                </a:solidFill>
              </a:rPr>
            </a:br>
            <a:r>
              <a:rPr lang="en-US" sz="1500" kern="0" spc="-80" dirty="0">
                <a:solidFill>
                  <a:schemeClr val="accent6"/>
                </a:solidFill>
              </a:rPr>
              <a:t>These services manage what an authenticated user can access and do.</a:t>
            </a:r>
            <a:br>
              <a:rPr lang="en-US" sz="1500" kern="0" spc="-80" dirty="0">
                <a:solidFill>
                  <a:schemeClr val="accent6"/>
                </a:solidFill>
              </a:rPr>
            </a:br>
            <a:r>
              <a:rPr lang="en-US" sz="1500" kern="0" spc="-80" dirty="0">
                <a:solidFill>
                  <a:schemeClr val="accent2"/>
                </a:solidFill>
              </a:rPr>
              <a:t>Purpose:</a:t>
            </a:r>
            <a:r>
              <a:rPr lang="en-US" sz="1500" kern="0" spc="-80" dirty="0">
                <a:solidFill>
                  <a:schemeClr val="accent6"/>
                </a:solidFill>
              </a:rPr>
              <a:t> To define and enforce permissions and access rights for users.</a:t>
            </a:r>
            <a:br>
              <a:rPr lang="en-US" sz="1500" kern="0" spc="-80" dirty="0">
                <a:solidFill>
                  <a:schemeClr val="accent6"/>
                </a:solidFill>
              </a:rPr>
            </a:br>
            <a:r>
              <a:rPr lang="en-US" sz="1500" kern="0" spc="-80" dirty="0">
                <a:solidFill>
                  <a:schemeClr val="accent2"/>
                </a:solidFill>
              </a:rPr>
              <a:t>Models:</a:t>
            </a:r>
            <a:r>
              <a:rPr lang="en-US" sz="1500" kern="0" spc="-80" dirty="0">
                <a:solidFill>
                  <a:schemeClr val="accent6"/>
                </a:solidFill>
              </a:rPr>
              <a:t> Often uses models like </a:t>
            </a:r>
            <a:r>
              <a:rPr lang="en-US" sz="1500" kern="0" spc="-80" dirty="0">
                <a:solidFill>
                  <a:schemeClr val="accent2"/>
                </a:solidFill>
              </a:rPr>
              <a:t>Role-Based Access Control (RBAC), Attribute-Based Access Control (ABAC), or relationship-based access control (ReBAC)</a:t>
            </a:r>
            <a:r>
              <a:rPr lang="en-US" sz="1500" kern="0" spc="-80" dirty="0">
                <a:solidFill>
                  <a:schemeClr val="accent6"/>
                </a:solidFill>
              </a:rPr>
              <a:t>.</a:t>
            </a:r>
            <a:br>
              <a:rPr lang="en-US" sz="1500" kern="0" spc="-80" dirty="0">
                <a:solidFill>
                  <a:schemeClr val="accent6"/>
                </a:solidFill>
              </a:rPr>
            </a:br>
            <a:r>
              <a:rPr lang="en-US" sz="1500" kern="0" spc="-80" dirty="0">
                <a:solidFill>
                  <a:schemeClr val="accent2"/>
                </a:solidFill>
              </a:rPr>
              <a:t>Common Providers/Systems:</a:t>
            </a:r>
            <a:br>
              <a:rPr lang="en-US" sz="1500" kern="0" spc="-80" dirty="0">
                <a:solidFill>
                  <a:schemeClr val="accent6"/>
                </a:solidFill>
              </a:rPr>
            </a:br>
            <a:r>
              <a:rPr lang="en-US" sz="1500" kern="0" spc="-80" dirty="0">
                <a:solidFill>
                  <a:schemeClr val="accent2"/>
                </a:solidFill>
              </a:rPr>
              <a:t>Open Policy Agent (OPA):</a:t>
            </a:r>
            <a:r>
              <a:rPr lang="en-US" sz="1500" kern="0" spc="-80" dirty="0">
                <a:solidFill>
                  <a:schemeClr val="accent6"/>
                </a:solidFill>
              </a:rPr>
              <a:t> A general-purpose policy engine for enforcing authorization logic using the Rego policy language.</a:t>
            </a:r>
            <a:br>
              <a:rPr lang="en-US" sz="1500" kern="0" spc="-80" dirty="0">
                <a:solidFill>
                  <a:schemeClr val="accent6"/>
                </a:solidFill>
              </a:rPr>
            </a:br>
            <a:r>
              <a:rPr lang="en-US" sz="1500" kern="0" spc="-80" dirty="0" err="1">
                <a:solidFill>
                  <a:schemeClr val="accent2"/>
                </a:solidFill>
              </a:rPr>
              <a:t>OpenFGA</a:t>
            </a:r>
            <a:r>
              <a:rPr lang="en-US" sz="1500" kern="0" spc="-80" dirty="0">
                <a:solidFill>
                  <a:schemeClr val="accent2"/>
                </a:solidFill>
              </a:rPr>
              <a:t>: </a:t>
            </a:r>
            <a:r>
              <a:rPr lang="en-US" sz="1500" kern="0" spc="-80" dirty="0">
                <a:solidFill>
                  <a:schemeClr val="accent6"/>
                </a:solidFill>
              </a:rPr>
              <a:t>An open-source project based on Google's Zanzibar authorization system, using a relationship-based access model.</a:t>
            </a:r>
            <a:br>
              <a:rPr lang="en-US" sz="1500" kern="0" spc="-80" dirty="0">
                <a:solidFill>
                  <a:schemeClr val="accent6"/>
                </a:solidFill>
              </a:rPr>
            </a:br>
            <a:r>
              <a:rPr lang="en-US" sz="1500" kern="0" spc="-80" dirty="0">
                <a:solidFill>
                  <a:schemeClr val="accent2"/>
                </a:solidFill>
              </a:rPr>
              <a:t>Topaz: </a:t>
            </a:r>
            <a:r>
              <a:rPr lang="en-US" sz="1500" kern="0" spc="-80" dirty="0">
                <a:solidFill>
                  <a:schemeClr val="accent6"/>
                </a:solidFill>
              </a:rPr>
              <a:t>A standalone authorization system supporting both OPA policies and relationship-based access control.</a:t>
            </a:r>
            <a:br>
              <a:rPr lang="en-US" sz="1500" kern="0" spc="-80" dirty="0">
                <a:solidFill>
                  <a:schemeClr val="accent6"/>
                </a:solidFill>
              </a:rPr>
            </a:br>
            <a:r>
              <a:rPr lang="en-US" sz="1500" kern="0" spc="-80" dirty="0">
                <a:solidFill>
                  <a:schemeClr val="accent2"/>
                </a:solidFill>
              </a:rPr>
              <a:t>How they work together.</a:t>
            </a:r>
            <a:br>
              <a:rPr lang="en-US" sz="1500" kern="0" spc="-80" dirty="0">
                <a:solidFill>
                  <a:schemeClr val="accent6"/>
                </a:solidFill>
              </a:rPr>
            </a:br>
            <a:r>
              <a:rPr lang="en-US" sz="1500" kern="0" spc="-80" dirty="0">
                <a:solidFill>
                  <a:schemeClr val="accent6"/>
                </a:solidFill>
              </a:rPr>
              <a:t>AuthN and </a:t>
            </a:r>
            <a:r>
              <a:rPr lang="en-US" sz="1500" kern="0" spc="-80" dirty="0" err="1">
                <a:solidFill>
                  <a:schemeClr val="accent6"/>
                </a:solidFill>
              </a:rPr>
              <a:t>AuthZ</a:t>
            </a:r>
            <a:r>
              <a:rPr lang="en-US" sz="1500" kern="0" spc="-80" dirty="0">
                <a:solidFill>
                  <a:schemeClr val="accent6"/>
                </a:solidFill>
              </a:rPr>
              <a:t> work in tandem to secure systems:</a:t>
            </a:r>
            <a:br>
              <a:rPr lang="en-US" sz="1500" kern="0" spc="-80" dirty="0">
                <a:solidFill>
                  <a:schemeClr val="accent6"/>
                </a:solidFill>
              </a:rPr>
            </a:br>
            <a:r>
              <a:rPr lang="en-US" sz="1500" kern="0" spc="-80" dirty="0">
                <a:solidFill>
                  <a:schemeClr val="accent2"/>
                </a:solidFill>
              </a:rPr>
              <a:t>Authentication (AuthN):</a:t>
            </a:r>
            <a:r>
              <a:rPr lang="en-US" sz="1500" kern="0" spc="-80" dirty="0">
                <a:solidFill>
                  <a:schemeClr val="accent6"/>
                </a:solidFill>
              </a:rPr>
              <a:t> A user logs in, providing credentials (e.g., password, token). The AuthN provider verifies their identity.</a:t>
            </a:r>
            <a:br>
              <a:rPr lang="en-US" sz="1500" kern="0" spc="-80" dirty="0">
                <a:solidFill>
                  <a:schemeClr val="accent6"/>
                </a:solidFill>
              </a:rPr>
            </a:br>
            <a:r>
              <a:rPr lang="en-US" sz="1500" kern="0" spc="-80" dirty="0">
                <a:solidFill>
                  <a:schemeClr val="accent2"/>
                </a:solidFill>
              </a:rPr>
              <a:t>Authorization (</a:t>
            </a:r>
            <a:r>
              <a:rPr lang="en-US" sz="1500" kern="0" spc="-80" dirty="0" err="1">
                <a:solidFill>
                  <a:schemeClr val="accent2"/>
                </a:solidFill>
              </a:rPr>
              <a:t>AuthZ</a:t>
            </a:r>
            <a:r>
              <a:rPr lang="en-US" sz="1500" kern="0" spc="-80" dirty="0">
                <a:solidFill>
                  <a:schemeClr val="accent2"/>
                </a:solidFill>
              </a:rPr>
              <a:t>): </a:t>
            </a:r>
            <a:r>
              <a:rPr lang="en-US" sz="1500" kern="0" spc="-80" dirty="0">
                <a:solidFill>
                  <a:schemeClr val="accent6"/>
                </a:solidFill>
              </a:rPr>
              <a:t>Once the user is identified, the </a:t>
            </a:r>
            <a:r>
              <a:rPr lang="en-US" sz="1500" kern="0" spc="-80" dirty="0" err="1">
                <a:solidFill>
                  <a:schemeClr val="accent6"/>
                </a:solidFill>
              </a:rPr>
              <a:t>AuthZ</a:t>
            </a:r>
            <a:r>
              <a:rPr lang="en-US" sz="1500" kern="0" spc="-80" dirty="0">
                <a:solidFill>
                  <a:schemeClr val="accent6"/>
                </a:solidFill>
              </a:rPr>
              <a:t> provider uses policies to determine what resources or functions the authenticated user can access within the system. For instance, after a user logs in, the </a:t>
            </a:r>
            <a:r>
              <a:rPr lang="en-US" sz="1500" kern="0" spc="-80" dirty="0" err="1">
                <a:solidFill>
                  <a:schemeClr val="accent6"/>
                </a:solidFill>
              </a:rPr>
              <a:t>AuthZ</a:t>
            </a:r>
            <a:r>
              <a:rPr lang="en-US" sz="1500" kern="0" spc="-80" dirty="0">
                <a:solidFill>
                  <a:schemeClr val="accent6"/>
                </a:solidFill>
              </a:rPr>
              <a:t> system might grant them access to a specific project board but deny them access to others, based on their assigned role or permissions.</a:t>
            </a:r>
          </a:p>
          <a:p>
            <a:pPr marL="12700" marR="5080"/>
            <a:endParaRPr lang="en-US" sz="2400" kern="0" spc="-80" dirty="0">
              <a:solidFill>
                <a:schemeClr val="accent2"/>
              </a:solidFill>
            </a:endParaRPr>
          </a:p>
        </p:txBody>
      </p:sp>
    </p:spTree>
    <p:extLst>
      <p:ext uri="{BB962C8B-B14F-4D97-AF65-F5344CB8AC3E}">
        <p14:creationId xmlns:p14="http://schemas.microsoft.com/office/powerpoint/2010/main" val="424497288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8E185-DD86-D8AD-665E-6B62B317E5C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FFF368B-9180-9C6D-E4CC-AB2FDA43D08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55B79BE-6D31-8A18-569F-6D36C43FD09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BE35824-3E9E-3DF2-343A-5707FDF7335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A973048-3754-162B-D6D3-B8129EA4C30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DF94E16-6BE0-F41E-545F-EB7D397C2E52}"/>
              </a:ext>
            </a:extLst>
          </p:cNvPr>
          <p:cNvSpPr txBox="1">
            <a:spLocks/>
          </p:cNvSpPr>
          <p:nvPr/>
        </p:nvSpPr>
        <p:spPr>
          <a:xfrm>
            <a:off x="235945" y="741802"/>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Why AuthN and </a:t>
            </a:r>
            <a:r>
              <a:rPr lang="en-US" sz="2400" kern="0" spc="-80" dirty="0" err="1">
                <a:solidFill>
                  <a:schemeClr val="accent2"/>
                </a:solidFill>
              </a:rPr>
              <a:t>AuthZ</a:t>
            </a:r>
            <a:r>
              <a:rPr lang="en-US" sz="2400" kern="0" spc="-80" dirty="0">
                <a:solidFill>
                  <a:schemeClr val="accent2"/>
                </a:solidFill>
              </a:rPr>
              <a:t> Should be separated?</a:t>
            </a:r>
          </a:p>
          <a:p>
            <a:pPr marL="12700" marR="5080"/>
            <a:r>
              <a:rPr lang="en-US" sz="1500" kern="0" spc="-80" dirty="0">
                <a:solidFill>
                  <a:schemeClr val="accent6"/>
                </a:solidFill>
              </a:rPr>
              <a:t>AuthN (authentication) and </a:t>
            </a:r>
            <a:r>
              <a:rPr lang="en-US" sz="1500" kern="0" spc="-80" dirty="0" err="1">
                <a:solidFill>
                  <a:schemeClr val="accent6"/>
                </a:solidFill>
              </a:rPr>
              <a:t>AuthZ</a:t>
            </a:r>
            <a:r>
              <a:rPr lang="en-US" sz="1500" kern="0" spc="-80" dirty="0">
                <a:solidFill>
                  <a:schemeClr val="accent6"/>
                </a:solidFill>
              </a:rPr>
              <a:t> (authorization) should be separated from their respective providers to enhance security, simplify development, and promote adaptability. Separation creates a "separation of concerns," reducing the risk that a compromise in one area will impact the other and allowing specialized tools to be used for each distinct function, leading to a more robust and scalable identity and access management (IAM) system.</a:t>
            </a:r>
            <a:br>
              <a:rPr lang="en-US" sz="1500" kern="0" spc="-80" dirty="0">
                <a:solidFill>
                  <a:schemeClr val="accent6"/>
                </a:solidFill>
              </a:rPr>
            </a:br>
            <a:r>
              <a:rPr lang="en-US" sz="1500" kern="0" spc="-80" dirty="0">
                <a:solidFill>
                  <a:schemeClr val="accent2"/>
                </a:solidFill>
              </a:rPr>
              <a:t>Security Benefits.</a:t>
            </a:r>
            <a:br>
              <a:rPr lang="en-US" sz="1500" kern="0" spc="-80" dirty="0">
                <a:solidFill>
                  <a:schemeClr val="accent6"/>
                </a:solidFill>
              </a:rPr>
            </a:br>
            <a:r>
              <a:rPr lang="en-US" sz="1500" kern="0" spc="-80" dirty="0">
                <a:solidFill>
                  <a:schemeClr val="accent2"/>
                </a:solidFill>
              </a:rPr>
              <a:t>Reduced Risk of Compromise:</a:t>
            </a:r>
            <a:r>
              <a:rPr lang="en-US" sz="1500" kern="0" spc="-80" dirty="0">
                <a:solidFill>
                  <a:schemeClr val="accent6"/>
                </a:solidFill>
              </a:rPr>
              <a:t> By separating AuthN and </a:t>
            </a:r>
            <a:r>
              <a:rPr lang="en-US" sz="1500" kern="0" spc="-80" dirty="0" err="1">
                <a:solidFill>
                  <a:schemeClr val="accent6"/>
                </a:solidFill>
              </a:rPr>
              <a:t>AuthZ</a:t>
            </a:r>
            <a:r>
              <a:rPr lang="en-US" sz="1500" kern="0" spc="-80" dirty="0">
                <a:solidFill>
                  <a:schemeClr val="accent6"/>
                </a:solidFill>
              </a:rPr>
              <a:t>, a security breach in one system is less likely to compromise the other. If a single provider handles both, an attacker who gains access to it could control both identity verification and what the user can do.</a:t>
            </a:r>
            <a:br>
              <a:rPr lang="en-US" sz="1500" kern="0" spc="-80" dirty="0">
                <a:solidFill>
                  <a:schemeClr val="accent6"/>
                </a:solidFill>
              </a:rPr>
            </a:br>
            <a:r>
              <a:rPr lang="en-US" sz="1500" kern="0" spc="-80" dirty="0">
                <a:solidFill>
                  <a:schemeClr val="accent2"/>
                </a:solidFill>
              </a:rPr>
              <a:t>Improved Posture:</a:t>
            </a:r>
            <a:r>
              <a:rPr lang="en-US" sz="1500" kern="0" spc="-80" dirty="0">
                <a:solidFill>
                  <a:schemeClr val="accent6"/>
                </a:solidFill>
              </a:rPr>
              <a:t> A dedicated </a:t>
            </a:r>
            <a:r>
              <a:rPr lang="en-US" sz="1500" kern="0" spc="-80" dirty="0" err="1">
                <a:solidFill>
                  <a:schemeClr val="accent6"/>
                </a:solidFill>
              </a:rPr>
              <a:t>AuthZ</a:t>
            </a:r>
            <a:r>
              <a:rPr lang="en-US" sz="1500" kern="0" spc="-80" dirty="0">
                <a:solidFill>
                  <a:schemeClr val="accent6"/>
                </a:solidFill>
              </a:rPr>
              <a:t> provider or system can implement policies (like the Principle of Least Privilege) that grant only necessary permissions, minimizing the impact of any potential compromise.</a:t>
            </a:r>
            <a:br>
              <a:rPr lang="en-US" sz="1500" kern="0" spc="-80" dirty="0">
                <a:solidFill>
                  <a:schemeClr val="accent6"/>
                </a:solidFill>
              </a:rPr>
            </a:br>
            <a:r>
              <a:rPr lang="en-US" sz="1500" kern="0" spc="-80" dirty="0">
                <a:solidFill>
                  <a:schemeClr val="accent2"/>
                </a:solidFill>
              </a:rPr>
              <a:t>Development &amp; Maintenance Benefits.</a:t>
            </a:r>
            <a:br>
              <a:rPr lang="en-US" sz="1500" kern="0" spc="-80" dirty="0">
                <a:solidFill>
                  <a:schemeClr val="accent6"/>
                </a:solidFill>
              </a:rPr>
            </a:br>
            <a:r>
              <a:rPr lang="en-US" sz="1500" kern="0" spc="-80" dirty="0">
                <a:solidFill>
                  <a:schemeClr val="accent2"/>
                </a:solidFill>
              </a:rPr>
              <a:t>Simpler Codebase:</a:t>
            </a:r>
            <a:r>
              <a:rPr lang="en-US" sz="1500" kern="0" spc="-80" dirty="0">
                <a:solidFill>
                  <a:schemeClr val="accent6"/>
                </a:solidFill>
              </a:rPr>
              <a:t> Separating authentication logic from authorization logic makes the code cleaner and easier to understand, as each component has a distinct purpose.</a:t>
            </a:r>
            <a:br>
              <a:rPr lang="en-US" sz="1500" kern="0" spc="-80" dirty="0">
                <a:solidFill>
                  <a:schemeClr val="accent6"/>
                </a:solidFill>
              </a:rPr>
            </a:br>
            <a:endParaRPr lang="en-US" sz="1500" kern="0" spc="-80" dirty="0">
              <a:solidFill>
                <a:schemeClr val="accent6"/>
              </a:solidFill>
            </a:endParaRPr>
          </a:p>
        </p:txBody>
      </p:sp>
    </p:spTree>
    <p:extLst>
      <p:ext uri="{BB962C8B-B14F-4D97-AF65-F5344CB8AC3E}">
        <p14:creationId xmlns:p14="http://schemas.microsoft.com/office/powerpoint/2010/main" val="56726908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076A7-5891-8AD9-14BA-62A9BE180DD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D9BAE03-4DBC-9ADC-B85F-D6C4C648FD4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D24D99-AE13-C59E-A531-65469B86379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E70F527-8C62-5A9D-AB36-3B1D05CC67F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C3C31B5-3843-BD13-B02A-DB9690AEBCA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50D72AE-4D1F-C65D-4025-2F81BAD23B25}"/>
              </a:ext>
            </a:extLst>
          </p:cNvPr>
          <p:cNvSpPr txBox="1">
            <a:spLocks/>
          </p:cNvSpPr>
          <p:nvPr/>
        </p:nvSpPr>
        <p:spPr>
          <a:xfrm>
            <a:off x="235945" y="741802"/>
            <a:ext cx="8624937" cy="37394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Why AuthN and </a:t>
            </a:r>
            <a:r>
              <a:rPr lang="en-US" sz="2400" kern="0" spc="-80" dirty="0" err="1">
                <a:solidFill>
                  <a:schemeClr val="accent2"/>
                </a:solidFill>
              </a:rPr>
              <a:t>AuthZ</a:t>
            </a:r>
            <a:r>
              <a:rPr lang="en-US" sz="2400" kern="0" spc="-80" dirty="0">
                <a:solidFill>
                  <a:schemeClr val="accent2"/>
                </a:solidFill>
              </a:rPr>
              <a:t> Should be separated?</a:t>
            </a:r>
          </a:p>
          <a:p>
            <a:pPr marL="12700" marR="5080"/>
            <a:r>
              <a:rPr lang="en-US" sz="1500" kern="0" spc="-80" dirty="0">
                <a:solidFill>
                  <a:schemeClr val="accent2"/>
                </a:solidFill>
              </a:rPr>
              <a:t>Increased Agility:</a:t>
            </a:r>
            <a:r>
              <a:rPr lang="en-US" sz="1500" kern="0" spc="-80" dirty="0">
                <a:solidFill>
                  <a:schemeClr val="accent6"/>
                </a:solidFill>
              </a:rPr>
              <a:t> Teams can update or replace the AuthN or </a:t>
            </a:r>
            <a:r>
              <a:rPr lang="en-US" sz="1500" kern="0" spc="-80" dirty="0" err="1">
                <a:solidFill>
                  <a:schemeClr val="accent6"/>
                </a:solidFill>
              </a:rPr>
              <a:t>AuthZ</a:t>
            </a:r>
            <a:r>
              <a:rPr lang="en-US" sz="1500" kern="0" spc="-80" dirty="0">
                <a:solidFill>
                  <a:schemeClr val="accent6"/>
                </a:solidFill>
              </a:rPr>
              <a:t> provider without affecting the other, making it easier to adapt to new technologies or security standards.</a:t>
            </a:r>
            <a:br>
              <a:rPr lang="en-US" sz="1500" kern="0" spc="-80" dirty="0">
                <a:solidFill>
                  <a:schemeClr val="accent6"/>
                </a:solidFill>
              </a:rPr>
            </a:br>
            <a:r>
              <a:rPr lang="en-US" sz="1500" kern="0" spc="-80" dirty="0">
                <a:solidFill>
                  <a:schemeClr val="accent2"/>
                </a:solidFill>
              </a:rPr>
              <a:t>Specialized Tooling:</a:t>
            </a:r>
            <a:r>
              <a:rPr lang="en-US" sz="1500" kern="0" spc="-80" dirty="0">
                <a:solidFill>
                  <a:schemeClr val="accent6"/>
                </a:solidFill>
              </a:rPr>
              <a:t> You can select the best tools for each function. For example, a specialized Identity Provider (IdP) can handle AuthN, while a dedicated Authorization as a Service (</a:t>
            </a:r>
            <a:r>
              <a:rPr lang="en-US" sz="1500" kern="0" spc="-80" dirty="0" err="1">
                <a:solidFill>
                  <a:schemeClr val="accent6"/>
                </a:solidFill>
              </a:rPr>
              <a:t>AaaS</a:t>
            </a:r>
            <a:r>
              <a:rPr lang="en-US" sz="1500" kern="0" spc="-80" dirty="0">
                <a:solidFill>
                  <a:schemeClr val="accent6"/>
                </a:solidFill>
              </a:rPr>
              <a:t>) can handle </a:t>
            </a:r>
            <a:r>
              <a:rPr lang="en-US" sz="1500" kern="0" spc="-80" dirty="0" err="1">
                <a:solidFill>
                  <a:schemeClr val="accent6"/>
                </a:solidFill>
              </a:rPr>
              <a:t>AuthZ</a:t>
            </a:r>
            <a:r>
              <a:rPr lang="en-US" sz="1500" kern="0" spc="-80" dirty="0">
                <a:solidFill>
                  <a:schemeClr val="accent6"/>
                </a:solidFill>
              </a:rPr>
              <a:t>.</a:t>
            </a:r>
            <a:br>
              <a:rPr lang="en-US" sz="1500" kern="0" spc="-80" dirty="0">
                <a:solidFill>
                  <a:schemeClr val="accent6"/>
                </a:solidFill>
              </a:rPr>
            </a:br>
            <a:r>
              <a:rPr lang="en-US" sz="1500" kern="0" spc="-80" dirty="0">
                <a:solidFill>
                  <a:schemeClr val="accent2"/>
                </a:solidFill>
              </a:rPr>
              <a:t>Independent Development:</a:t>
            </a:r>
            <a:r>
              <a:rPr lang="en-US" sz="1500" kern="0" spc="-80" dirty="0">
                <a:solidFill>
                  <a:schemeClr val="accent6"/>
                </a:solidFill>
              </a:rPr>
              <a:t> Developers can work on the authentication and authorization services independently, which increases development velocity and productivity.</a:t>
            </a:r>
            <a:br>
              <a:rPr lang="en-US" sz="1500" kern="0" spc="-80" dirty="0">
                <a:solidFill>
                  <a:schemeClr val="accent6"/>
                </a:solidFill>
              </a:rPr>
            </a:br>
            <a:r>
              <a:rPr lang="en-US" sz="1500" kern="0" spc="-80" dirty="0">
                <a:solidFill>
                  <a:schemeClr val="accent2"/>
                </a:solidFill>
              </a:rPr>
              <a:t>Scalability &amp; Complexity.</a:t>
            </a:r>
            <a:br>
              <a:rPr lang="en-US" sz="1500" kern="0" spc="-80" dirty="0">
                <a:solidFill>
                  <a:schemeClr val="accent6"/>
                </a:solidFill>
              </a:rPr>
            </a:br>
            <a:r>
              <a:rPr lang="en-US" sz="1500" kern="0" spc="-80" dirty="0">
                <a:solidFill>
                  <a:schemeClr val="accent2"/>
                </a:solidFill>
              </a:rPr>
              <a:t>Better Scalability:</a:t>
            </a:r>
            <a:r>
              <a:rPr lang="en-US" sz="1500" kern="0" spc="-80" dirty="0">
                <a:solidFill>
                  <a:schemeClr val="accent6"/>
                </a:solidFill>
              </a:rPr>
              <a:t> As applications grow, having separate services for authentication and authorization allows them to scale independently to meet user and resource demands.</a:t>
            </a:r>
            <a:br>
              <a:rPr lang="en-US" sz="1500" kern="0" spc="-80" dirty="0">
                <a:solidFill>
                  <a:schemeClr val="accent6"/>
                </a:solidFill>
              </a:rPr>
            </a:br>
            <a:r>
              <a:rPr lang="en-US" sz="1500" kern="0" spc="-80" dirty="0">
                <a:solidFill>
                  <a:schemeClr val="accent2"/>
                </a:solidFill>
              </a:rPr>
              <a:t>Manageable Complexity: </a:t>
            </a:r>
            <a:r>
              <a:rPr lang="en-US" sz="1500" kern="0" spc="-80" dirty="0">
                <a:solidFill>
                  <a:schemeClr val="accent6"/>
                </a:solidFill>
              </a:rPr>
              <a:t>Splitting these "cross-cutting concerns" into their own services makes the overall system easier to manage, especially in large and complex applications or microservices architecture.</a:t>
            </a:r>
          </a:p>
        </p:txBody>
      </p:sp>
    </p:spTree>
    <p:extLst>
      <p:ext uri="{BB962C8B-B14F-4D97-AF65-F5344CB8AC3E}">
        <p14:creationId xmlns:p14="http://schemas.microsoft.com/office/powerpoint/2010/main" val="232638292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219F8-5F6A-69D6-A3B1-D7AD3198B40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3E15E28-4BD9-D28B-615C-A13E738D4EE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9824A2A-38EC-26CA-4144-FE4F1AB958F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B285468-6193-AA79-2D3E-DB4F06C8FDF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A4F145F-2A5C-E5EC-E57F-0A2D988C75B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C5925A0-3CB8-F58F-129C-0C73090C454C}"/>
              </a:ext>
            </a:extLst>
          </p:cNvPr>
          <p:cNvSpPr txBox="1">
            <a:spLocks/>
          </p:cNvSpPr>
          <p:nvPr/>
        </p:nvSpPr>
        <p:spPr>
          <a:xfrm>
            <a:off x="235945" y="741802"/>
            <a:ext cx="8624937"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t>
            </a:r>
            <a:r>
              <a:rPr lang="en-US" sz="2400" kern="0" spc="-80" dirty="0" err="1">
                <a:solidFill>
                  <a:schemeClr val="accent2"/>
                </a:solidFill>
              </a:rPr>
              <a:t>AuthZ</a:t>
            </a:r>
            <a:r>
              <a:rPr lang="en-US" sz="2400" kern="0" spc="-80" dirty="0">
                <a:solidFill>
                  <a:schemeClr val="accent2"/>
                </a:solidFill>
              </a:rPr>
              <a:t> Providers - OPA vs </a:t>
            </a:r>
            <a:r>
              <a:rPr lang="en-US" sz="2400" kern="0" spc="-80" dirty="0" err="1">
                <a:solidFill>
                  <a:schemeClr val="accent2"/>
                </a:solidFill>
              </a:rPr>
              <a:t>OpenFGA</a:t>
            </a:r>
            <a:endParaRPr lang="en-US" sz="2400" kern="0" spc="-80" dirty="0">
              <a:solidFill>
                <a:schemeClr val="accent2"/>
              </a:solidFill>
            </a:endParaRPr>
          </a:p>
          <a:p>
            <a:pPr marL="12700" marR="5080"/>
            <a:r>
              <a:rPr lang="en-US" sz="1500" kern="0" spc="-80" dirty="0">
                <a:solidFill>
                  <a:schemeClr val="accent6"/>
                </a:solidFill>
              </a:rPr>
              <a:t>OPA is a flexible, policy-driven engine suitable for attribute-based (ABAC) or role-based (RBAC) access control, while </a:t>
            </a:r>
            <a:r>
              <a:rPr lang="en-US" sz="1500" kern="0" spc="-80" dirty="0" err="1">
                <a:solidFill>
                  <a:schemeClr val="accent6"/>
                </a:solidFill>
              </a:rPr>
              <a:t>OpenFGA</a:t>
            </a:r>
            <a:r>
              <a:rPr lang="en-US" sz="1500" kern="0" spc="-80" dirty="0">
                <a:solidFill>
                  <a:schemeClr val="accent6"/>
                </a:solidFill>
              </a:rPr>
              <a:t> is a data-driven, relationship-based authorization engine inspired by Google Zanzibar. OPA provides a universal policy language (Rego) for complex decisions and contextual awareness, whereas </a:t>
            </a:r>
            <a:r>
              <a:rPr lang="en-US" sz="1500" kern="0" spc="-80" dirty="0" err="1">
                <a:solidFill>
                  <a:schemeClr val="accent6"/>
                </a:solidFill>
              </a:rPr>
              <a:t>OpenFGA</a:t>
            </a:r>
            <a:r>
              <a:rPr lang="en-US" sz="1500" kern="0" spc="-80" dirty="0">
                <a:solidFill>
                  <a:schemeClr val="accent6"/>
                </a:solidFill>
              </a:rPr>
              <a:t> excels at modeling complex relationships like inheritance and containment for collaborative applications. </a:t>
            </a:r>
            <a:r>
              <a:rPr lang="en-US" sz="1500" kern="0" spc="-80" dirty="0" err="1">
                <a:solidFill>
                  <a:schemeClr val="accent6"/>
                </a:solidFill>
              </a:rPr>
              <a:t>OpenFGA</a:t>
            </a:r>
            <a:r>
              <a:rPr lang="en-US" sz="1500" kern="0" spc="-80" dirty="0">
                <a:solidFill>
                  <a:schemeClr val="accent6"/>
                </a:solidFill>
              </a:rPr>
              <a:t> offers built-in reverse queries, faster performance for relationship checks, and a simpler model for relationship-based scenarios, while OPA has a more mature ecosystem but can be more complex to configure.</a:t>
            </a:r>
            <a:br>
              <a:rPr lang="en-US" sz="1500" kern="0" spc="-80" dirty="0">
                <a:solidFill>
                  <a:schemeClr val="accent6"/>
                </a:solidFill>
              </a:rPr>
            </a:br>
            <a:r>
              <a:rPr lang="en-US" sz="1500" kern="0" spc="-80" dirty="0">
                <a:solidFill>
                  <a:schemeClr val="accent2"/>
                </a:solidFill>
              </a:rPr>
              <a:t>Open Policy Agent (OPA).</a:t>
            </a:r>
            <a:br>
              <a:rPr lang="en-US" sz="1500" kern="0" spc="-80" dirty="0">
                <a:solidFill>
                  <a:schemeClr val="accent6"/>
                </a:solidFill>
              </a:rPr>
            </a:br>
            <a:r>
              <a:rPr lang="en-US" sz="1500" kern="0" spc="-80" dirty="0">
                <a:solidFill>
                  <a:schemeClr val="accent2"/>
                </a:solidFill>
              </a:rPr>
              <a:t>Approach:</a:t>
            </a:r>
            <a:r>
              <a:rPr lang="en-US" sz="1500" kern="0" spc="-80" dirty="0">
                <a:solidFill>
                  <a:schemeClr val="accent6"/>
                </a:solidFill>
              </a:rPr>
              <a:t> Policy-driven, supporting Attribute-Based Access Control (ABAC) and Role-Based Access Control (RBAC).</a:t>
            </a:r>
            <a:br>
              <a:rPr lang="en-US" sz="1500" kern="0" spc="-80" dirty="0">
                <a:solidFill>
                  <a:schemeClr val="accent6"/>
                </a:solidFill>
              </a:rPr>
            </a:br>
            <a:r>
              <a:rPr lang="en-US" sz="1500" kern="0" spc="-80" dirty="0">
                <a:solidFill>
                  <a:schemeClr val="accent2"/>
                </a:solidFill>
              </a:rPr>
              <a:t>Strengths:</a:t>
            </a:r>
            <a:br>
              <a:rPr lang="en-US" sz="1500" kern="0" spc="-80" dirty="0">
                <a:solidFill>
                  <a:schemeClr val="accent6"/>
                </a:solidFill>
              </a:rPr>
            </a:br>
            <a:r>
              <a:rPr lang="en-US" sz="1500" kern="0" spc="-80" dirty="0">
                <a:solidFill>
                  <a:schemeClr val="accent2"/>
                </a:solidFill>
              </a:rPr>
              <a:t>Policy-as-Code:</a:t>
            </a:r>
            <a:r>
              <a:rPr lang="en-US" sz="1500" kern="0" spc="-80" dirty="0">
                <a:solidFill>
                  <a:schemeClr val="accent6"/>
                </a:solidFill>
              </a:rPr>
              <a:t> Uses the Rego policy language for flexible and auditable access control policies.</a:t>
            </a:r>
            <a:br>
              <a:rPr lang="en-US" sz="1500" kern="0" spc="-80" dirty="0">
                <a:solidFill>
                  <a:schemeClr val="accent6"/>
                </a:solidFill>
              </a:rPr>
            </a:br>
            <a:r>
              <a:rPr lang="en-US" sz="1500" kern="0" spc="-80" dirty="0">
                <a:solidFill>
                  <a:schemeClr val="accent2"/>
                </a:solidFill>
              </a:rPr>
              <a:t>Contextual Awareness:</a:t>
            </a:r>
            <a:r>
              <a:rPr lang="en-US" sz="1500" kern="0" spc="-80" dirty="0">
                <a:solidFill>
                  <a:schemeClr val="accent6"/>
                </a:solidFill>
              </a:rPr>
              <a:t> Policies can consider user, resource, and environmental attributes for decisions.</a:t>
            </a:r>
            <a:br>
              <a:rPr lang="en-US" sz="1500" kern="0" spc="-80" dirty="0">
                <a:solidFill>
                  <a:schemeClr val="accent6"/>
                </a:solidFill>
              </a:rPr>
            </a:br>
            <a:r>
              <a:rPr lang="en-US" sz="1500" kern="0" spc="-80" dirty="0">
                <a:solidFill>
                  <a:schemeClr val="accent2"/>
                </a:solidFill>
              </a:rPr>
              <a:t>Decentralized Management:</a:t>
            </a:r>
            <a:r>
              <a:rPr lang="en-US" sz="1500" kern="0" spc="-80" dirty="0">
                <a:solidFill>
                  <a:schemeClr val="accent6"/>
                </a:solidFill>
              </a:rPr>
              <a:t> Teams can manage policies independently.</a:t>
            </a:r>
            <a:br>
              <a:rPr lang="en-US" sz="1500" kern="0" spc="-80" dirty="0">
                <a:solidFill>
                  <a:schemeClr val="accent6"/>
                </a:solidFill>
              </a:rPr>
            </a:br>
            <a:r>
              <a:rPr lang="en-US" sz="1500" kern="0" spc="-80" dirty="0">
                <a:solidFill>
                  <a:schemeClr val="accent2"/>
                </a:solidFill>
              </a:rPr>
              <a:t>Best For:</a:t>
            </a:r>
            <a:r>
              <a:rPr lang="en-US" sz="1500" kern="0" spc="-80" dirty="0">
                <a:solidFill>
                  <a:schemeClr val="accent6"/>
                </a:solidFill>
              </a:rPr>
              <a:t> Scenarios requiring flexible, policy-driven control and rich contextual information for authorization decisions.</a:t>
            </a:r>
            <a:br>
              <a:rPr lang="en-US" sz="1500" kern="0" spc="-80" dirty="0">
                <a:solidFill>
                  <a:schemeClr val="accent6"/>
                </a:solidFill>
              </a:rPr>
            </a:br>
            <a:r>
              <a:rPr lang="en-US" sz="1500" kern="0" spc="-80" dirty="0">
                <a:solidFill>
                  <a:schemeClr val="accent2"/>
                </a:solidFill>
              </a:rPr>
              <a:t>Considerations:</a:t>
            </a:r>
            <a:r>
              <a:rPr lang="en-US" sz="1500" kern="0" spc="-80" dirty="0">
                <a:solidFill>
                  <a:schemeClr val="accent6"/>
                </a:solidFill>
              </a:rPr>
              <a:t> Can be complex to configure and may face scalability challenges in high-demand environments.</a:t>
            </a:r>
            <a:br>
              <a:rPr lang="en-US" sz="1500" kern="0" spc="-80" dirty="0">
                <a:solidFill>
                  <a:schemeClr val="accent6"/>
                </a:solidFill>
              </a:rPr>
            </a:br>
            <a:endParaRPr lang="en-US" sz="1500" kern="0" spc="-80" dirty="0">
              <a:solidFill>
                <a:schemeClr val="accent6"/>
              </a:solidFill>
            </a:endParaRPr>
          </a:p>
        </p:txBody>
      </p:sp>
    </p:spTree>
    <p:extLst>
      <p:ext uri="{BB962C8B-B14F-4D97-AF65-F5344CB8AC3E}">
        <p14:creationId xmlns:p14="http://schemas.microsoft.com/office/powerpoint/2010/main" val="90564373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F2F1F-30E4-A054-27E4-E3622C8225A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3B6AB5E-AF22-3E10-576C-36F7DE2564B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DC7D491-D46C-3008-0E29-CF77181684E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FD453FB-9E75-A4A7-B974-E943F6559E8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5E11E8C-C93F-7276-567B-4DFE98F45F7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DA4D985-31EC-4165-EF3A-7775CD2F6F13}"/>
              </a:ext>
            </a:extLst>
          </p:cNvPr>
          <p:cNvSpPr txBox="1">
            <a:spLocks/>
          </p:cNvSpPr>
          <p:nvPr/>
        </p:nvSpPr>
        <p:spPr>
          <a:xfrm>
            <a:off x="235945" y="741802"/>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t>
            </a:r>
            <a:r>
              <a:rPr lang="en-US" sz="2400" kern="0" spc="-80" dirty="0" err="1">
                <a:solidFill>
                  <a:schemeClr val="accent2"/>
                </a:solidFill>
              </a:rPr>
              <a:t>AuthZ</a:t>
            </a:r>
            <a:r>
              <a:rPr lang="en-US" sz="2400" kern="0" spc="-80" dirty="0">
                <a:solidFill>
                  <a:schemeClr val="accent2"/>
                </a:solidFill>
              </a:rPr>
              <a:t> Providers - OPA vs </a:t>
            </a:r>
            <a:r>
              <a:rPr lang="en-US" sz="2400" kern="0" spc="-80" dirty="0" err="1">
                <a:solidFill>
                  <a:schemeClr val="accent2"/>
                </a:solidFill>
              </a:rPr>
              <a:t>OpenFGA</a:t>
            </a:r>
            <a:endParaRPr lang="en-US" sz="2400" kern="0" spc="-80" dirty="0">
              <a:solidFill>
                <a:schemeClr val="accent2"/>
              </a:solidFill>
            </a:endParaRPr>
          </a:p>
          <a:p>
            <a:pPr marL="12700" marR="5080"/>
            <a:r>
              <a:rPr lang="en-US" sz="1400" kern="0" spc="-80" dirty="0" err="1">
                <a:solidFill>
                  <a:schemeClr val="accent2"/>
                </a:solidFill>
              </a:rPr>
              <a:t>OpenFGA</a:t>
            </a:r>
            <a:r>
              <a:rPr lang="en-US" sz="1400" kern="0" spc="-80" dirty="0">
                <a:solidFill>
                  <a:schemeClr val="accent2"/>
                </a:solidFill>
              </a:rPr>
              <a:t> (Google Zanzibar).</a:t>
            </a:r>
            <a:br>
              <a:rPr lang="en-US" sz="1400" kern="0" spc="-80" dirty="0">
                <a:solidFill>
                  <a:schemeClr val="accent6"/>
                </a:solidFill>
              </a:rPr>
            </a:br>
            <a:r>
              <a:rPr lang="en-US" sz="1400" kern="0" spc="-80" dirty="0">
                <a:solidFill>
                  <a:schemeClr val="accent2"/>
                </a:solidFill>
              </a:rPr>
              <a:t>Approach: </a:t>
            </a:r>
            <a:r>
              <a:rPr lang="en-US" sz="1400" kern="0" spc="-80" dirty="0">
                <a:solidFill>
                  <a:schemeClr val="accent6"/>
                </a:solidFill>
              </a:rPr>
              <a:t>Data-driven, focusing on Relationship-Based Access Control (ReBAC). Strengths:</a:t>
            </a:r>
            <a:br>
              <a:rPr lang="en-US" sz="1400" kern="0" spc="-80" dirty="0">
                <a:solidFill>
                  <a:schemeClr val="accent6"/>
                </a:solidFill>
              </a:rPr>
            </a:br>
            <a:r>
              <a:rPr lang="en-US" sz="1400" kern="0" spc="-80" dirty="0">
                <a:solidFill>
                  <a:schemeClr val="accent2"/>
                </a:solidFill>
              </a:rPr>
              <a:t>Native Relationship Modeling:</a:t>
            </a:r>
            <a:r>
              <a:rPr lang="en-US" sz="1400" kern="0" spc="-80" dirty="0">
                <a:solidFill>
                  <a:schemeClr val="accent6"/>
                </a:solidFill>
              </a:rPr>
              <a:t> Built-in support for complex relationships like hierarchies and containment.</a:t>
            </a:r>
            <a:br>
              <a:rPr lang="en-US" sz="1400" kern="0" spc="-80" dirty="0">
                <a:solidFill>
                  <a:schemeClr val="accent6"/>
                </a:solidFill>
              </a:rPr>
            </a:br>
            <a:r>
              <a:rPr lang="en-US" sz="1400" kern="0" spc="-80" dirty="0">
                <a:solidFill>
                  <a:schemeClr val="accent2"/>
                </a:solidFill>
              </a:rPr>
              <a:t>Reverse Queries:</a:t>
            </a:r>
            <a:r>
              <a:rPr lang="en-US" sz="1400" kern="0" spc="-80" dirty="0">
                <a:solidFill>
                  <a:schemeClr val="accent6"/>
                </a:solidFill>
              </a:rPr>
              <a:t> Easily answer questions like "who has access".</a:t>
            </a:r>
            <a:br>
              <a:rPr lang="en-US" sz="1400" kern="0" spc="-80" dirty="0">
                <a:solidFill>
                  <a:schemeClr val="accent6"/>
                </a:solidFill>
              </a:rPr>
            </a:br>
            <a:r>
              <a:rPr lang="en-US" sz="1400" kern="0" spc="-80" dirty="0">
                <a:solidFill>
                  <a:schemeClr val="accent2"/>
                </a:solidFill>
              </a:rPr>
              <a:t>Intuitive Model: </a:t>
            </a:r>
            <a:r>
              <a:rPr lang="en-US" sz="1400" kern="0" spc="-80" dirty="0">
                <a:solidFill>
                  <a:schemeClr val="accent6"/>
                </a:solidFill>
              </a:rPr>
              <a:t>Simpler for relationship-heavy collaborative applications.</a:t>
            </a:r>
            <a:br>
              <a:rPr lang="en-US" sz="1400" kern="0" spc="-80" dirty="0">
                <a:solidFill>
                  <a:schemeClr val="accent6"/>
                </a:solidFill>
              </a:rPr>
            </a:br>
            <a:r>
              <a:rPr lang="en-US" sz="1400" kern="0" spc="-80" dirty="0">
                <a:solidFill>
                  <a:schemeClr val="accent2"/>
                </a:solidFill>
              </a:rPr>
              <a:t>Best For:</a:t>
            </a:r>
            <a:r>
              <a:rPr lang="en-US" sz="1400" kern="0" spc="-80" dirty="0">
                <a:solidFill>
                  <a:schemeClr val="accent6"/>
                </a:solidFill>
              </a:rPr>
              <a:t> Systems that rely heavily on complex relationships between users and resources, such as collaborative platforms. Considerations: Less suitable for use cases focused on attributes (ABAC) or simple RBAC. The ecosystem is younger than OPA's. Key Differences.</a:t>
            </a:r>
            <a:br>
              <a:rPr lang="en-US" sz="1400" kern="0" spc="-80" dirty="0">
                <a:solidFill>
                  <a:schemeClr val="accent6"/>
                </a:solidFill>
              </a:rPr>
            </a:br>
            <a:r>
              <a:rPr lang="en-US" sz="1400" kern="0" spc="-80" dirty="0">
                <a:solidFill>
                  <a:schemeClr val="accent2"/>
                </a:solidFill>
              </a:rPr>
              <a:t>Focus:</a:t>
            </a:r>
            <a:r>
              <a:rPr lang="en-US" sz="1400" kern="0" spc="-80" dirty="0">
                <a:solidFill>
                  <a:schemeClr val="accent6"/>
                </a:solidFill>
              </a:rPr>
              <a:t> OPA is a policy engine for general authorization; </a:t>
            </a:r>
            <a:r>
              <a:rPr lang="en-US" sz="1400" kern="0" spc="-80" dirty="0" err="1">
                <a:solidFill>
                  <a:schemeClr val="accent6"/>
                </a:solidFill>
              </a:rPr>
              <a:t>OpenFGA</a:t>
            </a:r>
            <a:r>
              <a:rPr lang="en-US" sz="1400" kern="0" spc="-80" dirty="0">
                <a:solidFill>
                  <a:schemeClr val="accent6"/>
                </a:solidFill>
              </a:rPr>
              <a:t> is a specialized authorization platform for relationship modeling.</a:t>
            </a:r>
            <a:br>
              <a:rPr lang="en-US" sz="1400" kern="0" spc="-80" dirty="0">
                <a:solidFill>
                  <a:schemeClr val="accent6"/>
                </a:solidFill>
              </a:rPr>
            </a:br>
            <a:r>
              <a:rPr lang="en-US" sz="1400" kern="0" spc="-80" dirty="0">
                <a:solidFill>
                  <a:schemeClr val="accent2"/>
                </a:solidFill>
              </a:rPr>
              <a:t>Data Model:</a:t>
            </a:r>
            <a:r>
              <a:rPr lang="en-US" sz="1400" kern="0" spc="-80" dirty="0">
                <a:solidFill>
                  <a:schemeClr val="accent6"/>
                </a:solidFill>
              </a:rPr>
              <a:t> OPA is flexible, using input data with policies; </a:t>
            </a:r>
            <a:r>
              <a:rPr lang="en-US" sz="1400" kern="0" spc="-80" dirty="0" err="1">
                <a:solidFill>
                  <a:schemeClr val="accent6"/>
                </a:solidFill>
              </a:rPr>
              <a:t>OpenFGA</a:t>
            </a:r>
            <a:r>
              <a:rPr lang="en-US" sz="1400" kern="0" spc="-80" dirty="0">
                <a:solidFill>
                  <a:schemeClr val="accent6"/>
                </a:solidFill>
              </a:rPr>
              <a:t> uses a predefined data model designed for relationships.</a:t>
            </a:r>
            <a:br>
              <a:rPr lang="en-US" sz="1400" kern="0" spc="-80" dirty="0">
                <a:solidFill>
                  <a:schemeClr val="accent6"/>
                </a:solidFill>
              </a:rPr>
            </a:br>
            <a:r>
              <a:rPr lang="en-US" sz="1400" kern="0" spc="-80" dirty="0">
                <a:solidFill>
                  <a:schemeClr val="accent2"/>
                </a:solidFill>
              </a:rPr>
              <a:t>Use Case Suitability: </a:t>
            </a:r>
            <a:r>
              <a:rPr lang="en-US" sz="1400" kern="0" spc="-80" dirty="0">
                <a:solidFill>
                  <a:schemeClr val="accent6"/>
                </a:solidFill>
              </a:rPr>
              <a:t>OPA is better for context-aware, policy-driven decisions. </a:t>
            </a:r>
            <a:r>
              <a:rPr lang="en-US" sz="1400" kern="0" spc="-80" dirty="0" err="1">
                <a:solidFill>
                  <a:schemeClr val="accent6"/>
                </a:solidFill>
              </a:rPr>
              <a:t>OpenFGA</a:t>
            </a:r>
            <a:r>
              <a:rPr lang="en-US" sz="1400" kern="0" spc="-80" dirty="0">
                <a:solidFill>
                  <a:schemeClr val="accent6"/>
                </a:solidFill>
              </a:rPr>
              <a:t> is superior for complex, graph-like relationship data.</a:t>
            </a:r>
          </a:p>
          <a:p>
            <a:pPr marL="12700" marR="5080"/>
            <a:r>
              <a:rPr lang="en-US" sz="1400" kern="0" spc="-80" dirty="0">
                <a:solidFill>
                  <a:schemeClr val="accent2"/>
                </a:solidFill>
              </a:rPr>
              <a:t>For Further Exploration</a:t>
            </a:r>
          </a:p>
          <a:p>
            <a:pPr marL="12700" marR="5080"/>
            <a:r>
              <a:rPr lang="en-US" sz="1100" dirty="0">
                <a:hlinkClick r:id="rId7"/>
              </a:rPr>
              <a:t>RBAC, ABAC, and ReBAC - Differences and Scenarios</a:t>
            </a:r>
            <a:endParaRPr lang="en-US" sz="1100" kern="0" spc="-80" dirty="0">
              <a:solidFill>
                <a:schemeClr val="accent2"/>
              </a:solidFill>
            </a:endParaRPr>
          </a:p>
          <a:p>
            <a:pPr marL="12700" marR="5080"/>
            <a:r>
              <a:rPr lang="en-US" sz="1100" dirty="0">
                <a:hlinkClick r:id="rId8"/>
              </a:rPr>
              <a:t>Policy Language</a:t>
            </a:r>
            <a:endParaRPr lang="en-US" sz="1100" dirty="0"/>
          </a:p>
          <a:p>
            <a:pPr marL="12700" marR="5080"/>
            <a:r>
              <a:rPr lang="en-US" sz="1100" dirty="0">
                <a:hlinkClick r:id="rId9"/>
              </a:rPr>
              <a:t>OPA-</a:t>
            </a:r>
            <a:r>
              <a:rPr lang="en-US" sz="1100" dirty="0" err="1">
                <a:hlinkClick r:id="rId9"/>
              </a:rPr>
              <a:t>Csharp</a:t>
            </a:r>
            <a:endParaRPr lang="en-US" sz="1100" dirty="0"/>
          </a:p>
          <a:p>
            <a:pPr marL="12700" marR="5080"/>
            <a:r>
              <a:rPr lang="en-IN" sz="1100" dirty="0" err="1">
                <a:hlinkClick r:id="rId10"/>
              </a:rPr>
              <a:t>OpenFGA</a:t>
            </a:r>
            <a:r>
              <a:rPr lang="en-IN" sz="1100" dirty="0">
                <a:hlinkClick r:id="rId10"/>
              </a:rPr>
              <a:t> SDK for .NET</a:t>
            </a:r>
            <a:endParaRPr lang="en-US" sz="1100" dirty="0"/>
          </a:p>
          <a:p>
            <a:pPr marL="12700" marR="5080"/>
            <a:r>
              <a:rPr lang="en-US" sz="1100" dirty="0">
                <a:hlinkClick r:id="rId11"/>
              </a:rPr>
              <a:t>Bring your own OPA server | Solo.io documentation</a:t>
            </a:r>
            <a:endParaRPr lang="en-US" sz="1100" dirty="0"/>
          </a:p>
          <a:p>
            <a:pPr marL="12700" marR="5080"/>
            <a:r>
              <a:rPr lang="en-IN" sz="1100" dirty="0">
                <a:hlinkClick r:id="rId12"/>
              </a:rPr>
              <a:t>Dynamic Authorization - Phil Windley</a:t>
            </a:r>
            <a:endParaRPr lang="en-US" sz="1100" kern="0" spc="-80" dirty="0">
              <a:solidFill>
                <a:schemeClr val="accent2"/>
              </a:solidFill>
            </a:endParaRPr>
          </a:p>
        </p:txBody>
      </p:sp>
    </p:spTree>
    <p:extLst>
      <p:ext uri="{BB962C8B-B14F-4D97-AF65-F5344CB8AC3E}">
        <p14:creationId xmlns:p14="http://schemas.microsoft.com/office/powerpoint/2010/main" val="295636059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1895C-2A26-6D56-477C-F96C09FD1DB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DEF84C1-FBFF-604A-393C-647C0B64A5A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7F9A872-459A-DC5E-ED7F-65445831423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2806F6A-5979-23B8-CB55-F1C991A6BE2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72FA086-D42A-8D1E-FD08-4A4960C62AF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26AEABE-4142-4B6E-A724-E3EBCC121E6C}"/>
              </a:ext>
            </a:extLst>
          </p:cNvPr>
          <p:cNvSpPr txBox="1">
            <a:spLocks/>
          </p:cNvSpPr>
          <p:nvPr/>
        </p:nvSpPr>
        <p:spPr>
          <a:xfrm>
            <a:off x="235945" y="741802"/>
            <a:ext cx="8624937"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a:t>
            </a:r>
            <a:r>
              <a:rPr lang="en-US" sz="2400" kern="0" spc="-80" dirty="0" err="1">
                <a:solidFill>
                  <a:schemeClr val="accent2"/>
                </a:solidFill>
              </a:rPr>
              <a:t>AuthZ</a:t>
            </a:r>
            <a:r>
              <a:rPr lang="en-US" sz="2400" kern="0" spc="-80" dirty="0">
                <a:solidFill>
                  <a:schemeClr val="accent2"/>
                </a:solidFill>
              </a:rPr>
              <a:t> Providers - TOPAZ</a:t>
            </a:r>
          </a:p>
          <a:p>
            <a:r>
              <a:rPr lang="en-US" sz="1200" kern="0" spc="-80" dirty="0">
                <a:solidFill>
                  <a:schemeClr val="accent6"/>
                </a:solidFill>
              </a:rPr>
              <a:t>Topaz implements a hybrid authorization approach that combines elements of both Open Policy Agent (OPA) and the Google Zanzibar data model, which </a:t>
            </a:r>
            <a:r>
              <a:rPr lang="en-US" sz="1200" kern="0" spc="-80" dirty="0" err="1">
                <a:solidFill>
                  <a:schemeClr val="accent6"/>
                </a:solidFill>
              </a:rPr>
              <a:t>OpenFGA</a:t>
            </a:r>
            <a:r>
              <a:rPr lang="en-US" sz="1200" kern="0" spc="-80" dirty="0">
                <a:solidFill>
                  <a:schemeClr val="accent6"/>
                </a:solidFill>
              </a:rPr>
              <a:t> is also based on.</a:t>
            </a:r>
          </a:p>
          <a:p>
            <a:r>
              <a:rPr lang="en-US" sz="1200" kern="0" spc="-80" dirty="0">
                <a:solidFill>
                  <a:schemeClr val="accent6"/>
                </a:solidFill>
              </a:rPr>
              <a:t>OPA Integration:</a:t>
            </a:r>
            <a:br>
              <a:rPr lang="en-US" sz="1200" kern="0" spc="-80" dirty="0">
                <a:solidFill>
                  <a:schemeClr val="accent6"/>
                </a:solidFill>
              </a:rPr>
            </a:br>
            <a:r>
              <a:rPr lang="en-US" sz="1200" kern="0" spc="-80" dirty="0">
                <a:solidFill>
                  <a:schemeClr val="accent6"/>
                </a:solidFill>
              </a:rPr>
              <a:t>Topaz uses the OPA decision engine as an embedded library. This means it leverages OPA's core capabilities for policy evaluation, including full support for the Rego policy language.</a:t>
            </a:r>
            <a:br>
              <a:rPr lang="en-US" sz="1200" kern="0" spc="-80" dirty="0">
                <a:solidFill>
                  <a:schemeClr val="accent6"/>
                </a:solidFill>
              </a:rPr>
            </a:br>
            <a:r>
              <a:rPr lang="en-US" sz="1200" kern="0" spc="-80" dirty="0">
                <a:solidFill>
                  <a:schemeClr val="accent6"/>
                </a:solidFill>
              </a:rPr>
              <a:t>This allows Topaz to handle Attribute-Based Access Control (ABAC) scenarios and other policy-driven authorization logic defined in Rego.</a:t>
            </a:r>
            <a:br>
              <a:rPr lang="en-US" sz="1200" kern="0" spc="-80" dirty="0">
                <a:solidFill>
                  <a:schemeClr val="accent6"/>
                </a:solidFill>
              </a:rPr>
            </a:br>
            <a:r>
              <a:rPr lang="en-US" sz="1200" kern="0" spc="-80" dirty="0">
                <a:solidFill>
                  <a:schemeClr val="accent6"/>
                </a:solidFill>
              </a:rPr>
              <a:t>Topaz also benefits from OPA's standard query protocol, policy language, and decision log format.</a:t>
            </a:r>
          </a:p>
          <a:p>
            <a:r>
              <a:rPr lang="en-US" sz="1200" kern="0" spc="-80" dirty="0">
                <a:solidFill>
                  <a:schemeClr val="accent6"/>
                </a:solidFill>
              </a:rPr>
              <a:t>Zanzibar-Style Data Store (similar to </a:t>
            </a:r>
            <a:r>
              <a:rPr lang="en-US" sz="1200" kern="0" spc="-80" dirty="0" err="1">
                <a:solidFill>
                  <a:schemeClr val="accent6"/>
                </a:solidFill>
              </a:rPr>
              <a:t>OpenFGA</a:t>
            </a:r>
            <a:r>
              <a:rPr lang="en-US" sz="1200" kern="0" spc="-80" dirty="0">
                <a:solidFill>
                  <a:schemeClr val="accent6"/>
                </a:solidFill>
              </a:rPr>
              <a:t>):</a:t>
            </a:r>
            <a:br>
              <a:rPr lang="en-US" sz="1200" kern="0" spc="-80" dirty="0">
                <a:solidFill>
                  <a:schemeClr val="accent6"/>
                </a:solidFill>
              </a:rPr>
            </a:br>
            <a:r>
              <a:rPr lang="en-US" sz="1200" kern="0" spc="-80" dirty="0">
                <a:solidFill>
                  <a:schemeClr val="accent6"/>
                </a:solidFill>
              </a:rPr>
              <a:t>Topaz includes an embedded database that implements a Zanzibar-style directory. This directory stores subjects, relationships, and objects in a graph-like structure. This enables Topaz to handle Relationship-Based Access Control (ReBAC), where authorization decisions are based on the relationships between users, resources, and other entities.</a:t>
            </a:r>
            <a:br>
              <a:rPr lang="en-US" sz="1200" kern="0" spc="-80" dirty="0">
                <a:solidFill>
                  <a:schemeClr val="accent6"/>
                </a:solidFill>
              </a:rPr>
            </a:br>
            <a:r>
              <a:rPr lang="en-US" sz="1200" kern="0" spc="-80" dirty="0">
                <a:solidFill>
                  <a:schemeClr val="accent6"/>
                </a:solidFill>
              </a:rPr>
              <a:t>Topaz provides built-in functions, such as </a:t>
            </a:r>
            <a:r>
              <a:rPr lang="en-US" sz="1200" kern="0" spc="-80" dirty="0" err="1">
                <a:solidFill>
                  <a:schemeClr val="accent6"/>
                </a:solidFill>
              </a:rPr>
              <a:t>check_permission</a:t>
            </a:r>
            <a:r>
              <a:rPr lang="en-US" sz="1200" kern="0" spc="-80" dirty="0">
                <a:solidFill>
                  <a:schemeClr val="accent6"/>
                </a:solidFill>
              </a:rPr>
              <a:t> and </a:t>
            </a:r>
            <a:r>
              <a:rPr lang="en-US" sz="1200" kern="0" spc="-80" dirty="0" err="1">
                <a:solidFill>
                  <a:schemeClr val="accent6"/>
                </a:solidFill>
              </a:rPr>
              <a:t>check_relation</a:t>
            </a:r>
            <a:r>
              <a:rPr lang="en-US" sz="1200" kern="0" spc="-80" dirty="0">
                <a:solidFill>
                  <a:schemeClr val="accent6"/>
                </a:solidFill>
              </a:rPr>
              <a:t>, that facilitate graph traversal over this Zanzibar-style store, similar to how </a:t>
            </a:r>
            <a:r>
              <a:rPr lang="en-US" sz="1200" kern="0" spc="-80" dirty="0" err="1">
                <a:solidFill>
                  <a:schemeClr val="accent6"/>
                </a:solidFill>
              </a:rPr>
              <a:t>OpenFGA</a:t>
            </a:r>
            <a:r>
              <a:rPr lang="en-US" sz="1200" kern="0" spc="-80" dirty="0">
                <a:solidFill>
                  <a:schemeClr val="accent6"/>
                </a:solidFill>
              </a:rPr>
              <a:t> operates.</a:t>
            </a:r>
            <a:br>
              <a:rPr lang="en-US" sz="1200" kern="0" spc="-80" dirty="0">
                <a:solidFill>
                  <a:schemeClr val="accent6"/>
                </a:solidFill>
              </a:rPr>
            </a:br>
            <a:r>
              <a:rPr lang="en-US" sz="1200" kern="0" spc="-80" dirty="0">
                <a:solidFill>
                  <a:schemeClr val="accent2"/>
                </a:solidFill>
              </a:rPr>
              <a:t>In essence, Topaz provides:</a:t>
            </a:r>
            <a:br>
              <a:rPr lang="en-US" sz="1200" kern="0" spc="-80" dirty="0">
                <a:solidFill>
                  <a:schemeClr val="accent6"/>
                </a:solidFill>
              </a:rPr>
            </a:br>
            <a:r>
              <a:rPr lang="en-US" sz="1200" kern="0" spc="-80" dirty="0">
                <a:solidFill>
                  <a:schemeClr val="accent2"/>
                </a:solidFill>
              </a:rPr>
              <a:t>Policy-as-code capabilities:</a:t>
            </a:r>
            <a:r>
              <a:rPr lang="en-US" sz="1200" kern="0" spc="-80" dirty="0">
                <a:solidFill>
                  <a:schemeClr val="accent6"/>
                </a:solidFill>
              </a:rPr>
              <a:t> through its OPA integration and Rego policies.</a:t>
            </a:r>
            <a:br>
              <a:rPr lang="en-US" sz="1200" kern="0" spc="-80" dirty="0">
                <a:solidFill>
                  <a:schemeClr val="accent6"/>
                </a:solidFill>
              </a:rPr>
            </a:br>
            <a:r>
              <a:rPr lang="en-US" sz="1200" kern="0" spc="-80" dirty="0">
                <a:solidFill>
                  <a:schemeClr val="accent2"/>
                </a:solidFill>
              </a:rPr>
              <a:t>Policy-as-data capabilities:</a:t>
            </a:r>
            <a:r>
              <a:rPr lang="en-US" sz="1200" kern="0" spc="-80" dirty="0">
                <a:solidFill>
                  <a:schemeClr val="accent6"/>
                </a:solidFill>
              </a:rPr>
              <a:t> through its Zanzibar-style relationship store, allowing for fine-grained, relationship-based authorization.</a:t>
            </a:r>
            <a:br>
              <a:rPr lang="en-US" sz="1200" kern="0" spc="-80" dirty="0">
                <a:solidFill>
                  <a:schemeClr val="accent6"/>
                </a:solidFill>
              </a:rPr>
            </a:br>
            <a:r>
              <a:rPr lang="en-US" sz="1200" kern="0" spc="-80" dirty="0">
                <a:solidFill>
                  <a:schemeClr val="accent6"/>
                </a:solidFill>
              </a:rPr>
              <a:t>This combination allows Topaz to address a broad range of authorization use cases, including RBAC, ABAC, and ReBAC, within a single, self-contained solution.</a:t>
            </a:r>
          </a:p>
          <a:p>
            <a:pPr marL="12700" marR="5080"/>
            <a:r>
              <a:rPr lang="en-US" sz="1200" kern="0" spc="-80" dirty="0">
                <a:solidFill>
                  <a:schemeClr val="accent2"/>
                </a:solidFill>
              </a:rPr>
              <a:t>For Further Exploration</a:t>
            </a:r>
          </a:p>
          <a:p>
            <a:pPr marL="12700" marR="5080"/>
            <a:r>
              <a:rPr lang="en-US" sz="1200" dirty="0">
                <a:hlinkClick r:id="rId7"/>
              </a:rPr>
              <a:t>Unlocking fine-grained authorization with Topaz authorizer</a:t>
            </a:r>
            <a:endParaRPr lang="en-US" sz="1200" dirty="0"/>
          </a:p>
          <a:p>
            <a:pPr marL="12700" marR="5080"/>
            <a:r>
              <a:rPr lang="en-US" sz="1200" dirty="0">
                <a:hlinkClick r:id="rId8"/>
              </a:rPr>
              <a:t>Topaz: Cloud-native authorization for modern applications and APIs</a:t>
            </a:r>
            <a:endParaRPr lang="en-US" sz="1200" dirty="0"/>
          </a:p>
          <a:p>
            <a:pPr marL="12700" marR="5080"/>
            <a:r>
              <a:rPr lang="en-IN" sz="1200" dirty="0" err="1">
                <a:hlinkClick r:id="rId9"/>
              </a:rPr>
              <a:t>aserto</a:t>
            </a:r>
            <a:r>
              <a:rPr lang="en-IN" sz="1200" dirty="0">
                <a:hlinkClick r:id="rId9"/>
              </a:rPr>
              <a:t>-dev/</a:t>
            </a:r>
            <a:r>
              <a:rPr lang="en-IN" sz="1200" dirty="0" err="1">
                <a:hlinkClick r:id="rId9"/>
              </a:rPr>
              <a:t>aserto</a:t>
            </a:r>
            <a:r>
              <a:rPr lang="en-IN" sz="1200" dirty="0">
                <a:hlinkClick r:id="rId9"/>
              </a:rPr>
              <a:t>-dotnet: </a:t>
            </a:r>
            <a:r>
              <a:rPr lang="en-IN" sz="1200" dirty="0" err="1">
                <a:hlinkClick r:id="rId9"/>
              </a:rPr>
              <a:t>Aserto</a:t>
            </a:r>
            <a:r>
              <a:rPr lang="en-IN" sz="1200" dirty="0">
                <a:hlinkClick r:id="rId9"/>
              </a:rPr>
              <a:t> dotnet SDK</a:t>
            </a:r>
            <a:endParaRPr lang="en-US" sz="1200" kern="0" spc="-80" dirty="0">
              <a:solidFill>
                <a:schemeClr val="accent6"/>
              </a:solidFill>
            </a:endParaRPr>
          </a:p>
        </p:txBody>
      </p:sp>
    </p:spTree>
    <p:extLst>
      <p:ext uri="{BB962C8B-B14F-4D97-AF65-F5344CB8AC3E}">
        <p14:creationId xmlns:p14="http://schemas.microsoft.com/office/powerpoint/2010/main" val="270666622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767477"/>
            <a:ext cx="8786046" cy="580158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a:t>
            </a:r>
          </a:p>
          <a:p>
            <a:pPr marL="12700" marR="5080"/>
            <a:r>
              <a:rPr lang="en-US" sz="2400" kern="0" spc="-80" dirty="0">
                <a:solidFill>
                  <a:schemeClr val="accent2"/>
                </a:solidFill>
              </a:rPr>
              <a:t>      Inter-Service Communication in Microservices </a:t>
            </a:r>
          </a:p>
          <a:p>
            <a:pPr marL="12700" marR="5080"/>
            <a:r>
              <a:rPr lang="en-US" sz="2400" kern="0" spc="-80" dirty="0">
                <a:solidFill>
                  <a:schemeClr val="accent2"/>
                </a:solidFill>
              </a:rPr>
              <a:t>      Using Service Mesh(e.g. Istio) – </a:t>
            </a:r>
          </a:p>
          <a:p>
            <a:pPr marL="12700" marR="5080"/>
            <a:r>
              <a:rPr lang="en-US" sz="2000" kern="0" spc="-80" dirty="0">
                <a:solidFill>
                  <a:schemeClr val="accent6"/>
                </a:solidFill>
              </a:rPr>
              <a:t>           RBAC based Inter-Service Communication</a:t>
            </a:r>
          </a:p>
          <a:p>
            <a:pPr marL="12700" marR="5080"/>
            <a:endParaRPr lang="en-US" sz="2000" kern="0" spc="-80" dirty="0">
              <a:solidFill>
                <a:schemeClr val="accent6"/>
              </a:solidFill>
            </a:endParaRPr>
          </a:p>
          <a:p>
            <a:pPr marL="12700" marR="5080"/>
            <a:r>
              <a:rPr lang="en-US" sz="1700" dirty="0">
                <a:hlinkClick r:id="rId7"/>
              </a:rPr>
              <a:t>How to implement security for microservices</a:t>
            </a:r>
            <a:endParaRPr lang="en-US" sz="1700" dirty="0"/>
          </a:p>
          <a:p>
            <a:pPr marL="12700" marR="5080"/>
            <a:r>
              <a:rPr lang="en-IN" sz="1700" dirty="0">
                <a:hlinkClick r:id="rId8"/>
              </a:rPr>
              <a:t>Kubernetes-Service-Mesh-with-Istio</a:t>
            </a:r>
            <a:endParaRPr lang="en-IN" sz="1700" dirty="0"/>
          </a:p>
          <a:p>
            <a:pPr marL="12700" marR="5080"/>
            <a:r>
              <a:rPr lang="en-US" sz="1700" dirty="0">
                <a:hlinkClick r:id="rId9"/>
              </a:rPr>
              <a:t>Service Mesh Interface Conformance with </a:t>
            </a:r>
            <a:r>
              <a:rPr lang="en-US" sz="1700" dirty="0" err="1">
                <a:hlinkClick r:id="rId9"/>
              </a:rPr>
              <a:t>Meshery</a:t>
            </a:r>
            <a:r>
              <a:rPr lang="en-US" sz="1700" dirty="0">
                <a:hlinkClick r:id="rId9"/>
              </a:rPr>
              <a:t> · Actions · GitHub Marketplace · GitHub</a:t>
            </a:r>
            <a:endParaRPr lang="en-US" sz="1700" dirty="0"/>
          </a:p>
          <a:p>
            <a:pPr marL="12700" marR="5080"/>
            <a:r>
              <a:rPr lang="en-US" sz="1700" dirty="0">
                <a:hlinkClick r:id="rId10"/>
              </a:rPr>
              <a:t>The Enterprise Path to Service Mesh Architectures (2nd Edition)</a:t>
            </a:r>
            <a:endParaRPr lang="en-US" sz="1700" dirty="0"/>
          </a:p>
          <a:p>
            <a:pPr marL="12700" marR="5080"/>
            <a:r>
              <a:rPr lang="en-IN" sz="1700" dirty="0">
                <a:hlinkClick r:id="rId11"/>
              </a:rPr>
              <a:t>Service Mesh Patterns | Service Mesh Patterns</a:t>
            </a:r>
            <a:endParaRPr lang="en-IN" sz="1700" dirty="0"/>
          </a:p>
          <a:p>
            <a:pPr marL="12700" marR="5080"/>
            <a:r>
              <a:rPr lang="en-IN" sz="1700" dirty="0">
                <a:hlinkClick r:id="rId12"/>
              </a:rPr>
              <a:t>Service Mesh in Microservices | Feed | LinkedIn</a:t>
            </a:r>
            <a:endParaRPr lang="en-IN" sz="1700" dirty="0"/>
          </a:p>
          <a:p>
            <a:pPr marL="12700" marR="5080"/>
            <a:r>
              <a:rPr lang="en-US" sz="1700" dirty="0">
                <a:hlinkClick r:id="rId13"/>
              </a:rPr>
              <a:t>What Is Istio? | Google Cloud</a:t>
            </a:r>
            <a:endParaRPr lang="en-US" sz="1700" dirty="0"/>
          </a:p>
          <a:p>
            <a:pPr marL="12700" marR="5080"/>
            <a:r>
              <a:rPr lang="en-IN" sz="1700" dirty="0">
                <a:hlinkClick r:id="rId14"/>
              </a:rPr>
              <a:t>Istio Succinctly</a:t>
            </a:r>
            <a:endParaRPr lang="en-IN" sz="1700" dirty="0"/>
          </a:p>
          <a:p>
            <a:pPr marL="12700" marR="5080"/>
            <a:r>
              <a:rPr lang="en-IN" sz="1700" dirty="0">
                <a:hlinkClick r:id="rId15"/>
              </a:rPr>
              <a:t>Istio</a:t>
            </a:r>
            <a:endParaRPr lang="en-IN" sz="1700" dirty="0"/>
          </a:p>
          <a:p>
            <a:pPr marL="12700" marR="5080"/>
            <a:r>
              <a:rPr lang="en-US" sz="1700" dirty="0">
                <a:hlinkClick r:id="rId16"/>
              </a:rPr>
              <a:t>Mastering-Service-Mesh: Mastering Service Mesh, published by </a:t>
            </a:r>
            <a:r>
              <a:rPr lang="en-US" sz="1700" dirty="0" err="1">
                <a:hlinkClick r:id="rId16"/>
              </a:rPr>
              <a:t>Packt</a:t>
            </a:r>
            <a:r>
              <a:rPr lang="en-US" sz="1700" dirty="0">
                <a:hlinkClick r:id="rId16"/>
              </a:rPr>
              <a:t> </a:t>
            </a:r>
            <a:endParaRPr lang="en-US" sz="1700" dirty="0"/>
          </a:p>
          <a:p>
            <a:pPr marL="12700" marR="5080"/>
            <a:r>
              <a:rPr lang="en-IN" sz="1700" dirty="0">
                <a:hlinkClick r:id="rId17"/>
              </a:rPr>
              <a:t>Mastering-Service-Mesh-Architecture</a:t>
            </a:r>
            <a:endParaRPr lang="en-IN" sz="1700" dirty="0"/>
          </a:p>
          <a:p>
            <a:pPr marL="12700" marR="5080"/>
            <a:r>
              <a:rPr lang="en-US" sz="1700" dirty="0">
                <a:hlinkClick r:id="rId18"/>
              </a:rPr>
              <a:t>Bootstrap-Service-Mesh-Implementations-with-Istio</a:t>
            </a:r>
            <a:endParaRPr lang="en-US" sz="1700" kern="0" spc="-80" dirty="0">
              <a:solidFill>
                <a:schemeClr val="accent2"/>
              </a:solidFill>
            </a:endParaRPr>
          </a:p>
          <a:p>
            <a:pPr marL="12700" marR="5080"/>
            <a:endParaRPr lang="en-US" sz="2000" kern="0" spc="-80" dirty="0">
              <a:solidFill>
                <a:schemeClr val="accent2"/>
              </a:solidFill>
            </a:endParaRPr>
          </a:p>
          <a:p>
            <a:pPr marL="12700" marR="5080"/>
            <a:r>
              <a:rPr lang="en-US" sz="2400" kern="0" spc="-80" dirty="0">
                <a:solidFill>
                  <a:schemeClr val="accent2"/>
                </a:solidFill>
              </a:rPr>
              <a:t> </a:t>
            </a:r>
            <a:endParaRPr lang="en-US" sz="1600" kern="0" spc="-80" dirty="0">
              <a:solidFill>
                <a:schemeClr val="accent6"/>
              </a:solidFill>
            </a:endParaRPr>
          </a:p>
        </p:txBody>
      </p:sp>
    </p:spTree>
    <p:extLst>
      <p:ext uri="{BB962C8B-B14F-4D97-AF65-F5344CB8AC3E}">
        <p14:creationId xmlns:p14="http://schemas.microsoft.com/office/powerpoint/2010/main" val="402319855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75492" y="451692"/>
            <a:ext cx="8624937" cy="55015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1100" kern="0" spc="-80" dirty="0">
                <a:solidFill>
                  <a:schemeClr val="accent2"/>
                </a:solidFill>
              </a:rPr>
              <a:t>  For Further Exploration – </a:t>
            </a:r>
          </a:p>
          <a:p>
            <a:pPr marL="12700" marR="5080"/>
            <a:r>
              <a:rPr lang="en-US" sz="1180" dirty="0">
                <a:hlinkClick r:id="rId8"/>
              </a:rPr>
              <a:t>The Nuts and Bolts of OAuth 2.0 | Udemy</a:t>
            </a:r>
            <a:r>
              <a:rPr lang="en-US" sz="1180" kern="0" spc="-80" dirty="0">
                <a:solidFill>
                  <a:schemeClr val="accent2"/>
                </a:solidFill>
              </a:rPr>
              <a:t> </a:t>
            </a:r>
          </a:p>
          <a:p>
            <a:pPr marL="12700" marR="5080"/>
            <a:r>
              <a:rPr lang="en-US" sz="1180" dirty="0">
                <a:hlinkClick r:id="rId9"/>
              </a:rPr>
              <a:t>Oauth2, scopes and user roles - Stack Overflow</a:t>
            </a:r>
            <a:r>
              <a:rPr lang="en-US" sz="1180" kern="0" spc="-80" dirty="0">
                <a:solidFill>
                  <a:schemeClr val="accent2"/>
                </a:solidFill>
              </a:rPr>
              <a:t> (Think in terms of User Roles, User Scopes &amp; API scopes mappings)</a:t>
            </a:r>
          </a:p>
          <a:p>
            <a:pPr marL="12700" marR="5080"/>
            <a:r>
              <a:rPr lang="en-US" sz="1180" dirty="0">
                <a:hlinkClick r:id="rId10"/>
              </a:rPr>
              <a:t>EP120: What do version numbers mean?</a:t>
            </a:r>
            <a:r>
              <a:rPr lang="en-US" sz="1180" kern="0" spc="-80" dirty="0">
                <a:solidFill>
                  <a:schemeClr val="accent2"/>
                </a:solidFill>
              </a:rPr>
              <a:t> </a:t>
            </a:r>
          </a:p>
          <a:p>
            <a:pPr marL="12700" marR="5080"/>
            <a:r>
              <a:rPr lang="en-US" sz="1180" dirty="0">
                <a:hlinkClick r:id="rId11"/>
              </a:rPr>
              <a:t>Creating your own Global Identity Provider — Part I | by Danny García Hernández | Medium</a:t>
            </a:r>
            <a:endParaRPr lang="en-US" sz="1180" dirty="0"/>
          </a:p>
          <a:p>
            <a:pPr marL="12700" marR="5080"/>
            <a:r>
              <a:rPr lang="en-US" sz="1180" dirty="0">
                <a:hlinkClick r:id="rId12"/>
              </a:rPr>
              <a:t>Implement authorization by grant type | Okta Developer</a:t>
            </a:r>
            <a:endParaRPr lang="en-US" sz="1180" dirty="0"/>
          </a:p>
          <a:p>
            <a:pPr marL="12700" marR="5080"/>
            <a:r>
              <a:rPr lang="en-US" sz="1180" dirty="0">
                <a:hlinkClick r:id="rId13"/>
              </a:rPr>
              <a:t>Impersonation Approaches with OAuth and OpenID Connect | </a:t>
            </a:r>
            <a:r>
              <a:rPr lang="en-US" sz="1180" dirty="0" err="1">
                <a:hlinkClick r:id="rId13"/>
              </a:rPr>
              <a:t>Curity</a:t>
            </a:r>
            <a:endParaRPr lang="en-US" sz="1180" dirty="0"/>
          </a:p>
          <a:p>
            <a:pPr marL="12700" marR="5080"/>
            <a:r>
              <a:rPr lang="en-US" sz="1180" dirty="0">
                <a:hlinkClick r:id="rId14"/>
              </a:rPr>
              <a:t>Software Design Challenge: How to implement Impersonation with AUTH0 - </a:t>
            </a:r>
            <a:r>
              <a:rPr lang="en-US" sz="1180" dirty="0" err="1">
                <a:hlinkClick r:id="rId14"/>
              </a:rPr>
              <a:t>Leverture</a:t>
            </a:r>
            <a:endParaRPr lang="en-US" sz="1180" dirty="0"/>
          </a:p>
          <a:p>
            <a:pPr marL="12700" marR="5080"/>
            <a:r>
              <a:rPr lang="en-US" sz="1180" dirty="0">
                <a:hlinkClick r:id="rId15"/>
              </a:rPr>
              <a:t>Complete-List-Oauth-Grants</a:t>
            </a:r>
            <a:endParaRPr lang="en-US" sz="1180" dirty="0"/>
          </a:p>
          <a:p>
            <a:pPr marL="12700" marR="5080"/>
            <a:r>
              <a:rPr lang="en-US" sz="1180" dirty="0">
                <a:hlinkClick r:id="rId16"/>
              </a:rPr>
              <a:t>Free Security </a:t>
            </a:r>
            <a:r>
              <a:rPr lang="en-US" sz="1180" dirty="0" err="1">
                <a:hlinkClick r:id="rId16"/>
              </a:rPr>
              <a:t>EBooks</a:t>
            </a:r>
            <a:r>
              <a:rPr lang="en-US" sz="1180" dirty="0">
                <a:hlinkClick r:id="rId16"/>
              </a:rPr>
              <a:t> | </a:t>
            </a:r>
            <a:r>
              <a:rPr lang="en-US" sz="1180" dirty="0" err="1">
                <a:hlinkClick r:id="rId16"/>
              </a:rPr>
              <a:t>Syncfusion</a:t>
            </a:r>
            <a:endParaRPr lang="en-US" sz="1180" dirty="0"/>
          </a:p>
          <a:p>
            <a:pPr marL="12700" marR="5080"/>
            <a:r>
              <a:rPr lang="en-IN" sz="1180" dirty="0">
                <a:hlinkClick r:id="rId17"/>
              </a:rPr>
              <a:t>Authorization Methods | Ping Identity</a:t>
            </a:r>
            <a:endParaRPr lang="en-IN" sz="1180" dirty="0"/>
          </a:p>
          <a:p>
            <a:pPr marL="12700" marR="5080"/>
            <a:r>
              <a:rPr lang="en-IN" sz="1180" dirty="0">
                <a:hlinkClick r:id="rId18"/>
              </a:rPr>
              <a:t>Microservices Security in Action</a:t>
            </a:r>
            <a:endParaRPr lang="en-IN" sz="1180" dirty="0"/>
          </a:p>
          <a:p>
            <a:pPr marL="12700" marR="5080"/>
            <a:r>
              <a:rPr lang="en-US" sz="1180" dirty="0">
                <a:hlinkClick r:id="rId19"/>
              </a:rPr>
              <a:t>Advanced API Security: OAuth 2.0 and Beyond | SpringerLink</a:t>
            </a:r>
            <a:endParaRPr lang="en-US" sz="1180" dirty="0"/>
          </a:p>
          <a:p>
            <a:pPr marL="12700" marR="5080"/>
            <a:r>
              <a:rPr lang="en-US" sz="1180" dirty="0">
                <a:hlinkClick r:id="rId20"/>
              </a:rPr>
              <a:t>OAuth Patterns and Anti-Patterns - </a:t>
            </a:r>
            <a:r>
              <a:rPr lang="en-US" sz="1180" dirty="0" err="1">
                <a:hlinkClick r:id="rId20"/>
              </a:rPr>
              <a:t>DZone</a:t>
            </a:r>
            <a:r>
              <a:rPr lang="en-US" sz="1180" dirty="0">
                <a:hlinkClick r:id="rId20"/>
              </a:rPr>
              <a:t> </a:t>
            </a:r>
            <a:r>
              <a:rPr lang="en-US" sz="1180" dirty="0" err="1">
                <a:hlinkClick r:id="rId20"/>
              </a:rPr>
              <a:t>Refcardz</a:t>
            </a:r>
            <a:endParaRPr lang="en-US" sz="1180" dirty="0"/>
          </a:p>
          <a:p>
            <a:pPr marL="12700" marR="5080"/>
            <a:r>
              <a:rPr lang="en-US" sz="1180" dirty="0">
                <a:hlinkClick r:id="rId21"/>
              </a:rPr>
              <a:t>A SAML Whitepaper: How to Study and Learn SAML</a:t>
            </a:r>
            <a:endParaRPr lang="en-US" sz="1180" dirty="0"/>
          </a:p>
          <a:p>
            <a:pPr marL="12700" marR="5080"/>
            <a:r>
              <a:rPr lang="en-US" sz="1180" dirty="0">
                <a:hlinkClick r:id="rId22"/>
              </a:rPr>
              <a:t>Data Masking vs. Data Encryption: How Do They Differ?</a:t>
            </a:r>
            <a:endParaRPr lang="en-US" sz="1180" dirty="0"/>
          </a:p>
          <a:p>
            <a:pPr marL="12700" marR="5080"/>
            <a:r>
              <a:rPr lang="en-US" sz="1180" dirty="0">
                <a:hlinkClick r:id="rId23"/>
              </a:rPr>
              <a:t>Data Masking vs Tokenization | Understand the Difference</a:t>
            </a:r>
            <a:endParaRPr lang="en-US" sz="1180" dirty="0"/>
          </a:p>
          <a:p>
            <a:pPr marL="12700" marR="5080"/>
            <a:r>
              <a:rPr lang="en-US" sz="1180" dirty="0">
                <a:hlinkClick r:id="rId24"/>
              </a:rPr>
              <a:t>Data Masking: 8 Techniques and How to Implement Them Successfully - Satori</a:t>
            </a:r>
            <a:endParaRPr lang="en-US" sz="1180" dirty="0"/>
          </a:p>
          <a:p>
            <a:pPr marL="12700" marR="5080"/>
            <a:r>
              <a:rPr lang="en-US" sz="1180" dirty="0" err="1">
                <a:hlinkClick r:id="rId25"/>
              </a:rPr>
              <a:t>Keycloak.ASPNet.Angular</a:t>
            </a:r>
            <a:r>
              <a:rPr lang="en-US" sz="1180" dirty="0">
                <a:hlinkClick r:id="rId25"/>
              </a:rPr>
              <a:t>: How to: ASP.NET Core with OAuth2 (</a:t>
            </a:r>
            <a:r>
              <a:rPr lang="en-US" sz="1180" dirty="0" err="1">
                <a:hlinkClick r:id="rId25"/>
              </a:rPr>
              <a:t>Keycloak</a:t>
            </a:r>
            <a:r>
              <a:rPr lang="en-US" sz="1180" dirty="0">
                <a:hlinkClick r:id="rId25"/>
              </a:rPr>
              <a:t>) and Angular</a:t>
            </a:r>
            <a:endParaRPr lang="en-US" sz="1180" dirty="0"/>
          </a:p>
          <a:p>
            <a:pPr marL="12700" marR="5080"/>
            <a:r>
              <a:rPr lang="en-US" sz="1180" dirty="0">
                <a:hlinkClick r:id="rId26"/>
              </a:rPr>
              <a:t>Implementing Multifactor Authentication | Security | Print</a:t>
            </a:r>
            <a:endParaRPr lang="en-US" sz="1180" dirty="0"/>
          </a:p>
          <a:p>
            <a:pPr marL="12700" marR="5080"/>
            <a:r>
              <a:rPr lang="en-US" sz="1180" dirty="0">
                <a:hlinkClick r:id="rId27"/>
              </a:rPr>
              <a:t>Identity Management with Biometrics | Security | Print</a:t>
            </a:r>
            <a:endParaRPr lang="en-US" sz="1180" dirty="0"/>
          </a:p>
          <a:p>
            <a:pPr marL="12700" marR="5080"/>
            <a:r>
              <a:rPr lang="en-US" sz="1180" dirty="0">
                <a:hlinkClick r:id="rId28"/>
              </a:rPr>
              <a:t>Difference between PII, PHI, and PCI – </a:t>
            </a:r>
            <a:r>
              <a:rPr lang="en-US" sz="1180" dirty="0" err="1">
                <a:hlinkClick r:id="rId28"/>
              </a:rPr>
              <a:t>Sprinto</a:t>
            </a:r>
            <a:endParaRPr lang="en-US" sz="1180" dirty="0"/>
          </a:p>
          <a:p>
            <a:pPr marL="12700" marR="5080"/>
            <a:r>
              <a:rPr lang="en-US" sz="1180" dirty="0">
                <a:hlinkClick r:id="rId29"/>
              </a:rPr>
              <a:t>A Guide to Types of Sensitive Information | </a:t>
            </a:r>
            <a:r>
              <a:rPr lang="en-US" sz="1180" dirty="0" err="1">
                <a:hlinkClick r:id="rId29"/>
              </a:rPr>
              <a:t>BigID</a:t>
            </a:r>
            <a:endParaRPr lang="en-US" sz="1180" dirty="0"/>
          </a:p>
          <a:p>
            <a:pPr marL="12700" marR="5080"/>
            <a:r>
              <a:rPr lang="en-US" sz="1180" dirty="0">
                <a:hlinkClick r:id="rId30"/>
              </a:rPr>
              <a:t>What is the difference between JOSE, JWA, JWE, JWK, JWS and JWT? - Stack Overflow</a:t>
            </a:r>
            <a:endParaRPr lang="en-US" sz="1180" dirty="0"/>
          </a:p>
          <a:p>
            <a:pPr marL="12700" marR="5080"/>
            <a:r>
              <a:rPr lang="en-IN" sz="1180" dirty="0">
                <a:hlinkClick r:id="rId31"/>
              </a:rPr>
              <a:t>Jose-</a:t>
            </a:r>
            <a:r>
              <a:rPr lang="en-IN" sz="1180" dirty="0" err="1">
                <a:hlinkClick r:id="rId31"/>
              </a:rPr>
              <a:t>Jwt</a:t>
            </a:r>
            <a:endParaRPr lang="en-IN" sz="1180" dirty="0"/>
          </a:p>
          <a:p>
            <a:pPr marL="12700" marR="5080"/>
            <a:r>
              <a:rPr lang="en-IN" sz="1180" dirty="0">
                <a:hlinkClick r:id="rId32"/>
              </a:rPr>
              <a:t>PCI DSS - Azure Compliance | Microsoft Learn</a:t>
            </a:r>
            <a:endParaRPr lang="en-IN" sz="1180" dirty="0"/>
          </a:p>
          <a:p>
            <a:pPr marL="12700" marR="5080"/>
            <a:r>
              <a:rPr lang="en-IN" sz="1180" dirty="0">
                <a:hlinkClick r:id="rId33"/>
              </a:rPr>
              <a:t>PCI 3D Secure (PCI 3DS) | </a:t>
            </a:r>
            <a:r>
              <a:rPr lang="en-IN" sz="1180" dirty="0" err="1">
                <a:hlinkClick r:id="rId33"/>
              </a:rPr>
              <a:t>CompliancePoint</a:t>
            </a:r>
            <a:endParaRPr lang="en-IN" sz="1180" dirty="0"/>
          </a:p>
          <a:p>
            <a:pPr marL="12700" marR="5080"/>
            <a:r>
              <a:rPr lang="en-US" sz="1180" dirty="0">
                <a:hlinkClick r:id="rId34"/>
              </a:rPr>
              <a:t>Architecture of an AKS regulated cluster for PCI-DSS 3.2.1 - Azure Architecture Center | Microsoft Learn</a:t>
            </a:r>
            <a:r>
              <a:rPr lang="en-US" sz="1180" kern="0" spc="-80" dirty="0">
                <a:solidFill>
                  <a:schemeClr val="accent2"/>
                </a:solidFill>
              </a:rPr>
              <a:t>   </a:t>
            </a:r>
          </a:p>
        </p:txBody>
      </p:sp>
    </p:spTree>
    <p:extLst>
      <p:ext uri="{BB962C8B-B14F-4D97-AF65-F5344CB8AC3E}">
        <p14:creationId xmlns:p14="http://schemas.microsoft.com/office/powerpoint/2010/main" val="318110401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E467-D705-6F43-BD75-5D640F27694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9E37E27-E85A-E309-A5AB-AA925AD1AA3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298397D-A216-2532-3B46-EA09BA7BDD1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8D4D909-17FC-CC91-75FE-71A77428230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066094F5-4FB2-3DE7-31F5-C76E04CF64B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3D60DB0-5663-BB8F-F774-4D1B75B932F2}"/>
              </a:ext>
            </a:extLst>
          </p:cNvPr>
          <p:cNvSpPr txBox="1">
            <a:spLocks/>
          </p:cNvSpPr>
          <p:nvPr/>
        </p:nvSpPr>
        <p:spPr>
          <a:xfrm>
            <a:off x="259531" y="457200"/>
            <a:ext cx="8624937" cy="56938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1100" kern="0" spc="-80" dirty="0">
                <a:solidFill>
                  <a:schemeClr val="accent2"/>
                </a:solidFill>
              </a:rPr>
              <a:t>For Further Exploration –</a:t>
            </a:r>
          </a:p>
          <a:p>
            <a:pPr marL="12700" marR="5080"/>
            <a:r>
              <a:rPr lang="en-IN" sz="1200" dirty="0">
                <a:hlinkClick r:id="rId8"/>
              </a:rPr>
              <a:t>Microsoft identity platform and OAuth 2.0 Resource Owner </a:t>
            </a:r>
            <a:r>
              <a:rPr lang="en-IN" sz="1200">
                <a:hlinkClick r:id="rId8"/>
              </a:rPr>
              <a:t>Password Credentials</a:t>
            </a:r>
            <a:endParaRPr lang="en-IN" sz="1200" dirty="0"/>
          </a:p>
          <a:p>
            <a:pPr marL="12700" marR="5080"/>
            <a:r>
              <a:rPr lang="en-US" sz="1200" dirty="0">
                <a:hlinkClick r:id="rId9"/>
              </a:rPr>
              <a:t>Azure AD vs Azure AD B2C vs Azure AD B2B - Stack Overflow</a:t>
            </a:r>
            <a:endParaRPr lang="en-US" sz="1200" dirty="0"/>
          </a:p>
          <a:p>
            <a:pPr marL="12700" marR="5080"/>
            <a:r>
              <a:rPr lang="en-IN" sz="1200" dirty="0">
                <a:hlinkClick r:id="rId10"/>
              </a:rPr>
              <a:t>Microsoft identity platform overview - Microsoft identity platform | Microsoft Learn</a:t>
            </a:r>
            <a:r>
              <a:rPr lang="en-US" sz="1200" kern="0" spc="-80" dirty="0">
                <a:solidFill>
                  <a:schemeClr val="accent2"/>
                </a:solidFill>
              </a:rPr>
              <a:t> </a:t>
            </a:r>
          </a:p>
          <a:p>
            <a:pPr marL="12700" marR="5080"/>
            <a:r>
              <a:rPr lang="en-IN" sz="1200" dirty="0">
                <a:hlinkClick r:id="rId11"/>
              </a:rPr>
              <a:t>Microsoft Security Development Lifecycle</a:t>
            </a:r>
            <a:r>
              <a:rPr lang="en-US" sz="1200" kern="0" spc="-80" dirty="0">
                <a:solidFill>
                  <a:schemeClr val="accent2"/>
                </a:solidFill>
              </a:rPr>
              <a:t> </a:t>
            </a:r>
          </a:p>
          <a:p>
            <a:pPr marL="12700" marR="5080"/>
            <a:r>
              <a:rPr lang="en-US" sz="1200" dirty="0">
                <a:hlinkClick r:id="rId12"/>
              </a:rPr>
              <a:t>New name for Azure Active Directory - Microsoft Entra | Microsoft Learn</a:t>
            </a:r>
            <a:endParaRPr lang="en-US" sz="1200" dirty="0"/>
          </a:p>
          <a:p>
            <a:pPr marL="12700" marR="5080"/>
            <a:r>
              <a:rPr lang="en-US" sz="1200" dirty="0">
                <a:hlinkClick r:id="rId13"/>
              </a:rPr>
              <a:t>Apps &amp; service principals in Microsoft Entra ID - Microsoft identity platform | Microsoft Learn</a:t>
            </a:r>
            <a:r>
              <a:rPr lang="en-US" sz="1200" kern="0" spc="-80" dirty="0">
                <a:solidFill>
                  <a:schemeClr val="accent2"/>
                </a:solidFill>
              </a:rPr>
              <a:t> </a:t>
            </a:r>
          </a:p>
          <a:p>
            <a:pPr marL="12700" marR="5080"/>
            <a:r>
              <a:rPr lang="en-US" sz="1200" dirty="0">
                <a:hlinkClick r:id="rId14"/>
              </a:rPr>
              <a:t>What's the Difference Between Azure Service Principal vs. Managed Identity? | </a:t>
            </a:r>
            <a:r>
              <a:rPr lang="en-US" sz="1200" dirty="0" err="1">
                <a:hlinkClick r:id="rId14"/>
              </a:rPr>
              <a:t>Atmosera</a:t>
            </a:r>
            <a:endParaRPr lang="en-US" sz="1200" dirty="0"/>
          </a:p>
          <a:p>
            <a:pPr marL="12700" marR="5080"/>
            <a:r>
              <a:rPr lang="en-US" sz="1200" dirty="0">
                <a:hlinkClick r:id="rId15"/>
              </a:rPr>
              <a:t>Creating Azure Service Principals or Managed Identities &amp; Granting them Access | by Cherie | Medium</a:t>
            </a:r>
            <a:endParaRPr lang="en-US" sz="1200" dirty="0"/>
          </a:p>
          <a:p>
            <a:pPr marL="12700" marR="5080"/>
            <a:r>
              <a:rPr lang="en-US" sz="1200" dirty="0">
                <a:hlinkClick r:id="rId16"/>
              </a:rPr>
              <a:t>Service to Service Auth with Azure AD, MSI &amp; OAuth 2.0 (Step by Step) | by Danny Shemesh | Medium</a:t>
            </a:r>
            <a:endParaRPr lang="en-US" sz="1200" dirty="0"/>
          </a:p>
          <a:p>
            <a:pPr marL="12700" marR="5080"/>
            <a:r>
              <a:rPr lang="en-US" sz="1200" dirty="0">
                <a:hlinkClick r:id="rId17"/>
              </a:rPr>
              <a:t>Configure an app's publisher domain - Microsoft identity platform | Microsoft Learn</a:t>
            </a:r>
            <a:r>
              <a:rPr lang="en-US" sz="1200" kern="0" spc="-80" dirty="0">
                <a:solidFill>
                  <a:schemeClr val="accent2"/>
                </a:solidFill>
              </a:rPr>
              <a:t> </a:t>
            </a:r>
          </a:p>
          <a:p>
            <a:pPr marL="12700" marR="5080"/>
            <a:r>
              <a:rPr lang="en-IN" sz="1200" dirty="0">
                <a:hlinkClick r:id="rId18"/>
              </a:rPr>
              <a:t>Password-based authentication with Microsoft Entra ID - Microsoft Entra | Microsoft Learn</a:t>
            </a:r>
            <a:r>
              <a:rPr lang="en-US" sz="1200" kern="0" spc="-80" dirty="0">
                <a:solidFill>
                  <a:schemeClr val="accent2"/>
                </a:solidFill>
              </a:rPr>
              <a:t> </a:t>
            </a:r>
          </a:p>
          <a:p>
            <a:pPr marL="12700" marR="5080"/>
            <a:r>
              <a:rPr lang="en-US" sz="1200" dirty="0">
                <a:hlinkClick r:id="rId19"/>
              </a:rPr>
              <a:t>Integrated Windows Authentication | Microsoft Learn</a:t>
            </a:r>
            <a:r>
              <a:rPr lang="en-US" sz="1200" kern="0" spc="-80" dirty="0">
                <a:solidFill>
                  <a:schemeClr val="accent2"/>
                </a:solidFill>
              </a:rPr>
              <a:t> </a:t>
            </a:r>
          </a:p>
          <a:p>
            <a:pPr marL="12700" marR="5080"/>
            <a:r>
              <a:rPr lang="en-US" sz="1200" dirty="0">
                <a:hlinkClick r:id="rId20"/>
              </a:rPr>
              <a:t>Download A Guide to Claims-Based Identity and Access Control, Second Edition</a:t>
            </a:r>
            <a:endParaRPr lang="en-US" sz="1200" kern="0" spc="-80" dirty="0">
              <a:solidFill>
                <a:schemeClr val="accent2"/>
              </a:solidFill>
            </a:endParaRPr>
          </a:p>
          <a:p>
            <a:pPr marL="12700" marR="5080"/>
            <a:r>
              <a:rPr lang="en-US" sz="1200" dirty="0">
                <a:hlinkClick r:id="rId21"/>
              </a:rPr>
              <a:t>OpenID Connect (OIDC) on the Microsoft identity platform - Microsoft identity platform | Microsoft Learn</a:t>
            </a:r>
            <a:r>
              <a:rPr lang="en-US" sz="1200" kern="0" spc="-80" dirty="0">
                <a:solidFill>
                  <a:schemeClr val="accent2"/>
                </a:solidFill>
              </a:rPr>
              <a:t> </a:t>
            </a:r>
          </a:p>
          <a:p>
            <a:pPr marL="12700" marR="5080"/>
            <a:r>
              <a:rPr lang="en-IN" sz="1200" dirty="0">
                <a:hlinkClick r:id="rId22"/>
              </a:rPr>
              <a:t>Graph Explorer | Try Microsoft Graph APIs - Microsoft Graph</a:t>
            </a:r>
            <a:r>
              <a:rPr lang="en-US" sz="1200" kern="0" spc="-80" dirty="0">
                <a:solidFill>
                  <a:schemeClr val="accent2"/>
                </a:solidFill>
              </a:rPr>
              <a:t>  </a:t>
            </a:r>
          </a:p>
          <a:p>
            <a:pPr marL="12700" marR="5080"/>
            <a:r>
              <a:rPr lang="en-IN" sz="1200" dirty="0">
                <a:hlinkClick r:id="rId23"/>
              </a:rPr>
              <a:t>MSGraph-</a:t>
            </a:r>
            <a:r>
              <a:rPr lang="en-IN" sz="1200" dirty="0" err="1">
                <a:hlinkClick r:id="rId23"/>
              </a:rPr>
              <a:t>sdk</a:t>
            </a:r>
            <a:r>
              <a:rPr lang="en-IN" sz="1200" dirty="0">
                <a:hlinkClick r:id="rId23"/>
              </a:rPr>
              <a:t>-design</a:t>
            </a:r>
            <a:endParaRPr lang="en-IN" sz="1200" dirty="0"/>
          </a:p>
          <a:p>
            <a:pPr marL="12700" marR="5080"/>
            <a:r>
              <a:rPr lang="en-US" sz="1200" dirty="0">
                <a:hlinkClick r:id="rId24"/>
              </a:rPr>
              <a:t>What is Azure Active Directory B2C? | Microsoft Learn</a:t>
            </a:r>
            <a:r>
              <a:rPr lang="en-US" sz="1200" kern="0" spc="-80" dirty="0">
                <a:solidFill>
                  <a:schemeClr val="accent2"/>
                </a:solidFill>
              </a:rPr>
              <a:t>    </a:t>
            </a:r>
          </a:p>
          <a:p>
            <a:pPr marL="12700" marR="5080"/>
            <a:r>
              <a:rPr lang="en-US" sz="1200" dirty="0">
                <a:hlinkClick r:id="rId25"/>
              </a:rPr>
              <a:t>Billing model for Azure Active Directory B2C | Microsoft Learn</a:t>
            </a:r>
            <a:r>
              <a:rPr lang="en-US" sz="1200" kern="0" spc="-80" dirty="0">
                <a:solidFill>
                  <a:schemeClr val="accent2"/>
                </a:solidFill>
              </a:rPr>
              <a:t>  </a:t>
            </a:r>
          </a:p>
          <a:p>
            <a:pPr marL="12700" marR="5080"/>
            <a:r>
              <a:rPr lang="en-US" sz="1200" dirty="0">
                <a:hlinkClick r:id="rId26"/>
              </a:rPr>
              <a:t>Manage resources with Microsoft Graph - Azure AD B2C | Microsoft Learn</a:t>
            </a:r>
            <a:r>
              <a:rPr lang="en-US" sz="1200" kern="0" spc="-80" dirty="0">
                <a:solidFill>
                  <a:schemeClr val="accent2"/>
                </a:solidFill>
              </a:rPr>
              <a:t>  </a:t>
            </a:r>
          </a:p>
          <a:p>
            <a:pPr marL="12700" marR="5080"/>
            <a:r>
              <a:rPr lang="en-US" sz="1200" dirty="0">
                <a:hlinkClick r:id="rId27"/>
              </a:rPr>
              <a:t>Enable custom domains in Azure Active Directory B2C - Azure AD B2C | Microsoft Learn</a:t>
            </a:r>
            <a:r>
              <a:rPr lang="en-US" sz="1200" kern="0" spc="-80" dirty="0">
                <a:solidFill>
                  <a:schemeClr val="accent2"/>
                </a:solidFill>
              </a:rPr>
              <a:t>  </a:t>
            </a:r>
          </a:p>
          <a:p>
            <a:pPr marL="12700" marR="5080"/>
            <a:r>
              <a:rPr lang="en-US" sz="1200" dirty="0">
                <a:hlinkClick r:id="rId28"/>
              </a:rPr>
              <a:t>Developer notes for user flows and custom policies - Azure AD B2C | Microsoft Learn</a:t>
            </a:r>
            <a:r>
              <a:rPr lang="en-US" sz="1200" kern="0" spc="-80" dirty="0">
                <a:solidFill>
                  <a:schemeClr val="accent2"/>
                </a:solidFill>
              </a:rPr>
              <a:t>   </a:t>
            </a:r>
          </a:p>
          <a:p>
            <a:pPr marL="12700" marR="5080"/>
            <a:r>
              <a:rPr lang="en-US" sz="1200" dirty="0" err="1">
                <a:hlinkClick r:id="rId29"/>
              </a:rPr>
              <a:t>TrustFrameworkPolicy</a:t>
            </a:r>
            <a:r>
              <a:rPr lang="en-US" sz="1200" dirty="0">
                <a:hlinkClick r:id="rId29"/>
              </a:rPr>
              <a:t> - Azure Active Directory B2C | Microsoft Learn</a:t>
            </a:r>
            <a:endParaRPr lang="en-US" sz="1200" dirty="0"/>
          </a:p>
          <a:p>
            <a:pPr marL="12700" marR="5080"/>
            <a:r>
              <a:rPr lang="en-US" sz="1200" dirty="0">
                <a:hlinkClick r:id="rId30"/>
              </a:rPr>
              <a:t>User migration approaches - Azure AD B2C | Microsoft Learn</a:t>
            </a:r>
            <a:endParaRPr lang="en-US" sz="1200" dirty="0"/>
          </a:p>
          <a:p>
            <a:pPr marL="12700" marR="5080"/>
            <a:r>
              <a:rPr lang="en-US" sz="1200" dirty="0">
                <a:hlinkClick r:id="rId31"/>
              </a:rPr>
              <a:t>Azure AD B2C custom policy solutions and samples.</a:t>
            </a:r>
            <a:r>
              <a:rPr lang="en-US" sz="1200" kern="0" spc="-80" dirty="0">
                <a:solidFill>
                  <a:schemeClr val="accent2"/>
                </a:solidFill>
              </a:rPr>
              <a:t>   </a:t>
            </a:r>
          </a:p>
          <a:p>
            <a:pPr marL="12700" marR="5080"/>
            <a:r>
              <a:rPr lang="en-IN" sz="1200" dirty="0">
                <a:hlinkClick r:id="rId32"/>
              </a:rPr>
              <a:t>Error code reference - Azure AD B2C | Microsoft Learn</a:t>
            </a:r>
            <a:r>
              <a:rPr lang="en-US" sz="1200" kern="0" spc="-80" dirty="0">
                <a:solidFill>
                  <a:schemeClr val="accent2"/>
                </a:solidFill>
              </a:rPr>
              <a:t>   </a:t>
            </a:r>
          </a:p>
          <a:p>
            <a:pPr marL="12700" marR="5080"/>
            <a:r>
              <a:rPr lang="en-US" sz="1200" dirty="0">
                <a:hlinkClick r:id="rId33"/>
              </a:rPr>
              <a:t>External Collaboration with Azure AD B2B Succinctly</a:t>
            </a:r>
            <a:r>
              <a:rPr lang="en-US" sz="1200" kern="0" spc="-80" dirty="0">
                <a:solidFill>
                  <a:schemeClr val="accent2"/>
                </a:solidFill>
              </a:rPr>
              <a:t> </a:t>
            </a:r>
          </a:p>
          <a:p>
            <a:pPr marL="12700" marR="5080"/>
            <a:endParaRPr lang="en-US" sz="1100" kern="0" spc="-80" dirty="0">
              <a:solidFill>
                <a:schemeClr val="accent2"/>
              </a:solidFill>
            </a:endParaRPr>
          </a:p>
        </p:txBody>
      </p:sp>
    </p:spTree>
    <p:extLst>
      <p:ext uri="{BB962C8B-B14F-4D97-AF65-F5344CB8AC3E}">
        <p14:creationId xmlns:p14="http://schemas.microsoft.com/office/powerpoint/2010/main" val="222420672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6096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000" kern="0" spc="-80" dirty="0">
                <a:solidFill>
                  <a:schemeClr val="accent2"/>
                </a:solidFill>
              </a:rPr>
              <a:t>   Some Important OWASP Application issues–</a:t>
            </a:r>
          </a:p>
          <a:p>
            <a:pPr marL="12700" marR="5080"/>
            <a:r>
              <a:rPr lang="en-US" sz="2000" kern="0" spc="-80" dirty="0">
                <a:solidFill>
                  <a:schemeClr val="accent6"/>
                </a:solidFill>
              </a:rPr>
              <a:t>     </a:t>
            </a:r>
            <a:r>
              <a:rPr lang="en-US" sz="2000" kern="0" spc="-80" dirty="0">
                <a:solidFill>
                  <a:schemeClr val="accent2"/>
                </a:solidFill>
              </a:rPr>
              <a:t>CSRF(Cross Site Request Forgery) - </a:t>
            </a:r>
          </a:p>
        </p:txBody>
      </p:sp>
      <p:pic>
        <p:nvPicPr>
          <p:cNvPr id="1026" name="Picture 2">
            <a:extLst>
              <a:ext uri="{FF2B5EF4-FFF2-40B4-BE49-F238E27FC236}">
                <a16:creationId xmlns:a16="http://schemas.microsoft.com/office/drawing/2014/main" id="{111A3B32-A6E6-30F9-6C46-7D184819DE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1600200"/>
            <a:ext cx="8763000" cy="3581400"/>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8E271DFB-826A-6B15-9991-53362540F383}"/>
              </a:ext>
            </a:extLst>
          </p:cNvPr>
          <p:cNvSpPr txBox="1">
            <a:spLocks/>
          </p:cNvSpPr>
          <p:nvPr/>
        </p:nvSpPr>
        <p:spPr>
          <a:xfrm>
            <a:off x="137369" y="5081826"/>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kern="0" spc="-80" dirty="0">
                <a:solidFill>
                  <a:schemeClr val="accent2"/>
                </a:solidFill>
              </a:rPr>
              <a:t> </a:t>
            </a:r>
            <a:r>
              <a:rPr lang="en-US" sz="1500" dirty="0">
                <a:hlinkClick r:id="rId8"/>
              </a:rPr>
              <a:t>Prevent Cross-Site Request Forgery (XSRF/CSRF) attacks in ASP.NET Core | Microsoft Learn</a:t>
            </a:r>
            <a:endParaRPr lang="en-US" sz="1500" kern="0" spc="-80" dirty="0">
              <a:solidFill>
                <a:schemeClr val="accent2"/>
              </a:solidFill>
            </a:endParaRPr>
          </a:p>
        </p:txBody>
      </p:sp>
    </p:spTree>
    <p:extLst>
      <p:ext uri="{BB962C8B-B14F-4D97-AF65-F5344CB8AC3E}">
        <p14:creationId xmlns:p14="http://schemas.microsoft.com/office/powerpoint/2010/main" val="44800464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6096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000" kern="0" spc="-80" dirty="0">
                <a:solidFill>
                  <a:schemeClr val="accent2"/>
                </a:solidFill>
              </a:rPr>
              <a:t>   Some Important OWASP Application issues–</a:t>
            </a:r>
          </a:p>
          <a:p>
            <a:pPr marL="12700" marR="5080"/>
            <a:r>
              <a:rPr lang="en-US" sz="2000" kern="0" spc="-80" dirty="0">
                <a:solidFill>
                  <a:schemeClr val="accent2"/>
                </a:solidFill>
              </a:rPr>
              <a:t>     SSRF(</a:t>
            </a:r>
            <a:r>
              <a:rPr lang="en-IN" sz="2000" kern="0" spc="-80" dirty="0">
                <a:solidFill>
                  <a:schemeClr val="accent2"/>
                </a:solidFill>
              </a:rPr>
              <a:t>Server-Side Request Forgery</a:t>
            </a:r>
            <a:r>
              <a:rPr lang="en-US" sz="2000" kern="0" spc="-80" dirty="0">
                <a:solidFill>
                  <a:schemeClr val="accent2"/>
                </a:solidFill>
              </a:rPr>
              <a:t>) - </a:t>
            </a:r>
          </a:p>
        </p:txBody>
      </p:sp>
      <p:sp>
        <p:nvSpPr>
          <p:cNvPr id="8" name="object 2">
            <a:extLst>
              <a:ext uri="{FF2B5EF4-FFF2-40B4-BE49-F238E27FC236}">
                <a16:creationId xmlns:a16="http://schemas.microsoft.com/office/drawing/2014/main" id="{8E271DFB-826A-6B15-9991-53362540F383}"/>
              </a:ext>
            </a:extLst>
          </p:cNvPr>
          <p:cNvSpPr txBox="1">
            <a:spLocks/>
          </p:cNvSpPr>
          <p:nvPr/>
        </p:nvSpPr>
        <p:spPr>
          <a:xfrm>
            <a:off x="137369" y="52518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Server Side Request Forgery | OWASP Foundation</a:t>
            </a:r>
            <a:endParaRPr lang="en-US" sz="1500" kern="0" spc="-80" dirty="0">
              <a:solidFill>
                <a:schemeClr val="accent2"/>
              </a:solidFill>
            </a:endParaRPr>
          </a:p>
        </p:txBody>
      </p:sp>
      <p:pic>
        <p:nvPicPr>
          <p:cNvPr id="3074" name="Picture 2">
            <a:extLst>
              <a:ext uri="{FF2B5EF4-FFF2-40B4-BE49-F238E27FC236}">
                <a16:creationId xmlns:a16="http://schemas.microsoft.com/office/drawing/2014/main" id="{A7820F9C-576E-67AE-AA0E-63905CF130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754" y="1594485"/>
            <a:ext cx="8480552" cy="3739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727362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6096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000" kern="0" spc="-80" dirty="0">
                <a:solidFill>
                  <a:schemeClr val="accent2"/>
                </a:solidFill>
              </a:rPr>
              <a:t>   Some Important OWASP Application issues–</a:t>
            </a:r>
          </a:p>
          <a:p>
            <a:pPr marL="12700" marR="5080"/>
            <a:r>
              <a:rPr lang="en-US" sz="2000" kern="0" spc="-80" dirty="0">
                <a:solidFill>
                  <a:schemeClr val="accent6"/>
                </a:solidFill>
              </a:rPr>
              <a:t>     </a:t>
            </a:r>
            <a:r>
              <a:rPr lang="en-US" sz="2000" kern="0" spc="-80" dirty="0">
                <a:solidFill>
                  <a:schemeClr val="accent2"/>
                </a:solidFill>
              </a:rPr>
              <a:t>CORS(Cross Origin Resource Sharing) - </a:t>
            </a:r>
          </a:p>
        </p:txBody>
      </p:sp>
      <p:sp>
        <p:nvSpPr>
          <p:cNvPr id="8" name="object 2">
            <a:extLst>
              <a:ext uri="{FF2B5EF4-FFF2-40B4-BE49-F238E27FC236}">
                <a16:creationId xmlns:a16="http://schemas.microsoft.com/office/drawing/2014/main" id="{8E271DFB-826A-6B15-9991-53362540F383}"/>
              </a:ext>
            </a:extLst>
          </p:cNvPr>
          <p:cNvSpPr txBox="1">
            <a:spLocks/>
          </p:cNvSpPr>
          <p:nvPr/>
        </p:nvSpPr>
        <p:spPr>
          <a:xfrm>
            <a:off x="137369" y="52518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Enable Cross-Origin Requests (CORS) in ASP.NET Core | Microsoft Learn</a:t>
            </a:r>
            <a:endParaRPr lang="en-US" sz="1500" kern="0" spc="-80" dirty="0">
              <a:solidFill>
                <a:schemeClr val="accent2"/>
              </a:solidFill>
            </a:endParaRPr>
          </a:p>
        </p:txBody>
      </p:sp>
      <p:pic>
        <p:nvPicPr>
          <p:cNvPr id="2050" name="Picture 2" descr="Enable CORS In ASP.NET WebAPI 2">
            <a:extLst>
              <a:ext uri="{FF2B5EF4-FFF2-40B4-BE49-F238E27FC236}">
                <a16:creationId xmlns:a16="http://schemas.microsoft.com/office/drawing/2014/main" id="{9BBDD1BB-78C8-A7F8-ECA9-A35103F05F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1590675"/>
            <a:ext cx="8305106" cy="3661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602469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6096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000" kern="0" spc="-80" dirty="0">
                <a:solidFill>
                  <a:schemeClr val="accent2"/>
                </a:solidFill>
              </a:rPr>
              <a:t>   Some Important OWASP Application issues–</a:t>
            </a:r>
          </a:p>
          <a:p>
            <a:pPr marL="12700" marR="5080"/>
            <a:r>
              <a:rPr lang="en-US" sz="2000" kern="0" spc="-80" dirty="0">
                <a:solidFill>
                  <a:schemeClr val="accent6"/>
                </a:solidFill>
              </a:rPr>
              <a:t>     </a:t>
            </a:r>
            <a:r>
              <a:rPr lang="en-US" sz="2000" kern="0" spc="-80" dirty="0">
                <a:solidFill>
                  <a:schemeClr val="accent2"/>
                </a:solidFill>
              </a:rPr>
              <a:t>XSS(Cross Site Scripting) - </a:t>
            </a:r>
          </a:p>
        </p:txBody>
      </p:sp>
      <p:sp>
        <p:nvSpPr>
          <p:cNvPr id="8" name="object 2">
            <a:extLst>
              <a:ext uri="{FF2B5EF4-FFF2-40B4-BE49-F238E27FC236}">
                <a16:creationId xmlns:a16="http://schemas.microsoft.com/office/drawing/2014/main" id="{8E271DFB-826A-6B15-9991-53362540F383}"/>
              </a:ext>
            </a:extLst>
          </p:cNvPr>
          <p:cNvSpPr txBox="1">
            <a:spLocks/>
          </p:cNvSpPr>
          <p:nvPr/>
        </p:nvSpPr>
        <p:spPr>
          <a:xfrm>
            <a:off x="137369" y="5309011"/>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Prevent Cross-Site Scripting (XSS) in ASP.NET Core | Microsoft Learn</a:t>
            </a:r>
            <a:endParaRPr lang="en-US" sz="1500" kern="0" spc="-80" dirty="0">
              <a:solidFill>
                <a:schemeClr val="accent2"/>
              </a:solidFill>
            </a:endParaRPr>
          </a:p>
        </p:txBody>
      </p:sp>
      <p:pic>
        <p:nvPicPr>
          <p:cNvPr id="10" name="Picture 9">
            <a:extLst>
              <a:ext uri="{FF2B5EF4-FFF2-40B4-BE49-F238E27FC236}">
                <a16:creationId xmlns:a16="http://schemas.microsoft.com/office/drawing/2014/main" id="{3185DC5C-F2CB-4E31-6D42-8774BF77F5D7}"/>
              </a:ext>
            </a:extLst>
          </p:cNvPr>
          <p:cNvPicPr>
            <a:picLocks noChangeAspect="1"/>
          </p:cNvPicPr>
          <p:nvPr/>
        </p:nvPicPr>
        <p:blipFill>
          <a:blip r:embed="rId8"/>
          <a:stretch>
            <a:fillRect/>
          </a:stretch>
        </p:blipFill>
        <p:spPr>
          <a:xfrm>
            <a:off x="457200" y="1600200"/>
            <a:ext cx="8449491" cy="3802632"/>
          </a:xfrm>
          <a:prstGeom prst="rect">
            <a:avLst/>
          </a:prstGeom>
        </p:spPr>
      </p:pic>
    </p:spTree>
    <p:extLst>
      <p:ext uri="{BB962C8B-B14F-4D97-AF65-F5344CB8AC3E}">
        <p14:creationId xmlns:p14="http://schemas.microsoft.com/office/powerpoint/2010/main" val="148747075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6096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000" kern="0" spc="-80" dirty="0">
                <a:solidFill>
                  <a:schemeClr val="accent2"/>
                </a:solidFill>
              </a:rPr>
              <a:t>   Some Important OWASP Application issues–</a:t>
            </a:r>
          </a:p>
          <a:p>
            <a:pPr marL="12700" marR="5080"/>
            <a:r>
              <a:rPr lang="en-US" sz="2000" kern="0" spc="-80" dirty="0">
                <a:solidFill>
                  <a:schemeClr val="accent6"/>
                </a:solidFill>
              </a:rPr>
              <a:t>     </a:t>
            </a:r>
            <a:r>
              <a:rPr lang="en-US" sz="2000" kern="0" spc="-80" dirty="0">
                <a:solidFill>
                  <a:schemeClr val="accent2"/>
                </a:solidFill>
              </a:rPr>
              <a:t>SQL Injection - </a:t>
            </a:r>
          </a:p>
        </p:txBody>
      </p:sp>
      <p:sp>
        <p:nvSpPr>
          <p:cNvPr id="8" name="object 2">
            <a:extLst>
              <a:ext uri="{FF2B5EF4-FFF2-40B4-BE49-F238E27FC236}">
                <a16:creationId xmlns:a16="http://schemas.microsoft.com/office/drawing/2014/main" id="{8E271DFB-826A-6B15-9991-53362540F383}"/>
              </a:ext>
            </a:extLst>
          </p:cNvPr>
          <p:cNvSpPr txBox="1">
            <a:spLocks/>
          </p:cNvSpPr>
          <p:nvPr/>
        </p:nvSpPr>
        <p:spPr>
          <a:xfrm>
            <a:off x="137369" y="53280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7"/>
              </a:rPr>
              <a:t>SQL Injection | OWASP Foundation</a:t>
            </a:r>
            <a:endParaRPr lang="en-US" sz="1500" kern="0" spc="-80" dirty="0">
              <a:solidFill>
                <a:schemeClr val="accent2"/>
              </a:solidFill>
            </a:endParaRPr>
          </a:p>
        </p:txBody>
      </p:sp>
      <p:pic>
        <p:nvPicPr>
          <p:cNvPr id="5122" name="Picture 2" descr="Hack Proof Your ASP.NET Applications From SQL Injection - CodeProject">
            <a:extLst>
              <a:ext uri="{FF2B5EF4-FFF2-40B4-BE49-F238E27FC236}">
                <a16:creationId xmlns:a16="http://schemas.microsoft.com/office/drawing/2014/main" id="{BC78450E-50AC-92EC-3FEE-F402CBD451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399" y="1638299"/>
            <a:ext cx="8373291" cy="3689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050165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6096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000" kern="0" spc="-80" dirty="0">
                <a:solidFill>
                  <a:schemeClr val="accent2"/>
                </a:solidFill>
              </a:rPr>
              <a:t>   Some Important OWASP Application issues–</a:t>
            </a:r>
          </a:p>
          <a:p>
            <a:pPr marL="12700" marR="5080"/>
            <a:r>
              <a:rPr lang="en-US" sz="2000" kern="0" spc="-80" dirty="0">
                <a:solidFill>
                  <a:schemeClr val="accent6"/>
                </a:solidFill>
              </a:rPr>
              <a:t>     </a:t>
            </a:r>
            <a:r>
              <a:rPr lang="en-US" sz="2000" kern="0" spc="-80" dirty="0">
                <a:solidFill>
                  <a:schemeClr val="accent2"/>
                </a:solidFill>
              </a:rPr>
              <a:t>DDoS(Distributed Denial of Service) - </a:t>
            </a:r>
          </a:p>
        </p:txBody>
      </p:sp>
      <p:sp>
        <p:nvSpPr>
          <p:cNvPr id="8" name="object 2">
            <a:extLst>
              <a:ext uri="{FF2B5EF4-FFF2-40B4-BE49-F238E27FC236}">
                <a16:creationId xmlns:a16="http://schemas.microsoft.com/office/drawing/2014/main" id="{8E271DFB-826A-6B15-9991-53362540F383}"/>
              </a:ext>
            </a:extLst>
          </p:cNvPr>
          <p:cNvSpPr txBox="1">
            <a:spLocks/>
          </p:cNvSpPr>
          <p:nvPr/>
        </p:nvSpPr>
        <p:spPr>
          <a:xfrm>
            <a:off x="137369" y="53280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What is a distributed denial-of-service (DDoS) attack? | Cloudflare</a:t>
            </a:r>
            <a:endParaRPr lang="en-US" sz="1500" kern="0" spc="-80" dirty="0">
              <a:solidFill>
                <a:schemeClr val="accent2"/>
              </a:solidFill>
            </a:endParaRPr>
          </a:p>
        </p:txBody>
      </p:sp>
      <p:pic>
        <p:nvPicPr>
          <p:cNvPr id="6148" name="Picture 4" descr="What is a DDoS Attack? - Distributed Denial of Service | Radware">
            <a:extLst>
              <a:ext uri="{FF2B5EF4-FFF2-40B4-BE49-F238E27FC236}">
                <a16:creationId xmlns:a16="http://schemas.microsoft.com/office/drawing/2014/main" id="{900CFD9A-EF27-E226-063B-98A058CFD9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594485"/>
            <a:ext cx="9144000" cy="3733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926405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6096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000" kern="0" spc="-80" dirty="0">
                <a:solidFill>
                  <a:schemeClr val="accent2"/>
                </a:solidFill>
              </a:rPr>
              <a:t>   Some Important OWASP Application issues–</a:t>
            </a:r>
          </a:p>
          <a:p>
            <a:pPr marL="12700" marR="5080"/>
            <a:r>
              <a:rPr lang="en-US" sz="2000" kern="0" spc="-80" dirty="0">
                <a:solidFill>
                  <a:schemeClr val="accent6"/>
                </a:solidFill>
              </a:rPr>
              <a:t>     </a:t>
            </a:r>
            <a:r>
              <a:rPr lang="en-US" sz="2000" kern="0" spc="-80" dirty="0">
                <a:solidFill>
                  <a:schemeClr val="accent2"/>
                </a:solidFill>
              </a:rPr>
              <a:t>DDoS Types - </a:t>
            </a:r>
          </a:p>
        </p:txBody>
      </p:sp>
      <p:pic>
        <p:nvPicPr>
          <p:cNvPr id="11" name="Picture 10">
            <a:extLst>
              <a:ext uri="{FF2B5EF4-FFF2-40B4-BE49-F238E27FC236}">
                <a16:creationId xmlns:a16="http://schemas.microsoft.com/office/drawing/2014/main" id="{4A7D6978-BA81-902E-516E-77B17768BF7B}"/>
              </a:ext>
            </a:extLst>
          </p:cNvPr>
          <p:cNvPicPr>
            <a:picLocks noChangeAspect="1"/>
          </p:cNvPicPr>
          <p:nvPr/>
        </p:nvPicPr>
        <p:blipFill>
          <a:blip r:embed="rId7"/>
          <a:stretch>
            <a:fillRect/>
          </a:stretch>
        </p:blipFill>
        <p:spPr>
          <a:xfrm>
            <a:off x="281754" y="1600200"/>
            <a:ext cx="8405046" cy="3657600"/>
          </a:xfrm>
          <a:prstGeom prst="rect">
            <a:avLst/>
          </a:prstGeom>
        </p:spPr>
      </p:pic>
      <p:sp>
        <p:nvSpPr>
          <p:cNvPr id="12" name="object 2">
            <a:extLst>
              <a:ext uri="{FF2B5EF4-FFF2-40B4-BE49-F238E27FC236}">
                <a16:creationId xmlns:a16="http://schemas.microsoft.com/office/drawing/2014/main" id="{FCBB0E74-4876-2F32-F119-D7E981D4B94D}"/>
              </a:ext>
            </a:extLst>
          </p:cNvPr>
          <p:cNvSpPr txBox="1">
            <a:spLocks/>
          </p:cNvSpPr>
          <p:nvPr/>
        </p:nvSpPr>
        <p:spPr>
          <a:xfrm>
            <a:off x="137369" y="53280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What is a State-Exhaustion DDoS Attack? | NETSCOUT</a:t>
            </a:r>
            <a:endParaRPr lang="en-US" sz="1500" kern="0" spc="-80" dirty="0">
              <a:solidFill>
                <a:schemeClr val="accent2"/>
              </a:solidFill>
            </a:endParaRPr>
          </a:p>
        </p:txBody>
      </p:sp>
    </p:spTree>
    <p:extLst>
      <p:ext uri="{BB962C8B-B14F-4D97-AF65-F5344CB8AC3E}">
        <p14:creationId xmlns:p14="http://schemas.microsoft.com/office/powerpoint/2010/main" val="236293957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6096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      </a:t>
            </a:r>
          </a:p>
          <a:p>
            <a:pPr marL="12700" marR="5080"/>
            <a:r>
              <a:rPr lang="en-US" sz="2400" kern="0" spc="-80" dirty="0">
                <a:solidFill>
                  <a:schemeClr val="accent2"/>
                </a:solidFill>
              </a:rPr>
              <a:t>   Some Important OWASP Application issues–</a:t>
            </a:r>
          </a:p>
        </p:txBody>
      </p:sp>
      <p:sp>
        <p:nvSpPr>
          <p:cNvPr id="7" name="object 2">
            <a:extLst>
              <a:ext uri="{FF2B5EF4-FFF2-40B4-BE49-F238E27FC236}">
                <a16:creationId xmlns:a16="http://schemas.microsoft.com/office/drawing/2014/main" id="{23F72D99-5C7F-1281-CBA4-B2A848C22CED}"/>
              </a:ext>
            </a:extLst>
          </p:cNvPr>
          <p:cNvSpPr txBox="1">
            <a:spLocks/>
          </p:cNvSpPr>
          <p:nvPr/>
        </p:nvSpPr>
        <p:spPr>
          <a:xfrm>
            <a:off x="442863" y="1717119"/>
            <a:ext cx="8624937" cy="212365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Further Exploration – </a:t>
            </a:r>
          </a:p>
          <a:p>
            <a:pPr marL="12700" marR="5080"/>
            <a:r>
              <a:rPr lang="en-US" sz="1500" dirty="0">
                <a:hlinkClick r:id="rId7"/>
              </a:rPr>
              <a:t>Unearthing Vulnerabilities in C# Source Code: A Pragmatic Approach</a:t>
            </a:r>
            <a:endParaRPr lang="en-US" sz="1500" dirty="0">
              <a:hlinkClick r:id="rId8"/>
            </a:endParaRPr>
          </a:p>
          <a:p>
            <a:pPr marL="12700" marR="5080"/>
            <a:r>
              <a:rPr lang="en-US" sz="1500" dirty="0">
                <a:hlinkClick r:id="rId8"/>
              </a:rPr>
              <a:t>Security topics | Microsoft Learn</a:t>
            </a:r>
            <a:endParaRPr lang="en-US" sz="1500" kern="0" spc="-80" dirty="0">
              <a:solidFill>
                <a:schemeClr val="accent2"/>
              </a:solidFill>
            </a:endParaRPr>
          </a:p>
          <a:p>
            <a:pPr marL="12700" marR="5080"/>
            <a:r>
              <a:rPr lang="en-IN" sz="1500" dirty="0">
                <a:hlinkClick r:id="rId9"/>
              </a:rPr>
              <a:t>Attacks | OWASP Foundation</a:t>
            </a:r>
            <a:endParaRPr lang="en-IN" sz="1500" dirty="0"/>
          </a:p>
          <a:p>
            <a:pPr marL="12700" marR="5080"/>
            <a:r>
              <a:rPr lang="en-US" sz="1500" dirty="0">
                <a:hlinkClick r:id="rId10"/>
              </a:rPr>
              <a:t>24 Deadly Sins of Software Security: Programming Flaws and How to Fix Them[Book]</a:t>
            </a:r>
            <a:endParaRPr lang="en-US" sz="1500" dirty="0"/>
          </a:p>
          <a:p>
            <a:pPr marL="12700" marR="5080"/>
            <a:r>
              <a:rPr lang="en-US" sz="1500" dirty="0">
                <a:hlinkClick r:id="rId11"/>
              </a:rPr>
              <a:t>CVE List | Application Security Cheat Sheet</a:t>
            </a:r>
            <a:r>
              <a:rPr lang="en-US" sz="1500" kern="0" spc="-80" dirty="0">
                <a:solidFill>
                  <a:schemeClr val="accent2"/>
                </a:solidFill>
              </a:rPr>
              <a:t> </a:t>
            </a:r>
          </a:p>
          <a:p>
            <a:pPr marL="12700" marR="5080"/>
            <a:r>
              <a:rPr lang="en-US" sz="1500" dirty="0">
                <a:hlinkClick r:id="rId12"/>
              </a:rPr>
              <a:t>Vulnerabilities detected by Burp Scanner – </a:t>
            </a:r>
            <a:r>
              <a:rPr lang="en-US" sz="1500" dirty="0" err="1">
                <a:hlinkClick r:id="rId12"/>
              </a:rPr>
              <a:t>PortSwigger</a:t>
            </a:r>
            <a:endParaRPr lang="en-US" sz="1500" dirty="0"/>
          </a:p>
          <a:p>
            <a:pPr marL="12700" marR="5080"/>
            <a:r>
              <a:rPr lang="en-US" sz="1500" dirty="0">
                <a:hlinkClick r:id="rId13"/>
              </a:rPr>
              <a:t>All learning materials - detailed | Web Security Academy</a:t>
            </a:r>
            <a:r>
              <a:rPr lang="en-US" sz="2400" kern="0" spc="-80" dirty="0">
                <a:solidFill>
                  <a:schemeClr val="accent2"/>
                </a:solidFill>
              </a:rPr>
              <a:t>  </a:t>
            </a:r>
          </a:p>
        </p:txBody>
      </p:sp>
    </p:spTree>
    <p:extLst>
      <p:ext uri="{BB962C8B-B14F-4D97-AF65-F5344CB8AC3E}">
        <p14:creationId xmlns:p14="http://schemas.microsoft.com/office/powerpoint/2010/main" val="297651272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726043"/>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a:t>
            </a:r>
          </a:p>
          <a:p>
            <a:pPr marL="12700" marR="5080"/>
            <a:r>
              <a:rPr lang="en-US" sz="1600" kern="0" spc="-80" dirty="0">
                <a:solidFill>
                  <a:schemeClr val="accent2"/>
                </a:solidFill>
              </a:rPr>
              <a:t>    Accesses – </a:t>
            </a:r>
            <a:r>
              <a:rPr lang="en-US" sz="1600" kern="0" spc="-80" dirty="0">
                <a:solidFill>
                  <a:schemeClr val="accent6"/>
                </a:solidFill>
              </a:rPr>
              <a:t>Mainly from Dev perspective, who has what access.</a:t>
            </a:r>
          </a:p>
          <a:p>
            <a:pPr marL="12700" marR="5080"/>
            <a:r>
              <a:rPr lang="en-US" sz="1600" kern="0" spc="-80" dirty="0">
                <a:solidFill>
                  <a:schemeClr val="accent6"/>
                </a:solidFill>
              </a:rPr>
              <a:t>    </a:t>
            </a:r>
            <a:r>
              <a:rPr lang="en-US" sz="1600" kern="0" spc="-80" dirty="0">
                <a:solidFill>
                  <a:schemeClr val="accent2"/>
                </a:solidFill>
              </a:rPr>
              <a:t>Processes – </a:t>
            </a:r>
            <a:r>
              <a:rPr lang="en-US" sz="1600" kern="0" spc="-80" dirty="0">
                <a:solidFill>
                  <a:schemeClr val="accent6"/>
                </a:solidFill>
              </a:rPr>
              <a:t>Again mainly from Dev perspective, the processes that needs to be followed.</a:t>
            </a:r>
          </a:p>
          <a:p>
            <a:pPr marL="12700" marR="5080"/>
            <a:r>
              <a:rPr lang="en-US" sz="1600" kern="0" spc="-80" dirty="0">
                <a:solidFill>
                  <a:schemeClr val="accent6"/>
                </a:solidFill>
              </a:rPr>
              <a:t>    </a:t>
            </a:r>
            <a:r>
              <a:rPr lang="en-US" sz="1600" kern="0" spc="-80" dirty="0">
                <a:solidFill>
                  <a:schemeClr val="accent2"/>
                </a:solidFill>
              </a:rPr>
              <a:t>Regulatory Compliance – </a:t>
            </a:r>
            <a:r>
              <a:rPr lang="en-US" sz="1600" kern="0" spc="-80" dirty="0">
                <a:solidFill>
                  <a:schemeClr val="accent6"/>
                </a:solidFill>
              </a:rPr>
              <a:t>Mainly from App perspective. Compliance that needs to be followed as part of some Regulatory Authority(e.g. consents[EULA, Allow Cookies </a:t>
            </a:r>
            <a:r>
              <a:rPr lang="en-US" sz="1600" kern="0" spc="-80" dirty="0" err="1">
                <a:solidFill>
                  <a:schemeClr val="accent6"/>
                </a:solidFill>
              </a:rPr>
              <a:t>PopUps</a:t>
            </a:r>
            <a:r>
              <a:rPr lang="en-US" sz="1600" kern="0" spc="-80" dirty="0">
                <a:solidFill>
                  <a:schemeClr val="accent6"/>
                </a:solidFill>
              </a:rPr>
              <a:t> </a:t>
            </a:r>
            <a:r>
              <a:rPr lang="en-US" sz="1600" kern="0" spc="-80" dirty="0" err="1">
                <a:solidFill>
                  <a:schemeClr val="accent6"/>
                </a:solidFill>
              </a:rPr>
              <a:t>etc</a:t>
            </a:r>
            <a:r>
              <a:rPr lang="en-US" sz="1600" kern="0" spc="-80" dirty="0">
                <a:solidFill>
                  <a:schemeClr val="accent6"/>
                </a:solidFill>
              </a:rPr>
              <a:t>] )</a:t>
            </a:r>
          </a:p>
          <a:p>
            <a:pPr marL="12700" marR="5080"/>
            <a:r>
              <a:rPr lang="en-US" sz="1600" kern="0" spc="-80" dirty="0">
                <a:solidFill>
                  <a:schemeClr val="accent6"/>
                </a:solidFill>
              </a:rPr>
              <a:t>    </a:t>
            </a:r>
            <a:r>
              <a:rPr lang="en-US" sz="1600" kern="0" spc="-80" dirty="0">
                <a:solidFill>
                  <a:schemeClr val="accent2"/>
                </a:solidFill>
              </a:rPr>
              <a:t>Auditing - </a:t>
            </a:r>
            <a:r>
              <a:rPr lang="en-US" sz="1600" kern="0" spc="-80" dirty="0">
                <a:solidFill>
                  <a:schemeClr val="accent6"/>
                </a:solidFill>
              </a:rPr>
              <a:t>Can be from both App &amp; Dev perspective. Who did what and When.</a:t>
            </a:r>
          </a:p>
          <a:p>
            <a:pPr marL="12700" marR="5080"/>
            <a:r>
              <a:rPr lang="en-US" sz="1600" kern="0" spc="-80" dirty="0">
                <a:solidFill>
                  <a:schemeClr val="accent6"/>
                </a:solidFill>
              </a:rPr>
              <a:t>   </a:t>
            </a:r>
            <a:r>
              <a:rPr lang="en-US" sz="1600" kern="0" spc="-80" dirty="0">
                <a:solidFill>
                  <a:schemeClr val="accent2"/>
                </a:solidFill>
              </a:rPr>
              <a:t>Archival &amp; Purging - </a:t>
            </a:r>
            <a:r>
              <a:rPr lang="en-US" sz="1600" kern="0" spc="-80" dirty="0">
                <a:solidFill>
                  <a:schemeClr val="accent6"/>
                </a:solidFill>
              </a:rPr>
              <a:t>Mainly from App perspective. How much data &amp; how often &amp; for how long the data should be archived. How frequently &amp; how much amount of data should be purged.</a:t>
            </a:r>
          </a:p>
          <a:p>
            <a:pPr marL="12700" marR="5080"/>
            <a:endParaRPr lang="en-US" sz="1800" kern="0" spc="-80" dirty="0">
              <a:solidFill>
                <a:schemeClr val="accent6"/>
              </a:solidFill>
            </a:endParaRPr>
          </a:p>
          <a:p>
            <a:pPr marL="12700" marR="5080"/>
            <a:r>
              <a:rPr lang="en-US" sz="1800" kern="0" spc="-80" dirty="0">
                <a:solidFill>
                  <a:schemeClr val="accent6"/>
                </a:solidFill>
              </a:rPr>
              <a:t> </a:t>
            </a:r>
            <a:r>
              <a:rPr lang="en-US" sz="2400" kern="0" spc="-80" dirty="0">
                <a:solidFill>
                  <a:schemeClr val="accent2"/>
                </a:solidFill>
              </a:rPr>
              <a:t>For Further Exploration – </a:t>
            </a:r>
          </a:p>
          <a:p>
            <a:pPr marL="12700" marR="5080"/>
            <a:r>
              <a:rPr lang="en-US" sz="1500" kern="0" spc="-80" dirty="0">
                <a:solidFill>
                  <a:schemeClr val="accent2"/>
                </a:solidFill>
              </a:rPr>
              <a:t> </a:t>
            </a:r>
            <a:r>
              <a:rPr lang="en-US" sz="1500" dirty="0">
                <a:hlinkClick r:id="rId7"/>
              </a:rPr>
              <a:t>Data Governance in a Digitally Intelligent World - a </a:t>
            </a:r>
            <a:r>
              <a:rPr lang="en-US" sz="1500" dirty="0" err="1">
                <a:hlinkClick r:id="rId7"/>
              </a:rPr>
              <a:t>PoV</a:t>
            </a:r>
            <a:r>
              <a:rPr lang="en-US" sz="1500" dirty="0">
                <a:hlinkClick r:id="rId7"/>
              </a:rPr>
              <a:t> | LinkedIn</a:t>
            </a:r>
            <a:endParaRPr lang="en-US" sz="1500" dirty="0"/>
          </a:p>
          <a:p>
            <a:pPr marL="12700" marR="5080"/>
            <a:r>
              <a:rPr lang="en-US" sz="1500" kern="0" spc="-80" dirty="0">
                <a:solidFill>
                  <a:schemeClr val="accent2"/>
                </a:solidFill>
              </a:rPr>
              <a:t> </a:t>
            </a:r>
            <a:r>
              <a:rPr lang="en-US" sz="1500" dirty="0">
                <a:hlinkClick r:id="rId8"/>
              </a:rPr>
              <a:t>Cross Industry </a:t>
            </a:r>
            <a:r>
              <a:rPr lang="en-US" sz="1500" dirty="0" err="1">
                <a:hlinkClick r:id="rId8"/>
              </a:rPr>
              <a:t>RegTech</a:t>
            </a:r>
            <a:r>
              <a:rPr lang="en-US" sz="1500" dirty="0">
                <a:hlinkClick r:id="rId8"/>
              </a:rPr>
              <a:t> Platform - a </a:t>
            </a:r>
            <a:r>
              <a:rPr lang="en-US" sz="1500" dirty="0" err="1">
                <a:hlinkClick r:id="rId8"/>
              </a:rPr>
              <a:t>PoV</a:t>
            </a:r>
            <a:r>
              <a:rPr lang="en-US" sz="1500" dirty="0">
                <a:hlinkClick r:id="rId8"/>
              </a:rPr>
              <a:t> | LinkedIn</a:t>
            </a:r>
            <a:endParaRPr lang="en-US" sz="1500" kern="0" spc="-80" dirty="0">
              <a:solidFill>
                <a:schemeClr val="accent2"/>
              </a:solidFill>
            </a:endParaRPr>
          </a:p>
          <a:p>
            <a:pPr marL="12700" marR="5080"/>
            <a:r>
              <a:rPr lang="en-US" sz="1500" kern="0" spc="-80" dirty="0">
                <a:solidFill>
                  <a:schemeClr val="accent2"/>
                </a:solidFill>
              </a:rPr>
              <a:t> </a:t>
            </a:r>
            <a:r>
              <a:rPr lang="en-US" sz="1500" dirty="0">
                <a:hlinkClick r:id="rId9"/>
              </a:rPr>
              <a:t>Cloud Compliance - Amazon Web Services (AWS)</a:t>
            </a:r>
            <a:r>
              <a:rPr lang="en-US" sz="1500" kern="0" spc="-80" dirty="0">
                <a:solidFill>
                  <a:schemeClr val="accent2"/>
                </a:solidFill>
              </a:rPr>
              <a:t>  </a:t>
            </a:r>
          </a:p>
          <a:p>
            <a:pPr marL="12700" marR="5080"/>
            <a:r>
              <a:rPr lang="en-US" sz="1500" kern="0" spc="-80" dirty="0">
                <a:solidFill>
                  <a:schemeClr val="accent2"/>
                </a:solidFill>
                <a:hlinkClick r:id="rId10"/>
              </a:rPr>
              <a:t> </a:t>
            </a:r>
            <a:r>
              <a:rPr lang="en-US" sz="1500" dirty="0">
                <a:hlinkClick r:id="rId10"/>
              </a:rPr>
              <a:t>Security best practices and patterns - Microsoft Azure | Microsoft Learn</a:t>
            </a:r>
            <a:endParaRPr lang="en-US" sz="1500" kern="0" spc="-80" dirty="0">
              <a:solidFill>
                <a:schemeClr val="accent2"/>
              </a:solidFill>
            </a:endParaRPr>
          </a:p>
        </p:txBody>
      </p:sp>
    </p:spTree>
    <p:extLst>
      <p:ext uri="{BB962C8B-B14F-4D97-AF65-F5344CB8AC3E}">
        <p14:creationId xmlns:p14="http://schemas.microsoft.com/office/powerpoint/2010/main" val="294589726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762000"/>
            <a:ext cx="8624937" cy="56784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Manageability – </a:t>
            </a:r>
          </a:p>
          <a:p>
            <a:pPr marL="12700" marR="5080"/>
            <a:r>
              <a:rPr lang="en-US" sz="1700" kern="0" spc="-80" dirty="0">
                <a:solidFill>
                  <a:schemeClr val="accent2"/>
                </a:solidFill>
              </a:rPr>
              <a:t>   </a:t>
            </a:r>
            <a:r>
              <a:rPr lang="en-US" sz="1700" kern="0" spc="-80" dirty="0">
                <a:solidFill>
                  <a:schemeClr val="accent6"/>
                </a:solidFill>
              </a:rPr>
              <a:t>Mostly write-once through some control panel(can be some </a:t>
            </a:r>
            <a:r>
              <a:rPr lang="en-US" sz="1700" kern="0" spc="-80" dirty="0" err="1">
                <a:solidFill>
                  <a:schemeClr val="accent6"/>
                </a:solidFill>
              </a:rPr>
              <a:t>DevSecOps</a:t>
            </a:r>
            <a:r>
              <a:rPr lang="en-US" sz="1700" kern="0" spc="-80" dirty="0">
                <a:solidFill>
                  <a:schemeClr val="accent6"/>
                </a:solidFill>
              </a:rPr>
              <a:t> script as well) &amp; read many times via the data plane.</a:t>
            </a:r>
          </a:p>
          <a:p>
            <a:pPr marL="12700" marR="5080"/>
            <a:endParaRPr lang="en-US" sz="1700" kern="0" spc="-80" dirty="0">
              <a:solidFill>
                <a:schemeClr val="accent6"/>
              </a:solidFill>
            </a:endParaRPr>
          </a:p>
          <a:p>
            <a:pPr marL="12700" marR="5080"/>
            <a:r>
              <a:rPr lang="en-US" sz="1700" kern="0" spc="-80" dirty="0">
                <a:solidFill>
                  <a:schemeClr val="accent2"/>
                </a:solidFill>
              </a:rPr>
              <a:t>   Vaults – </a:t>
            </a:r>
            <a:r>
              <a:rPr lang="en-US" sz="1700" kern="0" spc="-80" dirty="0">
                <a:solidFill>
                  <a:schemeClr val="accent6"/>
                </a:solidFill>
              </a:rPr>
              <a:t>Mainly used for storing secrets(e.g. API keys, Symmetric/Asymmetric keys)</a:t>
            </a:r>
          </a:p>
          <a:p>
            <a:pPr marL="12700" marR="5080"/>
            <a:endParaRPr lang="en-US" sz="1700" kern="0" spc="-80" dirty="0">
              <a:solidFill>
                <a:schemeClr val="accent6"/>
              </a:solidFill>
            </a:endParaRPr>
          </a:p>
          <a:p>
            <a:pPr marL="12700" marR="5080"/>
            <a:r>
              <a:rPr lang="en-US" sz="1700" kern="0" spc="-80" dirty="0">
                <a:solidFill>
                  <a:schemeClr val="accent2"/>
                </a:solidFill>
              </a:rPr>
              <a:t>   Configs – </a:t>
            </a:r>
            <a:r>
              <a:rPr lang="en-US" sz="1700" kern="0" spc="-80" dirty="0">
                <a:solidFill>
                  <a:schemeClr val="accent6"/>
                </a:solidFill>
              </a:rPr>
              <a:t>Mainly used for storing configuration settings. Can be used to store some desired state as well.</a:t>
            </a:r>
          </a:p>
          <a:p>
            <a:pPr marL="12700" marR="5080"/>
            <a:endParaRPr lang="en-US" sz="1700" kern="0" spc="-80" dirty="0">
              <a:solidFill>
                <a:schemeClr val="accent6"/>
              </a:solidFill>
            </a:endParaRPr>
          </a:p>
          <a:p>
            <a:pPr marL="12700" marR="5080"/>
            <a:r>
              <a:rPr lang="en-US" sz="1700" kern="0" spc="-80" dirty="0">
                <a:solidFill>
                  <a:schemeClr val="accent2"/>
                </a:solidFill>
              </a:rPr>
              <a:t>   Feature Toggling – </a:t>
            </a:r>
            <a:r>
              <a:rPr lang="en-US" sz="1700" kern="0" spc="-80" dirty="0">
                <a:solidFill>
                  <a:schemeClr val="accent6"/>
                </a:solidFill>
              </a:rPr>
              <a:t>Although can be done via configs as well but special tools like below have been developed for the same – </a:t>
            </a:r>
          </a:p>
          <a:p>
            <a:pPr marL="12700" marR="5080"/>
            <a:r>
              <a:rPr lang="en-US" sz="1700" kern="0" spc="-80" dirty="0">
                <a:solidFill>
                  <a:schemeClr val="accent6"/>
                </a:solidFill>
              </a:rPr>
              <a:t>  </a:t>
            </a:r>
            <a:r>
              <a:rPr lang="en-US" sz="1700" dirty="0" err="1">
                <a:hlinkClick r:id="rId7"/>
              </a:rPr>
              <a:t>LaunchDarkly</a:t>
            </a:r>
            <a:r>
              <a:rPr lang="en-US" sz="1700" dirty="0">
                <a:hlinkClick r:id="rId7"/>
              </a:rPr>
              <a:t>: Feature Flags, Feature Management, and Experimentation</a:t>
            </a:r>
            <a:r>
              <a:rPr lang="en-US" sz="1700" kern="0" spc="-80" dirty="0">
                <a:solidFill>
                  <a:schemeClr val="accent6"/>
                </a:solidFill>
              </a:rPr>
              <a:t> </a:t>
            </a:r>
          </a:p>
          <a:p>
            <a:pPr marL="12700" marR="5080"/>
            <a:r>
              <a:rPr lang="en-US" sz="1700" kern="0" spc="-80" dirty="0">
                <a:solidFill>
                  <a:schemeClr val="accent6"/>
                </a:solidFill>
              </a:rPr>
              <a:t>  </a:t>
            </a:r>
            <a:r>
              <a:rPr lang="en-US" sz="1700" dirty="0">
                <a:hlinkClick r:id="rId8"/>
              </a:rPr>
              <a:t>Feature Flags in .NET, from simple to more advanced</a:t>
            </a:r>
            <a:endParaRPr lang="en-US" sz="1700" dirty="0"/>
          </a:p>
          <a:p>
            <a:pPr marL="12700" marR="5080"/>
            <a:r>
              <a:rPr lang="en-US" sz="1700" dirty="0"/>
              <a:t>  </a:t>
            </a:r>
            <a:r>
              <a:rPr lang="en-US" sz="1700" dirty="0">
                <a:hlinkClick r:id="rId9"/>
              </a:rPr>
              <a:t>Test-Driven or Feature Flag-Driven Development: What’s Best for Your Team?</a:t>
            </a:r>
            <a:endParaRPr lang="en-US" sz="1700" dirty="0"/>
          </a:p>
          <a:p>
            <a:pPr marL="12700" marR="5080"/>
            <a:r>
              <a:rPr lang="en-US" sz="1700" kern="0" spc="-80" dirty="0">
                <a:solidFill>
                  <a:schemeClr val="accent2"/>
                </a:solidFill>
              </a:rPr>
              <a:t>  </a:t>
            </a:r>
            <a:r>
              <a:rPr lang="en-US" sz="1700" kern="0" spc="-80" dirty="0">
                <a:solidFill>
                  <a:schemeClr val="accent6"/>
                </a:solidFill>
              </a:rPr>
              <a:t>But in some sense, the Feature Flag tools are some sort of config only. Also, it might seem that such feature flag tools should not be needed in any Enterprise but when you have lots of (micro)services and you want complex centralized management of feature toggling then such tools turn out to be very useful.</a:t>
            </a:r>
          </a:p>
          <a:p>
            <a:pPr marL="12700" marR="5080"/>
            <a:endParaRPr lang="en-US" sz="2400" kern="0" spc="-80" dirty="0">
              <a:solidFill>
                <a:schemeClr val="accent2"/>
              </a:solidFill>
            </a:endParaRPr>
          </a:p>
          <a:p>
            <a:pPr marL="12700" marR="5080"/>
            <a:endParaRPr lang="en-US" sz="2200" kern="0" spc="-80" dirty="0">
              <a:solidFill>
                <a:schemeClr val="accent2"/>
              </a:solidFill>
            </a:endParaRPr>
          </a:p>
        </p:txBody>
      </p:sp>
    </p:spTree>
    <p:extLst>
      <p:ext uri="{BB962C8B-B14F-4D97-AF65-F5344CB8AC3E}">
        <p14:creationId xmlns:p14="http://schemas.microsoft.com/office/powerpoint/2010/main" val="355534836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762000"/>
            <a:ext cx="8624937" cy="56630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DR(Disaster Recovery) – </a:t>
            </a:r>
          </a:p>
          <a:p>
            <a:pPr marL="12700" marR="5080"/>
            <a:r>
              <a:rPr lang="en-US" sz="1800" kern="0" spc="-80" dirty="0">
                <a:solidFill>
                  <a:schemeClr val="accent2"/>
                </a:solidFill>
              </a:rPr>
              <a:t>   </a:t>
            </a:r>
            <a:r>
              <a:rPr lang="en-US" sz="1800" kern="0" spc="-80" dirty="0">
                <a:solidFill>
                  <a:schemeClr val="accent6"/>
                </a:solidFill>
              </a:rPr>
              <a:t>Difference between Business Continuity &amp; DR is that Business Continuity is continuing the business on some parts of the system failure but DR is more of accommodating to situations after total system failure.</a:t>
            </a:r>
          </a:p>
          <a:p>
            <a:pPr marL="12700" marR="5080"/>
            <a:endParaRPr lang="en-US" sz="2000" kern="0" spc="-80" dirty="0">
              <a:solidFill>
                <a:schemeClr val="accent2"/>
              </a:solidFill>
            </a:endParaRPr>
          </a:p>
          <a:p>
            <a:pPr marL="12700" marR="5080"/>
            <a:r>
              <a:rPr lang="en-US" sz="1800" kern="0" spc="-80" dirty="0">
                <a:solidFill>
                  <a:schemeClr val="accent2"/>
                </a:solidFill>
              </a:rPr>
              <a:t>   </a:t>
            </a:r>
            <a:r>
              <a:rPr lang="en-US" sz="1800" kern="0" spc="-80" dirty="0">
                <a:solidFill>
                  <a:schemeClr val="accent6"/>
                </a:solidFill>
              </a:rPr>
              <a:t>DR should be done not only for data but also for code &amp; Infra.</a:t>
            </a:r>
          </a:p>
          <a:p>
            <a:pPr marL="12700" marR="5080"/>
            <a:r>
              <a:rPr lang="en-US" sz="1800" kern="0" spc="-80" dirty="0">
                <a:solidFill>
                  <a:schemeClr val="accent6"/>
                </a:solidFill>
              </a:rPr>
              <a:t>   </a:t>
            </a:r>
            <a:r>
              <a:rPr lang="en-US" sz="1800" kern="0" spc="-80" dirty="0">
                <a:solidFill>
                  <a:schemeClr val="accent2"/>
                </a:solidFill>
              </a:rPr>
              <a:t>Code</a:t>
            </a:r>
            <a:r>
              <a:rPr lang="en-US" sz="1800" kern="0" spc="-80" dirty="0">
                <a:solidFill>
                  <a:schemeClr val="accent6"/>
                </a:solidFill>
              </a:rPr>
              <a:t> – DR can be done using Distributed Version Control Systems.</a:t>
            </a:r>
          </a:p>
          <a:p>
            <a:pPr marL="12700" marR="5080"/>
            <a:r>
              <a:rPr lang="en-US" sz="1800" kern="0" spc="-80" dirty="0">
                <a:solidFill>
                  <a:schemeClr val="accent6"/>
                </a:solidFill>
              </a:rPr>
              <a:t>   </a:t>
            </a:r>
            <a:r>
              <a:rPr lang="en-US" sz="1800" kern="0" spc="-80" dirty="0">
                <a:solidFill>
                  <a:schemeClr val="accent2"/>
                </a:solidFill>
              </a:rPr>
              <a:t>Infra</a:t>
            </a:r>
            <a:r>
              <a:rPr lang="en-US" sz="1800" kern="0" spc="-80" dirty="0">
                <a:solidFill>
                  <a:schemeClr val="accent6"/>
                </a:solidFill>
              </a:rPr>
              <a:t> – Quick Recovery can be done using </a:t>
            </a:r>
            <a:r>
              <a:rPr lang="en-US" sz="1800" kern="0" spc="-80" dirty="0" err="1">
                <a:solidFill>
                  <a:schemeClr val="accent6"/>
                </a:solidFill>
              </a:rPr>
              <a:t>IaC</a:t>
            </a:r>
            <a:r>
              <a:rPr lang="en-US" sz="1800" kern="0" spc="-80" dirty="0">
                <a:solidFill>
                  <a:schemeClr val="accent6"/>
                </a:solidFill>
              </a:rPr>
              <a:t>.</a:t>
            </a:r>
          </a:p>
          <a:p>
            <a:pPr marL="12700" marR="5080"/>
            <a:endParaRPr lang="en-US" sz="2000" kern="0" spc="-80" dirty="0">
              <a:solidFill>
                <a:schemeClr val="accent6"/>
              </a:solidFill>
            </a:endParaRPr>
          </a:p>
          <a:p>
            <a:pPr marL="12700" marR="5080"/>
            <a:r>
              <a:rPr lang="en-US" sz="2000" kern="0" spc="-80" dirty="0">
                <a:solidFill>
                  <a:schemeClr val="accent6"/>
                </a:solidFill>
              </a:rPr>
              <a:t>   </a:t>
            </a:r>
            <a:r>
              <a:rPr lang="en-US" sz="2400" kern="0" spc="-80" dirty="0">
                <a:solidFill>
                  <a:schemeClr val="accent2"/>
                </a:solidFill>
              </a:rPr>
              <a:t>RTO &amp; RPO – </a:t>
            </a:r>
          </a:p>
          <a:p>
            <a:pPr marL="12700" marR="5080"/>
            <a:r>
              <a:rPr lang="en-US" sz="2400" kern="0" spc="-80" dirty="0">
                <a:solidFill>
                  <a:schemeClr val="accent2"/>
                </a:solidFill>
              </a:rPr>
              <a:t>   </a:t>
            </a:r>
            <a:r>
              <a:rPr lang="en-US" sz="2000" kern="0" spc="-80" dirty="0">
                <a:solidFill>
                  <a:schemeClr val="accent2"/>
                </a:solidFill>
              </a:rPr>
              <a:t>RTO(Recovery Time Objective) – </a:t>
            </a:r>
            <a:r>
              <a:rPr lang="en-US" sz="2000" kern="0" spc="-80" dirty="0">
                <a:solidFill>
                  <a:schemeClr val="accent6"/>
                </a:solidFill>
              </a:rPr>
              <a:t>How much time does it take to recover from a failure? DR techniques for code &amp; infra(</a:t>
            </a:r>
            <a:r>
              <a:rPr lang="en-US" sz="2000" kern="0" spc="-80" dirty="0" err="1">
                <a:solidFill>
                  <a:schemeClr val="accent6"/>
                </a:solidFill>
              </a:rPr>
              <a:t>alongwith</a:t>
            </a:r>
            <a:r>
              <a:rPr lang="en-US" sz="2000" kern="0" spc="-80" dirty="0">
                <a:solidFill>
                  <a:schemeClr val="accent6"/>
                </a:solidFill>
              </a:rPr>
              <a:t> Data) improves this.</a:t>
            </a:r>
          </a:p>
          <a:p>
            <a:pPr marL="12700" marR="5080"/>
            <a:r>
              <a:rPr lang="en-US" sz="2000" kern="0" spc="-80" dirty="0">
                <a:solidFill>
                  <a:schemeClr val="accent2"/>
                </a:solidFill>
              </a:rPr>
              <a:t>   </a:t>
            </a:r>
          </a:p>
          <a:p>
            <a:pPr marL="12700" marR="5080"/>
            <a:r>
              <a:rPr lang="en-US" sz="2000" kern="0" spc="-80" dirty="0">
                <a:solidFill>
                  <a:schemeClr val="accent2"/>
                </a:solidFill>
              </a:rPr>
              <a:t>   RPO(Recovery Point Objective) – </a:t>
            </a:r>
            <a:r>
              <a:rPr lang="en-US" sz="2000" kern="0" spc="-80" dirty="0">
                <a:solidFill>
                  <a:schemeClr val="accent6"/>
                </a:solidFill>
              </a:rPr>
              <a:t>How much &amp; how frequently data/code/infra should be backed up so that on failure we can </a:t>
            </a:r>
            <a:r>
              <a:rPr lang="en-US" sz="2000" kern="0" spc="-80" dirty="0" err="1">
                <a:solidFill>
                  <a:schemeClr val="accent6"/>
                </a:solidFill>
              </a:rPr>
              <a:t>atleast</a:t>
            </a:r>
            <a:r>
              <a:rPr lang="en-US" sz="2000" kern="0" spc="-80" dirty="0">
                <a:solidFill>
                  <a:schemeClr val="accent6"/>
                </a:solidFill>
              </a:rPr>
              <a:t> use the Backup?</a:t>
            </a:r>
          </a:p>
          <a:p>
            <a:pPr marL="12700" marR="5080"/>
            <a:endParaRPr lang="en-US" sz="2200" kern="0" spc="-80" dirty="0">
              <a:solidFill>
                <a:schemeClr val="accent2"/>
              </a:solidFill>
            </a:endParaRPr>
          </a:p>
        </p:txBody>
      </p:sp>
    </p:spTree>
    <p:extLst>
      <p:ext uri="{BB962C8B-B14F-4D97-AF65-F5344CB8AC3E}">
        <p14:creationId xmlns:p14="http://schemas.microsoft.com/office/powerpoint/2010/main" val="92180617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762000"/>
            <a:ext cx="8624937" cy="283154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DR(Disaster Recovery) – </a:t>
            </a:r>
          </a:p>
          <a:p>
            <a:pPr marL="12700" marR="5080"/>
            <a:r>
              <a:rPr lang="en-US" sz="2000" kern="0" spc="-80" dirty="0">
                <a:solidFill>
                  <a:schemeClr val="accent2"/>
                </a:solidFill>
              </a:rPr>
              <a:t>   Age-Old On-Premise DR Techniques – </a:t>
            </a:r>
          </a:p>
          <a:p>
            <a:pPr marL="12700" marR="5080"/>
            <a:r>
              <a:rPr lang="en-US" sz="2000" kern="0" spc="-80" dirty="0">
                <a:solidFill>
                  <a:schemeClr val="accent2"/>
                </a:solidFill>
              </a:rPr>
              <a:t>     </a:t>
            </a:r>
          </a:p>
          <a:p>
            <a:pPr marL="12700" marR="5080"/>
            <a:endParaRPr lang="en-US" sz="2000" kern="0" spc="-80" dirty="0">
              <a:solidFill>
                <a:schemeClr val="accent2"/>
              </a:solidFill>
            </a:endParaRPr>
          </a:p>
          <a:p>
            <a:pPr marL="12700" marR="5080"/>
            <a:r>
              <a:rPr lang="en-US" sz="2000" kern="0" spc="-80" dirty="0">
                <a:solidFill>
                  <a:schemeClr val="accent2"/>
                </a:solidFill>
              </a:rPr>
              <a:t>   </a:t>
            </a: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p:txBody>
      </p:sp>
      <p:pic>
        <p:nvPicPr>
          <p:cNvPr id="1026" name="Picture 2" descr="Active-Active performs the quickest recovery">
            <a:extLst>
              <a:ext uri="{FF2B5EF4-FFF2-40B4-BE49-F238E27FC236}">
                <a16:creationId xmlns:a16="http://schemas.microsoft.com/office/drawing/2014/main" id="{1109D9ED-2646-DD64-10CA-4D322EB9EAA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1447800"/>
            <a:ext cx="7010400" cy="20955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hapter 3. Active-Passive Disaster Recovery Red Hat Virtualization 4.3 |  Red Hat Customer Portal">
            <a:extLst>
              <a:ext uri="{FF2B5EF4-FFF2-40B4-BE49-F238E27FC236}">
                <a16:creationId xmlns:a16="http://schemas.microsoft.com/office/drawing/2014/main" id="{67F5E920-E035-6A69-B12A-9E7F3D9C8C2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3705225"/>
            <a:ext cx="7543800" cy="208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34834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6858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DR(Disaster Recovery) – </a:t>
            </a:r>
          </a:p>
          <a:p>
            <a:pPr marL="12700" marR="5080"/>
            <a:r>
              <a:rPr lang="en-US" sz="2000" kern="0" spc="-80" dirty="0">
                <a:solidFill>
                  <a:schemeClr val="accent2"/>
                </a:solidFill>
              </a:rPr>
              <a:t>   Cloud DR Techniques – </a:t>
            </a:r>
          </a:p>
        </p:txBody>
      </p:sp>
      <p:sp>
        <p:nvSpPr>
          <p:cNvPr id="7" name="object 2">
            <a:extLst>
              <a:ext uri="{FF2B5EF4-FFF2-40B4-BE49-F238E27FC236}">
                <a16:creationId xmlns:a16="http://schemas.microsoft.com/office/drawing/2014/main" id="{C6B66438-B4FF-57ED-633D-7C5876350C38}"/>
              </a:ext>
            </a:extLst>
          </p:cNvPr>
          <p:cNvSpPr txBox="1">
            <a:spLocks/>
          </p:cNvSpPr>
          <p:nvPr/>
        </p:nvSpPr>
        <p:spPr>
          <a:xfrm>
            <a:off x="290463" y="67512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DR(Disaster Recovery) – </a:t>
            </a:r>
          </a:p>
          <a:p>
            <a:pPr marL="12700" marR="5080"/>
            <a:r>
              <a:rPr lang="en-US" sz="2000" kern="0" spc="-80" dirty="0">
                <a:solidFill>
                  <a:schemeClr val="accent2"/>
                </a:solidFill>
              </a:rPr>
              <a:t>   Cloud DR Techniques – </a:t>
            </a:r>
          </a:p>
        </p:txBody>
      </p:sp>
      <p:sp>
        <p:nvSpPr>
          <p:cNvPr id="8" name="object 2">
            <a:extLst>
              <a:ext uri="{FF2B5EF4-FFF2-40B4-BE49-F238E27FC236}">
                <a16:creationId xmlns:a16="http://schemas.microsoft.com/office/drawing/2014/main" id="{DC5E15BA-0B9F-B3EA-3B8F-3E45692C2C7C}"/>
              </a:ext>
            </a:extLst>
          </p:cNvPr>
          <p:cNvSpPr txBox="1">
            <a:spLocks/>
          </p:cNvSpPr>
          <p:nvPr/>
        </p:nvSpPr>
        <p:spPr>
          <a:xfrm>
            <a:off x="380024" y="4806811"/>
            <a:ext cx="8624937" cy="10464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 – </a:t>
            </a:r>
          </a:p>
          <a:p>
            <a:pPr marL="12700" marR="5080"/>
            <a:r>
              <a:rPr lang="en-US" sz="1400" dirty="0">
                <a:hlinkClick r:id="rId7"/>
              </a:rPr>
              <a:t>Disaster recovery options in the cloud</a:t>
            </a:r>
            <a:endParaRPr lang="en-US" sz="1400" dirty="0"/>
          </a:p>
          <a:p>
            <a:pPr marL="12700" marR="5080"/>
            <a:r>
              <a:rPr lang="en-US" sz="1400" dirty="0">
                <a:hlinkClick r:id="rId8"/>
              </a:rPr>
              <a:t>Enterprise-scale disaster recovery</a:t>
            </a:r>
            <a:endParaRPr lang="en-US" sz="1400" dirty="0"/>
          </a:p>
          <a:p>
            <a:pPr marL="12700" marR="5080"/>
            <a:r>
              <a:rPr lang="en-US" sz="1400" dirty="0">
                <a:hlinkClick r:id="rId9"/>
              </a:rPr>
              <a:t>The ultimate guide to achieving RPO/RTO</a:t>
            </a:r>
            <a:endParaRPr lang="en-US" sz="1400" kern="0" spc="-80" dirty="0">
              <a:solidFill>
                <a:schemeClr val="accent2"/>
              </a:solidFill>
            </a:endParaRPr>
          </a:p>
        </p:txBody>
      </p:sp>
      <p:pic>
        <p:nvPicPr>
          <p:cNvPr id="1026" name="Picture 2" descr="Disaster Recovery (DR) Architecture on AWS, Part I: Strategies for Recovery  in the Cloud | AWS Architecture Blog">
            <a:extLst>
              <a:ext uri="{FF2B5EF4-FFF2-40B4-BE49-F238E27FC236}">
                <a16:creationId xmlns:a16="http://schemas.microsoft.com/office/drawing/2014/main" id="{E49B1EBC-D70F-8F71-33AA-73C057287BC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1417755"/>
            <a:ext cx="9144000" cy="3378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797124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6F7CA-6182-6FEC-A1EB-239D071CBA5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1F4CF8B-1878-C56A-6FEC-C53E2FCA6C6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4E79C81-E2B5-5B58-5EB4-D8FBCE0B069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3E01C21-88D8-9350-80C1-BEF16DB0F1B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DA65217-8B47-6494-65C8-1237BA2403B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4AC8737-F59E-7D77-05D6-D54E6651E1D4}"/>
              </a:ext>
            </a:extLst>
          </p:cNvPr>
          <p:cNvSpPr txBox="1">
            <a:spLocks/>
          </p:cNvSpPr>
          <p:nvPr/>
        </p:nvSpPr>
        <p:spPr>
          <a:xfrm>
            <a:off x="290463" y="762000"/>
            <a:ext cx="8624937"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Cost </a:t>
            </a:r>
            <a:r>
              <a:rPr lang="en-US" sz="2400" kern="0" spc="-80" dirty="0" err="1">
                <a:solidFill>
                  <a:schemeClr val="accent2"/>
                </a:solidFill>
              </a:rPr>
              <a:t>Optimisation</a:t>
            </a:r>
            <a:r>
              <a:rPr lang="en-US" sz="2400" kern="0" spc="-80" dirty="0">
                <a:solidFill>
                  <a:schemeClr val="accent2"/>
                </a:solidFill>
              </a:rPr>
              <a:t> (Techniques)</a:t>
            </a:r>
          </a:p>
          <a:p>
            <a:r>
              <a:rPr lang="en-US" sz="1750" kern="0" spc="-80" dirty="0">
                <a:solidFill>
                  <a:schemeClr val="accent6"/>
                </a:solidFill>
              </a:rPr>
              <a:t>Cloud cost optimization involves techniques like rightsizing instances, shutting down idle resources, and using commitment-based savings plans or reserved instances for predictable workloads. Other strategies include implementing auto-scaling, leveraging spot instances for fault-tolerant tasks, and optimizing storage and data transfer costs. </a:t>
            </a:r>
          </a:p>
          <a:p>
            <a:r>
              <a:rPr lang="en-US" sz="1750" kern="0" spc="-80" dirty="0">
                <a:solidFill>
                  <a:schemeClr val="accent2"/>
                </a:solidFill>
              </a:rPr>
              <a:t>Optimize resources and usage</a:t>
            </a:r>
          </a:p>
          <a:p>
            <a:r>
              <a:rPr lang="en-US" sz="1750" kern="0" spc="-80" dirty="0" err="1">
                <a:solidFill>
                  <a:schemeClr val="accent2"/>
                </a:solidFill>
              </a:rPr>
              <a:t>Rightsize</a:t>
            </a:r>
            <a:r>
              <a:rPr lang="en-US" sz="1750" kern="0" spc="-80" dirty="0">
                <a:solidFill>
                  <a:schemeClr val="accent2"/>
                </a:solidFill>
              </a:rPr>
              <a:t> instances: </a:t>
            </a:r>
          </a:p>
          <a:p>
            <a:r>
              <a:rPr lang="en-US" sz="1750" kern="0" spc="-80" dirty="0">
                <a:solidFill>
                  <a:schemeClr val="accent6"/>
                </a:solidFill>
              </a:rPr>
              <a:t>Match the size of your virtual machines and services to your actual workload requirements to avoid overspending on oversized instances. </a:t>
            </a:r>
          </a:p>
          <a:p>
            <a:r>
              <a:rPr lang="en-US" sz="1750" kern="0" spc="-80" dirty="0">
                <a:solidFill>
                  <a:schemeClr val="accent2"/>
                </a:solidFill>
              </a:rPr>
              <a:t>Eliminate idle resources: </a:t>
            </a:r>
          </a:p>
          <a:p>
            <a:r>
              <a:rPr lang="en-US" sz="1750" kern="0" spc="-80" dirty="0">
                <a:solidFill>
                  <a:schemeClr val="accent6"/>
                </a:solidFill>
              </a:rPr>
              <a:t>Identify and shut down unused or idle resources, such as virtual machines, storage, and other services. </a:t>
            </a:r>
          </a:p>
          <a:p>
            <a:r>
              <a:rPr lang="en-US" sz="1750" kern="0" spc="-80" dirty="0">
                <a:solidFill>
                  <a:schemeClr val="accent2"/>
                </a:solidFill>
              </a:rPr>
              <a:t>Use autoscaling: </a:t>
            </a:r>
          </a:p>
          <a:p>
            <a:r>
              <a:rPr lang="en-US" sz="1750" kern="0" spc="-80" dirty="0">
                <a:solidFill>
                  <a:schemeClr val="accent6"/>
                </a:solidFill>
              </a:rPr>
              <a:t>Automatically adjust the number of resources based on demand, scaling up during peak times and down during off-peak hours. </a:t>
            </a:r>
          </a:p>
          <a:p>
            <a:r>
              <a:rPr lang="en-US" sz="1750" kern="0" spc="-80" dirty="0">
                <a:solidFill>
                  <a:schemeClr val="accent2"/>
                </a:solidFill>
              </a:rPr>
              <a:t>Use reserved instances and savings plans: </a:t>
            </a:r>
          </a:p>
          <a:p>
            <a:r>
              <a:rPr lang="en-US" sz="1750" kern="0" spc="-80" dirty="0">
                <a:solidFill>
                  <a:schemeClr val="accent6"/>
                </a:solidFill>
              </a:rPr>
              <a:t>Commit to a one- or three-year term for stable workloads to get significant discounts compared to pay-as-you-go pricing. </a:t>
            </a:r>
          </a:p>
        </p:txBody>
      </p:sp>
    </p:spTree>
    <p:extLst>
      <p:ext uri="{BB962C8B-B14F-4D97-AF65-F5344CB8AC3E}">
        <p14:creationId xmlns:p14="http://schemas.microsoft.com/office/powerpoint/2010/main" val="394443764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1783-00D6-BA40-1378-48AA4B469DC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FB7EEEA-8066-FB56-C645-EE7F03586F7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F631A6A-2BC3-712E-878C-78BD1EAB77C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6D2F410-4A21-1136-F64F-67EA359010F7}"/>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5B5A3DD-8C89-FA28-315F-41450271D32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F2F44D9-8CCA-5DE1-B415-9577EE991634}"/>
              </a:ext>
            </a:extLst>
          </p:cNvPr>
          <p:cNvSpPr txBox="1">
            <a:spLocks/>
          </p:cNvSpPr>
          <p:nvPr/>
        </p:nvSpPr>
        <p:spPr>
          <a:xfrm>
            <a:off x="290463" y="7620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Cost </a:t>
            </a:r>
            <a:r>
              <a:rPr lang="en-US" sz="2400" kern="0" spc="-80" dirty="0" err="1">
                <a:solidFill>
                  <a:schemeClr val="accent2"/>
                </a:solidFill>
              </a:rPr>
              <a:t>Optimisation</a:t>
            </a:r>
            <a:r>
              <a:rPr lang="en-US" sz="2400" kern="0" spc="-80" dirty="0">
                <a:solidFill>
                  <a:schemeClr val="accent2"/>
                </a:solidFill>
              </a:rPr>
              <a:t> (Techniques)</a:t>
            </a:r>
          </a:p>
          <a:p>
            <a:r>
              <a:rPr lang="en-US" sz="1800" kern="0" spc="-80" dirty="0">
                <a:solidFill>
                  <a:schemeClr val="accent2"/>
                </a:solidFill>
              </a:rPr>
              <a:t>Leverage spot instances: </a:t>
            </a:r>
          </a:p>
          <a:p>
            <a:r>
              <a:rPr lang="en-US" sz="1800" kern="0" spc="-80" dirty="0">
                <a:solidFill>
                  <a:schemeClr val="accent6"/>
                </a:solidFill>
              </a:rPr>
              <a:t>Use these deeply discounted instances for non-critical, fault-tolerant workloads like big data processing or development and test environments, as they can be terminated by the provider. </a:t>
            </a:r>
          </a:p>
          <a:p>
            <a:r>
              <a:rPr lang="en-US" sz="1800" kern="0" spc="-80" dirty="0">
                <a:solidFill>
                  <a:schemeClr val="accent2"/>
                </a:solidFill>
              </a:rPr>
              <a:t>Optimize data and storage</a:t>
            </a:r>
          </a:p>
          <a:p>
            <a:r>
              <a:rPr lang="en-US" sz="1800" kern="0" spc="-80" dirty="0">
                <a:solidFill>
                  <a:schemeClr val="accent2"/>
                </a:solidFill>
              </a:rPr>
              <a:t>Choose the right storage: </a:t>
            </a:r>
          </a:p>
          <a:p>
            <a:r>
              <a:rPr lang="en-US" sz="1800" kern="0" spc="-80" dirty="0">
                <a:solidFill>
                  <a:schemeClr val="accent6"/>
                </a:solidFill>
              </a:rPr>
              <a:t>Select the most appropriate storage options for your data based on its access frequency and performance needs. </a:t>
            </a:r>
          </a:p>
          <a:p>
            <a:r>
              <a:rPr lang="en-US" sz="1800" kern="0" spc="-80" dirty="0">
                <a:solidFill>
                  <a:schemeClr val="accent2"/>
                </a:solidFill>
              </a:rPr>
              <a:t>Limit data transfer fees: </a:t>
            </a:r>
          </a:p>
          <a:p>
            <a:r>
              <a:rPr lang="en-US" sz="1800" kern="0" spc="-80" dirty="0">
                <a:solidFill>
                  <a:schemeClr val="accent6"/>
                </a:solidFill>
              </a:rPr>
              <a:t>Minimize unnecessary data transfers between cloud services or regions to reduce costs. </a:t>
            </a:r>
          </a:p>
          <a:p>
            <a:r>
              <a:rPr lang="en-US" sz="1800" kern="0" spc="-80" dirty="0">
                <a:solidFill>
                  <a:schemeClr val="accent2"/>
                </a:solidFill>
              </a:rPr>
              <a:t>Delete unused snapshots: </a:t>
            </a:r>
          </a:p>
          <a:p>
            <a:r>
              <a:rPr lang="en-US" sz="1800" kern="0" spc="-80" dirty="0">
                <a:solidFill>
                  <a:schemeClr val="accent6"/>
                </a:solidFill>
              </a:rPr>
              <a:t>Regularly clean up old or unnecessary snapshots to avoid incurring storage costs. </a:t>
            </a:r>
          </a:p>
          <a:p>
            <a:r>
              <a:rPr lang="en-US" sz="1800" kern="0" spc="-80" dirty="0">
                <a:solidFill>
                  <a:schemeClr val="accent2"/>
                </a:solidFill>
              </a:rPr>
              <a:t>Release unused IP addresses: </a:t>
            </a:r>
          </a:p>
          <a:p>
            <a:r>
              <a:rPr lang="en-US" sz="1800" kern="0" spc="-80" dirty="0">
                <a:solidFill>
                  <a:schemeClr val="accent6"/>
                </a:solidFill>
              </a:rPr>
              <a:t>Release idle or unused Elastic IP addresses, as they can incur costs when not attached to an instance. </a:t>
            </a:r>
          </a:p>
        </p:txBody>
      </p:sp>
    </p:spTree>
    <p:extLst>
      <p:ext uri="{BB962C8B-B14F-4D97-AF65-F5344CB8AC3E}">
        <p14:creationId xmlns:p14="http://schemas.microsoft.com/office/powerpoint/2010/main" val="264246923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C1465-195F-7847-43D5-7EC547BD7FB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8F6CE86-5C4F-A7C6-237A-678FC7AA821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0BC39A9-E735-F715-5260-61AD8B314D9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6FC5CF4-03FA-59EC-48F5-4ED526792EA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7C8E470-76E7-6B5F-50CC-9A33B451B3E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DD0A4B3-EB1B-23DD-CF02-394E9F436009}"/>
              </a:ext>
            </a:extLst>
          </p:cNvPr>
          <p:cNvSpPr txBox="1">
            <a:spLocks/>
          </p:cNvSpPr>
          <p:nvPr/>
        </p:nvSpPr>
        <p:spPr>
          <a:xfrm>
            <a:off x="290463" y="762000"/>
            <a:ext cx="8624937" cy="53245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Cost </a:t>
            </a:r>
            <a:r>
              <a:rPr lang="en-US" sz="2400" kern="0" spc="-80" dirty="0" err="1">
                <a:solidFill>
                  <a:schemeClr val="accent2"/>
                </a:solidFill>
              </a:rPr>
              <a:t>Optimisation</a:t>
            </a:r>
            <a:r>
              <a:rPr lang="en-US" sz="2400" kern="0" spc="-80" dirty="0">
                <a:solidFill>
                  <a:schemeClr val="accent2"/>
                </a:solidFill>
              </a:rPr>
              <a:t> (Techniques)</a:t>
            </a:r>
          </a:p>
          <a:p>
            <a:r>
              <a:rPr lang="en-US" sz="1400" kern="0" spc="-80" dirty="0">
                <a:solidFill>
                  <a:schemeClr val="accent2"/>
                </a:solidFill>
              </a:rPr>
              <a:t>Implement better cost management practices</a:t>
            </a:r>
          </a:p>
          <a:p>
            <a:r>
              <a:rPr lang="en-US" sz="1400" kern="0" spc="-80" dirty="0">
                <a:solidFill>
                  <a:schemeClr val="accent2"/>
                </a:solidFill>
              </a:rPr>
              <a:t>Monitor and tag resources: </a:t>
            </a:r>
          </a:p>
          <a:p>
            <a:r>
              <a:rPr lang="en-US" sz="1400" kern="0" spc="-80" dirty="0">
                <a:solidFill>
                  <a:schemeClr val="accent6"/>
                </a:solidFill>
              </a:rPr>
              <a:t>Use tagging and cost allocation tools to tag resources and gain visibility into spending by department or project. </a:t>
            </a:r>
          </a:p>
          <a:p>
            <a:r>
              <a:rPr lang="en-US" sz="1400" kern="0" spc="-80" dirty="0">
                <a:solidFill>
                  <a:schemeClr val="accent2"/>
                </a:solidFill>
              </a:rPr>
              <a:t>Set budgets and alerts: </a:t>
            </a:r>
          </a:p>
          <a:p>
            <a:r>
              <a:rPr lang="en-US" sz="1400" kern="0" spc="-80" dirty="0">
                <a:solidFill>
                  <a:schemeClr val="accent6"/>
                </a:solidFill>
              </a:rPr>
              <a:t>Establish budgets and set up alerts to be notified when spending approaches or exceeds predefined limits. </a:t>
            </a:r>
          </a:p>
          <a:p>
            <a:r>
              <a:rPr lang="en-US" sz="1400" kern="0" spc="-80" dirty="0">
                <a:solidFill>
                  <a:schemeClr val="accent2"/>
                </a:solidFill>
              </a:rPr>
              <a:t>Automate cost optimization: </a:t>
            </a:r>
          </a:p>
          <a:p>
            <a:r>
              <a:rPr lang="en-US" sz="1400" kern="0" spc="-80" dirty="0">
                <a:solidFill>
                  <a:schemeClr val="accent6"/>
                </a:solidFill>
              </a:rPr>
              <a:t>Integrate cost optimization into your CI/CD pipelines and use automated tools to identify and remediate cost anomalies. </a:t>
            </a:r>
          </a:p>
          <a:p>
            <a:r>
              <a:rPr lang="en-US" sz="1400" kern="0" spc="-80" dirty="0">
                <a:solidFill>
                  <a:schemeClr val="accent2"/>
                </a:solidFill>
              </a:rPr>
              <a:t>Conduct regular audits: </a:t>
            </a:r>
          </a:p>
          <a:p>
            <a:r>
              <a:rPr lang="en-US" sz="1400" kern="0" spc="-80" dirty="0">
                <a:solidFill>
                  <a:schemeClr val="accent6"/>
                </a:solidFill>
              </a:rPr>
              <a:t>Perform periodic audits to review spending patterns, identify new optimization opportunities, and ensure policies are being followed. </a:t>
            </a:r>
          </a:p>
          <a:p>
            <a:r>
              <a:rPr lang="en-US" sz="1400" kern="0" spc="-80" dirty="0">
                <a:solidFill>
                  <a:schemeClr val="accent2"/>
                </a:solidFill>
              </a:rPr>
              <a:t>Build a cost-aware culture: </a:t>
            </a:r>
          </a:p>
          <a:p>
            <a:r>
              <a:rPr lang="en-US" sz="1400" kern="0" spc="-80" dirty="0">
                <a:solidFill>
                  <a:schemeClr val="accent6"/>
                </a:solidFill>
              </a:rPr>
              <a:t>Foster a culture where everyone on the team understands and is accountable for managing cloud costs. </a:t>
            </a:r>
          </a:p>
          <a:p>
            <a:endParaRPr lang="en-US" sz="1400" kern="0" spc="-80" dirty="0">
              <a:solidFill>
                <a:schemeClr val="accent6"/>
              </a:solidFill>
            </a:endParaRPr>
          </a:p>
          <a:p>
            <a:pPr marL="12700" marR="5080"/>
            <a:r>
              <a:rPr lang="en-US" sz="1400" kern="0" spc="-80" dirty="0">
                <a:solidFill>
                  <a:schemeClr val="accent2"/>
                </a:solidFill>
              </a:rPr>
              <a:t>For Further Exploration – </a:t>
            </a:r>
          </a:p>
          <a:p>
            <a:pPr marL="12700" marR="5080"/>
            <a:r>
              <a:rPr lang="en-US" sz="1400" dirty="0">
                <a:hlinkClick r:id="rId7"/>
              </a:rPr>
              <a:t>Awesome-</a:t>
            </a:r>
            <a:r>
              <a:rPr lang="en-US" sz="1400" dirty="0" err="1">
                <a:hlinkClick r:id="rId7"/>
              </a:rPr>
              <a:t>Finops</a:t>
            </a:r>
            <a:r>
              <a:rPr lang="en-US" sz="1400" dirty="0">
                <a:hlinkClick r:id="rId7"/>
              </a:rPr>
              <a:t>: Awesome FinOps Resources</a:t>
            </a:r>
            <a:r>
              <a:rPr lang="en-US" sz="1400" kern="0" spc="-80" dirty="0">
                <a:solidFill>
                  <a:schemeClr val="accent2"/>
                </a:solidFill>
              </a:rPr>
              <a:t> </a:t>
            </a:r>
          </a:p>
          <a:p>
            <a:pPr marL="12700" marR="5080"/>
            <a:r>
              <a:rPr lang="en-US" sz="1400" dirty="0">
                <a:hlinkClick r:id="rId8"/>
              </a:rPr>
              <a:t>Efficient Cloud FinOps | Cloud &amp; Networking | Print</a:t>
            </a:r>
            <a:endParaRPr lang="en-US" sz="1400" dirty="0"/>
          </a:p>
          <a:p>
            <a:pPr marL="12700" marR="5080"/>
            <a:r>
              <a:rPr lang="en-IN" sz="1400" dirty="0">
                <a:hlinkClick r:id="rId9"/>
              </a:rPr>
              <a:t>Cloud FinOps[Book]</a:t>
            </a:r>
            <a:r>
              <a:rPr lang="en-US" sz="1400" dirty="0"/>
              <a:t> </a:t>
            </a:r>
          </a:p>
          <a:p>
            <a:pPr marL="12700" marR="5080"/>
            <a:r>
              <a:rPr lang="en-US" sz="1400" dirty="0">
                <a:hlinkClick r:id="rId10"/>
              </a:rPr>
              <a:t>Azure-</a:t>
            </a:r>
            <a:r>
              <a:rPr lang="en-US" sz="1400" dirty="0" err="1">
                <a:hlinkClick r:id="rId10"/>
              </a:rPr>
              <a:t>Finops</a:t>
            </a:r>
            <a:r>
              <a:rPr lang="en-US" sz="1400" dirty="0">
                <a:hlinkClick r:id="rId10"/>
              </a:rPr>
              <a:t>-Guide</a:t>
            </a:r>
            <a:endParaRPr lang="en-US" sz="1400" dirty="0"/>
          </a:p>
          <a:p>
            <a:pPr marL="12700" marR="5080"/>
            <a:r>
              <a:rPr lang="en-IN" sz="1400" dirty="0">
                <a:hlinkClick r:id="rId11"/>
              </a:rPr>
              <a:t>FinOps-Handbook-for-Microsoft-Azure</a:t>
            </a:r>
            <a:endParaRPr lang="en-US" sz="1400" kern="0" spc="-80" dirty="0">
              <a:solidFill>
                <a:schemeClr val="accent2"/>
              </a:solidFill>
            </a:endParaRPr>
          </a:p>
          <a:p>
            <a:endParaRPr lang="en-US" sz="1400" kern="0" spc="-80" dirty="0">
              <a:solidFill>
                <a:schemeClr val="accent6"/>
              </a:solidFill>
            </a:endParaRPr>
          </a:p>
        </p:txBody>
      </p:sp>
    </p:spTree>
    <p:extLst>
      <p:ext uri="{BB962C8B-B14F-4D97-AF65-F5344CB8AC3E}">
        <p14:creationId xmlns:p14="http://schemas.microsoft.com/office/powerpoint/2010/main" val="116427418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D187-34C2-7D8B-35EC-CE82757D109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30AE5EF-69AF-79B5-FFF0-3D4B2A75D69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E6D7FD0-0D78-5182-0996-B26C5D6F15F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AA2815C-3452-8581-B6DA-7322B419203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22CA180-6131-DF3C-1892-6E936AC7DFB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B05AEB3-EF11-5398-E2CA-82005FEB0841}"/>
              </a:ext>
            </a:extLst>
          </p:cNvPr>
          <p:cNvSpPr txBox="1">
            <a:spLocks/>
          </p:cNvSpPr>
          <p:nvPr/>
        </p:nvSpPr>
        <p:spPr>
          <a:xfrm>
            <a:off x="290463" y="762000"/>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Operational Excellence (Techniques)</a:t>
            </a:r>
          </a:p>
          <a:p>
            <a:r>
              <a:rPr lang="en-US" sz="1400" kern="0" spc="-80" dirty="0">
                <a:solidFill>
                  <a:schemeClr val="accent6"/>
                </a:solidFill>
              </a:rPr>
              <a:t>Cloud operational excellence techniques include automation through infrastructure as code (</a:t>
            </a:r>
            <a:r>
              <a:rPr lang="en-US" sz="1400" kern="0" spc="-80" dirty="0" err="1">
                <a:solidFill>
                  <a:schemeClr val="accent6"/>
                </a:solidFill>
              </a:rPr>
              <a:t>IaC</a:t>
            </a:r>
            <a:r>
              <a:rPr lang="en-US" sz="1400" kern="0" spc="-80" dirty="0">
                <a:solidFill>
                  <a:schemeClr val="accent6"/>
                </a:solidFill>
              </a:rPr>
              <a:t>), continuous improvement of processes, and proactive monitoring and logging. Other key strategies are making frequent, small, and reversible changes to systems, anticipating failure, and learning from all operational failures. </a:t>
            </a:r>
          </a:p>
          <a:p>
            <a:r>
              <a:rPr lang="en-US" sz="1400" kern="0" spc="-80" dirty="0">
                <a:solidFill>
                  <a:schemeClr val="accent2"/>
                </a:solidFill>
              </a:rPr>
              <a:t>Automation and standardization</a:t>
            </a:r>
          </a:p>
          <a:p>
            <a:r>
              <a:rPr lang="en-US" sz="1400" kern="0" spc="-80" dirty="0">
                <a:solidFill>
                  <a:schemeClr val="accent2"/>
                </a:solidFill>
              </a:rPr>
              <a:t>Automate everything: </a:t>
            </a:r>
          </a:p>
          <a:p>
            <a:r>
              <a:rPr lang="en-US" sz="1400" kern="0" spc="-80" dirty="0">
                <a:solidFill>
                  <a:schemeClr val="accent6"/>
                </a:solidFill>
              </a:rPr>
              <a:t>Use tools and processes to automate deployments, maintenance, and workflows, including using </a:t>
            </a:r>
            <a:r>
              <a:rPr lang="en-US" sz="1400" kern="0" spc="-80" dirty="0" err="1">
                <a:solidFill>
                  <a:schemeClr val="accent6"/>
                </a:solidFill>
              </a:rPr>
              <a:t>IaC</a:t>
            </a:r>
            <a:r>
              <a:rPr lang="en-US" sz="1400" kern="0" spc="-80" dirty="0">
                <a:solidFill>
                  <a:schemeClr val="accent6"/>
                </a:solidFill>
              </a:rPr>
              <a:t> for infrastructure and standardizing build and release processes. </a:t>
            </a:r>
          </a:p>
          <a:p>
            <a:r>
              <a:rPr lang="en-US" sz="1400" kern="0" spc="-80" dirty="0">
                <a:solidFill>
                  <a:schemeClr val="accent2"/>
                </a:solidFill>
              </a:rPr>
              <a:t>Standardize processes: </a:t>
            </a:r>
          </a:p>
          <a:p>
            <a:r>
              <a:rPr lang="en-US" sz="1400" kern="0" spc="-80" dirty="0">
                <a:solidFill>
                  <a:schemeClr val="accent6"/>
                </a:solidFill>
              </a:rPr>
              <a:t>Create standardized approaches for deployments, code management, and monitoring to ensure consistency and reduce errors. </a:t>
            </a:r>
          </a:p>
          <a:p>
            <a:r>
              <a:rPr lang="en-US" sz="1400" kern="0" spc="-80" dirty="0">
                <a:solidFill>
                  <a:schemeClr val="accent2"/>
                </a:solidFill>
              </a:rPr>
              <a:t>Develop a "operations as code" mindset: </a:t>
            </a:r>
          </a:p>
          <a:p>
            <a:r>
              <a:rPr lang="en-US" sz="1400" kern="0" spc="-80" dirty="0">
                <a:solidFill>
                  <a:schemeClr val="accent6"/>
                </a:solidFill>
              </a:rPr>
              <a:t>Apply coding principles to operations by treating operational tasks and procedures like code, making them repeatable and version-controlled. </a:t>
            </a:r>
          </a:p>
          <a:p>
            <a:r>
              <a:rPr lang="en-US" sz="1400" kern="0" spc="-80" dirty="0">
                <a:solidFill>
                  <a:schemeClr val="accent6"/>
                </a:solidFill>
              </a:rPr>
              <a:t>Continuous improvement and learning</a:t>
            </a:r>
          </a:p>
          <a:p>
            <a:r>
              <a:rPr lang="en-US" sz="1400" kern="0" spc="-80" dirty="0">
                <a:solidFill>
                  <a:schemeClr val="accent2"/>
                </a:solidFill>
              </a:rPr>
              <a:t>Make frequent, small changes: </a:t>
            </a:r>
          </a:p>
          <a:p>
            <a:r>
              <a:rPr lang="en-US" sz="1400" kern="0" spc="-80" dirty="0">
                <a:solidFill>
                  <a:schemeClr val="accent6"/>
                </a:solidFill>
              </a:rPr>
              <a:t>Deploy updates in small, manageable batches to minimize the impact of any issues and make them easier to reverse if necessary.</a:t>
            </a:r>
          </a:p>
          <a:p>
            <a:r>
              <a:rPr lang="en-US" sz="1400" kern="0" spc="-80" dirty="0">
                <a:solidFill>
                  <a:schemeClr val="accent2"/>
                </a:solidFill>
              </a:rPr>
              <a:t>Anticipate and plan for failure: </a:t>
            </a:r>
          </a:p>
          <a:p>
            <a:r>
              <a:rPr lang="en-US" sz="1400" kern="0" spc="-80" dirty="0">
                <a:solidFill>
                  <a:schemeClr val="accent6"/>
                </a:solidFill>
              </a:rPr>
              <a:t>Identify potential points of failure and proactively test your ability to handle them through simulations or "game days".</a:t>
            </a:r>
          </a:p>
        </p:txBody>
      </p:sp>
    </p:spTree>
    <p:extLst>
      <p:ext uri="{BB962C8B-B14F-4D97-AF65-F5344CB8AC3E}">
        <p14:creationId xmlns:p14="http://schemas.microsoft.com/office/powerpoint/2010/main" val="399392825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A050-CAD2-792B-EBA7-2F581BE309E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9A438B5-35B2-12E3-80F1-DFCB1125C07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14CB9D-AA57-9E6B-1181-AEAD8015DE9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87A21B5-7405-30EC-72C9-A16FA47FC09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C44C90C-DBDC-7486-492F-9FC4046AEE8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A0DC114-410D-2C19-8BEE-66939F40DF78}"/>
              </a:ext>
            </a:extLst>
          </p:cNvPr>
          <p:cNvSpPr txBox="1">
            <a:spLocks/>
          </p:cNvSpPr>
          <p:nvPr/>
        </p:nvSpPr>
        <p:spPr>
          <a:xfrm>
            <a:off x="290463" y="7620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Operational Excellence (Techniques)</a:t>
            </a:r>
          </a:p>
          <a:p>
            <a:r>
              <a:rPr lang="en-US" sz="1400" kern="0" spc="-80" dirty="0">
                <a:solidFill>
                  <a:schemeClr val="accent2"/>
                </a:solidFill>
              </a:rPr>
              <a:t>Learn from failures: </a:t>
            </a:r>
          </a:p>
          <a:p>
            <a:r>
              <a:rPr lang="en-US" sz="1400" kern="0" spc="-80" dirty="0">
                <a:solidFill>
                  <a:schemeClr val="accent6"/>
                </a:solidFill>
              </a:rPr>
              <a:t>Establish a process to document all operational failures and share the lessons learned across the organization to prevent future occurrences.</a:t>
            </a:r>
          </a:p>
          <a:p>
            <a:r>
              <a:rPr lang="en-US" sz="1400" kern="0" spc="-80" dirty="0">
                <a:solidFill>
                  <a:schemeClr val="accent2"/>
                </a:solidFill>
              </a:rPr>
              <a:t>Refine processes: </a:t>
            </a:r>
          </a:p>
          <a:p>
            <a:r>
              <a:rPr lang="en-US" sz="1400" kern="0" spc="-80" dirty="0">
                <a:solidFill>
                  <a:schemeClr val="accent6"/>
                </a:solidFill>
              </a:rPr>
              <a:t>Continuously review and improve operational procedures, seeking out opportunities to make them more efficient. </a:t>
            </a:r>
          </a:p>
          <a:p>
            <a:r>
              <a:rPr lang="en-US" sz="1400" kern="0" spc="-80" dirty="0">
                <a:solidFill>
                  <a:schemeClr val="accent2"/>
                </a:solidFill>
              </a:rPr>
              <a:t>Monitoring and management</a:t>
            </a:r>
          </a:p>
          <a:p>
            <a:r>
              <a:rPr lang="en-US" sz="1400" kern="0" spc="-80" dirty="0">
                <a:solidFill>
                  <a:schemeClr val="accent6"/>
                </a:solidFill>
              </a:rPr>
              <a:t>Implement comprehensive monitoring: </a:t>
            </a:r>
          </a:p>
          <a:p>
            <a:r>
              <a:rPr lang="en-US" sz="1400" kern="0" spc="-80" dirty="0">
                <a:solidFill>
                  <a:schemeClr val="accent6"/>
                </a:solidFill>
              </a:rPr>
              <a:t>Set up detailed monitoring, alerting, and logging for both the platform and workloads to maintain visibility into system health. </a:t>
            </a:r>
          </a:p>
          <a:p>
            <a:r>
              <a:rPr lang="en-US" sz="1400" kern="0" spc="-80" dirty="0">
                <a:solidFill>
                  <a:schemeClr val="accent2"/>
                </a:solidFill>
              </a:rPr>
              <a:t>Manage capacity: </a:t>
            </a:r>
          </a:p>
          <a:p>
            <a:r>
              <a:rPr lang="en-US" sz="1400" kern="0" spc="-80" dirty="0">
                <a:solidFill>
                  <a:schemeClr val="accent6"/>
                </a:solidFill>
              </a:rPr>
              <a:t>Actively manage service quotas and perform capacity planning to ensure your cloud environment can handle current and future demand. </a:t>
            </a:r>
          </a:p>
          <a:p>
            <a:r>
              <a:rPr lang="en-US" sz="1400" kern="0" spc="-80" dirty="0">
                <a:solidFill>
                  <a:schemeClr val="accent2"/>
                </a:solidFill>
              </a:rPr>
              <a:t>Establish roles and responsibilities: </a:t>
            </a:r>
          </a:p>
          <a:p>
            <a:r>
              <a:rPr lang="en-US" sz="1400" kern="0" spc="-80" dirty="0">
                <a:solidFill>
                  <a:schemeClr val="accent6"/>
                </a:solidFill>
              </a:rPr>
              <a:t>Clearly define who is responsible for different operational tasks and decision-making to create accountability. </a:t>
            </a:r>
          </a:p>
          <a:p>
            <a:endParaRPr lang="en-US" sz="1400" kern="0" spc="-80" dirty="0">
              <a:solidFill>
                <a:schemeClr val="accent6"/>
              </a:solidFill>
            </a:endParaRPr>
          </a:p>
          <a:p>
            <a:r>
              <a:rPr lang="en-US" sz="1400" kern="0" spc="-80" dirty="0">
                <a:solidFill>
                  <a:schemeClr val="accent2"/>
                </a:solidFill>
              </a:rPr>
              <a:t>For Further Exploration</a:t>
            </a:r>
          </a:p>
          <a:p>
            <a:r>
              <a:rPr lang="en-IN" sz="1400" dirty="0">
                <a:hlinkClick r:id="rId7"/>
              </a:rPr>
              <a:t>Continuous Delivery</a:t>
            </a:r>
            <a:endParaRPr lang="en-IN" sz="1400" dirty="0"/>
          </a:p>
          <a:p>
            <a:r>
              <a:rPr lang="en-US" sz="1400" dirty="0">
                <a:hlinkClick r:id="rId8"/>
              </a:rPr>
              <a:t>Release It</a:t>
            </a:r>
            <a:r>
              <a:rPr lang="en-US" sz="1400">
                <a:hlinkClick r:id="rId8"/>
              </a:rPr>
              <a:t>! </a:t>
            </a:r>
            <a:endParaRPr lang="en-US" sz="1400" kern="0" spc="-80" dirty="0">
              <a:solidFill>
                <a:schemeClr val="accent2"/>
              </a:solidFill>
            </a:endParaRPr>
          </a:p>
        </p:txBody>
      </p:sp>
    </p:spTree>
    <p:extLst>
      <p:ext uri="{BB962C8B-B14F-4D97-AF65-F5344CB8AC3E}">
        <p14:creationId xmlns:p14="http://schemas.microsoft.com/office/powerpoint/2010/main" val="341529172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4FE03-492F-D1DC-7FF5-A13BCE2A0AF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DA67D6E-1B2B-74DD-86B1-F1F4AE7FC4D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6578DB-38F7-7A86-0AFE-BAB5EA659A3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A25CE9A-B363-F266-C47F-80317F5E817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213554F-CB2C-10EB-867B-30138683644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7AFD67E-5348-4340-CFAD-02AB358DABEA}"/>
              </a:ext>
            </a:extLst>
          </p:cNvPr>
          <p:cNvSpPr txBox="1">
            <a:spLocks/>
          </p:cNvSpPr>
          <p:nvPr/>
        </p:nvSpPr>
        <p:spPr>
          <a:xfrm>
            <a:off x="290463" y="762000"/>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Sustainable Development (Techniques)</a:t>
            </a:r>
          </a:p>
          <a:p>
            <a:pPr marL="12700" marR="5080"/>
            <a:r>
              <a:rPr lang="en-US" sz="1800" kern="0" spc="-80" dirty="0">
                <a:solidFill>
                  <a:schemeClr val="accent6"/>
                </a:solidFill>
              </a:rPr>
              <a:t>Sustainable cloud development combines green cloud practices with energy-efficient programming to minimize the environmental impact of technology. These techniques are crucial for reducing the energy consumption and carbon emissions generated by data centers, which are projected to double by 2030 due to increased demand for AI and other digital services. </a:t>
            </a:r>
          </a:p>
          <a:p>
            <a:pPr marL="12700" marR="5080"/>
            <a:r>
              <a:rPr lang="en-US" sz="1800" kern="0" spc="-80" dirty="0">
                <a:solidFill>
                  <a:schemeClr val="accent2"/>
                </a:solidFill>
              </a:rPr>
              <a:t>Green cloud development techniques</a:t>
            </a:r>
          </a:p>
          <a:p>
            <a:pPr marL="12700" marR="5080"/>
            <a:r>
              <a:rPr lang="en-US" sz="1800" kern="0" spc="-80" dirty="0">
                <a:solidFill>
                  <a:schemeClr val="accent6"/>
                </a:solidFill>
              </a:rPr>
              <a:t>These practices focus on optimizing the infrastructure side of cloud computing to reduce resource and energy use.</a:t>
            </a:r>
          </a:p>
          <a:p>
            <a:pPr marL="12700" marR="5080"/>
            <a:r>
              <a:rPr lang="en-US" sz="1800" kern="0" spc="-80" dirty="0">
                <a:solidFill>
                  <a:schemeClr val="accent2"/>
                </a:solidFill>
              </a:rPr>
              <a:t>Choose a green cloud provider: </a:t>
            </a:r>
            <a:r>
              <a:rPr lang="en-US" sz="1800" kern="0" spc="-80" dirty="0">
                <a:solidFill>
                  <a:schemeClr val="accent6"/>
                </a:solidFill>
              </a:rPr>
              <a:t>Select a cloud service provider (CSP) that prioritizes sustainability. Leading providers like Amazon Web Services, Google Cloud Platform, and Microsoft Azure have made public commitments to power their data centers with renewable energy sources.</a:t>
            </a:r>
          </a:p>
          <a:p>
            <a:pPr marL="12700" marR="5080"/>
            <a:r>
              <a:rPr lang="en-US" sz="1800" kern="0" spc="-80" dirty="0">
                <a:solidFill>
                  <a:schemeClr val="accent2"/>
                </a:solidFill>
              </a:rPr>
              <a:t>Optimize resource allocation: </a:t>
            </a:r>
            <a:r>
              <a:rPr lang="en-US" sz="1800" kern="0" spc="-80" dirty="0">
                <a:solidFill>
                  <a:schemeClr val="accent6"/>
                </a:solidFill>
              </a:rPr>
              <a:t>Use tools provided by your CSP to "right-size" your virtual machines, containers, and databases to match your workload needs. This prevents over-provisioning and reduces energy waste from idle resources.</a:t>
            </a:r>
          </a:p>
        </p:txBody>
      </p:sp>
    </p:spTree>
    <p:extLst>
      <p:ext uri="{BB962C8B-B14F-4D97-AF65-F5344CB8AC3E}">
        <p14:creationId xmlns:p14="http://schemas.microsoft.com/office/powerpoint/2010/main" val="385310330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D97E2-22ED-B927-5008-91005BDBA2E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C71293-3403-60CF-51B2-7F21F12D8DA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848FC2-187D-7D53-8A22-64FA067A9C5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BB41114-1975-00CC-6D9B-1CE918E2605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7802DC4-2856-EA37-3460-084228B84D3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F71097C-B992-D158-E7C3-F84117884CD9}"/>
              </a:ext>
            </a:extLst>
          </p:cNvPr>
          <p:cNvSpPr txBox="1">
            <a:spLocks/>
          </p:cNvSpPr>
          <p:nvPr/>
        </p:nvSpPr>
        <p:spPr>
          <a:xfrm>
            <a:off x="290463" y="7620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Sustainable Development (Techniques)</a:t>
            </a:r>
          </a:p>
          <a:p>
            <a:pPr marL="12700" marR="5080"/>
            <a:r>
              <a:rPr lang="en-US" sz="1800" kern="0" spc="-80" dirty="0">
                <a:solidFill>
                  <a:schemeClr val="accent2"/>
                </a:solidFill>
              </a:rPr>
              <a:t>Leverage serverless architectures:</a:t>
            </a:r>
            <a:r>
              <a:rPr lang="en-US" sz="1800" kern="0" spc="-80" dirty="0">
                <a:solidFill>
                  <a:schemeClr val="accent6"/>
                </a:solidFill>
              </a:rPr>
              <a:t> Serverless computing, such as AWS Lambda or Azure Functions, automatically allocates resources only when your code is running. This minimizes idle server time and can significantly reduce your carbon footprint.</a:t>
            </a:r>
          </a:p>
          <a:p>
            <a:pPr marL="12700" marR="5080"/>
            <a:r>
              <a:rPr lang="en-US" sz="1800" kern="0" spc="-80" dirty="0">
                <a:solidFill>
                  <a:schemeClr val="accent2"/>
                </a:solidFill>
              </a:rPr>
              <a:t>Implement virtualization and containerization: </a:t>
            </a:r>
            <a:r>
              <a:rPr lang="en-US" sz="1800" kern="0" spc="-80" dirty="0">
                <a:solidFill>
                  <a:schemeClr val="accent6"/>
                </a:solidFill>
              </a:rPr>
              <a:t>Both virtualization and containerization allow multiple workloads to run on a single physical server, maximizing resource utilization and minimizing the number of servers required. Containers, like Docker, are especially lightweight and efficient.</a:t>
            </a:r>
          </a:p>
          <a:p>
            <a:pPr marL="12700" marR="5080"/>
            <a:r>
              <a:rPr lang="en-US" sz="1800" kern="0" spc="-80" dirty="0">
                <a:solidFill>
                  <a:schemeClr val="accent2"/>
                </a:solidFill>
              </a:rPr>
              <a:t>Adopt edge computing: </a:t>
            </a:r>
            <a:r>
              <a:rPr lang="en-US" sz="1800" kern="0" spc="-80" dirty="0">
                <a:solidFill>
                  <a:schemeClr val="accent6"/>
                </a:solidFill>
              </a:rPr>
              <a:t>Process data closer to the user to reduce the energy consumed by transferring data over long distances.</a:t>
            </a:r>
          </a:p>
          <a:p>
            <a:pPr marL="12700" marR="5080"/>
            <a:r>
              <a:rPr lang="en-US" sz="1800" kern="0" spc="-80" dirty="0">
                <a:solidFill>
                  <a:schemeClr val="accent2"/>
                </a:solidFill>
              </a:rPr>
              <a:t>Use sustainable data storage strategies: </a:t>
            </a:r>
            <a:r>
              <a:rPr lang="en-US" sz="1800" kern="0" spc="-80" dirty="0">
                <a:solidFill>
                  <a:schemeClr val="accent6"/>
                </a:solidFill>
              </a:rPr>
              <a:t>Efficient data management can reduce the need for excessive storage. Employ tiered storage to move infrequently accessed data to less energy-intensive archive tiers, and use compression and deduplication to reduce the volume of stored data.</a:t>
            </a:r>
          </a:p>
          <a:p>
            <a:pPr marL="12700" marR="5080"/>
            <a:r>
              <a:rPr lang="en-US" sz="1800" kern="0" spc="-80" dirty="0">
                <a:solidFill>
                  <a:schemeClr val="accent2"/>
                </a:solidFill>
              </a:rPr>
              <a:t>Optimize data center location: </a:t>
            </a:r>
            <a:r>
              <a:rPr lang="en-US" sz="1800" kern="0" spc="-80" dirty="0">
                <a:solidFill>
                  <a:schemeClr val="accent6"/>
                </a:solidFill>
              </a:rPr>
              <a:t>When possible, strategically place workloads in regions with lower carbon intensity, where data centers are more likely to be powered by renewable energy sources. </a:t>
            </a:r>
          </a:p>
        </p:txBody>
      </p:sp>
    </p:spTree>
    <p:extLst>
      <p:ext uri="{BB962C8B-B14F-4D97-AF65-F5344CB8AC3E}">
        <p14:creationId xmlns:p14="http://schemas.microsoft.com/office/powerpoint/2010/main" val="31936167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A1552-2864-FAD0-6994-BEDC78C54A0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CB0AB17-367D-9739-0FA3-0F3F067AABE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AA87820-27BE-9711-C3CD-9941178337E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278CC07-FA6E-B6C2-9A7C-2F99A0225B5A}"/>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3775DB2-CF41-6734-3A2C-DE46E9E278E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62443B3-9C2F-A3AB-FE1B-29A500EFCAE0}"/>
              </a:ext>
            </a:extLst>
          </p:cNvPr>
          <p:cNvSpPr txBox="1">
            <a:spLocks/>
          </p:cNvSpPr>
          <p:nvPr/>
        </p:nvSpPr>
        <p:spPr>
          <a:xfrm>
            <a:off x="290463" y="7620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Sustainable Development (Techniques)</a:t>
            </a:r>
          </a:p>
          <a:p>
            <a:pPr marL="12700" marR="5080"/>
            <a:r>
              <a:rPr lang="en-US" sz="1800" kern="0" spc="-80" dirty="0">
                <a:solidFill>
                  <a:schemeClr val="accent2"/>
                </a:solidFill>
              </a:rPr>
              <a:t>Energy-efficient programming techniques</a:t>
            </a:r>
          </a:p>
          <a:p>
            <a:pPr marL="12700" marR="5080"/>
            <a:r>
              <a:rPr lang="en-US" sz="1800" kern="0" spc="-80" dirty="0">
                <a:solidFill>
                  <a:schemeClr val="accent6"/>
                </a:solidFill>
              </a:rPr>
              <a:t>Also known as "green coding," these techniques focus on writing and optimizing software to consume less energy during execution. </a:t>
            </a:r>
          </a:p>
          <a:p>
            <a:pPr marL="12700" marR="5080"/>
            <a:r>
              <a:rPr lang="en-US" sz="1800" kern="0" spc="-80" dirty="0">
                <a:solidFill>
                  <a:schemeClr val="accent2"/>
                </a:solidFill>
              </a:rPr>
              <a:t>Select energy-efficient algorithms and data structures:</a:t>
            </a:r>
            <a:r>
              <a:rPr lang="en-US" sz="1800" kern="0" spc="-80" dirty="0">
                <a:solidFill>
                  <a:schemeClr val="accent6"/>
                </a:solidFill>
              </a:rPr>
              <a:t> Choose algorithms that require fewer computational steps to complete a task. For example, a binary search is more efficient than a linear search for sorted data.</a:t>
            </a:r>
          </a:p>
          <a:p>
            <a:pPr marL="12700" marR="5080"/>
            <a:r>
              <a:rPr lang="en-US" sz="1800" kern="0" spc="-80" dirty="0">
                <a:solidFill>
                  <a:schemeClr val="accent2"/>
                </a:solidFill>
              </a:rPr>
              <a:t>Refactor for efficiency:</a:t>
            </a:r>
            <a:r>
              <a:rPr lang="en-US" sz="1800" kern="0" spc="-80" dirty="0">
                <a:solidFill>
                  <a:schemeClr val="accent6"/>
                </a:solidFill>
              </a:rPr>
              <a:t> Regularly review and optimize code to eliminate unnecessary operations, redundant loops, and inefficient queries. This reduces the processing power needed to run the application.</a:t>
            </a:r>
          </a:p>
          <a:p>
            <a:pPr marL="12700" marR="5080"/>
            <a:r>
              <a:rPr lang="en-US" sz="1800" kern="0" spc="-80" dirty="0">
                <a:solidFill>
                  <a:schemeClr val="accent2"/>
                </a:solidFill>
              </a:rPr>
              <a:t>Manage data transfer efficiently: </a:t>
            </a:r>
            <a:r>
              <a:rPr lang="en-US" sz="1800" kern="0" spc="-80" dirty="0">
                <a:solidFill>
                  <a:schemeClr val="accent6"/>
                </a:solidFill>
              </a:rPr>
              <a:t>Minimize the amount of data sent over networks by compressing files, reducing the size of media assets, and using efficient data serialization formats.</a:t>
            </a:r>
          </a:p>
          <a:p>
            <a:pPr marL="12700" marR="5080"/>
            <a:r>
              <a:rPr lang="en-US" sz="1800" kern="0" spc="-80" dirty="0">
                <a:solidFill>
                  <a:schemeClr val="accent2"/>
                </a:solidFill>
              </a:rPr>
              <a:t>Use effective caching: </a:t>
            </a:r>
            <a:r>
              <a:rPr lang="en-US" sz="1800" kern="0" spc="-80" dirty="0">
                <a:solidFill>
                  <a:schemeClr val="accent6"/>
                </a:solidFill>
              </a:rPr>
              <a:t>Store frequently accessed data in a temporary, high-speed cache to reduce the need for repeated, resource-intensive server and database calls.</a:t>
            </a:r>
          </a:p>
          <a:p>
            <a:pPr marL="12700" marR="5080"/>
            <a:r>
              <a:rPr lang="en-US" sz="1800" kern="0" spc="-80" dirty="0">
                <a:solidFill>
                  <a:schemeClr val="accent2"/>
                </a:solidFill>
              </a:rPr>
              <a:t>Optimize for different contexts: </a:t>
            </a:r>
            <a:r>
              <a:rPr lang="en-US" sz="1800" kern="0" spc="-80" dirty="0">
                <a:solidFill>
                  <a:schemeClr val="accent6"/>
                </a:solidFill>
              </a:rPr>
              <a:t>Adapt your application's behavior based on its operating conditions. For example, enable a "dark mode" for users with OLED</a:t>
            </a:r>
            <a:endParaRPr lang="en-US" sz="1150" kern="0" spc="-80" dirty="0">
              <a:solidFill>
                <a:schemeClr val="accent2"/>
              </a:solidFill>
            </a:endParaRPr>
          </a:p>
        </p:txBody>
      </p:sp>
    </p:spTree>
    <p:extLst>
      <p:ext uri="{BB962C8B-B14F-4D97-AF65-F5344CB8AC3E}">
        <p14:creationId xmlns:p14="http://schemas.microsoft.com/office/powerpoint/2010/main" val="247684349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491CA-1452-5346-60C4-5F79B3D9AA5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A2DB624-0E82-2D7C-6067-A2248A158D2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B41AEAF-2746-1AC9-34A4-0FD064C129B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2C4D260-9460-4BCB-4947-C8C3B32E606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3C96D6F-0D24-2B0B-AD32-FF1739D30AE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DC6CEA7-E928-848D-8E3A-99CF0EA20BDD}"/>
              </a:ext>
            </a:extLst>
          </p:cNvPr>
          <p:cNvSpPr txBox="1">
            <a:spLocks/>
          </p:cNvSpPr>
          <p:nvPr/>
        </p:nvSpPr>
        <p:spPr>
          <a:xfrm>
            <a:off x="290463" y="7620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Sustainable Development (Techniques)</a:t>
            </a:r>
          </a:p>
          <a:p>
            <a:pPr marL="12700" marR="5080"/>
            <a:r>
              <a:rPr lang="en-US" sz="1800" kern="0" spc="-80" dirty="0">
                <a:solidFill>
                  <a:schemeClr val="accent6"/>
                </a:solidFill>
              </a:rPr>
              <a:t>screens, which can reduce battery consumption on their devices.</a:t>
            </a:r>
          </a:p>
          <a:p>
            <a:pPr marL="12700" marR="5080"/>
            <a:r>
              <a:rPr lang="en-US" sz="1800" kern="0" spc="-80" dirty="0">
                <a:solidFill>
                  <a:schemeClr val="accent2"/>
                </a:solidFill>
              </a:rPr>
              <a:t>Automate tasks wisely: </a:t>
            </a:r>
            <a:r>
              <a:rPr lang="en-US" sz="1800" kern="0" spc="-80" dirty="0">
                <a:solidFill>
                  <a:schemeClr val="accent6"/>
                </a:solidFill>
              </a:rPr>
              <a:t>Use automation to schedule resource-intensive tasks, such as batch processing or software updates, for off-peak hours when demand on the energy grid is lower.</a:t>
            </a:r>
          </a:p>
          <a:p>
            <a:pPr marL="12700" marR="5080"/>
            <a:r>
              <a:rPr lang="en-US" sz="1800" kern="0" spc="-80" dirty="0">
                <a:solidFill>
                  <a:schemeClr val="accent2"/>
                </a:solidFill>
              </a:rPr>
              <a:t>Monitor and measure:</a:t>
            </a:r>
            <a:r>
              <a:rPr lang="en-US" sz="1800" kern="0" spc="-80" dirty="0">
                <a:solidFill>
                  <a:schemeClr val="accent6"/>
                </a:solidFill>
              </a:rPr>
              <a:t> Use tools from your CSP (e.g., Google Cloud's Carbon Footprint tool) or third-party solutions (e.g., Cloud Carbon Footprint) to track and analyze your application's energy consumption. Use this data to inform and prioritize optimization efforts. </a:t>
            </a:r>
          </a:p>
          <a:p>
            <a:pPr marL="12700" marR="5080"/>
            <a:r>
              <a:rPr lang="en-US" sz="1800" kern="0" spc="-80" dirty="0">
                <a:solidFill>
                  <a:schemeClr val="accent2"/>
                </a:solidFill>
              </a:rPr>
              <a:t>Architectural principles for sustainability</a:t>
            </a:r>
          </a:p>
          <a:p>
            <a:pPr marL="12700" marR="5080"/>
            <a:r>
              <a:rPr lang="en-US" sz="1800" kern="0" spc="-80" dirty="0">
                <a:solidFill>
                  <a:schemeClr val="accent6"/>
                </a:solidFill>
              </a:rPr>
              <a:t>For comprehensive sustainability, integrate these techniques into your overall development lifecycle.</a:t>
            </a:r>
          </a:p>
          <a:p>
            <a:pPr marL="12700" marR="5080"/>
            <a:r>
              <a:rPr lang="en-US" sz="1800" kern="0" spc="-80" dirty="0">
                <a:solidFill>
                  <a:schemeClr val="accent2"/>
                </a:solidFill>
              </a:rPr>
              <a:t>Start with design:</a:t>
            </a:r>
            <a:r>
              <a:rPr lang="en-US" sz="1800" kern="0" spc="-80" dirty="0">
                <a:solidFill>
                  <a:schemeClr val="accent6"/>
                </a:solidFill>
              </a:rPr>
              <a:t> Incorporate sustainability goals into your software architecture and design patterns from the beginning. Consider resource efficiency, scalability, and modularity to build applications that are inherently greener.</a:t>
            </a:r>
          </a:p>
          <a:p>
            <a:pPr marL="12700" marR="5080"/>
            <a:r>
              <a:rPr lang="en-US" sz="1800" kern="0" spc="-80" dirty="0">
                <a:solidFill>
                  <a:schemeClr val="accent2"/>
                </a:solidFill>
              </a:rPr>
              <a:t>Embrace sustainable DevOps: </a:t>
            </a:r>
            <a:r>
              <a:rPr lang="en-US" sz="1800" kern="0" spc="-80" dirty="0">
                <a:solidFill>
                  <a:schemeClr val="accent6"/>
                </a:solidFill>
              </a:rPr>
              <a:t>Optimize your Continuous Integration/Continuous Deployment (CI/CD) pipelines to reduce resource</a:t>
            </a:r>
            <a:endParaRPr lang="en-US" sz="1150" kern="0" spc="-80" dirty="0">
              <a:solidFill>
                <a:schemeClr val="accent2"/>
              </a:solidFill>
            </a:endParaRPr>
          </a:p>
        </p:txBody>
      </p:sp>
    </p:spTree>
    <p:extLst>
      <p:ext uri="{BB962C8B-B14F-4D97-AF65-F5344CB8AC3E}">
        <p14:creationId xmlns:p14="http://schemas.microsoft.com/office/powerpoint/2010/main" val="285985738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A23FC-7DE2-0FF3-4327-49646BCB485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25CD10-D3E7-FDBF-A6C6-7DA7AC4A2E4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F0C2170-FE20-85BD-8C62-1733AD843ED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69736FD-6616-698F-9438-5ABBD14E623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2CF2A63-A1A0-63C3-7F8A-96897764AB8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EAD2732-784E-8462-88B3-AAD654C0CDF5}"/>
              </a:ext>
            </a:extLst>
          </p:cNvPr>
          <p:cNvSpPr txBox="1">
            <a:spLocks/>
          </p:cNvSpPr>
          <p:nvPr/>
        </p:nvSpPr>
        <p:spPr>
          <a:xfrm>
            <a:off x="290463" y="762000"/>
            <a:ext cx="8624937" cy="41472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Sustainable Development (Techniques)</a:t>
            </a:r>
          </a:p>
          <a:p>
            <a:pPr marL="12700" marR="5080"/>
            <a:r>
              <a:rPr lang="en-US" sz="1800" kern="0" spc="-80" dirty="0">
                <a:solidFill>
                  <a:schemeClr val="accent6"/>
                </a:solidFill>
              </a:rPr>
              <a:t>screens, which can reduce battery consumption on their devices.</a:t>
            </a:r>
          </a:p>
          <a:p>
            <a:pPr marL="12700" marR="5080"/>
            <a:r>
              <a:rPr lang="en-US" sz="1800" kern="0" spc="-80" dirty="0">
                <a:solidFill>
                  <a:schemeClr val="accent6"/>
                </a:solidFill>
              </a:rPr>
              <a:t>waste from unnecessary builds and inefficient testing. Use Infrastructure as Code (</a:t>
            </a:r>
            <a:r>
              <a:rPr lang="en-US" sz="1800" kern="0" spc="-80" dirty="0" err="1">
                <a:solidFill>
                  <a:schemeClr val="accent6"/>
                </a:solidFill>
              </a:rPr>
              <a:t>IaC</a:t>
            </a:r>
            <a:r>
              <a:rPr lang="en-US" sz="1800" kern="0" spc="-80" dirty="0">
                <a:solidFill>
                  <a:schemeClr val="accent6"/>
                </a:solidFill>
              </a:rPr>
              <a:t>) to automatically provision and decommission resources.</a:t>
            </a:r>
          </a:p>
          <a:p>
            <a:pPr marL="12700" marR="5080"/>
            <a:r>
              <a:rPr lang="en-US" sz="1800" kern="0" spc="-80" dirty="0">
                <a:solidFill>
                  <a:schemeClr val="accent2"/>
                </a:solidFill>
              </a:rPr>
              <a:t>Manage the full lifecycle: </a:t>
            </a:r>
            <a:r>
              <a:rPr lang="en-US" sz="1800" kern="0" spc="-80" dirty="0">
                <a:solidFill>
                  <a:schemeClr val="accent6"/>
                </a:solidFill>
              </a:rPr>
              <a:t>Ensure responsible e-waste management and consider hardware longevity. For hardware you manage, follow clear policies for maintenance, recycling, and disposal.</a:t>
            </a:r>
          </a:p>
          <a:p>
            <a:pPr marL="12700" marR="5080"/>
            <a:r>
              <a:rPr lang="en-US" sz="1800" kern="0" spc="-80" dirty="0">
                <a:solidFill>
                  <a:schemeClr val="accent2"/>
                </a:solidFill>
              </a:rPr>
              <a:t>Focus on continuous improvement:</a:t>
            </a:r>
            <a:r>
              <a:rPr lang="en-US" sz="1800" kern="0" spc="-80" dirty="0">
                <a:solidFill>
                  <a:schemeClr val="accent6"/>
                </a:solidFill>
              </a:rPr>
              <a:t> Track your metrics, educate your team, and continuously refactor to keep reducing your environmental footprint over time. A sustainable mindset should be a key part of your organization's culture. </a:t>
            </a:r>
          </a:p>
          <a:p>
            <a:pPr marL="12700" marR="5080"/>
            <a:endParaRPr lang="en-US" sz="1800" kern="0" spc="-80" dirty="0">
              <a:solidFill>
                <a:schemeClr val="accent6"/>
              </a:solidFill>
            </a:endParaRPr>
          </a:p>
          <a:p>
            <a:pPr marL="12700" marR="5080"/>
            <a:r>
              <a:rPr lang="en-US" sz="1800" kern="0" spc="-80" dirty="0">
                <a:solidFill>
                  <a:schemeClr val="accent2"/>
                </a:solidFill>
              </a:rPr>
              <a:t>For Further Exploration</a:t>
            </a:r>
          </a:p>
          <a:p>
            <a:pPr marL="12700" marR="5080"/>
            <a:r>
              <a:rPr lang="en-IN" sz="1800" dirty="0">
                <a:hlinkClick r:id="rId7"/>
              </a:rPr>
              <a:t>Sustainable software architecture</a:t>
            </a:r>
            <a:endParaRPr lang="en-IN" sz="1800" dirty="0"/>
          </a:p>
          <a:p>
            <a:pPr marL="12700" marR="5080"/>
            <a:r>
              <a:rPr lang="en-US" sz="1800" dirty="0">
                <a:hlinkClick r:id="rId8"/>
              </a:rPr>
              <a:t>Sustainable Cloud Development | Cloud &amp; Networking | eBook</a:t>
            </a:r>
            <a:endParaRPr lang="en-US" sz="1800" kern="0" spc="-80" dirty="0">
              <a:solidFill>
                <a:schemeClr val="accent2"/>
              </a:solidFill>
            </a:endParaRPr>
          </a:p>
          <a:p>
            <a:pPr marL="12700" marR="5080"/>
            <a:endParaRPr lang="en-US" sz="1150" kern="0" spc="-80" dirty="0">
              <a:solidFill>
                <a:schemeClr val="accent2"/>
              </a:solidFill>
            </a:endParaRPr>
          </a:p>
        </p:txBody>
      </p:sp>
    </p:spTree>
    <p:extLst>
      <p:ext uri="{BB962C8B-B14F-4D97-AF65-F5344CB8AC3E}">
        <p14:creationId xmlns:p14="http://schemas.microsoft.com/office/powerpoint/2010/main" val="311924031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370EC-89AD-0F62-A93C-08BB62E2E28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F52177-57A3-3EB3-42B9-0C0FC8FC3A8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7572EE4-5819-6824-4C7A-E12C38496FC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A58F328-93B0-083C-50F1-F3FD8D70554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44B6B2A-D9C7-510E-77AA-D540E31B9FE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A5C5560-5ED5-64C6-0CE1-3575CF1B5275}"/>
              </a:ext>
            </a:extLst>
          </p:cNvPr>
          <p:cNvSpPr txBox="1">
            <a:spLocks/>
          </p:cNvSpPr>
          <p:nvPr/>
        </p:nvSpPr>
        <p:spPr>
          <a:xfrm>
            <a:off x="290463" y="762000"/>
            <a:ext cx="8624937" cy="35932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a:t>
            </a:r>
          </a:p>
          <a:p>
            <a:pPr marL="12700" marR="5080"/>
            <a:r>
              <a:rPr lang="en-US" sz="1800" kern="0" spc="-80" dirty="0">
                <a:solidFill>
                  <a:schemeClr val="accent2"/>
                </a:solidFill>
              </a:rPr>
              <a:t>For Further Exploration</a:t>
            </a:r>
          </a:p>
          <a:p>
            <a:pPr marL="12700" marR="5080"/>
            <a:r>
              <a:rPr lang="en-US" sz="1800" dirty="0">
                <a:hlinkClick r:id="rId7"/>
              </a:rPr>
              <a:t>Announcing updates to the AWS Well-Architected Framework guidance | AWS Architecture Blog</a:t>
            </a:r>
            <a:r>
              <a:rPr lang="en-US" sz="1800" kern="0" spc="-80" dirty="0">
                <a:solidFill>
                  <a:schemeClr val="accent2"/>
                </a:solidFill>
              </a:rPr>
              <a:t>   </a:t>
            </a:r>
          </a:p>
          <a:p>
            <a:pPr marL="12700" marR="5080"/>
            <a:r>
              <a:rPr lang="en-US" sz="1800" dirty="0">
                <a:hlinkClick r:id="rId8"/>
              </a:rPr>
              <a:t>How to use the Azure Well-Architected Framework documentation - Microsoft Azure Well-Architected Framework</a:t>
            </a:r>
            <a:endParaRPr lang="en-US" sz="1800" kern="0" spc="-80" dirty="0">
              <a:solidFill>
                <a:schemeClr val="accent2"/>
              </a:solidFill>
            </a:endParaRPr>
          </a:p>
          <a:p>
            <a:pPr marL="12700" marR="5080"/>
            <a:r>
              <a:rPr lang="en-US" sz="1800" dirty="0">
                <a:hlinkClick r:id="rId9"/>
              </a:rPr>
              <a:t>Optimizing Azure Kubernetes Service (AKS) with the Well-Architected Framework | Microsoft Community Hub</a:t>
            </a:r>
            <a:r>
              <a:rPr lang="en-US" sz="1800" kern="0" spc="-80" dirty="0">
                <a:solidFill>
                  <a:schemeClr val="accent2"/>
                </a:solidFill>
              </a:rPr>
              <a:t> </a:t>
            </a:r>
          </a:p>
          <a:p>
            <a:pPr marL="12700" marR="5080"/>
            <a:r>
              <a:rPr lang="en-US" sz="1800" dirty="0">
                <a:hlinkClick r:id="rId10"/>
              </a:rPr>
              <a:t>Business criticality in cloud management - Cloud Adoption Framework | Microsoft Learn</a:t>
            </a:r>
            <a:endParaRPr lang="en-US" sz="1800" dirty="0"/>
          </a:p>
          <a:p>
            <a:pPr marL="12700" marR="5080"/>
            <a:r>
              <a:rPr lang="en-US" sz="1800" dirty="0">
                <a:hlinkClick r:id="rId11"/>
              </a:rPr>
              <a:t>Design-Practice-Repository</a:t>
            </a:r>
            <a:endParaRPr lang="en-US" sz="1800" kern="0" spc="-80" dirty="0">
              <a:solidFill>
                <a:schemeClr val="accent2"/>
              </a:solidFill>
            </a:endParaRPr>
          </a:p>
          <a:p>
            <a:pPr marL="12700" marR="5080"/>
            <a:endParaRPr lang="en-US" sz="1800" kern="0" spc="-80" dirty="0">
              <a:solidFill>
                <a:schemeClr val="accent2"/>
              </a:solidFill>
            </a:endParaRPr>
          </a:p>
          <a:p>
            <a:pPr marL="12700" marR="5080"/>
            <a:endParaRPr lang="en-US" sz="1150" kern="0" spc="-80" dirty="0">
              <a:solidFill>
                <a:schemeClr val="accent2"/>
              </a:solidFill>
            </a:endParaRPr>
          </a:p>
        </p:txBody>
      </p:sp>
    </p:spTree>
    <p:extLst>
      <p:ext uri="{BB962C8B-B14F-4D97-AF65-F5344CB8AC3E}">
        <p14:creationId xmlns:p14="http://schemas.microsoft.com/office/powerpoint/2010/main" val="387850036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36781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FB92261DF0CF34EB4810633B41F348E" ma:contentTypeVersion="12" ma:contentTypeDescription="Create a new document." ma:contentTypeScope="" ma:versionID="0504b6c5dad5cedb559b2ba5661c1516">
  <xsd:schema xmlns:xsd="http://www.w3.org/2001/XMLSchema" xmlns:xs="http://www.w3.org/2001/XMLSchema" xmlns:p="http://schemas.microsoft.com/office/2006/metadata/properties" xmlns:ns2="73c285a4-81d7-45ed-89e3-084ec343ed0e" xmlns:ns3="9eeb171f-62b6-4207-910a-f222f02eca92" targetNamespace="http://schemas.microsoft.com/office/2006/metadata/properties" ma:root="true" ma:fieldsID="ee446bd52ab24cfc94472a148ee352b7" ns2:_="" ns3:_="">
    <xsd:import namespace="73c285a4-81d7-45ed-89e3-084ec343ed0e"/>
    <xsd:import namespace="9eeb171f-62b6-4207-910a-f222f02eca9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c285a4-81d7-45ed-89e3-084ec343ed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eb171f-62b6-4207-910a-f222f02eca9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45EBFA-FEA7-417E-8860-8460D20694CB}">
  <ds:schemaRefs>
    <ds:schemaRef ds:uri="http://schemas.openxmlformats.org/package/2006/metadata/core-properties"/>
    <ds:schemaRef ds:uri="http://www.w3.org/XML/1998/namespace"/>
    <ds:schemaRef ds:uri="http://schemas.microsoft.com/office/infopath/2007/PartnerControls"/>
    <ds:schemaRef ds:uri="73c285a4-81d7-45ed-89e3-084ec343ed0e"/>
    <ds:schemaRef ds:uri="9eeb171f-62b6-4207-910a-f222f02eca92"/>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E54ED045-44B0-4818-8BF2-60E776B56E88}">
  <ds:schemaRefs>
    <ds:schemaRef ds:uri="http://schemas.microsoft.com/sharepoint/v3/contenttype/forms"/>
  </ds:schemaRefs>
</ds:datastoreItem>
</file>

<file path=customXml/itemProps3.xml><?xml version="1.0" encoding="utf-8"?>
<ds:datastoreItem xmlns:ds="http://schemas.openxmlformats.org/officeDocument/2006/customXml" ds:itemID="{1561FB4F-8CDF-4FC4-86AB-6B9C0823A4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c285a4-81d7-45ed-89e3-084ec343ed0e"/>
    <ds:schemaRef ds:uri="9eeb171f-62b6-4207-910a-f222f02ec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22740</TotalTime>
  <Words>21473</Words>
  <Application>Microsoft Office PowerPoint</Application>
  <PresentationFormat>Custom</PresentationFormat>
  <Paragraphs>2350</Paragraphs>
  <Slides>198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198</vt:i4>
      </vt:variant>
    </vt:vector>
  </HeadingPairs>
  <TitlesOfParts>
    <vt:vector size="204" baseType="lpstr">
      <vt:lpstr>-apple-system</vt:lpstr>
      <vt:lpstr>Arial</vt:lpstr>
      <vt:lpstr>Calibri</vt:lpstr>
      <vt:lpstr>Lucida Sans</vt:lpstr>
      <vt:lpstr>UICTFontTextStyleBody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for Chello</dc:title>
  <dc:creator>Kumar, Harendra (Cognizant)</dc:creator>
  <cp:lastModifiedBy>Ray, Sandip (Cognizant)</cp:lastModifiedBy>
  <cp:revision>2940</cp:revision>
  <dcterms:created xsi:type="dcterms:W3CDTF">2020-11-03T17:16:52Z</dcterms:created>
  <dcterms:modified xsi:type="dcterms:W3CDTF">2025-11-06T08:38:22Z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2020-10-21T00:00:00Z</vt:filetime>
  </property>
  <property fmtid="{D5CDD505-2E9C-101B-9397-08002B2CF9AE}" pid="3" name="Creator">
    <vt:lpwstr>Adobe InDesign 15.1 (Macintosh)</vt:lpwstr>
  </property>
  <property fmtid="{D5CDD505-2E9C-101B-9397-08002B2CF9AE}" pid="4" name="LastSaved">
    <vt:filetime>2020-11-03T00:00:00Z</vt:filetime>
  </property>
  <property fmtid="{D5CDD505-2E9C-101B-9397-08002B2CF9AE}" pid="5" name="ContentTypeId">
    <vt:lpwstr>0x0101008FB92261DF0CF34EB4810633B41F348E</vt:lpwstr>
  </property>
</Properties>
</file>